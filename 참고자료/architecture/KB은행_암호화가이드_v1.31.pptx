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73" r:id="rId1"/>
  </p:sldMasterIdLst>
  <p:notesMasterIdLst>
    <p:notesMasterId r:id="rId40"/>
  </p:notesMasterIdLst>
  <p:handoutMasterIdLst>
    <p:handoutMasterId r:id="rId41"/>
  </p:handoutMasterIdLst>
  <p:sldIdLst>
    <p:sldId id="1305" r:id="rId2"/>
    <p:sldId id="1497" r:id="rId3"/>
    <p:sldId id="1320" r:id="rId4"/>
    <p:sldId id="1462" r:id="rId5"/>
    <p:sldId id="1431" r:id="rId6"/>
    <p:sldId id="1460" r:id="rId7"/>
    <p:sldId id="1461" r:id="rId8"/>
    <p:sldId id="1463" r:id="rId9"/>
    <p:sldId id="1501" r:id="rId10"/>
    <p:sldId id="1502" r:id="rId11"/>
    <p:sldId id="1503" r:id="rId12"/>
    <p:sldId id="1464" r:id="rId13"/>
    <p:sldId id="1458" r:id="rId14"/>
    <p:sldId id="1499" r:id="rId15"/>
    <p:sldId id="1465" r:id="rId16"/>
    <p:sldId id="1466" r:id="rId17"/>
    <p:sldId id="1496" r:id="rId18"/>
    <p:sldId id="1467" r:id="rId19"/>
    <p:sldId id="1484" r:id="rId20"/>
    <p:sldId id="1485" r:id="rId21"/>
    <p:sldId id="1486" r:id="rId22"/>
    <p:sldId id="1487" r:id="rId23"/>
    <p:sldId id="1488" r:id="rId24"/>
    <p:sldId id="1489" r:id="rId25"/>
    <p:sldId id="1490" r:id="rId26"/>
    <p:sldId id="1491" r:id="rId27"/>
    <p:sldId id="1468" r:id="rId28"/>
    <p:sldId id="1469" r:id="rId29"/>
    <p:sldId id="1470" r:id="rId30"/>
    <p:sldId id="1471" r:id="rId31"/>
    <p:sldId id="1472" r:id="rId32"/>
    <p:sldId id="1473" r:id="rId33"/>
    <p:sldId id="1474" r:id="rId34"/>
    <p:sldId id="1475" r:id="rId35"/>
    <p:sldId id="1492" r:id="rId36"/>
    <p:sldId id="1493" r:id="rId37"/>
    <p:sldId id="1494" r:id="rId38"/>
    <p:sldId id="1495" r:id="rId39"/>
  </p:sldIdLst>
  <p:sldSz cx="9906000" cy="6858000" type="A4"/>
  <p:notesSz cx="6858000" cy="9926638"/>
  <p:custDataLst>
    <p:tags r:id="rId42"/>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8B142C70-7EC1-4AA1-8B28-6D98CB3E5065}">
          <p14:sldIdLst>
            <p14:sldId id="1305"/>
            <p14:sldId id="1497"/>
            <p14:sldId id="1320"/>
            <p14:sldId id="1462"/>
            <p14:sldId id="1431"/>
            <p14:sldId id="1460"/>
            <p14:sldId id="1461"/>
            <p14:sldId id="1463"/>
            <p14:sldId id="1501"/>
            <p14:sldId id="1502"/>
            <p14:sldId id="1503"/>
            <p14:sldId id="1464"/>
            <p14:sldId id="1458"/>
          </p14:sldIdLst>
        </p14:section>
        <p14:section name="첨부1" id="{F3907971-B87C-4D34-9181-0BA9A1E9B4AC}">
          <p14:sldIdLst>
            <p14:sldId id="1499"/>
            <p14:sldId id="1465"/>
            <p14:sldId id="1466"/>
            <p14:sldId id="1496"/>
          </p14:sldIdLst>
        </p14:section>
        <p14:section name="첨부2" id="{CA31F48C-6570-4B86-9EAF-AB61AFC4D3E5}">
          <p14:sldIdLst>
            <p14:sldId id="1467"/>
            <p14:sldId id="1484"/>
            <p14:sldId id="1485"/>
            <p14:sldId id="1486"/>
            <p14:sldId id="1487"/>
            <p14:sldId id="1488"/>
            <p14:sldId id="1489"/>
            <p14:sldId id="1490"/>
            <p14:sldId id="1491"/>
          </p14:sldIdLst>
        </p14:section>
        <p14:section name="첨부3" id="{4C09BE01-A23B-4F2B-844E-1557B8E93FF0}">
          <p14:sldIdLst>
            <p14:sldId id="1468"/>
            <p14:sldId id="1469"/>
            <p14:sldId id="1470"/>
            <p14:sldId id="1471"/>
            <p14:sldId id="1472"/>
            <p14:sldId id="1473"/>
            <p14:sldId id="1474"/>
            <p14:sldId id="1475"/>
          </p14:sldIdLst>
        </p14:section>
        <p14:section name="첨부4" id="{161AF280-7389-4ECE-9078-CD9E1E5D4967}">
          <p14:sldIdLst>
            <p14:sldId id="1492"/>
            <p14:sldId id="1493"/>
            <p14:sldId id="1494"/>
            <p14:sldId id="1495"/>
          </p14:sldIdLst>
        </p14:section>
      </p14:sectionLst>
    </p:ext>
    <p:ext uri="{EFAFB233-063F-42B5-8137-9DF3F51BA10A}">
      <p15:sldGuideLst xmlns:p15="http://schemas.microsoft.com/office/powerpoint/2012/main">
        <p15:guide id="1" orient="horz" pos="503" userDrawn="1">
          <p15:clr>
            <a:srgbClr val="A4A3A4"/>
          </p15:clr>
        </p15:guide>
        <p15:guide id="3" orient="horz" pos="3997">
          <p15:clr>
            <a:srgbClr val="A4A3A4"/>
          </p15:clr>
        </p15:guide>
        <p15:guide id="4" orient="horz" pos="3566">
          <p15:clr>
            <a:srgbClr val="A4A3A4"/>
          </p15:clr>
        </p15:guide>
        <p15:guide id="5" orient="horz" pos="4247">
          <p15:clr>
            <a:srgbClr val="A4A3A4"/>
          </p15:clr>
        </p15:guide>
        <p15:guide id="6" orient="horz" pos="2092" userDrawn="1">
          <p15:clr>
            <a:srgbClr val="A4A3A4"/>
          </p15:clr>
        </p15:guide>
        <p15:guide id="7" pos="2890" userDrawn="1">
          <p15:clr>
            <a:srgbClr val="A4A3A4"/>
          </p15:clr>
        </p15:guide>
        <p15:guide id="8" pos="3279" userDrawn="1">
          <p15:clr>
            <a:srgbClr val="A4A3A4"/>
          </p15:clr>
        </p15:guide>
        <p15:guide id="9">
          <p15:clr>
            <a:srgbClr val="A4A3A4"/>
          </p15:clr>
        </p15:guide>
        <p15:guide id="10" pos="5868" userDrawn="1">
          <p15:clr>
            <a:srgbClr val="A4A3A4"/>
          </p15:clr>
        </p15:guide>
        <p15:guide id="11" pos="5672" userDrawn="1">
          <p15:clr>
            <a:srgbClr val="A4A3A4"/>
          </p15:clr>
        </p15:guide>
        <p15:guide id="12" pos="1895" userDrawn="1">
          <p15:clr>
            <a:srgbClr val="A4A3A4"/>
          </p15:clr>
        </p15:guide>
        <p15:guide id="13" pos="158">
          <p15:clr>
            <a:srgbClr val="A4A3A4"/>
          </p15:clr>
        </p15:guide>
        <p15:guide id="14" orient="horz" pos="3430" userDrawn="1">
          <p15:clr>
            <a:srgbClr val="A4A3A4"/>
          </p15:clr>
        </p15:guide>
        <p15:guide id="16" orient="horz" pos="4088">
          <p15:clr>
            <a:srgbClr val="A4A3A4"/>
          </p15:clr>
        </p15:guide>
        <p15:guide id="21" pos="3091" userDrawn="1">
          <p15:clr>
            <a:srgbClr val="A4A3A4"/>
          </p15:clr>
        </p15:guide>
        <p15:guide id="22" orient="horz" pos="4156">
          <p15:clr>
            <a:srgbClr val="A4A3A4"/>
          </p15:clr>
        </p15:guide>
        <p15:guide id="25" pos="6110" userDrawn="1">
          <p15:clr>
            <a:srgbClr val="A4A3A4"/>
          </p15:clr>
        </p15:guide>
        <p15:guide id="26" pos="126">
          <p15:clr>
            <a:srgbClr val="A4A3A4"/>
          </p15:clr>
        </p15:guide>
        <p15:guide id="27" pos="2099" userDrawn="1">
          <p15:clr>
            <a:srgbClr val="A4A3A4"/>
          </p15:clr>
        </p15:guide>
        <p15:guide id="28" pos="2290" userDrawn="1">
          <p15:clr>
            <a:srgbClr val="A4A3A4"/>
          </p15:clr>
        </p15:guide>
        <p15:guide id="29" pos="2485" userDrawn="1">
          <p15:clr>
            <a:srgbClr val="A4A3A4"/>
          </p15:clr>
        </p15:guide>
        <p15:guide id="30" pos="2689" userDrawn="1">
          <p15:clr>
            <a:srgbClr val="A4A3A4"/>
          </p15:clr>
        </p15:guide>
        <p15:guide id="31" pos="3483" userDrawn="1">
          <p15:clr>
            <a:srgbClr val="A4A3A4"/>
          </p15:clr>
        </p15:guide>
        <p15:guide id="32" pos="3687" userDrawn="1">
          <p15:clr>
            <a:srgbClr val="A4A3A4"/>
          </p15:clr>
        </p15:guide>
        <p15:guide id="33" pos="3883" userDrawn="1">
          <p15:clr>
            <a:srgbClr val="A4A3A4"/>
          </p15:clr>
        </p15:guide>
        <p15:guide id="34" pos="4080" userDrawn="1">
          <p15:clr>
            <a:srgbClr val="A4A3A4"/>
          </p15:clr>
        </p15:guide>
        <p15:guide id="35" pos="4277" userDrawn="1">
          <p15:clr>
            <a:srgbClr val="A4A3A4"/>
          </p15:clr>
        </p15:guide>
        <p15:guide id="36" pos="4480" userDrawn="1">
          <p15:clr>
            <a:srgbClr val="A4A3A4"/>
          </p15:clr>
        </p15:guide>
        <p15:guide id="37" pos="4676" userDrawn="1">
          <p15:clr>
            <a:srgbClr val="A4A3A4"/>
          </p15:clr>
        </p15:guide>
        <p15:guide id="38" pos="4880" userDrawn="1">
          <p15:clr>
            <a:srgbClr val="A4A3A4"/>
          </p15:clr>
        </p15:guide>
        <p15:guide id="39" pos="5076" userDrawn="1">
          <p15:clr>
            <a:srgbClr val="A4A3A4"/>
          </p15:clr>
        </p15:guide>
        <p15:guide id="40" pos="5472" userDrawn="1">
          <p15:clr>
            <a:srgbClr val="A4A3A4"/>
          </p15:clr>
        </p15:guide>
        <p15:guide id="41" pos="5276" userDrawn="1">
          <p15:clr>
            <a:srgbClr val="A4A3A4"/>
          </p15:clr>
        </p15:guide>
      </p15:sldGuideLst>
    </p:ext>
    <p:ext uri="{2D200454-40CA-4A62-9FC3-DE9A4176ACB9}">
      <p15:notesGuideLst xmlns:p15="http://schemas.microsoft.com/office/powerpoint/2012/main">
        <p15:guide id="1" orient="horz" pos="4573" userDrawn="1">
          <p15:clr>
            <a:srgbClr val="A4A3A4"/>
          </p15:clr>
        </p15:guide>
        <p15:guide id="2" pos="1479" userDrawn="1">
          <p15:clr>
            <a:srgbClr val="A4A3A4"/>
          </p15:clr>
        </p15:guide>
        <p15:guide id="3" orient="horz" pos="3133" userDrawn="1">
          <p15:clr>
            <a:srgbClr val="A4A3A4"/>
          </p15:clr>
        </p15:guide>
        <p15:guide id="4" pos="2145" userDrawn="1">
          <p15:clr>
            <a:srgbClr val="A4A3A4"/>
          </p15:clr>
        </p15:guide>
        <p15:guide id="5" orient="horz" pos="4566">
          <p15:clr>
            <a:srgbClr val="A4A3A4"/>
          </p15:clr>
        </p15:guide>
        <p15:guide id="6" orient="horz" pos="3128">
          <p15:clr>
            <a:srgbClr val="A4A3A4"/>
          </p15:clr>
        </p15:guide>
        <p15:guide id="7" pos="1490">
          <p15:clr>
            <a:srgbClr val="A4A3A4"/>
          </p15:clr>
        </p15:guide>
        <p15:guide id="8" pos="216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6600"/>
    <a:srgbClr val="E2DED4"/>
    <a:srgbClr val="F2F2F2"/>
    <a:srgbClr val="A89B8B"/>
    <a:srgbClr val="62574A"/>
    <a:srgbClr val="8D744A"/>
    <a:srgbClr val="887966"/>
    <a:srgbClr val="EA002C"/>
    <a:srgbClr val="9BBB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6400" autoAdjust="0"/>
  </p:normalViewPr>
  <p:slideViewPr>
    <p:cSldViewPr snapToObjects="1" showGuides="1">
      <p:cViewPr varScale="1">
        <p:scale>
          <a:sx n="117" d="100"/>
          <a:sy n="117" d="100"/>
        </p:scale>
        <p:origin x="1560" y="96"/>
      </p:cViewPr>
      <p:guideLst>
        <p:guide orient="horz" pos="503"/>
        <p:guide orient="horz" pos="3997"/>
        <p:guide orient="horz" pos="3566"/>
        <p:guide orient="horz" pos="4247"/>
        <p:guide orient="horz" pos="2092"/>
        <p:guide pos="2890"/>
        <p:guide pos="3279"/>
        <p:guide/>
        <p:guide pos="5868"/>
        <p:guide pos="5672"/>
        <p:guide pos="1895"/>
        <p:guide pos="158"/>
        <p:guide orient="horz" pos="3430"/>
        <p:guide orient="horz" pos="4088"/>
        <p:guide pos="3091"/>
        <p:guide orient="horz" pos="4156"/>
        <p:guide pos="6110"/>
        <p:guide pos="126"/>
        <p:guide pos="2099"/>
        <p:guide pos="2290"/>
        <p:guide pos="2485"/>
        <p:guide pos="2689"/>
        <p:guide pos="3483"/>
        <p:guide pos="3687"/>
        <p:guide pos="3883"/>
        <p:guide pos="4080"/>
        <p:guide pos="4277"/>
        <p:guide pos="4480"/>
        <p:guide pos="4676"/>
        <p:guide pos="4880"/>
        <p:guide pos="5076"/>
        <p:guide pos="5472"/>
        <p:guide pos="5276"/>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200" d="100"/>
        <a:sy n="200" d="100"/>
      </p:scale>
      <p:origin x="0" y="0"/>
    </p:cViewPr>
  </p:sorterViewPr>
  <p:notesViewPr>
    <p:cSldViewPr snapToObjects="1" showGuides="1">
      <p:cViewPr varScale="1">
        <p:scale>
          <a:sx n="116" d="100"/>
          <a:sy n="116" d="100"/>
        </p:scale>
        <p:origin x="-1854" y="-102"/>
      </p:cViewPr>
      <p:guideLst>
        <p:guide orient="horz" pos="4573"/>
        <p:guide pos="1479"/>
        <p:guide orient="horz" pos="3133"/>
        <p:guide pos="2145"/>
        <p:guide orient="horz" pos="4566"/>
        <p:guide orient="horz" pos="3128"/>
        <p:guide pos="1490"/>
        <p:guide pos="2161"/>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0" y="20"/>
            <a:ext cx="2971800" cy="496335"/>
          </a:xfrm>
          <a:prstGeom prst="rect">
            <a:avLst/>
          </a:prstGeom>
        </p:spPr>
        <p:txBody>
          <a:bodyPr vert="horz" lIns="99385" tIns="49693" rIns="99385" bIns="49693" rtlCol="0"/>
          <a:lstStyle>
            <a:lvl1pPr algn="l">
              <a:defRPr sz="1200"/>
            </a:lvl1pPr>
          </a:lstStyle>
          <a:p>
            <a:endParaRPr lang="en-US" dirty="0">
              <a:latin typeface="KB금융 제목체 Medium" panose="020B0603000000000000" pitchFamily="50" charset="-127"/>
              <a:cs typeface="Arial" pitchFamily="34" charset="0"/>
            </a:endParaRPr>
          </a:p>
        </p:txBody>
      </p:sp>
      <p:sp>
        <p:nvSpPr>
          <p:cNvPr id="3" name="Date Placeholder 2"/>
          <p:cNvSpPr>
            <a:spLocks noGrp="1"/>
          </p:cNvSpPr>
          <p:nvPr>
            <p:ph type="dt" sz="quarter" idx="1"/>
          </p:nvPr>
        </p:nvSpPr>
        <p:spPr>
          <a:xfrm>
            <a:off x="3884643" y="20"/>
            <a:ext cx="2971800" cy="496335"/>
          </a:xfrm>
          <a:prstGeom prst="rect">
            <a:avLst/>
          </a:prstGeom>
        </p:spPr>
        <p:txBody>
          <a:bodyPr vert="horz" lIns="99385" tIns="49693" rIns="99385" bIns="49693" rtlCol="0"/>
          <a:lstStyle>
            <a:lvl1pPr algn="r">
              <a:defRPr sz="1200"/>
            </a:lvl1pPr>
          </a:lstStyle>
          <a:p>
            <a:fld id="{37497BA2-BE1C-4EE9-A31C-7FFCDEBC3FDE}" type="datetimeFigureOut">
              <a:rPr lang="en-US" smtClean="0">
                <a:latin typeface="KB금융 제목체 Medium" panose="020B0603000000000000" pitchFamily="50" charset="-127"/>
                <a:cs typeface="Arial" pitchFamily="34" charset="0"/>
              </a:rPr>
              <a:pPr/>
              <a:t>6/28/2023</a:t>
            </a:fld>
            <a:endParaRPr lang="en-US" dirty="0">
              <a:latin typeface="KB금융 제목체 Medium" panose="020B0603000000000000" pitchFamily="50" charset="-127"/>
              <a:cs typeface="Arial" pitchFamily="34" charset="0"/>
            </a:endParaRPr>
          </a:p>
        </p:txBody>
      </p:sp>
      <p:sp>
        <p:nvSpPr>
          <p:cNvPr id="4" name="Footer Placeholder 3"/>
          <p:cNvSpPr>
            <a:spLocks noGrp="1"/>
          </p:cNvSpPr>
          <p:nvPr>
            <p:ph type="ftr" sz="quarter" idx="2"/>
          </p:nvPr>
        </p:nvSpPr>
        <p:spPr>
          <a:xfrm>
            <a:off x="30" y="9428610"/>
            <a:ext cx="2971800" cy="496335"/>
          </a:xfrm>
          <a:prstGeom prst="rect">
            <a:avLst/>
          </a:prstGeom>
        </p:spPr>
        <p:txBody>
          <a:bodyPr vert="horz" lIns="99385" tIns="49693" rIns="99385" bIns="49693" rtlCol="0" anchor="b"/>
          <a:lstStyle>
            <a:lvl1pPr algn="l">
              <a:defRPr sz="1200"/>
            </a:lvl1pPr>
          </a:lstStyle>
          <a:p>
            <a:endParaRPr lang="en-US" dirty="0">
              <a:latin typeface="KB금융 제목체 Medium" panose="020B0603000000000000" pitchFamily="50" charset="-127"/>
              <a:cs typeface="Arial" pitchFamily="34" charset="0"/>
            </a:endParaRPr>
          </a:p>
        </p:txBody>
      </p:sp>
      <p:sp>
        <p:nvSpPr>
          <p:cNvPr id="5" name="Slide Number Placeholder 4"/>
          <p:cNvSpPr>
            <a:spLocks noGrp="1"/>
          </p:cNvSpPr>
          <p:nvPr>
            <p:ph type="sldNum" sz="quarter" idx="3"/>
          </p:nvPr>
        </p:nvSpPr>
        <p:spPr>
          <a:xfrm>
            <a:off x="3884643" y="9428610"/>
            <a:ext cx="2971800" cy="496335"/>
          </a:xfrm>
          <a:prstGeom prst="rect">
            <a:avLst/>
          </a:prstGeom>
        </p:spPr>
        <p:txBody>
          <a:bodyPr vert="horz" lIns="99385" tIns="49693" rIns="99385" bIns="49693" rtlCol="0" anchor="b"/>
          <a:lstStyle>
            <a:lvl1pPr algn="r">
              <a:defRPr sz="1200"/>
            </a:lvl1pPr>
          </a:lstStyle>
          <a:p>
            <a:fld id="{F0C191C2-D4F7-424F-868C-23ADE6615EBC}" type="slidenum">
              <a:rPr lang="en-US" smtClean="0">
                <a:latin typeface="KB금융 제목체 Medium" panose="020B0603000000000000" pitchFamily="50" charset="-127"/>
                <a:cs typeface="Arial" pitchFamily="34" charset="0"/>
              </a:rPr>
              <a:pPr/>
              <a:t>‹#›</a:t>
            </a:fld>
            <a:endParaRPr lang="en-US" dirty="0">
              <a:latin typeface="KB금융 제목체 Medium" panose="020B0603000000000000" pitchFamily="50" charset="-127"/>
              <a:cs typeface="Arial" pitchFamily="34" charset="0"/>
            </a:endParaRPr>
          </a:p>
        </p:txBody>
      </p:sp>
    </p:spTree>
    <p:extLst>
      <p:ext uri="{BB962C8B-B14F-4D97-AF65-F5344CB8AC3E}">
        <p14:creationId xmlns:p14="http://schemas.microsoft.com/office/powerpoint/2010/main" val="6860554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0" y="20"/>
            <a:ext cx="2971800" cy="496335"/>
          </a:xfrm>
          <a:prstGeom prst="rect">
            <a:avLst/>
          </a:prstGeom>
        </p:spPr>
        <p:txBody>
          <a:bodyPr vert="horz" lIns="99385" tIns="49693" rIns="99385" bIns="49693" rtlCol="0"/>
          <a:lstStyle>
            <a:lvl1pPr algn="l">
              <a:defRPr sz="1200">
                <a:latin typeface="KB금융 제목체 Medium" panose="020B0603000000000000" pitchFamily="50" charset="-127"/>
                <a:cs typeface="Arial" pitchFamily="34" charset="0"/>
              </a:defRPr>
            </a:lvl1pPr>
          </a:lstStyle>
          <a:p>
            <a:endParaRPr lang="en-US" dirty="0"/>
          </a:p>
        </p:txBody>
      </p:sp>
      <p:sp>
        <p:nvSpPr>
          <p:cNvPr id="3" name="Date Placeholder 2"/>
          <p:cNvSpPr>
            <a:spLocks noGrp="1"/>
          </p:cNvSpPr>
          <p:nvPr>
            <p:ph type="dt" idx="1"/>
          </p:nvPr>
        </p:nvSpPr>
        <p:spPr>
          <a:xfrm>
            <a:off x="3884643" y="20"/>
            <a:ext cx="2971800" cy="496335"/>
          </a:xfrm>
          <a:prstGeom prst="rect">
            <a:avLst/>
          </a:prstGeom>
        </p:spPr>
        <p:txBody>
          <a:bodyPr vert="horz" lIns="99385" tIns="49693" rIns="99385" bIns="49693" rtlCol="0"/>
          <a:lstStyle>
            <a:lvl1pPr algn="r">
              <a:defRPr sz="1200">
                <a:latin typeface="KB금융 제목체 Medium" panose="020B0603000000000000" pitchFamily="50" charset="-127"/>
                <a:cs typeface="Arial" pitchFamily="34" charset="0"/>
              </a:defRPr>
            </a:lvl1pPr>
          </a:lstStyle>
          <a:p>
            <a:fld id="{732C4D34-2C19-43C3-91CC-9F2B4AC12977}" type="datetimeFigureOut">
              <a:rPr lang="en-US" smtClean="0"/>
              <a:pPr/>
              <a:t>6/28/2023</a:t>
            </a:fld>
            <a:endParaRPr lang="en-US" dirty="0"/>
          </a:p>
        </p:txBody>
      </p:sp>
      <p:sp>
        <p:nvSpPr>
          <p:cNvPr id="4" name="Slide Image Placeholder 3"/>
          <p:cNvSpPr>
            <a:spLocks noGrp="1" noRot="1" noChangeAspect="1"/>
          </p:cNvSpPr>
          <p:nvPr>
            <p:ph type="sldImg" idx="2"/>
          </p:nvPr>
        </p:nvSpPr>
        <p:spPr>
          <a:xfrm>
            <a:off x="742950" y="747713"/>
            <a:ext cx="5372100" cy="3719512"/>
          </a:xfrm>
          <a:prstGeom prst="rect">
            <a:avLst/>
          </a:prstGeom>
          <a:noFill/>
          <a:ln w="12700">
            <a:solidFill>
              <a:prstClr val="black"/>
            </a:solidFill>
          </a:ln>
        </p:spPr>
        <p:txBody>
          <a:bodyPr vert="horz" lIns="99385" tIns="49693" rIns="99385" bIns="49693" rtlCol="0" anchor="ctr"/>
          <a:lstStyle/>
          <a:p>
            <a:endParaRPr lang="en-US" dirty="0"/>
          </a:p>
        </p:txBody>
      </p:sp>
      <p:sp>
        <p:nvSpPr>
          <p:cNvPr id="5" name="Notes Placeholder 4"/>
          <p:cNvSpPr>
            <a:spLocks noGrp="1"/>
          </p:cNvSpPr>
          <p:nvPr>
            <p:ph type="body" sz="quarter" idx="3"/>
          </p:nvPr>
        </p:nvSpPr>
        <p:spPr>
          <a:xfrm>
            <a:off x="685801" y="4715159"/>
            <a:ext cx="5486400" cy="4466988"/>
          </a:xfrm>
          <a:prstGeom prst="rect">
            <a:avLst/>
          </a:prstGeom>
        </p:spPr>
        <p:txBody>
          <a:bodyPr vert="horz" lIns="99385" tIns="49693" rIns="99385" bIns="49693"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30" y="9428610"/>
            <a:ext cx="2971800" cy="496335"/>
          </a:xfrm>
          <a:prstGeom prst="rect">
            <a:avLst/>
          </a:prstGeom>
        </p:spPr>
        <p:txBody>
          <a:bodyPr vert="horz" lIns="99385" tIns="49693" rIns="99385" bIns="49693" rtlCol="0" anchor="b"/>
          <a:lstStyle>
            <a:lvl1pPr algn="l">
              <a:defRPr sz="1200">
                <a:latin typeface="KB금융 제목체 Medium" panose="020B0603000000000000" pitchFamily="50" charset="-127"/>
                <a:cs typeface="Arial" pitchFamily="34" charset="0"/>
              </a:defRPr>
            </a:lvl1pPr>
          </a:lstStyle>
          <a:p>
            <a:endParaRPr lang="en-US" dirty="0"/>
          </a:p>
        </p:txBody>
      </p:sp>
      <p:sp>
        <p:nvSpPr>
          <p:cNvPr id="7" name="Slide Number Placeholder 6"/>
          <p:cNvSpPr>
            <a:spLocks noGrp="1"/>
          </p:cNvSpPr>
          <p:nvPr>
            <p:ph type="sldNum" sz="quarter" idx="5"/>
          </p:nvPr>
        </p:nvSpPr>
        <p:spPr>
          <a:xfrm>
            <a:off x="3884643" y="9428610"/>
            <a:ext cx="2971800" cy="496335"/>
          </a:xfrm>
          <a:prstGeom prst="rect">
            <a:avLst/>
          </a:prstGeom>
        </p:spPr>
        <p:txBody>
          <a:bodyPr vert="horz" lIns="99385" tIns="49693" rIns="99385" bIns="49693" rtlCol="0" anchor="b"/>
          <a:lstStyle>
            <a:lvl1pPr algn="r">
              <a:defRPr sz="1200">
                <a:latin typeface="KB금융 제목체 Medium" panose="020B0603000000000000" pitchFamily="50" charset="-127"/>
                <a:cs typeface="Arial" pitchFamily="34" charset="0"/>
              </a:defRPr>
            </a:lvl1pPr>
          </a:lstStyle>
          <a:p>
            <a:fld id="{D256E95E-57AA-4526-AA4C-3002F47FB13B}" type="slidenum">
              <a:rPr lang="en-US" smtClean="0"/>
              <a:pPr/>
              <a:t>‹#›</a:t>
            </a:fld>
            <a:endParaRPr lang="en-US" dirty="0"/>
          </a:p>
        </p:txBody>
      </p:sp>
    </p:spTree>
    <p:extLst>
      <p:ext uri="{BB962C8B-B14F-4D97-AF65-F5344CB8AC3E}">
        <p14:creationId xmlns:p14="http://schemas.microsoft.com/office/powerpoint/2010/main" val="15713924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KB금융 제목체 Medium" panose="020B0603000000000000" pitchFamily="50" charset="-127"/>
        <a:ea typeface="+mn-ea"/>
        <a:cs typeface="Arial" pitchFamily="34" charset="0"/>
      </a:defRPr>
    </a:lvl1pPr>
    <a:lvl2pPr marL="457200" algn="l" defTabSz="914400" rtl="0" eaLnBrk="1" latinLnBrk="0" hangingPunct="1">
      <a:defRPr sz="1200" kern="1200">
        <a:solidFill>
          <a:schemeClr val="tx1"/>
        </a:solidFill>
        <a:latin typeface="KB금융 제목체 Medium" panose="020B0603000000000000" pitchFamily="50" charset="-127"/>
        <a:ea typeface="+mn-ea"/>
        <a:cs typeface="Arial" pitchFamily="34" charset="0"/>
      </a:defRPr>
    </a:lvl2pPr>
    <a:lvl3pPr marL="914400" algn="l" defTabSz="914400" rtl="0" eaLnBrk="1" latinLnBrk="0" hangingPunct="1">
      <a:defRPr sz="1200" kern="1200">
        <a:solidFill>
          <a:schemeClr val="tx1"/>
        </a:solidFill>
        <a:latin typeface="KB금융 제목체 Medium" panose="020B0603000000000000" pitchFamily="50" charset="-127"/>
        <a:ea typeface="+mn-ea"/>
        <a:cs typeface="Arial" pitchFamily="34" charset="0"/>
      </a:defRPr>
    </a:lvl3pPr>
    <a:lvl4pPr marL="1371600" algn="l" defTabSz="914400" rtl="0" eaLnBrk="1" latinLnBrk="0" hangingPunct="1">
      <a:defRPr sz="1200" kern="1200">
        <a:solidFill>
          <a:schemeClr val="tx1"/>
        </a:solidFill>
        <a:latin typeface="KB금융 제목체 Medium" panose="020B0603000000000000" pitchFamily="50" charset="-127"/>
        <a:ea typeface="+mn-ea"/>
        <a:cs typeface="Arial" pitchFamily="34" charset="0"/>
      </a:defRPr>
    </a:lvl4pPr>
    <a:lvl5pPr marL="1828800" algn="l" defTabSz="914400" rtl="0" eaLnBrk="1" latinLnBrk="0" hangingPunct="1">
      <a:defRPr sz="1200" kern="1200">
        <a:solidFill>
          <a:schemeClr val="tx1"/>
        </a:solidFill>
        <a:latin typeface="KB금융 제목체 Medium" panose="020B0603000000000000" pitchFamily="50" charset="-127"/>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txBox="1">
            <a:spLocks noGrp="1" noChangeArrowheads="1"/>
          </p:cNvSpPr>
          <p:nvPr/>
        </p:nvSpPr>
        <p:spPr bwMode="auto">
          <a:xfrm>
            <a:off x="3875263" y="9366342"/>
            <a:ext cx="2965148" cy="492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963" tIns="45477" rIns="90963" bIns="45477" anchor="b"/>
          <a:lstStyle>
            <a:lvl1pPr defTabSz="908050" eaLnBrk="0" hangingPunct="0">
              <a:defRPr kumimoji="1" sz="1200">
                <a:solidFill>
                  <a:schemeClr val="tx1"/>
                </a:solidFill>
                <a:latin typeface="-2002" pitchFamily="18" charset="-127"/>
                <a:ea typeface="-2002" pitchFamily="18" charset="-127"/>
              </a:defRPr>
            </a:lvl1pPr>
            <a:lvl2pPr marL="742950" indent="-285750" defTabSz="908050" eaLnBrk="0" hangingPunct="0">
              <a:defRPr kumimoji="1" sz="1200">
                <a:solidFill>
                  <a:schemeClr val="tx1"/>
                </a:solidFill>
                <a:latin typeface="-2002" pitchFamily="18" charset="-127"/>
                <a:ea typeface="-2002" pitchFamily="18" charset="-127"/>
              </a:defRPr>
            </a:lvl2pPr>
            <a:lvl3pPr marL="1143000" indent="-228600" defTabSz="908050" eaLnBrk="0" hangingPunct="0">
              <a:defRPr kumimoji="1" sz="1200">
                <a:solidFill>
                  <a:schemeClr val="tx1"/>
                </a:solidFill>
                <a:latin typeface="-2002" pitchFamily="18" charset="-127"/>
                <a:ea typeface="-2002" pitchFamily="18" charset="-127"/>
              </a:defRPr>
            </a:lvl3pPr>
            <a:lvl4pPr marL="1600200" indent="-228600" defTabSz="908050" eaLnBrk="0" hangingPunct="0">
              <a:defRPr kumimoji="1" sz="1200">
                <a:solidFill>
                  <a:schemeClr val="tx1"/>
                </a:solidFill>
                <a:latin typeface="-2002" pitchFamily="18" charset="-127"/>
                <a:ea typeface="-2002" pitchFamily="18" charset="-127"/>
              </a:defRPr>
            </a:lvl4pPr>
            <a:lvl5pPr marL="2057400" indent="-228600" defTabSz="908050" eaLnBrk="0" hangingPunct="0">
              <a:defRPr kumimoji="1" sz="1200">
                <a:solidFill>
                  <a:schemeClr val="tx1"/>
                </a:solidFill>
                <a:latin typeface="-2002" pitchFamily="18" charset="-127"/>
                <a:ea typeface="-2002" pitchFamily="18" charset="-127"/>
              </a:defRPr>
            </a:lvl5pPr>
            <a:lvl6pPr marL="2514600" indent="-228600" algn="ctr" defTabSz="908050" eaLnBrk="0" fontAlgn="base" hangingPunct="0">
              <a:spcBef>
                <a:spcPct val="0"/>
              </a:spcBef>
              <a:spcAft>
                <a:spcPct val="0"/>
              </a:spcAft>
              <a:defRPr kumimoji="1" sz="1200">
                <a:solidFill>
                  <a:schemeClr val="tx1"/>
                </a:solidFill>
                <a:latin typeface="-2002" pitchFamily="18" charset="-127"/>
                <a:ea typeface="-2002" pitchFamily="18" charset="-127"/>
              </a:defRPr>
            </a:lvl6pPr>
            <a:lvl7pPr marL="2971800" indent="-228600" algn="ctr" defTabSz="908050" eaLnBrk="0" fontAlgn="base" hangingPunct="0">
              <a:spcBef>
                <a:spcPct val="0"/>
              </a:spcBef>
              <a:spcAft>
                <a:spcPct val="0"/>
              </a:spcAft>
              <a:defRPr kumimoji="1" sz="1200">
                <a:solidFill>
                  <a:schemeClr val="tx1"/>
                </a:solidFill>
                <a:latin typeface="-2002" pitchFamily="18" charset="-127"/>
                <a:ea typeface="-2002" pitchFamily="18" charset="-127"/>
              </a:defRPr>
            </a:lvl7pPr>
            <a:lvl8pPr marL="3429000" indent="-228600" algn="ctr" defTabSz="908050" eaLnBrk="0" fontAlgn="base" hangingPunct="0">
              <a:spcBef>
                <a:spcPct val="0"/>
              </a:spcBef>
              <a:spcAft>
                <a:spcPct val="0"/>
              </a:spcAft>
              <a:defRPr kumimoji="1" sz="1200">
                <a:solidFill>
                  <a:schemeClr val="tx1"/>
                </a:solidFill>
                <a:latin typeface="-2002" pitchFamily="18" charset="-127"/>
                <a:ea typeface="-2002" pitchFamily="18" charset="-127"/>
              </a:defRPr>
            </a:lvl8pPr>
            <a:lvl9pPr marL="3886200" indent="-228600" algn="ctr" defTabSz="908050" eaLnBrk="0" fontAlgn="base" hangingPunct="0">
              <a:spcBef>
                <a:spcPct val="0"/>
              </a:spcBef>
              <a:spcAft>
                <a:spcPct val="0"/>
              </a:spcAft>
              <a:defRPr kumimoji="1" sz="1200">
                <a:solidFill>
                  <a:schemeClr val="tx1"/>
                </a:solidFill>
                <a:latin typeface="-2002" pitchFamily="18" charset="-127"/>
                <a:ea typeface="-2002" pitchFamily="18" charset="-127"/>
              </a:defRPr>
            </a:lvl9pPr>
          </a:lstStyle>
          <a:p>
            <a:pPr algn="r" eaLnBrk="1" hangingPunct="1"/>
            <a:fld id="{CA17C8E2-3AF7-4E40-9ADD-5EB665FB38FE}" type="slidenum">
              <a:rPr lang="en-US" altLang="ko-KR">
                <a:latin typeface="KB금융 본문체 Medium" panose="020B0603000000000000" pitchFamily="50" charset="-127"/>
                <a:ea typeface="KB금융 본문체 Medium" panose="020B0603000000000000" pitchFamily="50" charset="-127"/>
              </a:rPr>
              <a:pPr algn="r" eaLnBrk="1" hangingPunct="1"/>
              <a:t>4</a:t>
            </a:fld>
            <a:endParaRPr lang="en-US" altLang="ko-KR" dirty="0">
              <a:latin typeface="KB금융 본문체 Medium" panose="020B0603000000000000" pitchFamily="50" charset="-127"/>
              <a:ea typeface="KB금융 본문체 Medium" panose="020B0603000000000000" pitchFamily="50" charset="-127"/>
            </a:endParaRPr>
          </a:p>
        </p:txBody>
      </p:sp>
      <p:sp>
        <p:nvSpPr>
          <p:cNvPr id="27651" name="Rectangle 2"/>
          <p:cNvSpPr>
            <a:spLocks noGrp="1" noRot="1" noChangeAspect="1" noChangeArrowheads="1" noTextEdit="1"/>
          </p:cNvSpPr>
          <p:nvPr>
            <p:ph type="sldImg"/>
          </p:nvPr>
        </p:nvSpPr>
        <p:spPr>
          <a:xfrm>
            <a:off x="749300" y="741363"/>
            <a:ext cx="5341938" cy="3697287"/>
          </a:xfrm>
          <a:ln/>
        </p:spPr>
      </p:sp>
      <p:sp>
        <p:nvSpPr>
          <p:cNvPr id="27652" name="Rectangle 3"/>
          <p:cNvSpPr>
            <a:spLocks noGrp="1" noChangeArrowheads="1"/>
          </p:cNvSpPr>
          <p:nvPr>
            <p:ph type="body" idx="1"/>
          </p:nvPr>
        </p:nvSpPr>
        <p:spPr>
          <a:xfrm>
            <a:off x="913351" y="4683171"/>
            <a:ext cx="5013710" cy="4433946"/>
          </a:xfrm>
          <a:noFill/>
          <a:ln w="3175" cap="flat" algn="ctr">
            <a:solidFill>
              <a:srgbClr val="000000"/>
            </a:solidFill>
            <a:prstDash val="dash"/>
          </a:ln>
          <a:extLst>
            <a:ext uri="{909E8E84-426E-40DD-AFC4-6F175D3DCCD1}">
              <a14:hiddenFill xmlns:a14="http://schemas.microsoft.com/office/drawing/2010/main">
                <a:solidFill>
                  <a:srgbClr val="FFFFFF"/>
                </a:solidFill>
              </a14:hiddenFill>
            </a:ext>
          </a:extLst>
        </p:spPr>
        <p:txBody>
          <a:bodyPr lIns="90738" tIns="45365" rIns="90738" bIns="45365"/>
          <a:lstStyle/>
          <a:p>
            <a:pPr marL="90447" indent="-90447" eaLnBrk="1" latinLnBrk="0" hangingPunct="1">
              <a:buFontTx/>
              <a:buChar char="•"/>
            </a:pPr>
            <a:r>
              <a:rPr lang="en-US" altLang="ko-KR" sz="1000" dirty="0">
                <a:latin typeface="맑은 고딕" pitchFamily="50" charset="-127"/>
                <a:ea typeface="맑은 고딕" pitchFamily="50" charset="-127"/>
              </a:rPr>
              <a:t>Illustrative</a:t>
            </a:r>
            <a:r>
              <a:rPr lang="ko-KR" altLang="en-US" sz="1000" dirty="0">
                <a:latin typeface="맑은 고딕" pitchFamily="50" charset="-127"/>
                <a:ea typeface="맑은 고딕" pitchFamily="50" charset="-127"/>
              </a:rPr>
              <a:t>임</a:t>
            </a:r>
          </a:p>
          <a:p>
            <a:pPr marL="90447" indent="-90447" eaLnBrk="1" latinLnBrk="0" hangingPunct="1">
              <a:buFontTx/>
              <a:buChar char="•"/>
            </a:pPr>
            <a:r>
              <a:rPr lang="ko-KR" altLang="en-US" sz="1000" dirty="0">
                <a:latin typeface="맑은 고딕" pitchFamily="50" charset="-127"/>
                <a:ea typeface="맑은 고딕" pitchFamily="50" charset="-127"/>
              </a:rPr>
              <a:t>상황실의 목표와 역할</a:t>
            </a:r>
            <a:r>
              <a:rPr lang="en-US" altLang="ko-KR" sz="1000" dirty="0">
                <a:latin typeface="맑은 고딕" pitchFamily="50" charset="-127"/>
                <a:ea typeface="맑은 고딕" pitchFamily="50" charset="-127"/>
              </a:rPr>
              <a:t>, </a:t>
            </a:r>
            <a:r>
              <a:rPr lang="ko-KR" altLang="en-US" sz="1000" dirty="0">
                <a:latin typeface="맑은 고딕" pitchFamily="50" charset="-127"/>
                <a:ea typeface="맑은 고딕" pitchFamily="50" charset="-127"/>
              </a:rPr>
              <a:t>운영원칙은 </a:t>
            </a:r>
            <a:r>
              <a:rPr lang="en-US" altLang="ko-KR" sz="1000" dirty="0">
                <a:latin typeface="맑은 고딕" pitchFamily="50" charset="-127"/>
                <a:ea typeface="맑은 고딕" pitchFamily="50" charset="-127"/>
              </a:rPr>
              <a:t>Project </a:t>
            </a:r>
            <a:r>
              <a:rPr lang="ko-KR" altLang="en-US" sz="1000" dirty="0">
                <a:latin typeface="맑은 고딕" pitchFamily="50" charset="-127"/>
                <a:ea typeface="맑은 고딕" pitchFamily="50" charset="-127"/>
              </a:rPr>
              <a:t>별 </a:t>
            </a:r>
            <a:r>
              <a:rPr lang="en-US" altLang="ko-KR" sz="1000" dirty="0">
                <a:latin typeface="맑은 고딕" pitchFamily="50" charset="-127"/>
                <a:ea typeface="맑은 고딕" pitchFamily="50" charset="-127"/>
              </a:rPr>
              <a:t>customizing </a:t>
            </a:r>
            <a:r>
              <a:rPr lang="ko-KR" altLang="en-US" sz="1000" dirty="0">
                <a:latin typeface="맑은 고딕" pitchFamily="50" charset="-127"/>
                <a:ea typeface="맑은 고딕" pitchFamily="50" charset="-127"/>
              </a:rPr>
              <a:t>요망</a:t>
            </a:r>
          </a:p>
          <a:p>
            <a:pPr marL="90447" indent="-90447" eaLnBrk="1" latinLnBrk="0" hangingPunct="1">
              <a:buFontTx/>
              <a:buChar char="•"/>
            </a:pPr>
            <a:endParaRPr lang="en-US" altLang="ko-KR" sz="1000" dirty="0">
              <a:latin typeface="맑은 고딕" pitchFamily="50" charset="-127"/>
              <a:ea typeface="맑은 고딕" pitchFamily="50" charset="-127"/>
            </a:endParaRPr>
          </a:p>
        </p:txBody>
      </p:sp>
    </p:spTree>
    <p:extLst>
      <p:ext uri="{BB962C8B-B14F-4D97-AF65-F5344CB8AC3E}">
        <p14:creationId xmlns:p14="http://schemas.microsoft.com/office/powerpoint/2010/main" val="26377933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5</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4168291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6</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4734975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7</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31459191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8</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7066330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9</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14250677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10</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84610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11</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18933827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12</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4916893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14</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11400005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15</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35788677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16</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30489218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18</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14501945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19</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24589956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20</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527169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21</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550202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22</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27615380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23</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13130200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24</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10823165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25</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26282086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26</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25154151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27</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26271678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28</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18955676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29</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18669015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30</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38321140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31</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5776934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32</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37671851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33</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19245637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34</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29952422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35</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14305407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36</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36637539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37</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34146948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ea typeface="KB금융 제목체 Medium" panose="020B0603000000000000" pitchFamily="50" charset="-127"/>
            </a:endParaRPr>
          </a:p>
        </p:txBody>
      </p:sp>
      <p:sp>
        <p:nvSpPr>
          <p:cNvPr id="4" name="슬라이드 번호 개체 틀 3"/>
          <p:cNvSpPr>
            <a:spLocks noGrp="1"/>
          </p:cNvSpPr>
          <p:nvPr>
            <p:ph type="sldNum" sz="quarter" idx="10"/>
          </p:nvPr>
        </p:nvSpPr>
        <p:spPr/>
        <p:txBody>
          <a:bodyPr/>
          <a:lstStyle/>
          <a:p>
            <a:fld id="{1DD90711-9A15-40E3-B4D4-404E806E59FA}" type="slidenum">
              <a:rPr lang="ko-KR" altLang="en-US" smtClean="0">
                <a:solidFill>
                  <a:prstClr val="black"/>
                </a:solidFill>
                <a:ea typeface="KB금융 제목체 Medium" panose="020B0603000000000000" pitchFamily="50" charset="-127"/>
              </a:rPr>
              <a:pPr/>
              <a:t>38</a:t>
            </a:fld>
            <a:endParaRPr lang="ko-KR" altLang="en-US" dirty="0">
              <a:solidFill>
                <a:prstClr val="black"/>
              </a:solidFill>
              <a:ea typeface="KB금융 제목체 Medium" panose="020B0603000000000000" pitchFamily="50" charset="-127"/>
            </a:endParaRPr>
          </a:p>
        </p:txBody>
      </p:sp>
    </p:spTree>
    <p:extLst>
      <p:ext uri="{BB962C8B-B14F-4D97-AF65-F5344CB8AC3E}">
        <p14:creationId xmlns:p14="http://schemas.microsoft.com/office/powerpoint/2010/main" val="24895652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1.png"/><Relationship Id="rId4"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1) 표지">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5" y="-7268"/>
            <a:ext cx="9906000" cy="6856552"/>
          </a:xfrm>
          <a:prstGeom prst="rect">
            <a:avLst/>
          </a:prstGeom>
        </p:spPr>
      </p:pic>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57135" y="244804"/>
            <a:ext cx="1966024" cy="396000"/>
          </a:xfrm>
          <a:prstGeom prst="rect">
            <a:avLst/>
          </a:prstGeom>
        </p:spPr>
      </p:pic>
      <p:sp>
        <p:nvSpPr>
          <p:cNvPr id="11" name="내용 개체 틀 10"/>
          <p:cNvSpPr>
            <a:spLocks noGrp="1"/>
          </p:cNvSpPr>
          <p:nvPr>
            <p:ph sz="quarter" idx="11" hasCustomPrompt="1"/>
          </p:nvPr>
        </p:nvSpPr>
        <p:spPr>
          <a:xfrm>
            <a:off x="560512" y="4833156"/>
            <a:ext cx="1447897" cy="324000"/>
          </a:xfrm>
          <a:noFill/>
        </p:spPr>
        <p:txBody>
          <a:bodyPr wrap="none" rtlCol="0" anchor="ctr">
            <a:noAutofit/>
          </a:bodyPr>
          <a:lstStyle>
            <a:lvl1pPr marL="0" algn="l" defTabSz="914400" rtl="0" eaLnBrk="1" latinLnBrk="0" hangingPunct="1">
              <a:defRPr lang="ko-KR" altLang="en-US" sz="1700" b="0" kern="1200" baseline="0" dirty="0">
                <a:solidFill>
                  <a:schemeClr val="tx1"/>
                </a:solidFill>
                <a:latin typeface="+mn-lt"/>
                <a:ea typeface="+mn-ea"/>
                <a:cs typeface="+mn-cs"/>
              </a:defRPr>
            </a:lvl1pPr>
          </a:lstStyle>
          <a:p>
            <a:pPr lvl="0">
              <a:lnSpc>
                <a:spcPct val="150000"/>
              </a:lnSpc>
            </a:pPr>
            <a:r>
              <a:rPr lang="en-US" altLang="ko-KR" sz="1700" dirty="0" smtClean="0">
                <a:latin typeface="KB금융 제목체 Medium" panose="020B0603000000000000" pitchFamily="50" charset="-127"/>
                <a:ea typeface="KB금융 제목체 Medium" panose="020B0603000000000000" pitchFamily="50" charset="-127"/>
              </a:rPr>
              <a:t>Author(s) here</a:t>
            </a:r>
          </a:p>
        </p:txBody>
      </p:sp>
      <p:sp>
        <p:nvSpPr>
          <p:cNvPr id="15" name="내용 개체 틀 2"/>
          <p:cNvSpPr>
            <a:spLocks noGrp="1"/>
          </p:cNvSpPr>
          <p:nvPr>
            <p:ph sz="quarter" idx="12" hasCustomPrompt="1"/>
          </p:nvPr>
        </p:nvSpPr>
        <p:spPr>
          <a:xfrm>
            <a:off x="340406" y="2772907"/>
            <a:ext cx="4852800" cy="371513"/>
          </a:xfrm>
        </p:spPr>
        <p:txBody>
          <a:bodyPr wrap="square" lIns="90000" tIns="46800" rIns="90000" bIns="46800"/>
          <a:lstStyle>
            <a:lvl1pPr marL="0" algn="l" defTabSz="914400" rtl="0" eaLnBrk="1" latinLnBrk="0" hangingPunct="1">
              <a:defRPr lang="ko-KR" altLang="en-US" sz="2000" b="0" kern="1200" baseline="0" dirty="0" smtClean="0">
                <a:solidFill>
                  <a:schemeClr val="tx1"/>
                </a:solidFill>
                <a:latin typeface="+mj-lt"/>
                <a:ea typeface="+mj-ea"/>
                <a:cs typeface="+mn-cs"/>
              </a:defRPr>
            </a:lvl1pPr>
          </a:lstStyle>
          <a:p>
            <a:pPr lvl="0"/>
            <a:r>
              <a:rPr lang="en-US" altLang="ko-KR" dirty="0" smtClean="0"/>
              <a:t>Addtional Title</a:t>
            </a:r>
          </a:p>
        </p:txBody>
      </p:sp>
      <p:sp>
        <p:nvSpPr>
          <p:cNvPr id="2" name="제목 1"/>
          <p:cNvSpPr>
            <a:spLocks noGrp="1"/>
          </p:cNvSpPr>
          <p:nvPr>
            <p:ph type="title" hasCustomPrompt="1"/>
          </p:nvPr>
        </p:nvSpPr>
        <p:spPr>
          <a:xfrm>
            <a:off x="340406" y="2204864"/>
            <a:ext cx="6804000" cy="510012"/>
          </a:xfrm>
          <a:noFill/>
          <a:ln w="6350">
            <a:noFill/>
            <a:miter lim="800000"/>
          </a:ln>
        </p:spPr>
        <p:txBody>
          <a:bodyPr vert="horz" wrap="square" lIns="90000" tIns="46800" rIns="90000" bIns="46800" rtlCol="0">
            <a:spAutoFit/>
          </a:bodyPr>
          <a:lstStyle>
            <a:lvl1pPr>
              <a:defRPr lang="ko-KR" altLang="en-US" sz="3000" b="0" baseline="0" dirty="0">
                <a:solidFill>
                  <a:schemeClr val="tx1"/>
                </a:solidFill>
                <a:latin typeface="+mj-lt"/>
                <a:ea typeface="+mj-ea"/>
                <a:cs typeface="+mn-cs"/>
              </a:defRPr>
            </a:lvl1pPr>
          </a:lstStyle>
          <a:p>
            <a:pPr lvl="0">
              <a:spcBef>
                <a:spcPts val="0"/>
              </a:spcBef>
              <a:buClr>
                <a:srgbClr val="FFA600"/>
              </a:buClr>
              <a:buSzPct val="100000"/>
              <a:buFont typeface="Arial" pitchFamily="34" charset="0"/>
            </a:pPr>
            <a:r>
              <a:rPr lang="en-US" altLang="ko-KR" dirty="0" smtClean="0"/>
              <a:t>Document</a:t>
            </a:r>
            <a:r>
              <a:rPr lang="ko-KR" altLang="en-US" dirty="0" smtClean="0"/>
              <a:t> </a:t>
            </a:r>
            <a:r>
              <a:rPr lang="en-US" altLang="ko-KR" dirty="0" smtClean="0"/>
              <a:t>Subject</a:t>
            </a:r>
            <a:endParaRPr lang="ko-KR" altLang="en-US" dirty="0"/>
          </a:p>
        </p:txBody>
      </p:sp>
      <p:sp>
        <p:nvSpPr>
          <p:cNvPr id="12" name="내용 개체 틀 10"/>
          <p:cNvSpPr>
            <a:spLocks noGrp="1"/>
          </p:cNvSpPr>
          <p:nvPr>
            <p:ph sz="quarter" idx="13" hasCustomPrompt="1"/>
          </p:nvPr>
        </p:nvSpPr>
        <p:spPr>
          <a:xfrm>
            <a:off x="560512" y="4455132"/>
            <a:ext cx="2416367" cy="324000"/>
          </a:xfrm>
          <a:noFill/>
        </p:spPr>
        <p:txBody>
          <a:bodyPr wrap="none" rtlCol="0" anchor="ctr">
            <a:noAutofit/>
          </a:bodyPr>
          <a:lstStyle>
            <a:lvl1pPr marL="0" algn="l" defTabSz="914400" rtl="0" eaLnBrk="1" latinLnBrk="0" hangingPunct="1">
              <a:defRPr lang="ko-KR" altLang="en-US" sz="1700" b="0" kern="1200" baseline="0" dirty="0">
                <a:solidFill>
                  <a:schemeClr val="tx1"/>
                </a:solidFill>
                <a:latin typeface="+mn-lt"/>
                <a:ea typeface="+mn-ea"/>
                <a:cs typeface="+mn-cs"/>
              </a:defRPr>
            </a:lvl1pPr>
          </a:lstStyle>
          <a:p>
            <a:pPr lvl="0">
              <a:lnSpc>
                <a:spcPct val="150000"/>
              </a:lnSpc>
            </a:pPr>
            <a:r>
              <a:rPr lang="en-US" altLang="ko-KR" sz="1700" dirty="0" smtClean="0">
                <a:latin typeface="KB금융 제목체 Medium" panose="020B0603000000000000" pitchFamily="50" charset="-127"/>
                <a:ea typeface="KB금융 제목체 Medium" panose="020B0603000000000000" pitchFamily="50" charset="-127"/>
              </a:rPr>
              <a:t>Date here YYYY.MM.DD.</a:t>
            </a:r>
          </a:p>
        </p:txBody>
      </p:sp>
      <p:pic>
        <p:nvPicPr>
          <p:cNvPr id="26" name="Picture 3" descr="D:\Z90000_양식 참고자료\KB국민은행\KB_s_kr2_edited.jpg"/>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7557134" y="6296743"/>
            <a:ext cx="1943289" cy="336909"/>
          </a:xfrm>
          <a:prstGeom prst="rect">
            <a:avLst/>
          </a:prstGeom>
          <a:noFill/>
          <a:extLst>
            <a:ext uri="{909E8E84-426E-40DD-AFC4-6F175D3DCCD1}">
              <a14:hiddenFill xmlns:a14="http://schemas.microsoft.com/office/drawing/2010/main">
                <a:solidFill>
                  <a:srgbClr val="FFFFFF"/>
                </a:solidFill>
              </a14:hiddenFill>
            </a:ext>
          </a:extLst>
        </p:spPr>
      </p:pic>
      <p:pic>
        <p:nvPicPr>
          <p:cNvPr id="17" name="그림 1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66219" y="5337212"/>
            <a:ext cx="1963636" cy="687273"/>
          </a:xfrm>
          <a:prstGeom prst="rect">
            <a:avLst/>
          </a:prstGeom>
        </p:spPr>
      </p:pic>
      <p:sp>
        <p:nvSpPr>
          <p:cNvPr id="19" name="내용 개체 틀 11"/>
          <p:cNvSpPr>
            <a:spLocks noGrp="1"/>
          </p:cNvSpPr>
          <p:nvPr>
            <p:ph sz="quarter" idx="14"/>
          </p:nvPr>
        </p:nvSpPr>
        <p:spPr>
          <a:xfrm>
            <a:off x="560512" y="4165659"/>
            <a:ext cx="452624" cy="235449"/>
          </a:xfrm>
        </p:spPr>
        <p:txBody>
          <a:bodyPr wrap="none" anchor="ctr">
            <a:noAutofit/>
          </a:bodyPr>
          <a:lstStyle>
            <a:lvl1pPr>
              <a:defRPr sz="1700" baseline="0">
                <a:latin typeface="+mn-lt"/>
                <a:ea typeface="+mn-ea"/>
              </a:defRPr>
            </a:lvl1pPr>
          </a:lstStyle>
          <a:p>
            <a:r>
              <a:rPr lang="en-US" altLang="ko-KR" dirty="0" smtClean="0"/>
              <a:t>VX.X</a:t>
            </a:r>
            <a:endParaRPr lang="ko-KR" altLang="en-US" dirty="0"/>
          </a:p>
        </p:txBody>
      </p:sp>
    </p:spTree>
    <p:extLst>
      <p:ext uri="{BB962C8B-B14F-4D97-AF65-F5344CB8AC3E}">
        <p14:creationId xmlns:p14="http://schemas.microsoft.com/office/powerpoint/2010/main" val="329780167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2) 목차">
    <p:spTree>
      <p:nvGrpSpPr>
        <p:cNvPr id="1" name=""/>
        <p:cNvGrpSpPr/>
        <p:nvPr/>
      </p:nvGrpSpPr>
      <p:grpSpPr>
        <a:xfrm>
          <a:off x="0" y="0"/>
          <a:ext cx="0" cy="0"/>
          <a:chOff x="0" y="0"/>
          <a:chExt cx="0" cy="0"/>
        </a:xfrm>
      </p:grpSpPr>
      <p:grpSp>
        <p:nvGrpSpPr>
          <p:cNvPr id="2" name="그룹 1"/>
          <p:cNvGrpSpPr/>
          <p:nvPr userDrawn="1"/>
        </p:nvGrpSpPr>
        <p:grpSpPr>
          <a:xfrm>
            <a:off x="796389" y="2189088"/>
            <a:ext cx="9109611" cy="59511"/>
            <a:chOff x="1367282" y="2096852"/>
            <a:chExt cx="4249697" cy="72008"/>
          </a:xfrm>
        </p:grpSpPr>
        <p:sp>
          <p:nvSpPr>
            <p:cNvPr id="3" name="직사각형 2"/>
            <p:cNvSpPr/>
            <p:nvPr/>
          </p:nvSpPr>
          <p:spPr>
            <a:xfrm>
              <a:off x="1367282" y="2096852"/>
              <a:ext cx="1041438" cy="72008"/>
            </a:xfrm>
            <a:prstGeom prst="rect">
              <a:avLst/>
            </a:prstGeom>
            <a:solidFill>
              <a:srgbClr val="62574A"/>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dirty="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sp>
          <p:nvSpPr>
            <p:cNvPr id="4" name="직사각형 3"/>
            <p:cNvSpPr/>
            <p:nvPr/>
          </p:nvSpPr>
          <p:spPr>
            <a:xfrm>
              <a:off x="2213663" y="2096852"/>
              <a:ext cx="3403316" cy="72008"/>
            </a:xfrm>
            <a:prstGeom prst="rect">
              <a:avLst/>
            </a:prstGeom>
            <a:solidFill>
              <a:srgbClr val="FFC000"/>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dirty="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grpSp>
      <p:sp>
        <p:nvSpPr>
          <p:cNvPr id="7" name="제목 6"/>
          <p:cNvSpPr>
            <a:spLocks noGrp="1"/>
          </p:cNvSpPr>
          <p:nvPr>
            <p:ph type="title" hasCustomPrompt="1"/>
          </p:nvPr>
        </p:nvSpPr>
        <p:spPr>
          <a:xfrm>
            <a:off x="1208584" y="1459617"/>
            <a:ext cx="8697416" cy="540000"/>
          </a:xfrm>
          <a:noFill/>
        </p:spPr>
        <p:txBody>
          <a:bodyPr wrap="square" rtlCol="0">
            <a:noAutofit/>
          </a:bodyPr>
          <a:lstStyle>
            <a:lvl1pPr>
              <a:defRPr lang="ko-KR" altLang="en-US" sz="3000" baseline="0" dirty="0">
                <a:solidFill>
                  <a:schemeClr val="tx1">
                    <a:lumMod val="75000"/>
                    <a:lumOff val="25000"/>
                  </a:schemeClr>
                </a:solidFill>
                <a:latin typeface="+mj-lt"/>
                <a:ea typeface="+mj-ea"/>
                <a:cs typeface="+mn-cs"/>
              </a:defRPr>
            </a:lvl1pPr>
          </a:lstStyle>
          <a:p>
            <a:pPr lvl="0">
              <a:lnSpc>
                <a:spcPts val="3500"/>
              </a:lnSpc>
            </a:pPr>
            <a:r>
              <a:rPr lang="ko-KR" altLang="en-US" dirty="0" smtClean="0"/>
              <a:t>목차</a:t>
            </a:r>
            <a:endParaRPr lang="ko-KR" altLang="en-US" dirty="0"/>
          </a:p>
        </p:txBody>
      </p:sp>
    </p:spTree>
    <p:extLst>
      <p:ext uri="{BB962C8B-B14F-4D97-AF65-F5344CB8AC3E}">
        <p14:creationId xmlns:p14="http://schemas.microsoft.com/office/powerpoint/2010/main" val="118262856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 내용(거버닝 메시지 포함)">
    <p:spTree>
      <p:nvGrpSpPr>
        <p:cNvPr id="1" name=""/>
        <p:cNvGrpSpPr/>
        <p:nvPr/>
      </p:nvGrpSpPr>
      <p:grpSpPr>
        <a:xfrm>
          <a:off x="0" y="0"/>
          <a:ext cx="0" cy="0"/>
          <a:chOff x="0" y="0"/>
          <a:chExt cx="0" cy="0"/>
        </a:xfrm>
      </p:grpSpPr>
      <p:sp>
        <p:nvSpPr>
          <p:cNvPr id="19" name="Title Placeholder 1"/>
          <p:cNvSpPr>
            <a:spLocks noGrp="1"/>
          </p:cNvSpPr>
          <p:nvPr>
            <p:ph type="title" hasCustomPrompt="1"/>
          </p:nvPr>
        </p:nvSpPr>
        <p:spPr>
          <a:xfrm>
            <a:off x="381884" y="299381"/>
            <a:ext cx="6804000" cy="276999"/>
          </a:xfrm>
          <a:prstGeom prst="rect">
            <a:avLst/>
          </a:prstGeom>
          <a:noFill/>
          <a:ln w="6350">
            <a:noFill/>
            <a:miter lim="800000"/>
          </a:ln>
        </p:spPr>
        <p:txBody>
          <a:bodyPr vert="horz" wrap="square" lIns="0" tIns="0" rIns="0" bIns="0" rtlCol="0" anchor="t" anchorCtr="0">
            <a:spAutoFit/>
          </a:bodyPr>
          <a:lstStyle>
            <a:lvl1pPr>
              <a:defRPr lang="en-US" sz="2000" b="0" baseline="0" dirty="0">
                <a:latin typeface="+mj-lt"/>
              </a:defRPr>
            </a:lvl1pPr>
          </a:lstStyle>
          <a:p>
            <a:pPr lvl="0"/>
            <a:r>
              <a:rPr lang="en-US" altLang="ko-KR" dirty="0" smtClean="0"/>
              <a:t>Title text here</a:t>
            </a:r>
            <a:endParaRPr lang="en-US" dirty="0"/>
          </a:p>
        </p:txBody>
      </p:sp>
      <p:sp>
        <p:nvSpPr>
          <p:cNvPr id="4" name="Text Placeholder 3"/>
          <p:cNvSpPr>
            <a:spLocks noGrp="1"/>
          </p:cNvSpPr>
          <p:nvPr>
            <p:ph type="body" sz="quarter" idx="10" hasCustomPrompt="1"/>
          </p:nvPr>
        </p:nvSpPr>
        <p:spPr>
          <a:xfrm>
            <a:off x="381884" y="731429"/>
            <a:ext cx="9143468" cy="221599"/>
          </a:xfrm>
        </p:spPr>
        <p:txBody>
          <a:bodyPr/>
          <a:lstStyle>
            <a:lvl1pPr>
              <a:spcBef>
                <a:spcPts val="0"/>
              </a:spcBef>
              <a:defRPr sz="1600" b="0" baseline="0">
                <a:latin typeface="+mn-lt"/>
              </a:defRPr>
            </a:lvl1pPr>
          </a:lstStyle>
          <a:p>
            <a:pPr lvl="0"/>
            <a:r>
              <a:rPr lang="en-US" altLang="ko-KR" dirty="0" smtClean="0"/>
              <a:t>Headline of maximum two lines here</a:t>
            </a:r>
          </a:p>
        </p:txBody>
      </p:sp>
    </p:spTree>
    <p:extLst>
      <p:ext uri="{BB962C8B-B14F-4D97-AF65-F5344CB8AC3E}">
        <p14:creationId xmlns:p14="http://schemas.microsoft.com/office/powerpoint/2010/main" val="30820217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 내용 (거버닝 메시지 미포함)">
    <p:spTree>
      <p:nvGrpSpPr>
        <p:cNvPr id="1" name=""/>
        <p:cNvGrpSpPr/>
        <p:nvPr/>
      </p:nvGrpSpPr>
      <p:grpSpPr>
        <a:xfrm>
          <a:off x="0" y="0"/>
          <a:ext cx="0" cy="0"/>
          <a:chOff x="0" y="0"/>
          <a:chExt cx="0" cy="0"/>
        </a:xfrm>
      </p:grpSpPr>
      <p:sp>
        <p:nvSpPr>
          <p:cNvPr id="19" name="Title Placeholder 1"/>
          <p:cNvSpPr>
            <a:spLocks noGrp="1"/>
          </p:cNvSpPr>
          <p:nvPr>
            <p:ph type="title" hasCustomPrompt="1"/>
          </p:nvPr>
        </p:nvSpPr>
        <p:spPr>
          <a:xfrm>
            <a:off x="381884" y="299381"/>
            <a:ext cx="6804000" cy="276999"/>
          </a:xfrm>
          <a:prstGeom prst="rect">
            <a:avLst/>
          </a:prstGeom>
          <a:noFill/>
          <a:ln w="6350">
            <a:noFill/>
            <a:miter lim="800000"/>
          </a:ln>
        </p:spPr>
        <p:txBody>
          <a:bodyPr vert="horz" wrap="square" lIns="0" tIns="0" rIns="0" bIns="0" rtlCol="0" anchor="t" anchorCtr="0">
            <a:spAutoFit/>
          </a:bodyPr>
          <a:lstStyle>
            <a:lvl1pPr>
              <a:defRPr lang="en-US" sz="2000" b="0" baseline="0" dirty="0">
                <a:latin typeface="+mj-lt"/>
              </a:defRPr>
            </a:lvl1pPr>
          </a:lstStyle>
          <a:p>
            <a:pPr lvl="0"/>
            <a:r>
              <a:rPr lang="en-US" altLang="ko-KR" dirty="0" smtClean="0"/>
              <a:t>Title text here</a:t>
            </a:r>
            <a:endParaRPr lang="en-US" dirty="0"/>
          </a:p>
        </p:txBody>
      </p:sp>
    </p:spTree>
    <p:extLst>
      <p:ext uri="{BB962C8B-B14F-4D97-AF65-F5344CB8AC3E}">
        <p14:creationId xmlns:p14="http://schemas.microsoft.com/office/powerpoint/2010/main" val="35374658"/>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4) EoD">
    <p:spTree>
      <p:nvGrpSpPr>
        <p:cNvPr id="1" name=""/>
        <p:cNvGrpSpPr/>
        <p:nvPr/>
      </p:nvGrpSpPr>
      <p:grpSpPr>
        <a:xfrm>
          <a:off x="0" y="0"/>
          <a:ext cx="0" cy="0"/>
          <a:chOff x="0" y="0"/>
          <a:chExt cx="0" cy="0"/>
        </a:xfrm>
      </p:grpSpPr>
      <p:pic>
        <p:nvPicPr>
          <p:cNvPr id="7"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906000" cy="685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descr="KB금융그룹(백)"/>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l="23642" t="-8025"/>
          <a:stretch>
            <a:fillRect/>
          </a:stretch>
        </p:blipFill>
        <p:spPr bwMode="auto">
          <a:xfrm>
            <a:off x="7245352" y="333376"/>
            <a:ext cx="130492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5" descr="사본 -kb국민은행"/>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7380290" y="6215067"/>
            <a:ext cx="2255837"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0" name="Picture 2"/>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64468" y="6167512"/>
            <a:ext cx="612068"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0022396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1319294"/>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FBB5ACDC-D89B-4E78-823F-FC8C2A859030}" type="datetimeFigureOut">
              <a:rPr lang="ko-KR" altLang="en-US" smtClean="0"/>
              <a:t>2023-06-28</a:t>
            </a:fld>
            <a:endParaRPr lang="ko-KR" altLang="en-US"/>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268C4C6F-F9FB-45CF-8806-9FF3ED3E705E}" type="slidenum">
              <a:rPr lang="ko-KR" altLang="en-US" smtClean="0"/>
              <a:t>‹#›</a:t>
            </a:fld>
            <a:endParaRPr lang="ko-KR" altLang="en-US"/>
          </a:p>
        </p:txBody>
      </p:sp>
    </p:spTree>
    <p:extLst>
      <p:ext uri="{BB962C8B-B14F-4D97-AF65-F5344CB8AC3E}">
        <p14:creationId xmlns:p14="http://schemas.microsoft.com/office/powerpoint/2010/main" val="185777393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6490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vmlDrawing" Target="../drawings/vmlDrawing1.vml"/><Relationship Id="rId4" Type="http://schemas.openxmlformats.org/officeDocument/2006/relationships/slideLayout" Target="../slideLayouts/slideLayout4.xml"/><Relationship Id="rId9" Type="http://schemas.openxmlformats.org/officeDocument/2006/relationships/theme" Target="../theme/theme1.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80492" y="734158"/>
            <a:ext cx="9144508" cy="443198"/>
          </a:xfrm>
          <a:prstGeom prst="rect">
            <a:avLst/>
          </a:prstGeom>
          <a:noFill/>
          <a:ln w="6350">
            <a:noFill/>
            <a:miter lim="800000"/>
          </a:ln>
        </p:spPr>
        <p:txBody>
          <a:bodyPr vert="horz" wrap="square" lIns="0" tIns="0" rIns="0" bIns="0" rtlCol="0">
            <a:spAutoFit/>
          </a:bodyPr>
          <a:lstStyle/>
          <a:p>
            <a:pPr lvl="0"/>
            <a:r>
              <a:rPr lang="en-US" dirty="0" smtClean="0"/>
              <a:t>Headline of maximum two lines here</a:t>
            </a:r>
            <a:br>
              <a:rPr lang="en-US" dirty="0" smtClean="0"/>
            </a:br>
            <a:endParaRPr lang="en-US" dirty="0" smtClean="0"/>
          </a:p>
        </p:txBody>
      </p:sp>
      <p:graphicFrame>
        <p:nvGraphicFramePr>
          <p:cNvPr id="4" name="Object 3" hidden="1"/>
          <p:cNvGraphicFramePr>
            <a:graphicFrameLocks noChangeAspect="1"/>
          </p:cNvGraphicFramePr>
          <p:nvPr>
            <p:custDataLst>
              <p:tags r:id="rId11"/>
            </p:custDataLst>
            <p:extLst>
              <p:ext uri="{D42A27DB-BD31-4B8C-83A1-F6EECF244321}">
                <p14:modId xmlns:p14="http://schemas.microsoft.com/office/powerpoint/2010/main" val="126210368"/>
              </p:ext>
            </p:extLst>
          </p:nvPr>
        </p:nvGraphicFramePr>
        <p:xfrm>
          <a:off x="1722" y="1591"/>
          <a:ext cx="1719" cy="1587"/>
        </p:xfrm>
        <a:graphic>
          <a:graphicData uri="http://schemas.openxmlformats.org/presentationml/2006/ole">
            <mc:AlternateContent xmlns:mc="http://schemas.openxmlformats.org/markup-compatibility/2006">
              <mc:Choice xmlns:v="urn:schemas-microsoft-com:vml" Requires="v">
                <p:oleObj spid="_x0000_s72849" name="think-cell Slide" r:id="rId12" imgW="270" imgH="270" progId="TCLayout.ActiveDocument.1">
                  <p:embed/>
                </p:oleObj>
              </mc:Choice>
              <mc:Fallback>
                <p:oleObj name="think-cell Slide" r:id="rId12" imgW="270" imgH="270" progId="TCLayout.ActiveDocument.1">
                  <p:embed/>
                  <p:pic>
                    <p:nvPicPr>
                      <p:cNvPr id="0" name=""/>
                      <p:cNvPicPr/>
                      <p:nvPr/>
                    </p:nvPicPr>
                    <p:blipFill>
                      <a:blip r:embed="rId13"/>
                      <a:stretch>
                        <a:fillRect/>
                      </a:stretch>
                    </p:blipFill>
                    <p:spPr>
                      <a:xfrm>
                        <a:off x="1722" y="1591"/>
                        <a:ext cx="1719" cy="1587"/>
                      </a:xfrm>
                      <a:prstGeom prst="rect">
                        <a:avLst/>
                      </a:prstGeom>
                    </p:spPr>
                  </p:pic>
                </p:oleObj>
              </mc:Fallback>
            </mc:AlternateContent>
          </a:graphicData>
        </a:graphic>
      </p:graphicFrame>
      <p:sp>
        <p:nvSpPr>
          <p:cNvPr id="2" name="Title Placeholder 1"/>
          <p:cNvSpPr>
            <a:spLocks noGrp="1"/>
          </p:cNvSpPr>
          <p:nvPr>
            <p:ph type="title"/>
          </p:nvPr>
        </p:nvSpPr>
        <p:spPr>
          <a:xfrm>
            <a:off x="380492" y="298493"/>
            <a:ext cx="6804000" cy="276999"/>
          </a:xfrm>
          <a:prstGeom prst="rect">
            <a:avLst/>
          </a:prstGeom>
          <a:noFill/>
          <a:ln w="6350">
            <a:noFill/>
            <a:miter lim="800000"/>
          </a:ln>
        </p:spPr>
        <p:txBody>
          <a:bodyPr vert="horz" wrap="square" lIns="0" tIns="0" rIns="0" bIns="0" rtlCol="0" anchor="t" anchorCtr="0">
            <a:spAutoFit/>
          </a:bodyPr>
          <a:lstStyle/>
          <a:p>
            <a:pPr lvl="0"/>
            <a:r>
              <a:rPr lang="en-US" altLang="ko-KR" dirty="0" smtClean="0"/>
              <a:t>Title text here</a:t>
            </a:r>
            <a:endParaRPr lang="en-US" dirty="0"/>
          </a:p>
        </p:txBody>
      </p:sp>
      <p:cxnSp>
        <p:nvCxnSpPr>
          <p:cNvPr id="20" name="직선 연결선 19"/>
          <p:cNvCxnSpPr/>
          <p:nvPr/>
        </p:nvCxnSpPr>
        <p:spPr>
          <a:xfrm>
            <a:off x="1496616" y="630582"/>
            <a:ext cx="8409384"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0" name="직선 연결선 9"/>
          <p:cNvCxnSpPr/>
          <p:nvPr/>
        </p:nvCxnSpPr>
        <p:spPr>
          <a:xfrm>
            <a:off x="3441" y="630582"/>
            <a:ext cx="1493175"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직선 연결선 8"/>
          <p:cNvCxnSpPr/>
          <p:nvPr/>
        </p:nvCxnSpPr>
        <p:spPr>
          <a:xfrm>
            <a:off x="1251731" y="6713057"/>
            <a:ext cx="8280000" cy="0"/>
          </a:xfrm>
          <a:prstGeom prst="line">
            <a:avLst/>
          </a:prstGeom>
          <a:ln w="19050" cap="flat">
            <a:solidFill>
              <a:srgbClr val="62574A"/>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9534714" y="6643808"/>
            <a:ext cx="278826" cy="138499"/>
          </a:xfrm>
          <a:prstGeom prst="rect">
            <a:avLst/>
          </a:prstGeom>
          <a:solidFill>
            <a:srgbClr val="FFFFFF"/>
          </a:solidFill>
          <a:ln w="6350">
            <a:noFill/>
            <a:miter lim="800000"/>
          </a:ln>
        </p:spPr>
        <p:txBody>
          <a:bodyPr wrap="none" lIns="0" tIns="0" rIns="0" bIns="0" rtlCol="0" anchor="b" anchorCtr="0">
            <a:noAutofit/>
          </a:bodyPr>
          <a:lstStyle/>
          <a:p>
            <a:pPr algn="ctr"/>
            <a:fld id="{6CE8C368-3382-4C28-AE75-DF7C05ACA19D}" type="slidenum">
              <a:rPr lang="en-US" sz="900" b="0" smtClean="0">
                <a:solidFill>
                  <a:srgbClr val="585043"/>
                </a:solidFill>
                <a:latin typeface="KB금융 본문체 Medium" panose="020B0603000000000000" pitchFamily="50" charset="-127"/>
                <a:ea typeface="KB금융 본문체 Medium" panose="020B0603000000000000" pitchFamily="50" charset="-127"/>
              </a:rPr>
              <a:pPr algn="ctr"/>
              <a:t>‹#›</a:t>
            </a:fld>
            <a:endParaRPr lang="en-US" sz="900" b="0" dirty="0">
              <a:solidFill>
                <a:srgbClr val="585043"/>
              </a:solidFill>
              <a:latin typeface="KB금융 본문체 Medium" panose="020B0603000000000000" pitchFamily="50" charset="-127"/>
              <a:ea typeface="KB금융 본문체 Medium" panose="020B0603000000000000" pitchFamily="50" charset="-127"/>
            </a:endParaRPr>
          </a:p>
        </p:txBody>
      </p:sp>
      <p:grpSp>
        <p:nvGrpSpPr>
          <p:cNvPr id="5" name="그룹 4"/>
          <p:cNvGrpSpPr/>
          <p:nvPr/>
        </p:nvGrpSpPr>
        <p:grpSpPr>
          <a:xfrm>
            <a:off x="92460" y="6638944"/>
            <a:ext cx="1152128" cy="148225"/>
            <a:chOff x="92460" y="6638944"/>
            <a:chExt cx="1152128" cy="148225"/>
          </a:xfrm>
        </p:grpSpPr>
        <p:grpSp>
          <p:nvGrpSpPr>
            <p:cNvPr id="29" name="그룹 28"/>
            <p:cNvGrpSpPr/>
            <p:nvPr userDrawn="1"/>
          </p:nvGrpSpPr>
          <p:grpSpPr>
            <a:xfrm>
              <a:off x="92460" y="6638944"/>
              <a:ext cx="886575" cy="148225"/>
              <a:chOff x="92460" y="6638944"/>
              <a:chExt cx="886575" cy="148225"/>
            </a:xfrm>
          </p:grpSpPr>
          <p:cxnSp>
            <p:nvCxnSpPr>
              <p:cNvPr id="16" name="직선 연결선 15"/>
              <p:cNvCxnSpPr/>
              <p:nvPr userDrawn="1"/>
            </p:nvCxnSpPr>
            <p:spPr>
              <a:xfrm rot="16200000">
                <a:off x="936927" y="6706376"/>
                <a:ext cx="84216" cy="0"/>
              </a:xfrm>
              <a:prstGeom prst="line">
                <a:avLst/>
              </a:prstGeom>
              <a:ln w="6350" cap="flat">
                <a:solidFill>
                  <a:schemeClr val="bg1">
                    <a:lumMod val="5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21" name="Picture 3" descr="D:\Z90000_양식 참고자료\KB국민은행\KB_s_kr2_edited.jpg"/>
              <p:cNvPicPr>
                <a:picLocks noChangeAspect="1" noChangeArrowheads="1"/>
              </p:cNvPicPr>
              <p:nvPr userDrawn="1"/>
            </p:nvPicPr>
            <p:blipFill>
              <a:blip r:embed="rId1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2460" y="6638944"/>
                <a:ext cx="854964" cy="148225"/>
              </a:xfrm>
              <a:prstGeom prst="rect">
                <a:avLst/>
              </a:prstGeom>
              <a:noFill/>
              <a:extLst>
                <a:ext uri="{909E8E84-426E-40DD-AFC4-6F175D3DCCD1}">
                  <a14:hiddenFill xmlns:a14="http://schemas.microsoft.com/office/drawing/2010/main">
                    <a:solidFill>
                      <a:srgbClr val="FFFFFF"/>
                    </a:solidFill>
                  </a14:hiddenFill>
                </a:ext>
              </a:extLst>
            </p:spPr>
          </p:pic>
        </p:grpSp>
        <p:pic>
          <p:nvPicPr>
            <p:cNvPr id="72059" name="Picture 1403"/>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004826" y="6642880"/>
              <a:ext cx="239762" cy="1244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152984953"/>
      </p:ext>
    </p:extLst>
  </p:cSld>
  <p:clrMap bg1="lt1" tx1="dk1" bg2="lt2" tx2="dk2" accent1="accent1" accent2="accent2" accent3="accent3" accent4="accent4" accent5="accent5" accent6="accent6" hlink="hlink" folHlink="folHlink"/>
  <p:sldLayoutIdLst>
    <p:sldLayoutId id="2147483687" r:id="rId1"/>
    <p:sldLayoutId id="2147483685" r:id="rId2"/>
    <p:sldLayoutId id="2147483676" r:id="rId3"/>
    <p:sldLayoutId id="2147483688" r:id="rId4"/>
    <p:sldLayoutId id="2147483679" r:id="rId5"/>
    <p:sldLayoutId id="2147483686" r:id="rId6"/>
    <p:sldLayoutId id="2147483689" r:id="rId7"/>
    <p:sldLayoutId id="2147483690" r:id="rId8"/>
  </p:sldLayoutIdLst>
  <p:timing>
    <p:tnLst>
      <p:par>
        <p:cTn id="1" dur="indefinite" restart="never" nodeType="tmRoot"/>
      </p:par>
    </p:tnLst>
  </p:timing>
  <p:hf sldNum="0" hdr="0" ftr="0" dt="0"/>
  <p:txStyles>
    <p:titleStyle>
      <a:lvl1pPr marL="0" indent="0" algn="l" defTabSz="914400" rtl="0" eaLnBrk="1" latinLnBrk="0" hangingPunct="1">
        <a:lnSpc>
          <a:spcPct val="90000"/>
        </a:lnSpc>
        <a:spcBef>
          <a:spcPct val="0"/>
        </a:spcBef>
        <a:buNone/>
        <a:defRPr lang="en-US" sz="2000" b="0" kern="1200" baseline="0" dirty="0">
          <a:solidFill>
            <a:schemeClr val="accent5"/>
          </a:solidFill>
          <a:latin typeface="+mj-lt"/>
          <a:ea typeface="+mj-ea"/>
          <a:cs typeface="Arial" pitchFamily="34" charset="0"/>
        </a:defRPr>
      </a:lvl1pPr>
    </p:titleStyle>
    <p:bodyStyle>
      <a:lvl1pPr marL="0" indent="0" algn="l" defTabSz="914400" rtl="0" eaLnBrk="1" latinLnBrk="0" hangingPunct="1">
        <a:lnSpc>
          <a:spcPct val="90000"/>
        </a:lnSpc>
        <a:spcBef>
          <a:spcPts val="0"/>
        </a:spcBef>
        <a:buClr>
          <a:srgbClr val="FFA600"/>
        </a:buClr>
        <a:buSzPct val="100000"/>
        <a:buFont typeface="Arial" pitchFamily="34" charset="0"/>
        <a:buNone/>
        <a:defRPr sz="1600" b="0" kern="1200" baseline="0">
          <a:solidFill>
            <a:schemeClr val="tx1"/>
          </a:solidFill>
          <a:latin typeface="+mn-lt"/>
          <a:ea typeface="+mn-ea"/>
          <a:cs typeface="Arial" pitchFamily="34" charset="0"/>
        </a:defRPr>
      </a:lvl1pPr>
      <a:lvl2pPr marL="310896" indent="-128016" algn="l" defTabSz="914400" rtl="0" eaLnBrk="1" latinLnBrk="0" hangingPunct="1">
        <a:lnSpc>
          <a:spcPct val="90000"/>
        </a:lnSpc>
        <a:spcBef>
          <a:spcPts val="900"/>
        </a:spcBef>
        <a:buClr>
          <a:srgbClr val="FFA600"/>
        </a:buClr>
        <a:buFont typeface="Arial" pitchFamily="34" charset="0"/>
        <a:buChar char="•"/>
        <a:defRPr sz="2200" kern="1200">
          <a:solidFill>
            <a:schemeClr val="tx1"/>
          </a:solidFill>
          <a:latin typeface="Arial" pitchFamily="34" charset="0"/>
          <a:ea typeface="맑은 고딕" panose="020B0503020000020004" pitchFamily="50" charset="-127"/>
          <a:cs typeface="Arial" pitchFamily="34" charset="0"/>
        </a:defRPr>
      </a:lvl2pPr>
      <a:lvl3pPr marL="489600" indent="-180000" algn="l" defTabSz="914400" rtl="0" eaLnBrk="1" latinLnBrk="0" hangingPunct="1">
        <a:lnSpc>
          <a:spcPct val="90000"/>
        </a:lnSpc>
        <a:spcBef>
          <a:spcPts val="600"/>
        </a:spcBef>
        <a:buClr>
          <a:srgbClr val="FFA600"/>
        </a:buClr>
        <a:buFont typeface="Arial" pitchFamily="34" charset="0"/>
        <a:buChar char="–"/>
        <a:defRPr sz="2200" kern="1200">
          <a:solidFill>
            <a:schemeClr val="tx1"/>
          </a:solidFill>
          <a:latin typeface="Arial" pitchFamily="34" charset="0"/>
          <a:ea typeface="맑은 고딕" panose="020B0503020000020004" pitchFamily="50" charset="-127"/>
          <a:cs typeface="Arial" pitchFamily="34" charset="0"/>
        </a:defRPr>
      </a:lvl3pPr>
      <a:lvl4pPr marL="633600" indent="-137160" algn="l" defTabSz="914400" rtl="0" eaLnBrk="1" latinLnBrk="0" hangingPunct="1">
        <a:lnSpc>
          <a:spcPct val="90000"/>
        </a:lnSpc>
        <a:spcBef>
          <a:spcPts val="200"/>
        </a:spcBef>
        <a:buClr>
          <a:srgbClr val="FFA600"/>
        </a:buClr>
        <a:buFont typeface="Arial" pitchFamily="34" charset="0"/>
        <a:buChar char="-"/>
        <a:defRPr sz="2200" kern="1200">
          <a:solidFill>
            <a:schemeClr val="tx1"/>
          </a:solidFill>
          <a:latin typeface="Arial" pitchFamily="34" charset="0"/>
          <a:ea typeface="맑은 고딕" panose="020B0503020000020004" pitchFamily="50" charset="-127"/>
          <a:cs typeface="Arial" pitchFamily="34" charset="0"/>
        </a:defRPr>
      </a:lvl4pPr>
      <a:lvl5pPr marL="770400" indent="-136800" algn="l" defTabSz="914400" rtl="0" eaLnBrk="1" latinLnBrk="0" hangingPunct="1">
        <a:lnSpc>
          <a:spcPct val="90000"/>
        </a:lnSpc>
        <a:spcBef>
          <a:spcPts val="100"/>
        </a:spcBef>
        <a:buClr>
          <a:srgbClr val="FFA600"/>
        </a:buClr>
        <a:buFont typeface="Arial" pitchFamily="34" charset="0"/>
        <a:buChar char="-"/>
        <a:defRPr sz="2200" kern="1200">
          <a:solidFill>
            <a:schemeClr val="tx1"/>
          </a:solidFill>
          <a:latin typeface="Arial" pitchFamily="34" charset="0"/>
          <a:ea typeface="맑은 고딕" panose="020B0503020000020004" pitchFamily="50" charset="-127"/>
          <a:cs typeface="Arial" pitchFamily="34" charset="0"/>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16.emf"/><Relationship Id="rId4" Type="http://schemas.openxmlformats.org/officeDocument/2006/relationships/image" Target="../media/image15.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30.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30.png"/><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a:xfrm>
            <a:off x="340406" y="2204864"/>
            <a:ext cx="5980746" cy="925511"/>
          </a:xfrm>
        </p:spPr>
        <p:txBody>
          <a:bodyPr/>
          <a:lstStyle/>
          <a:p>
            <a:r>
              <a:rPr lang="en-US" altLang="ko-KR" smtClean="0"/>
              <a:t>KB</a:t>
            </a:r>
            <a:r>
              <a:rPr lang="ko-KR" altLang="en-US" smtClean="0"/>
              <a:t>국민은행 암호화관련 사용 가이드</a:t>
            </a:r>
            <a:endParaRPr lang="ko-KR" altLang="en-US" dirty="0"/>
          </a:p>
        </p:txBody>
      </p:sp>
      <p:sp>
        <p:nvSpPr>
          <p:cNvPr id="7" name="내용 개체 틀 6"/>
          <p:cNvSpPr>
            <a:spLocks noGrp="1"/>
          </p:cNvSpPr>
          <p:nvPr>
            <p:ph sz="quarter" idx="13"/>
          </p:nvPr>
        </p:nvSpPr>
        <p:spPr>
          <a:xfrm>
            <a:off x="560512" y="4455132"/>
            <a:ext cx="2416367" cy="324000"/>
          </a:xfrm>
        </p:spPr>
        <p:txBody>
          <a:bodyPr/>
          <a:lstStyle/>
          <a:p>
            <a:r>
              <a:rPr lang="en-US" altLang="ko-KR" smtClean="0"/>
              <a:t>2023.06.28</a:t>
            </a:r>
            <a:endParaRPr lang="ko-KR" altLang="en-US" dirty="0"/>
          </a:p>
        </p:txBody>
      </p:sp>
      <p:sp>
        <p:nvSpPr>
          <p:cNvPr id="8" name="내용 개체 틀 7"/>
          <p:cNvSpPr>
            <a:spLocks noGrp="1"/>
          </p:cNvSpPr>
          <p:nvPr>
            <p:ph sz="quarter" idx="14"/>
          </p:nvPr>
        </p:nvSpPr>
        <p:spPr>
          <a:xfrm>
            <a:off x="560512" y="4165659"/>
            <a:ext cx="452624" cy="235449"/>
          </a:xfrm>
        </p:spPr>
        <p:txBody>
          <a:bodyPr/>
          <a:lstStyle/>
          <a:p>
            <a:r>
              <a:rPr lang="en-US" altLang="ko-KR" smtClean="0"/>
              <a:t>V1.3</a:t>
            </a:r>
            <a:endParaRPr lang="ko-KR" altLang="en-US" dirty="0"/>
          </a:p>
        </p:txBody>
      </p:sp>
      <p:sp>
        <p:nvSpPr>
          <p:cNvPr id="9" name="내용 개체 틀 4"/>
          <p:cNvSpPr txBox="1">
            <a:spLocks/>
          </p:cNvSpPr>
          <p:nvPr/>
        </p:nvSpPr>
        <p:spPr>
          <a:xfrm>
            <a:off x="3775289" y="5481228"/>
            <a:ext cx="2545863" cy="576028"/>
          </a:xfrm>
          <a:prstGeom prst="rect">
            <a:avLst/>
          </a:prstGeom>
          <a:noFill/>
          <a:ln w="6350">
            <a:noFill/>
            <a:miter lim="800000"/>
          </a:ln>
        </p:spPr>
        <p:txBody>
          <a:bodyPr vert="horz" wrap="none" lIns="0" tIns="0" rIns="0" bIns="0" rtlCol="0" anchor="ctr">
            <a:noAutofit/>
          </a:bodyPr>
          <a:lstStyle>
            <a:lvl1pPr marL="0" indent="0" algn="l" defTabSz="914400" rtl="0" eaLnBrk="1" latinLnBrk="0" hangingPunct="1">
              <a:lnSpc>
                <a:spcPct val="90000"/>
              </a:lnSpc>
              <a:spcBef>
                <a:spcPts val="0"/>
              </a:spcBef>
              <a:buClr>
                <a:srgbClr val="FFA600"/>
              </a:buClr>
              <a:buSzPct val="100000"/>
              <a:buFont typeface="Arial" pitchFamily="34" charset="0"/>
              <a:buNone/>
              <a:defRPr lang="ko-KR" altLang="en-US" sz="1700" b="0" kern="1200" baseline="0" dirty="0">
                <a:solidFill>
                  <a:schemeClr val="tx1"/>
                </a:solidFill>
                <a:latin typeface="+mn-lt"/>
                <a:ea typeface="+mn-ea"/>
                <a:cs typeface="+mn-cs"/>
              </a:defRPr>
            </a:lvl1pPr>
            <a:lvl2pPr marL="310896" indent="-128016" algn="l" defTabSz="914400" rtl="0" eaLnBrk="1" latinLnBrk="0" hangingPunct="1">
              <a:lnSpc>
                <a:spcPct val="90000"/>
              </a:lnSpc>
              <a:spcBef>
                <a:spcPts val="900"/>
              </a:spcBef>
              <a:buClr>
                <a:srgbClr val="FFA600"/>
              </a:buClr>
              <a:buFont typeface="Arial" pitchFamily="34" charset="0"/>
              <a:buChar char="•"/>
              <a:defRPr sz="2200" kern="1200">
                <a:solidFill>
                  <a:schemeClr val="tx1"/>
                </a:solidFill>
                <a:latin typeface="Arial" pitchFamily="34" charset="0"/>
                <a:ea typeface="맑은 고딕" panose="020B0503020000020004" pitchFamily="50" charset="-127"/>
                <a:cs typeface="Arial" pitchFamily="34" charset="0"/>
              </a:defRPr>
            </a:lvl2pPr>
            <a:lvl3pPr marL="489600" indent="-180000" algn="l" defTabSz="914400" rtl="0" eaLnBrk="1" latinLnBrk="0" hangingPunct="1">
              <a:lnSpc>
                <a:spcPct val="90000"/>
              </a:lnSpc>
              <a:spcBef>
                <a:spcPts val="600"/>
              </a:spcBef>
              <a:buClr>
                <a:srgbClr val="FFA600"/>
              </a:buClr>
              <a:buFont typeface="Arial" pitchFamily="34" charset="0"/>
              <a:buChar char="–"/>
              <a:defRPr sz="2200" kern="1200">
                <a:solidFill>
                  <a:schemeClr val="tx1"/>
                </a:solidFill>
                <a:latin typeface="Arial" pitchFamily="34" charset="0"/>
                <a:ea typeface="맑은 고딕" panose="020B0503020000020004" pitchFamily="50" charset="-127"/>
                <a:cs typeface="Arial" pitchFamily="34" charset="0"/>
              </a:defRPr>
            </a:lvl3pPr>
            <a:lvl4pPr marL="633600" indent="-137160" algn="l" defTabSz="914400" rtl="0" eaLnBrk="1" latinLnBrk="0" hangingPunct="1">
              <a:lnSpc>
                <a:spcPct val="90000"/>
              </a:lnSpc>
              <a:spcBef>
                <a:spcPts val="200"/>
              </a:spcBef>
              <a:buClr>
                <a:srgbClr val="FFA600"/>
              </a:buClr>
              <a:buFont typeface="Arial" pitchFamily="34" charset="0"/>
              <a:buChar char="-"/>
              <a:defRPr sz="2200" kern="1200">
                <a:solidFill>
                  <a:schemeClr val="tx1"/>
                </a:solidFill>
                <a:latin typeface="Arial" pitchFamily="34" charset="0"/>
                <a:ea typeface="맑은 고딕" panose="020B0503020000020004" pitchFamily="50" charset="-127"/>
                <a:cs typeface="Arial" pitchFamily="34" charset="0"/>
              </a:defRPr>
            </a:lvl4pPr>
            <a:lvl5pPr marL="770400" indent="-136800" algn="l" defTabSz="914400" rtl="0" eaLnBrk="1" latinLnBrk="0" hangingPunct="1">
              <a:lnSpc>
                <a:spcPct val="90000"/>
              </a:lnSpc>
              <a:spcBef>
                <a:spcPts val="100"/>
              </a:spcBef>
              <a:buClr>
                <a:srgbClr val="FFA600"/>
              </a:buClr>
              <a:buFont typeface="Arial" pitchFamily="34" charset="0"/>
              <a:buChar char="-"/>
              <a:defRPr sz="2200" kern="1200">
                <a:solidFill>
                  <a:schemeClr val="tx1"/>
                </a:solidFill>
                <a:latin typeface="Arial" pitchFamily="34" charset="0"/>
                <a:ea typeface="맑은 고딕" panose="020B0503020000020004" pitchFamily="50" charset="-127"/>
                <a:cs typeface="Arial" pitchFamily="34" charset="0"/>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algn="ctr"/>
            <a:r>
              <a:rPr lang="ko-KR" altLang="en-US" sz="2800" dirty="0" smtClean="0"/>
              <a:t>정보보호부</a:t>
            </a:r>
            <a:endParaRPr lang="ko-KR" altLang="en-US" sz="2800" dirty="0"/>
          </a:p>
        </p:txBody>
      </p:sp>
    </p:spTree>
    <p:extLst>
      <p:ext uri="{BB962C8B-B14F-4D97-AF65-F5344CB8AC3E}">
        <p14:creationId xmlns:p14="http://schemas.microsoft.com/office/powerpoint/2010/main" val="4739499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smtClean="0"/>
              <a:t>개정 이력</a:t>
            </a:r>
            <a:endParaRPr lang="ko-KR" altLang="en-US" dirty="0"/>
          </a:p>
        </p:txBody>
      </p:sp>
      <p:graphicFrame>
        <p:nvGraphicFramePr>
          <p:cNvPr id="7" name="Group 78"/>
          <p:cNvGraphicFramePr>
            <a:graphicFrameLocks noGrp="1"/>
          </p:cNvGraphicFramePr>
          <p:nvPr>
            <p:extLst>
              <p:ext uri="{D42A27DB-BD31-4B8C-83A1-F6EECF244321}">
                <p14:modId xmlns:p14="http://schemas.microsoft.com/office/powerpoint/2010/main" val="1771386166"/>
              </p:ext>
            </p:extLst>
          </p:nvPr>
        </p:nvGraphicFramePr>
        <p:xfrm>
          <a:off x="273050" y="972640"/>
          <a:ext cx="9359900" cy="4147200"/>
        </p:xfrm>
        <a:graphic>
          <a:graphicData uri="http://schemas.openxmlformats.org/drawingml/2006/table">
            <a:tbl>
              <a:tblPr/>
              <a:tblGrid>
                <a:gridCol w="1331578">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4140460">
                  <a:extLst>
                    <a:ext uri="{9D8B030D-6E8A-4147-A177-3AD203B41FA5}">
                      <a16:colId xmlns:a16="http://schemas.microsoft.com/office/drawing/2014/main" val="20002"/>
                    </a:ext>
                  </a:extLst>
                </a:gridCol>
                <a:gridCol w="1817917">
                  <a:extLst>
                    <a:ext uri="{9D8B030D-6E8A-4147-A177-3AD203B41FA5}">
                      <a16:colId xmlns:a16="http://schemas.microsoft.com/office/drawing/2014/main" val="20003"/>
                    </a:ext>
                  </a:extLst>
                </a:gridCol>
                <a:gridCol w="1133841">
                  <a:extLst>
                    <a:ext uri="{9D8B030D-6E8A-4147-A177-3AD203B41FA5}">
                      <a16:colId xmlns:a16="http://schemas.microsoft.com/office/drawing/2014/main" val="20004"/>
                    </a:ext>
                  </a:extLst>
                </a:gridCol>
              </a:tblGrid>
              <a:tr h="276480">
                <a:tc>
                  <a:txBody>
                    <a:bodyPr/>
                    <a:lstStyle>
                      <a:lvl1pPr marL="0" algn="l" defTabSz="914400" rtl="0" eaLnBrk="1" latinLnBrk="1" hangingPunct="1">
                        <a:defRPr sz="1800" kern="1200">
                          <a:solidFill>
                            <a:schemeClr val="tx1"/>
                          </a:solidFill>
                          <a:latin typeface="맑은 고딕"/>
                          <a:ea typeface="맑은 고딕"/>
                        </a:defRPr>
                      </a:lvl1pPr>
                      <a:lvl2pPr marL="457200" algn="l" defTabSz="914400" rtl="0" eaLnBrk="1" latinLnBrk="1" hangingPunct="1">
                        <a:defRPr sz="1800" kern="1200">
                          <a:solidFill>
                            <a:schemeClr val="tx1"/>
                          </a:solidFill>
                          <a:latin typeface="맑은 고딕"/>
                          <a:ea typeface="맑은 고딕"/>
                        </a:defRPr>
                      </a:lvl2pPr>
                      <a:lvl3pPr marL="914400" algn="l" defTabSz="914400" rtl="0" eaLnBrk="1" latinLnBrk="1" hangingPunct="1">
                        <a:defRPr sz="1800" kern="1200">
                          <a:solidFill>
                            <a:schemeClr val="tx1"/>
                          </a:solidFill>
                          <a:latin typeface="맑은 고딕"/>
                          <a:ea typeface="맑은 고딕"/>
                        </a:defRPr>
                      </a:lvl3pPr>
                      <a:lvl4pPr marL="1371600" algn="l" defTabSz="914400" rtl="0" eaLnBrk="1" latinLnBrk="1" hangingPunct="1">
                        <a:defRPr sz="1800" kern="1200">
                          <a:solidFill>
                            <a:schemeClr val="tx1"/>
                          </a:solidFill>
                          <a:latin typeface="맑은 고딕"/>
                          <a:ea typeface="맑은 고딕"/>
                        </a:defRPr>
                      </a:lvl4pPr>
                      <a:lvl5pPr marL="1828800" algn="l" defTabSz="914400" rtl="0" eaLnBrk="1" latinLnBrk="1" hangingPunct="1">
                        <a:defRPr sz="1800" kern="1200">
                          <a:solidFill>
                            <a:schemeClr val="tx1"/>
                          </a:solidFill>
                          <a:latin typeface="맑은 고딕"/>
                          <a:ea typeface="맑은 고딕"/>
                        </a:defRPr>
                      </a:lvl5pPr>
                      <a:lvl6pPr marL="2286000" algn="l" defTabSz="914400" rtl="0" eaLnBrk="1" latinLnBrk="1" hangingPunct="1">
                        <a:defRPr sz="1800" kern="1200">
                          <a:solidFill>
                            <a:schemeClr val="tx1"/>
                          </a:solidFill>
                          <a:latin typeface="맑은 고딕"/>
                          <a:ea typeface="맑은 고딕"/>
                        </a:defRPr>
                      </a:lvl6pPr>
                      <a:lvl7pPr marL="2743200" algn="l" defTabSz="914400" rtl="0" eaLnBrk="1" latinLnBrk="1" hangingPunct="1">
                        <a:defRPr sz="1800" kern="1200">
                          <a:solidFill>
                            <a:schemeClr val="tx1"/>
                          </a:solidFill>
                          <a:latin typeface="맑은 고딕"/>
                          <a:ea typeface="맑은 고딕"/>
                        </a:defRPr>
                      </a:lvl7pPr>
                      <a:lvl8pPr marL="3200400" algn="l" defTabSz="914400" rtl="0" eaLnBrk="1" latinLnBrk="1" hangingPunct="1">
                        <a:defRPr sz="1800" kern="1200">
                          <a:solidFill>
                            <a:schemeClr val="tx1"/>
                          </a:solidFill>
                          <a:latin typeface="맑은 고딕"/>
                          <a:ea typeface="맑은 고딕"/>
                        </a:defRPr>
                      </a:lvl8pPr>
                      <a:lvl9pPr marL="3657600" algn="l" defTabSz="914400" rtl="0" eaLnBrk="1" latinLnBrk="1" hangingPunct="1">
                        <a:defRPr sz="1800" kern="1200">
                          <a:solidFill>
                            <a:schemeClr val="tx1"/>
                          </a:solidFill>
                          <a:latin typeface="맑은 고딕"/>
                          <a:ea typeface="맑은 고딕"/>
                        </a:defRPr>
                      </a:lvl9p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r>
                        <a:rPr kumimoji="0" lang="ko-KR" altLang="en-US" sz="1200" b="1" i="0" u="none" strike="noStrike" cap="none" normalizeH="0" baseline="0" dirty="0" smtClean="0">
                          <a:ln>
                            <a:noFill/>
                          </a:ln>
                          <a:solidFill>
                            <a:schemeClr val="bg1"/>
                          </a:solidFill>
                          <a:effectLst/>
                          <a:latin typeface="+mn-lt"/>
                          <a:ea typeface="+mn-ea"/>
                          <a:cs typeface="Arial" charset="0"/>
                        </a:rPr>
                        <a:t>일자</a:t>
                      </a:r>
                    </a:p>
                  </a:txBody>
                  <a:tcPr marL="90000" marR="90000" marT="46800" marB="46800" anchor="ctr" anchorCtr="1" horzOverflow="overflow">
                    <a:lnL w="6350" cap="flat" cmpd="sng" algn="ctr">
                      <a:solidFill>
                        <a:schemeClr val="tx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marL="0" algn="l" defTabSz="914400" rtl="0" eaLnBrk="1" latinLnBrk="1" hangingPunct="1">
                        <a:defRPr sz="1800" kern="1200">
                          <a:solidFill>
                            <a:schemeClr val="tx1"/>
                          </a:solidFill>
                          <a:latin typeface="맑은 고딕"/>
                          <a:ea typeface="맑은 고딕"/>
                        </a:defRPr>
                      </a:lvl1pPr>
                      <a:lvl2pPr marL="457200" algn="l" defTabSz="914400" rtl="0" eaLnBrk="1" latinLnBrk="1" hangingPunct="1">
                        <a:defRPr sz="1800" kern="1200">
                          <a:solidFill>
                            <a:schemeClr val="tx1"/>
                          </a:solidFill>
                          <a:latin typeface="맑은 고딕"/>
                          <a:ea typeface="맑은 고딕"/>
                        </a:defRPr>
                      </a:lvl2pPr>
                      <a:lvl3pPr marL="914400" algn="l" defTabSz="914400" rtl="0" eaLnBrk="1" latinLnBrk="1" hangingPunct="1">
                        <a:defRPr sz="1800" kern="1200">
                          <a:solidFill>
                            <a:schemeClr val="tx1"/>
                          </a:solidFill>
                          <a:latin typeface="맑은 고딕"/>
                          <a:ea typeface="맑은 고딕"/>
                        </a:defRPr>
                      </a:lvl3pPr>
                      <a:lvl4pPr marL="1371600" algn="l" defTabSz="914400" rtl="0" eaLnBrk="1" latinLnBrk="1" hangingPunct="1">
                        <a:defRPr sz="1800" kern="1200">
                          <a:solidFill>
                            <a:schemeClr val="tx1"/>
                          </a:solidFill>
                          <a:latin typeface="맑은 고딕"/>
                          <a:ea typeface="맑은 고딕"/>
                        </a:defRPr>
                      </a:lvl4pPr>
                      <a:lvl5pPr marL="1828800" algn="l" defTabSz="914400" rtl="0" eaLnBrk="1" latinLnBrk="1" hangingPunct="1">
                        <a:defRPr sz="1800" kern="1200">
                          <a:solidFill>
                            <a:schemeClr val="tx1"/>
                          </a:solidFill>
                          <a:latin typeface="맑은 고딕"/>
                          <a:ea typeface="맑은 고딕"/>
                        </a:defRPr>
                      </a:lvl5pPr>
                      <a:lvl6pPr marL="2286000" algn="l" defTabSz="914400" rtl="0" eaLnBrk="1" latinLnBrk="1" hangingPunct="1">
                        <a:defRPr sz="1800" kern="1200">
                          <a:solidFill>
                            <a:schemeClr val="tx1"/>
                          </a:solidFill>
                          <a:latin typeface="맑은 고딕"/>
                          <a:ea typeface="맑은 고딕"/>
                        </a:defRPr>
                      </a:lvl6pPr>
                      <a:lvl7pPr marL="2743200" algn="l" defTabSz="914400" rtl="0" eaLnBrk="1" latinLnBrk="1" hangingPunct="1">
                        <a:defRPr sz="1800" kern="1200">
                          <a:solidFill>
                            <a:schemeClr val="tx1"/>
                          </a:solidFill>
                          <a:latin typeface="맑은 고딕"/>
                          <a:ea typeface="맑은 고딕"/>
                        </a:defRPr>
                      </a:lvl7pPr>
                      <a:lvl8pPr marL="3200400" algn="l" defTabSz="914400" rtl="0" eaLnBrk="1" latinLnBrk="1" hangingPunct="1">
                        <a:defRPr sz="1800" kern="1200">
                          <a:solidFill>
                            <a:schemeClr val="tx1"/>
                          </a:solidFill>
                          <a:latin typeface="맑은 고딕"/>
                          <a:ea typeface="맑은 고딕"/>
                        </a:defRPr>
                      </a:lvl8pPr>
                      <a:lvl9pPr marL="3657600" algn="l" defTabSz="914400" rtl="0" eaLnBrk="1" latinLnBrk="1" hangingPunct="1">
                        <a:defRPr sz="1800" kern="1200">
                          <a:solidFill>
                            <a:schemeClr val="tx1"/>
                          </a:solidFill>
                          <a:latin typeface="맑은 고딕"/>
                          <a:ea typeface="맑은 고딕"/>
                        </a:defRPr>
                      </a:lvl9p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r>
                        <a:rPr kumimoji="0" lang="ko-KR" altLang="en-US" sz="1200" b="1" i="0" u="none" strike="noStrike" cap="none" normalizeH="0" baseline="0" dirty="0" smtClean="0">
                          <a:ln>
                            <a:noFill/>
                          </a:ln>
                          <a:solidFill>
                            <a:schemeClr val="bg1"/>
                          </a:solidFill>
                          <a:effectLst/>
                          <a:latin typeface="+mn-lt"/>
                          <a:ea typeface="+mn-ea"/>
                          <a:cs typeface="Arial" charset="0"/>
                        </a:rPr>
                        <a:t>버전</a:t>
                      </a:r>
                    </a:p>
                  </a:txBody>
                  <a:tcPr marL="90000" marR="90000" marT="46800" marB="46800" anchor="ctr" anchorCtr="1"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marL="0" algn="l" defTabSz="914400" rtl="0" eaLnBrk="1" latinLnBrk="1" hangingPunct="1">
                        <a:defRPr sz="1800" kern="1200">
                          <a:solidFill>
                            <a:schemeClr val="tx1"/>
                          </a:solidFill>
                          <a:latin typeface="맑은 고딕"/>
                          <a:ea typeface="맑은 고딕"/>
                        </a:defRPr>
                      </a:lvl1pPr>
                      <a:lvl2pPr marL="457200" algn="l" defTabSz="914400" rtl="0" eaLnBrk="1" latinLnBrk="1" hangingPunct="1">
                        <a:defRPr sz="1800" kern="1200">
                          <a:solidFill>
                            <a:schemeClr val="tx1"/>
                          </a:solidFill>
                          <a:latin typeface="맑은 고딕"/>
                          <a:ea typeface="맑은 고딕"/>
                        </a:defRPr>
                      </a:lvl2pPr>
                      <a:lvl3pPr marL="914400" algn="l" defTabSz="914400" rtl="0" eaLnBrk="1" latinLnBrk="1" hangingPunct="1">
                        <a:defRPr sz="1800" kern="1200">
                          <a:solidFill>
                            <a:schemeClr val="tx1"/>
                          </a:solidFill>
                          <a:latin typeface="맑은 고딕"/>
                          <a:ea typeface="맑은 고딕"/>
                        </a:defRPr>
                      </a:lvl3pPr>
                      <a:lvl4pPr marL="1371600" algn="l" defTabSz="914400" rtl="0" eaLnBrk="1" latinLnBrk="1" hangingPunct="1">
                        <a:defRPr sz="1800" kern="1200">
                          <a:solidFill>
                            <a:schemeClr val="tx1"/>
                          </a:solidFill>
                          <a:latin typeface="맑은 고딕"/>
                          <a:ea typeface="맑은 고딕"/>
                        </a:defRPr>
                      </a:lvl4pPr>
                      <a:lvl5pPr marL="1828800" algn="l" defTabSz="914400" rtl="0" eaLnBrk="1" latinLnBrk="1" hangingPunct="1">
                        <a:defRPr sz="1800" kern="1200">
                          <a:solidFill>
                            <a:schemeClr val="tx1"/>
                          </a:solidFill>
                          <a:latin typeface="맑은 고딕"/>
                          <a:ea typeface="맑은 고딕"/>
                        </a:defRPr>
                      </a:lvl5pPr>
                      <a:lvl6pPr marL="2286000" algn="l" defTabSz="914400" rtl="0" eaLnBrk="1" latinLnBrk="1" hangingPunct="1">
                        <a:defRPr sz="1800" kern="1200">
                          <a:solidFill>
                            <a:schemeClr val="tx1"/>
                          </a:solidFill>
                          <a:latin typeface="맑은 고딕"/>
                          <a:ea typeface="맑은 고딕"/>
                        </a:defRPr>
                      </a:lvl6pPr>
                      <a:lvl7pPr marL="2743200" algn="l" defTabSz="914400" rtl="0" eaLnBrk="1" latinLnBrk="1" hangingPunct="1">
                        <a:defRPr sz="1800" kern="1200">
                          <a:solidFill>
                            <a:schemeClr val="tx1"/>
                          </a:solidFill>
                          <a:latin typeface="맑은 고딕"/>
                          <a:ea typeface="맑은 고딕"/>
                        </a:defRPr>
                      </a:lvl7pPr>
                      <a:lvl8pPr marL="3200400" algn="l" defTabSz="914400" rtl="0" eaLnBrk="1" latinLnBrk="1" hangingPunct="1">
                        <a:defRPr sz="1800" kern="1200">
                          <a:solidFill>
                            <a:schemeClr val="tx1"/>
                          </a:solidFill>
                          <a:latin typeface="맑은 고딕"/>
                          <a:ea typeface="맑은 고딕"/>
                        </a:defRPr>
                      </a:lvl8pPr>
                      <a:lvl9pPr marL="3657600" algn="l" defTabSz="914400" rtl="0" eaLnBrk="1" latinLnBrk="1" hangingPunct="1">
                        <a:defRPr sz="1800" kern="1200">
                          <a:solidFill>
                            <a:schemeClr val="tx1"/>
                          </a:solidFill>
                          <a:latin typeface="맑은 고딕"/>
                          <a:ea typeface="맑은 고딕"/>
                        </a:defRPr>
                      </a:lvl9p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r>
                        <a:rPr kumimoji="0" lang="ko-KR" altLang="en-US" sz="1200" b="1" i="0" u="none" strike="noStrike" cap="none" normalizeH="0" baseline="0" dirty="0" smtClean="0">
                          <a:ln>
                            <a:noFill/>
                          </a:ln>
                          <a:solidFill>
                            <a:schemeClr val="bg1"/>
                          </a:solidFill>
                          <a:effectLst/>
                          <a:latin typeface="+mn-lt"/>
                          <a:ea typeface="+mn-ea"/>
                          <a:cs typeface="Arial" charset="0"/>
                        </a:rPr>
                        <a:t>주요 내용</a:t>
                      </a:r>
                    </a:p>
                  </a:txBody>
                  <a:tcPr marL="90000" marR="90000" marT="46800" marB="46800" anchor="ctr" anchorCtr="1"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marL="0" algn="l" defTabSz="914400" rtl="0" eaLnBrk="1" latinLnBrk="1" hangingPunct="1">
                        <a:defRPr sz="1800" kern="1200">
                          <a:solidFill>
                            <a:schemeClr val="tx1"/>
                          </a:solidFill>
                          <a:latin typeface="맑은 고딕"/>
                          <a:ea typeface="맑은 고딕"/>
                        </a:defRPr>
                      </a:lvl1pPr>
                      <a:lvl2pPr marL="457200" algn="l" defTabSz="914400" rtl="0" eaLnBrk="1" latinLnBrk="1" hangingPunct="1">
                        <a:defRPr sz="1800" kern="1200">
                          <a:solidFill>
                            <a:schemeClr val="tx1"/>
                          </a:solidFill>
                          <a:latin typeface="맑은 고딕"/>
                          <a:ea typeface="맑은 고딕"/>
                        </a:defRPr>
                      </a:lvl2pPr>
                      <a:lvl3pPr marL="914400" algn="l" defTabSz="914400" rtl="0" eaLnBrk="1" latinLnBrk="1" hangingPunct="1">
                        <a:defRPr sz="1800" kern="1200">
                          <a:solidFill>
                            <a:schemeClr val="tx1"/>
                          </a:solidFill>
                          <a:latin typeface="맑은 고딕"/>
                          <a:ea typeface="맑은 고딕"/>
                        </a:defRPr>
                      </a:lvl3pPr>
                      <a:lvl4pPr marL="1371600" algn="l" defTabSz="914400" rtl="0" eaLnBrk="1" latinLnBrk="1" hangingPunct="1">
                        <a:defRPr sz="1800" kern="1200">
                          <a:solidFill>
                            <a:schemeClr val="tx1"/>
                          </a:solidFill>
                          <a:latin typeface="맑은 고딕"/>
                          <a:ea typeface="맑은 고딕"/>
                        </a:defRPr>
                      </a:lvl4pPr>
                      <a:lvl5pPr marL="1828800" algn="l" defTabSz="914400" rtl="0" eaLnBrk="1" latinLnBrk="1" hangingPunct="1">
                        <a:defRPr sz="1800" kern="1200">
                          <a:solidFill>
                            <a:schemeClr val="tx1"/>
                          </a:solidFill>
                          <a:latin typeface="맑은 고딕"/>
                          <a:ea typeface="맑은 고딕"/>
                        </a:defRPr>
                      </a:lvl5pPr>
                      <a:lvl6pPr marL="2286000" algn="l" defTabSz="914400" rtl="0" eaLnBrk="1" latinLnBrk="1" hangingPunct="1">
                        <a:defRPr sz="1800" kern="1200">
                          <a:solidFill>
                            <a:schemeClr val="tx1"/>
                          </a:solidFill>
                          <a:latin typeface="맑은 고딕"/>
                          <a:ea typeface="맑은 고딕"/>
                        </a:defRPr>
                      </a:lvl6pPr>
                      <a:lvl7pPr marL="2743200" algn="l" defTabSz="914400" rtl="0" eaLnBrk="1" latinLnBrk="1" hangingPunct="1">
                        <a:defRPr sz="1800" kern="1200">
                          <a:solidFill>
                            <a:schemeClr val="tx1"/>
                          </a:solidFill>
                          <a:latin typeface="맑은 고딕"/>
                          <a:ea typeface="맑은 고딕"/>
                        </a:defRPr>
                      </a:lvl7pPr>
                      <a:lvl8pPr marL="3200400" algn="l" defTabSz="914400" rtl="0" eaLnBrk="1" latinLnBrk="1" hangingPunct="1">
                        <a:defRPr sz="1800" kern="1200">
                          <a:solidFill>
                            <a:schemeClr val="tx1"/>
                          </a:solidFill>
                          <a:latin typeface="맑은 고딕"/>
                          <a:ea typeface="맑은 고딕"/>
                        </a:defRPr>
                      </a:lvl8pPr>
                      <a:lvl9pPr marL="3657600" algn="l" defTabSz="914400" rtl="0" eaLnBrk="1" latinLnBrk="1" hangingPunct="1">
                        <a:defRPr sz="1800" kern="1200">
                          <a:solidFill>
                            <a:schemeClr val="tx1"/>
                          </a:solidFill>
                          <a:latin typeface="맑은 고딕"/>
                          <a:ea typeface="맑은 고딕"/>
                        </a:defRPr>
                      </a:lvl9p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r>
                        <a:rPr kumimoji="0" lang="ko-KR" altLang="en-US" sz="1200" b="1" i="0" u="none" strike="noStrike" cap="none" normalizeH="0" baseline="0" dirty="0" smtClean="0">
                          <a:ln>
                            <a:noFill/>
                          </a:ln>
                          <a:solidFill>
                            <a:schemeClr val="bg1"/>
                          </a:solidFill>
                          <a:effectLst/>
                          <a:latin typeface="+mn-lt"/>
                          <a:ea typeface="+mn-ea"/>
                          <a:cs typeface="Arial" charset="0"/>
                        </a:rPr>
                        <a:t>작성자</a:t>
                      </a:r>
                    </a:p>
                  </a:txBody>
                  <a:tcPr marL="90000" marR="90000" marT="46800" marB="46800" anchor="ctr" anchorCtr="1"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marL="0" algn="l" defTabSz="914400" rtl="0" eaLnBrk="1" latinLnBrk="1" hangingPunct="1">
                        <a:defRPr sz="1800" kern="1200">
                          <a:solidFill>
                            <a:schemeClr val="tx1"/>
                          </a:solidFill>
                          <a:latin typeface="맑은 고딕"/>
                          <a:ea typeface="맑은 고딕"/>
                        </a:defRPr>
                      </a:lvl1pPr>
                      <a:lvl2pPr marL="457200" algn="l" defTabSz="914400" rtl="0" eaLnBrk="1" latinLnBrk="1" hangingPunct="1">
                        <a:defRPr sz="1800" kern="1200">
                          <a:solidFill>
                            <a:schemeClr val="tx1"/>
                          </a:solidFill>
                          <a:latin typeface="맑은 고딕"/>
                          <a:ea typeface="맑은 고딕"/>
                        </a:defRPr>
                      </a:lvl2pPr>
                      <a:lvl3pPr marL="914400" algn="l" defTabSz="914400" rtl="0" eaLnBrk="1" latinLnBrk="1" hangingPunct="1">
                        <a:defRPr sz="1800" kern="1200">
                          <a:solidFill>
                            <a:schemeClr val="tx1"/>
                          </a:solidFill>
                          <a:latin typeface="맑은 고딕"/>
                          <a:ea typeface="맑은 고딕"/>
                        </a:defRPr>
                      </a:lvl3pPr>
                      <a:lvl4pPr marL="1371600" algn="l" defTabSz="914400" rtl="0" eaLnBrk="1" latinLnBrk="1" hangingPunct="1">
                        <a:defRPr sz="1800" kern="1200">
                          <a:solidFill>
                            <a:schemeClr val="tx1"/>
                          </a:solidFill>
                          <a:latin typeface="맑은 고딕"/>
                          <a:ea typeface="맑은 고딕"/>
                        </a:defRPr>
                      </a:lvl4pPr>
                      <a:lvl5pPr marL="1828800" algn="l" defTabSz="914400" rtl="0" eaLnBrk="1" latinLnBrk="1" hangingPunct="1">
                        <a:defRPr sz="1800" kern="1200">
                          <a:solidFill>
                            <a:schemeClr val="tx1"/>
                          </a:solidFill>
                          <a:latin typeface="맑은 고딕"/>
                          <a:ea typeface="맑은 고딕"/>
                        </a:defRPr>
                      </a:lvl5pPr>
                      <a:lvl6pPr marL="2286000" algn="l" defTabSz="914400" rtl="0" eaLnBrk="1" latinLnBrk="1" hangingPunct="1">
                        <a:defRPr sz="1800" kern="1200">
                          <a:solidFill>
                            <a:schemeClr val="tx1"/>
                          </a:solidFill>
                          <a:latin typeface="맑은 고딕"/>
                          <a:ea typeface="맑은 고딕"/>
                        </a:defRPr>
                      </a:lvl6pPr>
                      <a:lvl7pPr marL="2743200" algn="l" defTabSz="914400" rtl="0" eaLnBrk="1" latinLnBrk="1" hangingPunct="1">
                        <a:defRPr sz="1800" kern="1200">
                          <a:solidFill>
                            <a:schemeClr val="tx1"/>
                          </a:solidFill>
                          <a:latin typeface="맑은 고딕"/>
                          <a:ea typeface="맑은 고딕"/>
                        </a:defRPr>
                      </a:lvl7pPr>
                      <a:lvl8pPr marL="3200400" algn="l" defTabSz="914400" rtl="0" eaLnBrk="1" latinLnBrk="1" hangingPunct="1">
                        <a:defRPr sz="1800" kern="1200">
                          <a:solidFill>
                            <a:schemeClr val="tx1"/>
                          </a:solidFill>
                          <a:latin typeface="맑은 고딕"/>
                          <a:ea typeface="맑은 고딕"/>
                        </a:defRPr>
                      </a:lvl8pPr>
                      <a:lvl9pPr marL="3657600" algn="l" defTabSz="914400" rtl="0" eaLnBrk="1" latinLnBrk="1" hangingPunct="1">
                        <a:defRPr sz="1800" kern="1200">
                          <a:solidFill>
                            <a:schemeClr val="tx1"/>
                          </a:solidFill>
                          <a:latin typeface="맑은 고딕"/>
                          <a:ea typeface="맑은 고딕"/>
                        </a:defRPr>
                      </a:lvl9p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r>
                        <a:rPr kumimoji="0" lang="ko-KR" altLang="en-US" sz="1200" b="1" i="0" u="none" strike="noStrike" cap="none" normalizeH="0" baseline="0" dirty="0" smtClean="0">
                          <a:ln>
                            <a:noFill/>
                          </a:ln>
                          <a:solidFill>
                            <a:schemeClr val="bg1"/>
                          </a:solidFill>
                          <a:effectLst/>
                          <a:latin typeface="+mn-lt"/>
                          <a:ea typeface="+mn-ea"/>
                          <a:cs typeface="Arial" charset="0"/>
                        </a:rPr>
                        <a:t>승인자</a:t>
                      </a:r>
                    </a:p>
                  </a:txBody>
                  <a:tcPr marL="90000" marR="90000" marT="46800" marB="46800" anchor="ctr" anchorCtr="1" horzOverflow="overflow">
                    <a:lnL w="3175"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accent6"/>
                    </a:solidFill>
                  </a:tcPr>
                </a:tc>
                <a:extLst>
                  <a:ext uri="{0D108BD9-81ED-4DB2-BD59-A6C34878D82A}">
                    <a16:rowId xmlns:a16="http://schemas.microsoft.com/office/drawing/2014/main" val="10000"/>
                  </a:ext>
                </a:extLst>
              </a:tr>
              <a:tr h="276480">
                <a:tc>
                  <a:txBody>
                    <a:bodyPr/>
                    <a:lstStyle/>
                    <a:p>
                      <a:pPr algn="ctr" fontAlgn="ctr"/>
                      <a:r>
                        <a:rPr lang="en-US" altLang="ko-KR" sz="1200" b="0" i="0" u="none" strike="noStrike" smtClean="0">
                          <a:solidFill>
                            <a:srgbClr val="000000"/>
                          </a:solidFill>
                          <a:effectLst/>
                          <a:latin typeface="KB금융 본문체 Light" panose="020B0303000000000000" pitchFamily="50" charset="-127"/>
                          <a:ea typeface="KB금융 본문체 Light" panose="020B0303000000000000" pitchFamily="50" charset="-127"/>
                        </a:rPr>
                        <a:t>2019-06-20</a:t>
                      </a:r>
                      <a:endParaRPr lang="en-US" altLang="ko-KR" sz="1200" b="0" i="0" u="none" strike="noStrike" dirty="0">
                        <a:solidFill>
                          <a:srgbClr val="000000"/>
                        </a:solidFill>
                        <a:effectLst/>
                        <a:latin typeface="KB금융 본문체 Light" panose="020B0303000000000000" pitchFamily="50" charset="-127"/>
                        <a:ea typeface="KB금융 본문체 Light" panose="020B0303000000000000"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US" altLang="ko-KR" sz="1200" b="0" i="0" u="none" strike="noStrike">
                          <a:solidFill>
                            <a:srgbClr val="000000"/>
                          </a:solidFill>
                          <a:effectLst/>
                          <a:latin typeface="KB금융 본문체 Light" panose="020B0303000000000000" pitchFamily="50" charset="-127"/>
                          <a:ea typeface="KB금융 본문체 Light" panose="020B0303000000000000" pitchFamily="50" charset="-127"/>
                        </a:rPr>
                        <a:t>0.10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r>
                        <a:rPr lang="ko-KR" altLang="en-US" sz="1200" b="0" i="0" u="none" strike="noStrike">
                          <a:solidFill>
                            <a:srgbClr val="000000"/>
                          </a:solidFill>
                          <a:effectLst/>
                          <a:latin typeface="KB금융 본문체 Light" panose="020B0303000000000000" pitchFamily="50" charset="-127"/>
                          <a:ea typeface="KB금융 본문체 Light" panose="020B0303000000000000" pitchFamily="50" charset="-127"/>
                        </a:rPr>
                        <a:t>담당자 초안 작성</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ko-KR" altLang="en-US" sz="1200" b="0" i="0" u="none" strike="noStrike" dirty="0" smtClean="0">
                          <a:solidFill>
                            <a:srgbClr val="000000"/>
                          </a:solidFill>
                          <a:effectLst/>
                          <a:latin typeface="KB금융 본문체 Light" panose="020B0303000000000000" pitchFamily="50" charset="-127"/>
                          <a:ea typeface="KB금융 본문체 Light" panose="020B0303000000000000" pitchFamily="50" charset="-127"/>
                        </a:rPr>
                        <a:t>곽춘기</a:t>
                      </a:r>
                      <a:r>
                        <a:rPr lang="en-US" altLang="ko-KR" sz="1200" b="0" i="0" u="none" strike="noStrike" dirty="0" smtClean="0">
                          <a:solidFill>
                            <a:srgbClr val="000000"/>
                          </a:solidFill>
                          <a:effectLst/>
                          <a:latin typeface="KB금융 본문체 Light" panose="020B0303000000000000" pitchFamily="50" charset="-127"/>
                          <a:ea typeface="KB금융 본문체 Light" panose="020B0303000000000000" pitchFamily="50" charset="-127"/>
                        </a:rPr>
                        <a:t>, </a:t>
                      </a:r>
                      <a:r>
                        <a:rPr lang="ko-KR" altLang="en-US" sz="1200" b="0" i="0" u="none" strike="noStrike" dirty="0" smtClean="0">
                          <a:solidFill>
                            <a:srgbClr val="000000"/>
                          </a:solidFill>
                          <a:effectLst/>
                          <a:latin typeface="KB금융 본문체 Light" panose="020B0303000000000000" pitchFamily="50" charset="-127"/>
                          <a:ea typeface="KB금융 본문체 Light" panose="020B0303000000000000" pitchFamily="50" charset="-127"/>
                        </a:rPr>
                        <a:t>조한경</a:t>
                      </a:r>
                      <a:r>
                        <a:rPr lang="en-US" altLang="ko-KR" sz="1200" b="0" i="0" u="none" strike="noStrike" dirty="0" smtClean="0">
                          <a:solidFill>
                            <a:srgbClr val="000000"/>
                          </a:solidFill>
                          <a:effectLst/>
                          <a:latin typeface="KB금융 본문체 Light" panose="020B0303000000000000" pitchFamily="50" charset="-127"/>
                          <a:ea typeface="KB금융 본문체 Light" panose="020B0303000000000000" pitchFamily="50" charset="-127"/>
                        </a:rPr>
                        <a:t>, </a:t>
                      </a:r>
                      <a:r>
                        <a:rPr lang="ko-KR" altLang="en-US" sz="1200" b="0" i="0" u="none" strike="noStrike" dirty="0" smtClean="0">
                          <a:solidFill>
                            <a:srgbClr val="000000"/>
                          </a:solidFill>
                          <a:effectLst/>
                          <a:latin typeface="KB금융 본문체 Light" panose="020B0303000000000000" pitchFamily="50" charset="-127"/>
                          <a:ea typeface="KB금융 본문체 Light" panose="020B0303000000000000" pitchFamily="50" charset="-127"/>
                        </a:rPr>
                        <a:t>강승갑</a:t>
                      </a:r>
                      <a:endParaRPr lang="en-US" sz="1200" b="0" i="0" u="none" strike="noStrike" dirty="0">
                        <a:solidFill>
                          <a:srgbClr val="000000"/>
                        </a:solidFill>
                        <a:effectLst/>
                        <a:latin typeface="KB금융 본문체 Light" panose="020B0303000000000000" pitchFamily="50" charset="-127"/>
                        <a:ea typeface="KB금융 본문체 Light" panose="020B0303000000000000"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US" altLang="ko-KR" sz="1200" b="0" i="0" u="none" strike="noStrike">
                          <a:solidFill>
                            <a:srgbClr val="000000"/>
                          </a:solidFill>
                          <a:effectLst/>
                          <a:latin typeface="KB금융 본문체 Light" panose="020B0303000000000000" pitchFamily="50" charset="-127"/>
                          <a:ea typeface="KB금융 본문체 Light" panose="020B0303000000000000" pitchFamily="50" charset="-127"/>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6480">
                <a:tc>
                  <a:txBody>
                    <a:bodyPr/>
                    <a:lstStyle/>
                    <a:p>
                      <a:pPr algn="ctr" fontAlgn="ctr"/>
                      <a:r>
                        <a:rPr lang="en-US" altLang="ko-KR" sz="1200" b="0" i="0" u="none" strike="noStrike" smtClean="0">
                          <a:solidFill>
                            <a:srgbClr val="000000"/>
                          </a:solidFill>
                          <a:effectLst/>
                          <a:latin typeface="KB금융 본문체 Light" panose="020B0303000000000000" pitchFamily="50" charset="-127"/>
                          <a:ea typeface="KB금융 본문체 Light" panose="020B0303000000000000" pitchFamily="50" charset="-127"/>
                        </a:rPr>
                        <a:t>2019-06-21</a:t>
                      </a:r>
                      <a:endParaRPr lang="en-US" altLang="ko-KR" sz="1200" b="0" i="0" u="none" strike="noStrike" dirty="0">
                        <a:solidFill>
                          <a:srgbClr val="000000"/>
                        </a:solidFill>
                        <a:effectLst/>
                        <a:latin typeface="KB금융 본문체 Light" panose="020B0303000000000000" pitchFamily="50" charset="-127"/>
                        <a:ea typeface="KB금융 본문체 Light" panose="020B0303000000000000"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US" altLang="ko-KR" sz="1200" b="0" i="0" u="none" strike="noStrike" dirty="0">
                          <a:solidFill>
                            <a:srgbClr val="000000"/>
                          </a:solidFill>
                          <a:effectLst/>
                          <a:latin typeface="KB금융 본문체 Light" panose="020B0303000000000000" pitchFamily="50" charset="-127"/>
                          <a:ea typeface="KB금융 본문체 Light" panose="020B0303000000000000" pitchFamily="50" charset="-127"/>
                        </a:rPr>
                        <a:t>0.70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r>
                        <a:rPr lang="ko-KR" altLang="en-US" sz="1200" b="0" i="0" u="none" strike="noStrike" dirty="0">
                          <a:solidFill>
                            <a:srgbClr val="000000"/>
                          </a:solidFill>
                          <a:effectLst/>
                          <a:latin typeface="KB금융 본문체 Light" panose="020B0303000000000000" pitchFamily="50" charset="-127"/>
                          <a:ea typeface="KB금융 본문체 Light" panose="020B0303000000000000" pitchFamily="50" charset="-127"/>
                        </a:rPr>
                        <a:t>담당자 작업 완료</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ko-KR" altLang="en-US" sz="1200" b="0" i="0" u="none" strike="noStrike" dirty="0" smtClean="0">
                          <a:solidFill>
                            <a:srgbClr val="000000"/>
                          </a:solidFill>
                          <a:effectLst/>
                          <a:latin typeface="KB금융 본문체 Light" panose="020B0303000000000000" pitchFamily="50" charset="-127"/>
                          <a:ea typeface="KB금융 본문체 Light" panose="020B0303000000000000" pitchFamily="50" charset="-127"/>
                        </a:rPr>
                        <a:t>조한경</a:t>
                      </a:r>
                      <a:r>
                        <a:rPr lang="en-US" altLang="ko-KR" sz="1200" b="0" i="0" u="none" strike="noStrike" dirty="0" smtClean="0">
                          <a:solidFill>
                            <a:srgbClr val="000000"/>
                          </a:solidFill>
                          <a:effectLst/>
                          <a:latin typeface="KB금융 본문체 Light" panose="020B0303000000000000" pitchFamily="50" charset="-127"/>
                          <a:ea typeface="KB금융 본문체 Light" panose="020B0303000000000000" pitchFamily="50" charset="-127"/>
                        </a:rPr>
                        <a:t>, </a:t>
                      </a:r>
                      <a:r>
                        <a:rPr lang="ko-KR" altLang="en-US" sz="1200" b="0" i="0" u="none" strike="noStrike" dirty="0" smtClean="0">
                          <a:solidFill>
                            <a:srgbClr val="000000"/>
                          </a:solidFill>
                          <a:effectLst/>
                          <a:latin typeface="KB금융 본문체 Light" panose="020B0303000000000000" pitchFamily="50" charset="-127"/>
                          <a:ea typeface="KB금융 본문체 Light" panose="020B0303000000000000" pitchFamily="50" charset="-127"/>
                        </a:rPr>
                        <a:t>강승갑</a:t>
                      </a:r>
                      <a:endParaRPr lang="en-US" sz="1200" b="0" i="0" u="none" strike="noStrike" dirty="0">
                        <a:solidFill>
                          <a:srgbClr val="000000"/>
                        </a:solidFill>
                        <a:effectLst/>
                        <a:latin typeface="KB금융 본문체 Light" panose="020B0303000000000000" pitchFamily="50" charset="-127"/>
                        <a:ea typeface="KB금융 본문체 Light" panose="020B0303000000000000"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US" altLang="ko-KR" sz="1200" b="0" i="0" u="none" strike="noStrike" dirty="0">
                          <a:solidFill>
                            <a:srgbClr val="000000"/>
                          </a:solidFill>
                          <a:effectLst/>
                          <a:latin typeface="KB금융 본문체 Light" panose="020B0303000000000000" pitchFamily="50" charset="-127"/>
                          <a:ea typeface="KB금융 본문체 Light" panose="020B0303000000000000" pitchFamily="50" charset="-127"/>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6480">
                <a:tc>
                  <a:txBody>
                    <a:bodyPr/>
                    <a:lstStyle/>
                    <a:p>
                      <a:pPr algn="ctr" fontAlgn="ctr"/>
                      <a:r>
                        <a:rPr lang="en-US" altLang="ko-KR" sz="1200" b="0" i="0" u="none" strike="noStrike" smtClean="0">
                          <a:solidFill>
                            <a:srgbClr val="000000"/>
                          </a:solidFill>
                          <a:effectLst/>
                          <a:latin typeface="KB금융 본문체 Light" panose="020B0303000000000000" pitchFamily="50" charset="-127"/>
                          <a:ea typeface="KB금융 본문체 Light" panose="020B0303000000000000" pitchFamily="50" charset="-127"/>
                        </a:rPr>
                        <a:t>2019-06-24</a:t>
                      </a:r>
                      <a:endParaRPr lang="en-US" altLang="ko-KR" sz="1200" b="0" i="0" u="none" strike="noStrike" dirty="0">
                        <a:solidFill>
                          <a:srgbClr val="000000"/>
                        </a:solidFill>
                        <a:effectLst/>
                        <a:latin typeface="KB금융 본문체 Light" panose="020B0303000000000000" pitchFamily="50" charset="-127"/>
                        <a:ea typeface="KB금융 본문체 Light" panose="020B0303000000000000"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US" altLang="ko-KR" sz="1200" b="0" i="0" u="none" strike="noStrike" dirty="0" smtClean="0">
                          <a:solidFill>
                            <a:srgbClr val="000000"/>
                          </a:solidFill>
                          <a:effectLst/>
                          <a:latin typeface="KB금융 본문체 Light" panose="020B0303000000000000" pitchFamily="50" charset="-127"/>
                          <a:ea typeface="KB금융 본문체 Light" panose="020B0303000000000000" pitchFamily="50" charset="-127"/>
                        </a:rPr>
                        <a:t>0.90</a:t>
                      </a:r>
                      <a:endParaRPr lang="en-US" altLang="ko-KR" sz="1200" b="0" i="0" u="none" strike="noStrike" dirty="0">
                        <a:solidFill>
                          <a:srgbClr val="000000"/>
                        </a:solidFill>
                        <a:effectLst/>
                        <a:latin typeface="KB금융 본문체 Light" panose="020B0303000000000000" pitchFamily="50" charset="-127"/>
                        <a:ea typeface="KB금융 본문체 Light" panose="020B0303000000000000"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r>
                        <a:rPr lang="ko-KR" altLang="en-US" sz="1200" b="0" i="0" u="none" strike="noStrike" dirty="0" smtClean="0">
                          <a:solidFill>
                            <a:srgbClr val="000000"/>
                          </a:solidFill>
                          <a:effectLst/>
                          <a:latin typeface="KB금융 본문체 Light" panose="020B0303000000000000" pitchFamily="50" charset="-127"/>
                          <a:ea typeface="KB금융 본문체 Light" panose="020B0303000000000000" pitchFamily="50" charset="-127"/>
                        </a:rPr>
                        <a:t>동료검토 </a:t>
                      </a:r>
                      <a:r>
                        <a:rPr lang="ko-KR" altLang="en-US" sz="1200" b="0" i="0" u="none" strike="noStrike" dirty="0">
                          <a:solidFill>
                            <a:srgbClr val="000000"/>
                          </a:solidFill>
                          <a:effectLst/>
                          <a:latin typeface="KB금융 본문체 Light" panose="020B0303000000000000" pitchFamily="50" charset="-127"/>
                          <a:ea typeface="KB금융 본문체 Light" panose="020B0303000000000000" pitchFamily="50" charset="-127"/>
                        </a:rPr>
                        <a:t>완료</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ko-KR" altLang="en-US" sz="1200" b="0" i="0" u="none" strike="noStrike" dirty="0" smtClean="0">
                          <a:solidFill>
                            <a:srgbClr val="000000"/>
                          </a:solidFill>
                          <a:effectLst/>
                          <a:latin typeface="KB금융 본문체 Light" panose="020B0303000000000000" pitchFamily="50" charset="-127"/>
                          <a:ea typeface="KB금융 본문체 Light" panose="020B0303000000000000" pitchFamily="50" charset="-127"/>
                        </a:rPr>
                        <a:t>조한경</a:t>
                      </a:r>
                      <a:r>
                        <a:rPr lang="en-US" altLang="ko-KR" sz="1200" b="0" i="0" u="none" strike="noStrike" dirty="0" smtClean="0">
                          <a:solidFill>
                            <a:srgbClr val="000000"/>
                          </a:solidFill>
                          <a:effectLst/>
                          <a:latin typeface="KB금융 본문체 Light" panose="020B0303000000000000" pitchFamily="50" charset="-127"/>
                          <a:ea typeface="KB금융 본문체 Light" panose="020B0303000000000000" pitchFamily="50" charset="-127"/>
                        </a:rPr>
                        <a:t>, </a:t>
                      </a:r>
                      <a:r>
                        <a:rPr lang="ko-KR" altLang="en-US" sz="1200" b="0" i="0" u="none" strike="noStrike" dirty="0" smtClean="0">
                          <a:solidFill>
                            <a:srgbClr val="000000"/>
                          </a:solidFill>
                          <a:effectLst/>
                          <a:latin typeface="KB금융 본문체 Light" panose="020B0303000000000000" pitchFamily="50" charset="-127"/>
                          <a:ea typeface="KB금융 본문체 Light" panose="020B0303000000000000" pitchFamily="50" charset="-127"/>
                        </a:rPr>
                        <a:t>강승갑</a:t>
                      </a:r>
                      <a:endParaRPr lang="en-US" sz="1200" b="0" i="0" u="none" strike="noStrike" dirty="0">
                        <a:solidFill>
                          <a:srgbClr val="000000"/>
                        </a:solidFill>
                        <a:effectLst/>
                        <a:latin typeface="KB금융 본문체 Light" panose="020B0303000000000000" pitchFamily="50" charset="-127"/>
                        <a:ea typeface="KB금융 본문체 Light" panose="020B0303000000000000"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US" altLang="ko-KR" sz="1200" b="0" i="0" u="none" strike="noStrike" dirty="0">
                          <a:solidFill>
                            <a:srgbClr val="000000"/>
                          </a:solidFill>
                          <a:effectLst/>
                          <a:latin typeface="KB금융 본문체 Light" panose="020B0303000000000000" pitchFamily="50" charset="-127"/>
                          <a:ea typeface="KB금융 본문체 Light" panose="020B0303000000000000" pitchFamily="50" charset="-127"/>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6480">
                <a:tc>
                  <a:txBody>
                    <a:bodyPr/>
                    <a:lstStyle/>
                    <a:p>
                      <a:pPr algn="ctr" fontAlgn="ctr"/>
                      <a:r>
                        <a:rPr lang="en-US" altLang="ko-KR" sz="1200" b="0" i="0" u="none" strike="noStrike" smtClean="0">
                          <a:solidFill>
                            <a:srgbClr val="000000"/>
                          </a:solidFill>
                          <a:effectLst/>
                          <a:latin typeface="KB금융 본문체 Light" panose="020B0303000000000000" pitchFamily="50" charset="-127"/>
                          <a:ea typeface="KB금융 본문체 Light" panose="020B0303000000000000" pitchFamily="50" charset="-127"/>
                        </a:rPr>
                        <a:t>2019-06-24</a:t>
                      </a:r>
                      <a:endParaRPr lang="en-US" altLang="ko-KR" sz="1200" b="0" i="0" u="none" strike="noStrike" dirty="0">
                        <a:solidFill>
                          <a:srgbClr val="000000"/>
                        </a:solidFill>
                        <a:effectLst/>
                        <a:latin typeface="KB금융 본문체 Light" panose="020B0303000000000000" pitchFamily="50" charset="-127"/>
                        <a:ea typeface="KB금융 본문체 Light" panose="020B0303000000000000"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US" altLang="ko-KR" sz="1200" b="0" i="0" u="none" strike="noStrike" dirty="0" smtClean="0">
                          <a:solidFill>
                            <a:srgbClr val="000000"/>
                          </a:solidFill>
                          <a:effectLst/>
                          <a:latin typeface="KB금융 본문체 Light" panose="020B0303000000000000" pitchFamily="50" charset="-127"/>
                          <a:ea typeface="KB금융 본문체 Light" panose="020B0303000000000000" pitchFamily="50" charset="-127"/>
                        </a:rPr>
                        <a:t>1.00</a:t>
                      </a:r>
                      <a:endParaRPr lang="en-US" altLang="ko-KR" sz="1200" b="0" i="0" u="none" strike="noStrike" dirty="0">
                        <a:solidFill>
                          <a:srgbClr val="000000"/>
                        </a:solidFill>
                        <a:effectLst/>
                        <a:latin typeface="KB금융 본문체 Light" panose="020B0303000000000000" pitchFamily="50" charset="-127"/>
                        <a:ea typeface="KB금융 본문체 Light" panose="020B0303000000000000"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r>
                        <a:rPr lang="en-US" altLang="ko-KR" sz="1200" b="0" i="0" u="none" strike="noStrike" dirty="0" smtClean="0">
                          <a:solidFill>
                            <a:srgbClr val="000000"/>
                          </a:solidFill>
                          <a:effectLst/>
                          <a:latin typeface="KB금융 본문체 Light" panose="020B0303000000000000" pitchFamily="50" charset="-127"/>
                          <a:ea typeface="KB금융 본문체 Light" panose="020B0303000000000000" pitchFamily="50" charset="-127"/>
                        </a:rPr>
                        <a:t>KB </a:t>
                      </a:r>
                      <a:r>
                        <a:rPr lang="ko-KR" altLang="en-US" sz="1200" b="0" i="0" u="none" strike="noStrike" dirty="0" smtClean="0">
                          <a:solidFill>
                            <a:srgbClr val="000000"/>
                          </a:solidFill>
                          <a:effectLst/>
                          <a:latin typeface="KB금융 본문체 Light" panose="020B0303000000000000" pitchFamily="50" charset="-127"/>
                          <a:ea typeface="KB금융 본문체 Light" panose="020B0303000000000000" pitchFamily="50" charset="-127"/>
                        </a:rPr>
                        <a:t>담당자 승인 완료</a:t>
                      </a:r>
                      <a:endParaRPr lang="ko-KR" altLang="en-US" sz="1200" b="0" i="0" u="none" strike="noStrike" dirty="0">
                        <a:solidFill>
                          <a:srgbClr val="000000"/>
                        </a:solidFill>
                        <a:effectLst/>
                        <a:latin typeface="KB금융 본문체 Light" panose="020B0303000000000000" pitchFamily="50" charset="-127"/>
                        <a:ea typeface="KB금융 본문체 Light" panose="020B0303000000000000"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ko-KR" altLang="en-US" sz="1200" b="0" i="0" u="none" strike="noStrike" smtClean="0">
                          <a:solidFill>
                            <a:srgbClr val="000000"/>
                          </a:solidFill>
                          <a:effectLst/>
                          <a:latin typeface="KB금융 본문체 Light" panose="020B0303000000000000" pitchFamily="50" charset="-127"/>
                          <a:ea typeface="KB금융 본문체 Light" panose="020B0303000000000000" pitchFamily="50" charset="-127"/>
                        </a:rPr>
                        <a:t>조한경</a:t>
                      </a:r>
                      <a:r>
                        <a:rPr lang="en-US" altLang="ko-KR" sz="1200" b="0" i="0" u="none" strike="noStrike" smtClean="0">
                          <a:solidFill>
                            <a:srgbClr val="000000"/>
                          </a:solidFill>
                          <a:effectLst/>
                          <a:latin typeface="KB금융 본문체 Light" panose="020B0303000000000000" pitchFamily="50" charset="-127"/>
                          <a:ea typeface="KB금융 본문체 Light" panose="020B0303000000000000" pitchFamily="50" charset="-127"/>
                        </a:rPr>
                        <a:t>, </a:t>
                      </a:r>
                      <a:r>
                        <a:rPr lang="ko-KR" altLang="en-US" sz="1200" b="0" i="0" u="none" strike="noStrike" smtClean="0">
                          <a:solidFill>
                            <a:srgbClr val="000000"/>
                          </a:solidFill>
                          <a:effectLst/>
                          <a:latin typeface="KB금융 본문체 Light" panose="020B0303000000000000" pitchFamily="50" charset="-127"/>
                          <a:ea typeface="KB금융 본문체 Light" panose="020B0303000000000000" pitchFamily="50" charset="-127"/>
                        </a:rPr>
                        <a:t>강승갑</a:t>
                      </a:r>
                      <a:endParaRPr lang="en-US" altLang="ko-KR" sz="1200" b="0" i="0" u="none" strike="noStrike" dirty="0">
                        <a:solidFill>
                          <a:srgbClr val="000000"/>
                        </a:solidFill>
                        <a:effectLst/>
                        <a:latin typeface="KB금융 본문체 Light" panose="020B0303000000000000" pitchFamily="50" charset="-127"/>
                        <a:ea typeface="KB금융 본문체 Light" panose="020B0303000000000000"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ko-KR" altLang="en-US" sz="1200" b="0" i="0" u="none" strike="noStrike" smtClean="0">
                          <a:solidFill>
                            <a:srgbClr val="000000"/>
                          </a:solidFill>
                          <a:effectLst/>
                          <a:latin typeface="KB금융 본문체 Light" panose="020B0303000000000000" pitchFamily="50" charset="-127"/>
                          <a:ea typeface="KB금융 본문체 Light" panose="020B0303000000000000" pitchFamily="50" charset="-127"/>
                        </a:rPr>
                        <a:t>고영주</a:t>
                      </a:r>
                      <a:endParaRPr lang="en-US" altLang="ko-KR" sz="1200" b="0" i="0" u="none" strike="noStrike" dirty="0">
                        <a:solidFill>
                          <a:srgbClr val="000000"/>
                        </a:solidFill>
                        <a:effectLst/>
                        <a:latin typeface="KB금융 본문체 Light" panose="020B0303000000000000" pitchFamily="50" charset="-127"/>
                        <a:ea typeface="KB금융 본문체 Light" panose="020B0303000000000000"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6480">
                <a:tc>
                  <a:txBody>
                    <a:bodyPr/>
                    <a:lstStyle/>
                    <a:p>
                      <a:pPr algn="ctr" fontAlgn="ctr"/>
                      <a:r>
                        <a:rPr lang="en-US" altLang="ko-KR" sz="1200" b="0" i="0" u="none" strike="noStrike" smtClean="0">
                          <a:solidFill>
                            <a:srgbClr val="000000"/>
                          </a:solidFill>
                          <a:effectLst/>
                          <a:latin typeface="KB금융 본문체 Light" panose="020B0303000000000000" pitchFamily="50" charset="-127"/>
                          <a:ea typeface="KB금융 본문체 Light" panose="020B0303000000000000" pitchFamily="50" charset="-127"/>
                        </a:rPr>
                        <a:t>2023-06-28</a:t>
                      </a:r>
                      <a:endParaRPr lang="en-US" altLang="ko-KR" sz="1200" b="0" i="0" u="none" strike="noStrike" dirty="0">
                        <a:solidFill>
                          <a:srgbClr val="000000"/>
                        </a:solidFill>
                        <a:effectLst/>
                        <a:latin typeface="KB금융 본문체 Light" panose="020B0303000000000000" pitchFamily="50" charset="-127"/>
                        <a:ea typeface="KB금융 본문체 Light" panose="020B0303000000000000"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US" altLang="ko-KR" sz="1200" b="0" i="0" u="none" strike="noStrike" smtClean="0">
                          <a:solidFill>
                            <a:srgbClr val="000000"/>
                          </a:solidFill>
                          <a:effectLst/>
                          <a:latin typeface="KB금융 본문체 Light" panose="020B0303000000000000" pitchFamily="50" charset="-127"/>
                          <a:ea typeface="KB금융 본문체 Light" panose="020B0303000000000000" pitchFamily="50" charset="-127"/>
                        </a:rPr>
                        <a:t>1.30</a:t>
                      </a:r>
                      <a:endParaRPr lang="en-US" altLang="ko-KR" sz="1200" b="0" i="0" u="none" strike="noStrike" dirty="0">
                        <a:solidFill>
                          <a:srgbClr val="000000"/>
                        </a:solidFill>
                        <a:effectLst/>
                        <a:latin typeface="KB금융 본문체 Light" panose="020B0303000000000000" pitchFamily="50" charset="-127"/>
                        <a:ea typeface="KB금융 본문체 Light" panose="020B0303000000000000"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r>
                        <a:rPr lang="ko-KR" altLang="en-US" sz="1200" b="0" i="0" u="none" strike="noStrike" smtClean="0">
                          <a:solidFill>
                            <a:srgbClr val="000000"/>
                          </a:solidFill>
                          <a:effectLst/>
                          <a:latin typeface="KB금융 본문체 Light" panose="020B0303000000000000" pitchFamily="50" charset="-127"/>
                          <a:ea typeface="KB금융 본문체 Light" panose="020B0303000000000000" pitchFamily="50" charset="-127"/>
                        </a:rPr>
                        <a:t>암호키 신청방법 내용 추가</a:t>
                      </a:r>
                      <a:endParaRPr lang="ko-KR" altLang="en-US" sz="1200" b="0" i="0" u="none" strike="noStrike" dirty="0">
                        <a:solidFill>
                          <a:srgbClr val="000000"/>
                        </a:solidFill>
                        <a:effectLst/>
                        <a:latin typeface="KB금융 본문체 Light" panose="020B0303000000000000" pitchFamily="50" charset="-127"/>
                        <a:ea typeface="KB금융 본문체 Light" panose="020B0303000000000000"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ko-KR" altLang="en-US" sz="1200" b="0" i="0" u="none" strike="noStrike" smtClean="0">
                          <a:solidFill>
                            <a:srgbClr val="000000"/>
                          </a:solidFill>
                          <a:effectLst/>
                          <a:latin typeface="KB금융 본문체 Light" panose="020B0303000000000000" pitchFamily="50" charset="-127"/>
                          <a:ea typeface="KB금융 본문체 Light" panose="020B0303000000000000" pitchFamily="50" charset="-127"/>
                        </a:rPr>
                        <a:t>오현석</a:t>
                      </a:r>
                      <a:endParaRPr lang="en-US" sz="1200" b="0" i="0" u="none" strike="noStrike" dirty="0">
                        <a:solidFill>
                          <a:srgbClr val="000000"/>
                        </a:solidFill>
                        <a:effectLst/>
                        <a:latin typeface="KB금융 본문체 Light" panose="020B0303000000000000" pitchFamily="50" charset="-127"/>
                        <a:ea typeface="KB금융 본문체 Light" panose="020B0303000000000000"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ko-KR" altLang="en-US" sz="1200" b="0" i="0" u="none" strike="noStrike" smtClean="0">
                          <a:solidFill>
                            <a:srgbClr val="000000"/>
                          </a:solidFill>
                          <a:effectLst/>
                          <a:latin typeface="KB금융 본문체 Light" panose="020B0303000000000000" pitchFamily="50" charset="-127"/>
                          <a:ea typeface="KB금융 본문체 Light" panose="020B0303000000000000" pitchFamily="50" charset="-127"/>
                        </a:rPr>
                        <a:t>이상우</a:t>
                      </a:r>
                      <a:endParaRPr lang="en-US" altLang="ko-KR" sz="1200" b="0" i="0" u="none" strike="noStrike" dirty="0">
                        <a:solidFill>
                          <a:srgbClr val="000000"/>
                        </a:solidFill>
                        <a:effectLst/>
                        <a:latin typeface="KB금융 본문체 Light" panose="020B0303000000000000" pitchFamily="50" charset="-127"/>
                        <a:ea typeface="KB금융 본문체 Light" panose="020B0303000000000000"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6480">
                <a:tc>
                  <a:txBody>
                    <a:bodyPr/>
                    <a:lstStyle>
                      <a:lvl1pPr marL="0" algn="l" defTabSz="914400" rtl="0" eaLnBrk="1" latinLnBrk="1" hangingPunct="1">
                        <a:defRPr sz="1800" kern="1200">
                          <a:solidFill>
                            <a:schemeClr val="tx1"/>
                          </a:solidFill>
                          <a:latin typeface="맑은 고딕"/>
                          <a:ea typeface="맑은 고딕"/>
                        </a:defRPr>
                      </a:lvl1pPr>
                      <a:lvl2pPr marL="457200" algn="l" defTabSz="914400" rtl="0" eaLnBrk="1" latinLnBrk="1" hangingPunct="1">
                        <a:defRPr sz="1800" kern="1200">
                          <a:solidFill>
                            <a:schemeClr val="tx1"/>
                          </a:solidFill>
                          <a:latin typeface="맑은 고딕"/>
                          <a:ea typeface="맑은 고딕"/>
                        </a:defRPr>
                      </a:lvl2pPr>
                      <a:lvl3pPr marL="914400" algn="l" defTabSz="914400" rtl="0" eaLnBrk="1" latinLnBrk="1" hangingPunct="1">
                        <a:defRPr sz="1800" kern="1200">
                          <a:solidFill>
                            <a:schemeClr val="tx1"/>
                          </a:solidFill>
                          <a:latin typeface="맑은 고딕"/>
                          <a:ea typeface="맑은 고딕"/>
                        </a:defRPr>
                      </a:lvl3pPr>
                      <a:lvl4pPr marL="1371600" algn="l" defTabSz="914400" rtl="0" eaLnBrk="1" latinLnBrk="1" hangingPunct="1">
                        <a:defRPr sz="1800" kern="1200">
                          <a:solidFill>
                            <a:schemeClr val="tx1"/>
                          </a:solidFill>
                          <a:latin typeface="맑은 고딕"/>
                          <a:ea typeface="맑은 고딕"/>
                        </a:defRPr>
                      </a:lvl4pPr>
                      <a:lvl5pPr marL="1828800" algn="l" defTabSz="914400" rtl="0" eaLnBrk="1" latinLnBrk="1" hangingPunct="1">
                        <a:defRPr sz="1800" kern="1200">
                          <a:solidFill>
                            <a:schemeClr val="tx1"/>
                          </a:solidFill>
                          <a:latin typeface="맑은 고딕"/>
                          <a:ea typeface="맑은 고딕"/>
                        </a:defRPr>
                      </a:lvl5pPr>
                      <a:lvl6pPr marL="2286000" algn="l" defTabSz="914400" rtl="0" eaLnBrk="1" latinLnBrk="1" hangingPunct="1">
                        <a:defRPr sz="1800" kern="1200">
                          <a:solidFill>
                            <a:schemeClr val="tx1"/>
                          </a:solidFill>
                          <a:latin typeface="맑은 고딕"/>
                          <a:ea typeface="맑은 고딕"/>
                        </a:defRPr>
                      </a:lvl6pPr>
                      <a:lvl7pPr marL="2743200" algn="l" defTabSz="914400" rtl="0" eaLnBrk="1" latinLnBrk="1" hangingPunct="1">
                        <a:defRPr sz="1800" kern="1200">
                          <a:solidFill>
                            <a:schemeClr val="tx1"/>
                          </a:solidFill>
                          <a:latin typeface="맑은 고딕"/>
                          <a:ea typeface="맑은 고딕"/>
                        </a:defRPr>
                      </a:lvl7pPr>
                      <a:lvl8pPr marL="3200400" algn="l" defTabSz="914400" rtl="0" eaLnBrk="1" latinLnBrk="1" hangingPunct="1">
                        <a:defRPr sz="1800" kern="1200">
                          <a:solidFill>
                            <a:schemeClr val="tx1"/>
                          </a:solidFill>
                          <a:latin typeface="맑은 고딕"/>
                          <a:ea typeface="맑은 고딕"/>
                        </a:defRPr>
                      </a:lvl8pPr>
                      <a:lvl9pPr marL="3657600" algn="l" defTabSz="914400" rtl="0" eaLnBrk="1" latinLnBrk="1" hangingPunct="1">
                        <a:defRPr sz="1800" kern="1200">
                          <a:solidFill>
                            <a:schemeClr val="tx1"/>
                          </a:solidFill>
                          <a:latin typeface="맑은 고딕"/>
                          <a:ea typeface="맑은 고딕"/>
                        </a:defRPr>
                      </a:lvl9p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1" hangingPunct="1">
                        <a:defRPr sz="1800" kern="1200">
                          <a:solidFill>
                            <a:schemeClr val="tx1"/>
                          </a:solidFill>
                          <a:latin typeface="맑은 고딕"/>
                          <a:ea typeface="맑은 고딕"/>
                        </a:defRPr>
                      </a:lvl1pPr>
                      <a:lvl2pPr marL="457200" algn="l" defTabSz="914400" rtl="0" eaLnBrk="1" latinLnBrk="1" hangingPunct="1">
                        <a:defRPr sz="1800" kern="1200">
                          <a:solidFill>
                            <a:schemeClr val="tx1"/>
                          </a:solidFill>
                          <a:latin typeface="맑은 고딕"/>
                          <a:ea typeface="맑은 고딕"/>
                        </a:defRPr>
                      </a:lvl2pPr>
                      <a:lvl3pPr marL="914400" algn="l" defTabSz="914400" rtl="0" eaLnBrk="1" latinLnBrk="1" hangingPunct="1">
                        <a:defRPr sz="1800" kern="1200">
                          <a:solidFill>
                            <a:schemeClr val="tx1"/>
                          </a:solidFill>
                          <a:latin typeface="맑은 고딕"/>
                          <a:ea typeface="맑은 고딕"/>
                        </a:defRPr>
                      </a:lvl3pPr>
                      <a:lvl4pPr marL="1371600" algn="l" defTabSz="914400" rtl="0" eaLnBrk="1" latinLnBrk="1" hangingPunct="1">
                        <a:defRPr sz="1800" kern="1200">
                          <a:solidFill>
                            <a:schemeClr val="tx1"/>
                          </a:solidFill>
                          <a:latin typeface="맑은 고딕"/>
                          <a:ea typeface="맑은 고딕"/>
                        </a:defRPr>
                      </a:lvl4pPr>
                      <a:lvl5pPr marL="1828800" algn="l" defTabSz="914400" rtl="0" eaLnBrk="1" latinLnBrk="1" hangingPunct="1">
                        <a:defRPr sz="1800" kern="1200">
                          <a:solidFill>
                            <a:schemeClr val="tx1"/>
                          </a:solidFill>
                          <a:latin typeface="맑은 고딕"/>
                          <a:ea typeface="맑은 고딕"/>
                        </a:defRPr>
                      </a:lvl5pPr>
                      <a:lvl6pPr marL="2286000" algn="l" defTabSz="914400" rtl="0" eaLnBrk="1" latinLnBrk="1" hangingPunct="1">
                        <a:defRPr sz="1800" kern="1200">
                          <a:solidFill>
                            <a:schemeClr val="tx1"/>
                          </a:solidFill>
                          <a:latin typeface="맑은 고딕"/>
                          <a:ea typeface="맑은 고딕"/>
                        </a:defRPr>
                      </a:lvl6pPr>
                      <a:lvl7pPr marL="2743200" algn="l" defTabSz="914400" rtl="0" eaLnBrk="1" latinLnBrk="1" hangingPunct="1">
                        <a:defRPr sz="1800" kern="1200">
                          <a:solidFill>
                            <a:schemeClr val="tx1"/>
                          </a:solidFill>
                          <a:latin typeface="맑은 고딕"/>
                          <a:ea typeface="맑은 고딕"/>
                        </a:defRPr>
                      </a:lvl7pPr>
                      <a:lvl8pPr marL="3200400" algn="l" defTabSz="914400" rtl="0" eaLnBrk="1" latinLnBrk="1" hangingPunct="1">
                        <a:defRPr sz="1800" kern="1200">
                          <a:solidFill>
                            <a:schemeClr val="tx1"/>
                          </a:solidFill>
                          <a:latin typeface="맑은 고딕"/>
                          <a:ea typeface="맑은 고딕"/>
                        </a:defRPr>
                      </a:lvl8pPr>
                      <a:lvl9pPr marL="3657600" algn="l" defTabSz="914400" rtl="0" eaLnBrk="1" latinLnBrk="1" hangingPunct="1">
                        <a:defRPr sz="1800" kern="1200">
                          <a:solidFill>
                            <a:schemeClr val="tx1"/>
                          </a:solidFill>
                          <a:latin typeface="맑은 고딕"/>
                          <a:ea typeface="맑은 고딕"/>
                        </a:defRPr>
                      </a:lvl9pPr>
                    </a:lstStyle>
                    <a:p>
                      <a:pPr marL="0" marR="0" lvl="0" indent="0" algn="l"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1" hangingPunct="1">
                        <a:defRPr sz="1800" kern="1200">
                          <a:solidFill>
                            <a:schemeClr val="tx1"/>
                          </a:solidFill>
                          <a:latin typeface="맑은 고딕"/>
                          <a:ea typeface="맑은 고딕"/>
                        </a:defRPr>
                      </a:lvl1pPr>
                      <a:lvl2pPr marL="457200" algn="l" defTabSz="914400" rtl="0" eaLnBrk="1" latinLnBrk="1" hangingPunct="1">
                        <a:defRPr sz="1800" kern="1200">
                          <a:solidFill>
                            <a:schemeClr val="tx1"/>
                          </a:solidFill>
                          <a:latin typeface="맑은 고딕"/>
                          <a:ea typeface="맑은 고딕"/>
                        </a:defRPr>
                      </a:lvl2pPr>
                      <a:lvl3pPr marL="914400" algn="l" defTabSz="914400" rtl="0" eaLnBrk="1" latinLnBrk="1" hangingPunct="1">
                        <a:defRPr sz="1800" kern="1200">
                          <a:solidFill>
                            <a:schemeClr val="tx1"/>
                          </a:solidFill>
                          <a:latin typeface="맑은 고딕"/>
                          <a:ea typeface="맑은 고딕"/>
                        </a:defRPr>
                      </a:lvl3pPr>
                      <a:lvl4pPr marL="1371600" algn="l" defTabSz="914400" rtl="0" eaLnBrk="1" latinLnBrk="1" hangingPunct="1">
                        <a:defRPr sz="1800" kern="1200">
                          <a:solidFill>
                            <a:schemeClr val="tx1"/>
                          </a:solidFill>
                          <a:latin typeface="맑은 고딕"/>
                          <a:ea typeface="맑은 고딕"/>
                        </a:defRPr>
                      </a:lvl4pPr>
                      <a:lvl5pPr marL="1828800" algn="l" defTabSz="914400" rtl="0" eaLnBrk="1" latinLnBrk="1" hangingPunct="1">
                        <a:defRPr sz="1800" kern="1200">
                          <a:solidFill>
                            <a:schemeClr val="tx1"/>
                          </a:solidFill>
                          <a:latin typeface="맑은 고딕"/>
                          <a:ea typeface="맑은 고딕"/>
                        </a:defRPr>
                      </a:lvl5pPr>
                      <a:lvl6pPr marL="2286000" algn="l" defTabSz="914400" rtl="0" eaLnBrk="1" latinLnBrk="1" hangingPunct="1">
                        <a:defRPr sz="1800" kern="1200">
                          <a:solidFill>
                            <a:schemeClr val="tx1"/>
                          </a:solidFill>
                          <a:latin typeface="맑은 고딕"/>
                          <a:ea typeface="맑은 고딕"/>
                        </a:defRPr>
                      </a:lvl6pPr>
                      <a:lvl7pPr marL="2743200" algn="l" defTabSz="914400" rtl="0" eaLnBrk="1" latinLnBrk="1" hangingPunct="1">
                        <a:defRPr sz="1800" kern="1200">
                          <a:solidFill>
                            <a:schemeClr val="tx1"/>
                          </a:solidFill>
                          <a:latin typeface="맑은 고딕"/>
                          <a:ea typeface="맑은 고딕"/>
                        </a:defRPr>
                      </a:lvl7pPr>
                      <a:lvl8pPr marL="3200400" algn="l" defTabSz="914400" rtl="0" eaLnBrk="1" latinLnBrk="1" hangingPunct="1">
                        <a:defRPr sz="1800" kern="1200">
                          <a:solidFill>
                            <a:schemeClr val="tx1"/>
                          </a:solidFill>
                          <a:latin typeface="맑은 고딕"/>
                          <a:ea typeface="맑은 고딕"/>
                        </a:defRPr>
                      </a:lvl8pPr>
                      <a:lvl9pPr marL="3657600" algn="l" defTabSz="914400" rtl="0" eaLnBrk="1" latinLnBrk="1" hangingPunct="1">
                        <a:defRPr sz="1800" kern="1200">
                          <a:solidFill>
                            <a:schemeClr val="tx1"/>
                          </a:solidFill>
                          <a:latin typeface="맑은 고딕"/>
                          <a:ea typeface="맑은 고딕"/>
                        </a:defRPr>
                      </a:lvl9p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1" hangingPunct="1">
                        <a:defRPr sz="1800" kern="1200">
                          <a:solidFill>
                            <a:schemeClr val="tx1"/>
                          </a:solidFill>
                          <a:latin typeface="맑은 고딕"/>
                          <a:ea typeface="맑은 고딕"/>
                        </a:defRPr>
                      </a:lvl1pPr>
                      <a:lvl2pPr marL="457200" algn="l" defTabSz="914400" rtl="0" eaLnBrk="1" latinLnBrk="1" hangingPunct="1">
                        <a:defRPr sz="1800" kern="1200">
                          <a:solidFill>
                            <a:schemeClr val="tx1"/>
                          </a:solidFill>
                          <a:latin typeface="맑은 고딕"/>
                          <a:ea typeface="맑은 고딕"/>
                        </a:defRPr>
                      </a:lvl2pPr>
                      <a:lvl3pPr marL="914400" algn="l" defTabSz="914400" rtl="0" eaLnBrk="1" latinLnBrk="1" hangingPunct="1">
                        <a:defRPr sz="1800" kern="1200">
                          <a:solidFill>
                            <a:schemeClr val="tx1"/>
                          </a:solidFill>
                          <a:latin typeface="맑은 고딕"/>
                          <a:ea typeface="맑은 고딕"/>
                        </a:defRPr>
                      </a:lvl3pPr>
                      <a:lvl4pPr marL="1371600" algn="l" defTabSz="914400" rtl="0" eaLnBrk="1" latinLnBrk="1" hangingPunct="1">
                        <a:defRPr sz="1800" kern="1200">
                          <a:solidFill>
                            <a:schemeClr val="tx1"/>
                          </a:solidFill>
                          <a:latin typeface="맑은 고딕"/>
                          <a:ea typeface="맑은 고딕"/>
                        </a:defRPr>
                      </a:lvl4pPr>
                      <a:lvl5pPr marL="1828800" algn="l" defTabSz="914400" rtl="0" eaLnBrk="1" latinLnBrk="1" hangingPunct="1">
                        <a:defRPr sz="1800" kern="1200">
                          <a:solidFill>
                            <a:schemeClr val="tx1"/>
                          </a:solidFill>
                          <a:latin typeface="맑은 고딕"/>
                          <a:ea typeface="맑은 고딕"/>
                        </a:defRPr>
                      </a:lvl5pPr>
                      <a:lvl6pPr marL="2286000" algn="l" defTabSz="914400" rtl="0" eaLnBrk="1" latinLnBrk="1" hangingPunct="1">
                        <a:defRPr sz="1800" kern="1200">
                          <a:solidFill>
                            <a:schemeClr val="tx1"/>
                          </a:solidFill>
                          <a:latin typeface="맑은 고딕"/>
                          <a:ea typeface="맑은 고딕"/>
                        </a:defRPr>
                      </a:lvl6pPr>
                      <a:lvl7pPr marL="2743200" algn="l" defTabSz="914400" rtl="0" eaLnBrk="1" latinLnBrk="1" hangingPunct="1">
                        <a:defRPr sz="1800" kern="1200">
                          <a:solidFill>
                            <a:schemeClr val="tx1"/>
                          </a:solidFill>
                          <a:latin typeface="맑은 고딕"/>
                          <a:ea typeface="맑은 고딕"/>
                        </a:defRPr>
                      </a:lvl7pPr>
                      <a:lvl8pPr marL="3200400" algn="l" defTabSz="914400" rtl="0" eaLnBrk="1" latinLnBrk="1" hangingPunct="1">
                        <a:defRPr sz="1800" kern="1200">
                          <a:solidFill>
                            <a:schemeClr val="tx1"/>
                          </a:solidFill>
                          <a:latin typeface="맑은 고딕"/>
                          <a:ea typeface="맑은 고딕"/>
                        </a:defRPr>
                      </a:lvl8pPr>
                      <a:lvl9pPr marL="3657600" algn="l" defTabSz="914400" rtl="0" eaLnBrk="1" latinLnBrk="1" hangingPunct="1">
                        <a:defRPr sz="1800" kern="1200">
                          <a:solidFill>
                            <a:schemeClr val="tx1"/>
                          </a:solidFill>
                          <a:latin typeface="맑은 고딕"/>
                          <a:ea typeface="맑은 고딕"/>
                        </a:defRPr>
                      </a:lvl9p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6480">
                <a:tc>
                  <a:txBody>
                    <a:bodyPr/>
                    <a:lstStyle>
                      <a:lvl1pPr marL="0" algn="l" defTabSz="914400" rtl="0" eaLnBrk="1" latinLnBrk="1" hangingPunct="1">
                        <a:defRPr sz="1800" kern="1200">
                          <a:solidFill>
                            <a:schemeClr val="tx1"/>
                          </a:solidFill>
                          <a:latin typeface="맑은 고딕"/>
                          <a:ea typeface="맑은 고딕"/>
                        </a:defRPr>
                      </a:lvl1pPr>
                      <a:lvl2pPr marL="457200" algn="l" defTabSz="914400" rtl="0" eaLnBrk="1" latinLnBrk="1" hangingPunct="1">
                        <a:defRPr sz="1800" kern="1200">
                          <a:solidFill>
                            <a:schemeClr val="tx1"/>
                          </a:solidFill>
                          <a:latin typeface="맑은 고딕"/>
                          <a:ea typeface="맑은 고딕"/>
                        </a:defRPr>
                      </a:lvl2pPr>
                      <a:lvl3pPr marL="914400" algn="l" defTabSz="914400" rtl="0" eaLnBrk="1" latinLnBrk="1" hangingPunct="1">
                        <a:defRPr sz="1800" kern="1200">
                          <a:solidFill>
                            <a:schemeClr val="tx1"/>
                          </a:solidFill>
                          <a:latin typeface="맑은 고딕"/>
                          <a:ea typeface="맑은 고딕"/>
                        </a:defRPr>
                      </a:lvl3pPr>
                      <a:lvl4pPr marL="1371600" algn="l" defTabSz="914400" rtl="0" eaLnBrk="1" latinLnBrk="1" hangingPunct="1">
                        <a:defRPr sz="1800" kern="1200">
                          <a:solidFill>
                            <a:schemeClr val="tx1"/>
                          </a:solidFill>
                          <a:latin typeface="맑은 고딕"/>
                          <a:ea typeface="맑은 고딕"/>
                        </a:defRPr>
                      </a:lvl4pPr>
                      <a:lvl5pPr marL="1828800" algn="l" defTabSz="914400" rtl="0" eaLnBrk="1" latinLnBrk="1" hangingPunct="1">
                        <a:defRPr sz="1800" kern="1200">
                          <a:solidFill>
                            <a:schemeClr val="tx1"/>
                          </a:solidFill>
                          <a:latin typeface="맑은 고딕"/>
                          <a:ea typeface="맑은 고딕"/>
                        </a:defRPr>
                      </a:lvl5pPr>
                      <a:lvl6pPr marL="2286000" algn="l" defTabSz="914400" rtl="0" eaLnBrk="1" latinLnBrk="1" hangingPunct="1">
                        <a:defRPr sz="1800" kern="1200">
                          <a:solidFill>
                            <a:schemeClr val="tx1"/>
                          </a:solidFill>
                          <a:latin typeface="맑은 고딕"/>
                          <a:ea typeface="맑은 고딕"/>
                        </a:defRPr>
                      </a:lvl6pPr>
                      <a:lvl7pPr marL="2743200" algn="l" defTabSz="914400" rtl="0" eaLnBrk="1" latinLnBrk="1" hangingPunct="1">
                        <a:defRPr sz="1800" kern="1200">
                          <a:solidFill>
                            <a:schemeClr val="tx1"/>
                          </a:solidFill>
                          <a:latin typeface="맑은 고딕"/>
                          <a:ea typeface="맑은 고딕"/>
                        </a:defRPr>
                      </a:lvl7pPr>
                      <a:lvl8pPr marL="3200400" algn="l" defTabSz="914400" rtl="0" eaLnBrk="1" latinLnBrk="1" hangingPunct="1">
                        <a:defRPr sz="1800" kern="1200">
                          <a:solidFill>
                            <a:schemeClr val="tx1"/>
                          </a:solidFill>
                          <a:latin typeface="맑은 고딕"/>
                          <a:ea typeface="맑은 고딕"/>
                        </a:defRPr>
                      </a:lvl8pPr>
                      <a:lvl9pPr marL="3657600" algn="l" defTabSz="914400" rtl="0" eaLnBrk="1" latinLnBrk="1" hangingPunct="1">
                        <a:defRPr sz="1800" kern="1200">
                          <a:solidFill>
                            <a:schemeClr val="tx1"/>
                          </a:solidFill>
                          <a:latin typeface="맑은 고딕"/>
                          <a:ea typeface="맑은 고딕"/>
                        </a:defRPr>
                      </a:lvl9p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1" hangingPunct="1">
                        <a:defRPr sz="1800" kern="1200">
                          <a:solidFill>
                            <a:schemeClr val="tx1"/>
                          </a:solidFill>
                          <a:latin typeface="맑은 고딕"/>
                          <a:ea typeface="맑은 고딕"/>
                        </a:defRPr>
                      </a:lvl1pPr>
                      <a:lvl2pPr marL="457200" algn="l" defTabSz="914400" rtl="0" eaLnBrk="1" latinLnBrk="1" hangingPunct="1">
                        <a:defRPr sz="1800" kern="1200">
                          <a:solidFill>
                            <a:schemeClr val="tx1"/>
                          </a:solidFill>
                          <a:latin typeface="맑은 고딕"/>
                          <a:ea typeface="맑은 고딕"/>
                        </a:defRPr>
                      </a:lvl2pPr>
                      <a:lvl3pPr marL="914400" algn="l" defTabSz="914400" rtl="0" eaLnBrk="1" latinLnBrk="1" hangingPunct="1">
                        <a:defRPr sz="1800" kern="1200">
                          <a:solidFill>
                            <a:schemeClr val="tx1"/>
                          </a:solidFill>
                          <a:latin typeface="맑은 고딕"/>
                          <a:ea typeface="맑은 고딕"/>
                        </a:defRPr>
                      </a:lvl3pPr>
                      <a:lvl4pPr marL="1371600" algn="l" defTabSz="914400" rtl="0" eaLnBrk="1" latinLnBrk="1" hangingPunct="1">
                        <a:defRPr sz="1800" kern="1200">
                          <a:solidFill>
                            <a:schemeClr val="tx1"/>
                          </a:solidFill>
                          <a:latin typeface="맑은 고딕"/>
                          <a:ea typeface="맑은 고딕"/>
                        </a:defRPr>
                      </a:lvl4pPr>
                      <a:lvl5pPr marL="1828800" algn="l" defTabSz="914400" rtl="0" eaLnBrk="1" latinLnBrk="1" hangingPunct="1">
                        <a:defRPr sz="1800" kern="1200">
                          <a:solidFill>
                            <a:schemeClr val="tx1"/>
                          </a:solidFill>
                          <a:latin typeface="맑은 고딕"/>
                          <a:ea typeface="맑은 고딕"/>
                        </a:defRPr>
                      </a:lvl5pPr>
                      <a:lvl6pPr marL="2286000" algn="l" defTabSz="914400" rtl="0" eaLnBrk="1" latinLnBrk="1" hangingPunct="1">
                        <a:defRPr sz="1800" kern="1200">
                          <a:solidFill>
                            <a:schemeClr val="tx1"/>
                          </a:solidFill>
                          <a:latin typeface="맑은 고딕"/>
                          <a:ea typeface="맑은 고딕"/>
                        </a:defRPr>
                      </a:lvl6pPr>
                      <a:lvl7pPr marL="2743200" algn="l" defTabSz="914400" rtl="0" eaLnBrk="1" latinLnBrk="1" hangingPunct="1">
                        <a:defRPr sz="1800" kern="1200">
                          <a:solidFill>
                            <a:schemeClr val="tx1"/>
                          </a:solidFill>
                          <a:latin typeface="맑은 고딕"/>
                          <a:ea typeface="맑은 고딕"/>
                        </a:defRPr>
                      </a:lvl7pPr>
                      <a:lvl8pPr marL="3200400" algn="l" defTabSz="914400" rtl="0" eaLnBrk="1" latinLnBrk="1" hangingPunct="1">
                        <a:defRPr sz="1800" kern="1200">
                          <a:solidFill>
                            <a:schemeClr val="tx1"/>
                          </a:solidFill>
                          <a:latin typeface="맑은 고딕"/>
                          <a:ea typeface="맑은 고딕"/>
                        </a:defRPr>
                      </a:lvl8pPr>
                      <a:lvl9pPr marL="3657600" algn="l" defTabSz="914400" rtl="0" eaLnBrk="1" latinLnBrk="1" hangingPunct="1">
                        <a:defRPr sz="1800" kern="1200">
                          <a:solidFill>
                            <a:schemeClr val="tx1"/>
                          </a:solidFill>
                          <a:latin typeface="맑은 고딕"/>
                          <a:ea typeface="맑은 고딕"/>
                        </a:defRPr>
                      </a:lvl9pPr>
                    </a:lstStyle>
                    <a:p>
                      <a:pPr marL="0" marR="0" lvl="0" indent="0" algn="l"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1" hangingPunct="1">
                        <a:defRPr sz="1800" kern="1200">
                          <a:solidFill>
                            <a:schemeClr val="tx1"/>
                          </a:solidFill>
                          <a:latin typeface="맑은 고딕"/>
                          <a:ea typeface="맑은 고딕"/>
                        </a:defRPr>
                      </a:lvl1pPr>
                      <a:lvl2pPr marL="457200" algn="l" defTabSz="914400" rtl="0" eaLnBrk="1" latinLnBrk="1" hangingPunct="1">
                        <a:defRPr sz="1800" kern="1200">
                          <a:solidFill>
                            <a:schemeClr val="tx1"/>
                          </a:solidFill>
                          <a:latin typeface="맑은 고딕"/>
                          <a:ea typeface="맑은 고딕"/>
                        </a:defRPr>
                      </a:lvl2pPr>
                      <a:lvl3pPr marL="914400" algn="l" defTabSz="914400" rtl="0" eaLnBrk="1" latinLnBrk="1" hangingPunct="1">
                        <a:defRPr sz="1800" kern="1200">
                          <a:solidFill>
                            <a:schemeClr val="tx1"/>
                          </a:solidFill>
                          <a:latin typeface="맑은 고딕"/>
                          <a:ea typeface="맑은 고딕"/>
                        </a:defRPr>
                      </a:lvl3pPr>
                      <a:lvl4pPr marL="1371600" algn="l" defTabSz="914400" rtl="0" eaLnBrk="1" latinLnBrk="1" hangingPunct="1">
                        <a:defRPr sz="1800" kern="1200">
                          <a:solidFill>
                            <a:schemeClr val="tx1"/>
                          </a:solidFill>
                          <a:latin typeface="맑은 고딕"/>
                          <a:ea typeface="맑은 고딕"/>
                        </a:defRPr>
                      </a:lvl4pPr>
                      <a:lvl5pPr marL="1828800" algn="l" defTabSz="914400" rtl="0" eaLnBrk="1" latinLnBrk="1" hangingPunct="1">
                        <a:defRPr sz="1800" kern="1200">
                          <a:solidFill>
                            <a:schemeClr val="tx1"/>
                          </a:solidFill>
                          <a:latin typeface="맑은 고딕"/>
                          <a:ea typeface="맑은 고딕"/>
                        </a:defRPr>
                      </a:lvl5pPr>
                      <a:lvl6pPr marL="2286000" algn="l" defTabSz="914400" rtl="0" eaLnBrk="1" latinLnBrk="1" hangingPunct="1">
                        <a:defRPr sz="1800" kern="1200">
                          <a:solidFill>
                            <a:schemeClr val="tx1"/>
                          </a:solidFill>
                          <a:latin typeface="맑은 고딕"/>
                          <a:ea typeface="맑은 고딕"/>
                        </a:defRPr>
                      </a:lvl6pPr>
                      <a:lvl7pPr marL="2743200" algn="l" defTabSz="914400" rtl="0" eaLnBrk="1" latinLnBrk="1" hangingPunct="1">
                        <a:defRPr sz="1800" kern="1200">
                          <a:solidFill>
                            <a:schemeClr val="tx1"/>
                          </a:solidFill>
                          <a:latin typeface="맑은 고딕"/>
                          <a:ea typeface="맑은 고딕"/>
                        </a:defRPr>
                      </a:lvl7pPr>
                      <a:lvl8pPr marL="3200400" algn="l" defTabSz="914400" rtl="0" eaLnBrk="1" latinLnBrk="1" hangingPunct="1">
                        <a:defRPr sz="1800" kern="1200">
                          <a:solidFill>
                            <a:schemeClr val="tx1"/>
                          </a:solidFill>
                          <a:latin typeface="맑은 고딕"/>
                          <a:ea typeface="맑은 고딕"/>
                        </a:defRPr>
                      </a:lvl8pPr>
                      <a:lvl9pPr marL="3657600" algn="l" defTabSz="914400" rtl="0" eaLnBrk="1" latinLnBrk="1" hangingPunct="1">
                        <a:defRPr sz="1800" kern="1200">
                          <a:solidFill>
                            <a:schemeClr val="tx1"/>
                          </a:solidFill>
                          <a:latin typeface="맑은 고딕"/>
                          <a:ea typeface="맑은 고딕"/>
                        </a:defRPr>
                      </a:lvl9p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1" hangingPunct="1">
                        <a:defRPr sz="1800" kern="1200">
                          <a:solidFill>
                            <a:schemeClr val="tx1"/>
                          </a:solidFill>
                          <a:latin typeface="맑은 고딕"/>
                          <a:ea typeface="맑은 고딕"/>
                        </a:defRPr>
                      </a:lvl1pPr>
                      <a:lvl2pPr marL="457200" algn="l" defTabSz="914400" rtl="0" eaLnBrk="1" latinLnBrk="1" hangingPunct="1">
                        <a:defRPr sz="1800" kern="1200">
                          <a:solidFill>
                            <a:schemeClr val="tx1"/>
                          </a:solidFill>
                          <a:latin typeface="맑은 고딕"/>
                          <a:ea typeface="맑은 고딕"/>
                        </a:defRPr>
                      </a:lvl2pPr>
                      <a:lvl3pPr marL="914400" algn="l" defTabSz="914400" rtl="0" eaLnBrk="1" latinLnBrk="1" hangingPunct="1">
                        <a:defRPr sz="1800" kern="1200">
                          <a:solidFill>
                            <a:schemeClr val="tx1"/>
                          </a:solidFill>
                          <a:latin typeface="맑은 고딕"/>
                          <a:ea typeface="맑은 고딕"/>
                        </a:defRPr>
                      </a:lvl3pPr>
                      <a:lvl4pPr marL="1371600" algn="l" defTabSz="914400" rtl="0" eaLnBrk="1" latinLnBrk="1" hangingPunct="1">
                        <a:defRPr sz="1800" kern="1200">
                          <a:solidFill>
                            <a:schemeClr val="tx1"/>
                          </a:solidFill>
                          <a:latin typeface="맑은 고딕"/>
                          <a:ea typeface="맑은 고딕"/>
                        </a:defRPr>
                      </a:lvl4pPr>
                      <a:lvl5pPr marL="1828800" algn="l" defTabSz="914400" rtl="0" eaLnBrk="1" latinLnBrk="1" hangingPunct="1">
                        <a:defRPr sz="1800" kern="1200">
                          <a:solidFill>
                            <a:schemeClr val="tx1"/>
                          </a:solidFill>
                          <a:latin typeface="맑은 고딕"/>
                          <a:ea typeface="맑은 고딕"/>
                        </a:defRPr>
                      </a:lvl5pPr>
                      <a:lvl6pPr marL="2286000" algn="l" defTabSz="914400" rtl="0" eaLnBrk="1" latinLnBrk="1" hangingPunct="1">
                        <a:defRPr sz="1800" kern="1200">
                          <a:solidFill>
                            <a:schemeClr val="tx1"/>
                          </a:solidFill>
                          <a:latin typeface="맑은 고딕"/>
                          <a:ea typeface="맑은 고딕"/>
                        </a:defRPr>
                      </a:lvl6pPr>
                      <a:lvl7pPr marL="2743200" algn="l" defTabSz="914400" rtl="0" eaLnBrk="1" latinLnBrk="1" hangingPunct="1">
                        <a:defRPr sz="1800" kern="1200">
                          <a:solidFill>
                            <a:schemeClr val="tx1"/>
                          </a:solidFill>
                          <a:latin typeface="맑은 고딕"/>
                          <a:ea typeface="맑은 고딕"/>
                        </a:defRPr>
                      </a:lvl7pPr>
                      <a:lvl8pPr marL="3200400" algn="l" defTabSz="914400" rtl="0" eaLnBrk="1" latinLnBrk="1" hangingPunct="1">
                        <a:defRPr sz="1800" kern="1200">
                          <a:solidFill>
                            <a:schemeClr val="tx1"/>
                          </a:solidFill>
                          <a:latin typeface="맑은 고딕"/>
                          <a:ea typeface="맑은 고딕"/>
                        </a:defRPr>
                      </a:lvl8pPr>
                      <a:lvl9pPr marL="3657600" algn="l" defTabSz="914400" rtl="0" eaLnBrk="1" latinLnBrk="1" hangingPunct="1">
                        <a:defRPr sz="1800" kern="1200">
                          <a:solidFill>
                            <a:schemeClr val="tx1"/>
                          </a:solidFill>
                          <a:latin typeface="맑은 고딕"/>
                          <a:ea typeface="맑은 고딕"/>
                        </a:defRPr>
                      </a:lvl9p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76480">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76480">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76480">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76480">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76480">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76480">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276480">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38213" rtl="0" eaLnBrk="1" fontAlgn="base" latinLnBrk="0" hangingPunct="1">
                        <a:lnSpc>
                          <a:spcPct val="100000"/>
                        </a:lnSpc>
                        <a:spcBef>
                          <a:spcPct val="60000"/>
                        </a:spcBef>
                        <a:spcAft>
                          <a:spcPct val="0"/>
                        </a:spcAft>
                        <a:buClr>
                          <a:schemeClr val="folHlink"/>
                        </a:buClr>
                        <a:buSzTx/>
                        <a:buFont typeface="Wingdings" pitchFamily="2" charset="2"/>
                        <a:buNone/>
                        <a:tabLst/>
                      </a:pPr>
                      <a:endParaRPr kumimoji="0" lang="ko-KR" altLang="en-US" sz="1200" b="0" i="0" u="none" strike="noStrike" cap="none" normalizeH="0" baseline="0" dirty="0" smtClean="0">
                        <a:ln>
                          <a:noFill/>
                        </a:ln>
                        <a:solidFill>
                          <a:srgbClr val="000000"/>
                        </a:solidFill>
                        <a:effectLst/>
                        <a:latin typeface="+mn-lt"/>
                        <a:ea typeface="+mn-ea"/>
                        <a:cs typeface="Arial" charset="0"/>
                      </a:endParaRPr>
                    </a:p>
                  </a:txBody>
                  <a:tcPr marL="90000" marR="90000" marT="46800" marB="4680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Tree>
    <p:extLst>
      <p:ext uri="{BB962C8B-B14F-4D97-AF65-F5344CB8AC3E}">
        <p14:creationId xmlns:p14="http://schemas.microsoft.com/office/powerpoint/2010/main" val="8316590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p:cNvSpPr>
            <a:spLocks noGrp="1"/>
          </p:cNvSpPr>
          <p:nvPr>
            <p:ph type="title"/>
          </p:nvPr>
        </p:nvSpPr>
        <p:spPr/>
        <p:txBody>
          <a:bodyPr/>
          <a:lstStyle/>
          <a:p>
            <a:r>
              <a:rPr lang="ko-KR" altLang="en-US" dirty="0"/>
              <a:t>목차</a:t>
            </a:r>
          </a:p>
        </p:txBody>
      </p:sp>
      <p:sp>
        <p:nvSpPr>
          <p:cNvPr id="17" name="TextBox 16"/>
          <p:cNvSpPr txBox="1"/>
          <p:nvPr/>
        </p:nvSpPr>
        <p:spPr>
          <a:xfrm>
            <a:off x="1821468" y="2348880"/>
            <a:ext cx="3060340" cy="3007728"/>
          </a:xfrm>
          <a:prstGeom prst="rect">
            <a:avLst/>
          </a:prstGeom>
          <a:noFill/>
        </p:spPr>
        <p:txBody>
          <a:bodyPr wrap="square" lIns="36000" tIns="72000" rIns="180000" bIns="72000" rtlCol="0">
            <a:spAutoFit/>
          </a:bodyPr>
          <a:lstStyle>
            <a:defPPr>
              <a:defRPr lang="de-DE"/>
            </a:defPPr>
            <a:lvl1pPr>
              <a:defRPr>
                <a:solidFill>
                  <a:schemeClr val="tx1">
                    <a:lumMod val="85000"/>
                    <a:lumOff val="15000"/>
                  </a:schemeClr>
                </a:solidFill>
                <a:latin typeface="맑은 고딕" panose="020B0503020000020004" pitchFamily="50" charset="-127"/>
              </a:defRPr>
            </a:lvl1pPr>
          </a:lstStyle>
          <a:p>
            <a:pPr marL="342900" indent="-342900">
              <a:spcBef>
                <a:spcPts val="1200"/>
              </a:spcBef>
              <a:buFontTx/>
              <a:buAutoNum type="arabicPeriod"/>
            </a:pPr>
            <a:r>
              <a:rPr lang="ko-KR" altLang="en-US" b="1" smtClean="0">
                <a:solidFill>
                  <a:schemeClr val="tx1"/>
                </a:solidFill>
                <a:latin typeface="+mn-lt"/>
              </a:rPr>
              <a:t>암호화 적용근기</a:t>
            </a:r>
            <a:endParaRPr lang="en-US" altLang="ko-KR" b="1" smtClean="0">
              <a:solidFill>
                <a:schemeClr val="tx1"/>
              </a:solidFill>
              <a:latin typeface="+mn-lt"/>
            </a:endParaRPr>
          </a:p>
          <a:p>
            <a:pPr marL="342900" indent="-342900">
              <a:spcBef>
                <a:spcPts val="1200"/>
              </a:spcBef>
              <a:buFontTx/>
              <a:buAutoNum type="arabicPeriod"/>
            </a:pPr>
            <a:r>
              <a:rPr lang="ko-KR" altLang="en-US" b="1" smtClean="0">
                <a:solidFill>
                  <a:schemeClr val="tx1"/>
                </a:solidFill>
                <a:latin typeface="+mn-lt"/>
              </a:rPr>
              <a:t>암호화 적용대상</a:t>
            </a:r>
            <a:endParaRPr lang="en-US" altLang="ko-KR" b="1" dirty="0" smtClean="0">
              <a:solidFill>
                <a:schemeClr val="tx1"/>
              </a:solidFill>
              <a:latin typeface="+mn-lt"/>
            </a:endParaRPr>
          </a:p>
          <a:p>
            <a:pPr marL="342900" indent="-342900">
              <a:spcBef>
                <a:spcPts val="1200"/>
              </a:spcBef>
              <a:buAutoNum type="arabicPeriod"/>
            </a:pPr>
            <a:r>
              <a:rPr lang="ko-KR" altLang="en-US" b="1" smtClean="0">
                <a:solidFill>
                  <a:schemeClr val="tx1"/>
                </a:solidFill>
                <a:latin typeface="+mn-lt"/>
              </a:rPr>
              <a:t>암호화 알고리즘</a:t>
            </a:r>
            <a:endParaRPr lang="en-US" altLang="ko-KR" b="1" dirty="0" smtClean="0">
              <a:solidFill>
                <a:schemeClr val="tx1"/>
              </a:solidFill>
              <a:latin typeface="+mn-lt"/>
            </a:endParaRPr>
          </a:p>
          <a:p>
            <a:pPr marL="342900" indent="-342900">
              <a:spcBef>
                <a:spcPts val="1200"/>
              </a:spcBef>
              <a:buAutoNum type="arabicPeriod"/>
            </a:pPr>
            <a:r>
              <a:rPr lang="ko-KR" altLang="en-US" b="1" smtClean="0">
                <a:solidFill>
                  <a:schemeClr val="tx1"/>
                </a:solidFill>
                <a:latin typeface="+mn-lt"/>
              </a:rPr>
              <a:t>암호화 기본정책</a:t>
            </a:r>
            <a:endParaRPr lang="en-US" altLang="ko-KR" b="1" smtClean="0">
              <a:solidFill>
                <a:schemeClr val="tx1"/>
              </a:solidFill>
              <a:latin typeface="+mn-lt"/>
            </a:endParaRPr>
          </a:p>
          <a:p>
            <a:pPr marL="342900" indent="-342900">
              <a:spcBef>
                <a:spcPts val="1200"/>
              </a:spcBef>
              <a:buAutoNum type="arabicPeriod"/>
            </a:pPr>
            <a:r>
              <a:rPr lang="ko-KR" altLang="en-US" b="1" smtClean="0">
                <a:solidFill>
                  <a:schemeClr val="tx1"/>
                </a:solidFill>
                <a:latin typeface="+mn-lt"/>
              </a:rPr>
              <a:t>암호화 처리방법</a:t>
            </a:r>
            <a:endParaRPr lang="en-US" altLang="ko-KR" b="1" smtClean="0">
              <a:solidFill>
                <a:schemeClr val="tx1"/>
              </a:solidFill>
              <a:latin typeface="+mn-lt"/>
            </a:endParaRPr>
          </a:p>
          <a:p>
            <a:pPr marL="342900" indent="-342900">
              <a:spcBef>
                <a:spcPts val="1200"/>
              </a:spcBef>
              <a:buAutoNum type="arabicPeriod"/>
            </a:pPr>
            <a:r>
              <a:rPr lang="ko-KR" altLang="en-US" b="1" smtClean="0">
                <a:solidFill>
                  <a:schemeClr val="tx1"/>
                </a:solidFill>
                <a:latin typeface="+mn-lt"/>
              </a:rPr>
              <a:t>암호화 적용현황</a:t>
            </a:r>
            <a:endParaRPr lang="en-US" altLang="ko-KR" b="1" smtClean="0">
              <a:solidFill>
                <a:schemeClr val="tx1"/>
              </a:solidFill>
              <a:latin typeface="+mn-lt"/>
            </a:endParaRPr>
          </a:p>
          <a:p>
            <a:pPr marL="342900" indent="-342900">
              <a:spcBef>
                <a:spcPts val="1200"/>
              </a:spcBef>
              <a:buAutoNum type="arabicPeriod"/>
            </a:pPr>
            <a:r>
              <a:rPr lang="ko-KR" altLang="en-US" b="1" smtClean="0">
                <a:solidFill>
                  <a:schemeClr val="tx1"/>
                </a:solidFill>
                <a:latin typeface="+mn-lt"/>
              </a:rPr>
              <a:t>암호화 신규적용</a:t>
            </a:r>
            <a:endParaRPr lang="en-US" altLang="ko-KR" b="1" dirty="0">
              <a:solidFill>
                <a:schemeClr val="tx1"/>
              </a:solidFill>
            </a:endParaRPr>
          </a:p>
        </p:txBody>
      </p:sp>
      <p:sp>
        <p:nvSpPr>
          <p:cNvPr id="4" name="TextBox 3"/>
          <p:cNvSpPr txBox="1"/>
          <p:nvPr/>
        </p:nvSpPr>
        <p:spPr>
          <a:xfrm>
            <a:off x="5532951" y="3641541"/>
            <a:ext cx="3272477" cy="1715067"/>
          </a:xfrm>
          <a:prstGeom prst="rect">
            <a:avLst/>
          </a:prstGeom>
          <a:noFill/>
        </p:spPr>
        <p:txBody>
          <a:bodyPr wrap="square" lIns="36000" tIns="72000" rIns="180000" bIns="72000" rtlCol="0">
            <a:spAutoFit/>
          </a:bodyPr>
          <a:lstStyle>
            <a:defPPr>
              <a:defRPr lang="de-DE"/>
            </a:defPPr>
            <a:lvl1pPr>
              <a:defRPr>
                <a:solidFill>
                  <a:schemeClr val="tx1">
                    <a:lumMod val="85000"/>
                    <a:lumOff val="15000"/>
                  </a:schemeClr>
                </a:solidFill>
                <a:latin typeface="맑은 고딕" panose="020B0503020000020004" pitchFamily="50" charset="-127"/>
              </a:defRPr>
            </a:lvl1pPr>
          </a:lstStyle>
          <a:p>
            <a:pPr>
              <a:spcBef>
                <a:spcPts val="1200"/>
              </a:spcBef>
            </a:pPr>
            <a:r>
              <a:rPr lang="ko-KR" altLang="en-US" b="1" smtClean="0">
                <a:solidFill>
                  <a:schemeClr val="tx1"/>
                </a:solidFill>
                <a:latin typeface="+mn-lt"/>
              </a:rPr>
              <a:t>첨부</a:t>
            </a:r>
            <a:r>
              <a:rPr lang="en-US" altLang="ko-KR" b="1" smtClean="0">
                <a:solidFill>
                  <a:schemeClr val="tx1"/>
                </a:solidFill>
                <a:latin typeface="+mn-lt"/>
              </a:rPr>
              <a:t>1. </a:t>
            </a:r>
            <a:r>
              <a:rPr lang="ko-KR" altLang="en-US" b="1" smtClean="0">
                <a:solidFill>
                  <a:schemeClr val="tx1"/>
                </a:solidFill>
                <a:latin typeface="+mn-lt"/>
              </a:rPr>
              <a:t>암호키 신청방법</a:t>
            </a:r>
            <a:endParaRPr lang="en-US" altLang="ko-KR" b="1" smtClean="0">
              <a:solidFill>
                <a:schemeClr val="tx1"/>
              </a:solidFill>
              <a:latin typeface="+mn-lt"/>
            </a:endParaRPr>
          </a:p>
          <a:p>
            <a:pPr>
              <a:spcBef>
                <a:spcPts val="1200"/>
              </a:spcBef>
            </a:pPr>
            <a:r>
              <a:rPr lang="ko-KR" altLang="en-US" b="1" smtClean="0">
                <a:solidFill>
                  <a:schemeClr val="tx1"/>
                </a:solidFill>
              </a:rPr>
              <a:t>첨부</a:t>
            </a:r>
            <a:r>
              <a:rPr lang="en-US" altLang="ko-KR" b="1" smtClean="0">
                <a:solidFill>
                  <a:schemeClr val="tx1"/>
                </a:solidFill>
              </a:rPr>
              <a:t>2. </a:t>
            </a:r>
            <a:r>
              <a:rPr lang="ko-KR" altLang="en-US" b="1" smtClean="0">
                <a:solidFill>
                  <a:schemeClr val="tx1"/>
                </a:solidFill>
              </a:rPr>
              <a:t>개발자 환경설정</a:t>
            </a:r>
            <a:endParaRPr lang="en-US" altLang="ko-KR" b="1" smtClean="0">
              <a:solidFill>
                <a:schemeClr val="tx1"/>
              </a:solidFill>
            </a:endParaRPr>
          </a:p>
          <a:p>
            <a:pPr>
              <a:spcBef>
                <a:spcPts val="1200"/>
              </a:spcBef>
            </a:pPr>
            <a:r>
              <a:rPr lang="ko-KR" altLang="en-US" b="1" smtClean="0">
                <a:solidFill>
                  <a:schemeClr val="tx1"/>
                </a:solidFill>
              </a:rPr>
              <a:t>첨부</a:t>
            </a:r>
            <a:r>
              <a:rPr lang="en-US" altLang="ko-KR" b="1" smtClean="0">
                <a:solidFill>
                  <a:schemeClr val="tx1"/>
                </a:solidFill>
              </a:rPr>
              <a:t>3. </a:t>
            </a:r>
            <a:r>
              <a:rPr lang="ko-KR" altLang="en-US" b="1" smtClean="0">
                <a:solidFill>
                  <a:schemeClr val="tx1"/>
                </a:solidFill>
              </a:rPr>
              <a:t>암</a:t>
            </a:r>
            <a:r>
              <a:rPr lang="en-US" altLang="ko-KR" b="1" smtClean="0">
                <a:solidFill>
                  <a:schemeClr val="tx1"/>
                </a:solidFill>
              </a:rPr>
              <a:t>·</a:t>
            </a:r>
            <a:r>
              <a:rPr lang="ko-KR" altLang="en-US" b="1" smtClean="0">
                <a:solidFill>
                  <a:schemeClr val="tx1"/>
                </a:solidFill>
              </a:rPr>
              <a:t>복호함수 적용가이드</a:t>
            </a:r>
            <a:endParaRPr lang="en-US" altLang="ko-KR" b="1" smtClean="0">
              <a:solidFill>
                <a:schemeClr val="tx1"/>
              </a:solidFill>
            </a:endParaRPr>
          </a:p>
          <a:p>
            <a:pPr>
              <a:spcBef>
                <a:spcPts val="1200"/>
              </a:spcBef>
            </a:pPr>
            <a:r>
              <a:rPr lang="ko-KR" altLang="en-US" b="1" smtClean="0">
                <a:solidFill>
                  <a:schemeClr val="tx1"/>
                </a:solidFill>
              </a:rPr>
              <a:t>첨부</a:t>
            </a:r>
            <a:r>
              <a:rPr lang="en-US" altLang="ko-KR" b="1" smtClean="0">
                <a:solidFill>
                  <a:schemeClr val="tx1"/>
                </a:solidFill>
              </a:rPr>
              <a:t>4. </a:t>
            </a:r>
            <a:r>
              <a:rPr lang="ko-KR" altLang="en-US" b="1">
                <a:solidFill>
                  <a:schemeClr val="tx1"/>
                </a:solidFill>
              </a:rPr>
              <a:t>암</a:t>
            </a:r>
            <a:r>
              <a:rPr lang="en-US" altLang="ko-KR" b="1">
                <a:solidFill>
                  <a:schemeClr val="tx1"/>
                </a:solidFill>
              </a:rPr>
              <a:t>·</a:t>
            </a:r>
            <a:r>
              <a:rPr lang="ko-KR" altLang="en-US" b="1" smtClean="0">
                <a:solidFill>
                  <a:schemeClr val="tx1"/>
                </a:solidFill>
              </a:rPr>
              <a:t>복호함수 에러코드</a:t>
            </a:r>
            <a:endParaRPr lang="en-US" altLang="ko-KR" b="1" dirty="0">
              <a:solidFill>
                <a:schemeClr val="tx1"/>
              </a:solidFill>
            </a:endParaRPr>
          </a:p>
        </p:txBody>
      </p:sp>
    </p:spTree>
    <p:extLst>
      <p:ext uri="{BB962C8B-B14F-4D97-AF65-F5344CB8AC3E}">
        <p14:creationId xmlns:p14="http://schemas.microsoft.com/office/powerpoint/2010/main" val="353835132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147"/>
          <p:cNvSpPr>
            <a:spLocks noChangeArrowheads="1"/>
          </p:cNvSpPr>
          <p:nvPr/>
        </p:nvSpPr>
        <p:spPr bwMode="auto">
          <a:xfrm>
            <a:off x="381884" y="1772816"/>
            <a:ext cx="9138354" cy="4428492"/>
          </a:xfrm>
          <a:prstGeom prst="roundRect">
            <a:avLst>
              <a:gd name="adj" fmla="val 1347"/>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defTabSz="550863"/>
            <a:endParaRPr lang="ko-KR" altLang="ko-KR" sz="600">
              <a:solidFill>
                <a:srgbClr val="000000"/>
              </a:solidFill>
              <a:latin typeface="맑은 고딕" pitchFamily="50" charset="-127"/>
              <a:ea typeface="맑은 고딕" pitchFamily="50" charset="-127"/>
            </a:endParaRPr>
          </a:p>
        </p:txBody>
      </p:sp>
      <p:sp>
        <p:nvSpPr>
          <p:cNvPr id="46"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en-US" altLang="ko-KR" dirty="0"/>
              <a:t>1</a:t>
            </a:r>
            <a:r>
              <a:rPr lang="en-US" altLang="ko-KR" smtClean="0"/>
              <a:t>. </a:t>
            </a:r>
            <a:r>
              <a:rPr lang="ko-KR" altLang="en-US" smtClean="0"/>
              <a:t>암호화 적용근기</a:t>
            </a:r>
            <a:endParaRPr lang="ko-KR" altLang="en-US" dirty="0"/>
          </a:p>
        </p:txBody>
      </p:sp>
      <p:sp>
        <p:nvSpPr>
          <p:cNvPr id="48" name="Rectangle 3"/>
          <p:cNvSpPr>
            <a:spLocks noChangeArrowheads="1"/>
          </p:cNvSpPr>
          <p:nvPr/>
        </p:nvSpPr>
        <p:spPr bwMode="auto">
          <a:xfrm>
            <a:off x="308484" y="764704"/>
            <a:ext cx="9144000" cy="372410"/>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ko-KR" altLang="en-US" sz="1400" b="1" smtClean="0">
                <a:latin typeface="KB금융 본문체 Light" panose="020B0303000000000000" pitchFamily="50" charset="-127"/>
                <a:ea typeface="KB금융 본문체 Light" panose="020B0303000000000000" pitchFamily="50" charset="-127"/>
                <a:cs typeface="ヒラギノ角ゴ ProN W3"/>
              </a:rPr>
              <a:t>관련 법률</a:t>
            </a:r>
            <a:r>
              <a:rPr lang="en-US" altLang="ko-KR" sz="1400" b="1" smtClean="0">
                <a:latin typeface="KB금융 본문체 Light" panose="020B0303000000000000" pitchFamily="50" charset="-127"/>
                <a:ea typeface="KB금융 본문체 Light" panose="020B0303000000000000" pitchFamily="50" charset="-127"/>
                <a:cs typeface="ヒラギノ角ゴ ProN W3"/>
              </a:rPr>
              <a:t>·</a:t>
            </a:r>
            <a:r>
              <a:rPr lang="ko-KR" altLang="en-US" sz="1400" b="1" smtClean="0">
                <a:latin typeface="KB금융 본문체 Light" panose="020B0303000000000000" pitchFamily="50" charset="-127"/>
                <a:ea typeface="KB금융 본문체 Light" panose="020B0303000000000000" pitchFamily="50" charset="-127"/>
                <a:cs typeface="ヒラギノ角ゴ ProN W3"/>
              </a:rPr>
              <a:t>규정</a:t>
            </a:r>
            <a:endParaRPr lang="en-US" altLang="ko-KR" sz="1400" b="1"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50" name="Rectangle 3"/>
          <p:cNvSpPr>
            <a:spLocks noChangeArrowheads="1"/>
          </p:cNvSpPr>
          <p:nvPr/>
        </p:nvSpPr>
        <p:spPr bwMode="auto">
          <a:xfrm>
            <a:off x="699993" y="1142438"/>
            <a:ext cx="8753507" cy="609398"/>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ko-KR" altLang="en-US" sz="1200" dirty="0" smtClean="0">
                <a:latin typeface="KB금융 본문체 Light" panose="020B0303000000000000" pitchFamily="50" charset="-127"/>
                <a:ea typeface="KB금융 본문체 Light" panose="020B0303000000000000" pitchFamily="50" charset="-127"/>
                <a:cs typeface="ヒラギノ角ゴ ProN W3"/>
              </a:rPr>
              <a:t>개인정보보호법에 따라 개인정보처리자는 개인정보를 안전하게 저장</a:t>
            </a:r>
            <a:r>
              <a:rPr lang="en-US" altLang="ko-KR" sz="1200" dirty="0" smtClean="0">
                <a:latin typeface="KB금융 본문체 Light" panose="020B0303000000000000" pitchFamily="50" charset="-127"/>
                <a:ea typeface="KB금융 본문체 Light" panose="020B0303000000000000" pitchFamily="50" charset="-127"/>
                <a:cs typeface="ヒラギノ角ゴ ProN W3"/>
              </a:rPr>
              <a:t>·</a:t>
            </a:r>
            <a:r>
              <a:rPr lang="ko-KR" altLang="en-US" sz="1200" dirty="0" smtClean="0">
                <a:latin typeface="KB금융 본문체 Light" panose="020B0303000000000000" pitchFamily="50" charset="-127"/>
                <a:ea typeface="KB금융 본문체 Light" panose="020B0303000000000000" pitchFamily="50" charset="-127"/>
                <a:cs typeface="ヒラギノ角ゴ ProN W3"/>
              </a:rPr>
              <a:t>전송하는데 암호화 기술을 </a:t>
            </a:r>
            <a:r>
              <a:rPr lang="ko-KR" altLang="en-US" sz="1200" smtClean="0">
                <a:latin typeface="KB금융 본문체 Light" panose="020B0303000000000000" pitchFamily="50" charset="-127"/>
                <a:ea typeface="KB금융 본문체 Light" panose="020B0303000000000000" pitchFamily="50" charset="-127"/>
                <a:cs typeface="ヒラギノ角ゴ ProN W3"/>
              </a:rPr>
              <a:t>적용해야 한다</a:t>
            </a:r>
            <a:endParaRPr lang="en-US" altLang="ko-KR" sz="1200" smtClean="0">
              <a:latin typeface="KB금융 본문체 Light" panose="020B0303000000000000" pitchFamily="50" charset="-127"/>
              <a:ea typeface="KB금융 본문체 Light" panose="020B0303000000000000" pitchFamily="50" charset="-127"/>
              <a:cs typeface="ヒラギノ角ゴ ProN W3"/>
            </a:endParaRPr>
          </a:p>
          <a:p>
            <a:pPr marL="285750" indent="-285750">
              <a:lnSpc>
                <a:spcPct val="130000"/>
              </a:lnSpc>
              <a:spcBef>
                <a:spcPct val="20000"/>
              </a:spcBef>
              <a:buSzPct val="100000"/>
              <a:buFont typeface="Wingdings" panose="05000000000000000000" pitchFamily="2" charset="2"/>
              <a:buChar char="l"/>
            </a:pPr>
            <a:r>
              <a:rPr lang="ko-KR" altLang="en-US" sz="1200" smtClean="0">
                <a:latin typeface="KB금융 본문체 Light" panose="020B0303000000000000" pitchFamily="50" charset="-127"/>
                <a:ea typeface="KB금융 본문체 Light" panose="020B0303000000000000" pitchFamily="50" charset="-127"/>
                <a:cs typeface="ヒラギノ角ゴ ProN W3"/>
              </a:rPr>
              <a:t>당행 정보보호업무지침에 따라 당행에 속하는 유무형의 정보자산이 무단으로 유출되지 않도록 암호화를 하여야 한다</a:t>
            </a:r>
            <a:endParaRPr lang="en-US" altLang="ko-KR" sz="1200" dirty="0" smtClean="0">
              <a:latin typeface="KB금융 본문체 Light" panose="020B0303000000000000" pitchFamily="50" charset="-127"/>
              <a:ea typeface="KB금융 본문체 Light" panose="020B0303000000000000" pitchFamily="50" charset="-127"/>
              <a:cs typeface="ヒラギノ角ゴ ProN W3"/>
            </a:endParaRPr>
          </a:p>
        </p:txBody>
      </p:sp>
      <p:grpSp>
        <p:nvGrpSpPr>
          <p:cNvPr id="53" name="그룹 52"/>
          <p:cNvGrpSpPr/>
          <p:nvPr/>
        </p:nvGrpSpPr>
        <p:grpSpPr>
          <a:xfrm>
            <a:off x="797556" y="1867058"/>
            <a:ext cx="5709652" cy="438955"/>
            <a:chOff x="797556" y="2123560"/>
            <a:chExt cx="5709652" cy="438955"/>
          </a:xfrm>
        </p:grpSpPr>
        <p:grpSp>
          <p:nvGrpSpPr>
            <p:cNvPr id="54" name="그룹 328"/>
            <p:cNvGrpSpPr>
              <a:grpSpLocks/>
            </p:cNvGrpSpPr>
            <p:nvPr/>
          </p:nvGrpSpPr>
          <p:grpSpPr bwMode="auto">
            <a:xfrm>
              <a:off x="797556" y="2173334"/>
              <a:ext cx="390765" cy="375542"/>
              <a:chOff x="5810644" y="5056738"/>
              <a:chExt cx="359879" cy="496078"/>
            </a:xfrm>
          </p:grpSpPr>
          <p:pic>
            <p:nvPicPr>
              <p:cNvPr id="73" name="Picture 18" descr="SKT"/>
              <p:cNvPicPr>
                <a:picLocks noChangeAspect="1" noChangeArrowheads="1"/>
              </p:cNvPicPr>
              <p:nvPr/>
            </p:nvPicPr>
            <p:blipFill>
              <a:blip r:embed="rId3" cstate="print"/>
              <a:srcRect/>
              <a:stretch>
                <a:fillRect/>
              </a:stretch>
            </p:blipFill>
            <p:spPr bwMode="auto">
              <a:xfrm>
                <a:off x="5870796" y="5056738"/>
                <a:ext cx="177796" cy="414564"/>
              </a:xfrm>
              <a:prstGeom prst="rect">
                <a:avLst/>
              </a:prstGeom>
              <a:noFill/>
              <a:ln w="9525">
                <a:solidFill>
                  <a:srgbClr val="000000"/>
                </a:solidFill>
                <a:miter lim="800000"/>
                <a:headEnd/>
                <a:tailEnd/>
              </a:ln>
            </p:spPr>
          </p:pic>
          <p:pic>
            <p:nvPicPr>
              <p:cNvPr id="74" name="Picture 18" descr="SKT"/>
              <p:cNvPicPr>
                <a:picLocks noChangeAspect="1" noChangeArrowheads="1"/>
              </p:cNvPicPr>
              <p:nvPr/>
            </p:nvPicPr>
            <p:blipFill>
              <a:blip r:embed="rId3" cstate="print"/>
              <a:srcRect/>
              <a:stretch>
                <a:fillRect/>
              </a:stretch>
            </p:blipFill>
            <p:spPr bwMode="auto">
              <a:xfrm>
                <a:off x="5810644" y="5132251"/>
                <a:ext cx="200096" cy="420565"/>
              </a:xfrm>
              <a:prstGeom prst="rect">
                <a:avLst/>
              </a:prstGeom>
              <a:noFill/>
              <a:ln w="9525">
                <a:solidFill>
                  <a:srgbClr val="000000"/>
                </a:solidFill>
                <a:miter lim="800000"/>
                <a:headEnd/>
                <a:tailEnd/>
              </a:ln>
            </p:spPr>
          </p:pic>
          <p:pic>
            <p:nvPicPr>
              <p:cNvPr id="75" name="Picture 28" descr="184"/>
              <p:cNvPicPr>
                <a:picLocks noChangeAspect="1" noChangeArrowheads="1"/>
              </p:cNvPicPr>
              <p:nvPr/>
            </p:nvPicPr>
            <p:blipFill>
              <a:blip r:embed="rId4" cstate="print"/>
              <a:srcRect/>
              <a:stretch>
                <a:fillRect/>
              </a:stretch>
            </p:blipFill>
            <p:spPr bwMode="auto">
              <a:xfrm>
                <a:off x="5930212" y="5063706"/>
                <a:ext cx="240311" cy="407593"/>
              </a:xfrm>
              <a:prstGeom prst="rect">
                <a:avLst/>
              </a:prstGeom>
              <a:noFill/>
              <a:ln w="9525">
                <a:noFill/>
                <a:miter lim="800000"/>
                <a:headEnd/>
                <a:tailEnd/>
              </a:ln>
            </p:spPr>
          </p:pic>
        </p:grpSp>
        <p:sp>
          <p:nvSpPr>
            <p:cNvPr id="55" name="object 109"/>
            <p:cNvSpPr txBox="1"/>
            <p:nvPr/>
          </p:nvSpPr>
          <p:spPr>
            <a:xfrm>
              <a:off x="1008145" y="2123560"/>
              <a:ext cx="540060" cy="436880"/>
            </a:xfrm>
            <a:prstGeom prst="rect">
              <a:avLst/>
            </a:prstGeom>
            <a:effectLst>
              <a:outerShdw blurRad="50800" dist="12700" dir="5400000" algn="t" rotWithShape="0">
                <a:prstClr val="black">
                  <a:alpha val="31000"/>
                </a:prstClr>
              </a:outerShdw>
            </a:effectLst>
          </p:spPr>
          <p:txBody>
            <a:bodyPr vert="horz" wrap="square" lIns="0" tIns="0" rIns="0" bIns="0" rtlCol="0" anchor="ctr">
              <a:noAutofit/>
              <a:scene3d>
                <a:camera prst="orthographicFront"/>
                <a:lightRig rig="threePt" dir="t"/>
              </a:scene3d>
              <a:sp3d contourW="44450">
                <a:bevelT w="1270"/>
                <a:contourClr>
                  <a:schemeClr val="bg1"/>
                </a:contourClr>
              </a:sp3d>
            </a:bodyPr>
            <a:lstStyle/>
            <a:p>
              <a:pPr marL="666115" marR="12700" indent="-654050" algn="ctr">
                <a:lnSpc>
                  <a:spcPct val="100000"/>
                </a:lnSpc>
              </a:pPr>
              <a:r>
                <a:rPr lang="en-US" altLang="ko-KR" sz="2600" b="1" dirty="0" smtClean="0">
                  <a:solidFill>
                    <a:srgbClr val="FF6600"/>
                  </a:solidFill>
                  <a:latin typeface="KB금융 제목체 Bold" panose="020B0803000000000000" pitchFamily="50" charset="-127"/>
                  <a:ea typeface="KB금융 제목체 Bold" panose="020B0803000000000000" pitchFamily="50" charset="-127"/>
                  <a:cs typeface="맑은 고딕"/>
                </a:rPr>
                <a:t>01</a:t>
              </a:r>
              <a:endParaRPr lang="ko-KR" altLang="en-US" sz="2600" b="1" dirty="0">
                <a:solidFill>
                  <a:srgbClr val="FF6600"/>
                </a:solidFill>
                <a:latin typeface="KB금융 제목체 Bold" panose="020B0803000000000000" pitchFamily="50" charset="-127"/>
                <a:ea typeface="KB금융 제목체 Bold" panose="020B0803000000000000" pitchFamily="50" charset="-127"/>
                <a:cs typeface="맑은 고딕"/>
              </a:endParaRPr>
            </a:p>
          </p:txBody>
        </p:sp>
        <p:sp>
          <p:nvSpPr>
            <p:cNvPr id="71" name="Text Box 3"/>
            <p:cNvSpPr txBox="1">
              <a:spLocks noChangeArrowheads="1"/>
            </p:cNvSpPr>
            <p:nvPr/>
          </p:nvSpPr>
          <p:spPr bwMode="auto">
            <a:xfrm>
              <a:off x="1467208" y="2225884"/>
              <a:ext cx="5040000" cy="336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lang="ko-KR" altLang="en-US" sz="1400" b="1" dirty="0" smtClean="0">
                  <a:solidFill>
                    <a:srgbClr val="FF6600"/>
                  </a:solidFill>
                  <a:latin typeface="KB금융 제목체 Bold" panose="020B0803000000000000" pitchFamily="50" charset="-127"/>
                  <a:ea typeface="KB금융 제목체 Bold" panose="020B0803000000000000" pitchFamily="50" charset="-127"/>
                </a:rPr>
                <a:t>개인정보보호법 제</a:t>
              </a:r>
              <a:r>
                <a:rPr lang="en-US" altLang="ko-KR" sz="1400" b="1" dirty="0">
                  <a:solidFill>
                    <a:srgbClr val="FF6600"/>
                  </a:solidFill>
                  <a:latin typeface="KB금융 제목체 Bold" panose="020B0803000000000000" pitchFamily="50" charset="-127"/>
                  <a:ea typeface="KB금융 제목체 Bold" panose="020B0803000000000000" pitchFamily="50" charset="-127"/>
                </a:rPr>
                <a:t>24</a:t>
              </a:r>
              <a:r>
                <a:rPr lang="ko-KR" altLang="en-US" sz="1400" b="1" dirty="0">
                  <a:solidFill>
                    <a:srgbClr val="FF6600"/>
                  </a:solidFill>
                  <a:latin typeface="KB금융 제목체 Bold" panose="020B0803000000000000" pitchFamily="50" charset="-127"/>
                  <a:ea typeface="KB금융 제목체 Bold" panose="020B0803000000000000" pitchFamily="50" charset="-127"/>
                </a:rPr>
                <a:t>조</a:t>
              </a:r>
              <a:r>
                <a:rPr lang="en-US" altLang="ko-KR" sz="1200" b="1" dirty="0">
                  <a:solidFill>
                    <a:srgbClr val="FF6600"/>
                  </a:solidFill>
                  <a:latin typeface="KB금융 제목체 Bold" panose="020B0803000000000000" pitchFamily="50" charset="-127"/>
                  <a:ea typeface="KB금융 제목체 Bold" panose="020B0803000000000000" pitchFamily="50" charset="-127"/>
                </a:rPr>
                <a:t>(</a:t>
              </a:r>
              <a:r>
                <a:rPr lang="ko-KR" altLang="en-US" sz="1200" b="1" dirty="0">
                  <a:solidFill>
                    <a:srgbClr val="FF6600"/>
                  </a:solidFill>
                  <a:latin typeface="KB금융 제목체 Bold" panose="020B0803000000000000" pitchFamily="50" charset="-127"/>
                  <a:ea typeface="KB금융 제목체 Bold" panose="020B0803000000000000" pitchFamily="50" charset="-127"/>
                </a:rPr>
                <a:t>고유식별정보의 처리 제한</a:t>
              </a:r>
              <a:r>
                <a:rPr lang="en-US" altLang="ko-KR" sz="1200" b="1" dirty="0">
                  <a:solidFill>
                    <a:srgbClr val="FF6600"/>
                  </a:solidFill>
                  <a:latin typeface="KB금융 제목체 Bold" panose="020B0803000000000000" pitchFamily="50" charset="-127"/>
                  <a:ea typeface="KB금융 제목체 Bold" panose="020B0803000000000000" pitchFamily="50" charset="-127"/>
                </a:rPr>
                <a:t>)</a:t>
              </a:r>
              <a:endParaRPr lang="ko-KR" altLang="en-US" sz="1200" b="1" dirty="0">
                <a:solidFill>
                  <a:srgbClr val="FF6600"/>
                </a:solidFill>
                <a:latin typeface="KB금융 제목체 Bold" panose="020B0803000000000000" pitchFamily="50" charset="-127"/>
                <a:ea typeface="KB금융 제목체 Bold" panose="020B0803000000000000" pitchFamily="50" charset="-127"/>
              </a:endParaRPr>
            </a:p>
          </p:txBody>
        </p:sp>
        <p:cxnSp>
          <p:nvCxnSpPr>
            <p:cNvPr id="72" name="직선 연결선 71"/>
            <p:cNvCxnSpPr/>
            <p:nvPr/>
          </p:nvCxnSpPr>
          <p:spPr bwMode="auto">
            <a:xfrm>
              <a:off x="1064568" y="2543884"/>
              <a:ext cx="5256000" cy="0"/>
            </a:xfrm>
            <a:prstGeom prst="line">
              <a:avLst/>
            </a:prstGeom>
            <a:solidFill>
              <a:schemeClr val="bg1"/>
            </a:solidFill>
            <a:ln w="12700" cap="flat" cmpd="sng" algn="ctr">
              <a:solidFill>
                <a:schemeClr val="tx1"/>
              </a:solidFill>
              <a:prstDash val="solid"/>
              <a:round/>
              <a:headEnd type="none" w="med" len="med"/>
              <a:tailEnd type="none" w="med" len="med"/>
            </a:ln>
            <a:effectLst/>
          </p:spPr>
        </p:cxnSp>
      </p:grpSp>
      <p:grpSp>
        <p:nvGrpSpPr>
          <p:cNvPr id="76" name="그룹 328"/>
          <p:cNvGrpSpPr>
            <a:grpSpLocks/>
          </p:cNvGrpSpPr>
          <p:nvPr/>
        </p:nvGrpSpPr>
        <p:grpSpPr bwMode="auto">
          <a:xfrm>
            <a:off x="797556" y="2991348"/>
            <a:ext cx="390765" cy="375542"/>
            <a:chOff x="5810644" y="5056738"/>
            <a:chExt cx="359879" cy="496078"/>
          </a:xfrm>
        </p:grpSpPr>
        <p:pic>
          <p:nvPicPr>
            <p:cNvPr id="77" name="Picture 18" descr="SKT"/>
            <p:cNvPicPr>
              <a:picLocks noChangeAspect="1" noChangeArrowheads="1"/>
            </p:cNvPicPr>
            <p:nvPr/>
          </p:nvPicPr>
          <p:blipFill>
            <a:blip r:embed="rId3" cstate="print"/>
            <a:srcRect/>
            <a:stretch>
              <a:fillRect/>
            </a:stretch>
          </p:blipFill>
          <p:spPr bwMode="auto">
            <a:xfrm>
              <a:off x="5870796" y="5056738"/>
              <a:ext cx="177796" cy="414564"/>
            </a:xfrm>
            <a:prstGeom prst="rect">
              <a:avLst/>
            </a:prstGeom>
            <a:noFill/>
            <a:ln w="9525">
              <a:solidFill>
                <a:srgbClr val="000000"/>
              </a:solidFill>
              <a:miter lim="800000"/>
              <a:headEnd/>
              <a:tailEnd/>
            </a:ln>
          </p:spPr>
        </p:pic>
        <p:pic>
          <p:nvPicPr>
            <p:cNvPr id="78" name="Picture 18" descr="SKT"/>
            <p:cNvPicPr>
              <a:picLocks noChangeAspect="1" noChangeArrowheads="1"/>
            </p:cNvPicPr>
            <p:nvPr/>
          </p:nvPicPr>
          <p:blipFill>
            <a:blip r:embed="rId3" cstate="print"/>
            <a:srcRect/>
            <a:stretch>
              <a:fillRect/>
            </a:stretch>
          </p:blipFill>
          <p:spPr bwMode="auto">
            <a:xfrm>
              <a:off x="5810644" y="5132251"/>
              <a:ext cx="200096" cy="420565"/>
            </a:xfrm>
            <a:prstGeom prst="rect">
              <a:avLst/>
            </a:prstGeom>
            <a:noFill/>
            <a:ln w="9525">
              <a:solidFill>
                <a:srgbClr val="000000"/>
              </a:solidFill>
              <a:miter lim="800000"/>
              <a:headEnd/>
              <a:tailEnd/>
            </a:ln>
          </p:spPr>
        </p:pic>
        <p:pic>
          <p:nvPicPr>
            <p:cNvPr id="82" name="Picture 28" descr="184"/>
            <p:cNvPicPr>
              <a:picLocks noChangeAspect="1" noChangeArrowheads="1"/>
            </p:cNvPicPr>
            <p:nvPr/>
          </p:nvPicPr>
          <p:blipFill>
            <a:blip r:embed="rId4" cstate="print"/>
            <a:srcRect/>
            <a:stretch>
              <a:fillRect/>
            </a:stretch>
          </p:blipFill>
          <p:spPr bwMode="auto">
            <a:xfrm>
              <a:off x="5930212" y="5063706"/>
              <a:ext cx="240311" cy="407593"/>
            </a:xfrm>
            <a:prstGeom prst="rect">
              <a:avLst/>
            </a:prstGeom>
            <a:noFill/>
            <a:ln w="9525">
              <a:noFill/>
              <a:miter lim="800000"/>
              <a:headEnd/>
              <a:tailEnd/>
            </a:ln>
          </p:spPr>
        </p:pic>
      </p:grpSp>
      <p:sp>
        <p:nvSpPr>
          <p:cNvPr id="83" name="object 109"/>
          <p:cNvSpPr txBox="1"/>
          <p:nvPr/>
        </p:nvSpPr>
        <p:spPr>
          <a:xfrm>
            <a:off x="1008145" y="2941574"/>
            <a:ext cx="540060" cy="436880"/>
          </a:xfrm>
          <a:prstGeom prst="rect">
            <a:avLst/>
          </a:prstGeom>
          <a:effectLst>
            <a:outerShdw blurRad="50800" dist="12700" dir="5400000" algn="t" rotWithShape="0">
              <a:prstClr val="black">
                <a:alpha val="31000"/>
              </a:prstClr>
            </a:outerShdw>
          </a:effectLst>
        </p:spPr>
        <p:txBody>
          <a:bodyPr vert="horz" wrap="square" lIns="0" tIns="0" rIns="0" bIns="0" rtlCol="0" anchor="ctr">
            <a:noAutofit/>
            <a:scene3d>
              <a:camera prst="orthographicFront"/>
              <a:lightRig rig="threePt" dir="t"/>
            </a:scene3d>
            <a:sp3d contourW="44450">
              <a:bevelT w="1270"/>
              <a:contourClr>
                <a:schemeClr val="bg1"/>
              </a:contourClr>
            </a:sp3d>
          </a:bodyPr>
          <a:lstStyle/>
          <a:p>
            <a:pPr marL="666115" marR="12700" indent="-654050" algn="ctr">
              <a:lnSpc>
                <a:spcPct val="100000"/>
              </a:lnSpc>
            </a:pPr>
            <a:r>
              <a:rPr lang="en-US" altLang="ko-KR" sz="2600" b="1" dirty="0" smtClean="0">
                <a:solidFill>
                  <a:srgbClr val="FF6600"/>
                </a:solidFill>
                <a:latin typeface="KB금융 제목체 Bold" panose="020B0803000000000000" pitchFamily="50" charset="-127"/>
                <a:ea typeface="KB금융 제목체 Bold" panose="020B0803000000000000" pitchFamily="50" charset="-127"/>
                <a:cs typeface="맑은 고딕"/>
              </a:rPr>
              <a:t>02</a:t>
            </a:r>
            <a:endParaRPr lang="ko-KR" altLang="en-US" sz="2600" b="1" dirty="0">
              <a:solidFill>
                <a:srgbClr val="FF6600"/>
              </a:solidFill>
              <a:latin typeface="KB금융 제목체 Bold" panose="020B0803000000000000" pitchFamily="50" charset="-127"/>
              <a:ea typeface="KB금융 제목체 Bold" panose="020B0803000000000000" pitchFamily="50" charset="-127"/>
              <a:cs typeface="맑은 고딕"/>
            </a:endParaRPr>
          </a:p>
        </p:txBody>
      </p:sp>
      <p:sp>
        <p:nvSpPr>
          <p:cNvPr id="84" name="Text Box 3"/>
          <p:cNvSpPr txBox="1">
            <a:spLocks noChangeArrowheads="1"/>
          </p:cNvSpPr>
          <p:nvPr/>
        </p:nvSpPr>
        <p:spPr bwMode="auto">
          <a:xfrm>
            <a:off x="1467208" y="3043898"/>
            <a:ext cx="5040000" cy="336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lang="ko-KR" altLang="en-US" sz="1400" b="1" dirty="0">
                <a:solidFill>
                  <a:srgbClr val="FF6600"/>
                </a:solidFill>
                <a:latin typeface="KB금융 제목체 Bold" panose="020B0803000000000000" pitchFamily="50" charset="-127"/>
                <a:ea typeface="KB금융 제목체 Bold" panose="020B0803000000000000" pitchFamily="50" charset="-127"/>
              </a:rPr>
              <a:t>개인정보보호법 시행령 제</a:t>
            </a:r>
            <a:r>
              <a:rPr lang="en-US" altLang="ko-KR" sz="1400" b="1" dirty="0">
                <a:solidFill>
                  <a:srgbClr val="FF6600"/>
                </a:solidFill>
                <a:latin typeface="KB금융 제목체 Bold" panose="020B0803000000000000" pitchFamily="50" charset="-127"/>
                <a:ea typeface="KB금융 제목체 Bold" panose="020B0803000000000000" pitchFamily="50" charset="-127"/>
              </a:rPr>
              <a:t>21</a:t>
            </a:r>
            <a:r>
              <a:rPr lang="ko-KR" altLang="en-US" sz="1400" b="1" dirty="0">
                <a:solidFill>
                  <a:srgbClr val="FF6600"/>
                </a:solidFill>
                <a:latin typeface="KB금융 제목체 Bold" panose="020B0803000000000000" pitchFamily="50" charset="-127"/>
                <a:ea typeface="KB금융 제목체 Bold" panose="020B0803000000000000" pitchFamily="50" charset="-127"/>
              </a:rPr>
              <a:t>조의</a:t>
            </a:r>
            <a:r>
              <a:rPr lang="en-US" altLang="ko-KR" sz="1400" b="1" dirty="0">
                <a:solidFill>
                  <a:srgbClr val="FF6600"/>
                </a:solidFill>
                <a:latin typeface="KB금융 제목체 Bold" panose="020B0803000000000000" pitchFamily="50" charset="-127"/>
                <a:ea typeface="KB금융 제목체 Bold" panose="020B0803000000000000" pitchFamily="50" charset="-127"/>
              </a:rPr>
              <a:t>2</a:t>
            </a:r>
            <a:r>
              <a:rPr lang="en-US" altLang="ko-KR" sz="1200" b="1" dirty="0">
                <a:solidFill>
                  <a:srgbClr val="FF6600"/>
                </a:solidFill>
                <a:latin typeface="KB금융 제목체 Bold" panose="020B0803000000000000" pitchFamily="50" charset="-127"/>
                <a:ea typeface="KB금융 제목체 Bold" panose="020B0803000000000000" pitchFamily="50" charset="-127"/>
              </a:rPr>
              <a:t>(</a:t>
            </a:r>
            <a:r>
              <a:rPr lang="ko-KR" altLang="en-US" sz="1200" b="1" dirty="0">
                <a:solidFill>
                  <a:srgbClr val="FF6600"/>
                </a:solidFill>
                <a:latin typeface="KB금융 제목체 Bold" panose="020B0803000000000000" pitchFamily="50" charset="-127"/>
                <a:ea typeface="KB금융 제목체 Bold" panose="020B0803000000000000" pitchFamily="50" charset="-127"/>
              </a:rPr>
              <a:t>주민등록번호 암호화 적용 대상 등</a:t>
            </a:r>
            <a:r>
              <a:rPr lang="en-US" altLang="ko-KR" sz="1200" b="1" dirty="0">
                <a:solidFill>
                  <a:srgbClr val="FF6600"/>
                </a:solidFill>
                <a:latin typeface="KB금융 제목체 Bold" panose="020B0803000000000000" pitchFamily="50" charset="-127"/>
                <a:ea typeface="KB금융 제목체 Bold" panose="020B0803000000000000" pitchFamily="50" charset="-127"/>
              </a:rPr>
              <a:t>)</a:t>
            </a:r>
            <a:endParaRPr lang="ko-KR" altLang="en-US" sz="1200" b="1" dirty="0">
              <a:solidFill>
                <a:srgbClr val="FF6600"/>
              </a:solidFill>
              <a:latin typeface="KB금융 제목체 Bold" panose="020B0803000000000000" pitchFamily="50" charset="-127"/>
              <a:ea typeface="KB금융 제목체 Bold" panose="020B0803000000000000" pitchFamily="50" charset="-127"/>
            </a:endParaRPr>
          </a:p>
        </p:txBody>
      </p:sp>
      <p:cxnSp>
        <p:nvCxnSpPr>
          <p:cNvPr id="85" name="직선 연결선 84"/>
          <p:cNvCxnSpPr/>
          <p:nvPr/>
        </p:nvCxnSpPr>
        <p:spPr bwMode="auto">
          <a:xfrm>
            <a:off x="1064568" y="3361898"/>
            <a:ext cx="5256000" cy="0"/>
          </a:xfrm>
          <a:prstGeom prst="line">
            <a:avLst/>
          </a:prstGeom>
          <a:solidFill>
            <a:schemeClr val="bg1"/>
          </a:solidFill>
          <a:ln w="12700" cap="flat" cmpd="sng" algn="ctr">
            <a:solidFill>
              <a:schemeClr val="tx1"/>
            </a:solidFill>
            <a:prstDash val="solid"/>
            <a:round/>
            <a:headEnd type="none" w="med" len="med"/>
            <a:tailEnd type="none" w="med" len="med"/>
          </a:ln>
          <a:effectLst/>
        </p:spPr>
      </p:cxnSp>
      <p:grpSp>
        <p:nvGrpSpPr>
          <p:cNvPr id="86" name="그룹 85"/>
          <p:cNvGrpSpPr/>
          <p:nvPr/>
        </p:nvGrpSpPr>
        <p:grpSpPr>
          <a:xfrm>
            <a:off x="797556" y="4180610"/>
            <a:ext cx="5709652" cy="438955"/>
            <a:chOff x="797556" y="2123560"/>
            <a:chExt cx="5709652" cy="438955"/>
          </a:xfrm>
        </p:grpSpPr>
        <p:grpSp>
          <p:nvGrpSpPr>
            <p:cNvPr id="87" name="그룹 328"/>
            <p:cNvGrpSpPr>
              <a:grpSpLocks/>
            </p:cNvGrpSpPr>
            <p:nvPr/>
          </p:nvGrpSpPr>
          <p:grpSpPr bwMode="auto">
            <a:xfrm>
              <a:off x="797556" y="2173334"/>
              <a:ext cx="390765" cy="375542"/>
              <a:chOff x="5810644" y="5056738"/>
              <a:chExt cx="359879" cy="496078"/>
            </a:xfrm>
          </p:grpSpPr>
          <p:pic>
            <p:nvPicPr>
              <p:cNvPr id="91" name="Picture 18" descr="SKT"/>
              <p:cNvPicPr>
                <a:picLocks noChangeAspect="1" noChangeArrowheads="1"/>
              </p:cNvPicPr>
              <p:nvPr/>
            </p:nvPicPr>
            <p:blipFill>
              <a:blip r:embed="rId3" cstate="print"/>
              <a:srcRect/>
              <a:stretch>
                <a:fillRect/>
              </a:stretch>
            </p:blipFill>
            <p:spPr bwMode="auto">
              <a:xfrm>
                <a:off x="5870796" y="5056738"/>
                <a:ext cx="177796" cy="414564"/>
              </a:xfrm>
              <a:prstGeom prst="rect">
                <a:avLst/>
              </a:prstGeom>
              <a:noFill/>
              <a:ln w="9525">
                <a:solidFill>
                  <a:srgbClr val="000000"/>
                </a:solidFill>
                <a:miter lim="800000"/>
                <a:headEnd/>
                <a:tailEnd/>
              </a:ln>
            </p:spPr>
          </p:pic>
          <p:pic>
            <p:nvPicPr>
              <p:cNvPr id="92" name="Picture 18" descr="SKT"/>
              <p:cNvPicPr>
                <a:picLocks noChangeAspect="1" noChangeArrowheads="1"/>
              </p:cNvPicPr>
              <p:nvPr/>
            </p:nvPicPr>
            <p:blipFill>
              <a:blip r:embed="rId3" cstate="print"/>
              <a:srcRect/>
              <a:stretch>
                <a:fillRect/>
              </a:stretch>
            </p:blipFill>
            <p:spPr bwMode="auto">
              <a:xfrm>
                <a:off x="5810644" y="5132251"/>
                <a:ext cx="200096" cy="420565"/>
              </a:xfrm>
              <a:prstGeom prst="rect">
                <a:avLst/>
              </a:prstGeom>
              <a:noFill/>
              <a:ln w="9525">
                <a:solidFill>
                  <a:srgbClr val="000000"/>
                </a:solidFill>
                <a:miter lim="800000"/>
                <a:headEnd/>
                <a:tailEnd/>
              </a:ln>
            </p:spPr>
          </p:pic>
          <p:pic>
            <p:nvPicPr>
              <p:cNvPr id="93" name="Picture 28" descr="184"/>
              <p:cNvPicPr>
                <a:picLocks noChangeAspect="1" noChangeArrowheads="1"/>
              </p:cNvPicPr>
              <p:nvPr/>
            </p:nvPicPr>
            <p:blipFill>
              <a:blip r:embed="rId4" cstate="print"/>
              <a:srcRect/>
              <a:stretch>
                <a:fillRect/>
              </a:stretch>
            </p:blipFill>
            <p:spPr bwMode="auto">
              <a:xfrm>
                <a:off x="5930212" y="5063706"/>
                <a:ext cx="240311" cy="407593"/>
              </a:xfrm>
              <a:prstGeom prst="rect">
                <a:avLst/>
              </a:prstGeom>
              <a:noFill/>
              <a:ln w="9525">
                <a:noFill/>
                <a:miter lim="800000"/>
                <a:headEnd/>
                <a:tailEnd/>
              </a:ln>
            </p:spPr>
          </p:pic>
        </p:grpSp>
        <p:sp>
          <p:nvSpPr>
            <p:cNvPr id="88" name="object 109"/>
            <p:cNvSpPr txBox="1"/>
            <p:nvPr/>
          </p:nvSpPr>
          <p:spPr>
            <a:xfrm>
              <a:off x="1008145" y="2123560"/>
              <a:ext cx="540060" cy="436880"/>
            </a:xfrm>
            <a:prstGeom prst="rect">
              <a:avLst/>
            </a:prstGeom>
            <a:effectLst>
              <a:outerShdw blurRad="50800" dist="12700" dir="5400000" algn="t" rotWithShape="0">
                <a:prstClr val="black">
                  <a:alpha val="31000"/>
                </a:prstClr>
              </a:outerShdw>
            </a:effectLst>
          </p:spPr>
          <p:txBody>
            <a:bodyPr vert="horz" wrap="square" lIns="0" tIns="0" rIns="0" bIns="0" rtlCol="0" anchor="ctr">
              <a:noAutofit/>
              <a:scene3d>
                <a:camera prst="orthographicFront"/>
                <a:lightRig rig="threePt" dir="t"/>
              </a:scene3d>
              <a:sp3d contourW="44450">
                <a:bevelT w="1270"/>
                <a:contourClr>
                  <a:schemeClr val="bg1"/>
                </a:contourClr>
              </a:sp3d>
            </a:bodyPr>
            <a:lstStyle/>
            <a:p>
              <a:pPr marL="666115" marR="12700" indent="-654050" algn="ctr">
                <a:lnSpc>
                  <a:spcPct val="100000"/>
                </a:lnSpc>
              </a:pPr>
              <a:r>
                <a:rPr lang="en-US" altLang="ko-KR" sz="2600" b="1" dirty="0" smtClean="0">
                  <a:solidFill>
                    <a:srgbClr val="FF6600"/>
                  </a:solidFill>
                  <a:latin typeface="KB금융 제목체 Bold" panose="020B0803000000000000" pitchFamily="50" charset="-127"/>
                  <a:ea typeface="KB금융 제목체 Bold" panose="020B0803000000000000" pitchFamily="50" charset="-127"/>
                  <a:cs typeface="맑은 고딕"/>
                </a:rPr>
                <a:t>03</a:t>
              </a:r>
              <a:endParaRPr lang="ko-KR" altLang="en-US" sz="2600" b="1" dirty="0">
                <a:solidFill>
                  <a:srgbClr val="FF6600"/>
                </a:solidFill>
                <a:latin typeface="KB금융 제목체 Bold" panose="020B0803000000000000" pitchFamily="50" charset="-127"/>
                <a:ea typeface="KB금융 제목체 Bold" panose="020B0803000000000000" pitchFamily="50" charset="-127"/>
                <a:cs typeface="맑은 고딕"/>
              </a:endParaRPr>
            </a:p>
          </p:txBody>
        </p:sp>
        <p:sp>
          <p:nvSpPr>
            <p:cNvPr id="89" name="Text Box 3"/>
            <p:cNvSpPr txBox="1">
              <a:spLocks noChangeArrowheads="1"/>
            </p:cNvSpPr>
            <p:nvPr/>
          </p:nvSpPr>
          <p:spPr bwMode="auto">
            <a:xfrm>
              <a:off x="1467208" y="2225884"/>
              <a:ext cx="5040000" cy="336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lang="ko-KR" altLang="en-US" sz="1400" b="1" dirty="0">
                  <a:solidFill>
                    <a:srgbClr val="FF6600"/>
                  </a:solidFill>
                  <a:latin typeface="KB금융 제목체 Bold" panose="020B0803000000000000" pitchFamily="50" charset="-127"/>
                  <a:ea typeface="KB금융 제목체 Bold" panose="020B0803000000000000" pitchFamily="50" charset="-127"/>
                </a:rPr>
                <a:t>개인정보의 암호화 조치에 관한 사항</a:t>
              </a:r>
            </a:p>
          </p:txBody>
        </p:sp>
        <p:cxnSp>
          <p:nvCxnSpPr>
            <p:cNvPr id="90" name="직선 연결선 89"/>
            <p:cNvCxnSpPr/>
            <p:nvPr/>
          </p:nvCxnSpPr>
          <p:spPr bwMode="auto">
            <a:xfrm>
              <a:off x="1064568" y="2543884"/>
              <a:ext cx="5256000" cy="0"/>
            </a:xfrm>
            <a:prstGeom prst="line">
              <a:avLst/>
            </a:prstGeom>
            <a:solidFill>
              <a:schemeClr val="bg1"/>
            </a:solidFill>
            <a:ln w="12700" cap="flat" cmpd="sng" algn="ctr">
              <a:solidFill>
                <a:schemeClr val="tx1"/>
              </a:solidFill>
              <a:prstDash val="solid"/>
              <a:round/>
              <a:headEnd type="none" w="med" len="med"/>
              <a:tailEnd type="none" w="med" len="med"/>
            </a:ln>
            <a:effectLst/>
          </p:spPr>
        </p:cxnSp>
      </p:grpSp>
      <p:grpSp>
        <p:nvGrpSpPr>
          <p:cNvPr id="94" name="그룹 328"/>
          <p:cNvGrpSpPr>
            <a:grpSpLocks/>
          </p:cNvGrpSpPr>
          <p:nvPr/>
        </p:nvGrpSpPr>
        <p:grpSpPr bwMode="auto">
          <a:xfrm>
            <a:off x="797556" y="5238496"/>
            <a:ext cx="390765" cy="375542"/>
            <a:chOff x="5810644" y="5056738"/>
            <a:chExt cx="359879" cy="496078"/>
          </a:xfrm>
        </p:grpSpPr>
        <p:pic>
          <p:nvPicPr>
            <p:cNvPr id="95" name="Picture 18" descr="SKT"/>
            <p:cNvPicPr>
              <a:picLocks noChangeAspect="1" noChangeArrowheads="1"/>
            </p:cNvPicPr>
            <p:nvPr/>
          </p:nvPicPr>
          <p:blipFill>
            <a:blip r:embed="rId3" cstate="print"/>
            <a:srcRect/>
            <a:stretch>
              <a:fillRect/>
            </a:stretch>
          </p:blipFill>
          <p:spPr bwMode="auto">
            <a:xfrm>
              <a:off x="5870796" y="5056738"/>
              <a:ext cx="177796" cy="414564"/>
            </a:xfrm>
            <a:prstGeom prst="rect">
              <a:avLst/>
            </a:prstGeom>
            <a:noFill/>
            <a:ln w="9525">
              <a:solidFill>
                <a:srgbClr val="000000"/>
              </a:solidFill>
              <a:miter lim="800000"/>
              <a:headEnd/>
              <a:tailEnd/>
            </a:ln>
          </p:spPr>
        </p:pic>
        <p:pic>
          <p:nvPicPr>
            <p:cNvPr id="96" name="Picture 18" descr="SKT"/>
            <p:cNvPicPr>
              <a:picLocks noChangeAspect="1" noChangeArrowheads="1"/>
            </p:cNvPicPr>
            <p:nvPr/>
          </p:nvPicPr>
          <p:blipFill>
            <a:blip r:embed="rId3" cstate="print"/>
            <a:srcRect/>
            <a:stretch>
              <a:fillRect/>
            </a:stretch>
          </p:blipFill>
          <p:spPr bwMode="auto">
            <a:xfrm>
              <a:off x="5810644" y="5132251"/>
              <a:ext cx="200096" cy="420565"/>
            </a:xfrm>
            <a:prstGeom prst="rect">
              <a:avLst/>
            </a:prstGeom>
            <a:noFill/>
            <a:ln w="9525">
              <a:solidFill>
                <a:srgbClr val="000000"/>
              </a:solidFill>
              <a:miter lim="800000"/>
              <a:headEnd/>
              <a:tailEnd/>
            </a:ln>
          </p:spPr>
        </p:pic>
        <p:pic>
          <p:nvPicPr>
            <p:cNvPr id="97" name="Picture 28" descr="184"/>
            <p:cNvPicPr>
              <a:picLocks noChangeAspect="1" noChangeArrowheads="1"/>
            </p:cNvPicPr>
            <p:nvPr/>
          </p:nvPicPr>
          <p:blipFill>
            <a:blip r:embed="rId4" cstate="print"/>
            <a:srcRect/>
            <a:stretch>
              <a:fillRect/>
            </a:stretch>
          </p:blipFill>
          <p:spPr bwMode="auto">
            <a:xfrm>
              <a:off x="5930212" y="5063706"/>
              <a:ext cx="240311" cy="407593"/>
            </a:xfrm>
            <a:prstGeom prst="rect">
              <a:avLst/>
            </a:prstGeom>
            <a:noFill/>
            <a:ln w="9525">
              <a:noFill/>
              <a:miter lim="800000"/>
              <a:headEnd/>
              <a:tailEnd/>
            </a:ln>
          </p:spPr>
        </p:pic>
      </p:grpSp>
      <p:sp>
        <p:nvSpPr>
          <p:cNvPr id="98" name="object 109"/>
          <p:cNvSpPr txBox="1"/>
          <p:nvPr/>
        </p:nvSpPr>
        <p:spPr>
          <a:xfrm>
            <a:off x="1008145" y="5188722"/>
            <a:ext cx="540060" cy="436880"/>
          </a:xfrm>
          <a:prstGeom prst="rect">
            <a:avLst/>
          </a:prstGeom>
          <a:effectLst>
            <a:outerShdw blurRad="50800" dist="12700" dir="5400000" algn="t" rotWithShape="0">
              <a:prstClr val="black">
                <a:alpha val="31000"/>
              </a:prstClr>
            </a:outerShdw>
          </a:effectLst>
        </p:spPr>
        <p:txBody>
          <a:bodyPr vert="horz" wrap="square" lIns="0" tIns="0" rIns="0" bIns="0" rtlCol="0" anchor="ctr">
            <a:noAutofit/>
            <a:scene3d>
              <a:camera prst="orthographicFront"/>
              <a:lightRig rig="threePt" dir="t"/>
            </a:scene3d>
            <a:sp3d contourW="44450">
              <a:bevelT w="1270"/>
              <a:contourClr>
                <a:schemeClr val="bg1"/>
              </a:contourClr>
            </a:sp3d>
          </a:bodyPr>
          <a:lstStyle/>
          <a:p>
            <a:pPr marL="666115" marR="12700" indent="-654050" algn="ctr">
              <a:lnSpc>
                <a:spcPct val="100000"/>
              </a:lnSpc>
            </a:pPr>
            <a:r>
              <a:rPr lang="en-US" altLang="ko-KR" sz="2600" b="1" dirty="0" smtClean="0">
                <a:solidFill>
                  <a:srgbClr val="FF6600"/>
                </a:solidFill>
                <a:latin typeface="KB금융 제목체 Bold" panose="020B0803000000000000" pitchFamily="50" charset="-127"/>
                <a:ea typeface="KB금융 제목체 Bold" panose="020B0803000000000000" pitchFamily="50" charset="-127"/>
                <a:cs typeface="맑은 고딕"/>
              </a:rPr>
              <a:t>04</a:t>
            </a:r>
            <a:endParaRPr lang="ko-KR" altLang="en-US" sz="2600" b="1" dirty="0">
              <a:solidFill>
                <a:srgbClr val="FF6600"/>
              </a:solidFill>
              <a:latin typeface="KB금융 제목체 Bold" panose="020B0803000000000000" pitchFamily="50" charset="-127"/>
              <a:ea typeface="KB금융 제목체 Bold" panose="020B0803000000000000" pitchFamily="50" charset="-127"/>
              <a:cs typeface="맑은 고딕"/>
            </a:endParaRPr>
          </a:p>
        </p:txBody>
      </p:sp>
      <p:sp>
        <p:nvSpPr>
          <p:cNvPr id="99" name="Text Box 3"/>
          <p:cNvSpPr txBox="1">
            <a:spLocks noChangeArrowheads="1"/>
          </p:cNvSpPr>
          <p:nvPr/>
        </p:nvSpPr>
        <p:spPr bwMode="auto">
          <a:xfrm>
            <a:off x="1467208" y="5291046"/>
            <a:ext cx="5040000" cy="35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lang="ko-KR" altLang="en-US" sz="1400" b="1" smtClean="0">
                <a:solidFill>
                  <a:srgbClr val="FF6600"/>
                </a:solidFill>
                <a:latin typeface="KB금융 제목체 Bold" panose="020B0803000000000000" pitchFamily="50" charset="-127"/>
                <a:ea typeface="KB금융 제목체 Bold" panose="020B0803000000000000" pitchFamily="50" charset="-127"/>
              </a:rPr>
              <a:t>당행 정보보호업무지침 제</a:t>
            </a:r>
            <a:r>
              <a:rPr lang="en-US" altLang="ko-KR" sz="1400" b="1">
                <a:solidFill>
                  <a:srgbClr val="FF6600"/>
                </a:solidFill>
                <a:latin typeface="KB금융 제목체 Bold" panose="020B0803000000000000" pitchFamily="50" charset="-127"/>
                <a:ea typeface="KB금융 제목체 Bold" panose="020B0803000000000000" pitchFamily="50" charset="-127"/>
              </a:rPr>
              <a:t>4</a:t>
            </a:r>
            <a:r>
              <a:rPr lang="ko-KR" altLang="en-US" sz="1400" b="1" smtClean="0">
                <a:solidFill>
                  <a:srgbClr val="FF6600"/>
                </a:solidFill>
                <a:latin typeface="KB금융 제목체 Bold" panose="020B0803000000000000" pitchFamily="50" charset="-127"/>
                <a:ea typeface="KB금융 제목체 Bold" panose="020B0803000000000000" pitchFamily="50" charset="-127"/>
              </a:rPr>
              <a:t>조</a:t>
            </a:r>
            <a:r>
              <a:rPr lang="en-US" altLang="ko-KR" sz="1400" b="1" smtClean="0">
                <a:solidFill>
                  <a:srgbClr val="FF6600"/>
                </a:solidFill>
                <a:latin typeface="KB금융 제목체 Bold" panose="020B0803000000000000" pitchFamily="50" charset="-127"/>
                <a:ea typeface="KB금융 제목체 Bold" panose="020B0803000000000000" pitchFamily="50" charset="-127"/>
              </a:rPr>
              <a:t>(</a:t>
            </a:r>
            <a:r>
              <a:rPr lang="ko-KR" altLang="en-US" sz="1400" b="1" smtClean="0">
                <a:solidFill>
                  <a:srgbClr val="FF6600"/>
                </a:solidFill>
                <a:latin typeface="KB금융 제목체 Bold" panose="020B0803000000000000" pitchFamily="50" charset="-127"/>
                <a:ea typeface="KB금융 제목체 Bold" panose="020B0803000000000000" pitchFamily="50" charset="-127"/>
              </a:rPr>
              <a:t>정보보호의 기본원칙</a:t>
            </a:r>
            <a:r>
              <a:rPr lang="en-US" altLang="ko-KR" sz="1400" b="1" smtClean="0">
                <a:solidFill>
                  <a:srgbClr val="FF6600"/>
                </a:solidFill>
                <a:latin typeface="KB금융 제목체 Bold" panose="020B0803000000000000" pitchFamily="50" charset="-127"/>
                <a:ea typeface="KB금융 제목체 Bold" panose="020B0803000000000000" pitchFamily="50" charset="-127"/>
              </a:rPr>
              <a:t>)</a:t>
            </a:r>
            <a:r>
              <a:rPr lang="ko-KR" altLang="en-US" sz="1400" b="1" smtClean="0">
                <a:solidFill>
                  <a:srgbClr val="FF6600"/>
                </a:solidFill>
                <a:latin typeface="KB금융 제목체 Bold" panose="020B0803000000000000" pitchFamily="50" charset="-127"/>
                <a:ea typeface="KB금융 제목체 Bold" panose="020B0803000000000000" pitchFamily="50" charset="-127"/>
              </a:rPr>
              <a:t> </a:t>
            </a:r>
            <a:endParaRPr lang="ko-KR" altLang="en-US" sz="1400" b="1" dirty="0">
              <a:solidFill>
                <a:srgbClr val="FF6600"/>
              </a:solidFill>
              <a:latin typeface="KB금융 제목체 Bold" panose="020B0803000000000000" pitchFamily="50" charset="-127"/>
              <a:ea typeface="KB금융 제목체 Bold" panose="020B0803000000000000" pitchFamily="50" charset="-127"/>
            </a:endParaRPr>
          </a:p>
        </p:txBody>
      </p:sp>
      <p:cxnSp>
        <p:nvCxnSpPr>
          <p:cNvPr id="100" name="직선 연결선 99"/>
          <p:cNvCxnSpPr/>
          <p:nvPr/>
        </p:nvCxnSpPr>
        <p:spPr bwMode="auto">
          <a:xfrm>
            <a:off x="1064568" y="5609046"/>
            <a:ext cx="5256000" cy="0"/>
          </a:xfrm>
          <a:prstGeom prst="line">
            <a:avLst/>
          </a:prstGeom>
          <a:solidFill>
            <a:schemeClr val="bg1"/>
          </a:solidFill>
          <a:ln w="12700" cap="flat" cmpd="sng" algn="ctr">
            <a:solidFill>
              <a:schemeClr val="tx1"/>
            </a:solidFill>
            <a:prstDash val="solid"/>
            <a:round/>
            <a:headEnd type="none" w="med" len="med"/>
            <a:tailEnd type="none" w="med" len="med"/>
          </a:ln>
          <a:effectLst/>
        </p:spPr>
      </p:cxnSp>
      <p:sp>
        <p:nvSpPr>
          <p:cNvPr id="101" name="AutoShape 55"/>
          <p:cNvSpPr>
            <a:spLocks noChangeArrowheads="1"/>
          </p:cNvSpPr>
          <p:nvPr/>
        </p:nvSpPr>
        <p:spPr bwMode="auto">
          <a:xfrm>
            <a:off x="1136576" y="2338370"/>
            <a:ext cx="8136000" cy="576064"/>
          </a:xfrm>
          <a:prstGeom prst="roundRect">
            <a:avLst>
              <a:gd name="adj" fmla="val 0"/>
            </a:avLst>
          </a:prstGeom>
          <a:pattFill prst="narHorz">
            <a:fgClr>
              <a:schemeClr val="bg1">
                <a:lumMod val="95000"/>
              </a:schemeClr>
            </a:fgClr>
            <a:bgClr>
              <a:schemeClr val="bg1"/>
            </a:bgClr>
          </a:pattFill>
          <a:ln w="19050">
            <a:noFill/>
            <a:round/>
            <a:headEnd/>
            <a:tailEnd/>
          </a:ln>
        </p:spPr>
        <p:txBody>
          <a:bodyPr wrap="none" tIns="72000" anchor="t" anchorCtr="0"/>
          <a:lstStyle/>
          <a:p>
            <a:pPr marL="171450" indent="-171450">
              <a:buClr>
                <a:srgbClr val="FFC000"/>
              </a:buClr>
              <a:buFont typeface="Wingdings" panose="05000000000000000000" pitchFamily="2" charset="2"/>
              <a:buChar char="§"/>
            </a:pPr>
            <a:r>
              <a:rPr lang="fr-FR" altLang="ko-KR" sz="1000" dirty="0" smtClean="0">
                <a:latin typeface="KB금융 본문체 Medium" panose="020B0603000000000000" pitchFamily="50" charset="-127"/>
                <a:ea typeface="KB금융 본문체 Medium" panose="020B0603000000000000" pitchFamily="50" charset="-127"/>
              </a:rPr>
              <a:t>개인정보처리자가 </a:t>
            </a:r>
            <a:r>
              <a:rPr lang="fr-FR" altLang="ko-KR" sz="1000" dirty="0">
                <a:latin typeface="KB금융 본문체 Medium" panose="020B0603000000000000" pitchFamily="50" charset="-127"/>
                <a:ea typeface="KB금융 본문체 Medium" panose="020B0603000000000000" pitchFamily="50" charset="-127"/>
              </a:rPr>
              <a:t>제</a:t>
            </a:r>
            <a:r>
              <a:rPr lang="en-US" altLang="ko-KR" sz="1000" dirty="0">
                <a:latin typeface="KB금융 본문체 Medium" panose="020B0603000000000000" pitchFamily="50" charset="-127"/>
                <a:ea typeface="KB금융 본문체 Medium" panose="020B0603000000000000" pitchFamily="50" charset="-127"/>
              </a:rPr>
              <a:t>1</a:t>
            </a:r>
            <a:r>
              <a:rPr lang="fr-FR" altLang="ko-KR" sz="1000" dirty="0">
                <a:latin typeface="KB금융 본문체 Medium" panose="020B0603000000000000" pitchFamily="50" charset="-127"/>
                <a:ea typeface="KB금융 본문체 Medium" panose="020B0603000000000000" pitchFamily="50" charset="-127"/>
              </a:rPr>
              <a:t>항 각 호에 따라 고유식별정보를 처리하는 경우에는 그 고유식별정보가 분실·도난·유출·위조·변조 또는 </a:t>
            </a:r>
            <a:r>
              <a:rPr lang="fr-FR" altLang="ko-KR" sz="1000" dirty="0" smtClean="0">
                <a:latin typeface="KB금융 본문체 Medium" panose="020B0603000000000000" pitchFamily="50" charset="-127"/>
                <a:ea typeface="KB금융 본문체 Medium" panose="020B0603000000000000" pitchFamily="50" charset="-127"/>
              </a:rPr>
              <a:t>훼손되지 </a:t>
            </a:r>
            <a:r>
              <a:rPr lang="fr-FR" altLang="ko-KR" sz="1000" dirty="0">
                <a:latin typeface="KB금융 본문체 Medium" panose="020B0603000000000000" pitchFamily="50" charset="-127"/>
                <a:ea typeface="KB금융 본문체 Medium" panose="020B0603000000000000" pitchFamily="50" charset="-127"/>
              </a:rPr>
              <a:t>아니하도록 </a:t>
            </a:r>
            <a:endParaRPr lang="fr-FR" altLang="ko-KR" sz="1000" dirty="0" smtClean="0">
              <a:latin typeface="KB금융 본문체 Medium" panose="020B0603000000000000" pitchFamily="50" charset="-127"/>
              <a:ea typeface="KB금융 본문체 Medium" panose="020B0603000000000000" pitchFamily="50" charset="-127"/>
            </a:endParaRPr>
          </a:p>
          <a:p>
            <a:pPr>
              <a:buClr>
                <a:srgbClr val="FFC000"/>
              </a:buClr>
            </a:pPr>
            <a:r>
              <a:rPr lang="fr-FR" altLang="ko-KR" sz="1000" dirty="0">
                <a:latin typeface="KB금융 본문체 Medium" panose="020B0603000000000000" pitchFamily="50" charset="-127"/>
                <a:ea typeface="KB금융 본문체 Medium" panose="020B0603000000000000" pitchFamily="50" charset="-127"/>
              </a:rPr>
              <a:t> </a:t>
            </a:r>
            <a:r>
              <a:rPr lang="fr-FR" altLang="ko-KR" sz="1000" dirty="0" smtClean="0">
                <a:latin typeface="KB금융 본문체 Medium" panose="020B0603000000000000" pitchFamily="50" charset="-127"/>
                <a:ea typeface="KB금융 본문체 Medium" panose="020B0603000000000000" pitchFamily="50" charset="-127"/>
              </a:rPr>
              <a:t>    대통령령으로 </a:t>
            </a:r>
            <a:r>
              <a:rPr lang="fr-FR" altLang="ko-KR" sz="1000" dirty="0">
                <a:latin typeface="KB금융 본문체 Medium" panose="020B0603000000000000" pitchFamily="50" charset="-127"/>
                <a:ea typeface="KB금융 본문체 Medium" panose="020B0603000000000000" pitchFamily="50" charset="-127"/>
              </a:rPr>
              <a:t>정하는 바에 따라 암호화 등 안전성 확보에 필요한 조치를 하여야 한다</a:t>
            </a:r>
            <a:r>
              <a:rPr lang="en-US" altLang="ko-KR" sz="1000" dirty="0">
                <a:latin typeface="KB금융 본문체 Medium" panose="020B0603000000000000" pitchFamily="50" charset="-127"/>
                <a:ea typeface="KB금융 본문체 Medium" panose="020B0603000000000000" pitchFamily="50" charset="-127"/>
              </a:rPr>
              <a:t>. </a:t>
            </a:r>
            <a:endParaRPr lang="ko-KR" altLang="ko-KR" sz="1000" dirty="0">
              <a:latin typeface="KB금융 본문체 Medium" panose="020B0603000000000000" pitchFamily="50" charset="-127"/>
              <a:ea typeface="KB금융 본문체 Medium" panose="020B0603000000000000" pitchFamily="50" charset="-127"/>
            </a:endParaRPr>
          </a:p>
        </p:txBody>
      </p:sp>
      <p:sp>
        <p:nvSpPr>
          <p:cNvPr id="102" name="AutoShape 55"/>
          <p:cNvSpPr>
            <a:spLocks noChangeArrowheads="1"/>
          </p:cNvSpPr>
          <p:nvPr/>
        </p:nvSpPr>
        <p:spPr bwMode="auto">
          <a:xfrm>
            <a:off x="1136576" y="3414100"/>
            <a:ext cx="8136000" cy="756000"/>
          </a:xfrm>
          <a:prstGeom prst="roundRect">
            <a:avLst>
              <a:gd name="adj" fmla="val 0"/>
            </a:avLst>
          </a:prstGeom>
          <a:pattFill prst="narHorz">
            <a:fgClr>
              <a:schemeClr val="bg1">
                <a:lumMod val="95000"/>
              </a:schemeClr>
            </a:fgClr>
            <a:bgClr>
              <a:schemeClr val="bg1"/>
            </a:bgClr>
          </a:pattFill>
          <a:ln w="19050">
            <a:noFill/>
            <a:round/>
            <a:headEnd/>
            <a:tailEnd/>
          </a:ln>
        </p:spPr>
        <p:txBody>
          <a:bodyPr wrap="none" tIns="72000" anchor="t" anchorCtr="0"/>
          <a:lstStyle/>
          <a:p>
            <a:pPr marL="171450" indent="-171450">
              <a:buClr>
                <a:srgbClr val="FFC000"/>
              </a:buClr>
              <a:buFont typeface="Wingdings" panose="05000000000000000000" pitchFamily="2" charset="2"/>
              <a:buChar char="§"/>
            </a:pPr>
            <a:r>
              <a:rPr lang="ko-KR" altLang="en-US" sz="1000" dirty="0">
                <a:latin typeface="KB금융 본문체 Medium" panose="020B0603000000000000" pitchFamily="50" charset="-127"/>
                <a:ea typeface="KB금융 본문체 Medium" panose="020B0603000000000000" pitchFamily="50" charset="-127"/>
              </a:rPr>
              <a:t>① 법 제</a:t>
            </a:r>
            <a:r>
              <a:rPr lang="en-US" altLang="ko-KR" sz="1000" dirty="0">
                <a:latin typeface="KB금융 본문체 Medium" panose="020B0603000000000000" pitchFamily="50" charset="-127"/>
                <a:ea typeface="KB금융 본문체 Medium" panose="020B0603000000000000" pitchFamily="50" charset="-127"/>
              </a:rPr>
              <a:t>24</a:t>
            </a:r>
            <a:r>
              <a:rPr lang="ko-KR" altLang="en-US" sz="1000" dirty="0">
                <a:latin typeface="KB금융 본문체 Medium" panose="020B0603000000000000" pitchFamily="50" charset="-127"/>
                <a:ea typeface="KB금융 본문체 Medium" panose="020B0603000000000000" pitchFamily="50" charset="-127"/>
              </a:rPr>
              <a:t>조의</a:t>
            </a:r>
            <a:r>
              <a:rPr lang="en-US" altLang="ko-KR" sz="1000" dirty="0">
                <a:latin typeface="KB금융 본문체 Medium" panose="020B0603000000000000" pitchFamily="50" charset="-127"/>
                <a:ea typeface="KB금융 본문체 Medium" panose="020B0603000000000000" pitchFamily="50" charset="-127"/>
              </a:rPr>
              <a:t>2 </a:t>
            </a:r>
            <a:r>
              <a:rPr lang="ko-KR" altLang="en-US" sz="1000" dirty="0">
                <a:latin typeface="KB금융 본문체 Medium" panose="020B0603000000000000" pitchFamily="50" charset="-127"/>
                <a:ea typeface="KB금융 본문체 Medium" panose="020B0603000000000000" pitchFamily="50" charset="-127"/>
              </a:rPr>
              <a:t>제</a:t>
            </a:r>
            <a:r>
              <a:rPr lang="en-US" altLang="ko-KR" sz="1000" dirty="0">
                <a:latin typeface="KB금융 본문체 Medium" panose="020B0603000000000000" pitchFamily="50" charset="-127"/>
                <a:ea typeface="KB금융 본문체 Medium" panose="020B0603000000000000" pitchFamily="50" charset="-127"/>
              </a:rPr>
              <a:t>2</a:t>
            </a:r>
            <a:r>
              <a:rPr lang="ko-KR" altLang="en-US" sz="1000" dirty="0">
                <a:latin typeface="KB금융 본문체 Medium" panose="020B0603000000000000" pitchFamily="50" charset="-127"/>
                <a:ea typeface="KB금융 본문체 Medium" panose="020B0603000000000000" pitchFamily="50" charset="-127"/>
              </a:rPr>
              <a:t>항에 따라 </a:t>
            </a:r>
            <a:r>
              <a:rPr lang="ko-KR" altLang="en-US" sz="1000" dirty="0" err="1">
                <a:latin typeface="KB금융 본문체 Medium" panose="020B0603000000000000" pitchFamily="50" charset="-127"/>
                <a:ea typeface="KB금융 본문체 Medium" panose="020B0603000000000000" pitchFamily="50" charset="-127"/>
              </a:rPr>
              <a:t>암호화조치를</a:t>
            </a:r>
            <a:r>
              <a:rPr lang="ko-KR" altLang="en-US" sz="1000" dirty="0">
                <a:latin typeface="KB금융 본문체 Medium" panose="020B0603000000000000" pitchFamily="50" charset="-127"/>
                <a:ea typeface="KB금융 본문체 Medium" panose="020B0603000000000000" pitchFamily="50" charset="-127"/>
              </a:rPr>
              <a:t> 하여야 하는 암호화 적용 대상은 </a:t>
            </a:r>
            <a:r>
              <a:rPr lang="ko-KR" altLang="en-US" sz="1000" dirty="0" smtClean="0">
                <a:latin typeface="KB금융 본문체 Medium" panose="020B0603000000000000" pitchFamily="50" charset="-127"/>
                <a:ea typeface="KB금융 본문체 Medium" panose="020B0603000000000000" pitchFamily="50" charset="-127"/>
              </a:rPr>
              <a:t>주민등록번호를 </a:t>
            </a:r>
            <a:r>
              <a:rPr lang="ko-KR" altLang="en-US" sz="1000" dirty="0">
                <a:latin typeface="KB금융 본문체 Medium" panose="020B0603000000000000" pitchFamily="50" charset="-127"/>
                <a:ea typeface="KB금융 본문체 Medium" panose="020B0603000000000000" pitchFamily="50" charset="-127"/>
              </a:rPr>
              <a:t>전자적인 방법으로 보관하는 </a:t>
            </a:r>
            <a:r>
              <a:rPr lang="ko-KR" altLang="en-US" sz="1000" dirty="0" smtClean="0">
                <a:latin typeface="KB금융 본문체 Medium" panose="020B0603000000000000" pitchFamily="50" charset="-127"/>
                <a:ea typeface="KB금융 본문체 Medium" panose="020B0603000000000000" pitchFamily="50" charset="-127"/>
              </a:rPr>
              <a:t>개인정보 </a:t>
            </a:r>
            <a:r>
              <a:rPr lang="ko-KR" altLang="en-US" sz="1000" dirty="0" err="1" smtClean="0">
                <a:latin typeface="KB금융 본문체 Medium" panose="020B0603000000000000" pitchFamily="50" charset="-127"/>
                <a:ea typeface="KB금융 본문체 Medium" panose="020B0603000000000000" pitchFamily="50" charset="-127"/>
              </a:rPr>
              <a:t>처리자로</a:t>
            </a:r>
            <a:r>
              <a:rPr lang="ko-KR" altLang="en-US" sz="1000" dirty="0" smtClean="0">
                <a:latin typeface="KB금융 본문체 Medium" panose="020B0603000000000000" pitchFamily="50" charset="-127"/>
                <a:ea typeface="KB금융 본문체 Medium" panose="020B0603000000000000" pitchFamily="50" charset="-127"/>
              </a:rPr>
              <a:t> </a:t>
            </a:r>
            <a:r>
              <a:rPr lang="ko-KR" altLang="en-US" sz="1000" dirty="0">
                <a:latin typeface="KB금융 본문체 Medium" panose="020B0603000000000000" pitchFamily="50" charset="-127"/>
                <a:ea typeface="KB금융 본문체 Medium" panose="020B0603000000000000" pitchFamily="50" charset="-127"/>
              </a:rPr>
              <a:t>한다</a:t>
            </a:r>
            <a:r>
              <a:rPr lang="en-US" altLang="ko-KR" sz="1000" dirty="0">
                <a:latin typeface="KB금융 본문체 Medium" panose="020B0603000000000000" pitchFamily="50" charset="-127"/>
                <a:ea typeface="KB금융 본문체 Medium" panose="020B0603000000000000" pitchFamily="50" charset="-127"/>
              </a:rPr>
              <a:t>.</a:t>
            </a:r>
          </a:p>
          <a:p>
            <a:pPr marL="171450" indent="-171450">
              <a:buClr>
                <a:srgbClr val="FFC000"/>
              </a:buClr>
              <a:buFont typeface="Wingdings" panose="05000000000000000000" pitchFamily="2" charset="2"/>
              <a:buChar char="§"/>
            </a:pPr>
            <a:r>
              <a:rPr lang="en-US" altLang="ko-KR" sz="1000" dirty="0">
                <a:latin typeface="KB금융 본문체 Medium" panose="020B0603000000000000" pitchFamily="50" charset="-127"/>
                <a:ea typeface="KB금융 본문체 Medium" panose="020B0603000000000000" pitchFamily="50" charset="-127"/>
              </a:rPr>
              <a:t>② </a:t>
            </a:r>
            <a:r>
              <a:rPr lang="ko-KR" altLang="en-US" sz="1000" dirty="0">
                <a:latin typeface="KB금융 본문체 Medium" panose="020B0603000000000000" pitchFamily="50" charset="-127"/>
                <a:ea typeface="KB금융 본문체 Medium" panose="020B0603000000000000" pitchFamily="50" charset="-127"/>
              </a:rPr>
              <a:t>제</a:t>
            </a:r>
            <a:r>
              <a:rPr lang="en-US" altLang="ko-KR" sz="1000" dirty="0">
                <a:latin typeface="KB금융 본문체 Medium" panose="020B0603000000000000" pitchFamily="50" charset="-127"/>
                <a:ea typeface="KB금융 본문체 Medium" panose="020B0603000000000000" pitchFamily="50" charset="-127"/>
              </a:rPr>
              <a:t>1</a:t>
            </a:r>
            <a:r>
              <a:rPr lang="ko-KR" altLang="en-US" sz="1000" dirty="0">
                <a:latin typeface="KB금융 본문체 Medium" panose="020B0603000000000000" pitchFamily="50" charset="-127"/>
                <a:ea typeface="KB금융 본문체 Medium" panose="020B0603000000000000" pitchFamily="50" charset="-127"/>
              </a:rPr>
              <a:t>항의 </a:t>
            </a:r>
            <a:r>
              <a:rPr lang="ko-KR" altLang="en-US" sz="1000" dirty="0" err="1">
                <a:latin typeface="KB금융 본문체 Medium" panose="020B0603000000000000" pitchFamily="50" charset="-127"/>
                <a:ea typeface="KB금융 본문체 Medium" panose="020B0603000000000000" pitchFamily="50" charset="-127"/>
              </a:rPr>
              <a:t>개인정보처리자에</a:t>
            </a:r>
            <a:r>
              <a:rPr lang="ko-KR" altLang="en-US" sz="1000" dirty="0">
                <a:latin typeface="KB금융 본문체 Medium" panose="020B0603000000000000" pitchFamily="50" charset="-127"/>
                <a:ea typeface="KB금융 본문체 Medium" panose="020B0603000000000000" pitchFamily="50" charset="-127"/>
              </a:rPr>
              <a:t> 대한 암호화적용 시기는 다음 각 호와 같다</a:t>
            </a:r>
            <a:r>
              <a:rPr lang="en-US" altLang="ko-KR" sz="1000" dirty="0">
                <a:latin typeface="KB금융 본문체 Medium" panose="020B0603000000000000" pitchFamily="50" charset="-127"/>
                <a:ea typeface="KB금융 본문체 Medium" panose="020B0603000000000000" pitchFamily="50" charset="-127"/>
              </a:rPr>
              <a:t>.</a:t>
            </a:r>
          </a:p>
          <a:p>
            <a:pPr>
              <a:buClr>
                <a:srgbClr val="FFC000"/>
              </a:buClr>
            </a:pPr>
            <a:r>
              <a:rPr lang="en-US" altLang="ko-KR" sz="1000" dirty="0" smtClean="0">
                <a:latin typeface="KB금융 본문체 Medium" panose="020B0603000000000000" pitchFamily="50" charset="-127"/>
                <a:ea typeface="KB금융 본문체 Medium" panose="020B0603000000000000" pitchFamily="50" charset="-127"/>
              </a:rPr>
              <a:t>          1</a:t>
            </a:r>
            <a:r>
              <a:rPr lang="en-US" altLang="ko-KR" sz="1000" dirty="0">
                <a:latin typeface="KB금융 본문체 Medium" panose="020B0603000000000000" pitchFamily="50" charset="-127"/>
                <a:ea typeface="KB금융 본문체 Medium" panose="020B0603000000000000" pitchFamily="50" charset="-127"/>
              </a:rPr>
              <a:t>. 100</a:t>
            </a:r>
            <a:r>
              <a:rPr lang="ko-KR" altLang="en-US" sz="1000" dirty="0" err="1">
                <a:latin typeface="KB금융 본문체 Medium" panose="020B0603000000000000" pitchFamily="50" charset="-127"/>
                <a:ea typeface="KB금융 본문체 Medium" panose="020B0603000000000000" pitchFamily="50" charset="-127"/>
              </a:rPr>
              <a:t>만명미만의정보주체에관한주민등록번호를보관하는개인정보처리자</a:t>
            </a:r>
            <a:r>
              <a:rPr lang="en-US" altLang="ko-KR" sz="1000" dirty="0">
                <a:latin typeface="KB금융 본문체 Medium" panose="020B0603000000000000" pitchFamily="50" charset="-127"/>
                <a:ea typeface="KB금융 본문체 Medium" panose="020B0603000000000000" pitchFamily="50" charset="-127"/>
              </a:rPr>
              <a:t>: 2017</a:t>
            </a:r>
            <a:r>
              <a:rPr lang="ko-KR" altLang="en-US" sz="1000" dirty="0">
                <a:latin typeface="KB금융 본문체 Medium" panose="020B0603000000000000" pitchFamily="50" charset="-127"/>
                <a:ea typeface="KB금융 본문체 Medium" panose="020B0603000000000000" pitchFamily="50" charset="-127"/>
              </a:rPr>
              <a:t>년</a:t>
            </a:r>
            <a:r>
              <a:rPr lang="en-US" altLang="ko-KR" sz="1000" dirty="0">
                <a:latin typeface="KB금융 본문체 Medium" panose="020B0603000000000000" pitchFamily="50" charset="-127"/>
                <a:ea typeface="KB금융 본문체 Medium" panose="020B0603000000000000" pitchFamily="50" charset="-127"/>
              </a:rPr>
              <a:t>1</a:t>
            </a:r>
            <a:r>
              <a:rPr lang="ko-KR" altLang="en-US" sz="1000" dirty="0">
                <a:latin typeface="KB금융 본문체 Medium" panose="020B0603000000000000" pitchFamily="50" charset="-127"/>
                <a:ea typeface="KB금융 본문체 Medium" panose="020B0603000000000000" pitchFamily="50" charset="-127"/>
              </a:rPr>
              <a:t>월</a:t>
            </a:r>
            <a:r>
              <a:rPr lang="en-US" altLang="ko-KR" sz="1000" dirty="0">
                <a:latin typeface="KB금융 본문체 Medium" panose="020B0603000000000000" pitchFamily="50" charset="-127"/>
                <a:ea typeface="KB금융 본문체 Medium" panose="020B0603000000000000" pitchFamily="50" charset="-127"/>
              </a:rPr>
              <a:t>1</a:t>
            </a:r>
            <a:r>
              <a:rPr lang="ko-KR" altLang="en-US" sz="1000" dirty="0">
                <a:latin typeface="KB금융 본문체 Medium" panose="020B0603000000000000" pitchFamily="50" charset="-127"/>
                <a:ea typeface="KB금융 본문체 Medium" panose="020B0603000000000000" pitchFamily="50" charset="-127"/>
              </a:rPr>
              <a:t>일</a:t>
            </a:r>
          </a:p>
          <a:p>
            <a:pPr>
              <a:buClr>
                <a:srgbClr val="FFC000"/>
              </a:buClr>
            </a:pPr>
            <a:r>
              <a:rPr lang="en-US" altLang="ko-KR" sz="1000" dirty="0" smtClean="0">
                <a:latin typeface="KB금융 본문체 Medium" panose="020B0603000000000000" pitchFamily="50" charset="-127"/>
                <a:ea typeface="KB금융 본문체 Medium" panose="020B0603000000000000" pitchFamily="50" charset="-127"/>
              </a:rPr>
              <a:t>          2</a:t>
            </a:r>
            <a:r>
              <a:rPr lang="en-US" altLang="ko-KR" sz="1000" dirty="0">
                <a:latin typeface="KB금융 본문체 Medium" panose="020B0603000000000000" pitchFamily="50" charset="-127"/>
                <a:ea typeface="KB금융 본문체 Medium" panose="020B0603000000000000" pitchFamily="50" charset="-127"/>
              </a:rPr>
              <a:t>. 100</a:t>
            </a:r>
            <a:r>
              <a:rPr lang="ko-KR" altLang="en-US" sz="1000" dirty="0" err="1">
                <a:latin typeface="KB금융 본문체 Medium" panose="020B0603000000000000" pitchFamily="50" charset="-127"/>
                <a:ea typeface="KB금융 본문체 Medium" panose="020B0603000000000000" pitchFamily="50" charset="-127"/>
              </a:rPr>
              <a:t>만명이상의정보주체에관한주민등록번호를보관하는개인정보처리자</a:t>
            </a:r>
            <a:r>
              <a:rPr lang="en-US" altLang="ko-KR" sz="1000" dirty="0">
                <a:latin typeface="KB금융 본문체 Medium" panose="020B0603000000000000" pitchFamily="50" charset="-127"/>
                <a:ea typeface="KB금융 본문체 Medium" panose="020B0603000000000000" pitchFamily="50" charset="-127"/>
              </a:rPr>
              <a:t>: 2018</a:t>
            </a:r>
            <a:r>
              <a:rPr lang="ko-KR" altLang="en-US" sz="1000" dirty="0">
                <a:latin typeface="KB금융 본문체 Medium" panose="020B0603000000000000" pitchFamily="50" charset="-127"/>
                <a:ea typeface="KB금융 본문체 Medium" panose="020B0603000000000000" pitchFamily="50" charset="-127"/>
              </a:rPr>
              <a:t>년</a:t>
            </a:r>
            <a:r>
              <a:rPr lang="en-US" altLang="ko-KR" sz="1000" dirty="0">
                <a:latin typeface="KB금융 본문체 Medium" panose="020B0603000000000000" pitchFamily="50" charset="-127"/>
                <a:ea typeface="KB금융 본문체 Medium" panose="020B0603000000000000" pitchFamily="50" charset="-127"/>
              </a:rPr>
              <a:t>1</a:t>
            </a:r>
            <a:r>
              <a:rPr lang="ko-KR" altLang="en-US" sz="1000" dirty="0">
                <a:latin typeface="KB금융 본문체 Medium" panose="020B0603000000000000" pitchFamily="50" charset="-127"/>
                <a:ea typeface="KB금융 본문체 Medium" panose="020B0603000000000000" pitchFamily="50" charset="-127"/>
              </a:rPr>
              <a:t>월</a:t>
            </a:r>
            <a:r>
              <a:rPr lang="en-US" altLang="ko-KR" sz="1000" dirty="0">
                <a:latin typeface="KB금융 본문체 Medium" panose="020B0603000000000000" pitchFamily="50" charset="-127"/>
                <a:ea typeface="KB금융 본문체 Medium" panose="020B0603000000000000" pitchFamily="50" charset="-127"/>
              </a:rPr>
              <a:t>1</a:t>
            </a:r>
            <a:r>
              <a:rPr lang="ko-KR" altLang="en-US" sz="1000" dirty="0">
                <a:latin typeface="KB금융 본문체 Medium" panose="020B0603000000000000" pitchFamily="50" charset="-127"/>
                <a:ea typeface="KB금융 본문체 Medium" panose="020B0603000000000000" pitchFamily="50" charset="-127"/>
              </a:rPr>
              <a:t>일</a:t>
            </a:r>
          </a:p>
        </p:txBody>
      </p:sp>
      <p:sp>
        <p:nvSpPr>
          <p:cNvPr id="103" name="AutoShape 55"/>
          <p:cNvSpPr>
            <a:spLocks noChangeArrowheads="1"/>
          </p:cNvSpPr>
          <p:nvPr/>
        </p:nvSpPr>
        <p:spPr bwMode="auto">
          <a:xfrm>
            <a:off x="1136576" y="4648746"/>
            <a:ext cx="8136000" cy="504000"/>
          </a:xfrm>
          <a:prstGeom prst="roundRect">
            <a:avLst>
              <a:gd name="adj" fmla="val 0"/>
            </a:avLst>
          </a:prstGeom>
          <a:pattFill prst="narHorz">
            <a:fgClr>
              <a:schemeClr val="bg1">
                <a:lumMod val="95000"/>
              </a:schemeClr>
            </a:fgClr>
            <a:bgClr>
              <a:schemeClr val="bg1"/>
            </a:bgClr>
          </a:pattFill>
          <a:ln w="19050">
            <a:noFill/>
            <a:round/>
            <a:headEnd/>
            <a:tailEnd/>
          </a:ln>
        </p:spPr>
        <p:txBody>
          <a:bodyPr wrap="none" tIns="72000" anchor="t" anchorCtr="0"/>
          <a:lstStyle/>
          <a:p>
            <a:pPr marL="171450" indent="-171450">
              <a:buClr>
                <a:srgbClr val="FFC000"/>
              </a:buClr>
              <a:buFont typeface="Wingdings" panose="05000000000000000000" pitchFamily="2" charset="2"/>
              <a:buChar char="§"/>
            </a:pPr>
            <a:r>
              <a:rPr lang="ko-KR" altLang="en-US" sz="1000" dirty="0" smtClean="0">
                <a:latin typeface="KB금융 본문체 Medium" panose="020B0603000000000000" pitchFamily="50" charset="-127"/>
                <a:ea typeface="KB금융 본문체 Medium" panose="020B0603000000000000" pitchFamily="50" charset="-127"/>
              </a:rPr>
              <a:t>고유식별정보</a:t>
            </a:r>
            <a:r>
              <a:rPr lang="en-US" altLang="ko-KR" sz="1000" dirty="0">
                <a:latin typeface="KB금융 본문체 Medium" panose="020B0603000000000000" pitchFamily="50" charset="-127"/>
                <a:ea typeface="KB금융 본문체 Medium" panose="020B0603000000000000" pitchFamily="50" charset="-127"/>
              </a:rPr>
              <a:t>, </a:t>
            </a:r>
            <a:r>
              <a:rPr lang="ko-KR" altLang="en-US" sz="1000" dirty="0">
                <a:latin typeface="KB금융 본문체 Medium" panose="020B0603000000000000" pitchFamily="50" charset="-127"/>
                <a:ea typeface="KB금융 본문체 Medium" panose="020B0603000000000000" pitchFamily="50" charset="-127"/>
              </a:rPr>
              <a:t>비밀번호 및 </a:t>
            </a:r>
            <a:r>
              <a:rPr lang="ko-KR" altLang="en-US" sz="1000" dirty="0" err="1">
                <a:latin typeface="KB금융 본문체 Medium" panose="020B0603000000000000" pitchFamily="50" charset="-127"/>
                <a:ea typeface="KB금융 본문체 Medium" panose="020B0603000000000000" pitchFamily="50" charset="-127"/>
              </a:rPr>
              <a:t>바이오정보가</a:t>
            </a:r>
            <a:r>
              <a:rPr lang="ko-KR" altLang="en-US" sz="1000" dirty="0">
                <a:latin typeface="KB금융 본문체 Medium" panose="020B0603000000000000" pitchFamily="50" charset="-127"/>
                <a:ea typeface="KB금융 본문체 Medium" panose="020B0603000000000000" pitchFamily="50" charset="-127"/>
              </a:rPr>
              <a:t> 개인정보처리시스템 등에 저장되거나 정보통신망을 통해 전송되는 경우 </a:t>
            </a:r>
            <a:r>
              <a:rPr lang="en-US" altLang="ko-KR" sz="1000" dirty="0">
                <a:latin typeface="KB금융 본문체 Medium" panose="020B0603000000000000" pitchFamily="50" charset="-127"/>
                <a:ea typeface="KB금융 본문체 Medium" panose="020B0603000000000000" pitchFamily="50" charset="-127"/>
              </a:rPr>
              <a:t>, </a:t>
            </a:r>
            <a:r>
              <a:rPr lang="ko-KR" altLang="en-US" sz="1000" dirty="0">
                <a:latin typeface="KB금융 본문체 Medium" panose="020B0603000000000000" pitchFamily="50" charset="-127"/>
                <a:ea typeface="KB금융 본문체 Medium" panose="020B0603000000000000" pitchFamily="50" charset="-127"/>
              </a:rPr>
              <a:t>노출 및 </a:t>
            </a:r>
            <a:r>
              <a:rPr lang="ko-KR" altLang="en-US" sz="1000" dirty="0" smtClean="0">
                <a:latin typeface="KB금융 본문체 Medium" panose="020B0603000000000000" pitchFamily="50" charset="-127"/>
                <a:ea typeface="KB금융 본문체 Medium" panose="020B0603000000000000" pitchFamily="50" charset="-127"/>
              </a:rPr>
              <a:t>위</a:t>
            </a:r>
            <a:r>
              <a:rPr lang="fr-FR" altLang="ko-KR" sz="1000" dirty="0" smtClean="0">
                <a:latin typeface="KB금융 본문체 Medium" panose="020B0603000000000000" pitchFamily="50" charset="-127"/>
                <a:ea typeface="KB금융 본문체 Medium" panose="020B0603000000000000" pitchFamily="50" charset="-127"/>
              </a:rPr>
              <a:t>·</a:t>
            </a:r>
            <a:r>
              <a:rPr lang="ko-KR" altLang="en-US" sz="1000" dirty="0" smtClean="0">
                <a:latin typeface="KB금융 본문체 Medium" panose="020B0603000000000000" pitchFamily="50" charset="-127"/>
                <a:ea typeface="KB금융 본문체 Medium" panose="020B0603000000000000" pitchFamily="50" charset="-127"/>
              </a:rPr>
              <a:t>변조 </a:t>
            </a:r>
            <a:r>
              <a:rPr lang="ko-KR" altLang="en-US" sz="1000" dirty="0">
                <a:latin typeface="KB금융 본문체 Medium" panose="020B0603000000000000" pitchFamily="50" charset="-127"/>
                <a:ea typeface="KB금융 본문체 Medium" panose="020B0603000000000000" pitchFamily="50" charset="-127"/>
              </a:rPr>
              <a:t>등을 </a:t>
            </a:r>
            <a:r>
              <a:rPr lang="ko-KR" altLang="en-US" sz="1000" dirty="0" smtClean="0">
                <a:latin typeface="KB금융 본문체 Medium" panose="020B0603000000000000" pitchFamily="50" charset="-127"/>
                <a:ea typeface="KB금융 본문체 Medium" panose="020B0603000000000000" pitchFamily="50" charset="-127"/>
              </a:rPr>
              <a:t>방지하기 위하여</a:t>
            </a:r>
            <a:endParaRPr lang="en-US" altLang="ko-KR" sz="1000" dirty="0" smtClean="0">
              <a:latin typeface="KB금융 본문체 Medium" panose="020B0603000000000000" pitchFamily="50" charset="-127"/>
              <a:ea typeface="KB금융 본문체 Medium" panose="020B0603000000000000" pitchFamily="50" charset="-127"/>
            </a:endParaRPr>
          </a:p>
          <a:p>
            <a:pPr>
              <a:buClr>
                <a:srgbClr val="FFC000"/>
              </a:buClr>
            </a:pPr>
            <a:r>
              <a:rPr lang="en-US" altLang="ko-KR" sz="1000" dirty="0">
                <a:latin typeface="KB금융 본문체 Medium" panose="020B0603000000000000" pitchFamily="50" charset="-127"/>
                <a:ea typeface="KB금융 본문체 Medium" panose="020B0603000000000000" pitchFamily="50" charset="-127"/>
              </a:rPr>
              <a:t> </a:t>
            </a:r>
            <a:r>
              <a:rPr lang="en-US" altLang="ko-KR" sz="1000" dirty="0" smtClean="0">
                <a:latin typeface="KB금융 본문체 Medium" panose="020B0603000000000000" pitchFamily="50" charset="-127"/>
                <a:ea typeface="KB금융 본문체 Medium" panose="020B0603000000000000" pitchFamily="50" charset="-127"/>
              </a:rPr>
              <a:t>   </a:t>
            </a:r>
            <a:r>
              <a:rPr lang="ko-KR" altLang="en-US" sz="1000" dirty="0" smtClean="0">
                <a:latin typeface="KB금융 본문체 Medium" panose="020B0603000000000000" pitchFamily="50" charset="-127"/>
                <a:ea typeface="KB금융 본문체 Medium" panose="020B0603000000000000" pitchFamily="50" charset="-127"/>
              </a:rPr>
              <a:t> </a:t>
            </a:r>
            <a:r>
              <a:rPr lang="ko-KR" altLang="en-US" sz="1000" dirty="0">
                <a:latin typeface="KB금융 본문체 Medium" panose="020B0603000000000000" pitchFamily="50" charset="-127"/>
                <a:ea typeface="KB금융 본문체 Medium" panose="020B0603000000000000" pitchFamily="50" charset="-127"/>
              </a:rPr>
              <a:t>이 기준 제</a:t>
            </a:r>
            <a:r>
              <a:rPr lang="en-US" altLang="ko-KR" sz="1000" dirty="0">
                <a:latin typeface="KB금융 본문체 Medium" panose="020B0603000000000000" pitchFamily="50" charset="-127"/>
                <a:ea typeface="KB금융 본문체 Medium" panose="020B0603000000000000" pitchFamily="50" charset="-127"/>
              </a:rPr>
              <a:t>7</a:t>
            </a:r>
            <a:r>
              <a:rPr lang="ko-KR" altLang="en-US" sz="1000" dirty="0">
                <a:latin typeface="KB금융 본문체 Medium" panose="020B0603000000000000" pitchFamily="50" charset="-127"/>
                <a:ea typeface="KB금융 본문체 Medium" panose="020B0603000000000000" pitchFamily="50" charset="-127"/>
              </a:rPr>
              <a:t>조</a:t>
            </a:r>
            <a:r>
              <a:rPr lang="en-US" altLang="ko-KR" sz="1000" dirty="0">
                <a:latin typeface="KB금융 본문체 Medium" panose="020B0603000000000000" pitchFamily="50" charset="-127"/>
                <a:ea typeface="KB금융 본문체 Medium" panose="020B0603000000000000" pitchFamily="50" charset="-127"/>
              </a:rPr>
              <a:t>(</a:t>
            </a:r>
            <a:r>
              <a:rPr lang="ko-KR" altLang="en-US" sz="1000" dirty="0">
                <a:latin typeface="KB금융 본문체 Medium" panose="020B0603000000000000" pitchFamily="50" charset="-127"/>
                <a:ea typeface="KB금융 본문체 Medium" panose="020B0603000000000000" pitchFamily="50" charset="-127"/>
              </a:rPr>
              <a:t>개인정보의 암호화</a:t>
            </a:r>
            <a:r>
              <a:rPr lang="en-US" altLang="ko-KR" sz="1000" dirty="0">
                <a:latin typeface="KB금융 본문체 Medium" panose="020B0603000000000000" pitchFamily="50" charset="-127"/>
                <a:ea typeface="KB금융 본문체 Medium" panose="020B0603000000000000" pitchFamily="50" charset="-127"/>
              </a:rPr>
              <a:t>)</a:t>
            </a:r>
            <a:r>
              <a:rPr lang="ko-KR" altLang="en-US" sz="1000" dirty="0">
                <a:latin typeface="KB금융 본문체 Medium" panose="020B0603000000000000" pitchFamily="50" charset="-127"/>
                <a:ea typeface="KB금융 본문체 Medium" panose="020B0603000000000000" pitchFamily="50" charset="-127"/>
              </a:rPr>
              <a:t>에 관한 사항을 포함하여야 한다</a:t>
            </a:r>
            <a:r>
              <a:rPr lang="en-US" altLang="ko-KR" sz="1000" dirty="0">
                <a:latin typeface="KB금융 본문체 Medium" panose="020B0603000000000000" pitchFamily="50" charset="-127"/>
                <a:ea typeface="KB금융 본문체 Medium" panose="020B0603000000000000" pitchFamily="50" charset="-127"/>
              </a:rPr>
              <a:t>.</a:t>
            </a:r>
            <a:endParaRPr lang="ko-KR" altLang="en-US" sz="1000" dirty="0">
              <a:latin typeface="KB금융 본문체 Medium" panose="020B0603000000000000" pitchFamily="50" charset="-127"/>
              <a:ea typeface="KB금융 본문체 Medium" panose="020B0603000000000000" pitchFamily="50" charset="-127"/>
            </a:endParaRPr>
          </a:p>
        </p:txBody>
      </p:sp>
      <p:sp>
        <p:nvSpPr>
          <p:cNvPr id="104" name="AutoShape 55"/>
          <p:cNvSpPr>
            <a:spLocks noChangeArrowheads="1"/>
          </p:cNvSpPr>
          <p:nvPr/>
        </p:nvSpPr>
        <p:spPr bwMode="auto">
          <a:xfrm>
            <a:off x="1136576" y="5661304"/>
            <a:ext cx="8136000" cy="504000"/>
          </a:xfrm>
          <a:prstGeom prst="roundRect">
            <a:avLst>
              <a:gd name="adj" fmla="val 0"/>
            </a:avLst>
          </a:prstGeom>
          <a:pattFill prst="narHorz">
            <a:fgClr>
              <a:schemeClr val="bg1">
                <a:lumMod val="95000"/>
              </a:schemeClr>
            </a:fgClr>
            <a:bgClr>
              <a:schemeClr val="bg1"/>
            </a:bgClr>
          </a:pattFill>
          <a:ln w="19050">
            <a:noFill/>
            <a:round/>
            <a:headEnd/>
            <a:tailEnd/>
          </a:ln>
        </p:spPr>
        <p:txBody>
          <a:bodyPr wrap="none" tIns="72000" anchor="t" anchorCtr="0"/>
          <a:lstStyle/>
          <a:p>
            <a:pPr marL="171450" indent="-171450">
              <a:buClr>
                <a:srgbClr val="FFC000"/>
              </a:buClr>
              <a:buFont typeface="Wingdings" panose="05000000000000000000" pitchFamily="2" charset="2"/>
              <a:buChar char="§"/>
            </a:pPr>
            <a:r>
              <a:rPr lang="ko-KR" altLang="en-US" sz="1000">
                <a:latin typeface="KB금융 본문체 Medium" panose="020B0603000000000000" pitchFamily="50" charset="-127"/>
                <a:ea typeface="KB금융 본문체 Medium" panose="020B0603000000000000" pitchFamily="50" charset="-127"/>
              </a:rPr>
              <a:t>정보처리시스템에서 처리되는 정보의 권한 없는 사용자에 대한 비밀 보장을 위한 </a:t>
            </a:r>
            <a:r>
              <a:rPr lang="ko-KR" altLang="en-US" sz="1000" smtClean="0">
                <a:latin typeface="KB금융 본문체 Medium" panose="020B0603000000000000" pitchFamily="50" charset="-127"/>
                <a:ea typeface="KB금융 본문체 Medium" panose="020B0603000000000000" pitchFamily="50" charset="-127"/>
              </a:rPr>
              <a:t>암호화</a:t>
            </a:r>
            <a:endParaRPr lang="en-US" altLang="ko-KR" sz="1000" smtClean="0">
              <a:latin typeface="KB금융 본문체 Medium" panose="020B0603000000000000" pitchFamily="50" charset="-127"/>
              <a:ea typeface="KB금융 본문체 Medium" panose="020B0603000000000000" pitchFamily="50" charset="-127"/>
            </a:endParaRPr>
          </a:p>
          <a:p>
            <a:pPr marL="171450" indent="-171450">
              <a:buClr>
                <a:srgbClr val="FFC000"/>
              </a:buClr>
              <a:buFont typeface="Wingdings" panose="05000000000000000000" pitchFamily="2" charset="2"/>
              <a:buChar char="§"/>
            </a:pPr>
            <a:r>
              <a:rPr lang="ko-KR" altLang="en-US" sz="1000">
                <a:latin typeface="KB금융 본문체 Medium" panose="020B0603000000000000" pitchFamily="50" charset="-127"/>
                <a:ea typeface="KB금융 본문체 Medium" panose="020B0603000000000000" pitchFamily="50" charset="-127"/>
              </a:rPr>
              <a:t>고객 또는 임직원 중요 정보의 입력에서 최종 저장까지의 과정 동안 권한 없는 사용자에 대한 유출 방지</a:t>
            </a:r>
            <a:endParaRPr lang="en-US" altLang="ko-KR" sz="1000" dirty="0" smtClean="0">
              <a:latin typeface="KB금융 본문체 Medium" panose="020B0603000000000000" pitchFamily="50" charset="-127"/>
              <a:ea typeface="KB금융 본문체 Medium" panose="020B0603000000000000" pitchFamily="50" charset="-127"/>
            </a:endParaRPr>
          </a:p>
        </p:txBody>
      </p:sp>
    </p:spTree>
    <p:extLst>
      <p:ext uri="{BB962C8B-B14F-4D97-AF65-F5344CB8AC3E}">
        <p14:creationId xmlns:p14="http://schemas.microsoft.com/office/powerpoint/2010/main" val="4806593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en-US" altLang="ko-KR" dirty="0"/>
              <a:t>2</a:t>
            </a:r>
            <a:r>
              <a:rPr lang="en-US" altLang="ko-KR" smtClean="0"/>
              <a:t>. </a:t>
            </a:r>
            <a:r>
              <a:rPr lang="ko-KR" altLang="en-US" smtClean="0"/>
              <a:t>암호화 적용대상</a:t>
            </a:r>
            <a:endParaRPr lang="ko-KR" altLang="en-US" dirty="0"/>
          </a:p>
        </p:txBody>
      </p:sp>
      <p:sp>
        <p:nvSpPr>
          <p:cNvPr id="56" name="Rectangle 3"/>
          <p:cNvSpPr>
            <a:spLocks noChangeArrowheads="1"/>
          </p:cNvSpPr>
          <p:nvPr/>
        </p:nvSpPr>
        <p:spPr bwMode="auto">
          <a:xfrm>
            <a:off x="308484" y="764704"/>
            <a:ext cx="9144000" cy="351186"/>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ko-KR" altLang="en-US" sz="1400" b="1" smtClean="0">
                <a:latin typeface="KB금융 본문체 Light" panose="020B0303000000000000" pitchFamily="50" charset="-127"/>
                <a:ea typeface="KB금융 본문체 Light" panose="020B0303000000000000" pitchFamily="50" charset="-127"/>
                <a:cs typeface="ヒラギノ角ゴ ProN W3"/>
              </a:rPr>
              <a:t>관련 법률</a:t>
            </a:r>
            <a:r>
              <a:rPr lang="en-US" altLang="ko-KR" sz="1400" b="1" smtClean="0">
                <a:latin typeface="KB금융 본문체 Light" panose="020B0303000000000000" pitchFamily="50" charset="-127"/>
                <a:ea typeface="KB금융 본문체 Light" panose="020B0303000000000000" pitchFamily="50" charset="-127"/>
                <a:cs typeface="ヒラギノ角ゴ ProN W3"/>
              </a:rPr>
              <a:t>·</a:t>
            </a:r>
            <a:r>
              <a:rPr lang="ko-KR" altLang="en-US" sz="1400" b="1" smtClean="0">
                <a:latin typeface="KB금융 본문체 Light" panose="020B0303000000000000" pitchFamily="50" charset="-127"/>
                <a:ea typeface="KB금융 본문체 Light" panose="020B0303000000000000" pitchFamily="50" charset="-127"/>
                <a:cs typeface="ヒラギノ角ゴ ProN W3"/>
              </a:rPr>
              <a:t>규정별 적용 대상 비교</a:t>
            </a:r>
            <a:endParaRPr lang="en-US" altLang="ko-KR" sz="1400" b="1"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21" name="Rectangle 3"/>
          <p:cNvSpPr>
            <a:spLocks noChangeArrowheads="1"/>
          </p:cNvSpPr>
          <p:nvPr/>
        </p:nvSpPr>
        <p:spPr bwMode="auto">
          <a:xfrm>
            <a:off x="699993" y="1142438"/>
            <a:ext cx="8753507" cy="609398"/>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ko-KR" altLang="en-US" sz="1200" smtClean="0">
                <a:latin typeface="KB금융 본문체 Light" panose="020B0303000000000000" pitchFamily="50" charset="-127"/>
                <a:ea typeface="KB금융 본문체 Light" panose="020B0303000000000000" pitchFamily="50" charset="-127"/>
                <a:cs typeface="ヒラギノ角ゴ ProN W3"/>
              </a:rPr>
              <a:t>암화화 적용 대상은 법률</a:t>
            </a:r>
            <a:r>
              <a:rPr lang="en-US" altLang="ko-KR" sz="1200" smtClean="0">
                <a:latin typeface="KB금융 본문체 Light" panose="020B0303000000000000" pitchFamily="50" charset="-127"/>
                <a:ea typeface="KB금융 본문체 Light" panose="020B0303000000000000" pitchFamily="50" charset="-127"/>
                <a:cs typeface="ヒラギノ角ゴ ProN W3"/>
              </a:rPr>
              <a:t>·</a:t>
            </a:r>
            <a:r>
              <a:rPr lang="ko-KR" altLang="en-US" sz="1200" smtClean="0">
                <a:latin typeface="KB금융 본문체 Light" panose="020B0303000000000000" pitchFamily="50" charset="-127"/>
                <a:ea typeface="KB금융 본문체 Light" panose="020B0303000000000000" pitchFamily="50" charset="-127"/>
                <a:cs typeface="ヒラギノ角ゴ ProN W3"/>
              </a:rPr>
              <a:t>규정별로 상이하므로 유관기관과의 협의를 통해 적용하여야 함</a:t>
            </a:r>
            <a:endParaRPr lang="en-US" altLang="ko-KR" sz="1200" smtClean="0">
              <a:latin typeface="KB금융 본문체 Light" panose="020B0303000000000000" pitchFamily="50" charset="-127"/>
              <a:ea typeface="KB금융 본문체 Light" panose="020B0303000000000000" pitchFamily="50" charset="-127"/>
              <a:cs typeface="ヒラギノ角ゴ ProN W3"/>
            </a:endParaRPr>
          </a:p>
          <a:p>
            <a:pPr marL="285750" indent="-285750">
              <a:lnSpc>
                <a:spcPct val="130000"/>
              </a:lnSpc>
              <a:spcBef>
                <a:spcPct val="20000"/>
              </a:spcBef>
              <a:buSzPct val="100000"/>
              <a:buFont typeface="Wingdings" panose="05000000000000000000" pitchFamily="2" charset="2"/>
              <a:buChar char="l"/>
            </a:pPr>
            <a:r>
              <a:rPr lang="en-US" altLang="ko-KR" sz="1200">
                <a:latin typeface="KB금융 본문체 Light" panose="020B0303000000000000" pitchFamily="50" charset="-127"/>
                <a:ea typeface="KB금융 본문체 Light" panose="020B0303000000000000" pitchFamily="50" charset="-127"/>
                <a:cs typeface="ヒラギノ角ゴ ProN W3"/>
              </a:rPr>
              <a:t>DB, </a:t>
            </a:r>
            <a:r>
              <a:rPr lang="ko-KR" altLang="en-US" sz="1200">
                <a:latin typeface="KB금융 본문체 Light" panose="020B0303000000000000" pitchFamily="50" charset="-127"/>
                <a:ea typeface="KB금융 본문체 Light" panose="020B0303000000000000" pitchFamily="50" charset="-127"/>
                <a:cs typeface="ヒラギノ角ゴ ProN W3"/>
              </a:rPr>
              <a:t>파일</a:t>
            </a:r>
            <a:r>
              <a:rPr lang="en-US" altLang="ko-KR" sz="1200">
                <a:latin typeface="KB금융 본문체 Light" panose="020B0303000000000000" pitchFamily="50" charset="-127"/>
                <a:ea typeface="KB금융 본문체 Light" panose="020B0303000000000000" pitchFamily="50" charset="-127"/>
                <a:cs typeface="ヒラギノ角ゴ ProN W3"/>
              </a:rPr>
              <a:t>, </a:t>
            </a:r>
            <a:r>
              <a:rPr lang="ko-KR" altLang="en-US" sz="1200">
                <a:latin typeface="KB금융 본문체 Light" panose="020B0303000000000000" pitchFamily="50" charset="-127"/>
                <a:ea typeface="KB금융 본문체 Light" panose="020B0303000000000000" pitchFamily="50" charset="-127"/>
                <a:cs typeface="ヒラギノ角ゴ ProN W3"/>
              </a:rPr>
              <a:t>이미지</a:t>
            </a:r>
            <a:r>
              <a:rPr lang="en-US" altLang="ko-KR" sz="1200">
                <a:latin typeface="KB금융 본문체 Light" panose="020B0303000000000000" pitchFamily="50" charset="-127"/>
                <a:ea typeface="KB금융 본문체 Light" panose="020B0303000000000000" pitchFamily="50" charset="-127"/>
                <a:cs typeface="ヒラギノ角ゴ ProN W3"/>
              </a:rPr>
              <a:t>, </a:t>
            </a:r>
            <a:r>
              <a:rPr lang="ko-KR" altLang="en-US" sz="1200">
                <a:latin typeface="KB금융 본문체 Light" panose="020B0303000000000000" pitchFamily="50" charset="-127"/>
                <a:ea typeface="KB금융 본문체 Light" panose="020B0303000000000000" pitchFamily="50" charset="-127"/>
                <a:cs typeface="ヒラギノ角ゴ ProN W3"/>
              </a:rPr>
              <a:t>녹취 등 확대된 감독기관의 가이드라인에서 제시하는 </a:t>
            </a:r>
            <a:r>
              <a:rPr lang="ko-KR" altLang="en-US" sz="1200" smtClean="0">
                <a:latin typeface="KB금융 본문체 Light" panose="020B0303000000000000" pitchFamily="50" charset="-127"/>
                <a:ea typeface="KB금융 본문체 Light" panose="020B0303000000000000" pitchFamily="50" charset="-127"/>
                <a:cs typeface="ヒラギノ角ゴ ProN W3"/>
              </a:rPr>
              <a:t>범위를 포함하여 개인정보의 안전성을 확보함</a:t>
            </a:r>
            <a:endParaRPr lang="en-US" altLang="ko-KR" sz="1200" dirty="0" smtClean="0">
              <a:latin typeface="KB금융 본문체 Light" panose="020B0303000000000000" pitchFamily="50" charset="-127"/>
              <a:ea typeface="KB금융 본문체 Light" panose="020B0303000000000000" pitchFamily="50" charset="-127"/>
              <a:cs typeface="ヒラギノ角ゴ ProN W3"/>
            </a:endParaRPr>
          </a:p>
        </p:txBody>
      </p:sp>
      <p:graphicFrame>
        <p:nvGraphicFramePr>
          <p:cNvPr id="18" name="표 17"/>
          <p:cNvGraphicFramePr>
            <a:graphicFrameLocks noGrp="1"/>
          </p:cNvGraphicFramePr>
          <p:nvPr>
            <p:extLst>
              <p:ext uri="{D42A27DB-BD31-4B8C-83A1-F6EECF244321}">
                <p14:modId xmlns:p14="http://schemas.microsoft.com/office/powerpoint/2010/main" val="442738179"/>
              </p:ext>
            </p:extLst>
          </p:nvPr>
        </p:nvGraphicFramePr>
        <p:xfrm>
          <a:off x="381884" y="1781128"/>
          <a:ext cx="9138356" cy="3844115"/>
        </p:xfrm>
        <a:graphic>
          <a:graphicData uri="http://schemas.openxmlformats.org/drawingml/2006/table">
            <a:tbl>
              <a:tblPr firstRow="1" bandRow="1">
                <a:tableStyleId>{93296810-A885-4BE3-A3E7-6D5BEEA58F35}</a:tableStyleId>
              </a:tblPr>
              <a:tblGrid>
                <a:gridCol w="1042724">
                  <a:extLst>
                    <a:ext uri="{9D8B030D-6E8A-4147-A177-3AD203B41FA5}">
                      <a16:colId xmlns:a16="http://schemas.microsoft.com/office/drawing/2014/main" val="20000"/>
                    </a:ext>
                  </a:extLst>
                </a:gridCol>
                <a:gridCol w="2880320">
                  <a:extLst>
                    <a:ext uri="{9D8B030D-6E8A-4147-A177-3AD203B41FA5}">
                      <a16:colId xmlns:a16="http://schemas.microsoft.com/office/drawing/2014/main" val="20001"/>
                    </a:ext>
                  </a:extLst>
                </a:gridCol>
                <a:gridCol w="2516768">
                  <a:extLst>
                    <a:ext uri="{9D8B030D-6E8A-4147-A177-3AD203B41FA5}">
                      <a16:colId xmlns:a16="http://schemas.microsoft.com/office/drawing/2014/main" val="3114955219"/>
                    </a:ext>
                  </a:extLst>
                </a:gridCol>
                <a:gridCol w="2698544">
                  <a:extLst>
                    <a:ext uri="{9D8B030D-6E8A-4147-A177-3AD203B41FA5}">
                      <a16:colId xmlns:a16="http://schemas.microsoft.com/office/drawing/2014/main" val="2715995840"/>
                    </a:ext>
                  </a:extLst>
                </a:gridCol>
              </a:tblGrid>
              <a:tr h="370467">
                <a:tc>
                  <a:txBody>
                    <a:bodyPr/>
                    <a:lstStyle/>
                    <a:p>
                      <a:pPr algn="ctr" fontAlgn="ctr"/>
                      <a:r>
                        <a:rPr lang="ko-KR" altLang="en-US" sz="1200" b="1" i="0" u="none" strike="noStrike" dirty="0" smtClean="0">
                          <a:solidFill>
                            <a:schemeClr val="tx1"/>
                          </a:solidFill>
                          <a:latin typeface="+mn-ea"/>
                          <a:ea typeface="+mn-ea"/>
                        </a:rPr>
                        <a:t>구분</a:t>
                      </a:r>
                      <a:endParaRPr lang="en-US" sz="1200" b="1" i="0" u="none" strike="noStrike" dirty="0">
                        <a:solidFill>
                          <a:schemeClr val="tx1"/>
                        </a:solidFill>
                        <a:latin typeface="+mn-ea"/>
                        <a:ea typeface="+mn-ea"/>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r>
                        <a:rPr lang="ko-KR" altLang="en-US" sz="1200" b="1" i="0" u="none" strike="noStrike" kern="1200" smtClean="0">
                          <a:solidFill>
                            <a:schemeClr val="tx1"/>
                          </a:solidFill>
                          <a:latin typeface="+mn-ea"/>
                          <a:ea typeface="+mn-ea"/>
                          <a:cs typeface="+mn-cs"/>
                        </a:rPr>
                        <a:t>개인정보보호법</a:t>
                      </a:r>
                      <a:endParaRPr lang="ko-KR" altLang="en-US" sz="1200" b="1"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r>
                        <a:rPr lang="ko-KR" altLang="en-US" sz="1200" b="1" i="0" u="none" strike="noStrike" kern="1200" smtClean="0">
                          <a:solidFill>
                            <a:schemeClr val="tx1"/>
                          </a:solidFill>
                          <a:latin typeface="+mn-ea"/>
                          <a:ea typeface="+mn-ea"/>
                          <a:cs typeface="+mn-cs"/>
                        </a:rPr>
                        <a:t>신용정보법</a:t>
                      </a:r>
                      <a:r>
                        <a:rPr lang="en-US" altLang="ko-KR" sz="1200" b="1" i="0" u="none" strike="noStrike" kern="1200" smtClean="0">
                          <a:solidFill>
                            <a:schemeClr val="tx1"/>
                          </a:solidFill>
                          <a:latin typeface="+mn-ea"/>
                          <a:ea typeface="+mn-ea"/>
                          <a:cs typeface="+mn-cs"/>
                        </a:rPr>
                        <a:t>(</a:t>
                      </a:r>
                      <a:r>
                        <a:rPr lang="ko-KR" altLang="en-US" sz="1200" b="1" i="0" u="none" strike="noStrike" kern="1200" smtClean="0">
                          <a:solidFill>
                            <a:schemeClr val="tx1"/>
                          </a:solidFill>
                          <a:latin typeface="+mn-ea"/>
                          <a:ea typeface="+mn-ea"/>
                          <a:cs typeface="+mn-cs"/>
                        </a:rPr>
                        <a:t>감독규정</a:t>
                      </a:r>
                      <a:r>
                        <a:rPr lang="en-US" altLang="ko-KR" sz="1200" b="1" i="0" u="none" strike="noStrike" kern="1200" smtClean="0">
                          <a:solidFill>
                            <a:schemeClr val="tx1"/>
                          </a:solidFill>
                          <a:latin typeface="+mn-ea"/>
                          <a:ea typeface="+mn-ea"/>
                          <a:cs typeface="+mn-cs"/>
                        </a:rPr>
                        <a:t>)</a:t>
                      </a:r>
                      <a:endParaRPr lang="ko-KR" altLang="en-US" sz="1200" b="1"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r>
                        <a:rPr lang="ko-KR" altLang="en-US" sz="1200" b="1" i="0" u="none" strike="noStrike" kern="1200" smtClean="0">
                          <a:solidFill>
                            <a:schemeClr val="tx1"/>
                          </a:solidFill>
                          <a:latin typeface="+mn-ea"/>
                          <a:ea typeface="+mn-ea"/>
                          <a:cs typeface="+mn-cs"/>
                        </a:rPr>
                        <a:t>정보통신망법</a:t>
                      </a:r>
                      <a:endParaRPr lang="ko-KR" altLang="en-US" sz="1200" b="1"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000"/>
                  </a:ext>
                </a:extLst>
              </a:tr>
              <a:tr h="891449">
                <a:tc>
                  <a:txBody>
                    <a:bodyPr/>
                    <a:lstStyle/>
                    <a:p>
                      <a:pPr marL="0" marR="0" indent="0" algn="ctr" defTabSz="914400" rtl="0" eaLnBrk="1" fontAlgn="auto" latinLnBrk="1" hangingPunct="1">
                        <a:lnSpc>
                          <a:spcPct val="150000"/>
                        </a:lnSpc>
                        <a:spcBef>
                          <a:spcPts val="0"/>
                        </a:spcBef>
                        <a:spcAft>
                          <a:spcPts val="0"/>
                        </a:spcAft>
                        <a:buClrTx/>
                        <a:buSzTx/>
                        <a:buFontTx/>
                        <a:buNone/>
                        <a:tabLst/>
                        <a:defRPr/>
                      </a:pPr>
                      <a:r>
                        <a:rPr lang="ko-KR" altLang="en-US" sz="1200" smtClean="0">
                          <a:latin typeface="+mn-ea"/>
                          <a:ea typeface="+mn-ea"/>
                        </a:rPr>
                        <a:t>암호화 대상</a:t>
                      </a:r>
                      <a:endParaRPr lang="ko-KR" altLang="en-US" sz="1200" dirty="0">
                        <a:latin typeface="+mn-ea"/>
                        <a:ea typeface="+mn-ea"/>
                      </a:endParaRPr>
                    </a:p>
                  </a:txBody>
                  <a:tcPr marL="38080" marR="38080" marT="38094" marB="38094">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50000"/>
                        </a:lnSpc>
                        <a:spcBef>
                          <a:spcPts val="0"/>
                        </a:spcBef>
                        <a:spcAft>
                          <a:spcPts val="0"/>
                        </a:spcAft>
                        <a:buClrTx/>
                        <a:buSzTx/>
                        <a:buFont typeface="Wingdings" panose="05000000000000000000" pitchFamily="2" charset="2"/>
                        <a:buNone/>
                        <a:tabLst/>
                        <a:defRPr/>
                      </a:pPr>
                      <a:r>
                        <a:rPr lang="ko-KR" alt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altLang="en-US" sz="1200" b="0" smtClean="0">
                          <a:solidFill>
                            <a:schemeClr val="tx1"/>
                          </a:solidFill>
                          <a:latin typeface="+mn-ea"/>
                          <a:ea typeface="+mn-ea"/>
                        </a:rPr>
                        <a:t>고유식별번호</a:t>
                      </a:r>
                      <a:r>
                        <a:rPr lang="ko-KR" altLang="en-US" sz="1200" b="0" baseline="30000" smtClean="0">
                          <a:solidFill>
                            <a:schemeClr val="tx1"/>
                          </a:solidFill>
                          <a:latin typeface="+mn-ea"/>
                          <a:ea typeface="+mn-ea"/>
                        </a:rPr>
                        <a:t>주</a:t>
                      </a:r>
                      <a:r>
                        <a:rPr lang="en-US" altLang="ko-KR" sz="1200" b="0" baseline="30000" smtClean="0">
                          <a:solidFill>
                            <a:schemeClr val="tx1"/>
                          </a:solidFill>
                          <a:latin typeface="+mn-ea"/>
                          <a:ea typeface="+mn-ea"/>
                        </a:rPr>
                        <a:t>1)</a:t>
                      </a:r>
                      <a:r>
                        <a:rPr lang="en-US" altLang="ko-KR" sz="1200" b="0" smtClean="0">
                          <a:solidFill>
                            <a:schemeClr val="tx1"/>
                          </a:solidFill>
                          <a:latin typeface="+mn-ea"/>
                          <a:ea typeface="+mn-ea"/>
                        </a:rPr>
                        <a:t>, </a:t>
                      </a:r>
                      <a:r>
                        <a:rPr lang="ko-KR" altLang="en-US" sz="1200" b="0" smtClean="0">
                          <a:solidFill>
                            <a:schemeClr val="tx1"/>
                          </a:solidFill>
                          <a:latin typeface="+mn-ea"/>
                          <a:ea typeface="+mn-ea"/>
                        </a:rPr>
                        <a:t>비밀번호</a:t>
                      </a:r>
                      <a:r>
                        <a:rPr lang="en-US" altLang="ko-KR" sz="1200" b="0" smtClean="0">
                          <a:solidFill>
                            <a:schemeClr val="tx1"/>
                          </a:solidFill>
                          <a:latin typeface="+mn-ea"/>
                          <a:ea typeface="+mn-ea"/>
                        </a:rPr>
                        <a:t>, </a:t>
                      </a:r>
                      <a:r>
                        <a:rPr lang="ko-KR" altLang="en-US" sz="1200" b="0" smtClean="0">
                          <a:solidFill>
                            <a:schemeClr val="tx1"/>
                          </a:solidFill>
                          <a:latin typeface="+mn-ea"/>
                          <a:ea typeface="+mn-ea"/>
                        </a:rPr>
                        <a:t>바이오정보</a:t>
                      </a:r>
                      <a:r>
                        <a:rPr lang="ko-KR" altLang="en-US" sz="1200" b="0" baseline="30000" smtClean="0">
                          <a:solidFill>
                            <a:schemeClr val="tx1"/>
                          </a:solidFill>
                          <a:latin typeface="+mn-ea"/>
                          <a:ea typeface="+mn-ea"/>
                        </a:rPr>
                        <a:t>주</a:t>
                      </a:r>
                      <a:r>
                        <a:rPr lang="en-US" altLang="ko-KR" sz="1200" b="0" baseline="30000" smtClean="0">
                          <a:solidFill>
                            <a:schemeClr val="tx1"/>
                          </a:solidFill>
                          <a:latin typeface="+mn-ea"/>
                          <a:ea typeface="+mn-ea"/>
                        </a:rPr>
                        <a:t>2)</a:t>
                      </a:r>
                    </a:p>
                  </a:txBody>
                  <a:tcPr marL="38080" marR="38080" marT="38094" marB="38094">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150000"/>
                        </a:lnSpc>
                        <a:spcBef>
                          <a:spcPts val="0"/>
                        </a:spcBef>
                        <a:spcAft>
                          <a:spcPts val="0"/>
                        </a:spcAft>
                        <a:buClrTx/>
                        <a:buSzTx/>
                        <a:buFont typeface="Wingdings" panose="05000000000000000000" pitchFamily="2" charset="2"/>
                        <a:buNone/>
                        <a:tabLst/>
                        <a:defRPr/>
                      </a:pPr>
                      <a:r>
                        <a:rPr lang="ko-KR" alt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altLang="en-US" sz="1200" b="0" smtClean="0">
                          <a:solidFill>
                            <a:schemeClr val="tx1"/>
                          </a:solidFill>
                          <a:latin typeface="+mn-ea"/>
                          <a:ea typeface="+mn-ea"/>
                        </a:rPr>
                        <a:t>본인 인증정보</a:t>
                      </a:r>
                      <a:r>
                        <a:rPr lang="en-US" altLang="ko-KR" sz="1200" b="0" smtClean="0">
                          <a:solidFill>
                            <a:schemeClr val="tx1"/>
                          </a:solidFill>
                          <a:latin typeface="+mn-ea"/>
                          <a:ea typeface="+mn-ea"/>
                        </a:rPr>
                        <a:t>, </a:t>
                      </a:r>
                      <a:r>
                        <a:rPr lang="ko-KR" altLang="en-US" sz="1200" b="0" smtClean="0">
                          <a:solidFill>
                            <a:schemeClr val="tx1"/>
                          </a:solidFill>
                          <a:latin typeface="+mn-ea"/>
                          <a:ea typeface="+mn-ea"/>
                        </a:rPr>
                        <a:t>개인신용정보</a:t>
                      </a:r>
                      <a:endParaRPr lang="ko-KR" altLang="en-US" sz="1200" b="0" dirty="0">
                        <a:solidFill>
                          <a:schemeClr val="tx1"/>
                        </a:solidFill>
                        <a:latin typeface="+mn-ea"/>
                        <a:ea typeface="+mn-ea"/>
                      </a:endParaRPr>
                    </a:p>
                  </a:txBody>
                  <a:tcPr marL="38080" marR="38080" marT="38094" marB="38094">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150000"/>
                        </a:lnSpc>
                        <a:spcBef>
                          <a:spcPts val="0"/>
                        </a:spcBef>
                        <a:spcAft>
                          <a:spcPts val="0"/>
                        </a:spcAft>
                        <a:buClrTx/>
                        <a:buSzTx/>
                        <a:buFont typeface="Wingdings" panose="05000000000000000000" pitchFamily="2" charset="2"/>
                        <a:buNone/>
                        <a:tabLst/>
                        <a:defRPr/>
                      </a:pPr>
                      <a:r>
                        <a:rPr lang="ko-KR" alt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altLang="en-US" sz="1200" b="0" smtClean="0">
                          <a:solidFill>
                            <a:schemeClr val="tx1"/>
                          </a:solidFill>
                          <a:latin typeface="+mn-ea"/>
                          <a:ea typeface="+mn-ea"/>
                        </a:rPr>
                        <a:t>주민등록번호</a:t>
                      </a:r>
                      <a:r>
                        <a:rPr lang="en-US" altLang="ko-KR" sz="1200" b="0" smtClean="0">
                          <a:solidFill>
                            <a:schemeClr val="tx1"/>
                          </a:solidFill>
                          <a:latin typeface="+mn-ea"/>
                          <a:ea typeface="+mn-ea"/>
                        </a:rPr>
                        <a:t>, </a:t>
                      </a:r>
                      <a:r>
                        <a:rPr lang="ko-KR" altLang="en-US" sz="1200" b="0" smtClean="0">
                          <a:solidFill>
                            <a:schemeClr val="tx1"/>
                          </a:solidFill>
                          <a:latin typeface="+mn-ea"/>
                          <a:ea typeface="+mn-ea"/>
                        </a:rPr>
                        <a:t>계좌번호</a:t>
                      </a:r>
                      <a:r>
                        <a:rPr lang="en-US" altLang="ko-KR" sz="1200" b="0" smtClean="0">
                          <a:solidFill>
                            <a:schemeClr val="tx1"/>
                          </a:solidFill>
                          <a:latin typeface="+mn-ea"/>
                          <a:ea typeface="+mn-ea"/>
                        </a:rPr>
                        <a:t>, </a:t>
                      </a:r>
                      <a:r>
                        <a:rPr lang="ko-KR" altLang="en-US" sz="1200" b="0" smtClean="0">
                          <a:solidFill>
                            <a:schemeClr val="tx1"/>
                          </a:solidFill>
                          <a:latin typeface="+mn-ea"/>
                          <a:ea typeface="+mn-ea"/>
                        </a:rPr>
                        <a:t>신용카드번호</a:t>
                      </a:r>
                      <a:r>
                        <a:rPr lang="en-US" altLang="ko-KR" sz="1200" b="0" smtClean="0">
                          <a:solidFill>
                            <a:schemeClr val="tx1"/>
                          </a:solidFill>
                          <a:latin typeface="+mn-ea"/>
                          <a:ea typeface="+mn-ea"/>
                        </a:rPr>
                        <a:t> </a:t>
                      </a:r>
                    </a:p>
                    <a:p>
                      <a:pPr marL="0" marR="0" indent="0" algn="l" defTabSz="914400" rtl="0" eaLnBrk="1" fontAlgn="auto" latinLnBrk="1" hangingPunct="1">
                        <a:lnSpc>
                          <a:spcPct val="150000"/>
                        </a:lnSpc>
                        <a:spcBef>
                          <a:spcPts val="0"/>
                        </a:spcBef>
                        <a:spcAft>
                          <a:spcPts val="0"/>
                        </a:spcAft>
                        <a:buClrTx/>
                        <a:buSzTx/>
                        <a:buFont typeface="Wingdings" panose="05000000000000000000" pitchFamily="2" charset="2"/>
                        <a:buNone/>
                        <a:tabLst/>
                        <a:defRPr/>
                      </a:pPr>
                      <a:r>
                        <a:rPr lang="ko-KR" alt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altLang="en-US" sz="1200" b="0" smtClean="0">
                          <a:solidFill>
                            <a:schemeClr val="tx1"/>
                          </a:solidFill>
                          <a:latin typeface="+mn-ea"/>
                          <a:ea typeface="+mn-ea"/>
                        </a:rPr>
                        <a:t>비밀번호</a:t>
                      </a:r>
                      <a:r>
                        <a:rPr lang="en-US" altLang="ko-KR" sz="1200" b="0" smtClean="0">
                          <a:solidFill>
                            <a:schemeClr val="tx1"/>
                          </a:solidFill>
                          <a:latin typeface="+mn-ea"/>
                          <a:ea typeface="+mn-ea"/>
                        </a:rPr>
                        <a:t>, </a:t>
                      </a:r>
                      <a:r>
                        <a:rPr lang="ko-KR" altLang="en-US" sz="1200" b="0" smtClean="0">
                          <a:solidFill>
                            <a:schemeClr val="tx1"/>
                          </a:solidFill>
                          <a:latin typeface="+mn-ea"/>
                          <a:ea typeface="+mn-ea"/>
                        </a:rPr>
                        <a:t>바이오정보</a:t>
                      </a:r>
                      <a:endParaRPr lang="ko-KR" altLang="en-US" sz="1200" b="0" dirty="0">
                        <a:solidFill>
                          <a:schemeClr val="tx1"/>
                        </a:solidFill>
                        <a:latin typeface="+mn-ea"/>
                        <a:ea typeface="+mn-ea"/>
                      </a:endParaRPr>
                    </a:p>
                  </a:txBody>
                  <a:tcPr marL="38080" marR="38080" marT="38094" marB="38094">
                    <a:lnL w="6350" cap="flat" cmpd="sng" algn="ctr">
                      <a:solidFill>
                        <a:schemeClr val="bg1">
                          <a:lumMod val="50000"/>
                        </a:schemeClr>
                      </a:solid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2732110"/>
                  </a:ext>
                </a:extLst>
              </a:tr>
              <a:tr h="2582199">
                <a:tc>
                  <a:txBody>
                    <a:bodyPr/>
                    <a:lstStyle/>
                    <a:p>
                      <a:pPr marL="0" marR="0" indent="0" algn="ctr" defTabSz="914400" rtl="0" eaLnBrk="1" fontAlgn="auto" latinLnBrk="1" hangingPunct="1">
                        <a:lnSpc>
                          <a:spcPct val="150000"/>
                        </a:lnSpc>
                        <a:spcBef>
                          <a:spcPts val="0"/>
                        </a:spcBef>
                        <a:spcAft>
                          <a:spcPts val="0"/>
                        </a:spcAft>
                        <a:buClrTx/>
                        <a:buSzTx/>
                        <a:buFont typeface="Wingdings" panose="05000000000000000000" pitchFamily="2" charset="2"/>
                        <a:buNone/>
                        <a:tabLst/>
                        <a:defRPr/>
                      </a:pPr>
                      <a:r>
                        <a:rPr lang="ko-KR" sz="1200" b="0" i="0" u="none" strike="noStrike" kern="1200">
                          <a:solidFill>
                            <a:schemeClr val="tx1"/>
                          </a:solidFill>
                          <a:latin typeface="+mn-ea"/>
                          <a:ea typeface="+mn-ea"/>
                          <a:cs typeface="+mn-cs"/>
                        </a:rPr>
                        <a:t>암호화 기준</a:t>
                      </a:r>
                    </a:p>
                  </a:txBody>
                  <a:tcPr marL="68580" marR="68580" marT="0" marB="0">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1" hangingPunct="1">
                        <a:lnSpc>
                          <a:spcPct val="150000"/>
                        </a:lnSpc>
                        <a:spcBef>
                          <a:spcPts val="0"/>
                        </a:spcBef>
                        <a:spcAft>
                          <a:spcPts val="0"/>
                        </a:spcAft>
                        <a:buClrTx/>
                        <a:buSzTx/>
                        <a:buFont typeface="Wingdings" panose="05000000000000000000" pitchFamily="2" charset="2"/>
                        <a:buNone/>
                        <a:tabLst/>
                        <a:defRPr/>
                      </a:pPr>
                      <a:r>
                        <a:rPr lang="ko-KR" alt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sz="1200" b="0" i="0" u="none" strike="noStrike" kern="1200" smtClean="0">
                          <a:solidFill>
                            <a:schemeClr val="tx1"/>
                          </a:solidFill>
                          <a:latin typeface="+mn-ea"/>
                          <a:ea typeface="+mn-ea"/>
                          <a:cs typeface="+mn-cs"/>
                        </a:rPr>
                        <a:t>정보통신망</a:t>
                      </a:r>
                      <a:r>
                        <a:rPr lang="en-US" sz="1200" b="0" i="0" u="none" strike="noStrike" kern="1200">
                          <a:solidFill>
                            <a:schemeClr val="tx1"/>
                          </a:solidFill>
                          <a:latin typeface="+mn-ea"/>
                          <a:ea typeface="+mn-ea"/>
                          <a:cs typeface="+mn-cs"/>
                        </a:rPr>
                        <a:t>,</a:t>
                      </a:r>
                      <a:r>
                        <a:rPr lang="ko-KR" sz="1200" b="0" i="0" u="none" strike="noStrike" kern="1200">
                          <a:solidFill>
                            <a:schemeClr val="tx1"/>
                          </a:solidFill>
                          <a:latin typeface="+mn-ea"/>
                          <a:ea typeface="+mn-ea"/>
                          <a:cs typeface="+mn-cs"/>
                        </a:rPr>
                        <a:t>보조저장매체 전송시 암호화</a:t>
                      </a:r>
                      <a:r>
                        <a:rPr lang="en-US" sz="1200" b="0" i="0" u="none" strike="noStrike" kern="1200">
                          <a:solidFill>
                            <a:schemeClr val="tx1"/>
                          </a:solidFill>
                          <a:latin typeface="+mn-ea"/>
                          <a:ea typeface="+mn-ea"/>
                          <a:cs typeface="+mn-cs"/>
                        </a:rPr>
                        <a:t>,</a:t>
                      </a:r>
                      <a:endParaRPr lang="ko-KR" sz="1200" b="0" i="0" u="none" strike="noStrike" kern="1200">
                        <a:solidFill>
                          <a:schemeClr val="tx1"/>
                        </a:solidFill>
                        <a:latin typeface="+mn-ea"/>
                        <a:ea typeface="+mn-ea"/>
                        <a:cs typeface="+mn-cs"/>
                      </a:endParaRPr>
                    </a:p>
                    <a:p>
                      <a:pPr marL="0" marR="0" indent="0" algn="l" defTabSz="914400" rtl="0" eaLnBrk="1" fontAlgn="auto" latinLnBrk="1" hangingPunct="1">
                        <a:lnSpc>
                          <a:spcPct val="150000"/>
                        </a:lnSpc>
                        <a:spcBef>
                          <a:spcPts val="0"/>
                        </a:spcBef>
                        <a:spcAft>
                          <a:spcPts val="0"/>
                        </a:spcAft>
                        <a:buClrTx/>
                        <a:buSzTx/>
                        <a:buFont typeface="Wingdings" panose="05000000000000000000" pitchFamily="2" charset="2"/>
                        <a:buNone/>
                        <a:tabLst/>
                        <a:defRPr/>
                      </a:pPr>
                      <a:r>
                        <a:rPr lang="ko-KR" alt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sz="1200" b="0" i="0" u="none" strike="noStrike" kern="1200" smtClean="0">
                          <a:solidFill>
                            <a:schemeClr val="tx1"/>
                          </a:solidFill>
                          <a:latin typeface="+mn-ea"/>
                          <a:ea typeface="+mn-ea"/>
                          <a:cs typeface="+mn-cs"/>
                        </a:rPr>
                        <a:t>비밀번호 </a:t>
                      </a:r>
                      <a:r>
                        <a:rPr lang="ko-KR" sz="1200" b="0" i="0" u="none" strike="noStrike" kern="1200">
                          <a:solidFill>
                            <a:schemeClr val="tx1"/>
                          </a:solidFill>
                          <a:latin typeface="+mn-ea"/>
                          <a:ea typeface="+mn-ea"/>
                          <a:cs typeface="+mn-cs"/>
                        </a:rPr>
                        <a:t>저장시 일방향 암호화</a:t>
                      </a:r>
                      <a:r>
                        <a:rPr lang="en-US" sz="1200" b="0" i="0" u="none" strike="noStrike" kern="1200">
                          <a:solidFill>
                            <a:schemeClr val="tx1"/>
                          </a:solidFill>
                          <a:latin typeface="+mn-ea"/>
                          <a:ea typeface="+mn-ea"/>
                          <a:cs typeface="+mn-cs"/>
                        </a:rPr>
                        <a:t> </a:t>
                      </a:r>
                      <a:endParaRPr lang="ko-KR" sz="1200" b="0" i="0" u="none" strike="noStrike" kern="1200">
                        <a:solidFill>
                          <a:schemeClr val="tx1"/>
                        </a:solidFill>
                        <a:latin typeface="+mn-ea"/>
                        <a:ea typeface="+mn-ea"/>
                        <a:cs typeface="+mn-cs"/>
                      </a:endParaRPr>
                    </a:p>
                    <a:p>
                      <a:pPr marL="0" marR="0" indent="0" algn="l" defTabSz="914400" rtl="0" eaLnBrk="1" fontAlgn="auto" latinLnBrk="1" hangingPunct="1">
                        <a:lnSpc>
                          <a:spcPct val="150000"/>
                        </a:lnSpc>
                        <a:spcBef>
                          <a:spcPts val="0"/>
                        </a:spcBef>
                        <a:spcAft>
                          <a:spcPts val="0"/>
                        </a:spcAft>
                        <a:buClrTx/>
                        <a:buSzTx/>
                        <a:buFont typeface="Wingdings" panose="05000000000000000000" pitchFamily="2" charset="2"/>
                        <a:buNone/>
                        <a:tabLst/>
                        <a:defRPr/>
                      </a:pPr>
                      <a:r>
                        <a:rPr lang="ko-KR" alt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sz="1200" b="0" i="0" u="none" strike="noStrike" kern="1200" smtClean="0">
                          <a:solidFill>
                            <a:schemeClr val="tx1"/>
                          </a:solidFill>
                          <a:latin typeface="+mn-ea"/>
                          <a:ea typeface="+mn-ea"/>
                          <a:cs typeface="+mn-cs"/>
                        </a:rPr>
                        <a:t>고객식별번호 </a:t>
                      </a:r>
                      <a:r>
                        <a:rPr lang="ko-KR" sz="1200" b="0" i="0" u="none" strike="noStrike" kern="1200">
                          <a:solidFill>
                            <a:schemeClr val="tx1"/>
                          </a:solidFill>
                          <a:latin typeface="+mn-ea"/>
                          <a:ea typeface="+mn-ea"/>
                          <a:cs typeface="+mn-cs"/>
                        </a:rPr>
                        <a:t>암호화</a:t>
                      </a:r>
                    </a:p>
                    <a:p>
                      <a:pPr marL="0" marR="0" indent="0" algn="l" defTabSz="914400" rtl="0" eaLnBrk="1" fontAlgn="auto" latinLnBrk="1" hangingPunct="1">
                        <a:lnSpc>
                          <a:spcPct val="150000"/>
                        </a:lnSpc>
                        <a:spcBef>
                          <a:spcPts val="0"/>
                        </a:spcBef>
                        <a:spcAft>
                          <a:spcPts val="0"/>
                        </a:spcAft>
                        <a:buClrTx/>
                        <a:buSzTx/>
                        <a:buFont typeface="Wingdings" panose="05000000000000000000" pitchFamily="2" charset="2"/>
                        <a:buNone/>
                        <a:tabLst/>
                        <a:defRPr/>
                      </a:pPr>
                      <a:r>
                        <a:rPr lang="en-US" sz="1200" b="0" i="0" u="none" strike="noStrike" kern="1200" smtClean="0">
                          <a:solidFill>
                            <a:schemeClr val="tx1"/>
                          </a:solidFill>
                          <a:latin typeface="+mn-ea"/>
                          <a:ea typeface="+mn-ea"/>
                          <a:cs typeface="+mn-cs"/>
                        </a:rPr>
                        <a:t>    - </a:t>
                      </a:r>
                      <a:r>
                        <a:rPr lang="ko-KR" sz="1200" b="0" i="0" u="none" strike="noStrike" kern="1200" smtClean="0">
                          <a:solidFill>
                            <a:schemeClr val="tx1"/>
                          </a:solidFill>
                          <a:latin typeface="+mn-ea"/>
                          <a:ea typeface="+mn-ea"/>
                          <a:cs typeface="+mn-cs"/>
                        </a:rPr>
                        <a:t>인터넷구간</a:t>
                      </a:r>
                      <a:r>
                        <a:rPr lang="en-US" sz="1200" b="0" i="0" u="none" strike="noStrike" kern="1200">
                          <a:solidFill>
                            <a:schemeClr val="tx1"/>
                          </a:solidFill>
                          <a:latin typeface="+mn-ea"/>
                          <a:ea typeface="+mn-ea"/>
                          <a:cs typeface="+mn-cs"/>
                        </a:rPr>
                        <a:t>, DMZ</a:t>
                      </a:r>
                      <a:r>
                        <a:rPr lang="ko-KR" sz="1200" b="0" i="0" u="none" strike="noStrike" kern="1200">
                          <a:solidFill>
                            <a:schemeClr val="tx1"/>
                          </a:solidFill>
                          <a:latin typeface="+mn-ea"/>
                          <a:ea typeface="+mn-ea"/>
                          <a:cs typeface="+mn-cs"/>
                        </a:rPr>
                        <a:t>구간 저장시 </a:t>
                      </a:r>
                      <a:r>
                        <a:rPr lang="ko-KR" sz="1200" b="0" i="0" u="none" strike="noStrike" kern="1200" smtClean="0">
                          <a:solidFill>
                            <a:schemeClr val="tx1"/>
                          </a:solidFill>
                          <a:latin typeface="+mn-ea"/>
                          <a:ea typeface="+mn-ea"/>
                          <a:cs typeface="+mn-cs"/>
                        </a:rPr>
                        <a:t>암호화</a:t>
                      </a:r>
                      <a:endParaRPr lang="ko-KR" sz="1200" b="0" i="0" u="none" strike="noStrike" kern="1200">
                        <a:solidFill>
                          <a:schemeClr val="tx1"/>
                        </a:solidFill>
                        <a:latin typeface="+mn-ea"/>
                        <a:ea typeface="+mn-ea"/>
                        <a:cs typeface="+mn-cs"/>
                      </a:endParaRPr>
                    </a:p>
                    <a:p>
                      <a:pPr marL="0" marR="0" indent="0" algn="l" defTabSz="914400" rtl="0" eaLnBrk="1" fontAlgn="auto" latinLnBrk="1" hangingPunct="1">
                        <a:lnSpc>
                          <a:spcPct val="150000"/>
                        </a:lnSpc>
                        <a:spcBef>
                          <a:spcPts val="0"/>
                        </a:spcBef>
                        <a:spcAft>
                          <a:spcPts val="0"/>
                        </a:spcAft>
                        <a:buClrTx/>
                        <a:buSzTx/>
                        <a:buFont typeface="Wingdings" panose="05000000000000000000" pitchFamily="2" charset="2"/>
                        <a:buNone/>
                        <a:tabLst/>
                        <a:defRPr/>
                      </a:pPr>
                      <a:r>
                        <a:rPr lang="en-US" sz="1200" b="0" i="0" u="none" strike="noStrike" kern="1200" smtClean="0">
                          <a:solidFill>
                            <a:schemeClr val="tx1"/>
                          </a:solidFill>
                          <a:latin typeface="+mn-ea"/>
                          <a:ea typeface="+mn-ea"/>
                          <a:cs typeface="+mn-cs"/>
                        </a:rPr>
                        <a:t>    - </a:t>
                      </a:r>
                      <a:r>
                        <a:rPr lang="ko-KR" sz="1200" b="0" i="0" u="none" strike="noStrike" kern="1200">
                          <a:solidFill>
                            <a:schemeClr val="tx1"/>
                          </a:solidFill>
                          <a:latin typeface="+mn-ea"/>
                          <a:ea typeface="+mn-ea"/>
                          <a:cs typeface="+mn-cs"/>
                        </a:rPr>
                        <a:t>내부망 저장시 위험도 분석 또는 암호화</a:t>
                      </a:r>
                    </a:p>
                    <a:p>
                      <a:pPr marL="0" marR="0" indent="0" algn="l" defTabSz="914400" rtl="0" eaLnBrk="1" fontAlgn="auto" latinLnBrk="1" hangingPunct="1">
                        <a:lnSpc>
                          <a:spcPct val="150000"/>
                        </a:lnSpc>
                        <a:spcBef>
                          <a:spcPts val="0"/>
                        </a:spcBef>
                        <a:spcAft>
                          <a:spcPts val="0"/>
                        </a:spcAft>
                        <a:buClrTx/>
                        <a:buSzTx/>
                        <a:buFont typeface="Wingdings" panose="05000000000000000000" pitchFamily="2" charset="2"/>
                        <a:buNone/>
                        <a:tabLst/>
                        <a:defRPr/>
                      </a:pPr>
                      <a:r>
                        <a:rPr lang="en-US" sz="1200" b="0" i="0" u="none" strike="noStrike" kern="1200" smtClean="0">
                          <a:solidFill>
                            <a:schemeClr val="tx1"/>
                          </a:solidFill>
                          <a:latin typeface="+mn-ea"/>
                          <a:ea typeface="+mn-ea"/>
                          <a:cs typeface="+mn-cs"/>
                        </a:rPr>
                        <a:t>    - </a:t>
                      </a:r>
                      <a:r>
                        <a:rPr lang="ko-KR" sz="1200" b="0" i="0" u="none" strike="noStrike" kern="1200">
                          <a:solidFill>
                            <a:schemeClr val="tx1"/>
                          </a:solidFill>
                          <a:latin typeface="+mn-ea"/>
                          <a:ea typeface="+mn-ea"/>
                          <a:cs typeface="+mn-cs"/>
                        </a:rPr>
                        <a:t>업무용 </a:t>
                      </a:r>
                      <a:r>
                        <a:rPr lang="en-US" sz="1200" b="0" i="0" u="none" strike="noStrike" kern="1200">
                          <a:solidFill>
                            <a:schemeClr val="tx1"/>
                          </a:solidFill>
                          <a:latin typeface="+mn-ea"/>
                          <a:ea typeface="+mn-ea"/>
                          <a:cs typeface="+mn-cs"/>
                        </a:rPr>
                        <a:t>PC</a:t>
                      </a:r>
                      <a:r>
                        <a:rPr lang="ko-KR" sz="1200" b="0" i="0" u="none" strike="noStrike" kern="1200">
                          <a:solidFill>
                            <a:schemeClr val="tx1"/>
                          </a:solidFill>
                          <a:latin typeface="+mn-ea"/>
                          <a:ea typeface="+mn-ea"/>
                          <a:cs typeface="+mn-cs"/>
                        </a:rPr>
                        <a:t>에 저장하여 </a:t>
                      </a:r>
                      <a:r>
                        <a:rPr lang="ko-KR" sz="1200" b="0" i="0" u="none" strike="noStrike" kern="1200" smtClean="0">
                          <a:solidFill>
                            <a:schemeClr val="tx1"/>
                          </a:solidFill>
                          <a:latin typeface="+mn-ea"/>
                          <a:ea typeface="+mn-ea"/>
                          <a:cs typeface="+mn-cs"/>
                        </a:rPr>
                        <a:t>관리시</a:t>
                      </a:r>
                      <a:r>
                        <a:rPr lang="en-US" altLang="ko-KR" sz="1200" b="0" i="0" u="none" strike="noStrike" kern="1200" smtClean="0">
                          <a:solidFill>
                            <a:schemeClr val="tx1"/>
                          </a:solidFill>
                          <a:latin typeface="+mn-ea"/>
                          <a:ea typeface="+mn-ea"/>
                          <a:cs typeface="+mn-cs"/>
                        </a:rPr>
                        <a:t> </a:t>
                      </a:r>
                      <a:r>
                        <a:rPr lang="ko-KR" altLang="en-US" sz="1200" b="0" i="0" u="none" strike="noStrike" kern="1200" smtClean="0">
                          <a:solidFill>
                            <a:schemeClr val="tx1"/>
                          </a:solidFill>
                          <a:latin typeface="+mn-ea"/>
                          <a:ea typeface="+mn-ea"/>
                          <a:cs typeface="+mn-cs"/>
                        </a:rPr>
                        <a:t>암호화</a:t>
                      </a:r>
                      <a:endParaRPr lang="ko-KR" sz="1200" b="0" i="0" u="none" strike="noStrike" kern="1200">
                        <a:solidFill>
                          <a:schemeClr val="tx1"/>
                        </a:solidFill>
                        <a:latin typeface="+mn-ea"/>
                        <a:ea typeface="+mn-ea"/>
                        <a:cs typeface="+mn-cs"/>
                      </a:endParaRPr>
                    </a:p>
                    <a:p>
                      <a:pPr marL="0" marR="0" indent="0" algn="l" defTabSz="914400" rtl="0" eaLnBrk="1" fontAlgn="auto" latinLnBrk="1" hangingPunct="1">
                        <a:lnSpc>
                          <a:spcPct val="150000"/>
                        </a:lnSpc>
                        <a:spcBef>
                          <a:spcPts val="0"/>
                        </a:spcBef>
                        <a:spcAft>
                          <a:spcPts val="0"/>
                        </a:spcAft>
                        <a:buClrTx/>
                        <a:buSzTx/>
                        <a:buFont typeface="Wingdings" panose="05000000000000000000" pitchFamily="2" charset="2"/>
                        <a:buNone/>
                        <a:tabLst/>
                        <a:defRPr/>
                      </a:pPr>
                      <a:r>
                        <a:rPr lang="en-US" sz="1200" b="0" i="0" u="none" strike="noStrike" kern="1200" smtClean="0">
                          <a:solidFill>
                            <a:schemeClr val="tx1"/>
                          </a:solidFill>
                          <a:latin typeface="+mn-ea"/>
                          <a:ea typeface="+mn-ea"/>
                          <a:cs typeface="+mn-cs"/>
                        </a:rPr>
                        <a:t>    - </a:t>
                      </a:r>
                      <a:r>
                        <a:rPr lang="ko-KR" sz="1200" b="0" i="0" u="none" strike="noStrike" kern="1200" smtClean="0">
                          <a:solidFill>
                            <a:schemeClr val="tx1"/>
                          </a:solidFill>
                          <a:latin typeface="+mn-ea"/>
                          <a:ea typeface="+mn-ea"/>
                          <a:cs typeface="+mn-cs"/>
                        </a:rPr>
                        <a:t>안전한 </a:t>
                      </a:r>
                      <a:r>
                        <a:rPr lang="ko-KR" sz="1200" b="0" i="0" u="none" strike="noStrike" kern="1200">
                          <a:solidFill>
                            <a:schemeClr val="tx1"/>
                          </a:solidFill>
                          <a:latin typeface="+mn-ea"/>
                          <a:ea typeface="+mn-ea"/>
                          <a:cs typeface="+mn-cs"/>
                        </a:rPr>
                        <a:t>알고리즘으로 암호화</a:t>
                      </a:r>
                    </a:p>
                  </a:txBody>
                  <a:tcPr marL="68580" marR="68580" marT="0" marB="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1" hangingPunct="1">
                        <a:lnSpc>
                          <a:spcPct val="150000"/>
                        </a:lnSpc>
                        <a:spcBef>
                          <a:spcPts val="0"/>
                        </a:spcBef>
                        <a:spcAft>
                          <a:spcPts val="0"/>
                        </a:spcAft>
                        <a:buClrTx/>
                        <a:buSzTx/>
                        <a:buFont typeface="Wingdings" panose="05000000000000000000" pitchFamily="2" charset="2"/>
                        <a:buNone/>
                        <a:tabLst/>
                        <a:defRPr/>
                      </a:pPr>
                      <a:r>
                        <a:rPr lang="ko-KR" alt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sz="1200" b="0" i="0" u="none" strike="noStrike" kern="1200" smtClean="0">
                          <a:solidFill>
                            <a:schemeClr val="tx1"/>
                          </a:solidFill>
                          <a:latin typeface="+mn-ea"/>
                          <a:ea typeface="+mn-ea"/>
                          <a:cs typeface="+mn-cs"/>
                        </a:rPr>
                        <a:t>패스워드</a:t>
                      </a:r>
                      <a:r>
                        <a:rPr lang="en-US" sz="1200" b="0" i="0" u="none" strike="noStrike" kern="1200">
                          <a:solidFill>
                            <a:schemeClr val="tx1"/>
                          </a:solidFill>
                          <a:latin typeface="+mn-ea"/>
                          <a:ea typeface="+mn-ea"/>
                          <a:cs typeface="+mn-cs"/>
                        </a:rPr>
                        <a:t>, </a:t>
                      </a:r>
                      <a:r>
                        <a:rPr lang="ko-KR" sz="1200" b="0" i="0" u="none" strike="noStrike" kern="1200">
                          <a:solidFill>
                            <a:schemeClr val="tx1"/>
                          </a:solidFill>
                          <a:latin typeface="+mn-ea"/>
                          <a:ea typeface="+mn-ea"/>
                          <a:cs typeface="+mn-cs"/>
                        </a:rPr>
                        <a:t>생체정보 등 본인인증정보 저장시 일방향 암호화</a:t>
                      </a:r>
                    </a:p>
                    <a:p>
                      <a:pPr marL="0" marR="0" indent="0" algn="l" defTabSz="914400" rtl="0" eaLnBrk="1" fontAlgn="auto" latinLnBrk="1" hangingPunct="1">
                        <a:lnSpc>
                          <a:spcPct val="150000"/>
                        </a:lnSpc>
                        <a:spcBef>
                          <a:spcPts val="0"/>
                        </a:spcBef>
                        <a:spcAft>
                          <a:spcPts val="0"/>
                        </a:spcAft>
                        <a:buClrTx/>
                        <a:buSzTx/>
                        <a:buFont typeface="Wingdings" panose="05000000000000000000" pitchFamily="2" charset="2"/>
                        <a:buNone/>
                        <a:tabLst/>
                        <a:defRPr/>
                      </a:pPr>
                      <a:r>
                        <a:rPr lang="ko-KR" alt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sz="1200" b="0" i="0" u="none" strike="noStrike" kern="1200" smtClean="0">
                          <a:solidFill>
                            <a:schemeClr val="tx1"/>
                          </a:solidFill>
                          <a:latin typeface="+mn-ea"/>
                          <a:ea typeface="+mn-ea"/>
                          <a:cs typeface="+mn-cs"/>
                        </a:rPr>
                        <a:t>개인신용정보 </a:t>
                      </a:r>
                      <a:r>
                        <a:rPr lang="ko-KR" sz="1200" b="0" i="0" u="none" strike="noStrike" kern="1200">
                          <a:solidFill>
                            <a:schemeClr val="tx1"/>
                          </a:solidFill>
                          <a:latin typeface="+mn-ea"/>
                          <a:ea typeface="+mn-ea"/>
                          <a:cs typeface="+mn-cs"/>
                        </a:rPr>
                        <a:t>및 인증정보 정보통신망 </a:t>
                      </a:r>
                      <a:r>
                        <a:rPr lang="ko-KR" sz="1200" b="0" i="0" u="none" strike="noStrike" kern="1200" smtClean="0">
                          <a:solidFill>
                            <a:schemeClr val="tx1"/>
                          </a:solidFill>
                          <a:latin typeface="+mn-ea"/>
                          <a:ea typeface="+mn-ea"/>
                          <a:cs typeface="+mn-cs"/>
                        </a:rPr>
                        <a:t>송</a:t>
                      </a:r>
                      <a:r>
                        <a:rPr lang="en-US" altLang="ko-KR" sz="1200" b="0" i="0" u="none" strike="noStrike" kern="1200" smtClean="0">
                          <a:solidFill>
                            <a:schemeClr val="tx1"/>
                          </a:solidFill>
                          <a:latin typeface="+mn-ea"/>
                          <a:ea typeface="+mn-ea"/>
                          <a:cs typeface="+mn-cs"/>
                        </a:rPr>
                        <a:t>·</a:t>
                      </a:r>
                      <a:r>
                        <a:rPr lang="ko-KR" sz="1200" b="0" i="0" u="none" strike="noStrike" kern="1200" smtClean="0">
                          <a:solidFill>
                            <a:schemeClr val="tx1"/>
                          </a:solidFill>
                          <a:latin typeface="+mn-ea"/>
                          <a:ea typeface="+mn-ea"/>
                          <a:cs typeface="+mn-cs"/>
                        </a:rPr>
                        <a:t>수신시 </a:t>
                      </a:r>
                      <a:r>
                        <a:rPr lang="ko-KR" sz="1200" b="0" i="0" u="none" strike="noStrike" kern="1200">
                          <a:solidFill>
                            <a:schemeClr val="tx1"/>
                          </a:solidFill>
                          <a:latin typeface="+mn-ea"/>
                          <a:ea typeface="+mn-ea"/>
                          <a:cs typeface="+mn-cs"/>
                        </a:rPr>
                        <a:t>암호화</a:t>
                      </a:r>
                    </a:p>
                    <a:p>
                      <a:pPr marL="0" marR="0" indent="0" algn="l" defTabSz="914400" rtl="0" eaLnBrk="1" fontAlgn="auto" latinLnBrk="1" hangingPunct="1">
                        <a:lnSpc>
                          <a:spcPct val="150000"/>
                        </a:lnSpc>
                        <a:spcBef>
                          <a:spcPts val="0"/>
                        </a:spcBef>
                        <a:spcAft>
                          <a:spcPts val="0"/>
                        </a:spcAft>
                        <a:buClrTx/>
                        <a:buSzTx/>
                        <a:buFont typeface="Wingdings" panose="05000000000000000000" pitchFamily="2" charset="2"/>
                        <a:buNone/>
                        <a:tabLst/>
                        <a:defRPr/>
                      </a:pPr>
                      <a:r>
                        <a:rPr lang="ko-KR" alt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sz="1200" b="0" i="0" u="none" strike="noStrike" kern="1200" smtClean="0">
                          <a:solidFill>
                            <a:schemeClr val="tx1"/>
                          </a:solidFill>
                          <a:latin typeface="+mn-ea"/>
                          <a:ea typeface="+mn-ea"/>
                          <a:cs typeface="+mn-cs"/>
                        </a:rPr>
                        <a:t>개인신용정보</a:t>
                      </a:r>
                      <a:r>
                        <a:rPr lang="en-US" sz="1200" b="0" i="0" u="none" strike="noStrike" kern="1200" smtClean="0">
                          <a:solidFill>
                            <a:schemeClr val="tx1"/>
                          </a:solidFill>
                          <a:latin typeface="+mn-ea"/>
                          <a:ea typeface="+mn-ea"/>
                          <a:cs typeface="+mn-cs"/>
                        </a:rPr>
                        <a:t> </a:t>
                      </a:r>
                      <a:r>
                        <a:rPr lang="en-US" sz="1200" b="0" i="0" u="none" strike="noStrike" kern="1200">
                          <a:solidFill>
                            <a:schemeClr val="tx1"/>
                          </a:solidFill>
                          <a:latin typeface="+mn-ea"/>
                          <a:ea typeface="+mn-ea"/>
                          <a:cs typeface="+mn-cs"/>
                        </a:rPr>
                        <a:t>PC</a:t>
                      </a:r>
                      <a:r>
                        <a:rPr lang="ko-KR" sz="1200" b="0" i="0" u="none" strike="noStrike" kern="1200">
                          <a:solidFill>
                            <a:schemeClr val="tx1"/>
                          </a:solidFill>
                          <a:latin typeface="+mn-ea"/>
                          <a:ea typeface="+mn-ea"/>
                          <a:cs typeface="+mn-cs"/>
                        </a:rPr>
                        <a:t>저장시 암호화</a:t>
                      </a:r>
                    </a:p>
                  </a:txBody>
                  <a:tcPr marL="68580" marR="68580" marT="0" marB="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1" hangingPunct="1">
                        <a:lnSpc>
                          <a:spcPct val="150000"/>
                        </a:lnSpc>
                        <a:spcBef>
                          <a:spcPts val="0"/>
                        </a:spcBef>
                        <a:spcAft>
                          <a:spcPts val="0"/>
                        </a:spcAft>
                        <a:buClrTx/>
                        <a:buSzTx/>
                        <a:buFont typeface="Wingdings" panose="05000000000000000000" pitchFamily="2" charset="2"/>
                        <a:buNone/>
                        <a:tabLst/>
                        <a:defRPr/>
                      </a:pPr>
                      <a:r>
                        <a:rPr lang="ko-KR" alt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sz="1200" b="0" i="0" u="none" strike="noStrike" kern="1200" smtClean="0">
                          <a:solidFill>
                            <a:schemeClr val="tx1"/>
                          </a:solidFill>
                          <a:latin typeface="+mn-ea"/>
                          <a:ea typeface="+mn-ea"/>
                          <a:cs typeface="+mn-cs"/>
                        </a:rPr>
                        <a:t>비밀번호 </a:t>
                      </a:r>
                      <a:r>
                        <a:rPr lang="ko-KR" sz="1200" b="0" i="0" u="none" strike="noStrike" kern="1200">
                          <a:solidFill>
                            <a:schemeClr val="tx1"/>
                          </a:solidFill>
                          <a:latin typeface="+mn-ea"/>
                          <a:ea typeface="+mn-ea"/>
                          <a:cs typeface="+mn-cs"/>
                        </a:rPr>
                        <a:t>및 바이오정보 일방향 암호화</a:t>
                      </a:r>
                    </a:p>
                    <a:p>
                      <a:pPr marL="0" marR="0" indent="0" algn="l" defTabSz="914400" rtl="0" eaLnBrk="1" fontAlgn="auto" latinLnBrk="1" hangingPunct="1">
                        <a:lnSpc>
                          <a:spcPct val="150000"/>
                        </a:lnSpc>
                        <a:spcBef>
                          <a:spcPts val="0"/>
                        </a:spcBef>
                        <a:spcAft>
                          <a:spcPts val="0"/>
                        </a:spcAft>
                        <a:buClrTx/>
                        <a:buSzTx/>
                        <a:buFont typeface="Wingdings" panose="05000000000000000000" pitchFamily="2" charset="2"/>
                        <a:buNone/>
                        <a:tabLst/>
                        <a:defRPr/>
                      </a:pPr>
                      <a:r>
                        <a:rPr lang="ko-KR" alt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sz="1200" b="0" i="0" u="none" strike="noStrike" kern="1200" smtClean="0">
                          <a:solidFill>
                            <a:schemeClr val="tx1"/>
                          </a:solidFill>
                          <a:latin typeface="+mn-ea"/>
                          <a:ea typeface="+mn-ea"/>
                          <a:cs typeface="+mn-cs"/>
                        </a:rPr>
                        <a:t>주민등록번호</a:t>
                      </a:r>
                      <a:r>
                        <a:rPr lang="en-US" sz="1200" b="0" i="0" u="none" strike="noStrike" kern="1200">
                          <a:solidFill>
                            <a:schemeClr val="tx1"/>
                          </a:solidFill>
                          <a:latin typeface="+mn-ea"/>
                          <a:ea typeface="+mn-ea"/>
                          <a:cs typeface="+mn-cs"/>
                        </a:rPr>
                        <a:t>, </a:t>
                      </a:r>
                      <a:r>
                        <a:rPr lang="ko-KR" sz="1200" b="0" i="0" u="none" strike="noStrike" kern="1200">
                          <a:solidFill>
                            <a:schemeClr val="tx1"/>
                          </a:solidFill>
                          <a:latin typeface="+mn-ea"/>
                          <a:ea typeface="+mn-ea"/>
                          <a:cs typeface="+mn-cs"/>
                        </a:rPr>
                        <a:t>신용카드번호 및 </a:t>
                      </a:r>
                      <a:r>
                        <a:rPr lang="ko-KR" sz="1200" b="0" i="0" u="none" strike="noStrike" kern="1200" smtClean="0">
                          <a:solidFill>
                            <a:schemeClr val="tx1"/>
                          </a:solidFill>
                          <a:latin typeface="+mn-ea"/>
                          <a:ea typeface="+mn-ea"/>
                          <a:cs typeface="+mn-cs"/>
                        </a:rPr>
                        <a:t>계좌번</a:t>
                      </a:r>
                      <a:r>
                        <a:rPr lang="ko-KR" altLang="en-US" sz="1200" b="0" i="0" u="none" strike="noStrike" kern="1200" smtClean="0">
                          <a:solidFill>
                            <a:schemeClr val="tx1"/>
                          </a:solidFill>
                          <a:latin typeface="+mn-ea"/>
                          <a:ea typeface="+mn-ea"/>
                          <a:cs typeface="+mn-cs"/>
                        </a:rPr>
                        <a:t>호 암호화</a:t>
                      </a:r>
                      <a:endParaRPr lang="en-US" altLang="ko-KR" sz="1200" b="0" i="0" u="none" strike="noStrike" kern="1200" smtClean="0">
                        <a:solidFill>
                          <a:schemeClr val="tx1"/>
                        </a:solidFill>
                        <a:latin typeface="+mn-ea"/>
                        <a:ea typeface="+mn-ea"/>
                        <a:cs typeface="+mn-cs"/>
                      </a:endParaRPr>
                    </a:p>
                    <a:p>
                      <a:pPr marL="0" marR="0" indent="0" algn="l" defTabSz="914400" rtl="0" eaLnBrk="1" fontAlgn="auto" latinLnBrk="1" hangingPunct="1">
                        <a:lnSpc>
                          <a:spcPct val="150000"/>
                        </a:lnSpc>
                        <a:spcBef>
                          <a:spcPts val="0"/>
                        </a:spcBef>
                        <a:spcAft>
                          <a:spcPts val="0"/>
                        </a:spcAft>
                        <a:buClrTx/>
                        <a:buSzTx/>
                        <a:buFont typeface="Wingdings" panose="05000000000000000000" pitchFamily="2" charset="2"/>
                        <a:buNone/>
                        <a:tabLst/>
                        <a:defRPr/>
                      </a:pPr>
                      <a:r>
                        <a:rPr lang="ko-KR" alt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sz="1200" b="0" i="0" u="none" strike="noStrike" kern="1200" smtClean="0">
                          <a:solidFill>
                            <a:schemeClr val="tx1"/>
                          </a:solidFill>
                          <a:latin typeface="+mn-ea"/>
                          <a:ea typeface="+mn-ea"/>
                          <a:cs typeface="+mn-cs"/>
                        </a:rPr>
                        <a:t>안전한 </a:t>
                      </a:r>
                      <a:r>
                        <a:rPr lang="ko-KR" sz="1200" b="0" i="0" u="none" strike="noStrike" kern="1200">
                          <a:solidFill>
                            <a:schemeClr val="tx1"/>
                          </a:solidFill>
                          <a:latin typeface="+mn-ea"/>
                          <a:ea typeface="+mn-ea"/>
                          <a:cs typeface="+mn-cs"/>
                        </a:rPr>
                        <a:t>암호알고리즘으로 암호화</a:t>
                      </a:r>
                    </a:p>
                    <a:p>
                      <a:pPr marL="0" marR="0" indent="0" algn="l" defTabSz="914400" rtl="0" eaLnBrk="1" fontAlgn="auto" latinLnBrk="1" hangingPunct="1">
                        <a:lnSpc>
                          <a:spcPct val="150000"/>
                        </a:lnSpc>
                        <a:spcBef>
                          <a:spcPts val="0"/>
                        </a:spcBef>
                        <a:spcAft>
                          <a:spcPts val="0"/>
                        </a:spcAft>
                        <a:buClrTx/>
                        <a:buSzTx/>
                        <a:buFont typeface="Wingdings" panose="05000000000000000000" pitchFamily="2" charset="2"/>
                        <a:buNone/>
                        <a:tabLst/>
                        <a:defRPr/>
                      </a:pPr>
                      <a:r>
                        <a:rPr lang="ko-KR" alt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sz="1200" b="0" i="0" u="none" strike="noStrike" kern="1200" smtClean="0">
                          <a:solidFill>
                            <a:schemeClr val="tx1"/>
                          </a:solidFill>
                          <a:latin typeface="+mn-ea"/>
                          <a:ea typeface="+mn-ea"/>
                          <a:cs typeface="+mn-cs"/>
                        </a:rPr>
                        <a:t>개인정보 </a:t>
                      </a:r>
                      <a:r>
                        <a:rPr lang="ko-KR" sz="1200" b="0" i="0" u="none" strike="noStrike" kern="1200">
                          <a:solidFill>
                            <a:schemeClr val="tx1"/>
                          </a:solidFill>
                          <a:latin typeface="+mn-ea"/>
                          <a:ea typeface="+mn-ea"/>
                          <a:cs typeface="+mn-cs"/>
                        </a:rPr>
                        <a:t>및 인증정보 정보통신망 </a:t>
                      </a:r>
                      <a:r>
                        <a:rPr lang="ko-KR" sz="1200" b="0" i="0" u="none" strike="noStrike" kern="1200" smtClean="0">
                          <a:solidFill>
                            <a:schemeClr val="tx1"/>
                          </a:solidFill>
                          <a:latin typeface="+mn-ea"/>
                          <a:ea typeface="+mn-ea"/>
                          <a:cs typeface="+mn-cs"/>
                        </a:rPr>
                        <a:t>송</a:t>
                      </a:r>
                      <a:r>
                        <a:rPr lang="en-US" altLang="ko-KR" sz="1200" b="0" i="0" u="none" strike="noStrike" kern="1200" smtClean="0">
                          <a:solidFill>
                            <a:schemeClr val="tx1"/>
                          </a:solidFill>
                          <a:latin typeface="+mn-ea"/>
                          <a:ea typeface="+mn-ea"/>
                          <a:cs typeface="+mn-cs"/>
                        </a:rPr>
                        <a:t>·</a:t>
                      </a:r>
                      <a:r>
                        <a:rPr lang="ko-KR" sz="1200" b="0" i="0" u="none" strike="noStrike" kern="1200" smtClean="0">
                          <a:solidFill>
                            <a:schemeClr val="tx1"/>
                          </a:solidFill>
                          <a:latin typeface="+mn-ea"/>
                          <a:ea typeface="+mn-ea"/>
                          <a:cs typeface="+mn-cs"/>
                        </a:rPr>
                        <a:t>수신시 </a:t>
                      </a:r>
                      <a:r>
                        <a:rPr lang="ko-KR" sz="1200" b="0" i="0" u="none" strike="noStrike" kern="1200">
                          <a:solidFill>
                            <a:schemeClr val="tx1"/>
                          </a:solidFill>
                          <a:latin typeface="+mn-ea"/>
                          <a:ea typeface="+mn-ea"/>
                          <a:cs typeface="+mn-cs"/>
                        </a:rPr>
                        <a:t>암호화</a:t>
                      </a:r>
                    </a:p>
                    <a:p>
                      <a:pPr marL="0" marR="0" indent="0" algn="l" defTabSz="914400" rtl="0" eaLnBrk="1" fontAlgn="auto" latinLnBrk="1" hangingPunct="1">
                        <a:lnSpc>
                          <a:spcPct val="150000"/>
                        </a:lnSpc>
                        <a:spcBef>
                          <a:spcPts val="0"/>
                        </a:spcBef>
                        <a:spcAft>
                          <a:spcPts val="0"/>
                        </a:spcAft>
                        <a:buClrTx/>
                        <a:buSzTx/>
                        <a:buFont typeface="Wingdings" panose="05000000000000000000" pitchFamily="2" charset="2"/>
                        <a:buNone/>
                        <a:tabLst/>
                        <a:defRPr/>
                      </a:pPr>
                      <a:r>
                        <a:rPr lang="ko-KR" alt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sz="1200" b="0" i="0" u="none" strike="noStrike" kern="1200" smtClean="0">
                          <a:solidFill>
                            <a:schemeClr val="tx1"/>
                          </a:solidFill>
                          <a:latin typeface="+mn-ea"/>
                          <a:ea typeface="+mn-ea"/>
                          <a:cs typeface="+mn-cs"/>
                        </a:rPr>
                        <a:t>개인정보 </a:t>
                      </a:r>
                      <a:r>
                        <a:rPr lang="en-US" sz="1200" b="0" i="0" u="none" strike="noStrike" kern="1200">
                          <a:solidFill>
                            <a:schemeClr val="tx1"/>
                          </a:solidFill>
                          <a:latin typeface="+mn-ea"/>
                          <a:ea typeface="+mn-ea"/>
                          <a:cs typeface="+mn-cs"/>
                        </a:rPr>
                        <a:t>PC </a:t>
                      </a:r>
                      <a:r>
                        <a:rPr lang="ko-KR" sz="1200" b="0" i="0" u="none" strike="noStrike" kern="1200">
                          <a:solidFill>
                            <a:schemeClr val="tx1"/>
                          </a:solidFill>
                          <a:latin typeface="+mn-ea"/>
                          <a:ea typeface="+mn-ea"/>
                          <a:cs typeface="+mn-cs"/>
                        </a:rPr>
                        <a:t>저장시 암호화</a:t>
                      </a:r>
                    </a:p>
                  </a:txBody>
                  <a:tcPr marL="68580" marR="68580" marT="0" marB="0">
                    <a:lnL w="6350" cap="flat" cmpd="sng" algn="ctr">
                      <a:solidFill>
                        <a:schemeClr val="bg1">
                          <a:lumMod val="50000"/>
                        </a:schemeClr>
                      </a:solid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
        <p:nvSpPr>
          <p:cNvPr id="27" name="Rectangle 3"/>
          <p:cNvSpPr>
            <a:spLocks noChangeArrowheads="1"/>
          </p:cNvSpPr>
          <p:nvPr/>
        </p:nvSpPr>
        <p:spPr bwMode="auto">
          <a:xfrm>
            <a:off x="388805" y="5721177"/>
            <a:ext cx="8183044" cy="480131"/>
          </a:xfrm>
          <a:prstGeom prst="rect">
            <a:avLst/>
          </a:prstGeom>
          <a:noFill/>
          <a:ln w="9525" algn="ctr">
            <a:noFill/>
            <a:miter lim="800000"/>
            <a:headEnd/>
            <a:tailEnd/>
          </a:ln>
          <a:effectLst/>
        </p:spPr>
        <p:txBody>
          <a:bodyPr wrap="square">
            <a:spAutoFit/>
          </a:bodyPr>
          <a:lstStyle/>
          <a:p>
            <a:pPr marL="171450" indent="-171450">
              <a:lnSpc>
                <a:spcPct val="130000"/>
              </a:lnSpc>
              <a:spcBef>
                <a:spcPct val="20000"/>
              </a:spcBef>
              <a:buSzPct val="100000"/>
              <a:buFont typeface="Arial" panose="020B0604020202020204" pitchFamily="34" charset="0"/>
              <a:buChar char="•"/>
            </a:pPr>
            <a:r>
              <a:rPr lang="ko-KR" altLang="en-US" sz="900" baseline="30000" smtClean="0">
                <a:latin typeface="KB금융 본문체 Light" panose="020B0303000000000000" pitchFamily="50" charset="-127"/>
                <a:ea typeface="KB금융 본문체 Light" panose="020B0303000000000000" pitchFamily="50" charset="-127"/>
                <a:cs typeface="ヒラギノ角ゴ ProN W3"/>
              </a:rPr>
              <a:t>주</a:t>
            </a:r>
            <a:r>
              <a:rPr lang="en-US" altLang="ko-KR" sz="900" baseline="30000" smtClean="0">
                <a:latin typeface="KB금융 본문체 Light" panose="020B0303000000000000" pitchFamily="50" charset="-127"/>
                <a:ea typeface="KB금융 본문체 Light" panose="020B0303000000000000" pitchFamily="50" charset="-127"/>
                <a:cs typeface="ヒラギノ角ゴ ProN W3"/>
              </a:rPr>
              <a:t>1)</a:t>
            </a:r>
            <a:r>
              <a:rPr lang="en-US" altLang="ko-KR" sz="900" smtClean="0">
                <a:latin typeface="KB금융 본문체 Light" panose="020B0303000000000000" pitchFamily="50" charset="-127"/>
                <a:ea typeface="KB금융 본문체 Light" panose="020B0303000000000000" pitchFamily="50" charset="-127"/>
                <a:cs typeface="ヒラギノ角ゴ ProN W3"/>
              </a:rPr>
              <a:t> </a:t>
            </a:r>
            <a:r>
              <a:rPr lang="ko-KR" altLang="en-US" sz="900" smtClean="0">
                <a:latin typeface="KB금융 본문체 Light" panose="020B0303000000000000" pitchFamily="50" charset="-127"/>
                <a:ea typeface="KB금융 본문체 Light" panose="020B0303000000000000" pitchFamily="50" charset="-127"/>
                <a:cs typeface="ヒラギノ角ゴ ProN W3"/>
              </a:rPr>
              <a:t>고유식별번호 </a:t>
            </a:r>
            <a:r>
              <a:rPr lang="en-US" altLang="ko-KR" sz="900" smtClean="0">
                <a:latin typeface="KB금융 본문체 Light" panose="020B0303000000000000" pitchFamily="50" charset="-127"/>
                <a:ea typeface="KB금융 본문체 Light" panose="020B0303000000000000" pitchFamily="50" charset="-127"/>
                <a:cs typeface="ヒラギノ角ゴ ProN W3"/>
              </a:rPr>
              <a:t>: </a:t>
            </a:r>
            <a:r>
              <a:rPr lang="ko-KR" altLang="en-US" sz="900" smtClean="0">
                <a:latin typeface="KB금융 본문체 Light" panose="020B0303000000000000" pitchFamily="50" charset="-127"/>
                <a:ea typeface="KB금융 본문체 Light" panose="020B0303000000000000" pitchFamily="50" charset="-127"/>
                <a:cs typeface="ヒラギノ角ゴ ProN W3"/>
              </a:rPr>
              <a:t>주민등록번호</a:t>
            </a:r>
            <a:r>
              <a:rPr lang="en-US" altLang="ko-KR" sz="900" smtClean="0">
                <a:latin typeface="KB금융 본문체 Light" panose="020B0303000000000000" pitchFamily="50" charset="-127"/>
                <a:ea typeface="KB금융 본문체 Light" panose="020B0303000000000000" pitchFamily="50" charset="-127"/>
                <a:cs typeface="ヒラギノ角ゴ ProN W3"/>
              </a:rPr>
              <a:t>, </a:t>
            </a:r>
            <a:r>
              <a:rPr lang="ko-KR" altLang="en-US" sz="900" smtClean="0">
                <a:latin typeface="KB금융 본문체 Light" panose="020B0303000000000000" pitchFamily="50" charset="-127"/>
                <a:ea typeface="KB금융 본문체 Light" panose="020B0303000000000000" pitchFamily="50" charset="-127"/>
                <a:cs typeface="ヒラギノ角ゴ ProN W3"/>
              </a:rPr>
              <a:t>여권번호</a:t>
            </a:r>
            <a:r>
              <a:rPr lang="en-US" altLang="ko-KR" sz="900" smtClean="0">
                <a:latin typeface="KB금융 본문체 Light" panose="020B0303000000000000" pitchFamily="50" charset="-127"/>
                <a:ea typeface="KB금융 본문체 Light" panose="020B0303000000000000" pitchFamily="50" charset="-127"/>
                <a:cs typeface="ヒラギノ角ゴ ProN W3"/>
              </a:rPr>
              <a:t>, </a:t>
            </a:r>
            <a:r>
              <a:rPr lang="ko-KR" altLang="en-US" sz="900" smtClean="0">
                <a:latin typeface="KB금융 본문체 Light" panose="020B0303000000000000" pitchFamily="50" charset="-127"/>
                <a:ea typeface="KB금융 본문체 Light" panose="020B0303000000000000" pitchFamily="50" charset="-127"/>
                <a:cs typeface="ヒラギノ角ゴ ProN W3"/>
              </a:rPr>
              <a:t>운정면허번호</a:t>
            </a:r>
            <a:r>
              <a:rPr lang="en-US" altLang="ko-KR" sz="900" smtClean="0">
                <a:latin typeface="KB금융 본문체 Light" panose="020B0303000000000000" pitchFamily="50" charset="-127"/>
                <a:ea typeface="KB금융 본문체 Light" panose="020B0303000000000000" pitchFamily="50" charset="-127"/>
                <a:cs typeface="ヒラギノ角ゴ ProN W3"/>
              </a:rPr>
              <a:t>, </a:t>
            </a:r>
            <a:r>
              <a:rPr lang="ko-KR" altLang="en-US" sz="900" smtClean="0">
                <a:latin typeface="KB금융 본문체 Light" panose="020B0303000000000000" pitchFamily="50" charset="-127"/>
                <a:ea typeface="KB금융 본문체 Light" panose="020B0303000000000000" pitchFamily="50" charset="-127"/>
                <a:cs typeface="ヒラギノ角ゴ ProN W3"/>
              </a:rPr>
              <a:t>외국인등록번호</a:t>
            </a:r>
            <a:endParaRPr lang="en-US" altLang="ko-KR" sz="900" smtClean="0">
              <a:latin typeface="KB금융 본문체 Light" panose="020B0303000000000000" pitchFamily="50" charset="-127"/>
              <a:ea typeface="KB금융 본문체 Light" panose="020B0303000000000000" pitchFamily="50" charset="-127"/>
              <a:cs typeface="ヒラギノ角ゴ ProN W3"/>
            </a:endParaRPr>
          </a:p>
          <a:p>
            <a:pPr marL="171450" indent="-171450">
              <a:lnSpc>
                <a:spcPct val="130000"/>
              </a:lnSpc>
              <a:spcBef>
                <a:spcPct val="20000"/>
              </a:spcBef>
              <a:buSzPct val="100000"/>
              <a:buFont typeface="Arial" panose="020B0604020202020204" pitchFamily="34" charset="0"/>
              <a:buChar char="•"/>
            </a:pPr>
            <a:r>
              <a:rPr lang="ko-KR" altLang="en-US" sz="900" baseline="30000" smtClean="0">
                <a:latin typeface="KB금융 본문체 Light" panose="020B0303000000000000" pitchFamily="50" charset="-127"/>
                <a:ea typeface="KB금융 본문체 Light" panose="020B0303000000000000" pitchFamily="50" charset="-127"/>
                <a:cs typeface="ヒラギノ角ゴ ProN W3"/>
              </a:rPr>
              <a:t>주</a:t>
            </a:r>
            <a:r>
              <a:rPr lang="en-US" altLang="ko-KR" sz="900" baseline="30000">
                <a:latin typeface="KB금융 본문체 Light" panose="020B0303000000000000" pitchFamily="50" charset="-127"/>
                <a:ea typeface="KB금융 본문체 Light" panose="020B0303000000000000" pitchFamily="50" charset="-127"/>
                <a:cs typeface="ヒラギノ角ゴ ProN W3"/>
              </a:rPr>
              <a:t>2)</a:t>
            </a:r>
            <a:r>
              <a:rPr lang="en-US" altLang="ko-KR" sz="900">
                <a:latin typeface="KB금융 본문체 Light" panose="020B0303000000000000" pitchFamily="50" charset="-127"/>
                <a:ea typeface="KB금융 본문체 Light" panose="020B0303000000000000" pitchFamily="50" charset="-127"/>
                <a:cs typeface="ヒラギノ角ゴ ProN W3"/>
              </a:rPr>
              <a:t> </a:t>
            </a:r>
            <a:r>
              <a:rPr lang="ko-KR" altLang="en-US" sz="900">
                <a:latin typeface="KB금융 본문체 Light" panose="020B0303000000000000" pitchFamily="50" charset="-127"/>
                <a:ea typeface="KB금융 본문체 Light" panose="020B0303000000000000" pitchFamily="50" charset="-127"/>
                <a:cs typeface="ヒラギノ角ゴ ProN W3"/>
              </a:rPr>
              <a:t>바이오정보 </a:t>
            </a:r>
            <a:r>
              <a:rPr lang="en-US" altLang="ko-KR" sz="900">
                <a:latin typeface="KB금융 본문체 Light" panose="020B0303000000000000" pitchFamily="50" charset="-127"/>
                <a:ea typeface="KB금융 본문체 Light" panose="020B0303000000000000" pitchFamily="50" charset="-127"/>
                <a:cs typeface="ヒラギノ角ゴ ProN W3"/>
              </a:rPr>
              <a:t>: </a:t>
            </a:r>
            <a:r>
              <a:rPr lang="ko-KR" altLang="en-US" sz="900">
                <a:latin typeface="KB금융 본문체 Light" panose="020B0303000000000000" pitchFamily="50" charset="-127"/>
                <a:ea typeface="KB금융 본문체 Light" panose="020B0303000000000000" pitchFamily="50" charset="-127"/>
                <a:cs typeface="ヒラギノ角ゴ ProN W3"/>
              </a:rPr>
              <a:t>지문</a:t>
            </a:r>
            <a:r>
              <a:rPr lang="en-US" altLang="ko-KR" sz="900">
                <a:latin typeface="KB금융 본문체 Light" panose="020B0303000000000000" pitchFamily="50" charset="-127"/>
                <a:ea typeface="KB금융 본문체 Light" panose="020B0303000000000000" pitchFamily="50" charset="-127"/>
                <a:cs typeface="ヒラギノ角ゴ ProN W3"/>
              </a:rPr>
              <a:t>, </a:t>
            </a:r>
            <a:r>
              <a:rPr lang="ko-KR" altLang="en-US" sz="900">
                <a:latin typeface="KB금융 본문체 Light" panose="020B0303000000000000" pitchFamily="50" charset="-127"/>
                <a:ea typeface="KB금융 본문체 Light" panose="020B0303000000000000" pitchFamily="50" charset="-127"/>
                <a:cs typeface="ヒラギノ角ゴ ProN W3"/>
              </a:rPr>
              <a:t>홍채</a:t>
            </a:r>
            <a:r>
              <a:rPr lang="en-US" altLang="ko-KR" sz="900">
                <a:latin typeface="KB금융 본문체 Light" panose="020B0303000000000000" pitchFamily="50" charset="-127"/>
                <a:ea typeface="KB금융 본문체 Light" panose="020B0303000000000000" pitchFamily="50" charset="-127"/>
                <a:cs typeface="ヒラギノ角ゴ ProN W3"/>
              </a:rPr>
              <a:t>, </a:t>
            </a:r>
            <a:r>
              <a:rPr lang="ko-KR" altLang="en-US" sz="900">
                <a:latin typeface="KB금융 본문체 Light" panose="020B0303000000000000" pitchFamily="50" charset="-127"/>
                <a:ea typeface="KB금융 본문체 Light" panose="020B0303000000000000" pitchFamily="50" charset="-127"/>
                <a:cs typeface="ヒラギノ角ゴ ProN W3"/>
              </a:rPr>
              <a:t>정맥</a:t>
            </a:r>
            <a:r>
              <a:rPr lang="en-US" altLang="ko-KR" sz="900">
                <a:latin typeface="KB금융 본문체 Light" panose="020B0303000000000000" pitchFamily="50" charset="-127"/>
                <a:ea typeface="KB금융 본문체 Light" panose="020B0303000000000000" pitchFamily="50" charset="-127"/>
                <a:cs typeface="ヒラギノ角ゴ ProN W3"/>
              </a:rPr>
              <a:t>, </a:t>
            </a:r>
            <a:r>
              <a:rPr lang="ko-KR" altLang="en-US" sz="900">
                <a:latin typeface="KB금융 본문체 Light" panose="020B0303000000000000" pitchFamily="50" charset="-127"/>
                <a:ea typeface="KB금융 본문체 Light" panose="020B0303000000000000" pitchFamily="50" charset="-127"/>
                <a:cs typeface="ヒラギノ角ゴ ProN W3"/>
              </a:rPr>
              <a:t>음성 등 개인을 식별할 수 있는 신체적 또는 행동 특징 </a:t>
            </a:r>
            <a:r>
              <a:rPr lang="ko-KR" altLang="en-US" sz="900" smtClean="0">
                <a:latin typeface="KB금융 본문체 Light" panose="020B0303000000000000" pitchFamily="50" charset="-127"/>
                <a:ea typeface="KB금융 본문체 Light" panose="020B0303000000000000" pitchFamily="50" charset="-127"/>
                <a:cs typeface="ヒラギノ角ゴ ProN W3"/>
              </a:rPr>
              <a:t>정보</a:t>
            </a:r>
            <a:endParaRPr lang="en-US" altLang="ko-KR" sz="900" smtClean="0">
              <a:latin typeface="KB금융 본문체 Light" panose="020B0303000000000000" pitchFamily="50" charset="-127"/>
              <a:ea typeface="KB금융 본문체 Light" panose="020B0303000000000000" pitchFamily="50" charset="-127"/>
              <a:cs typeface="ヒラギノ角ゴ ProN W3"/>
            </a:endParaRPr>
          </a:p>
        </p:txBody>
      </p:sp>
    </p:spTree>
    <p:extLst>
      <p:ext uri="{BB962C8B-B14F-4D97-AF65-F5344CB8AC3E}">
        <p14:creationId xmlns:p14="http://schemas.microsoft.com/office/powerpoint/2010/main" val="15715250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en-US" altLang="ko-KR" dirty="0"/>
              <a:t>3</a:t>
            </a:r>
            <a:r>
              <a:rPr lang="en-US" altLang="ko-KR" smtClean="0"/>
              <a:t>. </a:t>
            </a:r>
            <a:r>
              <a:rPr lang="ko-KR" altLang="en-US" smtClean="0"/>
              <a:t>암호화 알고리즘</a:t>
            </a:r>
            <a:endParaRPr lang="ko-KR" altLang="en-US" dirty="0"/>
          </a:p>
        </p:txBody>
      </p:sp>
      <p:sp>
        <p:nvSpPr>
          <p:cNvPr id="56" name="Rectangle 3"/>
          <p:cNvSpPr>
            <a:spLocks noChangeArrowheads="1"/>
          </p:cNvSpPr>
          <p:nvPr/>
        </p:nvSpPr>
        <p:spPr bwMode="auto">
          <a:xfrm>
            <a:off x="308484" y="764704"/>
            <a:ext cx="9144000" cy="372410"/>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ko-KR" altLang="en-US" sz="1400" b="1" smtClean="0">
                <a:latin typeface="KB금융 본문체 Light" panose="020B0303000000000000" pitchFamily="50" charset="-127"/>
                <a:ea typeface="KB금융 본문체 Light" panose="020B0303000000000000" pitchFamily="50" charset="-127"/>
                <a:cs typeface="ヒラギノ角ゴ ProN W3"/>
              </a:rPr>
              <a:t>방송통신위원회 및 </a:t>
            </a:r>
            <a:r>
              <a:rPr lang="en-US" altLang="ko-KR" sz="1400" b="1" smtClean="0">
                <a:latin typeface="KB금융 본문체 Light" panose="020B0303000000000000" pitchFamily="50" charset="-127"/>
                <a:ea typeface="KB금융 본문체 Light" panose="020B0303000000000000" pitchFamily="50" charset="-127"/>
                <a:cs typeface="ヒラギノ角ゴ ProN W3"/>
              </a:rPr>
              <a:t>KISA</a:t>
            </a:r>
            <a:r>
              <a:rPr lang="ko-KR" altLang="en-US" sz="1400" b="1" smtClean="0">
                <a:latin typeface="KB금융 본문체 Light" panose="020B0303000000000000" pitchFamily="50" charset="-127"/>
                <a:ea typeface="KB금융 본문체 Light" panose="020B0303000000000000" pitchFamily="50" charset="-127"/>
                <a:cs typeface="ヒラギノ角ゴ ProN W3"/>
              </a:rPr>
              <a:t>가 권고하는 암호화 알고리즘</a:t>
            </a:r>
            <a:endParaRPr lang="en-US" altLang="ko-KR" sz="1400" b="1"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21" name="Rectangle 3"/>
          <p:cNvSpPr>
            <a:spLocks noChangeArrowheads="1"/>
          </p:cNvSpPr>
          <p:nvPr/>
        </p:nvSpPr>
        <p:spPr bwMode="auto">
          <a:xfrm>
            <a:off x="699993" y="1142438"/>
            <a:ext cx="8753507" cy="1902059"/>
          </a:xfrm>
          <a:prstGeom prst="rect">
            <a:avLst/>
          </a:prstGeom>
          <a:noFill/>
          <a:ln w="9525" algn="ctr">
            <a:noFill/>
            <a:miter lim="800000"/>
            <a:headEnd/>
            <a:tailEnd/>
          </a:ln>
          <a:effectLst/>
        </p:spPr>
        <p:txBody>
          <a:bodyPr>
            <a:spAutoFit/>
          </a:bodyPr>
          <a:lstStyle/>
          <a:p>
            <a:pPr marL="285750" indent="-285750">
              <a:lnSpc>
                <a:spcPct val="150000"/>
              </a:lnSpc>
              <a:spcBef>
                <a:spcPct val="20000"/>
              </a:spcBef>
              <a:buSzPct val="100000"/>
              <a:buFont typeface="Wingdings" panose="05000000000000000000" pitchFamily="2" charset="2"/>
              <a:buChar char="l"/>
            </a:pPr>
            <a:r>
              <a:rPr lang="en-US" altLang="ko-KR" sz="1200" dirty="0" smtClean="0">
                <a:latin typeface="KB금융 본문체 Light" panose="020B0303000000000000" pitchFamily="50" charset="-127"/>
                <a:ea typeface="KB금융 본문체 Light" panose="020B0303000000000000" pitchFamily="50" charset="-127"/>
                <a:cs typeface="ヒラギノ角ゴ ProN W3"/>
              </a:rPr>
              <a:t>“</a:t>
            </a:r>
            <a:r>
              <a:rPr lang="ko-KR" altLang="en-US" sz="1200" dirty="0" smtClean="0">
                <a:latin typeface="KB금융 본문체 Light" panose="020B0303000000000000" pitchFamily="50" charset="-127"/>
                <a:ea typeface="KB금융 본문체 Light" panose="020B0303000000000000" pitchFamily="50" charset="-127"/>
                <a:cs typeface="ヒラギノ角ゴ ProN W3"/>
              </a:rPr>
              <a:t>개인정보의 기술적 관리적 보호조치 기준 해설서</a:t>
            </a:r>
            <a:r>
              <a:rPr lang="en-US" altLang="ko-KR" sz="1200" dirty="0" smtClean="0">
                <a:latin typeface="KB금융 본문체 Light" panose="020B0303000000000000" pitchFamily="50" charset="-127"/>
                <a:ea typeface="KB금융 본문체 Light" panose="020B0303000000000000" pitchFamily="50" charset="-127"/>
                <a:cs typeface="ヒラギノ角ゴ ProN W3"/>
              </a:rPr>
              <a:t>(</a:t>
            </a:r>
            <a:r>
              <a:rPr lang="ko-KR" altLang="en-US" sz="1200" dirty="0" smtClean="0">
                <a:latin typeface="KB금융 본문체 Light" panose="020B0303000000000000" pitchFamily="50" charset="-127"/>
                <a:ea typeface="KB금융 본문체 Light" panose="020B0303000000000000" pitchFamily="50" charset="-127"/>
                <a:cs typeface="ヒラギノ角ゴ ProN W3"/>
              </a:rPr>
              <a:t>개정</a:t>
            </a:r>
            <a:r>
              <a:rPr lang="en-US" altLang="ko-KR" sz="1200" dirty="0" smtClean="0">
                <a:latin typeface="KB금융 본문체 Light" panose="020B0303000000000000" pitchFamily="50" charset="-127"/>
                <a:ea typeface="KB금융 본문체 Light" panose="020B0303000000000000" pitchFamily="50" charset="-127"/>
                <a:cs typeface="ヒラギノ角ゴ ProN W3"/>
              </a:rPr>
              <a:t>)(2017.01)”</a:t>
            </a:r>
            <a:r>
              <a:rPr lang="ko-KR" altLang="en-US" sz="1200" dirty="0" smtClean="0">
                <a:latin typeface="KB금융 본문체 Light" panose="020B0303000000000000" pitchFamily="50" charset="-127"/>
                <a:ea typeface="KB금융 본문체 Light" panose="020B0303000000000000" pitchFamily="50" charset="-127"/>
                <a:cs typeface="ヒラギノ角ゴ ProN W3"/>
              </a:rPr>
              <a:t>에 따라 </a:t>
            </a:r>
            <a:r>
              <a:rPr lang="ko-KR" altLang="en-US" sz="1200" b="1" u="sng" dirty="0" smtClean="0">
                <a:latin typeface="KB금융 본문체 Light" panose="020B0303000000000000" pitchFamily="50" charset="-127"/>
                <a:ea typeface="KB금융 본문체 Light" panose="020B0303000000000000" pitchFamily="50" charset="-127"/>
                <a:cs typeface="ヒラギノ角ゴ ProN W3"/>
              </a:rPr>
              <a:t>양방향 알고리즘은 키길이 </a:t>
            </a:r>
            <a:r>
              <a:rPr lang="en-US" altLang="ko-KR" sz="1200" b="1" u="sng" smtClean="0">
                <a:latin typeface="KB금융 본문체 Light" panose="020B0303000000000000" pitchFamily="50" charset="-127"/>
                <a:ea typeface="KB금융 본문체 Light" panose="020B0303000000000000" pitchFamily="50" charset="-127"/>
                <a:cs typeface="ヒラギノ角ゴ ProN W3"/>
              </a:rPr>
              <a:t>128 </a:t>
            </a:r>
            <a:r>
              <a:rPr lang="ko-KR" altLang="en-US" sz="1200" b="1" u="sng" smtClean="0">
                <a:latin typeface="KB금융 본문체 Light" panose="020B0303000000000000" pitchFamily="50" charset="-127"/>
                <a:ea typeface="KB금융 본문체 Light" panose="020B0303000000000000" pitchFamily="50" charset="-127"/>
                <a:cs typeface="ヒラギノ角ゴ ProN W3"/>
              </a:rPr>
              <a:t>비트</a:t>
            </a:r>
            <a:r>
              <a:rPr lang="en-US" altLang="ko-KR" sz="1200" b="1" u="sng" smtClean="0">
                <a:latin typeface="KB금융 본문체 Light" panose="020B0303000000000000" pitchFamily="50" charset="-127"/>
                <a:ea typeface="KB금융 본문체 Light" panose="020B0303000000000000" pitchFamily="50" charset="-127"/>
                <a:cs typeface="ヒラギノ角ゴ ProN W3"/>
              </a:rPr>
              <a:t> </a:t>
            </a:r>
            <a:r>
              <a:rPr lang="ko-KR" altLang="en-US" sz="1200" b="1" u="sng" dirty="0" smtClean="0">
                <a:latin typeface="KB금융 본문체 Light" panose="020B0303000000000000" pitchFamily="50" charset="-127"/>
                <a:ea typeface="KB금융 본문체 Light" panose="020B0303000000000000" pitchFamily="50" charset="-127"/>
                <a:cs typeface="ヒラギノ角ゴ ProN W3"/>
              </a:rPr>
              <a:t>이상</a:t>
            </a:r>
            <a:r>
              <a:rPr lang="en-US" altLang="ko-KR" sz="1200" b="1" u="sng" dirty="0" smtClean="0">
                <a:latin typeface="KB금융 본문체 Light" panose="020B0303000000000000" pitchFamily="50" charset="-127"/>
                <a:ea typeface="KB금융 본문체 Light" panose="020B0303000000000000" pitchFamily="50" charset="-127"/>
                <a:cs typeface="ヒラギノ角ゴ ProN W3"/>
              </a:rPr>
              <a:t>, </a:t>
            </a:r>
            <a:r>
              <a:rPr lang="ko-KR" altLang="en-US" sz="1200" b="1" u="sng" dirty="0" smtClean="0">
                <a:latin typeface="KB금융 본문체 Light" panose="020B0303000000000000" pitchFamily="50" charset="-127"/>
                <a:ea typeface="KB금융 본문체 Light" panose="020B0303000000000000" pitchFamily="50" charset="-127"/>
                <a:cs typeface="ヒラギノ角ゴ ProN W3"/>
              </a:rPr>
              <a:t>일방향 알고리즘은 결과값이 </a:t>
            </a:r>
            <a:r>
              <a:rPr lang="en-US" altLang="ko-KR" sz="1200" b="1" u="sng" smtClean="0">
                <a:latin typeface="KB금융 본문체 Light" panose="020B0303000000000000" pitchFamily="50" charset="-127"/>
                <a:ea typeface="KB금융 본문체 Light" panose="020B0303000000000000" pitchFamily="50" charset="-127"/>
                <a:cs typeface="ヒラギノ角ゴ ProN W3"/>
              </a:rPr>
              <a:t>128 </a:t>
            </a:r>
            <a:r>
              <a:rPr lang="ko-KR" altLang="en-US" sz="1200" b="1" u="sng" smtClean="0">
                <a:latin typeface="KB금융 본문체 Light" panose="020B0303000000000000" pitchFamily="50" charset="-127"/>
                <a:ea typeface="KB금융 본문체 Light" panose="020B0303000000000000" pitchFamily="50" charset="-127"/>
                <a:cs typeface="ヒラギノ角ゴ ProN W3"/>
              </a:rPr>
              <a:t>비트</a:t>
            </a:r>
            <a:r>
              <a:rPr lang="en-US" altLang="ko-KR" sz="1200" b="1" u="sng" smtClean="0">
                <a:latin typeface="KB금융 본문체 Light" panose="020B0303000000000000" pitchFamily="50" charset="-127"/>
                <a:ea typeface="KB금융 본문체 Light" panose="020B0303000000000000" pitchFamily="50" charset="-127"/>
                <a:cs typeface="ヒラギノ角ゴ ProN W3"/>
              </a:rPr>
              <a:t> </a:t>
            </a:r>
            <a:r>
              <a:rPr lang="ko-KR" altLang="en-US" sz="1200" b="1" u="sng" dirty="0" smtClean="0">
                <a:latin typeface="KB금융 본문체 Light" panose="020B0303000000000000" pitchFamily="50" charset="-127"/>
                <a:ea typeface="KB금융 본문체 Light" panose="020B0303000000000000" pitchFamily="50" charset="-127"/>
                <a:cs typeface="ヒラギノ角ゴ ProN W3"/>
              </a:rPr>
              <a:t>이상</a:t>
            </a:r>
            <a:r>
              <a:rPr lang="ko-KR" altLang="en-US" sz="1200" dirty="0" smtClean="0">
                <a:latin typeface="KB금융 본문체 Light" panose="020B0303000000000000" pitchFamily="50" charset="-127"/>
                <a:ea typeface="KB금융 본문체 Light" panose="020B0303000000000000" pitchFamily="50" charset="-127"/>
                <a:cs typeface="ヒラギノ角ゴ ProN W3"/>
              </a:rPr>
              <a:t>을 권고함</a:t>
            </a:r>
            <a:endParaRPr lang="en-US" altLang="ko-KR" sz="1200" dirty="0" smtClean="0">
              <a:latin typeface="KB금융 본문체 Light" panose="020B0303000000000000" pitchFamily="50" charset="-127"/>
              <a:ea typeface="KB금융 본문체 Light" panose="020B0303000000000000" pitchFamily="50" charset="-127"/>
              <a:cs typeface="ヒラギノ角ゴ ProN W3"/>
            </a:endParaRPr>
          </a:p>
          <a:p>
            <a:pPr marL="285750" indent="-285750">
              <a:lnSpc>
                <a:spcPct val="150000"/>
              </a:lnSpc>
              <a:spcBef>
                <a:spcPct val="20000"/>
              </a:spcBef>
              <a:buSzPct val="100000"/>
              <a:buFont typeface="Wingdings" panose="05000000000000000000" pitchFamily="2" charset="2"/>
              <a:buChar char="l"/>
            </a:pPr>
            <a:r>
              <a:rPr lang="ko-KR" altLang="en-US" sz="1200" dirty="0">
                <a:latin typeface="KB금융 본문체 Light" panose="020B0303000000000000" pitchFamily="50" charset="-127"/>
                <a:ea typeface="KB금융 본문체 Light" panose="020B0303000000000000" pitchFamily="50" charset="-127"/>
                <a:cs typeface="ヒラギノ角ゴ ProN W3"/>
              </a:rPr>
              <a:t>금융기관의 경우</a:t>
            </a:r>
            <a:r>
              <a:rPr lang="en-US" altLang="ko-KR" sz="1200" dirty="0">
                <a:latin typeface="KB금융 본문체 Light" panose="020B0303000000000000" pitchFamily="50" charset="-127"/>
                <a:ea typeface="KB금융 본문체 Light" panose="020B0303000000000000" pitchFamily="50" charset="-127"/>
                <a:cs typeface="ヒラギノ角ゴ ProN W3"/>
              </a:rPr>
              <a:t>, </a:t>
            </a:r>
            <a:r>
              <a:rPr lang="ko-KR" altLang="en-US" sz="1200" dirty="0">
                <a:latin typeface="KB금융 본문체 Light" panose="020B0303000000000000" pitchFamily="50" charset="-127"/>
                <a:ea typeface="KB금융 본문체 Light" panose="020B0303000000000000" pitchFamily="50" charset="-127"/>
                <a:cs typeface="ヒラギノ角ゴ ProN W3"/>
              </a:rPr>
              <a:t>보안과 성능측면을 고려하여 </a:t>
            </a:r>
            <a:r>
              <a:rPr lang="en-US" altLang="ko-KR" sz="1200" b="1" u="sng" dirty="0">
                <a:latin typeface="KB금융 본문체 Light" panose="020B0303000000000000" pitchFamily="50" charset="-127"/>
                <a:ea typeface="KB금융 본문체 Light" panose="020B0303000000000000" pitchFamily="50" charset="-127"/>
                <a:cs typeface="ヒラギノ角ゴ ProN W3"/>
              </a:rPr>
              <a:t>AES-256, SHA-256</a:t>
            </a:r>
            <a:r>
              <a:rPr lang="en-US" altLang="ko-KR" sz="1200" dirty="0">
                <a:latin typeface="KB금융 본문체 Light" panose="020B0303000000000000" pitchFamily="50" charset="-127"/>
                <a:ea typeface="KB금융 본문체 Light" panose="020B0303000000000000" pitchFamily="50" charset="-127"/>
                <a:cs typeface="ヒラギノ角ゴ ProN W3"/>
              </a:rPr>
              <a:t> </a:t>
            </a:r>
            <a:r>
              <a:rPr lang="ko-KR" altLang="en-US" sz="1200" dirty="0">
                <a:latin typeface="KB금융 본문체 Light" panose="020B0303000000000000" pitchFamily="50" charset="-127"/>
                <a:ea typeface="KB금융 본문체 Light" panose="020B0303000000000000" pitchFamily="50" charset="-127"/>
                <a:cs typeface="ヒラギノ角ゴ ProN W3"/>
              </a:rPr>
              <a:t>을 주로 적용</a:t>
            </a:r>
            <a:endParaRPr lang="en-US" altLang="ko-KR" sz="1200" dirty="0" smtClean="0">
              <a:latin typeface="KB금융 본문체 Light" panose="020B0303000000000000" pitchFamily="50" charset="-127"/>
              <a:ea typeface="KB금융 본문체 Light" panose="020B0303000000000000" pitchFamily="50" charset="-127"/>
              <a:cs typeface="ヒラギノ角ゴ ProN W3"/>
            </a:endParaRPr>
          </a:p>
          <a:p>
            <a:pPr marL="285750" indent="-285750">
              <a:lnSpc>
                <a:spcPct val="150000"/>
              </a:lnSpc>
              <a:spcBef>
                <a:spcPct val="20000"/>
              </a:spcBef>
              <a:buSzPct val="100000"/>
              <a:buFont typeface="Wingdings" panose="05000000000000000000" pitchFamily="2" charset="2"/>
              <a:buChar char="l"/>
            </a:pPr>
            <a:r>
              <a:rPr lang="ko-KR" altLang="en-US" sz="1200" dirty="0" smtClean="0">
                <a:latin typeface="KB금융 본문체 Light" panose="020B0303000000000000" pitchFamily="50" charset="-127"/>
                <a:ea typeface="KB금융 본문체 Light" panose="020B0303000000000000" pitchFamily="50" charset="-127"/>
                <a:cs typeface="ヒラギノ角ゴ ProN W3"/>
              </a:rPr>
              <a:t>공공기관의 </a:t>
            </a:r>
            <a:r>
              <a:rPr lang="ko-KR" altLang="en-US" sz="1200" dirty="0">
                <a:latin typeface="KB금융 본문체 Light" panose="020B0303000000000000" pitchFamily="50" charset="-127"/>
                <a:ea typeface="KB금융 본문체 Light" panose="020B0303000000000000" pitchFamily="50" charset="-127"/>
                <a:cs typeface="ヒラギノ角ゴ ProN W3"/>
              </a:rPr>
              <a:t>경우</a:t>
            </a:r>
            <a:r>
              <a:rPr lang="en-US" altLang="ko-KR" sz="1200" dirty="0">
                <a:latin typeface="KB금융 본문체 Light" panose="020B0303000000000000" pitchFamily="50" charset="-127"/>
                <a:ea typeface="KB금융 본문체 Light" panose="020B0303000000000000" pitchFamily="50" charset="-127"/>
                <a:cs typeface="ヒラギノ角ゴ ProN W3"/>
              </a:rPr>
              <a:t>, </a:t>
            </a:r>
            <a:r>
              <a:rPr lang="ko-KR" altLang="en-US" sz="1200" dirty="0">
                <a:latin typeface="KB금융 본문체 Light" panose="020B0303000000000000" pitchFamily="50" charset="-127"/>
                <a:ea typeface="KB금융 본문체 Light" panose="020B0303000000000000" pitchFamily="50" charset="-127"/>
                <a:cs typeface="ヒラギノ角ゴ ProN W3"/>
              </a:rPr>
              <a:t>검증대상 암호 알고리즘인 </a:t>
            </a:r>
            <a:r>
              <a:rPr lang="en-US" altLang="ko-KR" sz="1200" dirty="0">
                <a:latin typeface="KB금융 본문체 Light" panose="020B0303000000000000" pitchFamily="50" charset="-127"/>
                <a:ea typeface="KB금융 본문체 Light" panose="020B0303000000000000" pitchFamily="50" charset="-127"/>
                <a:cs typeface="ヒラギノ角ゴ ProN W3"/>
              </a:rPr>
              <a:t>SEED, ARIA </a:t>
            </a:r>
            <a:r>
              <a:rPr lang="ko-KR" altLang="en-US" sz="1200" dirty="0">
                <a:latin typeface="KB금융 본문체 Light" panose="020B0303000000000000" pitchFamily="50" charset="-127"/>
                <a:ea typeface="KB금융 본문체 Light" panose="020B0303000000000000" pitchFamily="50" charset="-127"/>
                <a:cs typeface="ヒラギノ角ゴ ProN W3"/>
              </a:rPr>
              <a:t>및 </a:t>
            </a:r>
            <a:r>
              <a:rPr lang="en-US" altLang="ko-KR" sz="1200" dirty="0">
                <a:latin typeface="KB금융 본문체 Light" panose="020B0303000000000000" pitchFamily="50" charset="-127"/>
                <a:ea typeface="KB금융 본문체 Light" panose="020B0303000000000000" pitchFamily="50" charset="-127"/>
                <a:cs typeface="ヒラギノ角ゴ ProN W3"/>
              </a:rPr>
              <a:t>SHA-2 </a:t>
            </a:r>
            <a:r>
              <a:rPr lang="ko-KR" altLang="en-US" sz="1200" dirty="0">
                <a:latin typeface="KB금융 본문체 Light" panose="020B0303000000000000" pitchFamily="50" charset="-127"/>
                <a:ea typeface="KB금융 본문체 Light" panose="020B0303000000000000" pitchFamily="50" charset="-127"/>
                <a:cs typeface="ヒラギノ角ゴ ProN W3"/>
              </a:rPr>
              <a:t>를 사용해야 국정원 보안적합성 심의 통과 </a:t>
            </a:r>
            <a:r>
              <a:rPr lang="ko-KR" altLang="en-US" sz="1200" dirty="0" smtClean="0">
                <a:latin typeface="KB금융 본문체 Light" panose="020B0303000000000000" pitchFamily="50" charset="-127"/>
                <a:ea typeface="KB금융 본문체 Light" panose="020B0303000000000000" pitchFamily="50" charset="-127"/>
                <a:cs typeface="ヒラギノ角ゴ ProN W3"/>
              </a:rPr>
              <a:t>가능</a:t>
            </a:r>
            <a:endParaRPr lang="en-US" altLang="ko-KR" sz="1200" dirty="0" smtClean="0">
              <a:latin typeface="KB금융 본문체 Light" panose="020B0303000000000000" pitchFamily="50" charset="-127"/>
              <a:ea typeface="KB금융 본문체 Light" panose="020B0303000000000000" pitchFamily="50" charset="-127"/>
              <a:cs typeface="ヒラギノ角ゴ ProN W3"/>
            </a:endParaRPr>
          </a:p>
          <a:p>
            <a:pPr>
              <a:lnSpc>
                <a:spcPct val="150000"/>
              </a:lnSpc>
              <a:spcBef>
                <a:spcPct val="20000"/>
              </a:spcBef>
              <a:buSzPct val="100000"/>
            </a:pPr>
            <a:r>
              <a:rPr lang="ko-KR" altLang="en-US" sz="1200" dirty="0">
                <a:latin typeface="KB금융 본문체 Light" panose="020B0303000000000000" pitchFamily="50" charset="-127"/>
                <a:ea typeface="KB금융 본문체 Light" panose="020B0303000000000000" pitchFamily="50" charset="-127"/>
                <a:cs typeface="ヒラギノ角ゴ ProN W3"/>
              </a:rPr>
              <a:t> </a:t>
            </a:r>
            <a:r>
              <a:rPr lang="ko-KR" altLang="en-US" sz="1200" dirty="0" smtClean="0">
                <a:latin typeface="KB금융 본문체 Light" panose="020B0303000000000000" pitchFamily="50" charset="-127"/>
                <a:ea typeface="KB금융 본문체 Light" panose="020B0303000000000000" pitchFamily="50" charset="-127"/>
                <a:cs typeface="ヒラギノ角ゴ ProN W3"/>
              </a:rPr>
              <a:t>      </a:t>
            </a:r>
            <a:r>
              <a:rPr lang="en-US" altLang="ko-KR" sz="1200" dirty="0" smtClean="0">
                <a:latin typeface="KB금융 본문체 Light" panose="020B0303000000000000" pitchFamily="50" charset="-127"/>
                <a:ea typeface="KB금융 본문체 Light" panose="020B0303000000000000" pitchFamily="50" charset="-127"/>
                <a:cs typeface="ヒラギノ角ゴ ProN W3"/>
              </a:rPr>
              <a:t>- </a:t>
            </a:r>
            <a:r>
              <a:rPr lang="ko-KR" altLang="en-US" sz="1200" dirty="0">
                <a:latin typeface="KB금융 본문체 Light" panose="020B0303000000000000" pitchFamily="50" charset="-127"/>
                <a:ea typeface="KB금융 본문체 Light" panose="020B0303000000000000" pitchFamily="50" charset="-127"/>
                <a:cs typeface="ヒラギノ角ゴ ProN W3"/>
              </a:rPr>
              <a:t>공공기관의 경우</a:t>
            </a:r>
            <a:r>
              <a:rPr lang="en-US" altLang="ko-KR" sz="1200" dirty="0">
                <a:latin typeface="KB금융 본문체 Light" panose="020B0303000000000000" pitchFamily="50" charset="-127"/>
                <a:ea typeface="KB금융 본문체 Light" panose="020B0303000000000000" pitchFamily="50" charset="-127"/>
                <a:cs typeface="ヒラギノ角ゴ ProN W3"/>
              </a:rPr>
              <a:t>, </a:t>
            </a:r>
            <a:r>
              <a:rPr lang="ko-KR" altLang="en-US" sz="1200" dirty="0">
                <a:latin typeface="KB금융 본문체 Light" panose="020B0303000000000000" pitchFamily="50" charset="-127"/>
                <a:ea typeface="KB금융 본문체 Light" panose="020B0303000000000000" pitchFamily="50" charset="-127"/>
                <a:cs typeface="ヒラギノ角ゴ ProN W3"/>
              </a:rPr>
              <a:t>국가정보원 </a:t>
            </a:r>
            <a:r>
              <a:rPr lang="en-US" altLang="ko-KR" sz="1200" dirty="0">
                <a:latin typeface="KB금융 본문체 Light" panose="020B0303000000000000" pitchFamily="50" charset="-127"/>
                <a:ea typeface="KB금융 본문체 Light" panose="020B0303000000000000" pitchFamily="50" charset="-127"/>
                <a:cs typeface="ヒラギノ角ゴ ProN W3"/>
              </a:rPr>
              <a:t>(IT</a:t>
            </a:r>
            <a:r>
              <a:rPr lang="ko-KR" altLang="en-US" sz="1200" dirty="0">
                <a:latin typeface="KB금융 본문체 Light" panose="020B0303000000000000" pitchFamily="50" charset="-127"/>
                <a:ea typeface="KB금융 본문체 Light" panose="020B0303000000000000" pitchFamily="50" charset="-127"/>
                <a:cs typeface="ヒラギノ角ゴ ProN W3"/>
              </a:rPr>
              <a:t>보안인증사무국</a:t>
            </a:r>
            <a:r>
              <a:rPr lang="en-US" altLang="ko-KR" sz="1200" dirty="0">
                <a:latin typeface="KB금융 본문체 Light" panose="020B0303000000000000" pitchFamily="50" charset="-127"/>
                <a:ea typeface="KB금융 본문체 Light" panose="020B0303000000000000" pitchFamily="50" charset="-127"/>
                <a:cs typeface="ヒラギノ角ゴ ProN W3"/>
              </a:rPr>
              <a:t>) </a:t>
            </a:r>
            <a:r>
              <a:rPr lang="ko-KR" altLang="en-US" sz="1200" dirty="0">
                <a:latin typeface="KB금융 본문체 Light" panose="020B0303000000000000" pitchFamily="50" charset="-127"/>
                <a:ea typeface="KB금융 본문체 Light" panose="020B0303000000000000" pitchFamily="50" charset="-127"/>
                <a:cs typeface="ヒラギノ角ゴ ProN W3"/>
              </a:rPr>
              <a:t>검증대상 암호알고리즘 </a:t>
            </a:r>
            <a:r>
              <a:rPr lang="en-US" altLang="ko-KR" sz="1200" dirty="0">
                <a:latin typeface="KB금융 본문체 Light" panose="020B0303000000000000" pitchFamily="50" charset="-127"/>
                <a:ea typeface="KB금융 본문체 Light" panose="020B0303000000000000" pitchFamily="50" charset="-127"/>
                <a:cs typeface="ヒラギノ角ゴ ProN W3"/>
              </a:rPr>
              <a:t>(ARIA, SEED, SHA-2 </a:t>
            </a:r>
            <a:r>
              <a:rPr lang="ko-KR" altLang="en-US" sz="1200" dirty="0">
                <a:latin typeface="KB금융 본문체 Light" panose="020B0303000000000000" pitchFamily="50" charset="-127"/>
                <a:ea typeface="KB금융 본문체 Light" panose="020B0303000000000000" pitchFamily="50" charset="-127"/>
                <a:cs typeface="ヒラギノ角ゴ ProN W3"/>
              </a:rPr>
              <a:t>등</a:t>
            </a:r>
            <a:r>
              <a:rPr lang="en-US" altLang="ko-KR" sz="1200" dirty="0">
                <a:latin typeface="KB금융 본문체 Light" panose="020B0303000000000000" pitchFamily="50" charset="-127"/>
                <a:ea typeface="KB금융 본문체 Light" panose="020B0303000000000000" pitchFamily="50" charset="-127"/>
                <a:cs typeface="ヒラギノ角ゴ ProN W3"/>
              </a:rPr>
              <a:t>) </a:t>
            </a:r>
            <a:r>
              <a:rPr lang="ko-KR" altLang="en-US" sz="1200" dirty="0">
                <a:latin typeface="KB금융 본문체 Light" panose="020B0303000000000000" pitchFamily="50" charset="-127"/>
                <a:ea typeface="KB금융 본문체 Light" panose="020B0303000000000000" pitchFamily="50" charset="-127"/>
                <a:cs typeface="ヒラギノ角ゴ ProN W3"/>
              </a:rPr>
              <a:t>사용을 </a:t>
            </a:r>
            <a:r>
              <a:rPr lang="ko-KR" altLang="en-US" sz="1200" dirty="0" smtClean="0">
                <a:latin typeface="KB금융 본문체 Light" panose="020B0303000000000000" pitchFamily="50" charset="-127"/>
                <a:ea typeface="KB금융 본문체 Light" panose="020B0303000000000000" pitchFamily="50" charset="-127"/>
                <a:cs typeface="ヒラギノ角ゴ ProN W3"/>
              </a:rPr>
              <a:t>권고</a:t>
            </a:r>
            <a:endParaRPr lang="en-US" altLang="ko-KR" sz="1200" dirty="0" smtClean="0">
              <a:latin typeface="KB금융 본문체 Light" panose="020B0303000000000000" pitchFamily="50" charset="-127"/>
              <a:ea typeface="KB금융 본문체 Light" panose="020B0303000000000000" pitchFamily="50" charset="-127"/>
              <a:cs typeface="ヒラギノ角ゴ ProN W3"/>
            </a:endParaRPr>
          </a:p>
          <a:p>
            <a:pPr marL="285750" indent="-285750">
              <a:lnSpc>
                <a:spcPct val="150000"/>
              </a:lnSpc>
              <a:spcBef>
                <a:spcPct val="20000"/>
              </a:spcBef>
              <a:buSzPct val="100000"/>
              <a:buFont typeface="Wingdings" panose="05000000000000000000" pitchFamily="2" charset="2"/>
              <a:buChar char="l"/>
            </a:pPr>
            <a:r>
              <a:rPr lang="ko-KR" altLang="en-US" sz="1200" dirty="0">
                <a:latin typeface="KB금융 본문체 Light" panose="020B0303000000000000" pitchFamily="50" charset="-127"/>
                <a:ea typeface="KB금융 본문체 Light" panose="020B0303000000000000" pitchFamily="50" charset="-127"/>
                <a:cs typeface="ヒラギノ角ゴ ProN W3"/>
              </a:rPr>
              <a:t>암호키 길이가 증가할 수록 보안도는 높아지지만 성능은 저하되는 </a:t>
            </a:r>
            <a:r>
              <a:rPr lang="ko-KR" altLang="en-US" sz="1200" dirty="0" smtClean="0">
                <a:latin typeface="KB금융 본문체 Light" panose="020B0303000000000000" pitchFamily="50" charset="-127"/>
                <a:ea typeface="KB금융 본문체 Light" panose="020B0303000000000000" pitchFamily="50" charset="-127"/>
                <a:cs typeface="ヒラギノ角ゴ ProN W3"/>
              </a:rPr>
              <a:t>특성을 </a:t>
            </a:r>
            <a:r>
              <a:rPr lang="ko-KR" altLang="en-US" sz="1200" dirty="0">
                <a:latin typeface="KB금융 본문체 Light" panose="020B0303000000000000" pitchFamily="50" charset="-127"/>
                <a:ea typeface="KB금융 본문체 Light" panose="020B0303000000000000" pitchFamily="50" charset="-127"/>
                <a:cs typeface="ヒラギノ角ゴ ProN W3"/>
              </a:rPr>
              <a:t>가지고 있음</a:t>
            </a:r>
            <a:endParaRPr lang="en-US" altLang="ko-KR" sz="1200"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7" name="Rectangle 3"/>
          <p:cNvSpPr>
            <a:spLocks noChangeArrowheads="1"/>
          </p:cNvSpPr>
          <p:nvPr/>
        </p:nvSpPr>
        <p:spPr bwMode="auto">
          <a:xfrm>
            <a:off x="416496" y="5732280"/>
            <a:ext cx="8183044" cy="480131"/>
          </a:xfrm>
          <a:prstGeom prst="rect">
            <a:avLst/>
          </a:prstGeom>
          <a:noFill/>
          <a:ln w="9525" algn="ctr">
            <a:noFill/>
            <a:miter lim="800000"/>
            <a:headEnd/>
            <a:tailEnd/>
          </a:ln>
          <a:effectLst/>
        </p:spPr>
        <p:txBody>
          <a:bodyPr wrap="square">
            <a:spAutoFit/>
          </a:bodyPr>
          <a:lstStyle/>
          <a:p>
            <a:pPr marL="171450" indent="-171450">
              <a:lnSpc>
                <a:spcPct val="130000"/>
              </a:lnSpc>
              <a:spcBef>
                <a:spcPct val="20000"/>
              </a:spcBef>
              <a:buSzPct val="100000"/>
              <a:buFont typeface="Arial" panose="020B0604020202020204" pitchFamily="34" charset="0"/>
              <a:buChar char="•"/>
            </a:pPr>
            <a:r>
              <a:rPr lang="ko-KR" altLang="en-US" sz="900" baseline="30000" smtClean="0">
                <a:latin typeface="KB금융 본문체 Light" panose="020B0303000000000000" pitchFamily="50" charset="-127"/>
                <a:ea typeface="KB금융 본문체 Light" panose="020B0303000000000000" pitchFamily="50" charset="-127"/>
                <a:cs typeface="ヒラギノ角ゴ ProN W3"/>
              </a:rPr>
              <a:t>주</a:t>
            </a:r>
            <a:r>
              <a:rPr lang="en-US" altLang="ko-KR" sz="900" baseline="30000" smtClean="0">
                <a:latin typeface="KB금융 본문체 Light" panose="020B0303000000000000" pitchFamily="50" charset="-127"/>
                <a:ea typeface="KB금융 본문체 Light" panose="020B0303000000000000" pitchFamily="50" charset="-127"/>
                <a:cs typeface="ヒラギノ角ゴ ProN W3"/>
              </a:rPr>
              <a:t>1)</a:t>
            </a:r>
            <a:r>
              <a:rPr lang="en-US" altLang="ko-KR" sz="900" smtClean="0">
                <a:latin typeface="KB금융 본문체 Light" panose="020B0303000000000000" pitchFamily="50" charset="-127"/>
                <a:ea typeface="KB금융 본문체 Light" panose="020B0303000000000000" pitchFamily="50" charset="-127"/>
                <a:cs typeface="ヒラギノ角ゴ ProN W3"/>
              </a:rPr>
              <a:t> </a:t>
            </a:r>
            <a:r>
              <a:rPr lang="ko-KR" altLang="en-US" sz="900" smtClean="0">
                <a:latin typeface="KB금융 본문체 Light" panose="020B0303000000000000" pitchFamily="50" charset="-127"/>
                <a:ea typeface="KB금융 본문체 Light" panose="020B0303000000000000" pitchFamily="50" charset="-127"/>
                <a:cs typeface="ヒラギノ角ゴ ProN W3"/>
              </a:rPr>
              <a:t>보안강도 </a:t>
            </a:r>
            <a:r>
              <a:rPr lang="en-US" altLang="ko-KR" sz="900" smtClean="0">
                <a:latin typeface="KB금융 본문체 Light" panose="020B0303000000000000" pitchFamily="50" charset="-127"/>
                <a:ea typeface="KB금융 본문체 Light" panose="020B0303000000000000" pitchFamily="50" charset="-127"/>
                <a:cs typeface="ヒラギノ角ゴ ProN W3"/>
              </a:rPr>
              <a:t>: </a:t>
            </a:r>
            <a:r>
              <a:rPr lang="ko-KR" altLang="en-US" sz="900" smtClean="0">
                <a:latin typeface="KB금융 본문체 Light" panose="020B0303000000000000" pitchFamily="50" charset="-127"/>
                <a:ea typeface="KB금융 본문체 Light" panose="020B0303000000000000" pitchFamily="50" charset="-127"/>
                <a:cs typeface="ヒラギノ角ゴ ProN W3"/>
              </a:rPr>
              <a:t>암호 </a:t>
            </a:r>
            <a:r>
              <a:rPr lang="ko-KR" altLang="en-US" sz="900">
                <a:latin typeface="KB금융 본문체 Light" panose="020B0303000000000000" pitchFamily="50" charset="-127"/>
                <a:ea typeface="KB금융 본문체 Light" panose="020B0303000000000000" pitchFamily="50" charset="-127"/>
                <a:cs typeface="ヒラギノ角ゴ ProN W3"/>
              </a:rPr>
              <a:t>알고리즘이나 시스템의 암호키 또는 해시함수의 취약성을 찾아내는데 소요되는 작업량을 수치화한 것으로 </a:t>
            </a:r>
            <a:r>
              <a:rPr lang="en-US" altLang="ko-KR" sz="900" smtClean="0">
                <a:latin typeface="KB금융 본문체 Light" panose="020B0303000000000000" pitchFamily="50" charset="-127"/>
                <a:ea typeface="KB금융 본문체 Light" panose="020B0303000000000000" pitchFamily="50" charset="-127"/>
                <a:cs typeface="ヒラギノ角ゴ ProN W3"/>
              </a:rPr>
              <a:t>112, 128, 192, 256 </a:t>
            </a:r>
            <a:r>
              <a:rPr lang="ko-KR" altLang="en-US" sz="900">
                <a:latin typeface="KB금융 본문체 Light" panose="020B0303000000000000" pitchFamily="50" charset="-127"/>
                <a:ea typeface="KB금융 본문체 Light" panose="020B0303000000000000" pitchFamily="50" charset="-127"/>
                <a:cs typeface="ヒラギノ角ゴ ProN W3"/>
              </a:rPr>
              <a:t>비트로 </a:t>
            </a:r>
            <a:r>
              <a:rPr lang="ko-KR" altLang="en-US" sz="900" smtClean="0">
                <a:latin typeface="KB금융 본문체 Light" panose="020B0303000000000000" pitchFamily="50" charset="-127"/>
                <a:ea typeface="KB금융 본문체 Light" panose="020B0303000000000000" pitchFamily="50" charset="-127"/>
                <a:cs typeface="ヒラギノ角ゴ ProN W3"/>
              </a:rPr>
              <a:t>정의</a:t>
            </a:r>
            <a:endParaRPr lang="en-US" altLang="ko-KR" sz="900" smtClean="0">
              <a:latin typeface="KB금융 본문체 Light" panose="020B0303000000000000" pitchFamily="50" charset="-127"/>
              <a:ea typeface="KB금융 본문체 Light" panose="020B0303000000000000" pitchFamily="50" charset="-127"/>
              <a:cs typeface="ヒラギノ角ゴ ProN W3"/>
            </a:endParaRPr>
          </a:p>
          <a:p>
            <a:pPr marL="171450" indent="-171450">
              <a:lnSpc>
                <a:spcPct val="130000"/>
              </a:lnSpc>
              <a:spcBef>
                <a:spcPct val="20000"/>
              </a:spcBef>
              <a:buSzPct val="100000"/>
              <a:buFont typeface="Arial" panose="020B0604020202020204" pitchFamily="34" charset="0"/>
              <a:buChar char="•"/>
            </a:pPr>
            <a:r>
              <a:rPr lang="ko-KR" altLang="en-US" sz="900" baseline="30000" smtClean="0">
                <a:latin typeface="KB금융 본문체 Light" panose="020B0303000000000000" pitchFamily="50" charset="-127"/>
                <a:ea typeface="KB금융 본문체 Light" panose="020B0303000000000000" pitchFamily="50" charset="-127"/>
                <a:cs typeface="ヒラギノ角ゴ ProN W3"/>
              </a:rPr>
              <a:t>주</a:t>
            </a:r>
            <a:r>
              <a:rPr lang="en-US" altLang="ko-KR" sz="900" baseline="30000" smtClean="0">
                <a:latin typeface="KB금융 본문체 Light" panose="020B0303000000000000" pitchFamily="50" charset="-127"/>
                <a:ea typeface="KB금융 본문체 Light" panose="020B0303000000000000" pitchFamily="50" charset="-127"/>
                <a:cs typeface="ヒラギノ角ゴ ProN W3"/>
              </a:rPr>
              <a:t>2)</a:t>
            </a:r>
            <a:r>
              <a:rPr lang="en-US" altLang="ko-KR" sz="900" smtClean="0">
                <a:latin typeface="KB금융 본문체 Light" panose="020B0303000000000000" pitchFamily="50" charset="-127"/>
                <a:ea typeface="KB금융 본문체 Light" panose="020B0303000000000000" pitchFamily="50" charset="-127"/>
                <a:cs typeface="ヒラギノ角ゴ ProN W3"/>
              </a:rPr>
              <a:t> 112 </a:t>
            </a:r>
            <a:r>
              <a:rPr lang="ko-KR" altLang="en-US" sz="900" smtClean="0">
                <a:latin typeface="KB금융 본문체 Light" panose="020B0303000000000000" pitchFamily="50" charset="-127"/>
                <a:ea typeface="KB금융 본문체 Light" panose="020B0303000000000000" pitchFamily="50" charset="-127"/>
                <a:cs typeface="ヒラギノ角ゴ ProN W3"/>
              </a:rPr>
              <a:t>비트의 보안강도</a:t>
            </a:r>
            <a:r>
              <a:rPr lang="en-US" altLang="ko-KR" sz="900" smtClean="0">
                <a:latin typeface="KB금융 본문체 Light" panose="020B0303000000000000" pitchFamily="50" charset="-127"/>
                <a:ea typeface="KB금융 본문체 Light" panose="020B0303000000000000" pitchFamily="50" charset="-127"/>
                <a:cs typeface="ヒラギノ角ゴ ProN W3"/>
              </a:rPr>
              <a:t> : 2</a:t>
            </a:r>
            <a:r>
              <a:rPr lang="en-US" altLang="ko-KR" sz="900" baseline="30000" smtClean="0">
                <a:latin typeface="KB금융 본문체 Light" panose="020B0303000000000000" pitchFamily="50" charset="-127"/>
                <a:ea typeface="KB금융 본문체 Light" panose="020B0303000000000000" pitchFamily="50" charset="-127"/>
                <a:cs typeface="ヒラギノ角ゴ ProN W3"/>
              </a:rPr>
              <a:t>112</a:t>
            </a:r>
            <a:r>
              <a:rPr lang="en-US" altLang="ko-KR" sz="900" smtClean="0">
                <a:latin typeface="KB금융 본문체 Light" panose="020B0303000000000000" pitchFamily="50" charset="-127"/>
                <a:ea typeface="KB금융 본문체 Light" panose="020B0303000000000000" pitchFamily="50" charset="-127"/>
                <a:cs typeface="ヒラギノ角ゴ ProN W3"/>
              </a:rPr>
              <a:t> </a:t>
            </a:r>
            <a:r>
              <a:rPr lang="ko-KR" altLang="en-US" sz="900">
                <a:latin typeface="KB금융 본문체 Light" panose="020B0303000000000000" pitchFamily="50" charset="-127"/>
                <a:ea typeface="KB금융 본문체 Light" panose="020B0303000000000000" pitchFamily="50" charset="-127"/>
                <a:cs typeface="ヒラギノ角ゴ ProN W3"/>
              </a:rPr>
              <a:t>번의 계산을 해야 암호키 또는 암호 알고리즘의 취약성을 알아낼 수 있음을 </a:t>
            </a:r>
            <a:r>
              <a:rPr lang="ko-KR" altLang="en-US" sz="900" smtClean="0">
                <a:latin typeface="KB금융 본문체 Light" panose="020B0303000000000000" pitchFamily="50" charset="-127"/>
                <a:ea typeface="KB금융 본문체 Light" panose="020B0303000000000000" pitchFamily="50" charset="-127"/>
                <a:cs typeface="ヒラギノ角ゴ ProN W3"/>
              </a:rPr>
              <a:t>의미</a:t>
            </a:r>
            <a:endParaRPr lang="en-US" altLang="ko-KR" sz="900" dirty="0">
              <a:latin typeface="KB금융 본문체 Light" panose="020B0303000000000000" pitchFamily="50" charset="-127"/>
              <a:ea typeface="KB금융 본문체 Light" panose="020B0303000000000000" pitchFamily="50" charset="-127"/>
              <a:cs typeface="ヒラギノ角ゴ ProN W3"/>
            </a:endParaRPr>
          </a:p>
        </p:txBody>
      </p:sp>
      <p:graphicFrame>
        <p:nvGraphicFramePr>
          <p:cNvPr id="9" name="표 8"/>
          <p:cNvGraphicFramePr>
            <a:graphicFrameLocks noGrp="1"/>
          </p:cNvGraphicFramePr>
          <p:nvPr>
            <p:extLst>
              <p:ext uri="{D42A27DB-BD31-4B8C-83A1-F6EECF244321}">
                <p14:modId xmlns:p14="http://schemas.microsoft.com/office/powerpoint/2010/main" val="2967593285"/>
              </p:ext>
            </p:extLst>
          </p:nvPr>
        </p:nvGraphicFramePr>
        <p:xfrm>
          <a:off x="381884" y="3366597"/>
          <a:ext cx="4247080" cy="2276736"/>
        </p:xfrm>
        <a:graphic>
          <a:graphicData uri="http://schemas.openxmlformats.org/drawingml/2006/table">
            <a:tbl>
              <a:tblPr firstRow="1" bandRow="1">
                <a:tableStyleId>{93296810-A885-4BE3-A3E7-6D5BEEA58F35}</a:tableStyleId>
              </a:tblPr>
              <a:tblGrid>
                <a:gridCol w="970716">
                  <a:extLst>
                    <a:ext uri="{9D8B030D-6E8A-4147-A177-3AD203B41FA5}">
                      <a16:colId xmlns:a16="http://schemas.microsoft.com/office/drawing/2014/main" val="20000"/>
                    </a:ext>
                  </a:extLst>
                </a:gridCol>
                <a:gridCol w="1296144">
                  <a:extLst>
                    <a:ext uri="{9D8B030D-6E8A-4147-A177-3AD203B41FA5}">
                      <a16:colId xmlns:a16="http://schemas.microsoft.com/office/drawing/2014/main" val="20001"/>
                    </a:ext>
                  </a:extLst>
                </a:gridCol>
                <a:gridCol w="1980220">
                  <a:extLst>
                    <a:ext uri="{9D8B030D-6E8A-4147-A177-3AD203B41FA5}">
                      <a16:colId xmlns:a16="http://schemas.microsoft.com/office/drawing/2014/main" val="3114955219"/>
                    </a:ext>
                  </a:extLst>
                </a:gridCol>
              </a:tblGrid>
              <a:tr h="325248">
                <a:tc>
                  <a:txBody>
                    <a:bodyPr/>
                    <a:lstStyle/>
                    <a:p>
                      <a:pPr algn="ctr" fontAlgn="ctr"/>
                      <a:r>
                        <a:rPr lang="ko-KR" altLang="en-US" sz="1200" b="1" i="0" u="none" strike="noStrike" smtClean="0">
                          <a:solidFill>
                            <a:schemeClr val="tx1"/>
                          </a:solidFill>
                          <a:latin typeface="+mn-ea"/>
                          <a:ea typeface="+mn-ea"/>
                        </a:rPr>
                        <a:t>보안강도</a:t>
                      </a:r>
                      <a:r>
                        <a:rPr lang="ko-KR" altLang="en-US" sz="1200" b="1" i="0" u="none" strike="noStrike" baseline="30000" smtClean="0">
                          <a:solidFill>
                            <a:schemeClr val="tx1"/>
                          </a:solidFill>
                          <a:latin typeface="+mn-ea"/>
                          <a:ea typeface="+mn-ea"/>
                        </a:rPr>
                        <a:t>주</a:t>
                      </a:r>
                      <a:r>
                        <a:rPr lang="en-US" altLang="ko-KR" sz="1200" b="1" i="0" u="none" strike="noStrike" baseline="30000" smtClean="0">
                          <a:solidFill>
                            <a:schemeClr val="tx1"/>
                          </a:solidFill>
                          <a:latin typeface="+mn-ea"/>
                          <a:ea typeface="+mn-ea"/>
                        </a:rPr>
                        <a:t>1)</a:t>
                      </a:r>
                      <a:endParaRPr lang="en-US" sz="1200" b="1" i="0" u="none" strike="noStrike" baseline="30000" dirty="0">
                        <a:solidFill>
                          <a:schemeClr val="tx1"/>
                        </a:solidFill>
                        <a:latin typeface="+mn-ea"/>
                        <a:ea typeface="+mn-ea"/>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r>
                        <a:rPr lang="ko-KR" altLang="en-US" sz="1200" b="1" i="0" u="none" strike="noStrike" kern="1200" smtClean="0">
                          <a:solidFill>
                            <a:schemeClr val="tx1"/>
                          </a:solidFill>
                          <a:latin typeface="+mn-ea"/>
                          <a:ea typeface="+mn-ea"/>
                          <a:cs typeface="+mn-cs"/>
                        </a:rPr>
                        <a:t>해쉬함수</a:t>
                      </a:r>
                      <a:endParaRPr lang="ko-KR" altLang="en-US" sz="1200" b="1"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r>
                        <a:rPr lang="ko-KR" altLang="en-US" sz="1200" b="1" i="0" u="none" strike="noStrike" kern="1200" smtClean="0">
                          <a:solidFill>
                            <a:schemeClr val="tx1"/>
                          </a:solidFill>
                          <a:latin typeface="+mn-ea"/>
                          <a:ea typeface="+mn-ea"/>
                          <a:cs typeface="+mn-cs"/>
                        </a:rPr>
                        <a:t>안전성</a:t>
                      </a:r>
                      <a:endParaRPr lang="ko-KR" altLang="en-US" sz="1200" b="1"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000"/>
                  </a:ext>
                </a:extLst>
              </a:tr>
              <a:tr h="325248">
                <a:tc>
                  <a:txBody>
                    <a:bodyPr/>
                    <a:lstStyle/>
                    <a:p>
                      <a:pPr algn="l" fontAlgn="ctr"/>
                      <a:r>
                        <a:rPr lang="en-US" sz="1200" b="0" i="0" u="none" strike="noStrike" smtClean="0">
                          <a:solidFill>
                            <a:schemeClr val="tx1"/>
                          </a:solidFill>
                          <a:latin typeface="+mn-ea"/>
                          <a:ea typeface="+mn-ea"/>
                        </a:rPr>
                        <a:t>  80 </a:t>
                      </a:r>
                      <a:r>
                        <a:rPr lang="ko-KR" altLang="en-US" sz="1200" b="0" i="0" u="none" strike="noStrike" smtClean="0">
                          <a:solidFill>
                            <a:schemeClr val="tx1"/>
                          </a:solidFill>
                          <a:latin typeface="+mn-ea"/>
                          <a:ea typeface="+mn-ea"/>
                        </a:rPr>
                        <a:t>비트 미만</a:t>
                      </a:r>
                      <a:endParaRPr lang="en-US" sz="1200" b="0" i="0" u="none" strike="noStrike" dirty="0">
                        <a:solidFill>
                          <a:schemeClr val="tx1"/>
                        </a:solidFill>
                        <a:latin typeface="+mn-ea"/>
                        <a:ea typeface="+mn-ea"/>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altLang="ko-KR" sz="1200" b="0" i="0" u="none" strike="noStrike" kern="1200" smtClean="0">
                          <a:solidFill>
                            <a:schemeClr val="tx1"/>
                          </a:solidFill>
                          <a:latin typeface="+mn-ea"/>
                          <a:ea typeface="+mn-ea"/>
                          <a:cs typeface="+mn-cs"/>
                        </a:rPr>
                        <a:t>  MD5, SHA-1</a:t>
                      </a:r>
                      <a:endParaRPr lang="ko-KR" altLang="en-US" sz="1200" b="0"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ko-KR" altLang="en-US" sz="1200" b="0" i="0" u="none" strike="noStrike" kern="1200" smtClean="0">
                          <a:solidFill>
                            <a:schemeClr val="tx1"/>
                          </a:solidFill>
                          <a:latin typeface="+mn-ea"/>
                          <a:ea typeface="+mn-ea"/>
                          <a:cs typeface="+mn-cs"/>
                        </a:rPr>
                        <a:t>  권고하지 않음</a:t>
                      </a:r>
                      <a:endParaRPr lang="ko-KR" altLang="en-US" sz="1200" b="0"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3611869"/>
                  </a:ext>
                </a:extLst>
              </a:tr>
              <a:tr h="325248">
                <a:tc>
                  <a:txBody>
                    <a:bodyPr/>
                    <a:lstStyle/>
                    <a:p>
                      <a:pPr algn="l" fontAlgn="ctr"/>
                      <a:r>
                        <a:rPr lang="en-US" sz="1200" b="0" i="0" u="none" strike="noStrike" smtClean="0">
                          <a:solidFill>
                            <a:schemeClr val="tx1"/>
                          </a:solidFill>
                          <a:latin typeface="+mn-ea"/>
                          <a:ea typeface="+mn-ea"/>
                        </a:rPr>
                        <a:t>  80 </a:t>
                      </a:r>
                      <a:r>
                        <a:rPr lang="ko-KR" altLang="en-US" sz="1200" b="0" i="0" u="none" strike="noStrike" smtClean="0">
                          <a:solidFill>
                            <a:schemeClr val="tx1"/>
                          </a:solidFill>
                          <a:latin typeface="+mn-ea"/>
                          <a:ea typeface="+mn-ea"/>
                        </a:rPr>
                        <a:t>비트</a:t>
                      </a:r>
                      <a:endParaRPr lang="en-US" sz="1200" b="0" i="0" u="none" strike="noStrike" dirty="0">
                        <a:solidFill>
                          <a:schemeClr val="tx1"/>
                        </a:solidFill>
                        <a:latin typeface="+mn-ea"/>
                        <a:ea typeface="+mn-ea"/>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altLang="ko-KR" sz="1200" b="0" i="0" u="none" strike="noStrike" kern="1200" smtClean="0">
                          <a:solidFill>
                            <a:schemeClr val="tx1"/>
                          </a:solidFill>
                          <a:latin typeface="+mn-ea"/>
                          <a:ea typeface="+mn-ea"/>
                          <a:cs typeface="+mn-cs"/>
                        </a:rPr>
                        <a:t>  HAS-160</a:t>
                      </a:r>
                      <a:endParaRPr lang="ko-KR" altLang="en-US" sz="1200" b="0"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ko-KR" altLang="en-US" sz="1200" b="0"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4354619"/>
                  </a:ext>
                </a:extLst>
              </a:tr>
              <a:tr h="325248">
                <a:tc>
                  <a:txBody>
                    <a:bodyPr/>
                    <a:lstStyle/>
                    <a:p>
                      <a:pPr algn="l" fontAlgn="ctr"/>
                      <a:r>
                        <a:rPr lang="en-US" sz="1200" b="0" i="0" u="none" strike="noStrike" smtClean="0">
                          <a:solidFill>
                            <a:schemeClr val="tx1"/>
                          </a:solidFill>
                          <a:latin typeface="+mn-ea"/>
                          <a:ea typeface="+mn-ea"/>
                        </a:rPr>
                        <a:t>  112 </a:t>
                      </a:r>
                      <a:r>
                        <a:rPr lang="ko-KR" altLang="en-US" sz="1200" b="0" i="0" u="none" strike="noStrike" smtClean="0">
                          <a:solidFill>
                            <a:schemeClr val="tx1"/>
                          </a:solidFill>
                          <a:latin typeface="+mn-ea"/>
                          <a:ea typeface="+mn-ea"/>
                        </a:rPr>
                        <a:t>비트</a:t>
                      </a:r>
                      <a:endParaRPr lang="en-US" sz="1200" b="0" i="0" u="none" strike="noStrike" dirty="0">
                        <a:solidFill>
                          <a:schemeClr val="tx1"/>
                        </a:solidFill>
                        <a:latin typeface="+mn-ea"/>
                        <a:ea typeface="+mn-ea"/>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altLang="ko-KR" sz="1200" b="0" i="0" u="none" strike="noStrike" kern="1200" smtClean="0">
                          <a:solidFill>
                            <a:schemeClr val="tx1"/>
                          </a:solidFill>
                          <a:latin typeface="+mn-ea"/>
                          <a:ea typeface="+mn-ea"/>
                          <a:cs typeface="+mn-cs"/>
                        </a:rPr>
                        <a:t>  SAH-224</a:t>
                      </a:r>
                      <a:endParaRPr lang="ko-KR" altLang="en-US" sz="1200" b="0"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altLang="ko-KR" sz="1200" b="0" i="0" u="none" strike="noStrike" kern="1200" smtClean="0">
                          <a:solidFill>
                            <a:schemeClr val="tx1"/>
                          </a:solidFill>
                          <a:latin typeface="+mn-ea"/>
                          <a:ea typeface="+mn-ea"/>
                          <a:cs typeface="+mn-cs"/>
                        </a:rPr>
                        <a:t>  2013</a:t>
                      </a:r>
                      <a:r>
                        <a:rPr lang="ko-KR" altLang="en-US" sz="1200" b="0" i="0" u="none" strike="noStrike" kern="1200" smtClean="0">
                          <a:solidFill>
                            <a:schemeClr val="tx1"/>
                          </a:solidFill>
                          <a:latin typeface="+mn-ea"/>
                          <a:ea typeface="+mn-ea"/>
                          <a:cs typeface="+mn-cs"/>
                        </a:rPr>
                        <a:t>년까지 권고함</a:t>
                      </a:r>
                      <a:endParaRPr lang="ko-KR" altLang="en-US" sz="1200" b="0"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5445647"/>
                  </a:ext>
                </a:extLst>
              </a:tr>
              <a:tr h="325248">
                <a:tc>
                  <a:txBody>
                    <a:bodyPr/>
                    <a:lstStyle/>
                    <a:p>
                      <a:pPr algn="l" fontAlgn="ctr"/>
                      <a:r>
                        <a:rPr lang="en-US" sz="1200" b="1" i="0" u="none" strike="noStrike" smtClean="0">
                          <a:solidFill>
                            <a:schemeClr val="tx1"/>
                          </a:solidFill>
                          <a:latin typeface="+mn-ea"/>
                          <a:ea typeface="+mn-ea"/>
                        </a:rPr>
                        <a:t>  128 </a:t>
                      </a:r>
                      <a:r>
                        <a:rPr lang="ko-KR" altLang="en-US" sz="1200" b="1" i="0" u="none" strike="noStrike" smtClean="0">
                          <a:solidFill>
                            <a:schemeClr val="tx1"/>
                          </a:solidFill>
                          <a:latin typeface="+mn-ea"/>
                          <a:ea typeface="+mn-ea"/>
                        </a:rPr>
                        <a:t>비트</a:t>
                      </a:r>
                      <a:endParaRPr lang="en-US" sz="1200" b="1" i="0" u="none" strike="noStrike" dirty="0">
                        <a:solidFill>
                          <a:schemeClr val="tx1"/>
                        </a:solidFill>
                        <a:latin typeface="+mn-ea"/>
                        <a:ea typeface="+mn-ea"/>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altLang="ko-KR" sz="1200" b="1" i="0" u="none" strike="noStrike" kern="1200" smtClean="0">
                          <a:solidFill>
                            <a:schemeClr val="tx1"/>
                          </a:solidFill>
                          <a:latin typeface="+mn-ea"/>
                          <a:ea typeface="+mn-ea"/>
                          <a:cs typeface="+mn-cs"/>
                        </a:rPr>
                        <a:t>  SHA-256</a:t>
                      </a:r>
                      <a:endParaRPr lang="ko-KR" altLang="en-US" sz="1200" b="1"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l" fontAlgn="ctr"/>
                      <a:r>
                        <a:rPr lang="en-US" altLang="ko-KR" sz="1200" b="1" i="0" u="none" strike="noStrike" kern="1200" smtClean="0">
                          <a:solidFill>
                            <a:schemeClr val="tx1"/>
                          </a:solidFill>
                          <a:latin typeface="+mn-ea"/>
                          <a:ea typeface="+mn-ea"/>
                          <a:cs typeface="+mn-cs"/>
                        </a:rPr>
                        <a:t>  2013</a:t>
                      </a:r>
                      <a:r>
                        <a:rPr lang="ko-KR" altLang="en-US" sz="1200" b="1" i="0" u="none" strike="noStrike" kern="1200" smtClean="0">
                          <a:solidFill>
                            <a:schemeClr val="tx1"/>
                          </a:solidFill>
                          <a:latin typeface="+mn-ea"/>
                          <a:ea typeface="+mn-ea"/>
                          <a:cs typeface="+mn-cs"/>
                        </a:rPr>
                        <a:t>년 이후에도 사용가능</a:t>
                      </a:r>
                      <a:endParaRPr lang="ko-KR" altLang="en-US" sz="1200" b="1"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0402817"/>
                  </a:ext>
                </a:extLst>
              </a:tr>
              <a:tr h="325248">
                <a:tc>
                  <a:txBody>
                    <a:bodyPr/>
                    <a:lstStyle/>
                    <a:p>
                      <a:pPr marL="0" algn="l" defTabSz="914400" rtl="0" eaLnBrk="1" fontAlgn="ctr" latinLnBrk="1" hangingPunct="1"/>
                      <a:r>
                        <a:rPr lang="en-US" sz="1200" b="1" i="0" u="none" strike="noStrike" kern="1200" smtClean="0">
                          <a:solidFill>
                            <a:schemeClr val="tx1"/>
                          </a:solidFill>
                          <a:latin typeface="+mn-ea"/>
                          <a:ea typeface="+mn-ea"/>
                          <a:cs typeface="+mn-cs"/>
                        </a:rPr>
                        <a:t>  192 </a:t>
                      </a:r>
                      <a:r>
                        <a:rPr lang="ko-KR" altLang="en-US" sz="1200" b="1" i="0" u="none" strike="noStrike" kern="1200" smtClean="0">
                          <a:solidFill>
                            <a:schemeClr val="tx1"/>
                          </a:solidFill>
                          <a:latin typeface="+mn-ea"/>
                          <a:ea typeface="+mn-ea"/>
                          <a:cs typeface="+mn-cs"/>
                        </a:rPr>
                        <a:t>비트</a:t>
                      </a:r>
                      <a:endParaRPr lang="en-US" sz="1200" b="1" i="0" u="none" strike="noStrike" kern="1200" dirty="0">
                        <a:solidFill>
                          <a:schemeClr val="tx1"/>
                        </a:solidFill>
                        <a:latin typeface="+mn-ea"/>
                        <a:ea typeface="+mn-ea"/>
                        <a:cs typeface="+mn-cs"/>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fontAlgn="ctr" latinLnBrk="1" hangingPunct="1"/>
                      <a:r>
                        <a:rPr lang="en-US" altLang="ko-KR" sz="1200" b="1" i="0" u="none" strike="noStrike" kern="1200" smtClean="0">
                          <a:solidFill>
                            <a:schemeClr val="tx1"/>
                          </a:solidFill>
                          <a:latin typeface="+mn-ea"/>
                          <a:ea typeface="+mn-ea"/>
                          <a:cs typeface="+mn-cs"/>
                        </a:rPr>
                        <a:t>  SHA-384</a:t>
                      </a:r>
                      <a:endParaRPr lang="ko-KR" altLang="en-US" sz="1200" b="1"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algn="l" defTabSz="914400" rtl="0" eaLnBrk="1" fontAlgn="ctr" latinLnBrk="1" hangingPunct="1"/>
                      <a:endParaRPr lang="ko-KR" altLang="en-US" sz="1200" b="1"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1630119"/>
                  </a:ext>
                </a:extLst>
              </a:tr>
              <a:tr h="325248">
                <a:tc>
                  <a:txBody>
                    <a:bodyPr/>
                    <a:lstStyle/>
                    <a:p>
                      <a:pPr marL="0" algn="l" defTabSz="914400" rtl="0" eaLnBrk="1" fontAlgn="ctr" latinLnBrk="1" hangingPunct="1"/>
                      <a:r>
                        <a:rPr lang="en-US" sz="1200" b="1" i="0" u="none" strike="noStrike" kern="1200" smtClean="0">
                          <a:solidFill>
                            <a:schemeClr val="tx1"/>
                          </a:solidFill>
                          <a:latin typeface="+mn-ea"/>
                          <a:ea typeface="+mn-ea"/>
                          <a:cs typeface="+mn-cs"/>
                        </a:rPr>
                        <a:t>  256 </a:t>
                      </a:r>
                      <a:r>
                        <a:rPr lang="ko-KR" altLang="en-US" sz="1200" b="1" i="0" u="none" strike="noStrike" kern="1200" smtClean="0">
                          <a:solidFill>
                            <a:schemeClr val="tx1"/>
                          </a:solidFill>
                          <a:latin typeface="+mn-ea"/>
                          <a:ea typeface="+mn-ea"/>
                          <a:cs typeface="+mn-cs"/>
                        </a:rPr>
                        <a:t>비트</a:t>
                      </a:r>
                      <a:endParaRPr lang="en-US" sz="1200" b="1" i="0" u="none" strike="noStrike" kern="1200" dirty="0">
                        <a:solidFill>
                          <a:schemeClr val="tx1"/>
                        </a:solidFill>
                        <a:latin typeface="+mn-ea"/>
                        <a:ea typeface="+mn-ea"/>
                        <a:cs typeface="+mn-cs"/>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fontAlgn="ctr" latinLnBrk="1" hangingPunct="1"/>
                      <a:r>
                        <a:rPr lang="en-US" altLang="ko-KR" sz="1200" b="1" i="0" u="none" strike="noStrike" kern="1200" smtClean="0">
                          <a:solidFill>
                            <a:schemeClr val="tx1"/>
                          </a:solidFill>
                          <a:latin typeface="+mn-ea"/>
                          <a:ea typeface="+mn-ea"/>
                          <a:cs typeface="+mn-cs"/>
                        </a:rPr>
                        <a:t>  SHA-512</a:t>
                      </a:r>
                      <a:endParaRPr lang="ko-KR" altLang="en-US" sz="1200" b="1"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algn="l" defTabSz="914400" rtl="0" eaLnBrk="1" fontAlgn="ctr" latinLnBrk="1" hangingPunct="1"/>
                      <a:endParaRPr lang="ko-KR" altLang="en-US" sz="1200" b="1"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8843534"/>
                  </a:ext>
                </a:extLst>
              </a:tr>
            </a:tbl>
          </a:graphicData>
        </a:graphic>
      </p:graphicFrame>
      <p:sp>
        <p:nvSpPr>
          <p:cNvPr id="15" name="Rectangle 3"/>
          <p:cNvSpPr>
            <a:spLocks noChangeArrowheads="1"/>
          </p:cNvSpPr>
          <p:nvPr/>
        </p:nvSpPr>
        <p:spPr bwMode="auto">
          <a:xfrm>
            <a:off x="381884" y="3050874"/>
            <a:ext cx="4247080" cy="332399"/>
          </a:xfrm>
          <a:prstGeom prst="rect">
            <a:avLst/>
          </a:prstGeom>
          <a:noFill/>
          <a:ln w="9525" algn="ctr">
            <a:noFill/>
            <a:miter lim="800000"/>
            <a:headEnd/>
            <a:tailEnd/>
          </a:ln>
          <a:effectLst/>
        </p:spPr>
        <p:txBody>
          <a:bodyPr wrap="square">
            <a:spAutoFit/>
          </a:bodyPr>
          <a:lstStyle/>
          <a:p>
            <a:pPr>
              <a:lnSpc>
                <a:spcPct val="130000"/>
              </a:lnSpc>
              <a:spcBef>
                <a:spcPct val="20000"/>
              </a:spcBef>
              <a:buSzPct val="100000"/>
            </a:pPr>
            <a:r>
              <a:rPr lang="en-US" altLang="ko-KR" sz="1200" smtClean="0">
                <a:latin typeface="KB금융 본문체 Light" panose="020B0303000000000000" pitchFamily="50" charset="-127"/>
                <a:ea typeface="KB금융 본문체 Light" panose="020B0303000000000000" pitchFamily="50" charset="-127"/>
                <a:cs typeface="ヒラギノ角ゴ ProN W3"/>
              </a:rPr>
              <a:t>[</a:t>
            </a:r>
            <a:r>
              <a:rPr lang="ko-KR" altLang="en-US" sz="1200" smtClean="0">
                <a:latin typeface="KB금융 본문체 Light" panose="020B0303000000000000" pitchFamily="50" charset="-127"/>
                <a:ea typeface="KB금융 본문체 Light" panose="020B0303000000000000" pitchFamily="50" charset="-127"/>
                <a:cs typeface="ヒラギノ角ゴ ProN W3"/>
              </a:rPr>
              <a:t>일방향</a:t>
            </a:r>
            <a:r>
              <a:rPr lang="en-US" altLang="ko-KR" sz="1200" smtClean="0">
                <a:latin typeface="KB금융 본문체 Light" panose="020B0303000000000000" pitchFamily="50" charset="-127"/>
                <a:ea typeface="KB금융 본문체 Light" panose="020B0303000000000000" pitchFamily="50" charset="-127"/>
                <a:cs typeface="ヒラギノ角ゴ ProN W3"/>
              </a:rPr>
              <a:t> </a:t>
            </a:r>
            <a:r>
              <a:rPr lang="ko-KR" altLang="en-US" sz="1200" smtClean="0">
                <a:latin typeface="KB금융 본문체 Light" panose="020B0303000000000000" pitchFamily="50" charset="-127"/>
                <a:ea typeface="KB금융 본문체 Light" panose="020B0303000000000000" pitchFamily="50" charset="-127"/>
                <a:cs typeface="ヒラギノ角ゴ ProN W3"/>
              </a:rPr>
              <a:t>암호화 표준</a:t>
            </a:r>
            <a:r>
              <a:rPr lang="en-US" altLang="ko-KR" sz="1200" smtClean="0">
                <a:latin typeface="KB금융 본문체 Light" panose="020B0303000000000000" pitchFamily="50" charset="-127"/>
                <a:ea typeface="KB금융 본문체 Light" panose="020B0303000000000000" pitchFamily="50" charset="-127"/>
                <a:cs typeface="ヒラギノ角ゴ ProN W3"/>
              </a:rPr>
              <a:t>]</a:t>
            </a:r>
            <a:endParaRPr lang="en-US" altLang="ko-KR" sz="1200" dirty="0">
              <a:latin typeface="KB금융 본문체 Light" panose="020B0303000000000000" pitchFamily="50" charset="-127"/>
              <a:ea typeface="KB금융 본문체 Light" panose="020B0303000000000000" pitchFamily="50" charset="-127"/>
              <a:cs typeface="ヒラギノ角ゴ ProN W3"/>
            </a:endParaRPr>
          </a:p>
        </p:txBody>
      </p:sp>
      <p:graphicFrame>
        <p:nvGraphicFramePr>
          <p:cNvPr id="16" name="표 15"/>
          <p:cNvGraphicFramePr>
            <a:graphicFrameLocks noGrp="1"/>
          </p:cNvGraphicFramePr>
          <p:nvPr>
            <p:extLst>
              <p:ext uri="{D42A27DB-BD31-4B8C-83A1-F6EECF244321}">
                <p14:modId xmlns:p14="http://schemas.microsoft.com/office/powerpoint/2010/main" val="2136452386"/>
              </p:ext>
            </p:extLst>
          </p:nvPr>
        </p:nvGraphicFramePr>
        <p:xfrm>
          <a:off x="4808984" y="3366598"/>
          <a:ext cx="4711254" cy="2276736"/>
        </p:xfrm>
        <a:graphic>
          <a:graphicData uri="http://schemas.openxmlformats.org/drawingml/2006/table">
            <a:tbl>
              <a:tblPr firstRow="1" bandRow="1">
                <a:tableStyleId>{93296810-A885-4BE3-A3E7-6D5BEEA58F35}</a:tableStyleId>
              </a:tblPr>
              <a:tblGrid>
                <a:gridCol w="972108">
                  <a:extLst>
                    <a:ext uri="{9D8B030D-6E8A-4147-A177-3AD203B41FA5}">
                      <a16:colId xmlns:a16="http://schemas.microsoft.com/office/drawing/2014/main" val="20000"/>
                    </a:ext>
                  </a:extLst>
                </a:gridCol>
                <a:gridCol w="2628292">
                  <a:extLst>
                    <a:ext uri="{9D8B030D-6E8A-4147-A177-3AD203B41FA5}">
                      <a16:colId xmlns:a16="http://schemas.microsoft.com/office/drawing/2014/main" val="20001"/>
                    </a:ext>
                  </a:extLst>
                </a:gridCol>
                <a:gridCol w="1110854">
                  <a:extLst>
                    <a:ext uri="{9D8B030D-6E8A-4147-A177-3AD203B41FA5}">
                      <a16:colId xmlns:a16="http://schemas.microsoft.com/office/drawing/2014/main" val="3114955219"/>
                    </a:ext>
                  </a:extLst>
                </a:gridCol>
              </a:tblGrid>
              <a:tr h="325248">
                <a:tc>
                  <a:txBody>
                    <a:bodyPr/>
                    <a:lstStyle/>
                    <a:p>
                      <a:pPr algn="ctr" fontAlgn="ctr"/>
                      <a:r>
                        <a:rPr lang="ko-KR" altLang="en-US" sz="1200" b="1" i="0" u="none" strike="noStrike" smtClean="0">
                          <a:solidFill>
                            <a:schemeClr val="tx1"/>
                          </a:solidFill>
                          <a:latin typeface="+mn-ea"/>
                          <a:ea typeface="+mn-ea"/>
                        </a:rPr>
                        <a:t>보안강도</a:t>
                      </a:r>
                      <a:endParaRPr lang="en-US" sz="1200" b="1" i="0" u="none" strike="noStrike" dirty="0">
                        <a:solidFill>
                          <a:schemeClr val="tx1"/>
                        </a:solidFill>
                        <a:latin typeface="+mn-ea"/>
                        <a:ea typeface="+mn-ea"/>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r>
                        <a:rPr lang="ko-KR" altLang="en-US" sz="1200" b="1" i="0" u="none" strike="noStrike" kern="1200" smtClean="0">
                          <a:solidFill>
                            <a:schemeClr val="tx1"/>
                          </a:solidFill>
                          <a:latin typeface="+mn-ea"/>
                          <a:ea typeface="+mn-ea"/>
                          <a:cs typeface="+mn-cs"/>
                        </a:rPr>
                        <a:t>해쉬함수</a:t>
                      </a:r>
                      <a:endParaRPr lang="ko-KR" altLang="en-US" sz="1200" b="1"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r>
                        <a:rPr lang="ko-KR" altLang="en-US" sz="1200" b="1" i="0" u="none" strike="noStrike" kern="1200" smtClean="0">
                          <a:solidFill>
                            <a:schemeClr val="tx1"/>
                          </a:solidFill>
                          <a:latin typeface="+mn-ea"/>
                          <a:ea typeface="+mn-ea"/>
                          <a:cs typeface="+mn-cs"/>
                        </a:rPr>
                        <a:t>안전성</a:t>
                      </a:r>
                      <a:endParaRPr lang="ko-KR" altLang="en-US" sz="1200" b="1"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000"/>
                  </a:ext>
                </a:extLst>
              </a:tr>
              <a:tr h="325248">
                <a:tc>
                  <a:txBody>
                    <a:bodyPr/>
                    <a:lstStyle/>
                    <a:p>
                      <a:pPr algn="l" fontAlgn="ctr"/>
                      <a:r>
                        <a:rPr lang="en-US" sz="1200" b="0" i="0" u="none" strike="noStrike" smtClean="0">
                          <a:solidFill>
                            <a:schemeClr val="tx1"/>
                          </a:solidFill>
                          <a:latin typeface="+mn-ea"/>
                          <a:ea typeface="+mn-ea"/>
                        </a:rPr>
                        <a:t>  80 </a:t>
                      </a:r>
                      <a:r>
                        <a:rPr lang="ko-KR" altLang="en-US" sz="1200" b="0" i="0" u="none" strike="noStrike" smtClean="0">
                          <a:solidFill>
                            <a:schemeClr val="tx1"/>
                          </a:solidFill>
                          <a:latin typeface="+mn-ea"/>
                          <a:ea typeface="+mn-ea"/>
                        </a:rPr>
                        <a:t>비트 미만</a:t>
                      </a:r>
                      <a:endParaRPr lang="en-US" sz="1200" b="0" i="0" u="none" strike="noStrike" dirty="0">
                        <a:solidFill>
                          <a:schemeClr val="tx1"/>
                        </a:solidFill>
                        <a:latin typeface="+mn-ea"/>
                        <a:ea typeface="+mn-ea"/>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altLang="ko-KR" sz="1200" b="0" i="0" u="none" strike="noStrike" kern="1200" smtClean="0">
                          <a:solidFill>
                            <a:schemeClr val="tx1"/>
                          </a:solidFill>
                          <a:latin typeface="+mn-ea"/>
                          <a:ea typeface="+mn-ea"/>
                          <a:cs typeface="+mn-cs"/>
                        </a:rPr>
                        <a:t>  DES</a:t>
                      </a:r>
                      <a:endParaRPr lang="ko-KR" altLang="en-US" sz="1200" b="0"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l" fontAlgn="ctr"/>
                      <a:r>
                        <a:rPr lang="ko-KR" altLang="en-US" sz="1200" b="0" i="0" u="none" strike="noStrike" kern="1200" smtClean="0">
                          <a:solidFill>
                            <a:schemeClr val="tx1"/>
                          </a:solidFill>
                          <a:latin typeface="+mn-ea"/>
                          <a:ea typeface="+mn-ea"/>
                          <a:cs typeface="+mn-cs"/>
                        </a:rPr>
                        <a:t>  권고하지 않음</a:t>
                      </a:r>
                      <a:endParaRPr lang="ko-KR" altLang="en-US" sz="1200" b="0"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3611869"/>
                  </a:ext>
                </a:extLst>
              </a:tr>
              <a:tr h="325248">
                <a:tc>
                  <a:txBody>
                    <a:bodyPr/>
                    <a:lstStyle/>
                    <a:p>
                      <a:pPr algn="l" fontAlgn="ctr"/>
                      <a:r>
                        <a:rPr lang="en-US" sz="1200" b="0" i="0" u="none" strike="noStrike" smtClean="0">
                          <a:solidFill>
                            <a:schemeClr val="tx1"/>
                          </a:solidFill>
                          <a:latin typeface="+mn-ea"/>
                          <a:ea typeface="+mn-ea"/>
                        </a:rPr>
                        <a:t>  80 </a:t>
                      </a:r>
                      <a:r>
                        <a:rPr lang="ko-KR" altLang="en-US" sz="1200" b="0" i="0" u="none" strike="noStrike" smtClean="0">
                          <a:solidFill>
                            <a:schemeClr val="tx1"/>
                          </a:solidFill>
                          <a:latin typeface="+mn-ea"/>
                          <a:ea typeface="+mn-ea"/>
                        </a:rPr>
                        <a:t>비트</a:t>
                      </a:r>
                      <a:endParaRPr lang="en-US" sz="1200" b="0" i="0" u="none" strike="noStrike" dirty="0">
                        <a:solidFill>
                          <a:schemeClr val="tx1"/>
                        </a:solidFill>
                        <a:latin typeface="+mn-ea"/>
                        <a:ea typeface="+mn-ea"/>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altLang="ko-KR" sz="1200" b="0" i="0" u="none" strike="noStrike" kern="1200" smtClean="0">
                          <a:solidFill>
                            <a:schemeClr val="tx1"/>
                          </a:solidFill>
                          <a:latin typeface="+mn-ea"/>
                          <a:ea typeface="+mn-ea"/>
                          <a:cs typeface="+mn-cs"/>
                        </a:rPr>
                        <a:t>  2TDEA</a:t>
                      </a:r>
                      <a:endParaRPr lang="ko-KR" altLang="en-US" sz="1200" b="0"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ko-KR" altLang="en-US" sz="1200" b="0"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4354619"/>
                  </a:ext>
                </a:extLst>
              </a:tr>
              <a:tr h="325248">
                <a:tc>
                  <a:txBody>
                    <a:bodyPr/>
                    <a:lstStyle/>
                    <a:p>
                      <a:pPr algn="l" fontAlgn="ctr"/>
                      <a:r>
                        <a:rPr lang="en-US" sz="1200" b="0" i="0" u="none" strike="noStrike" smtClean="0">
                          <a:solidFill>
                            <a:schemeClr val="tx1"/>
                          </a:solidFill>
                          <a:latin typeface="+mn-ea"/>
                          <a:ea typeface="+mn-ea"/>
                        </a:rPr>
                        <a:t>  112 </a:t>
                      </a:r>
                      <a:r>
                        <a:rPr lang="ko-KR" altLang="en-US" sz="1200" b="0" i="0" u="none" strike="noStrike" smtClean="0">
                          <a:solidFill>
                            <a:schemeClr val="tx1"/>
                          </a:solidFill>
                          <a:latin typeface="+mn-ea"/>
                          <a:ea typeface="+mn-ea"/>
                        </a:rPr>
                        <a:t>비트</a:t>
                      </a:r>
                      <a:endParaRPr lang="en-US" sz="1200" b="0" i="0" u="none" strike="noStrike" dirty="0">
                        <a:solidFill>
                          <a:schemeClr val="tx1"/>
                        </a:solidFill>
                        <a:latin typeface="+mn-ea"/>
                        <a:ea typeface="+mn-ea"/>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altLang="ko-KR" sz="1200" b="0" i="0" u="none" strike="noStrike" kern="1200" smtClean="0">
                          <a:solidFill>
                            <a:schemeClr val="tx1"/>
                          </a:solidFill>
                          <a:latin typeface="+mn-ea"/>
                          <a:ea typeface="+mn-ea"/>
                          <a:cs typeface="+mn-cs"/>
                        </a:rPr>
                        <a:t>  3TDEA</a:t>
                      </a:r>
                      <a:endParaRPr lang="ko-KR" altLang="en-US" sz="1200" b="0"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ko-KR" altLang="en-US" sz="1200" b="0"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5445647"/>
                  </a:ext>
                </a:extLst>
              </a:tr>
              <a:tr h="325248">
                <a:tc>
                  <a:txBody>
                    <a:bodyPr/>
                    <a:lstStyle/>
                    <a:p>
                      <a:pPr algn="l" fontAlgn="ctr"/>
                      <a:r>
                        <a:rPr lang="en-US" sz="1200" b="1" i="0" u="none" strike="noStrike" smtClean="0">
                          <a:solidFill>
                            <a:schemeClr val="tx1"/>
                          </a:solidFill>
                          <a:latin typeface="+mn-ea"/>
                          <a:ea typeface="+mn-ea"/>
                        </a:rPr>
                        <a:t>  128 </a:t>
                      </a:r>
                      <a:r>
                        <a:rPr lang="ko-KR" altLang="en-US" sz="1200" b="1" i="0" u="none" strike="noStrike" smtClean="0">
                          <a:solidFill>
                            <a:schemeClr val="tx1"/>
                          </a:solidFill>
                          <a:latin typeface="+mn-ea"/>
                          <a:ea typeface="+mn-ea"/>
                        </a:rPr>
                        <a:t>비트</a:t>
                      </a:r>
                      <a:endParaRPr lang="en-US" sz="1200" b="1" i="0" u="none" strike="noStrike" dirty="0">
                        <a:solidFill>
                          <a:schemeClr val="tx1"/>
                        </a:solidFill>
                        <a:latin typeface="+mn-ea"/>
                        <a:ea typeface="+mn-ea"/>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altLang="ko-KR" sz="1200" b="1" i="0" u="none" strike="noStrike" kern="1200" smtClean="0">
                          <a:solidFill>
                            <a:schemeClr val="tx1"/>
                          </a:solidFill>
                          <a:latin typeface="+mn-ea"/>
                          <a:ea typeface="+mn-ea"/>
                          <a:cs typeface="+mn-cs"/>
                        </a:rPr>
                        <a:t>  SEED, HIGHT, ARIA-128,</a:t>
                      </a:r>
                      <a:r>
                        <a:rPr lang="en-US" altLang="ko-KR" sz="1200" b="1" i="0" u="none" strike="noStrike" kern="1200" baseline="0" smtClean="0">
                          <a:solidFill>
                            <a:schemeClr val="tx1"/>
                          </a:solidFill>
                          <a:latin typeface="+mn-ea"/>
                          <a:ea typeface="+mn-ea"/>
                          <a:cs typeface="+mn-cs"/>
                        </a:rPr>
                        <a:t> AES-128</a:t>
                      </a:r>
                      <a:endParaRPr lang="ko-KR" altLang="en-US" sz="1200" b="1"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l" fontAlgn="ctr"/>
                      <a:r>
                        <a:rPr lang="ko-KR" altLang="en-US" sz="1200" b="1" i="0" u="none" strike="noStrike" kern="1200" smtClean="0">
                          <a:solidFill>
                            <a:schemeClr val="tx1"/>
                          </a:solidFill>
                          <a:latin typeface="+mn-ea"/>
                          <a:ea typeface="+mn-ea"/>
                          <a:cs typeface="+mn-cs"/>
                        </a:rPr>
                        <a:t>  권고함</a:t>
                      </a:r>
                      <a:endParaRPr lang="ko-KR" altLang="en-US" sz="1200" b="1"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0402817"/>
                  </a:ext>
                </a:extLst>
              </a:tr>
              <a:tr h="325248">
                <a:tc>
                  <a:txBody>
                    <a:bodyPr/>
                    <a:lstStyle/>
                    <a:p>
                      <a:pPr marL="0" algn="l" defTabSz="914400" rtl="0" eaLnBrk="1" fontAlgn="ctr" latinLnBrk="1" hangingPunct="1"/>
                      <a:r>
                        <a:rPr lang="en-US" sz="1200" b="1" i="0" u="none" strike="noStrike" kern="1200" smtClean="0">
                          <a:solidFill>
                            <a:schemeClr val="tx1"/>
                          </a:solidFill>
                          <a:latin typeface="+mn-ea"/>
                          <a:ea typeface="+mn-ea"/>
                          <a:cs typeface="+mn-cs"/>
                        </a:rPr>
                        <a:t>  192 </a:t>
                      </a:r>
                      <a:r>
                        <a:rPr lang="ko-KR" altLang="en-US" sz="1200" b="1" i="0" u="none" strike="noStrike" kern="1200" smtClean="0">
                          <a:solidFill>
                            <a:schemeClr val="tx1"/>
                          </a:solidFill>
                          <a:latin typeface="+mn-ea"/>
                          <a:ea typeface="+mn-ea"/>
                          <a:cs typeface="+mn-cs"/>
                        </a:rPr>
                        <a:t>비트</a:t>
                      </a:r>
                      <a:endParaRPr lang="en-US" sz="1200" b="1" i="0" u="none" strike="noStrike" kern="1200" dirty="0">
                        <a:solidFill>
                          <a:schemeClr val="tx1"/>
                        </a:solidFill>
                        <a:latin typeface="+mn-ea"/>
                        <a:ea typeface="+mn-ea"/>
                        <a:cs typeface="+mn-cs"/>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fontAlgn="ctr" latinLnBrk="1" hangingPunct="1"/>
                      <a:r>
                        <a:rPr lang="en-US" altLang="ko-KR" sz="1200" b="1" i="0" u="none" strike="noStrike" kern="1200" smtClean="0">
                          <a:solidFill>
                            <a:schemeClr val="tx1"/>
                          </a:solidFill>
                          <a:latin typeface="+mn-ea"/>
                          <a:ea typeface="+mn-ea"/>
                          <a:cs typeface="+mn-cs"/>
                        </a:rPr>
                        <a:t>  ARIA-192,</a:t>
                      </a:r>
                      <a:r>
                        <a:rPr lang="en-US" altLang="ko-KR" sz="1200" b="1" i="0" u="none" strike="noStrike" kern="1200" baseline="0" smtClean="0">
                          <a:solidFill>
                            <a:schemeClr val="tx1"/>
                          </a:solidFill>
                          <a:latin typeface="+mn-ea"/>
                          <a:ea typeface="+mn-ea"/>
                          <a:cs typeface="+mn-cs"/>
                        </a:rPr>
                        <a:t> AES-192</a:t>
                      </a:r>
                      <a:endParaRPr lang="ko-KR" altLang="en-US" sz="1200" b="1"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algn="l" defTabSz="914400" rtl="0" eaLnBrk="1" fontAlgn="ctr" latinLnBrk="1" hangingPunct="1"/>
                      <a:endParaRPr lang="ko-KR" altLang="en-US" sz="1200" b="1"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1630119"/>
                  </a:ext>
                </a:extLst>
              </a:tr>
              <a:tr h="325248">
                <a:tc>
                  <a:txBody>
                    <a:bodyPr/>
                    <a:lstStyle/>
                    <a:p>
                      <a:pPr marL="0" algn="l" defTabSz="914400" rtl="0" eaLnBrk="1" fontAlgn="ctr" latinLnBrk="1" hangingPunct="1"/>
                      <a:r>
                        <a:rPr lang="en-US" sz="1200" b="1" i="0" u="none" strike="noStrike" kern="1200" smtClean="0">
                          <a:solidFill>
                            <a:schemeClr val="tx1"/>
                          </a:solidFill>
                          <a:latin typeface="+mn-ea"/>
                          <a:ea typeface="+mn-ea"/>
                          <a:cs typeface="+mn-cs"/>
                        </a:rPr>
                        <a:t>  256 </a:t>
                      </a:r>
                      <a:r>
                        <a:rPr lang="ko-KR" altLang="en-US" sz="1200" b="1" i="0" u="none" strike="noStrike" kern="1200" smtClean="0">
                          <a:solidFill>
                            <a:schemeClr val="tx1"/>
                          </a:solidFill>
                          <a:latin typeface="+mn-ea"/>
                          <a:ea typeface="+mn-ea"/>
                          <a:cs typeface="+mn-cs"/>
                        </a:rPr>
                        <a:t>비트</a:t>
                      </a:r>
                      <a:endParaRPr lang="en-US" sz="1200" b="1" i="0" u="none" strike="noStrike" kern="1200" dirty="0">
                        <a:solidFill>
                          <a:schemeClr val="tx1"/>
                        </a:solidFill>
                        <a:latin typeface="+mn-ea"/>
                        <a:ea typeface="+mn-ea"/>
                        <a:cs typeface="+mn-cs"/>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fontAlgn="ctr" latinLnBrk="1" hangingPunct="1"/>
                      <a:r>
                        <a:rPr lang="en-US" altLang="ko-KR" sz="1200" b="1" i="0" u="none" strike="noStrike" kern="1200" smtClean="0">
                          <a:solidFill>
                            <a:schemeClr val="tx1"/>
                          </a:solidFill>
                          <a:latin typeface="+mn-ea"/>
                          <a:ea typeface="+mn-ea"/>
                          <a:cs typeface="+mn-cs"/>
                        </a:rPr>
                        <a:t>  ARIA-256,</a:t>
                      </a:r>
                      <a:r>
                        <a:rPr lang="en-US" altLang="ko-KR" sz="1200" b="1" i="0" u="none" strike="noStrike" kern="1200" baseline="0" smtClean="0">
                          <a:solidFill>
                            <a:schemeClr val="tx1"/>
                          </a:solidFill>
                          <a:latin typeface="+mn-ea"/>
                          <a:ea typeface="+mn-ea"/>
                          <a:cs typeface="+mn-cs"/>
                        </a:rPr>
                        <a:t> AES-256</a:t>
                      </a:r>
                      <a:endParaRPr lang="ko-KR" altLang="en-US" sz="1200" b="1"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algn="l" defTabSz="914400" rtl="0" eaLnBrk="1" fontAlgn="ctr" latinLnBrk="1" hangingPunct="1"/>
                      <a:endParaRPr lang="ko-KR" altLang="en-US" sz="1200" b="1"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8843534"/>
                  </a:ext>
                </a:extLst>
              </a:tr>
            </a:tbl>
          </a:graphicData>
        </a:graphic>
      </p:graphicFrame>
      <p:sp>
        <p:nvSpPr>
          <p:cNvPr id="17" name="Rectangle 3"/>
          <p:cNvSpPr>
            <a:spLocks noChangeArrowheads="1"/>
          </p:cNvSpPr>
          <p:nvPr/>
        </p:nvSpPr>
        <p:spPr bwMode="auto">
          <a:xfrm>
            <a:off x="4808984" y="3050874"/>
            <a:ext cx="4247080" cy="332399"/>
          </a:xfrm>
          <a:prstGeom prst="rect">
            <a:avLst/>
          </a:prstGeom>
          <a:noFill/>
          <a:ln w="9525" algn="ctr">
            <a:noFill/>
            <a:miter lim="800000"/>
            <a:headEnd/>
            <a:tailEnd/>
          </a:ln>
          <a:effectLst/>
        </p:spPr>
        <p:txBody>
          <a:bodyPr wrap="square">
            <a:spAutoFit/>
          </a:bodyPr>
          <a:lstStyle/>
          <a:p>
            <a:pPr>
              <a:lnSpc>
                <a:spcPct val="130000"/>
              </a:lnSpc>
              <a:spcBef>
                <a:spcPct val="20000"/>
              </a:spcBef>
              <a:buSzPct val="100000"/>
            </a:pPr>
            <a:r>
              <a:rPr lang="en-US" altLang="ko-KR" sz="1200" smtClean="0">
                <a:latin typeface="KB금융 본문체 Light" panose="020B0303000000000000" pitchFamily="50" charset="-127"/>
                <a:ea typeface="KB금융 본문체 Light" panose="020B0303000000000000" pitchFamily="50" charset="-127"/>
                <a:cs typeface="ヒラギノ角ゴ ProN W3"/>
              </a:rPr>
              <a:t>[</a:t>
            </a:r>
            <a:r>
              <a:rPr lang="ko-KR" altLang="en-US" sz="1200">
                <a:latin typeface="KB금융 본문체 Light" panose="020B0303000000000000" pitchFamily="50" charset="-127"/>
                <a:ea typeface="KB금융 본문체 Light" panose="020B0303000000000000" pitchFamily="50" charset="-127"/>
                <a:cs typeface="ヒラギノ角ゴ ProN W3"/>
              </a:rPr>
              <a:t>양</a:t>
            </a:r>
            <a:r>
              <a:rPr lang="ko-KR" altLang="en-US" sz="1200" smtClean="0">
                <a:latin typeface="KB금융 본문체 Light" panose="020B0303000000000000" pitchFamily="50" charset="-127"/>
                <a:ea typeface="KB금융 본문체 Light" panose="020B0303000000000000" pitchFamily="50" charset="-127"/>
                <a:cs typeface="ヒラギノ角ゴ ProN W3"/>
              </a:rPr>
              <a:t>방향</a:t>
            </a:r>
            <a:r>
              <a:rPr lang="en-US" altLang="ko-KR" sz="1200" smtClean="0">
                <a:latin typeface="KB금융 본문체 Light" panose="020B0303000000000000" pitchFamily="50" charset="-127"/>
                <a:ea typeface="KB금융 본문체 Light" panose="020B0303000000000000" pitchFamily="50" charset="-127"/>
                <a:cs typeface="ヒラギノ角ゴ ProN W3"/>
              </a:rPr>
              <a:t> </a:t>
            </a:r>
            <a:r>
              <a:rPr lang="ko-KR" altLang="en-US" sz="1200" smtClean="0">
                <a:latin typeface="KB금융 본문체 Light" panose="020B0303000000000000" pitchFamily="50" charset="-127"/>
                <a:ea typeface="KB금융 본문체 Light" panose="020B0303000000000000" pitchFamily="50" charset="-127"/>
                <a:cs typeface="ヒラギノ角ゴ ProN W3"/>
              </a:rPr>
              <a:t>암호화 표준</a:t>
            </a:r>
            <a:r>
              <a:rPr lang="en-US" altLang="ko-KR" sz="1200" smtClean="0">
                <a:latin typeface="KB금융 본문체 Light" panose="020B0303000000000000" pitchFamily="50" charset="-127"/>
                <a:ea typeface="KB금융 본문체 Light" panose="020B0303000000000000" pitchFamily="50" charset="-127"/>
                <a:cs typeface="ヒラギノ角ゴ ProN W3"/>
              </a:rPr>
              <a:t>]</a:t>
            </a:r>
            <a:endParaRPr lang="en-US" altLang="ko-KR" sz="1200" dirty="0">
              <a:latin typeface="KB금융 본문체 Light" panose="020B0303000000000000" pitchFamily="50" charset="-127"/>
              <a:ea typeface="KB금융 본문체 Light" panose="020B0303000000000000" pitchFamily="50" charset="-127"/>
              <a:cs typeface="ヒラギノ角ゴ ProN W3"/>
            </a:endParaRPr>
          </a:p>
        </p:txBody>
      </p:sp>
    </p:spTree>
    <p:extLst>
      <p:ext uri="{BB962C8B-B14F-4D97-AF65-F5344CB8AC3E}">
        <p14:creationId xmlns:p14="http://schemas.microsoft.com/office/powerpoint/2010/main" val="29909536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en-US" altLang="ko-KR" dirty="0"/>
              <a:t>4</a:t>
            </a:r>
            <a:r>
              <a:rPr lang="en-US" altLang="ko-KR" smtClean="0"/>
              <a:t>. </a:t>
            </a:r>
            <a:r>
              <a:rPr lang="ko-KR" altLang="en-US" smtClean="0"/>
              <a:t>암호화 기본정책</a:t>
            </a:r>
            <a:r>
              <a:rPr lang="en-US" altLang="ko-KR" smtClean="0"/>
              <a:t>(1/2)</a:t>
            </a:r>
            <a:endParaRPr lang="ko-KR" altLang="en-US" dirty="0"/>
          </a:p>
        </p:txBody>
      </p:sp>
      <p:sp>
        <p:nvSpPr>
          <p:cNvPr id="56" name="Rectangle 3"/>
          <p:cNvSpPr>
            <a:spLocks noChangeArrowheads="1"/>
          </p:cNvSpPr>
          <p:nvPr/>
        </p:nvSpPr>
        <p:spPr bwMode="auto">
          <a:xfrm>
            <a:off x="308484" y="764704"/>
            <a:ext cx="9144000" cy="372410"/>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ko-KR" altLang="en-US" sz="1400" b="1" smtClean="0">
                <a:latin typeface="KB금융 본문체 Light" panose="020B0303000000000000" pitchFamily="50" charset="-127"/>
                <a:ea typeface="KB금융 본문체 Light" panose="020B0303000000000000" pitchFamily="50" charset="-127"/>
                <a:cs typeface="ヒラギノ角ゴ ProN W3"/>
              </a:rPr>
              <a:t>암호화 운영방법</a:t>
            </a:r>
            <a:endParaRPr lang="en-US" altLang="ko-KR" sz="1400" b="1" dirty="0" smtClean="0">
              <a:latin typeface="KB금융 본문체 Light" panose="020B0303000000000000" pitchFamily="50" charset="-127"/>
              <a:ea typeface="KB금융 본문체 Light" panose="020B0303000000000000" pitchFamily="50" charset="-127"/>
              <a:cs typeface="ヒラギノ角ゴ ProN W3"/>
            </a:endParaRPr>
          </a:p>
        </p:txBody>
      </p:sp>
      <p:graphicFrame>
        <p:nvGraphicFramePr>
          <p:cNvPr id="18" name="표 17"/>
          <p:cNvGraphicFramePr>
            <a:graphicFrameLocks noGrp="1"/>
          </p:cNvGraphicFramePr>
          <p:nvPr>
            <p:extLst>
              <p:ext uri="{D42A27DB-BD31-4B8C-83A1-F6EECF244321}">
                <p14:modId xmlns:p14="http://schemas.microsoft.com/office/powerpoint/2010/main" val="4037175066"/>
              </p:ext>
            </p:extLst>
          </p:nvPr>
        </p:nvGraphicFramePr>
        <p:xfrm>
          <a:off x="381884" y="1772813"/>
          <a:ext cx="9138354" cy="4417431"/>
        </p:xfrm>
        <a:graphic>
          <a:graphicData uri="http://schemas.openxmlformats.org/drawingml/2006/table">
            <a:tbl>
              <a:tblPr firstRow="1" bandRow="1">
                <a:tableStyleId>{93296810-A885-4BE3-A3E7-6D5BEEA58F35}</a:tableStyleId>
              </a:tblPr>
              <a:tblGrid>
                <a:gridCol w="1654792">
                  <a:extLst>
                    <a:ext uri="{9D8B030D-6E8A-4147-A177-3AD203B41FA5}">
                      <a16:colId xmlns:a16="http://schemas.microsoft.com/office/drawing/2014/main" val="20000"/>
                    </a:ext>
                  </a:extLst>
                </a:gridCol>
                <a:gridCol w="7483562">
                  <a:extLst>
                    <a:ext uri="{9D8B030D-6E8A-4147-A177-3AD203B41FA5}">
                      <a16:colId xmlns:a16="http://schemas.microsoft.com/office/drawing/2014/main" val="20001"/>
                    </a:ext>
                  </a:extLst>
                </a:gridCol>
              </a:tblGrid>
              <a:tr h="201614">
                <a:tc>
                  <a:txBody>
                    <a:bodyPr/>
                    <a:lstStyle/>
                    <a:p>
                      <a:pPr algn="ctr" fontAlgn="ctr"/>
                      <a:r>
                        <a:rPr lang="ko-KR" altLang="en-US" sz="1200" b="1" i="0" u="none" strike="noStrike" dirty="0" smtClean="0">
                          <a:solidFill>
                            <a:schemeClr val="tx1"/>
                          </a:solidFill>
                          <a:latin typeface="+mn-ea"/>
                          <a:ea typeface="+mn-ea"/>
                        </a:rPr>
                        <a:t>구분</a:t>
                      </a:r>
                      <a:endParaRPr lang="en-US" sz="1200" b="1" i="0" u="none" strike="noStrike" baseline="30000" dirty="0">
                        <a:solidFill>
                          <a:schemeClr val="tx1"/>
                        </a:solidFill>
                        <a:latin typeface="+mn-ea"/>
                        <a:ea typeface="+mn-ea"/>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r>
                        <a:rPr lang="ko-KR" altLang="en-US" sz="1200" b="1" i="0" u="none" strike="noStrike" kern="1200" smtClean="0">
                          <a:solidFill>
                            <a:schemeClr val="tx1"/>
                          </a:solidFill>
                          <a:latin typeface="+mn-ea"/>
                          <a:ea typeface="+mn-ea"/>
                          <a:cs typeface="+mn-cs"/>
                        </a:rPr>
                        <a:t>내용</a:t>
                      </a:r>
                      <a:endParaRPr lang="ko-KR" altLang="en-US" sz="1200" b="1"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000"/>
                  </a:ext>
                </a:extLst>
              </a:tr>
              <a:tr h="1204519">
                <a:tc rowSpan="3">
                  <a:txBody>
                    <a:bodyPr/>
                    <a:lstStyle/>
                    <a:p>
                      <a:pPr algn="ctr" fontAlgn="ctr"/>
                      <a:r>
                        <a:rPr lang="ko-KR" altLang="en-US" sz="1200" b="0" i="0" u="none" strike="noStrike" dirty="0" smtClean="0">
                          <a:solidFill>
                            <a:schemeClr val="tx1"/>
                          </a:solidFill>
                          <a:latin typeface="+mn-ea"/>
                          <a:ea typeface="+mn-ea"/>
                        </a:rPr>
                        <a:t>   구현방법</a:t>
                      </a:r>
                      <a:endParaRPr lang="en-US" sz="1200" b="0" i="0" u="none" strike="noStrike" dirty="0">
                        <a:solidFill>
                          <a:schemeClr val="tx1"/>
                        </a:solidFill>
                        <a:latin typeface="+mn-ea"/>
                        <a:ea typeface="+mn-ea"/>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323850" algn="l" defTabSz="914400" rtl="0" eaLnBrk="1" fontAlgn="ctr" latinLnBrk="1" hangingPunct="1">
                        <a:lnSpc>
                          <a:spcPct val="150000"/>
                        </a:lnSpc>
                        <a:spcAft>
                          <a:spcPts val="0"/>
                        </a:spcAft>
                        <a:tabLst>
                          <a:tab pos="575945" algn="l"/>
                          <a:tab pos="508000" algn="l"/>
                        </a:tabLst>
                      </a:pPr>
                      <a:r>
                        <a:rPr lang="ko-KR" sz="1200" b="1" i="0" u="none" strike="noStrike" kern="1200" smtClean="0">
                          <a:solidFill>
                            <a:srgbClr val="FF0000"/>
                          </a:solidFill>
                          <a:latin typeface="+mn-ea"/>
                          <a:ea typeface="+mn-ea"/>
                          <a:cs typeface="+mn-cs"/>
                        </a:rPr>
                        <a:t>□</a:t>
                      </a:r>
                      <a:r>
                        <a:rPr lang="en-US" altLang="ko-KR" sz="1200" b="1" i="0" u="none" strike="noStrike" kern="1200" smtClean="0">
                          <a:solidFill>
                            <a:srgbClr val="FF0000"/>
                          </a:solidFill>
                          <a:latin typeface="+mn-ea"/>
                          <a:ea typeface="+mn-ea"/>
                          <a:cs typeface="+mn-cs"/>
                        </a:rPr>
                        <a:t> </a:t>
                      </a:r>
                      <a:r>
                        <a:rPr lang="ko-KR" sz="1200" b="1" i="0" u="none" strike="noStrike" kern="1200" smtClean="0">
                          <a:solidFill>
                            <a:srgbClr val="FF0000"/>
                          </a:solidFill>
                          <a:latin typeface="+mn-ea"/>
                          <a:ea typeface="+mn-ea"/>
                          <a:cs typeface="+mn-cs"/>
                        </a:rPr>
                        <a:t>암호화 </a:t>
                      </a:r>
                      <a:r>
                        <a:rPr lang="ko-KR" sz="1200" b="1" i="0" u="none" strike="noStrike" kern="1200">
                          <a:solidFill>
                            <a:srgbClr val="FF0000"/>
                          </a:solidFill>
                          <a:latin typeface="+mn-ea"/>
                          <a:ea typeface="+mn-ea"/>
                          <a:cs typeface="+mn-cs"/>
                        </a:rPr>
                        <a:t>전용 프로그램</a:t>
                      </a:r>
                      <a:r>
                        <a:rPr lang="ko-KR" sz="1200" b="0" i="0" u="none" strike="noStrike" kern="1200">
                          <a:solidFill>
                            <a:schemeClr val="tx1"/>
                          </a:solidFill>
                          <a:latin typeface="+mn-ea"/>
                          <a:ea typeface="+mn-ea"/>
                          <a:cs typeface="+mn-cs"/>
                        </a:rPr>
                        <a:t> 【권고】</a:t>
                      </a:r>
                    </a:p>
                    <a:p>
                      <a:pPr marL="0" indent="142875" algn="l" defTabSz="914400" rtl="0" eaLnBrk="1" fontAlgn="ctr" latinLnBrk="1" hangingPunct="1">
                        <a:lnSpc>
                          <a:spcPct val="150000"/>
                        </a:lnSpc>
                        <a:spcAft>
                          <a:spcPts val="0"/>
                        </a:spcAft>
                        <a:tabLst>
                          <a:tab pos="575945" algn="l"/>
                          <a:tab pos="508000" algn="l"/>
                        </a:tabLst>
                      </a:pPr>
                      <a:r>
                        <a:rPr lang="en-US" altLang="ko-KR" sz="1200" b="0" i="0" u="none" strike="noStrike" kern="1200" baseline="0" smtClean="0">
                          <a:solidFill>
                            <a:schemeClr val="tx1"/>
                          </a:solidFill>
                          <a:latin typeface="+mn-ea"/>
                          <a:ea typeface="+mn-ea"/>
                          <a:cs typeface="+mn-cs"/>
                        </a:rPr>
                        <a:t> - </a:t>
                      </a:r>
                      <a:r>
                        <a:rPr lang="ko-KR" sz="1200" b="0" i="0" u="none" strike="noStrike" kern="1200" smtClean="0">
                          <a:solidFill>
                            <a:schemeClr val="tx1"/>
                          </a:solidFill>
                          <a:latin typeface="+mn-ea"/>
                          <a:ea typeface="+mn-ea"/>
                          <a:cs typeface="+mn-cs"/>
                        </a:rPr>
                        <a:t>구현방식</a:t>
                      </a:r>
                      <a:r>
                        <a:rPr lang="en-US" sz="1200" b="0" i="0" u="none" strike="noStrike" kern="1200">
                          <a:solidFill>
                            <a:schemeClr val="tx1"/>
                          </a:solidFill>
                          <a:latin typeface="+mn-ea"/>
                          <a:ea typeface="+mn-ea"/>
                          <a:cs typeface="+mn-cs"/>
                        </a:rPr>
                        <a:t>: API</a:t>
                      </a:r>
                      <a:r>
                        <a:rPr lang="ko-KR" sz="1200" b="0" i="0" u="none" strike="noStrike" kern="1200" smtClean="0">
                          <a:solidFill>
                            <a:schemeClr val="tx1"/>
                          </a:solidFill>
                          <a:latin typeface="+mn-ea"/>
                          <a:ea typeface="+mn-ea"/>
                          <a:cs typeface="+mn-cs"/>
                        </a:rPr>
                        <a:t>방식</a:t>
                      </a:r>
                      <a:endParaRPr lang="en-US" sz="1200" b="0" i="0" u="none" strike="noStrike" kern="1200" smtClean="0">
                        <a:solidFill>
                          <a:schemeClr val="tx1"/>
                        </a:solidFill>
                        <a:latin typeface="+mn-ea"/>
                        <a:ea typeface="+mn-ea"/>
                        <a:cs typeface="+mn-cs"/>
                      </a:endParaRPr>
                    </a:p>
                    <a:p>
                      <a:pPr marL="0" indent="114300" algn="l" defTabSz="914400" rtl="0" eaLnBrk="1" fontAlgn="ctr" latinLnBrk="1" hangingPunct="1">
                        <a:lnSpc>
                          <a:spcPct val="150000"/>
                        </a:lnSpc>
                        <a:spcAft>
                          <a:spcPts val="0"/>
                        </a:spcAft>
                        <a:tabLst>
                          <a:tab pos="575945" algn="l"/>
                          <a:tab pos="508000" algn="l"/>
                        </a:tabLst>
                      </a:pPr>
                      <a:r>
                        <a:rPr lang="en-US" altLang="ko-KR" sz="1200" b="0" i="0" u="none" strike="noStrike" kern="1200" smtClean="0">
                          <a:solidFill>
                            <a:schemeClr val="tx1"/>
                          </a:solidFill>
                          <a:latin typeface="+mn-ea"/>
                          <a:ea typeface="+mn-ea"/>
                          <a:cs typeface="+mn-cs"/>
                        </a:rPr>
                        <a:t>  - </a:t>
                      </a:r>
                      <a:r>
                        <a:rPr lang="ko-KR" sz="1200" b="0" i="0" u="none" strike="noStrike" kern="1200" smtClean="0">
                          <a:solidFill>
                            <a:schemeClr val="tx1"/>
                          </a:solidFill>
                          <a:latin typeface="+mn-ea"/>
                          <a:ea typeface="+mn-ea"/>
                          <a:cs typeface="+mn-cs"/>
                        </a:rPr>
                        <a:t>보안수준</a:t>
                      </a:r>
                      <a:r>
                        <a:rPr lang="en-US" sz="1200" b="0" i="0" u="none" strike="noStrike" kern="1200" smtClean="0">
                          <a:solidFill>
                            <a:schemeClr val="tx1"/>
                          </a:solidFill>
                          <a:latin typeface="+mn-ea"/>
                          <a:ea typeface="+mn-ea"/>
                          <a:cs typeface="+mn-cs"/>
                        </a:rPr>
                        <a:t> </a:t>
                      </a:r>
                      <a:r>
                        <a:rPr lang="en-US" sz="1200" b="0" i="0" u="none" strike="noStrike" kern="1200">
                          <a:solidFill>
                            <a:schemeClr val="tx1"/>
                          </a:solidFill>
                          <a:latin typeface="+mn-ea"/>
                          <a:ea typeface="+mn-ea"/>
                          <a:cs typeface="+mn-cs"/>
                        </a:rPr>
                        <a:t>: </a:t>
                      </a:r>
                      <a:r>
                        <a:rPr lang="ko-KR" sz="1200" b="0" i="0" u="none" strike="noStrike" kern="1200">
                          <a:solidFill>
                            <a:schemeClr val="tx1"/>
                          </a:solidFill>
                          <a:latin typeface="+mn-ea"/>
                          <a:ea typeface="+mn-ea"/>
                          <a:cs typeface="+mn-cs"/>
                        </a:rPr>
                        <a:t>국내외 인증기관</a:t>
                      </a:r>
                      <a:r>
                        <a:rPr lang="en-US" sz="1200" b="0" i="0" u="none" strike="noStrike" kern="1200">
                          <a:solidFill>
                            <a:schemeClr val="tx1"/>
                          </a:solidFill>
                          <a:latin typeface="+mn-ea"/>
                          <a:ea typeface="+mn-ea"/>
                          <a:cs typeface="+mn-cs"/>
                        </a:rPr>
                        <a:t>(KCMVP </a:t>
                      </a:r>
                      <a:r>
                        <a:rPr lang="ko-KR" sz="1200" b="0" i="0" u="none" strike="noStrike" kern="1200">
                          <a:solidFill>
                            <a:schemeClr val="tx1"/>
                          </a:solidFill>
                          <a:latin typeface="+mn-ea"/>
                          <a:ea typeface="+mn-ea"/>
                          <a:cs typeface="+mn-cs"/>
                        </a:rPr>
                        <a:t>등</a:t>
                      </a:r>
                      <a:r>
                        <a:rPr lang="en-US" sz="1200" b="0" i="0" u="none" strike="noStrike" kern="1200">
                          <a:solidFill>
                            <a:schemeClr val="tx1"/>
                          </a:solidFill>
                          <a:latin typeface="+mn-ea"/>
                          <a:ea typeface="+mn-ea"/>
                          <a:cs typeface="+mn-cs"/>
                        </a:rPr>
                        <a:t>) </a:t>
                      </a:r>
                      <a:r>
                        <a:rPr lang="ko-KR" sz="1200" b="0" i="0" u="none" strike="noStrike" kern="1200">
                          <a:solidFill>
                            <a:schemeClr val="tx1"/>
                          </a:solidFill>
                          <a:latin typeface="+mn-ea"/>
                          <a:ea typeface="+mn-ea"/>
                          <a:cs typeface="+mn-cs"/>
                        </a:rPr>
                        <a:t>인증제품</a:t>
                      </a:r>
                    </a:p>
                    <a:p>
                      <a:pPr marL="0" indent="-323850" algn="l" defTabSz="914400" rtl="0" eaLnBrk="1" fontAlgn="ctr" latinLnBrk="1" hangingPunct="1">
                        <a:lnSpc>
                          <a:spcPct val="150000"/>
                        </a:lnSpc>
                        <a:spcAft>
                          <a:spcPts val="0"/>
                        </a:spcAft>
                        <a:tabLst>
                          <a:tab pos="575945" algn="l"/>
                          <a:tab pos="508000" algn="l"/>
                        </a:tabLst>
                      </a:pPr>
                      <a:r>
                        <a:rPr lang="en-US" sz="1200" b="0" i="0" u="none" strike="noStrike" kern="1200" smtClean="0">
                          <a:solidFill>
                            <a:schemeClr val="tx1"/>
                          </a:solidFill>
                          <a:latin typeface="+mn-ea"/>
                          <a:ea typeface="+mn-ea"/>
                          <a:cs typeface="+mn-cs"/>
                        </a:rPr>
                        <a:t>     - </a:t>
                      </a:r>
                      <a:r>
                        <a:rPr lang="ko-KR" sz="1200" b="0" i="0" u="none" strike="noStrike" kern="1200" smtClean="0">
                          <a:solidFill>
                            <a:schemeClr val="tx1"/>
                          </a:solidFill>
                          <a:latin typeface="+mn-ea"/>
                          <a:ea typeface="+mn-ea"/>
                          <a:cs typeface="+mn-cs"/>
                        </a:rPr>
                        <a:t>사용용도</a:t>
                      </a:r>
                      <a:r>
                        <a:rPr lang="en-US" sz="1200" b="0" i="0" u="none" strike="noStrike" kern="1200" smtClean="0">
                          <a:solidFill>
                            <a:schemeClr val="tx1"/>
                          </a:solidFill>
                          <a:latin typeface="+mn-ea"/>
                          <a:ea typeface="+mn-ea"/>
                          <a:cs typeface="+mn-cs"/>
                        </a:rPr>
                        <a:t> </a:t>
                      </a:r>
                      <a:r>
                        <a:rPr lang="en-US" sz="1200" b="0" i="0" u="none" strike="noStrike" kern="1200">
                          <a:solidFill>
                            <a:schemeClr val="tx1"/>
                          </a:solidFill>
                          <a:latin typeface="+mn-ea"/>
                          <a:ea typeface="+mn-ea"/>
                          <a:cs typeface="+mn-cs"/>
                        </a:rPr>
                        <a:t>: DB</a:t>
                      </a:r>
                      <a:r>
                        <a:rPr lang="ko-KR" sz="1200" b="0" i="0" u="none" strike="noStrike" kern="1200">
                          <a:solidFill>
                            <a:schemeClr val="tx1"/>
                          </a:solidFill>
                          <a:latin typeface="+mn-ea"/>
                          <a:ea typeface="+mn-ea"/>
                          <a:cs typeface="+mn-cs"/>
                        </a:rPr>
                        <a:t>암호화</a:t>
                      </a:r>
                      <a:r>
                        <a:rPr lang="en-US" sz="1200" b="0" i="0" u="none" strike="noStrike" kern="1200">
                          <a:solidFill>
                            <a:schemeClr val="tx1"/>
                          </a:solidFill>
                          <a:latin typeface="+mn-ea"/>
                          <a:ea typeface="+mn-ea"/>
                          <a:cs typeface="+mn-cs"/>
                        </a:rPr>
                        <a:t>, </a:t>
                      </a:r>
                      <a:r>
                        <a:rPr lang="ko-KR" sz="1200" b="0" i="0" u="none" strike="noStrike" kern="1200" smtClean="0">
                          <a:solidFill>
                            <a:schemeClr val="tx1"/>
                          </a:solidFill>
                          <a:latin typeface="+mn-ea"/>
                          <a:ea typeface="+mn-ea"/>
                          <a:cs typeface="+mn-cs"/>
                        </a:rPr>
                        <a:t>파일암호화</a:t>
                      </a:r>
                      <a:r>
                        <a:rPr lang="en-US" altLang="ko-KR" sz="1200" b="0" i="0" u="none" strike="noStrike" kern="1200" smtClean="0">
                          <a:solidFill>
                            <a:schemeClr val="tx1"/>
                          </a:solidFill>
                          <a:latin typeface="+mn-ea"/>
                          <a:ea typeface="+mn-ea"/>
                          <a:cs typeface="+mn-cs"/>
                        </a:rPr>
                        <a:t>(</a:t>
                      </a:r>
                      <a:r>
                        <a:rPr lang="ko-KR" altLang="en-US" sz="1200" b="0" i="0" u="none" strike="noStrike" kern="1200" smtClean="0">
                          <a:solidFill>
                            <a:schemeClr val="tx1"/>
                          </a:solidFill>
                          <a:latin typeface="+mn-ea"/>
                          <a:ea typeface="+mn-ea"/>
                          <a:cs typeface="+mn-cs"/>
                        </a:rPr>
                        <a:t>이미지</a:t>
                      </a:r>
                      <a:r>
                        <a:rPr lang="en-US" altLang="ko-KR" sz="1200" b="0" i="0" u="none" strike="noStrike" kern="1200" smtClean="0">
                          <a:solidFill>
                            <a:schemeClr val="tx1"/>
                          </a:solidFill>
                          <a:latin typeface="+mn-ea"/>
                          <a:ea typeface="+mn-ea"/>
                          <a:cs typeface="+mn-cs"/>
                        </a:rPr>
                        <a:t>, </a:t>
                      </a:r>
                      <a:r>
                        <a:rPr lang="ko-KR" altLang="en-US" sz="1200" b="0" i="0" u="none" strike="noStrike" kern="1200" smtClean="0">
                          <a:solidFill>
                            <a:schemeClr val="tx1"/>
                          </a:solidFill>
                          <a:latin typeface="+mn-ea"/>
                          <a:ea typeface="+mn-ea"/>
                          <a:cs typeface="+mn-cs"/>
                        </a:rPr>
                        <a:t>녹취 포함</a:t>
                      </a:r>
                      <a:r>
                        <a:rPr lang="en-US" altLang="ko-KR" sz="1200" b="0" i="0" u="none" strike="noStrike" kern="1200" smtClean="0">
                          <a:solidFill>
                            <a:schemeClr val="tx1"/>
                          </a:solidFill>
                          <a:latin typeface="+mn-ea"/>
                          <a:ea typeface="+mn-ea"/>
                          <a:cs typeface="+mn-cs"/>
                        </a:rPr>
                        <a:t>)</a:t>
                      </a:r>
                      <a:r>
                        <a:rPr lang="en-US" sz="1200" b="0" i="0" u="none" strike="noStrike" kern="1200" smtClean="0">
                          <a:solidFill>
                            <a:schemeClr val="tx1"/>
                          </a:solidFill>
                          <a:latin typeface="+mn-ea"/>
                          <a:ea typeface="+mn-ea"/>
                          <a:cs typeface="+mn-cs"/>
                        </a:rPr>
                        <a:t>, </a:t>
                      </a:r>
                      <a:r>
                        <a:rPr lang="ko-KR" sz="1200" b="0" i="0" u="none" strike="noStrike" kern="1200" smtClean="0">
                          <a:solidFill>
                            <a:schemeClr val="tx1"/>
                          </a:solidFill>
                          <a:latin typeface="+mn-ea"/>
                          <a:ea typeface="+mn-ea"/>
                          <a:cs typeface="+mn-cs"/>
                        </a:rPr>
                        <a:t>거래데이타</a:t>
                      </a:r>
                      <a:r>
                        <a:rPr lang="en-US" altLang="ko-KR" sz="1200" b="0" i="0" u="none" strike="noStrike" kern="1200" smtClean="0">
                          <a:solidFill>
                            <a:schemeClr val="tx1"/>
                          </a:solidFill>
                          <a:latin typeface="+mn-ea"/>
                          <a:ea typeface="+mn-ea"/>
                          <a:cs typeface="+mn-cs"/>
                        </a:rPr>
                        <a:t>(</a:t>
                      </a:r>
                      <a:r>
                        <a:rPr lang="ko-KR" altLang="en-US" sz="1200" b="0" i="0" u="none" strike="noStrike" kern="1200" smtClean="0">
                          <a:solidFill>
                            <a:schemeClr val="tx1"/>
                          </a:solidFill>
                          <a:latin typeface="+mn-ea"/>
                          <a:ea typeface="+mn-ea"/>
                          <a:cs typeface="+mn-cs"/>
                        </a:rPr>
                        <a:t>로그 포함</a:t>
                      </a:r>
                      <a:r>
                        <a:rPr lang="en-US" altLang="ko-KR" sz="1200" b="0" i="0" u="none" strike="noStrike" kern="1200" smtClean="0">
                          <a:solidFill>
                            <a:schemeClr val="tx1"/>
                          </a:solidFill>
                          <a:latin typeface="+mn-ea"/>
                          <a:ea typeface="+mn-ea"/>
                          <a:cs typeface="+mn-cs"/>
                        </a:rPr>
                        <a:t>)</a:t>
                      </a:r>
                      <a:r>
                        <a:rPr lang="ko-KR" sz="1200" b="0" i="0" u="none" strike="noStrike" kern="1200" smtClean="0">
                          <a:solidFill>
                            <a:schemeClr val="tx1"/>
                          </a:solidFill>
                          <a:latin typeface="+mn-ea"/>
                          <a:ea typeface="+mn-ea"/>
                          <a:cs typeface="+mn-cs"/>
                        </a:rPr>
                        <a:t> </a:t>
                      </a:r>
                      <a:r>
                        <a:rPr lang="ko-KR" sz="1200" b="0" i="0" u="none" strike="noStrike" kern="1200">
                          <a:solidFill>
                            <a:schemeClr val="tx1"/>
                          </a:solidFill>
                          <a:latin typeface="+mn-ea"/>
                          <a:ea typeface="+mn-ea"/>
                          <a:cs typeface="+mn-cs"/>
                        </a:rPr>
                        <a:t>등</a:t>
                      </a: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3611869"/>
                  </a:ext>
                </a:extLst>
              </a:tr>
              <a:tr h="903389">
                <a:tc vMerge="1">
                  <a:txBody>
                    <a:bodyPr/>
                    <a:lstStyle/>
                    <a:p>
                      <a:pPr algn="l" fontAlgn="ctr"/>
                      <a:endParaRPr lang="en-US" sz="1200" b="0" i="0" u="none" strike="noStrike" dirty="0">
                        <a:solidFill>
                          <a:schemeClr val="tx1"/>
                        </a:solidFill>
                        <a:latin typeface="+mn-ea"/>
                        <a:ea typeface="+mn-ea"/>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114300" algn="l" defTabSz="914400" rtl="0" eaLnBrk="1" fontAlgn="ctr" latinLnBrk="1" hangingPunct="1">
                        <a:lnSpc>
                          <a:spcPct val="150000"/>
                        </a:lnSpc>
                        <a:spcAft>
                          <a:spcPts val="0"/>
                        </a:spcAft>
                        <a:tabLst>
                          <a:tab pos="575945" algn="l"/>
                          <a:tab pos="508000" algn="l"/>
                        </a:tabLst>
                      </a:pPr>
                      <a:r>
                        <a:rPr 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sz="1200" b="0" i="0" u="none" strike="noStrike" kern="1200" smtClean="0">
                          <a:solidFill>
                            <a:schemeClr val="tx1"/>
                          </a:solidFill>
                          <a:latin typeface="+mn-ea"/>
                          <a:ea typeface="+mn-ea"/>
                          <a:cs typeface="+mn-cs"/>
                        </a:rPr>
                        <a:t>자체 </a:t>
                      </a:r>
                      <a:r>
                        <a:rPr lang="ko-KR" sz="1200" b="0" i="0" u="none" strike="noStrike" kern="1200">
                          <a:solidFill>
                            <a:schemeClr val="tx1"/>
                          </a:solidFill>
                          <a:latin typeface="+mn-ea"/>
                          <a:ea typeface="+mn-ea"/>
                          <a:cs typeface="+mn-cs"/>
                        </a:rPr>
                        <a:t>암호화 프로그램 개발</a:t>
                      </a:r>
                    </a:p>
                    <a:p>
                      <a:pPr marL="0" indent="-114300" algn="l" defTabSz="914400" rtl="0" eaLnBrk="1" fontAlgn="ctr" latinLnBrk="1" hangingPunct="1">
                        <a:lnSpc>
                          <a:spcPct val="150000"/>
                        </a:lnSpc>
                        <a:spcAft>
                          <a:spcPts val="0"/>
                        </a:spcAft>
                        <a:tabLst>
                          <a:tab pos="575945" algn="l"/>
                          <a:tab pos="508000" algn="l"/>
                        </a:tabLst>
                      </a:pPr>
                      <a:r>
                        <a:rPr lang="en-US" sz="1200" b="0" i="0" u="none" strike="noStrike" kern="1200">
                          <a:solidFill>
                            <a:schemeClr val="tx1"/>
                          </a:solidFill>
                          <a:latin typeface="+mn-ea"/>
                          <a:ea typeface="+mn-ea"/>
                          <a:cs typeface="+mn-cs"/>
                        </a:rPr>
                        <a:t>  </a:t>
                      </a:r>
                      <a:r>
                        <a:rPr lang="en-US" sz="1200" b="0" i="0" u="none" strike="noStrike" kern="1200" baseline="0" smtClean="0">
                          <a:solidFill>
                            <a:schemeClr val="tx1"/>
                          </a:solidFill>
                          <a:latin typeface="+mn-ea"/>
                          <a:ea typeface="+mn-ea"/>
                          <a:cs typeface="+mn-cs"/>
                        </a:rPr>
                        <a:t>   - </a:t>
                      </a:r>
                      <a:r>
                        <a:rPr lang="ko-KR" sz="1200" b="0" i="0" u="none" strike="noStrike" kern="1200" smtClean="0">
                          <a:solidFill>
                            <a:schemeClr val="tx1"/>
                          </a:solidFill>
                          <a:latin typeface="+mn-ea"/>
                          <a:ea typeface="+mn-ea"/>
                          <a:cs typeface="+mn-cs"/>
                        </a:rPr>
                        <a:t>구현방식</a:t>
                      </a:r>
                      <a:r>
                        <a:rPr lang="en-US" sz="1200" b="0" i="0" u="none" strike="noStrike" kern="1200" smtClean="0">
                          <a:solidFill>
                            <a:schemeClr val="tx1"/>
                          </a:solidFill>
                          <a:latin typeface="+mn-ea"/>
                          <a:ea typeface="+mn-ea"/>
                          <a:cs typeface="+mn-cs"/>
                        </a:rPr>
                        <a:t> </a:t>
                      </a:r>
                      <a:r>
                        <a:rPr lang="en-US" sz="1200" b="0" i="0" u="none" strike="noStrike" kern="1200">
                          <a:solidFill>
                            <a:schemeClr val="tx1"/>
                          </a:solidFill>
                          <a:latin typeface="+mn-ea"/>
                          <a:ea typeface="+mn-ea"/>
                          <a:cs typeface="+mn-cs"/>
                        </a:rPr>
                        <a:t>: API </a:t>
                      </a:r>
                      <a:endParaRPr lang="ko-KR" sz="1200" b="0" i="0" u="none" strike="noStrike" kern="1200">
                        <a:solidFill>
                          <a:schemeClr val="tx1"/>
                        </a:solidFill>
                        <a:latin typeface="+mn-ea"/>
                        <a:ea typeface="+mn-ea"/>
                        <a:cs typeface="+mn-cs"/>
                      </a:endParaRPr>
                    </a:p>
                    <a:p>
                      <a:pPr marL="0" indent="-323850" algn="l" defTabSz="914400" rtl="0" eaLnBrk="1" fontAlgn="ctr" latinLnBrk="1" hangingPunct="1">
                        <a:lnSpc>
                          <a:spcPct val="150000"/>
                        </a:lnSpc>
                        <a:spcAft>
                          <a:spcPts val="0"/>
                        </a:spcAft>
                        <a:tabLst>
                          <a:tab pos="575945" algn="l"/>
                          <a:tab pos="508000" algn="l"/>
                        </a:tabLst>
                      </a:pPr>
                      <a:r>
                        <a:rPr lang="en-US" altLang="ko-KR" sz="1200" b="0" i="0" u="none" strike="noStrike" kern="1200" smtClean="0">
                          <a:solidFill>
                            <a:schemeClr val="tx1"/>
                          </a:solidFill>
                          <a:latin typeface="+mn-ea"/>
                          <a:ea typeface="+mn-ea"/>
                          <a:cs typeface="+mn-cs"/>
                        </a:rPr>
                        <a:t>     - </a:t>
                      </a:r>
                      <a:r>
                        <a:rPr lang="ko-KR" sz="1200" b="0" i="0" u="none" strike="noStrike" kern="1200" smtClean="0">
                          <a:solidFill>
                            <a:schemeClr val="tx1"/>
                          </a:solidFill>
                          <a:latin typeface="+mn-ea"/>
                          <a:ea typeface="+mn-ea"/>
                          <a:cs typeface="+mn-cs"/>
                        </a:rPr>
                        <a:t>알고리즘 </a:t>
                      </a:r>
                      <a:r>
                        <a:rPr lang="ko-KR" sz="1200" b="0" i="0" u="none" strike="noStrike" kern="1200">
                          <a:solidFill>
                            <a:schemeClr val="tx1"/>
                          </a:solidFill>
                          <a:latin typeface="+mn-ea"/>
                          <a:ea typeface="+mn-ea"/>
                          <a:cs typeface="+mn-cs"/>
                        </a:rPr>
                        <a:t>개발언어</a:t>
                      </a:r>
                      <a:r>
                        <a:rPr lang="en-US" sz="1200" b="0" i="0" u="none" strike="noStrike" kern="1200">
                          <a:solidFill>
                            <a:schemeClr val="tx1"/>
                          </a:solidFill>
                          <a:latin typeface="+mn-ea"/>
                          <a:ea typeface="+mn-ea"/>
                          <a:cs typeface="+mn-cs"/>
                        </a:rPr>
                        <a:t> : C/ C++</a:t>
                      </a:r>
                      <a:r>
                        <a:rPr lang="ko-KR" sz="1200" b="0" i="0" u="none" strike="noStrike" kern="1200">
                          <a:solidFill>
                            <a:schemeClr val="tx1"/>
                          </a:solidFill>
                          <a:latin typeface="+mn-ea"/>
                          <a:ea typeface="+mn-ea"/>
                          <a:cs typeface="+mn-cs"/>
                        </a:rPr>
                        <a:t>언어 등</a:t>
                      </a:r>
                      <a:r>
                        <a:rPr lang="en-US" sz="1200" b="0" i="0" u="none" strike="noStrike" kern="1200">
                          <a:solidFill>
                            <a:schemeClr val="tx1"/>
                          </a:solidFill>
                          <a:latin typeface="+mn-ea"/>
                          <a:ea typeface="+mn-ea"/>
                          <a:cs typeface="+mn-cs"/>
                        </a:rPr>
                        <a:t> De-Compile </a:t>
                      </a:r>
                      <a:r>
                        <a:rPr lang="ko-KR" sz="1200" b="0" i="0" u="none" strike="noStrike" kern="1200">
                          <a:solidFill>
                            <a:schemeClr val="tx1"/>
                          </a:solidFill>
                          <a:latin typeface="+mn-ea"/>
                          <a:ea typeface="+mn-ea"/>
                          <a:cs typeface="+mn-cs"/>
                        </a:rPr>
                        <a:t>불가능한 언어</a:t>
                      </a: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30670320"/>
                  </a:ext>
                </a:extLst>
              </a:tr>
              <a:tr h="903389">
                <a:tc vMerge="1">
                  <a:txBody>
                    <a:bodyPr/>
                    <a:lstStyle/>
                    <a:p>
                      <a:pPr algn="l" fontAlgn="ctr"/>
                      <a:endParaRPr lang="en-US" sz="1200" b="0" i="0" u="none" strike="noStrike" dirty="0">
                        <a:solidFill>
                          <a:schemeClr val="tx1"/>
                        </a:solidFill>
                        <a:latin typeface="+mn-ea"/>
                        <a:ea typeface="+mn-ea"/>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323850" algn="l" defTabSz="914400" rtl="0" eaLnBrk="1" fontAlgn="ctr" latinLnBrk="1" hangingPunct="1">
                        <a:lnSpc>
                          <a:spcPct val="150000"/>
                        </a:lnSpc>
                        <a:spcAft>
                          <a:spcPts val="0"/>
                        </a:spcAft>
                        <a:tabLst>
                          <a:tab pos="575945" algn="l"/>
                          <a:tab pos="508000" algn="l"/>
                        </a:tabLst>
                      </a:pPr>
                      <a:r>
                        <a:rPr lang="ko-KR" alt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altLang="ko-KR" sz="1200" b="0" i="0" u="none" strike="noStrike" kern="1200" smtClean="0">
                          <a:solidFill>
                            <a:schemeClr val="tx1"/>
                          </a:solidFill>
                          <a:latin typeface="+mn-ea"/>
                          <a:ea typeface="+mn-ea"/>
                          <a:cs typeface="+mn-cs"/>
                        </a:rPr>
                        <a:t>송</a:t>
                      </a:r>
                      <a:r>
                        <a:rPr lang="en-US" altLang="ko-KR" sz="1200" b="0" i="0" u="none" strike="noStrike" kern="1200" smtClean="0">
                          <a:solidFill>
                            <a:schemeClr val="tx1"/>
                          </a:solidFill>
                          <a:latin typeface="+mn-ea"/>
                          <a:ea typeface="+mn-ea"/>
                          <a:cs typeface="+mn-cs"/>
                        </a:rPr>
                        <a:t>·</a:t>
                      </a:r>
                      <a:r>
                        <a:rPr lang="ko-KR" altLang="ko-KR" sz="1200" b="0" i="0" u="none" strike="noStrike" kern="1200" smtClean="0">
                          <a:solidFill>
                            <a:schemeClr val="tx1"/>
                          </a:solidFill>
                          <a:latin typeface="+mn-ea"/>
                          <a:ea typeface="+mn-ea"/>
                          <a:cs typeface="+mn-cs"/>
                        </a:rPr>
                        <a:t>수신용 암호화 전용 프로그램</a:t>
                      </a:r>
                      <a:endParaRPr lang="en-US" altLang="ko-KR" sz="1200" b="0" i="0" u="none" strike="noStrike" kern="1200" smtClean="0">
                        <a:solidFill>
                          <a:schemeClr val="tx1"/>
                        </a:solidFill>
                        <a:latin typeface="+mn-ea"/>
                        <a:ea typeface="+mn-ea"/>
                        <a:cs typeface="+mn-cs"/>
                      </a:endParaRPr>
                    </a:p>
                    <a:p>
                      <a:pPr marL="0" indent="-323850" algn="l" defTabSz="914400" rtl="0" eaLnBrk="1" fontAlgn="ctr" latinLnBrk="1" hangingPunct="1">
                        <a:lnSpc>
                          <a:spcPct val="150000"/>
                        </a:lnSpc>
                        <a:spcAft>
                          <a:spcPts val="0"/>
                        </a:spcAft>
                        <a:tabLst>
                          <a:tab pos="575945" algn="l"/>
                          <a:tab pos="508000" algn="l"/>
                        </a:tabLst>
                      </a:pPr>
                      <a:r>
                        <a:rPr lang="en-US" altLang="ko-KR" sz="1200" b="0" i="0" u="none" strike="noStrike" kern="1200" baseline="0" smtClean="0">
                          <a:solidFill>
                            <a:schemeClr val="tx1"/>
                          </a:solidFill>
                          <a:latin typeface="+mn-ea"/>
                          <a:ea typeface="+mn-ea"/>
                          <a:cs typeface="+mn-cs"/>
                        </a:rPr>
                        <a:t>     - </a:t>
                      </a:r>
                      <a:r>
                        <a:rPr lang="en-US" altLang="ko-KR" sz="1200" b="0" i="0" u="none" strike="noStrike" kern="1200" smtClean="0">
                          <a:solidFill>
                            <a:schemeClr val="tx1"/>
                          </a:solidFill>
                          <a:latin typeface="+mn-ea"/>
                          <a:ea typeface="+mn-ea"/>
                          <a:cs typeface="+mn-cs"/>
                        </a:rPr>
                        <a:t>SSL/TLS</a:t>
                      </a:r>
                      <a:r>
                        <a:rPr lang="ko-KR" altLang="ko-KR" sz="1200" b="0" i="0" u="none" strike="noStrike" kern="1200" smtClean="0">
                          <a:solidFill>
                            <a:schemeClr val="tx1"/>
                          </a:solidFill>
                          <a:latin typeface="+mn-ea"/>
                          <a:ea typeface="+mn-ea"/>
                          <a:cs typeface="+mn-cs"/>
                        </a:rPr>
                        <a:t>방식</a:t>
                      </a:r>
                      <a:r>
                        <a:rPr lang="en-US" altLang="ko-KR" sz="1200" b="0" i="0" u="none" strike="noStrike" kern="1200" smtClean="0">
                          <a:solidFill>
                            <a:schemeClr val="tx1"/>
                          </a:solidFill>
                          <a:latin typeface="+mn-ea"/>
                          <a:ea typeface="+mn-ea"/>
                          <a:cs typeface="+mn-cs"/>
                        </a:rPr>
                        <a:t>, SSH</a:t>
                      </a:r>
                      <a:r>
                        <a:rPr lang="ko-KR" altLang="ko-KR" sz="1200" b="0" i="0" u="none" strike="noStrike" kern="1200" smtClean="0">
                          <a:solidFill>
                            <a:schemeClr val="tx1"/>
                          </a:solidFill>
                          <a:latin typeface="+mn-ea"/>
                          <a:ea typeface="+mn-ea"/>
                          <a:cs typeface="+mn-cs"/>
                        </a:rPr>
                        <a:t>방식</a:t>
                      </a:r>
                      <a:r>
                        <a:rPr lang="en-US" altLang="ko-KR" sz="1200" b="0" i="0" u="none" strike="noStrike" kern="1200" smtClean="0">
                          <a:solidFill>
                            <a:schemeClr val="tx1"/>
                          </a:solidFill>
                          <a:latin typeface="+mn-ea"/>
                          <a:ea typeface="+mn-ea"/>
                          <a:cs typeface="+mn-cs"/>
                        </a:rPr>
                        <a:t>, VPN</a:t>
                      </a:r>
                      <a:r>
                        <a:rPr lang="ko-KR" altLang="ko-KR" sz="1200" b="0" i="0" u="none" strike="noStrike" kern="1200" smtClean="0">
                          <a:solidFill>
                            <a:schemeClr val="tx1"/>
                          </a:solidFill>
                          <a:latin typeface="+mn-ea"/>
                          <a:ea typeface="+mn-ea"/>
                          <a:cs typeface="+mn-cs"/>
                        </a:rPr>
                        <a:t>방식 </a:t>
                      </a:r>
                    </a:p>
                    <a:p>
                      <a:pPr marL="0" indent="142875" algn="l" defTabSz="914400" rtl="0" eaLnBrk="1" fontAlgn="ctr" latinLnBrk="1" hangingPunct="1">
                        <a:lnSpc>
                          <a:spcPct val="150000"/>
                        </a:lnSpc>
                        <a:spcAft>
                          <a:spcPts val="0"/>
                        </a:spcAft>
                        <a:tabLst>
                          <a:tab pos="575945" algn="l"/>
                          <a:tab pos="508000" algn="l"/>
                        </a:tabLst>
                      </a:pPr>
                      <a:r>
                        <a:rPr lang="en-US" altLang="ko-KR" sz="1200" b="0" i="0" u="none" strike="noStrike" kern="1200" smtClean="0">
                          <a:solidFill>
                            <a:schemeClr val="tx1"/>
                          </a:solidFill>
                          <a:latin typeface="+mn-ea"/>
                          <a:ea typeface="+mn-ea"/>
                          <a:cs typeface="+mn-cs"/>
                        </a:rPr>
                        <a:t>  - </a:t>
                      </a:r>
                      <a:r>
                        <a:rPr lang="ko-KR" altLang="ko-KR" sz="1200" b="0" i="0" u="none" strike="noStrike" kern="1200" smtClean="0">
                          <a:solidFill>
                            <a:schemeClr val="tx1"/>
                          </a:solidFill>
                          <a:latin typeface="+mn-ea"/>
                          <a:ea typeface="+mn-ea"/>
                          <a:cs typeface="+mn-cs"/>
                        </a:rPr>
                        <a:t>내부업무용 파일 송</a:t>
                      </a:r>
                      <a:r>
                        <a:rPr lang="en-US" altLang="ko-KR" sz="1200" b="0" i="0" u="none" strike="noStrike" kern="1200" smtClean="0">
                          <a:solidFill>
                            <a:schemeClr val="tx1"/>
                          </a:solidFill>
                          <a:latin typeface="+mn-ea"/>
                          <a:ea typeface="+mn-ea"/>
                          <a:cs typeface="+mn-cs"/>
                        </a:rPr>
                        <a:t>/</a:t>
                      </a:r>
                      <a:r>
                        <a:rPr lang="ko-KR" altLang="ko-KR" sz="1200" b="0" i="0" u="none" strike="noStrike" kern="1200" smtClean="0">
                          <a:solidFill>
                            <a:schemeClr val="tx1"/>
                          </a:solidFill>
                          <a:latin typeface="+mn-ea"/>
                          <a:ea typeface="+mn-ea"/>
                          <a:cs typeface="+mn-cs"/>
                        </a:rPr>
                        <a:t>수신</a:t>
                      </a:r>
                      <a:r>
                        <a:rPr lang="en-US" altLang="ko-KR" sz="1200" b="0" i="0" u="none" strike="noStrike" kern="1200" smtClean="0">
                          <a:solidFill>
                            <a:schemeClr val="tx1"/>
                          </a:solidFill>
                          <a:latin typeface="+mn-ea"/>
                          <a:ea typeface="+mn-ea"/>
                          <a:cs typeface="+mn-cs"/>
                        </a:rPr>
                        <a:t>(S-FTP, NDM), </a:t>
                      </a:r>
                      <a:r>
                        <a:rPr lang="ko-KR" altLang="ko-KR" sz="1200" b="0" i="0" u="none" strike="noStrike" kern="1200" smtClean="0">
                          <a:solidFill>
                            <a:schemeClr val="tx1"/>
                          </a:solidFill>
                          <a:latin typeface="+mn-ea"/>
                          <a:ea typeface="+mn-ea"/>
                          <a:cs typeface="+mn-cs"/>
                        </a:rPr>
                        <a:t>외부전송용 파일 송</a:t>
                      </a:r>
                      <a:r>
                        <a:rPr lang="en-US" altLang="ko-KR" sz="1200" b="0" i="0" u="none" strike="noStrike" kern="1200" smtClean="0">
                          <a:solidFill>
                            <a:schemeClr val="tx1"/>
                          </a:solidFill>
                          <a:latin typeface="+mn-ea"/>
                          <a:ea typeface="+mn-ea"/>
                          <a:cs typeface="+mn-cs"/>
                        </a:rPr>
                        <a:t>/</a:t>
                      </a:r>
                      <a:r>
                        <a:rPr lang="ko-KR" altLang="ko-KR" sz="1200" b="0" i="0" u="none" strike="noStrike" kern="1200" smtClean="0">
                          <a:solidFill>
                            <a:schemeClr val="tx1"/>
                          </a:solidFill>
                          <a:latin typeface="+mn-ea"/>
                          <a:ea typeface="+mn-ea"/>
                          <a:cs typeface="+mn-cs"/>
                        </a:rPr>
                        <a:t>수신</a:t>
                      </a:r>
                      <a:r>
                        <a:rPr lang="en-US" altLang="ko-KR" sz="1200" b="0" i="0" u="none" strike="noStrike" kern="1200" smtClean="0">
                          <a:solidFill>
                            <a:schemeClr val="tx1"/>
                          </a:solidFill>
                          <a:latin typeface="+mn-ea"/>
                          <a:ea typeface="+mn-ea"/>
                          <a:cs typeface="+mn-cs"/>
                        </a:rPr>
                        <a:t>(SOM-FILE)</a:t>
                      </a:r>
                      <a:endParaRPr lang="ko-KR" altLang="ko-KR" sz="1200" b="0" i="0" u="none" strike="noStrike" kern="1200" smtClean="0">
                        <a:solidFill>
                          <a:schemeClr val="tx1"/>
                        </a:solidFill>
                        <a:latin typeface="+mn-ea"/>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1473992"/>
                  </a:ext>
                </a:extLst>
              </a:tr>
              <a:tr h="301130">
                <a:tc rowSpan="3">
                  <a:txBody>
                    <a:bodyPr/>
                    <a:lstStyle/>
                    <a:p>
                      <a:pPr algn="ctr" fontAlgn="ctr"/>
                      <a:r>
                        <a:rPr lang="ko-KR" altLang="en-US" sz="1200" b="0" i="0" u="none" strike="noStrike" dirty="0" smtClean="0">
                          <a:solidFill>
                            <a:schemeClr val="tx1"/>
                          </a:solidFill>
                          <a:latin typeface="+mn-ea"/>
                          <a:ea typeface="+mn-ea"/>
                        </a:rPr>
                        <a:t>   암호키 접근통제</a:t>
                      </a:r>
                      <a:endParaRPr lang="en-US" sz="1200" b="0" i="0" u="none" strike="noStrike" dirty="0">
                        <a:solidFill>
                          <a:schemeClr val="tx1"/>
                        </a:solidFill>
                        <a:latin typeface="+mn-ea"/>
                        <a:ea typeface="+mn-ea"/>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323850" algn="l" defTabSz="914400" rtl="0" eaLnBrk="1" fontAlgn="ctr" latinLnBrk="1" hangingPunct="1">
                        <a:lnSpc>
                          <a:spcPct val="150000"/>
                        </a:lnSpc>
                        <a:spcAft>
                          <a:spcPts val="0"/>
                        </a:spcAft>
                        <a:tabLst>
                          <a:tab pos="575945" algn="l"/>
                          <a:tab pos="508000" algn="l"/>
                        </a:tabLst>
                      </a:pPr>
                      <a:r>
                        <a:rPr lang="ko-KR" sz="1200" b="1" i="0" u="none" strike="noStrike" kern="1200" smtClean="0">
                          <a:solidFill>
                            <a:srgbClr val="FF0000"/>
                          </a:solidFill>
                          <a:latin typeface="+mn-ea"/>
                          <a:ea typeface="+mn-ea"/>
                          <a:cs typeface="+mn-cs"/>
                        </a:rPr>
                        <a:t>□</a:t>
                      </a:r>
                      <a:r>
                        <a:rPr lang="en-US" altLang="ko-KR" sz="1200" b="1" i="0" u="none" strike="noStrike" kern="1200" smtClean="0">
                          <a:solidFill>
                            <a:srgbClr val="FF0000"/>
                          </a:solidFill>
                          <a:latin typeface="+mn-ea"/>
                          <a:ea typeface="+mn-ea"/>
                          <a:cs typeface="+mn-cs"/>
                        </a:rPr>
                        <a:t> </a:t>
                      </a:r>
                      <a:r>
                        <a:rPr lang="ko-KR" sz="1200" b="1" i="0" u="none" strike="noStrike" kern="1200" smtClean="0">
                          <a:solidFill>
                            <a:srgbClr val="FF0000"/>
                          </a:solidFill>
                          <a:latin typeface="+mn-ea"/>
                          <a:ea typeface="+mn-ea"/>
                          <a:cs typeface="+mn-cs"/>
                        </a:rPr>
                        <a:t>암호화 </a:t>
                      </a:r>
                      <a:r>
                        <a:rPr lang="ko-KR" sz="1200" b="1" i="0" u="none" strike="noStrike" kern="1200">
                          <a:solidFill>
                            <a:srgbClr val="FF0000"/>
                          </a:solidFill>
                          <a:latin typeface="+mn-ea"/>
                          <a:ea typeface="+mn-ea"/>
                          <a:cs typeface="+mn-cs"/>
                        </a:rPr>
                        <a:t>전용 프로그램</a:t>
                      </a:r>
                      <a:r>
                        <a:rPr lang="en-US" sz="1200" b="1" i="0" u="none" strike="noStrike" kern="1200">
                          <a:solidFill>
                            <a:srgbClr val="FF0000"/>
                          </a:solidFill>
                          <a:latin typeface="+mn-ea"/>
                          <a:ea typeface="+mn-ea"/>
                          <a:cs typeface="+mn-cs"/>
                        </a:rPr>
                        <a:t> : </a:t>
                      </a:r>
                      <a:r>
                        <a:rPr lang="ko-KR" sz="1200" b="1" i="0" u="none" strike="noStrike" kern="1200">
                          <a:solidFill>
                            <a:srgbClr val="FF0000"/>
                          </a:solidFill>
                          <a:latin typeface="+mn-ea"/>
                          <a:ea typeface="+mn-ea"/>
                          <a:cs typeface="+mn-cs"/>
                        </a:rPr>
                        <a:t>암호화 키관리 시스템</a:t>
                      </a:r>
                      <a:r>
                        <a:rPr lang="ko-KR" sz="1200" b="0" i="0" u="none" strike="noStrike" kern="1200">
                          <a:solidFill>
                            <a:schemeClr val="tx1"/>
                          </a:solidFill>
                          <a:latin typeface="+mn-ea"/>
                          <a:ea typeface="+mn-ea"/>
                          <a:cs typeface="+mn-cs"/>
                        </a:rPr>
                        <a:t> 【권고</a:t>
                      </a:r>
                      <a:r>
                        <a:rPr lang="en-US" sz="1200" b="0" i="0" u="none" strike="noStrike" kern="1200">
                          <a:solidFill>
                            <a:schemeClr val="tx1"/>
                          </a:solidFill>
                          <a:latin typeface="+mn-ea"/>
                          <a:ea typeface="+mn-ea"/>
                          <a:cs typeface="+mn-cs"/>
                        </a:rPr>
                        <a:t>: </a:t>
                      </a:r>
                      <a:r>
                        <a:rPr lang="ko-KR" sz="1200" b="0" i="0" u="none" strike="noStrike" kern="1200">
                          <a:solidFill>
                            <a:schemeClr val="tx1"/>
                          </a:solidFill>
                          <a:latin typeface="+mn-ea"/>
                          <a:ea typeface="+mn-ea"/>
                          <a:cs typeface="+mn-cs"/>
                        </a:rPr>
                        <a:t>국내외 인증기관</a:t>
                      </a:r>
                      <a:r>
                        <a:rPr lang="en-US" sz="1200" b="0" i="0" u="none" strike="noStrike" kern="1200">
                          <a:solidFill>
                            <a:schemeClr val="tx1"/>
                          </a:solidFill>
                          <a:latin typeface="+mn-ea"/>
                          <a:ea typeface="+mn-ea"/>
                          <a:cs typeface="+mn-cs"/>
                        </a:rPr>
                        <a:t>(CC </a:t>
                      </a:r>
                      <a:r>
                        <a:rPr lang="ko-KR" sz="1200" b="0" i="0" u="none" strike="noStrike" kern="1200">
                          <a:solidFill>
                            <a:schemeClr val="tx1"/>
                          </a:solidFill>
                          <a:latin typeface="+mn-ea"/>
                          <a:ea typeface="+mn-ea"/>
                          <a:cs typeface="+mn-cs"/>
                        </a:rPr>
                        <a:t>등</a:t>
                      </a:r>
                      <a:r>
                        <a:rPr lang="en-US" sz="1200" b="0" i="0" u="none" strike="noStrike" kern="1200">
                          <a:solidFill>
                            <a:schemeClr val="tx1"/>
                          </a:solidFill>
                          <a:latin typeface="+mn-ea"/>
                          <a:ea typeface="+mn-ea"/>
                          <a:cs typeface="+mn-cs"/>
                        </a:rPr>
                        <a:t>) </a:t>
                      </a:r>
                      <a:r>
                        <a:rPr lang="ko-KR" sz="1200" b="0" i="0" u="none" strike="noStrike" kern="1200">
                          <a:solidFill>
                            <a:schemeClr val="tx1"/>
                          </a:solidFill>
                          <a:latin typeface="+mn-ea"/>
                          <a:ea typeface="+mn-ea"/>
                          <a:cs typeface="+mn-cs"/>
                        </a:rPr>
                        <a:t>인증제품】</a:t>
                      </a: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782833"/>
                  </a:ext>
                </a:extLst>
              </a:tr>
              <a:tr h="301130">
                <a:tc vMerge="1">
                  <a:txBody>
                    <a:bodyPr/>
                    <a:lstStyle/>
                    <a:p>
                      <a:pPr algn="l" fontAlgn="ctr"/>
                      <a:endParaRPr lang="en-US" sz="1200" b="0" i="0" u="none" strike="noStrike" dirty="0">
                        <a:solidFill>
                          <a:schemeClr val="tx1"/>
                        </a:solidFill>
                        <a:latin typeface="+mn-ea"/>
                        <a:ea typeface="+mn-ea"/>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323850" algn="l" defTabSz="914400" rtl="0" eaLnBrk="1" fontAlgn="ctr" latinLnBrk="1" hangingPunct="1">
                        <a:lnSpc>
                          <a:spcPct val="150000"/>
                        </a:lnSpc>
                        <a:spcAft>
                          <a:spcPts val="0"/>
                        </a:spcAft>
                        <a:tabLst>
                          <a:tab pos="575945" algn="l"/>
                          <a:tab pos="508000" algn="l"/>
                        </a:tabLst>
                      </a:pPr>
                      <a:r>
                        <a:rPr 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sz="1200" b="0" i="0" u="none" strike="noStrike" kern="1200" smtClean="0">
                          <a:solidFill>
                            <a:schemeClr val="tx1"/>
                          </a:solidFill>
                          <a:latin typeface="+mn-ea"/>
                          <a:ea typeface="+mn-ea"/>
                          <a:cs typeface="+mn-cs"/>
                        </a:rPr>
                        <a:t>송</a:t>
                      </a:r>
                      <a:r>
                        <a:rPr lang="en-US" altLang="ko-KR" sz="1200" b="0" i="0" u="none" strike="noStrike" kern="1200" smtClean="0">
                          <a:solidFill>
                            <a:schemeClr val="tx1"/>
                          </a:solidFill>
                          <a:latin typeface="+mn-ea"/>
                          <a:ea typeface="+mn-ea"/>
                          <a:cs typeface="+mn-cs"/>
                        </a:rPr>
                        <a:t>·</a:t>
                      </a:r>
                      <a:r>
                        <a:rPr lang="ko-KR" sz="1200" b="0" i="0" u="none" strike="noStrike" kern="1200" smtClean="0">
                          <a:solidFill>
                            <a:schemeClr val="tx1"/>
                          </a:solidFill>
                          <a:latin typeface="+mn-ea"/>
                          <a:ea typeface="+mn-ea"/>
                          <a:cs typeface="+mn-cs"/>
                        </a:rPr>
                        <a:t>수신용 </a:t>
                      </a:r>
                      <a:r>
                        <a:rPr lang="ko-KR" sz="1200" b="0" i="0" u="none" strike="noStrike" kern="1200">
                          <a:solidFill>
                            <a:schemeClr val="tx1"/>
                          </a:solidFill>
                          <a:latin typeface="+mn-ea"/>
                          <a:ea typeface="+mn-ea"/>
                          <a:cs typeface="+mn-cs"/>
                        </a:rPr>
                        <a:t>암호화 </a:t>
                      </a:r>
                      <a:r>
                        <a:rPr lang="ko-KR" sz="1200" b="0" i="0" u="none" strike="noStrike" kern="1200" smtClean="0">
                          <a:solidFill>
                            <a:schemeClr val="tx1"/>
                          </a:solidFill>
                          <a:latin typeface="+mn-ea"/>
                          <a:ea typeface="+mn-ea"/>
                          <a:cs typeface="+mn-cs"/>
                        </a:rPr>
                        <a:t>프로그램</a:t>
                      </a:r>
                      <a:r>
                        <a:rPr lang="en-US" altLang="ko-KR" sz="1200" b="0" i="0" u="none" strike="noStrike" kern="1200" smtClean="0">
                          <a:solidFill>
                            <a:schemeClr val="tx1"/>
                          </a:solidFill>
                          <a:latin typeface="+mn-ea"/>
                          <a:ea typeface="+mn-ea"/>
                          <a:cs typeface="+mn-cs"/>
                        </a:rPr>
                        <a:t> : </a:t>
                      </a:r>
                      <a:r>
                        <a:rPr lang="ko-KR" altLang="en-US" sz="1200" b="0" i="0" u="none" strike="noStrike" kern="1200" smtClean="0">
                          <a:solidFill>
                            <a:schemeClr val="tx1"/>
                          </a:solidFill>
                          <a:latin typeface="+mn-ea"/>
                          <a:ea typeface="+mn-ea"/>
                          <a:cs typeface="+mn-cs"/>
                        </a:rPr>
                        <a:t>사</a:t>
                      </a:r>
                      <a:r>
                        <a:rPr lang="ko-KR" sz="1200" b="0" i="0" u="none" strike="noStrike" kern="1200" smtClean="0">
                          <a:solidFill>
                            <a:schemeClr val="tx1"/>
                          </a:solidFill>
                          <a:latin typeface="+mn-ea"/>
                          <a:ea typeface="+mn-ea"/>
                          <a:cs typeface="+mn-cs"/>
                        </a:rPr>
                        <a:t>용자</a:t>
                      </a:r>
                      <a:r>
                        <a:rPr lang="en-US" sz="1200" b="0" i="0" u="none" strike="noStrike" kern="1200" smtClean="0">
                          <a:solidFill>
                            <a:schemeClr val="tx1"/>
                          </a:solidFill>
                          <a:latin typeface="+mn-ea"/>
                          <a:ea typeface="+mn-ea"/>
                          <a:cs typeface="+mn-cs"/>
                        </a:rPr>
                        <a:t>(PIN</a:t>
                      </a:r>
                      <a:r>
                        <a:rPr lang="ko-KR" sz="1200" b="0" i="0" u="none" strike="noStrike" kern="1200">
                          <a:solidFill>
                            <a:schemeClr val="tx1"/>
                          </a:solidFill>
                          <a:latin typeface="+mn-ea"/>
                          <a:ea typeface="+mn-ea"/>
                          <a:cs typeface="+mn-cs"/>
                        </a:rPr>
                        <a:t>기반 암호화키 암호화</a:t>
                      </a:r>
                      <a:r>
                        <a:rPr lang="en-US" sz="1200" b="0" i="0" u="none" strike="noStrike" kern="1200" smtClean="0">
                          <a:solidFill>
                            <a:schemeClr val="tx1"/>
                          </a:solidFill>
                          <a:latin typeface="+mn-ea"/>
                          <a:ea typeface="+mn-ea"/>
                          <a:cs typeface="+mn-cs"/>
                        </a:rPr>
                        <a:t>), </a:t>
                      </a:r>
                      <a:r>
                        <a:rPr lang="ko-KR" sz="1200" b="0" i="0" u="none" strike="noStrike" kern="1200" smtClean="0">
                          <a:solidFill>
                            <a:schemeClr val="tx1"/>
                          </a:solidFill>
                          <a:latin typeface="+mn-ea"/>
                          <a:ea typeface="+mn-ea"/>
                          <a:cs typeface="+mn-cs"/>
                        </a:rPr>
                        <a:t>서버</a:t>
                      </a:r>
                      <a:r>
                        <a:rPr lang="en-US" sz="1200" b="0" i="0" u="none" strike="noStrike" kern="1200">
                          <a:solidFill>
                            <a:schemeClr val="tx1"/>
                          </a:solidFill>
                          <a:latin typeface="+mn-ea"/>
                          <a:ea typeface="+mn-ea"/>
                          <a:cs typeface="+mn-cs"/>
                        </a:rPr>
                        <a:t>(</a:t>
                      </a:r>
                      <a:r>
                        <a:rPr lang="ko-KR" sz="1200" b="0" i="0" u="none" strike="noStrike" kern="1200" smtClean="0">
                          <a:solidFill>
                            <a:schemeClr val="tx1"/>
                          </a:solidFill>
                          <a:latin typeface="+mn-ea"/>
                          <a:ea typeface="+mn-ea"/>
                          <a:cs typeface="+mn-cs"/>
                        </a:rPr>
                        <a:t>암호키관리시스템</a:t>
                      </a:r>
                      <a:r>
                        <a:rPr lang="en-US" sz="1200" b="0" i="0" u="none" strike="noStrike" kern="1200" smtClean="0">
                          <a:solidFill>
                            <a:schemeClr val="tx1"/>
                          </a:solidFill>
                          <a:latin typeface="+mn-ea"/>
                          <a:ea typeface="+mn-ea"/>
                          <a:cs typeface="+mn-cs"/>
                        </a:rPr>
                        <a:t>)</a:t>
                      </a:r>
                      <a:endParaRPr lang="ko-KR" sz="1200" b="0" i="0" u="none" strike="noStrike" kern="1200">
                        <a:solidFill>
                          <a:schemeClr val="tx1"/>
                        </a:solidFill>
                        <a:latin typeface="+mn-ea"/>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7891432"/>
                  </a:ext>
                </a:extLst>
              </a:tr>
              <a:tr h="301130">
                <a:tc vMerge="1">
                  <a:txBody>
                    <a:bodyPr/>
                    <a:lstStyle/>
                    <a:p>
                      <a:pPr algn="l" fontAlgn="ctr"/>
                      <a:endParaRPr lang="en-US" sz="1200" b="0" i="0" u="none" strike="noStrike" dirty="0">
                        <a:solidFill>
                          <a:schemeClr val="tx1"/>
                        </a:solidFill>
                        <a:latin typeface="+mn-ea"/>
                        <a:ea typeface="+mn-ea"/>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323850" algn="l" defTabSz="914400" rtl="0" eaLnBrk="1" fontAlgn="ctr" latinLnBrk="1" hangingPunct="1">
                        <a:lnSpc>
                          <a:spcPct val="150000"/>
                        </a:lnSpc>
                        <a:spcAft>
                          <a:spcPts val="0"/>
                        </a:spcAft>
                        <a:tabLst>
                          <a:tab pos="575945" algn="l"/>
                          <a:tab pos="508000" algn="l"/>
                        </a:tabLst>
                      </a:pPr>
                      <a:r>
                        <a:rPr 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sz="1200" b="0" i="0" u="none" strike="noStrike" kern="1200" smtClean="0">
                          <a:solidFill>
                            <a:schemeClr val="tx1"/>
                          </a:solidFill>
                          <a:latin typeface="+mn-ea"/>
                          <a:ea typeface="+mn-ea"/>
                          <a:cs typeface="+mn-cs"/>
                        </a:rPr>
                        <a:t>자체암호화 </a:t>
                      </a:r>
                      <a:r>
                        <a:rPr lang="ko-KR" sz="1200" b="0" i="0" u="none" strike="noStrike" kern="1200">
                          <a:solidFill>
                            <a:schemeClr val="tx1"/>
                          </a:solidFill>
                          <a:latin typeface="+mn-ea"/>
                          <a:ea typeface="+mn-ea"/>
                          <a:cs typeface="+mn-cs"/>
                        </a:rPr>
                        <a:t>프로그램</a:t>
                      </a:r>
                      <a:r>
                        <a:rPr lang="en-US" sz="1200" b="0" i="0" u="none" strike="noStrike" kern="1200">
                          <a:solidFill>
                            <a:schemeClr val="tx1"/>
                          </a:solidFill>
                          <a:latin typeface="+mn-ea"/>
                          <a:ea typeface="+mn-ea"/>
                          <a:cs typeface="+mn-cs"/>
                        </a:rPr>
                        <a:t> : </a:t>
                      </a:r>
                      <a:r>
                        <a:rPr lang="ko-KR" sz="1200" b="0" i="0" u="none" strike="noStrike" kern="1200">
                          <a:solidFill>
                            <a:schemeClr val="tx1"/>
                          </a:solidFill>
                          <a:latin typeface="+mn-ea"/>
                          <a:ea typeface="+mn-ea"/>
                          <a:cs typeface="+mn-cs"/>
                        </a:rPr>
                        <a:t>계정권한관리를 통한 통제</a:t>
                      </a:r>
                      <a:r>
                        <a:rPr lang="en-US" sz="1200" b="0" i="0" u="none" strike="noStrike" kern="1200">
                          <a:solidFill>
                            <a:schemeClr val="tx1"/>
                          </a:solidFill>
                          <a:latin typeface="+mn-ea"/>
                          <a:ea typeface="+mn-ea"/>
                          <a:cs typeface="+mn-cs"/>
                        </a:rPr>
                        <a:t>(IP, </a:t>
                      </a:r>
                      <a:r>
                        <a:rPr lang="ko-KR" sz="1200" b="0" i="0" u="none" strike="noStrike" kern="1200">
                          <a:solidFill>
                            <a:schemeClr val="tx1"/>
                          </a:solidFill>
                          <a:latin typeface="+mn-ea"/>
                          <a:ea typeface="+mn-ea"/>
                          <a:cs typeface="+mn-cs"/>
                        </a:rPr>
                        <a:t>계정</a:t>
                      </a:r>
                      <a:r>
                        <a:rPr lang="en-US" sz="1200" b="0" i="0" u="none" strike="noStrike" kern="1200">
                          <a:solidFill>
                            <a:schemeClr val="tx1"/>
                          </a:solidFill>
                          <a:latin typeface="+mn-ea"/>
                          <a:ea typeface="+mn-ea"/>
                          <a:cs typeface="+mn-cs"/>
                        </a:rPr>
                        <a:t>)</a:t>
                      </a:r>
                      <a:endParaRPr lang="ko-KR" sz="1200" b="0" i="0" u="none" strike="noStrike" kern="1200">
                        <a:solidFill>
                          <a:schemeClr val="tx1"/>
                        </a:solidFill>
                        <a:latin typeface="+mn-ea"/>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9699478"/>
                  </a:ext>
                </a:extLst>
              </a:tr>
              <a:tr h="301130">
                <a:tc>
                  <a:txBody>
                    <a:bodyPr/>
                    <a:lstStyle/>
                    <a:p>
                      <a:pPr marL="0" algn="l" defTabSz="914400" rtl="0" eaLnBrk="1" fontAlgn="ctr" latinLnBrk="1" hangingPunct="1"/>
                      <a:r>
                        <a:rPr lang="ko-KR" altLang="en-US" sz="1200" b="0" i="0" u="none" strike="noStrike" kern="1200" smtClean="0">
                          <a:solidFill>
                            <a:schemeClr val="tx1"/>
                          </a:solidFill>
                          <a:latin typeface="+mn-ea"/>
                          <a:ea typeface="+mn-ea"/>
                          <a:cs typeface="+mn-cs"/>
                        </a:rPr>
                        <a:t>   암호키 물리적 운영위치</a:t>
                      </a:r>
                      <a:endParaRPr lang="en-US" sz="1200" b="0" i="0" u="none" strike="noStrike" kern="1200" dirty="0">
                        <a:solidFill>
                          <a:schemeClr val="tx1"/>
                        </a:solidFill>
                        <a:latin typeface="+mn-ea"/>
                        <a:ea typeface="+mn-ea"/>
                        <a:cs typeface="+mn-cs"/>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323850" algn="l" defTabSz="914400" rtl="0" eaLnBrk="1" fontAlgn="ctr" latinLnBrk="1" hangingPunct="1">
                        <a:lnSpc>
                          <a:spcPct val="150000"/>
                        </a:lnSpc>
                        <a:spcAft>
                          <a:spcPts val="0"/>
                        </a:spcAft>
                        <a:tabLst>
                          <a:tab pos="575945" algn="l"/>
                          <a:tab pos="508000" algn="l"/>
                        </a:tabLst>
                      </a:pPr>
                      <a:r>
                        <a:rPr 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en-US" sz="1200" b="0" i="0" u="none" strike="noStrike" kern="1200" smtClean="0">
                          <a:solidFill>
                            <a:schemeClr val="tx1"/>
                          </a:solidFill>
                          <a:latin typeface="+mn-ea"/>
                          <a:ea typeface="+mn-ea"/>
                          <a:cs typeface="+mn-cs"/>
                        </a:rPr>
                        <a:t>IT</a:t>
                      </a:r>
                      <a:r>
                        <a:rPr lang="ko-KR" sz="1200" b="0" i="0" u="none" strike="noStrike" kern="1200">
                          <a:solidFill>
                            <a:schemeClr val="tx1"/>
                          </a:solidFill>
                          <a:latin typeface="+mn-ea"/>
                          <a:ea typeface="+mn-ea"/>
                          <a:cs typeface="+mn-cs"/>
                        </a:rPr>
                        <a:t>센터</a:t>
                      </a:r>
                      <a:r>
                        <a:rPr lang="en-US" sz="1200" b="0" i="0" u="none" strike="noStrike" kern="1200">
                          <a:solidFill>
                            <a:schemeClr val="tx1"/>
                          </a:solidFill>
                          <a:latin typeface="+mn-ea"/>
                          <a:ea typeface="+mn-ea"/>
                          <a:cs typeface="+mn-cs"/>
                        </a:rPr>
                        <a:t>(</a:t>
                      </a:r>
                      <a:r>
                        <a:rPr lang="ko-KR" sz="1200" b="0" i="0" u="none" strike="noStrike" kern="1200">
                          <a:solidFill>
                            <a:schemeClr val="tx1"/>
                          </a:solidFill>
                          <a:latin typeface="+mn-ea"/>
                          <a:ea typeface="+mn-ea"/>
                          <a:cs typeface="+mn-cs"/>
                        </a:rPr>
                        <a:t>서버룸</a:t>
                      </a:r>
                      <a:r>
                        <a:rPr lang="en-US" sz="1200" b="0" i="0" u="none" strike="noStrike" kern="1200">
                          <a:solidFill>
                            <a:schemeClr val="tx1"/>
                          </a:solidFill>
                          <a:latin typeface="+mn-ea"/>
                          <a:ea typeface="+mn-ea"/>
                          <a:cs typeface="+mn-cs"/>
                        </a:rPr>
                        <a:t>) </a:t>
                      </a:r>
                      <a:r>
                        <a:rPr lang="ko-KR" sz="1200" b="0" i="0" u="none" strike="noStrike" kern="1200">
                          <a:solidFill>
                            <a:schemeClr val="tx1"/>
                          </a:solidFill>
                          <a:latin typeface="+mn-ea"/>
                          <a:ea typeface="+mn-ea"/>
                          <a:cs typeface="+mn-cs"/>
                        </a:rPr>
                        <a:t>□</a:t>
                      </a:r>
                      <a:r>
                        <a:rPr lang="ko-KR" sz="1200" b="0" i="0" u="none" strike="noStrike" kern="1200" smtClean="0">
                          <a:solidFill>
                            <a:schemeClr val="tx1"/>
                          </a:solidFill>
                          <a:latin typeface="+mn-ea"/>
                          <a:ea typeface="+mn-ea"/>
                          <a:cs typeface="+mn-cs"/>
                        </a:rPr>
                        <a:t>대외기관</a:t>
                      </a:r>
                      <a:endParaRPr lang="ko-KR" sz="1200" b="0" i="0" u="none" strike="noStrike" kern="1200">
                        <a:solidFill>
                          <a:schemeClr val="tx1"/>
                        </a:solidFill>
                        <a:latin typeface="+mn-ea"/>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8843534"/>
                  </a:ext>
                </a:extLst>
              </a:tr>
            </a:tbl>
          </a:graphicData>
        </a:graphic>
      </p:graphicFrame>
      <p:sp>
        <p:nvSpPr>
          <p:cNvPr id="25" name="Rectangle 3"/>
          <p:cNvSpPr>
            <a:spLocks noChangeArrowheads="1"/>
          </p:cNvSpPr>
          <p:nvPr/>
        </p:nvSpPr>
        <p:spPr bwMode="auto">
          <a:xfrm>
            <a:off x="699993" y="1142438"/>
            <a:ext cx="8753507" cy="609398"/>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ko-KR" altLang="en-US" sz="1200" smtClean="0">
                <a:latin typeface="KB금융 본문체 Light" panose="020B0303000000000000" pitchFamily="50" charset="-127"/>
                <a:ea typeface="KB금융 본문체 Light" panose="020B0303000000000000" pitchFamily="50" charset="-127"/>
                <a:cs typeface="ヒラギノ角ゴ ProN W3"/>
              </a:rPr>
              <a:t>암호화 매커니즘</a:t>
            </a:r>
            <a:r>
              <a:rPr lang="en-US" altLang="ko-KR" sz="1200" smtClean="0">
                <a:latin typeface="KB금융 본문체 Light" panose="020B0303000000000000" pitchFamily="50" charset="-127"/>
                <a:ea typeface="KB금융 본문체 Light" panose="020B0303000000000000" pitchFamily="50" charset="-127"/>
                <a:cs typeface="ヒラギノ角ゴ ProN W3"/>
              </a:rPr>
              <a:t>(</a:t>
            </a:r>
            <a:r>
              <a:rPr lang="ko-KR" altLang="en-US" sz="1200" smtClean="0">
                <a:latin typeface="KB금융 본문체 Light" panose="020B0303000000000000" pitchFamily="50" charset="-127"/>
                <a:ea typeface="KB금융 본문체 Light" panose="020B0303000000000000" pitchFamily="50" charset="-127"/>
                <a:cs typeface="ヒラギノ角ゴ ProN W3"/>
              </a:rPr>
              <a:t>알고리즘</a:t>
            </a:r>
            <a:r>
              <a:rPr lang="en-US" altLang="ko-KR" sz="1200" smtClean="0">
                <a:latin typeface="KB금융 본문체 Light" panose="020B0303000000000000" pitchFamily="50" charset="-127"/>
                <a:ea typeface="KB금융 본문체 Light" panose="020B0303000000000000" pitchFamily="50" charset="-127"/>
                <a:cs typeface="ヒラギノ角ゴ ProN W3"/>
              </a:rPr>
              <a:t>, </a:t>
            </a:r>
            <a:r>
              <a:rPr lang="ko-KR" altLang="en-US" sz="1200" smtClean="0">
                <a:latin typeface="KB금융 본문체 Light" panose="020B0303000000000000" pitchFamily="50" charset="-127"/>
                <a:ea typeface="KB금융 본문체 Light" panose="020B0303000000000000" pitchFamily="50" charset="-127"/>
                <a:cs typeface="ヒラギノ角ゴ ProN W3"/>
              </a:rPr>
              <a:t>보안강도</a:t>
            </a:r>
            <a:r>
              <a:rPr lang="en-US" altLang="ko-KR" sz="1200" smtClean="0">
                <a:latin typeface="KB금융 본문체 Light" panose="020B0303000000000000" pitchFamily="50" charset="-127"/>
                <a:ea typeface="KB금융 본문체 Light" panose="020B0303000000000000" pitchFamily="50" charset="-127"/>
                <a:cs typeface="ヒラギノ角ゴ ProN W3"/>
              </a:rPr>
              <a:t>)</a:t>
            </a:r>
            <a:r>
              <a:rPr lang="ko-KR" altLang="en-US" sz="1200" smtClean="0">
                <a:latin typeface="KB금융 본문체 Light" panose="020B0303000000000000" pitchFamily="50" charset="-127"/>
                <a:ea typeface="KB금융 본문체 Light" panose="020B0303000000000000" pitchFamily="50" charset="-127"/>
                <a:cs typeface="ヒラギノ角ゴ ProN W3"/>
              </a:rPr>
              <a:t>은 </a:t>
            </a:r>
            <a:r>
              <a:rPr lang="en-US" altLang="ko-KR" sz="1200" smtClean="0">
                <a:latin typeface="KB금융 본문체 Light" panose="020B0303000000000000" pitchFamily="50" charset="-127"/>
                <a:ea typeface="KB금융 본문체 Light" panose="020B0303000000000000" pitchFamily="50" charset="-127"/>
                <a:cs typeface="ヒラギノ角ゴ ProN W3"/>
              </a:rPr>
              <a:t>KISA</a:t>
            </a:r>
            <a:r>
              <a:rPr lang="ko-KR" altLang="en-US" sz="1200" smtClean="0">
                <a:latin typeface="KB금융 본문체 Light" panose="020B0303000000000000" pitchFamily="50" charset="-127"/>
                <a:ea typeface="KB금융 본문체 Light" panose="020B0303000000000000" pitchFamily="50" charset="-127"/>
                <a:cs typeface="ヒラギノ角ゴ ProN W3"/>
              </a:rPr>
              <a:t>암호화 가이드 권고를 준수해야 함</a:t>
            </a:r>
            <a:endParaRPr lang="en-US" altLang="ko-KR" sz="1200" smtClean="0">
              <a:latin typeface="KB금융 본문체 Light" panose="020B0303000000000000" pitchFamily="50" charset="-127"/>
              <a:ea typeface="KB금융 본문체 Light" panose="020B0303000000000000" pitchFamily="50" charset="-127"/>
              <a:cs typeface="ヒラギノ角ゴ ProN W3"/>
            </a:endParaRPr>
          </a:p>
          <a:p>
            <a:pPr marL="285750" indent="-285750">
              <a:lnSpc>
                <a:spcPct val="130000"/>
              </a:lnSpc>
              <a:spcBef>
                <a:spcPct val="20000"/>
              </a:spcBef>
              <a:buSzPct val="100000"/>
              <a:buFont typeface="Wingdings" panose="05000000000000000000" pitchFamily="2" charset="2"/>
              <a:buChar char="l"/>
            </a:pPr>
            <a:r>
              <a:rPr lang="ko-KR" altLang="en-US" sz="1200" smtClean="0">
                <a:latin typeface="KB금융 본문체 Light" panose="020B0303000000000000" pitchFamily="50" charset="-127"/>
                <a:ea typeface="KB금융 본문체 Light" panose="020B0303000000000000" pitchFamily="50" charset="-127"/>
                <a:cs typeface="ヒラギノ角ゴ ProN W3"/>
              </a:rPr>
              <a:t>암호키 유효기간은 법적 민감성</a:t>
            </a:r>
            <a:r>
              <a:rPr lang="en-US" altLang="ko-KR" sz="1200" smtClean="0">
                <a:latin typeface="KB금융 본문체 Light" panose="020B0303000000000000" pitchFamily="50" charset="-127"/>
                <a:ea typeface="KB금융 본문체 Light" panose="020B0303000000000000" pitchFamily="50" charset="-127"/>
                <a:cs typeface="ヒラギノ角ゴ ProN W3"/>
              </a:rPr>
              <a:t>, </a:t>
            </a:r>
            <a:r>
              <a:rPr lang="ko-KR" altLang="en-US" sz="1200" smtClean="0">
                <a:latin typeface="KB금융 본문체 Light" panose="020B0303000000000000" pitchFamily="50" charset="-127"/>
                <a:ea typeface="KB금융 본문체 Light" panose="020B0303000000000000" pitchFamily="50" charset="-127"/>
                <a:cs typeface="ヒラギノ角ゴ ProN W3"/>
              </a:rPr>
              <a:t>암호화 키관리 운영 환경의 보안수준 및 암호키 유출 시 복구비용을 고려하여 설정해야 함</a:t>
            </a:r>
            <a:endParaRPr lang="en-US" altLang="ko-KR" sz="1200" dirty="0" smtClean="0">
              <a:latin typeface="KB금융 본문체 Light" panose="020B0303000000000000" pitchFamily="50" charset="-127"/>
              <a:ea typeface="KB금융 본문체 Light" panose="020B0303000000000000" pitchFamily="50" charset="-127"/>
              <a:cs typeface="ヒラギノ角ゴ ProN W3"/>
            </a:endParaRPr>
          </a:p>
        </p:txBody>
      </p:sp>
    </p:spTree>
    <p:extLst>
      <p:ext uri="{BB962C8B-B14F-4D97-AF65-F5344CB8AC3E}">
        <p14:creationId xmlns:p14="http://schemas.microsoft.com/office/powerpoint/2010/main" val="38148521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en-US" altLang="ko-KR" dirty="0"/>
              <a:t>4</a:t>
            </a:r>
            <a:r>
              <a:rPr lang="en-US" altLang="ko-KR" smtClean="0"/>
              <a:t>. </a:t>
            </a:r>
            <a:r>
              <a:rPr lang="ko-KR" altLang="en-US" smtClean="0"/>
              <a:t>암호화 기본정책</a:t>
            </a:r>
            <a:r>
              <a:rPr lang="en-US" altLang="ko-KR" smtClean="0"/>
              <a:t>(2/2)</a:t>
            </a:r>
            <a:endParaRPr lang="ko-KR" altLang="en-US" dirty="0"/>
          </a:p>
        </p:txBody>
      </p:sp>
      <p:sp>
        <p:nvSpPr>
          <p:cNvPr id="56" name="Rectangle 3"/>
          <p:cNvSpPr>
            <a:spLocks noChangeArrowheads="1"/>
          </p:cNvSpPr>
          <p:nvPr/>
        </p:nvSpPr>
        <p:spPr bwMode="auto">
          <a:xfrm>
            <a:off x="308484" y="764704"/>
            <a:ext cx="9144000" cy="372410"/>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ko-KR" altLang="en-US" sz="1400" b="1" smtClean="0">
                <a:latin typeface="KB금융 본문체 Light" panose="020B0303000000000000" pitchFamily="50" charset="-127"/>
                <a:ea typeface="KB금융 본문체 Light" panose="020B0303000000000000" pitchFamily="50" charset="-127"/>
                <a:cs typeface="ヒラギノ角ゴ ProN W3"/>
              </a:rPr>
              <a:t>암호키 관리방법</a:t>
            </a:r>
            <a:endParaRPr lang="en-US" altLang="ko-KR" sz="1400" b="1" dirty="0" smtClean="0">
              <a:latin typeface="KB금융 본문체 Light" panose="020B0303000000000000" pitchFamily="50" charset="-127"/>
              <a:ea typeface="KB금융 본문체 Light" panose="020B0303000000000000" pitchFamily="50" charset="-127"/>
              <a:cs typeface="ヒラギノ角ゴ ProN W3"/>
            </a:endParaRPr>
          </a:p>
        </p:txBody>
      </p:sp>
      <p:graphicFrame>
        <p:nvGraphicFramePr>
          <p:cNvPr id="18" name="표 17"/>
          <p:cNvGraphicFramePr>
            <a:graphicFrameLocks noGrp="1"/>
          </p:cNvGraphicFramePr>
          <p:nvPr>
            <p:extLst>
              <p:ext uri="{D42A27DB-BD31-4B8C-83A1-F6EECF244321}">
                <p14:modId xmlns:p14="http://schemas.microsoft.com/office/powerpoint/2010/main" val="2938375457"/>
              </p:ext>
            </p:extLst>
          </p:nvPr>
        </p:nvGraphicFramePr>
        <p:xfrm>
          <a:off x="381884" y="1772817"/>
          <a:ext cx="9138354" cy="4068450"/>
        </p:xfrm>
        <a:graphic>
          <a:graphicData uri="http://schemas.openxmlformats.org/drawingml/2006/table">
            <a:tbl>
              <a:tblPr firstRow="1" bandRow="1">
                <a:tableStyleId>{93296810-A885-4BE3-A3E7-6D5BEEA58F35}</a:tableStyleId>
              </a:tblPr>
              <a:tblGrid>
                <a:gridCol w="1654792">
                  <a:extLst>
                    <a:ext uri="{9D8B030D-6E8A-4147-A177-3AD203B41FA5}">
                      <a16:colId xmlns:a16="http://schemas.microsoft.com/office/drawing/2014/main" val="20000"/>
                    </a:ext>
                  </a:extLst>
                </a:gridCol>
                <a:gridCol w="7483562">
                  <a:extLst>
                    <a:ext uri="{9D8B030D-6E8A-4147-A177-3AD203B41FA5}">
                      <a16:colId xmlns:a16="http://schemas.microsoft.com/office/drawing/2014/main" val="20001"/>
                    </a:ext>
                  </a:extLst>
                </a:gridCol>
              </a:tblGrid>
              <a:tr h="233422">
                <a:tc>
                  <a:txBody>
                    <a:bodyPr/>
                    <a:lstStyle/>
                    <a:p>
                      <a:pPr algn="ctr" fontAlgn="ctr"/>
                      <a:r>
                        <a:rPr lang="ko-KR" altLang="en-US" sz="1200" b="1" i="0" u="none" strike="noStrike" smtClean="0">
                          <a:solidFill>
                            <a:schemeClr val="tx1"/>
                          </a:solidFill>
                          <a:latin typeface="+mn-ea"/>
                          <a:ea typeface="+mn-ea"/>
                        </a:rPr>
                        <a:t>구분</a:t>
                      </a:r>
                      <a:endParaRPr lang="en-US" sz="1200" b="1" i="0" u="none" strike="noStrike" baseline="30000" dirty="0">
                        <a:solidFill>
                          <a:schemeClr val="tx1"/>
                        </a:solidFill>
                        <a:latin typeface="+mn-ea"/>
                        <a:ea typeface="+mn-ea"/>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r>
                        <a:rPr lang="ko-KR" altLang="en-US" sz="1200" b="1" i="0" u="none" strike="noStrike" kern="1200" smtClean="0">
                          <a:solidFill>
                            <a:schemeClr val="tx1"/>
                          </a:solidFill>
                          <a:latin typeface="+mn-ea"/>
                          <a:ea typeface="+mn-ea"/>
                          <a:cs typeface="+mn-cs"/>
                        </a:rPr>
                        <a:t>내용</a:t>
                      </a:r>
                      <a:endParaRPr lang="ko-KR" altLang="en-US" sz="1200" b="1"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000"/>
                  </a:ext>
                </a:extLst>
              </a:tr>
              <a:tr h="348639">
                <a:tc rowSpan="3">
                  <a:txBody>
                    <a:bodyPr/>
                    <a:lstStyle/>
                    <a:p>
                      <a:pPr algn="l" fontAlgn="ctr"/>
                      <a:r>
                        <a:rPr lang="ko-KR" altLang="en-US" sz="1200" b="0" i="0" u="none" strike="noStrike" smtClean="0">
                          <a:solidFill>
                            <a:schemeClr val="tx1"/>
                          </a:solidFill>
                          <a:latin typeface="+mn-ea"/>
                          <a:ea typeface="+mn-ea"/>
                        </a:rPr>
                        <a:t>   암호키 생성방법</a:t>
                      </a:r>
                      <a:endParaRPr lang="en-US" sz="1200" b="0" i="0" u="none" strike="noStrike" dirty="0">
                        <a:solidFill>
                          <a:schemeClr val="tx1"/>
                        </a:solidFill>
                        <a:latin typeface="+mn-ea"/>
                        <a:ea typeface="+mn-ea"/>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323850" algn="l" defTabSz="914400" rtl="0" eaLnBrk="1" fontAlgn="ctr" latinLnBrk="1" hangingPunct="1">
                        <a:lnSpc>
                          <a:spcPct val="150000"/>
                        </a:lnSpc>
                        <a:spcAft>
                          <a:spcPts val="0"/>
                        </a:spcAft>
                        <a:tabLst>
                          <a:tab pos="575945" algn="l"/>
                          <a:tab pos="508000" algn="l"/>
                        </a:tabLst>
                      </a:pPr>
                      <a:r>
                        <a:rPr lang="ko-KR" sz="1200" b="1" i="0" u="none" strike="noStrike" kern="1200" smtClean="0">
                          <a:solidFill>
                            <a:srgbClr val="FF0000"/>
                          </a:solidFill>
                          <a:latin typeface="+mn-ea"/>
                          <a:ea typeface="+mn-ea"/>
                          <a:cs typeface="+mn-cs"/>
                        </a:rPr>
                        <a:t>□</a:t>
                      </a:r>
                      <a:r>
                        <a:rPr lang="en-US" altLang="ko-KR" sz="1200" b="1" i="0" u="none" strike="noStrike" kern="1200" smtClean="0">
                          <a:solidFill>
                            <a:srgbClr val="FF0000"/>
                          </a:solidFill>
                          <a:latin typeface="+mn-ea"/>
                          <a:ea typeface="+mn-ea"/>
                          <a:cs typeface="+mn-cs"/>
                        </a:rPr>
                        <a:t> </a:t>
                      </a:r>
                      <a:r>
                        <a:rPr lang="en-US" sz="1200" b="1" i="0" u="none" strike="noStrike" kern="1200" smtClean="0">
                          <a:solidFill>
                            <a:srgbClr val="FF0000"/>
                          </a:solidFill>
                          <a:latin typeface="+mn-ea"/>
                          <a:ea typeface="+mn-ea"/>
                          <a:cs typeface="+mn-cs"/>
                        </a:rPr>
                        <a:t>H/W</a:t>
                      </a:r>
                      <a:r>
                        <a:rPr lang="ko-KR" sz="1200" b="1" i="0" u="none" strike="noStrike" kern="1200">
                          <a:solidFill>
                            <a:srgbClr val="FF0000"/>
                          </a:solidFill>
                          <a:latin typeface="+mn-ea"/>
                          <a:ea typeface="+mn-ea"/>
                          <a:cs typeface="+mn-cs"/>
                        </a:rPr>
                        <a:t>방식</a:t>
                      </a:r>
                      <a:r>
                        <a:rPr lang="en-US" sz="1200" b="1" i="0" u="none" strike="noStrike" kern="1200">
                          <a:solidFill>
                            <a:srgbClr val="FF0000"/>
                          </a:solidFill>
                          <a:latin typeface="+mn-ea"/>
                          <a:ea typeface="+mn-ea"/>
                          <a:cs typeface="+mn-cs"/>
                        </a:rPr>
                        <a:t> : </a:t>
                      </a:r>
                      <a:r>
                        <a:rPr lang="ko-KR" sz="1200" b="1" i="0" u="none" strike="noStrike" kern="1200">
                          <a:solidFill>
                            <a:srgbClr val="FF0000"/>
                          </a:solidFill>
                          <a:latin typeface="+mn-ea"/>
                          <a:ea typeface="+mn-ea"/>
                          <a:cs typeface="+mn-cs"/>
                        </a:rPr>
                        <a:t>암호화 키관리 시스템 자체 생성</a:t>
                      </a:r>
                      <a:r>
                        <a:rPr lang="ko-KR" sz="1200" b="0" i="0" u="none" strike="noStrike" kern="1200">
                          <a:solidFill>
                            <a:schemeClr val="tx1"/>
                          </a:solidFill>
                          <a:latin typeface="+mn-ea"/>
                          <a:ea typeface="+mn-ea"/>
                          <a:cs typeface="+mn-cs"/>
                        </a:rPr>
                        <a:t> </a:t>
                      </a:r>
                      <a:r>
                        <a:rPr lang="ko-KR" sz="1200" b="0" i="0" u="none" strike="noStrike" kern="1200" smtClean="0">
                          <a:solidFill>
                            <a:schemeClr val="tx1"/>
                          </a:solidFill>
                          <a:latin typeface="+mn-ea"/>
                          <a:ea typeface="+mn-ea"/>
                          <a:cs typeface="+mn-cs"/>
                        </a:rPr>
                        <a:t>【</a:t>
                      </a:r>
                      <a:r>
                        <a:rPr lang="ko-KR" altLang="en-US" sz="1200" b="0" i="0" u="none" strike="noStrike" kern="1200" smtClean="0">
                          <a:solidFill>
                            <a:schemeClr val="tx1"/>
                          </a:solidFill>
                          <a:latin typeface="+mn-ea"/>
                          <a:ea typeface="+mn-ea"/>
                          <a:cs typeface="+mn-cs"/>
                        </a:rPr>
                        <a:t>권고</a:t>
                      </a:r>
                      <a:r>
                        <a:rPr lang="en-US" sz="1200" b="0" i="0" u="none" strike="noStrike" kern="1200" smtClean="0">
                          <a:solidFill>
                            <a:schemeClr val="tx1"/>
                          </a:solidFill>
                          <a:latin typeface="+mn-ea"/>
                          <a:ea typeface="+mn-ea"/>
                          <a:cs typeface="+mn-cs"/>
                        </a:rPr>
                        <a:t>: </a:t>
                      </a:r>
                      <a:r>
                        <a:rPr lang="ko-KR" sz="1200" b="0" i="0" u="none" strike="noStrike" kern="1200">
                          <a:solidFill>
                            <a:schemeClr val="tx1"/>
                          </a:solidFill>
                          <a:latin typeface="+mn-ea"/>
                          <a:ea typeface="+mn-ea"/>
                          <a:cs typeface="+mn-cs"/>
                        </a:rPr>
                        <a:t>국내외 인증기관</a:t>
                      </a:r>
                      <a:r>
                        <a:rPr lang="en-US" sz="1200" b="0" i="0" u="none" strike="noStrike" kern="1200">
                          <a:solidFill>
                            <a:schemeClr val="tx1"/>
                          </a:solidFill>
                          <a:latin typeface="+mn-ea"/>
                          <a:ea typeface="+mn-ea"/>
                          <a:cs typeface="+mn-cs"/>
                        </a:rPr>
                        <a:t>(CC </a:t>
                      </a:r>
                      <a:r>
                        <a:rPr lang="ko-KR" sz="1200" b="0" i="0" u="none" strike="noStrike" kern="1200">
                          <a:solidFill>
                            <a:schemeClr val="tx1"/>
                          </a:solidFill>
                          <a:latin typeface="+mn-ea"/>
                          <a:ea typeface="+mn-ea"/>
                          <a:cs typeface="+mn-cs"/>
                        </a:rPr>
                        <a:t>등</a:t>
                      </a:r>
                      <a:r>
                        <a:rPr lang="en-US" sz="1200" b="0" i="0" u="none" strike="noStrike" kern="1200">
                          <a:solidFill>
                            <a:schemeClr val="tx1"/>
                          </a:solidFill>
                          <a:latin typeface="+mn-ea"/>
                          <a:ea typeface="+mn-ea"/>
                          <a:cs typeface="+mn-cs"/>
                        </a:rPr>
                        <a:t>) </a:t>
                      </a:r>
                      <a:r>
                        <a:rPr lang="ko-KR" sz="1200" b="0" i="0" u="none" strike="noStrike" kern="1200">
                          <a:solidFill>
                            <a:schemeClr val="tx1"/>
                          </a:solidFill>
                          <a:latin typeface="+mn-ea"/>
                          <a:ea typeface="+mn-ea"/>
                          <a:cs typeface="+mn-cs"/>
                        </a:rPr>
                        <a:t>인증제품】</a:t>
                      </a: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3611869"/>
                  </a:ext>
                </a:extLst>
              </a:tr>
              <a:tr h="348639">
                <a:tc vMerge="1">
                  <a:txBody>
                    <a:bodyPr/>
                    <a:lstStyle/>
                    <a:p>
                      <a:pPr algn="l" fontAlgn="ctr"/>
                      <a:endParaRPr lang="en-US" sz="1200" b="0" i="0" u="none" strike="noStrike" dirty="0">
                        <a:solidFill>
                          <a:schemeClr val="tx1"/>
                        </a:solidFill>
                        <a:latin typeface="+mn-ea"/>
                        <a:ea typeface="+mn-ea"/>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323850" algn="l" defTabSz="914400" rtl="0" eaLnBrk="1" fontAlgn="ctr" latinLnBrk="1" hangingPunct="1">
                        <a:lnSpc>
                          <a:spcPct val="150000"/>
                        </a:lnSpc>
                        <a:spcAft>
                          <a:spcPts val="0"/>
                        </a:spcAft>
                        <a:tabLst>
                          <a:tab pos="575945" algn="l"/>
                          <a:tab pos="508000" algn="l"/>
                        </a:tabLst>
                      </a:pPr>
                      <a:r>
                        <a:rPr 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en-US" sz="1200" b="0" i="0" u="none" strike="noStrike" kern="1200" smtClean="0">
                          <a:solidFill>
                            <a:schemeClr val="tx1"/>
                          </a:solidFill>
                          <a:latin typeface="+mn-ea"/>
                          <a:ea typeface="+mn-ea"/>
                          <a:cs typeface="+mn-cs"/>
                        </a:rPr>
                        <a:t>S/W</a:t>
                      </a:r>
                      <a:r>
                        <a:rPr lang="ko-KR" sz="1200" b="0" i="0" u="none" strike="noStrike" kern="1200">
                          <a:solidFill>
                            <a:schemeClr val="tx1"/>
                          </a:solidFill>
                          <a:latin typeface="+mn-ea"/>
                          <a:ea typeface="+mn-ea"/>
                          <a:cs typeface="+mn-cs"/>
                        </a:rPr>
                        <a:t>방식</a:t>
                      </a:r>
                      <a:r>
                        <a:rPr lang="en-US" sz="1200" b="0" i="0" u="none" strike="noStrike" kern="1200">
                          <a:solidFill>
                            <a:schemeClr val="tx1"/>
                          </a:solidFill>
                          <a:latin typeface="+mn-ea"/>
                          <a:ea typeface="+mn-ea"/>
                          <a:cs typeface="+mn-cs"/>
                        </a:rPr>
                        <a:t> : </a:t>
                      </a:r>
                      <a:r>
                        <a:rPr lang="ko-KR" sz="1200" b="0" i="0" u="none" strike="noStrike" kern="1200">
                          <a:solidFill>
                            <a:schemeClr val="tx1"/>
                          </a:solidFill>
                          <a:latin typeface="+mn-ea"/>
                          <a:ea typeface="+mn-ea"/>
                          <a:cs typeface="+mn-cs"/>
                        </a:rPr>
                        <a:t>랜덤키</a:t>
                      </a:r>
                      <a:r>
                        <a:rPr lang="en-US" sz="1200" b="0" i="0" u="none" strike="noStrike" kern="1200">
                          <a:solidFill>
                            <a:schemeClr val="tx1"/>
                          </a:solidFill>
                          <a:latin typeface="+mn-ea"/>
                          <a:ea typeface="+mn-ea"/>
                          <a:cs typeface="+mn-cs"/>
                        </a:rPr>
                        <a:t>(KISA</a:t>
                      </a:r>
                      <a:r>
                        <a:rPr lang="ko-KR" sz="1200" b="0" i="0" u="none" strike="noStrike" kern="1200">
                          <a:solidFill>
                            <a:schemeClr val="tx1"/>
                          </a:solidFill>
                          <a:latin typeface="+mn-ea"/>
                          <a:ea typeface="+mn-ea"/>
                          <a:cs typeface="+mn-cs"/>
                        </a:rPr>
                        <a:t>권고</a:t>
                      </a:r>
                      <a:r>
                        <a:rPr lang="en-US" sz="1200" b="0" i="0" u="none" strike="noStrike" kern="1200">
                          <a:solidFill>
                            <a:schemeClr val="tx1"/>
                          </a:solidFill>
                          <a:latin typeface="+mn-ea"/>
                          <a:ea typeface="+mn-ea"/>
                          <a:cs typeface="+mn-cs"/>
                        </a:rPr>
                        <a:t>) </a:t>
                      </a:r>
                      <a:r>
                        <a:rPr lang="ko-KR" sz="1200" b="0" i="0" u="none" strike="noStrike" kern="1200">
                          <a:solidFill>
                            <a:schemeClr val="tx1"/>
                          </a:solidFill>
                          <a:latin typeface="+mn-ea"/>
                          <a:ea typeface="+mn-ea"/>
                          <a:cs typeface="+mn-cs"/>
                        </a:rPr>
                        <a:t>생성</a:t>
                      </a: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9506368"/>
                  </a:ext>
                </a:extLst>
              </a:tr>
              <a:tr h="697277">
                <a:tc vMerge="1">
                  <a:txBody>
                    <a:bodyPr/>
                    <a:lstStyle/>
                    <a:p>
                      <a:pPr algn="l" fontAlgn="ctr"/>
                      <a:endParaRPr lang="en-US" sz="1200" b="0" i="0" u="none" strike="noStrike" dirty="0">
                        <a:solidFill>
                          <a:schemeClr val="tx1"/>
                        </a:solidFill>
                        <a:latin typeface="+mn-ea"/>
                        <a:ea typeface="+mn-ea"/>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323850" algn="l" defTabSz="914400" rtl="0" eaLnBrk="1" fontAlgn="ctr" latinLnBrk="1" hangingPunct="1">
                        <a:lnSpc>
                          <a:spcPct val="150000"/>
                        </a:lnSpc>
                        <a:spcAft>
                          <a:spcPts val="0"/>
                        </a:spcAft>
                        <a:tabLst>
                          <a:tab pos="575945" algn="l"/>
                          <a:tab pos="508000" algn="l"/>
                        </a:tabLst>
                      </a:pPr>
                      <a:r>
                        <a:rPr 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sz="1200" b="0" i="0" u="none" strike="noStrike" kern="1200" smtClean="0">
                          <a:solidFill>
                            <a:schemeClr val="tx1"/>
                          </a:solidFill>
                          <a:latin typeface="+mn-ea"/>
                          <a:ea typeface="+mn-ea"/>
                          <a:cs typeface="+mn-cs"/>
                        </a:rPr>
                        <a:t>자체개발</a:t>
                      </a:r>
                      <a:r>
                        <a:rPr lang="en-US" sz="1200" b="0" i="0" u="none" strike="noStrike" kern="1200" smtClean="0">
                          <a:solidFill>
                            <a:schemeClr val="tx1"/>
                          </a:solidFill>
                          <a:latin typeface="+mn-ea"/>
                          <a:ea typeface="+mn-ea"/>
                          <a:cs typeface="+mn-cs"/>
                        </a:rPr>
                        <a:t> </a:t>
                      </a:r>
                      <a:r>
                        <a:rPr lang="en-US" sz="1200" b="0" i="0" u="none" strike="noStrike" kern="1200">
                          <a:solidFill>
                            <a:schemeClr val="tx1"/>
                          </a:solidFill>
                          <a:latin typeface="+mn-ea"/>
                          <a:ea typeface="+mn-ea"/>
                          <a:cs typeface="+mn-cs"/>
                        </a:rPr>
                        <a:t>: </a:t>
                      </a:r>
                      <a:r>
                        <a:rPr lang="ko-KR" sz="1200" b="0" i="0" u="none" strike="noStrike" kern="1200">
                          <a:solidFill>
                            <a:schemeClr val="tx1"/>
                          </a:solidFill>
                          <a:latin typeface="+mn-ea"/>
                          <a:ea typeface="+mn-ea"/>
                          <a:cs typeface="+mn-cs"/>
                        </a:rPr>
                        <a:t>암호화 프로그램 소스에 암호키 직접입력</a:t>
                      </a:r>
                      <a:r>
                        <a:rPr lang="en-US" sz="1200" b="0" i="0" u="none" strike="noStrike" kern="1200">
                          <a:solidFill>
                            <a:schemeClr val="tx1"/>
                          </a:solidFill>
                          <a:latin typeface="+mn-ea"/>
                          <a:ea typeface="+mn-ea"/>
                          <a:cs typeface="+mn-cs"/>
                        </a:rPr>
                        <a:t> </a:t>
                      </a:r>
                      <a:endParaRPr lang="ko-KR" sz="1200" b="0" i="0" u="none" strike="noStrike" kern="1200">
                        <a:solidFill>
                          <a:schemeClr val="tx1"/>
                        </a:solidFill>
                        <a:latin typeface="+mn-ea"/>
                        <a:ea typeface="+mn-ea"/>
                        <a:cs typeface="+mn-cs"/>
                      </a:endParaRPr>
                    </a:p>
                    <a:p>
                      <a:pPr marL="0" indent="-323850" algn="l" defTabSz="914400" rtl="0" eaLnBrk="1" fontAlgn="ctr" latinLnBrk="1" hangingPunct="1">
                        <a:lnSpc>
                          <a:spcPct val="150000"/>
                        </a:lnSpc>
                        <a:spcAft>
                          <a:spcPts val="0"/>
                        </a:spcAft>
                        <a:tabLst>
                          <a:tab pos="575945" algn="l"/>
                          <a:tab pos="508000" algn="l"/>
                        </a:tabLst>
                      </a:pPr>
                      <a:r>
                        <a:rPr lang="en-US" sz="1200" b="0" i="0" u="none" strike="noStrike" kern="1200">
                          <a:solidFill>
                            <a:schemeClr val="tx1"/>
                          </a:solidFill>
                          <a:latin typeface="+mn-ea"/>
                          <a:ea typeface="+mn-ea"/>
                          <a:cs typeface="+mn-cs"/>
                        </a:rPr>
                        <a:t>   </a:t>
                      </a:r>
                      <a:r>
                        <a:rPr lang="en-US" sz="1200" b="0" i="0" u="none" strike="noStrike" kern="1200" smtClean="0">
                          <a:solidFill>
                            <a:schemeClr val="tx1"/>
                          </a:solidFill>
                          <a:latin typeface="+mn-ea"/>
                          <a:ea typeface="+mn-ea"/>
                          <a:cs typeface="+mn-cs"/>
                        </a:rPr>
                        <a:t> * </a:t>
                      </a:r>
                      <a:r>
                        <a:rPr lang="ko-KR" sz="1200" b="0" i="0" u="none" strike="noStrike" kern="1200">
                          <a:solidFill>
                            <a:schemeClr val="tx1"/>
                          </a:solidFill>
                          <a:latin typeface="+mn-ea"/>
                          <a:ea typeface="+mn-ea"/>
                          <a:cs typeface="+mn-cs"/>
                        </a:rPr>
                        <a:t>키관리절차</a:t>
                      </a:r>
                      <a:r>
                        <a:rPr lang="en-US" sz="1200" b="0" i="0" u="none" strike="noStrike" kern="1200">
                          <a:solidFill>
                            <a:schemeClr val="tx1"/>
                          </a:solidFill>
                          <a:latin typeface="+mn-ea"/>
                          <a:ea typeface="+mn-ea"/>
                          <a:cs typeface="+mn-cs"/>
                        </a:rPr>
                        <a:t>: (1)</a:t>
                      </a:r>
                      <a:r>
                        <a:rPr lang="ko-KR" sz="1200" b="0" i="0" u="none" strike="noStrike" kern="1200">
                          <a:solidFill>
                            <a:schemeClr val="tx1"/>
                          </a:solidFill>
                          <a:latin typeface="+mn-ea"/>
                          <a:ea typeface="+mn-ea"/>
                          <a:cs typeface="+mn-cs"/>
                        </a:rPr>
                        <a:t>소스코드 컴파일</a:t>
                      </a:r>
                      <a:r>
                        <a:rPr lang="en-US" sz="1200" b="0" i="0" u="none" strike="noStrike" kern="1200">
                          <a:solidFill>
                            <a:schemeClr val="tx1"/>
                          </a:solidFill>
                          <a:latin typeface="+mn-ea"/>
                          <a:ea typeface="+mn-ea"/>
                          <a:cs typeface="+mn-cs"/>
                        </a:rPr>
                        <a:t> (2)</a:t>
                      </a:r>
                      <a:r>
                        <a:rPr lang="ko-KR" sz="1200" b="0" i="0" u="none" strike="noStrike" kern="1200">
                          <a:solidFill>
                            <a:schemeClr val="tx1"/>
                          </a:solidFill>
                          <a:latin typeface="+mn-ea"/>
                          <a:ea typeface="+mn-ea"/>
                          <a:cs typeface="+mn-cs"/>
                        </a:rPr>
                        <a:t>소스코드 지정</a:t>
                      </a:r>
                      <a:r>
                        <a:rPr lang="en-US" sz="1200" b="0" i="0" u="none" strike="noStrike" kern="1200">
                          <a:solidFill>
                            <a:schemeClr val="tx1"/>
                          </a:solidFill>
                          <a:latin typeface="+mn-ea"/>
                          <a:ea typeface="+mn-ea"/>
                          <a:cs typeface="+mn-cs"/>
                        </a:rPr>
                        <a:t> USB </a:t>
                      </a:r>
                      <a:r>
                        <a:rPr lang="ko-KR" sz="1200" b="0" i="0" u="none" strike="noStrike" kern="1200">
                          <a:solidFill>
                            <a:schemeClr val="tx1"/>
                          </a:solidFill>
                          <a:latin typeface="+mn-ea"/>
                          <a:ea typeface="+mn-ea"/>
                          <a:cs typeface="+mn-cs"/>
                        </a:rPr>
                        <a:t>저장 후 삭제</a:t>
                      </a:r>
                      <a:r>
                        <a:rPr lang="en-US" sz="1200" b="0" i="0" u="none" strike="noStrike" kern="1200">
                          <a:solidFill>
                            <a:schemeClr val="tx1"/>
                          </a:solidFill>
                          <a:latin typeface="+mn-ea"/>
                          <a:ea typeface="+mn-ea"/>
                          <a:cs typeface="+mn-cs"/>
                        </a:rPr>
                        <a:t> (3)</a:t>
                      </a:r>
                      <a:r>
                        <a:rPr lang="ko-KR" sz="1200" b="0" i="0" u="none" strike="noStrike" kern="1200">
                          <a:solidFill>
                            <a:schemeClr val="tx1"/>
                          </a:solidFill>
                          <a:latin typeface="+mn-ea"/>
                          <a:ea typeface="+mn-ea"/>
                          <a:cs typeface="+mn-cs"/>
                        </a:rPr>
                        <a:t>지정</a:t>
                      </a:r>
                      <a:r>
                        <a:rPr lang="en-US" sz="1200" b="0" i="0" u="none" strike="noStrike" kern="1200">
                          <a:solidFill>
                            <a:schemeClr val="tx1"/>
                          </a:solidFill>
                          <a:latin typeface="+mn-ea"/>
                          <a:ea typeface="+mn-ea"/>
                          <a:cs typeface="+mn-cs"/>
                        </a:rPr>
                        <a:t> USB </a:t>
                      </a:r>
                      <a:r>
                        <a:rPr lang="ko-KR" sz="1200" b="0" i="0" u="none" strike="noStrike" kern="1200">
                          <a:solidFill>
                            <a:schemeClr val="tx1"/>
                          </a:solidFill>
                          <a:latin typeface="+mn-ea"/>
                          <a:ea typeface="+mn-ea"/>
                          <a:cs typeface="+mn-cs"/>
                        </a:rPr>
                        <a:t>대외비로 관리</a:t>
                      </a: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30670320"/>
                  </a:ext>
                </a:extLst>
              </a:tr>
              <a:tr h="348639">
                <a:tc rowSpan="3">
                  <a:txBody>
                    <a:bodyPr/>
                    <a:lstStyle/>
                    <a:p>
                      <a:pPr algn="l" fontAlgn="ctr"/>
                      <a:r>
                        <a:rPr lang="ko-KR" altLang="en-US" sz="1200" b="0" i="0" u="none" strike="noStrike" smtClean="0">
                          <a:solidFill>
                            <a:schemeClr val="tx1"/>
                          </a:solidFill>
                          <a:latin typeface="+mn-ea"/>
                          <a:ea typeface="+mn-ea"/>
                        </a:rPr>
                        <a:t>   암호키 보관방법</a:t>
                      </a:r>
                      <a:endParaRPr lang="en-US" sz="1200" b="0" i="0" u="none" strike="noStrike" dirty="0">
                        <a:solidFill>
                          <a:schemeClr val="tx1"/>
                        </a:solidFill>
                        <a:latin typeface="+mn-ea"/>
                        <a:ea typeface="+mn-ea"/>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264160" algn="l" defTabSz="914400" rtl="0" eaLnBrk="1" fontAlgn="ctr" latinLnBrk="1" hangingPunct="1">
                        <a:lnSpc>
                          <a:spcPct val="150000"/>
                        </a:lnSpc>
                        <a:spcAft>
                          <a:spcPts val="0"/>
                        </a:spcAft>
                        <a:tabLst>
                          <a:tab pos="575945" algn="l"/>
                          <a:tab pos="508000" algn="l"/>
                        </a:tabLst>
                      </a:pPr>
                      <a:r>
                        <a:rPr lang="ko-KR" sz="1200" b="1" i="0" u="none" strike="noStrike" kern="1200" smtClean="0">
                          <a:solidFill>
                            <a:srgbClr val="FF0000"/>
                          </a:solidFill>
                          <a:latin typeface="+mn-ea"/>
                          <a:ea typeface="+mn-ea"/>
                          <a:cs typeface="+mn-cs"/>
                        </a:rPr>
                        <a:t>□</a:t>
                      </a:r>
                      <a:r>
                        <a:rPr lang="en-US" altLang="ko-KR" sz="1200" b="1" i="0" u="none" strike="noStrike" kern="1200" smtClean="0">
                          <a:solidFill>
                            <a:srgbClr val="FF0000"/>
                          </a:solidFill>
                          <a:latin typeface="+mn-ea"/>
                          <a:ea typeface="+mn-ea"/>
                          <a:cs typeface="+mn-cs"/>
                        </a:rPr>
                        <a:t> </a:t>
                      </a:r>
                      <a:r>
                        <a:rPr lang="en-US" sz="1200" b="1" i="0" u="none" strike="noStrike" kern="1200" smtClean="0">
                          <a:solidFill>
                            <a:srgbClr val="FF0000"/>
                          </a:solidFill>
                          <a:latin typeface="+mn-ea"/>
                          <a:ea typeface="+mn-ea"/>
                          <a:cs typeface="+mn-cs"/>
                        </a:rPr>
                        <a:t>HW </a:t>
                      </a:r>
                      <a:r>
                        <a:rPr lang="ko-KR" sz="1200" b="1" i="0" u="none" strike="noStrike" kern="1200">
                          <a:solidFill>
                            <a:srgbClr val="FF0000"/>
                          </a:solidFill>
                          <a:latin typeface="+mn-ea"/>
                          <a:ea typeface="+mn-ea"/>
                          <a:cs typeface="+mn-cs"/>
                        </a:rPr>
                        <a:t>방식</a:t>
                      </a:r>
                      <a:r>
                        <a:rPr lang="en-US" sz="1200" b="1" i="0" u="none" strike="noStrike" kern="1200">
                          <a:solidFill>
                            <a:srgbClr val="FF0000"/>
                          </a:solidFill>
                          <a:latin typeface="+mn-ea"/>
                          <a:ea typeface="+mn-ea"/>
                          <a:cs typeface="+mn-cs"/>
                        </a:rPr>
                        <a:t> : </a:t>
                      </a:r>
                      <a:r>
                        <a:rPr lang="ko-KR" sz="1200" b="1" i="0" u="none" strike="noStrike" kern="1200">
                          <a:solidFill>
                            <a:srgbClr val="FF0000"/>
                          </a:solidFill>
                          <a:latin typeface="+mn-ea"/>
                          <a:ea typeface="+mn-ea"/>
                          <a:cs typeface="+mn-cs"/>
                        </a:rPr>
                        <a:t>암호화 키관리 시스템 자체 보관</a:t>
                      </a:r>
                      <a:r>
                        <a:rPr lang="ko-KR" sz="1200" b="0" i="0" u="none" strike="noStrike" kern="1200">
                          <a:solidFill>
                            <a:schemeClr val="tx1"/>
                          </a:solidFill>
                          <a:latin typeface="+mn-ea"/>
                          <a:ea typeface="+mn-ea"/>
                          <a:cs typeface="+mn-cs"/>
                        </a:rPr>
                        <a:t> 【권고</a:t>
                      </a:r>
                      <a:r>
                        <a:rPr lang="en-US" sz="1200" b="0" i="0" u="none" strike="noStrike" kern="1200">
                          <a:solidFill>
                            <a:schemeClr val="tx1"/>
                          </a:solidFill>
                          <a:latin typeface="+mn-ea"/>
                          <a:ea typeface="+mn-ea"/>
                          <a:cs typeface="+mn-cs"/>
                        </a:rPr>
                        <a:t>: </a:t>
                      </a:r>
                      <a:r>
                        <a:rPr lang="ko-KR" sz="1200" b="0" i="0" u="none" strike="noStrike" kern="1200">
                          <a:solidFill>
                            <a:schemeClr val="tx1"/>
                          </a:solidFill>
                          <a:latin typeface="+mn-ea"/>
                          <a:ea typeface="+mn-ea"/>
                          <a:cs typeface="+mn-cs"/>
                        </a:rPr>
                        <a:t>국내외 인증기관</a:t>
                      </a:r>
                      <a:r>
                        <a:rPr lang="en-US" sz="1200" b="0" i="0" u="none" strike="noStrike" kern="1200">
                          <a:solidFill>
                            <a:schemeClr val="tx1"/>
                          </a:solidFill>
                          <a:latin typeface="+mn-ea"/>
                          <a:ea typeface="+mn-ea"/>
                          <a:cs typeface="+mn-cs"/>
                        </a:rPr>
                        <a:t>(CC </a:t>
                      </a:r>
                      <a:r>
                        <a:rPr lang="ko-KR" sz="1200" b="0" i="0" u="none" strike="noStrike" kern="1200">
                          <a:solidFill>
                            <a:schemeClr val="tx1"/>
                          </a:solidFill>
                          <a:latin typeface="+mn-ea"/>
                          <a:ea typeface="+mn-ea"/>
                          <a:cs typeface="+mn-cs"/>
                        </a:rPr>
                        <a:t>등</a:t>
                      </a:r>
                      <a:r>
                        <a:rPr lang="en-US" sz="1200" b="0" i="0" u="none" strike="noStrike" kern="1200">
                          <a:solidFill>
                            <a:schemeClr val="tx1"/>
                          </a:solidFill>
                          <a:latin typeface="+mn-ea"/>
                          <a:ea typeface="+mn-ea"/>
                          <a:cs typeface="+mn-cs"/>
                        </a:rPr>
                        <a:t>) </a:t>
                      </a:r>
                      <a:r>
                        <a:rPr lang="ko-KR" sz="1200" b="0" i="0" u="none" strike="noStrike" kern="1200">
                          <a:solidFill>
                            <a:schemeClr val="tx1"/>
                          </a:solidFill>
                          <a:latin typeface="+mn-ea"/>
                          <a:ea typeface="+mn-ea"/>
                          <a:cs typeface="+mn-cs"/>
                        </a:rPr>
                        <a:t>인증제품】</a:t>
                      </a: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1473992"/>
                  </a:ext>
                </a:extLst>
              </a:tr>
              <a:tr h="348639">
                <a:tc vMerge="1">
                  <a:txBody>
                    <a:bodyPr/>
                    <a:lstStyle/>
                    <a:p>
                      <a:pPr algn="l" fontAlgn="ctr"/>
                      <a:endParaRPr lang="en-US" sz="1200" b="0" i="0" u="none" strike="noStrike" dirty="0">
                        <a:solidFill>
                          <a:schemeClr val="tx1"/>
                        </a:solidFill>
                        <a:latin typeface="+mn-ea"/>
                        <a:ea typeface="+mn-ea"/>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264160" algn="l" defTabSz="914400" rtl="0" eaLnBrk="1" fontAlgn="ctr" latinLnBrk="1" hangingPunct="1">
                        <a:lnSpc>
                          <a:spcPct val="150000"/>
                        </a:lnSpc>
                        <a:spcAft>
                          <a:spcPts val="0"/>
                        </a:spcAft>
                        <a:tabLst>
                          <a:tab pos="575945" algn="l"/>
                          <a:tab pos="508000" algn="l"/>
                        </a:tabLst>
                      </a:pPr>
                      <a:r>
                        <a:rPr 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en-US" sz="1200" b="0" i="0" u="none" strike="noStrike" kern="1200" smtClean="0">
                          <a:solidFill>
                            <a:schemeClr val="tx1"/>
                          </a:solidFill>
                          <a:latin typeface="+mn-ea"/>
                          <a:ea typeface="+mn-ea"/>
                          <a:cs typeface="+mn-cs"/>
                        </a:rPr>
                        <a:t>S/W</a:t>
                      </a:r>
                      <a:r>
                        <a:rPr lang="ko-KR" sz="1200" b="0" i="0" u="none" strike="noStrike" kern="1200">
                          <a:solidFill>
                            <a:schemeClr val="tx1"/>
                          </a:solidFill>
                          <a:latin typeface="+mn-ea"/>
                          <a:ea typeface="+mn-ea"/>
                          <a:cs typeface="+mn-cs"/>
                        </a:rPr>
                        <a:t>방식</a:t>
                      </a:r>
                      <a:r>
                        <a:rPr lang="en-US" sz="1200" b="0" i="0" u="none" strike="noStrike" kern="1200">
                          <a:solidFill>
                            <a:schemeClr val="tx1"/>
                          </a:solidFill>
                          <a:latin typeface="+mn-ea"/>
                          <a:ea typeface="+mn-ea"/>
                          <a:cs typeface="+mn-cs"/>
                        </a:rPr>
                        <a:t> : IC</a:t>
                      </a:r>
                      <a:r>
                        <a:rPr lang="ko-KR" sz="1200" b="0" i="0" u="none" strike="noStrike" kern="1200">
                          <a:solidFill>
                            <a:schemeClr val="tx1"/>
                          </a:solidFill>
                          <a:latin typeface="+mn-ea"/>
                          <a:ea typeface="+mn-ea"/>
                          <a:cs typeface="+mn-cs"/>
                        </a:rPr>
                        <a:t>칩</a:t>
                      </a:r>
                      <a:r>
                        <a:rPr lang="en-US" sz="1200" b="0" i="0" u="none" strike="noStrike" kern="1200">
                          <a:solidFill>
                            <a:schemeClr val="tx1"/>
                          </a:solidFill>
                          <a:latin typeface="+mn-ea"/>
                          <a:ea typeface="+mn-ea"/>
                          <a:cs typeface="+mn-cs"/>
                        </a:rPr>
                        <a:t>, USB</a:t>
                      </a:r>
                      <a:r>
                        <a:rPr lang="ko-KR" sz="1200" b="0" i="0" u="none" strike="noStrike" kern="1200">
                          <a:solidFill>
                            <a:schemeClr val="tx1"/>
                          </a:solidFill>
                          <a:latin typeface="+mn-ea"/>
                          <a:ea typeface="+mn-ea"/>
                          <a:cs typeface="+mn-cs"/>
                        </a:rPr>
                        <a:t>보안토큰</a:t>
                      </a:r>
                      <a:r>
                        <a:rPr lang="en-US" sz="1200" b="0" i="0" u="none" strike="noStrike" kern="1200">
                          <a:solidFill>
                            <a:schemeClr val="tx1"/>
                          </a:solidFill>
                          <a:latin typeface="+mn-ea"/>
                          <a:ea typeface="+mn-ea"/>
                          <a:cs typeface="+mn-cs"/>
                        </a:rPr>
                        <a:t>, </a:t>
                      </a:r>
                      <a:r>
                        <a:rPr lang="ko-KR" sz="1200" b="0" i="0" u="none" strike="noStrike" kern="1200">
                          <a:solidFill>
                            <a:schemeClr val="tx1"/>
                          </a:solidFill>
                          <a:latin typeface="+mn-ea"/>
                          <a:ea typeface="+mn-ea"/>
                          <a:cs typeface="+mn-cs"/>
                        </a:rPr>
                        <a:t>암호키관리시스템 </a:t>
                      </a: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2457458"/>
                  </a:ext>
                </a:extLst>
              </a:tr>
              <a:tr h="348639">
                <a:tc vMerge="1">
                  <a:txBody>
                    <a:bodyPr/>
                    <a:lstStyle/>
                    <a:p>
                      <a:pPr algn="l" fontAlgn="ctr"/>
                      <a:endParaRPr lang="en-US" sz="1200" b="0" i="0" u="none" strike="noStrike" dirty="0">
                        <a:solidFill>
                          <a:schemeClr val="tx1"/>
                        </a:solidFill>
                        <a:latin typeface="+mn-ea"/>
                        <a:ea typeface="+mn-ea"/>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323850" algn="l" defTabSz="914400" rtl="0" eaLnBrk="1" fontAlgn="ctr" latinLnBrk="1" hangingPunct="1">
                        <a:lnSpc>
                          <a:spcPct val="150000"/>
                        </a:lnSpc>
                        <a:spcAft>
                          <a:spcPts val="0"/>
                        </a:spcAft>
                        <a:tabLst>
                          <a:tab pos="575945" algn="l"/>
                          <a:tab pos="508000" algn="l"/>
                        </a:tabLst>
                      </a:pPr>
                      <a:r>
                        <a:rPr 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sz="1200" b="0" i="0" u="none" strike="noStrike" kern="1200" smtClean="0">
                          <a:solidFill>
                            <a:schemeClr val="tx1"/>
                          </a:solidFill>
                          <a:latin typeface="+mn-ea"/>
                          <a:ea typeface="+mn-ea"/>
                          <a:cs typeface="+mn-cs"/>
                        </a:rPr>
                        <a:t>자체개발</a:t>
                      </a:r>
                      <a:r>
                        <a:rPr lang="en-US" sz="1200" b="0" i="0" u="none" strike="noStrike" kern="1200" smtClean="0">
                          <a:solidFill>
                            <a:schemeClr val="tx1"/>
                          </a:solidFill>
                          <a:latin typeface="+mn-ea"/>
                          <a:ea typeface="+mn-ea"/>
                          <a:cs typeface="+mn-cs"/>
                        </a:rPr>
                        <a:t> </a:t>
                      </a:r>
                      <a:r>
                        <a:rPr lang="en-US" sz="1200" b="0" i="0" u="none" strike="noStrike" kern="1200">
                          <a:solidFill>
                            <a:schemeClr val="tx1"/>
                          </a:solidFill>
                          <a:latin typeface="+mn-ea"/>
                          <a:ea typeface="+mn-ea"/>
                          <a:cs typeface="+mn-cs"/>
                        </a:rPr>
                        <a:t>: </a:t>
                      </a:r>
                      <a:r>
                        <a:rPr lang="ko-KR" sz="1200" b="0" i="0" u="none" strike="noStrike" kern="1200">
                          <a:solidFill>
                            <a:schemeClr val="tx1"/>
                          </a:solidFill>
                          <a:latin typeface="+mn-ea"/>
                          <a:ea typeface="+mn-ea"/>
                          <a:cs typeface="+mn-cs"/>
                        </a:rPr>
                        <a:t>소스코드</a:t>
                      </a:r>
                      <a:r>
                        <a:rPr lang="en-US" sz="1200" b="0" i="0" u="none" strike="noStrike" kern="1200">
                          <a:solidFill>
                            <a:schemeClr val="tx1"/>
                          </a:solidFill>
                          <a:latin typeface="+mn-ea"/>
                          <a:ea typeface="+mn-ea"/>
                          <a:cs typeface="+mn-cs"/>
                        </a:rPr>
                        <a:t> USB</a:t>
                      </a:r>
                      <a:r>
                        <a:rPr lang="ko-KR" sz="1200" b="0" i="0" u="none" strike="noStrike" kern="1200">
                          <a:solidFill>
                            <a:schemeClr val="tx1"/>
                          </a:solidFill>
                          <a:latin typeface="+mn-ea"/>
                          <a:ea typeface="+mn-ea"/>
                          <a:cs typeface="+mn-cs"/>
                        </a:rPr>
                        <a:t>보관</a:t>
                      </a:r>
                      <a:r>
                        <a:rPr lang="en-US" sz="1200" b="0" i="0" u="none" strike="noStrike" kern="1200">
                          <a:solidFill>
                            <a:schemeClr val="tx1"/>
                          </a:solidFill>
                          <a:latin typeface="+mn-ea"/>
                          <a:ea typeface="+mn-ea"/>
                          <a:cs typeface="+mn-cs"/>
                        </a:rPr>
                        <a:t> (</a:t>
                      </a:r>
                      <a:r>
                        <a:rPr lang="ko-KR" sz="1200" b="0" i="0" u="none" strike="noStrike" kern="1200">
                          <a:solidFill>
                            <a:schemeClr val="tx1"/>
                          </a:solidFill>
                          <a:latin typeface="+mn-ea"/>
                          <a:ea typeface="+mn-ea"/>
                          <a:cs typeface="+mn-cs"/>
                        </a:rPr>
                        <a:t>대외비</a:t>
                      </a:r>
                      <a:r>
                        <a:rPr lang="en-US" sz="1200" b="0" i="0" u="none" strike="noStrike" kern="1200">
                          <a:solidFill>
                            <a:schemeClr val="tx1"/>
                          </a:solidFill>
                          <a:latin typeface="+mn-ea"/>
                          <a:ea typeface="+mn-ea"/>
                          <a:cs typeface="+mn-cs"/>
                        </a:rPr>
                        <a:t>)</a:t>
                      </a:r>
                      <a:endParaRPr lang="ko-KR" sz="1200" b="0" i="0" u="none" strike="noStrike" kern="1200">
                        <a:solidFill>
                          <a:schemeClr val="tx1"/>
                        </a:solidFill>
                        <a:latin typeface="+mn-ea"/>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782833"/>
                  </a:ext>
                </a:extLst>
              </a:tr>
              <a:tr h="348639">
                <a:tc rowSpan="2">
                  <a:txBody>
                    <a:bodyPr/>
                    <a:lstStyle/>
                    <a:p>
                      <a:pPr algn="l" fontAlgn="ctr"/>
                      <a:r>
                        <a:rPr lang="ko-KR" altLang="en-US" sz="1200" b="0" i="0" u="none" strike="noStrike" smtClean="0">
                          <a:solidFill>
                            <a:schemeClr val="tx1"/>
                          </a:solidFill>
                          <a:latin typeface="+mn-ea"/>
                          <a:ea typeface="+mn-ea"/>
                        </a:rPr>
                        <a:t>   암호키 전달</a:t>
                      </a:r>
                      <a:endParaRPr lang="en-US" sz="1200" b="0" i="0" u="none" strike="noStrike" dirty="0">
                        <a:solidFill>
                          <a:schemeClr val="tx1"/>
                        </a:solidFill>
                        <a:latin typeface="+mn-ea"/>
                        <a:ea typeface="+mn-ea"/>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264160" algn="l" defTabSz="914400" rtl="0" eaLnBrk="1" fontAlgn="ctr" latinLnBrk="1" hangingPunct="1">
                        <a:lnSpc>
                          <a:spcPct val="150000"/>
                        </a:lnSpc>
                        <a:spcAft>
                          <a:spcPts val="0"/>
                        </a:spcAft>
                        <a:tabLst>
                          <a:tab pos="575945" algn="l"/>
                          <a:tab pos="508000" algn="l"/>
                        </a:tabLst>
                      </a:pPr>
                      <a:r>
                        <a:rPr lang="ko-KR" sz="1200" b="1" i="0" u="none" strike="noStrike" kern="1200" smtClean="0">
                          <a:solidFill>
                            <a:srgbClr val="FF0000"/>
                          </a:solidFill>
                          <a:latin typeface="+mn-ea"/>
                          <a:ea typeface="+mn-ea"/>
                          <a:cs typeface="+mn-cs"/>
                        </a:rPr>
                        <a:t>□</a:t>
                      </a:r>
                      <a:r>
                        <a:rPr lang="en-US" altLang="ko-KR" sz="1200" b="1" i="0" u="none" strike="noStrike" kern="1200" smtClean="0">
                          <a:solidFill>
                            <a:srgbClr val="FF0000"/>
                          </a:solidFill>
                          <a:latin typeface="+mn-ea"/>
                          <a:ea typeface="+mn-ea"/>
                          <a:cs typeface="+mn-cs"/>
                        </a:rPr>
                        <a:t> </a:t>
                      </a:r>
                      <a:r>
                        <a:rPr lang="ko-KR" sz="1200" b="1" i="0" u="none" strike="noStrike" kern="1200" smtClean="0">
                          <a:solidFill>
                            <a:srgbClr val="FF0000"/>
                          </a:solidFill>
                          <a:latin typeface="+mn-ea"/>
                          <a:ea typeface="+mn-ea"/>
                          <a:cs typeface="+mn-cs"/>
                        </a:rPr>
                        <a:t>온라인 </a:t>
                      </a:r>
                      <a:r>
                        <a:rPr lang="ko-KR" sz="1200" b="1" i="0" u="none" strike="noStrike" kern="1200">
                          <a:solidFill>
                            <a:srgbClr val="FF0000"/>
                          </a:solidFill>
                          <a:latin typeface="+mn-ea"/>
                          <a:ea typeface="+mn-ea"/>
                          <a:cs typeface="+mn-cs"/>
                        </a:rPr>
                        <a:t>전달</a:t>
                      </a:r>
                      <a:r>
                        <a:rPr lang="en-US" sz="1200" b="1" i="0" u="none" strike="noStrike" kern="1200">
                          <a:solidFill>
                            <a:srgbClr val="FF0000"/>
                          </a:solidFill>
                          <a:latin typeface="+mn-ea"/>
                          <a:ea typeface="+mn-ea"/>
                          <a:cs typeface="+mn-cs"/>
                        </a:rPr>
                        <a:t> : </a:t>
                      </a:r>
                      <a:r>
                        <a:rPr lang="ko-KR" sz="1200" b="1" i="0" u="none" strike="noStrike" kern="1200">
                          <a:solidFill>
                            <a:srgbClr val="FF0000"/>
                          </a:solidFill>
                          <a:latin typeface="+mn-ea"/>
                          <a:ea typeface="+mn-ea"/>
                          <a:cs typeface="+mn-cs"/>
                        </a:rPr>
                        <a:t>비대칭키 </a:t>
                      </a:r>
                      <a:r>
                        <a:rPr lang="ko-KR" sz="1200" b="1" i="0" u="none" strike="noStrike" kern="1200" smtClean="0">
                          <a:solidFill>
                            <a:srgbClr val="FF0000"/>
                          </a:solidFill>
                          <a:latin typeface="+mn-ea"/>
                          <a:ea typeface="+mn-ea"/>
                          <a:cs typeface="+mn-cs"/>
                        </a:rPr>
                        <a:t>방식</a:t>
                      </a:r>
                      <a:r>
                        <a:rPr lang="en-US" altLang="ko-KR" sz="1200" b="0" i="0" u="none" strike="noStrike" kern="1200" smtClean="0">
                          <a:solidFill>
                            <a:srgbClr val="FF0000"/>
                          </a:solidFill>
                          <a:latin typeface="+mn-ea"/>
                          <a:ea typeface="+mn-ea"/>
                          <a:cs typeface="+mn-cs"/>
                        </a:rPr>
                        <a:t> </a:t>
                      </a:r>
                      <a:r>
                        <a:rPr lang="ko-KR" sz="1200" b="0" i="0" u="none" strike="noStrike" kern="1200" smtClean="0">
                          <a:solidFill>
                            <a:schemeClr val="tx1"/>
                          </a:solidFill>
                          <a:latin typeface="+mn-ea"/>
                          <a:ea typeface="+mn-ea"/>
                          <a:cs typeface="+mn-cs"/>
                        </a:rPr>
                        <a:t>【</a:t>
                      </a:r>
                      <a:r>
                        <a:rPr lang="ko-KR" sz="1200" b="0" i="0" u="none" strike="noStrike" kern="1200">
                          <a:solidFill>
                            <a:schemeClr val="tx1"/>
                          </a:solidFill>
                          <a:latin typeface="+mn-ea"/>
                          <a:ea typeface="+mn-ea"/>
                          <a:cs typeface="+mn-cs"/>
                        </a:rPr>
                        <a:t>권고】</a:t>
                      </a:r>
                      <a:r>
                        <a:rPr lang="en-US" sz="1200" b="0" i="0" u="none" strike="noStrike" kern="1200">
                          <a:solidFill>
                            <a:schemeClr val="tx1"/>
                          </a:solidFill>
                          <a:latin typeface="+mn-ea"/>
                          <a:ea typeface="+mn-ea"/>
                          <a:cs typeface="+mn-cs"/>
                        </a:rPr>
                        <a:t>(</a:t>
                      </a:r>
                      <a:r>
                        <a:rPr lang="ko-KR" sz="1200" b="0" i="0" u="none" strike="noStrike" kern="1200" smtClean="0">
                          <a:solidFill>
                            <a:schemeClr val="tx1"/>
                          </a:solidFill>
                          <a:latin typeface="+mn-ea"/>
                          <a:ea typeface="+mn-ea"/>
                          <a:cs typeface="+mn-cs"/>
                        </a:rPr>
                        <a:t>보안강도</a:t>
                      </a:r>
                      <a:r>
                        <a:rPr lang="ko-KR" altLang="en-US" sz="1200" b="0" i="0" u="none" strike="noStrike" kern="1200" baseline="30000" smtClean="0">
                          <a:solidFill>
                            <a:schemeClr val="tx1"/>
                          </a:solidFill>
                          <a:latin typeface="+mn-ea"/>
                          <a:ea typeface="+mn-ea"/>
                          <a:cs typeface="+mn-cs"/>
                        </a:rPr>
                        <a:t>주</a:t>
                      </a:r>
                      <a:r>
                        <a:rPr lang="en-US" altLang="ko-KR" sz="1200" b="0" i="0" u="none" strike="noStrike" kern="1200" baseline="30000" smtClean="0">
                          <a:solidFill>
                            <a:schemeClr val="tx1"/>
                          </a:solidFill>
                          <a:latin typeface="+mn-ea"/>
                          <a:ea typeface="+mn-ea"/>
                          <a:cs typeface="+mn-cs"/>
                        </a:rPr>
                        <a:t>1)</a:t>
                      </a:r>
                      <a:r>
                        <a:rPr lang="en-US" altLang="ko-KR" sz="1200" b="0" i="0" u="none" strike="noStrike" kern="1200" smtClean="0">
                          <a:solidFill>
                            <a:schemeClr val="tx1"/>
                          </a:solidFill>
                          <a:latin typeface="+mn-ea"/>
                          <a:ea typeface="+mn-ea"/>
                          <a:cs typeface="+mn-cs"/>
                        </a:rPr>
                        <a:t> </a:t>
                      </a:r>
                      <a:r>
                        <a:rPr lang="en-US" sz="1200" b="0" i="0" u="none" strike="noStrike" kern="1200" smtClean="0">
                          <a:solidFill>
                            <a:schemeClr val="tx1"/>
                          </a:solidFill>
                          <a:latin typeface="+mn-ea"/>
                          <a:ea typeface="+mn-ea"/>
                          <a:cs typeface="+mn-cs"/>
                        </a:rPr>
                        <a:t>2048 </a:t>
                      </a:r>
                      <a:r>
                        <a:rPr lang="ko-KR" altLang="en-US" sz="1200" b="0" i="0" u="none" strike="noStrike" kern="1200" smtClean="0">
                          <a:solidFill>
                            <a:schemeClr val="tx1"/>
                          </a:solidFill>
                          <a:latin typeface="+mn-ea"/>
                          <a:ea typeface="+mn-ea"/>
                          <a:cs typeface="+mn-cs"/>
                        </a:rPr>
                        <a:t>비트 </a:t>
                      </a:r>
                      <a:r>
                        <a:rPr lang="ko-KR" sz="1200" b="0" i="0" u="none" strike="noStrike" kern="1200" smtClean="0">
                          <a:solidFill>
                            <a:schemeClr val="tx1"/>
                          </a:solidFill>
                          <a:latin typeface="+mn-ea"/>
                          <a:ea typeface="+mn-ea"/>
                          <a:cs typeface="+mn-cs"/>
                        </a:rPr>
                        <a:t>이상</a:t>
                      </a:r>
                      <a:r>
                        <a:rPr lang="en-US" sz="1200" b="0" i="0" u="none" strike="noStrike" kern="1200">
                          <a:solidFill>
                            <a:schemeClr val="tx1"/>
                          </a:solidFill>
                          <a:latin typeface="+mn-ea"/>
                          <a:ea typeface="+mn-ea"/>
                          <a:cs typeface="+mn-cs"/>
                        </a:rPr>
                        <a:t>), </a:t>
                      </a:r>
                      <a:r>
                        <a:rPr lang="ko-KR" sz="1200" b="0" i="0" u="none" strike="noStrike" kern="1200">
                          <a:solidFill>
                            <a:schemeClr val="tx1"/>
                          </a:solidFill>
                          <a:latin typeface="+mn-ea"/>
                          <a:ea typeface="+mn-ea"/>
                          <a:cs typeface="+mn-cs"/>
                        </a:rPr>
                        <a:t>대칭키 방식【권고】</a:t>
                      </a:r>
                      <a:r>
                        <a:rPr lang="en-US" sz="1200" b="0" i="0" u="none" strike="noStrike" kern="1200">
                          <a:solidFill>
                            <a:schemeClr val="tx1"/>
                          </a:solidFill>
                          <a:latin typeface="+mn-ea"/>
                          <a:ea typeface="+mn-ea"/>
                          <a:cs typeface="+mn-cs"/>
                        </a:rPr>
                        <a:t>(</a:t>
                      </a:r>
                      <a:r>
                        <a:rPr lang="ko-KR" sz="1200" b="0" i="0" u="none" strike="noStrike" kern="1200" smtClean="0">
                          <a:solidFill>
                            <a:schemeClr val="tx1"/>
                          </a:solidFill>
                          <a:latin typeface="+mn-ea"/>
                          <a:ea typeface="+mn-ea"/>
                          <a:cs typeface="+mn-cs"/>
                        </a:rPr>
                        <a:t>보안강도</a:t>
                      </a:r>
                      <a:r>
                        <a:rPr lang="en-US" altLang="ko-KR" sz="1200" b="0" i="0" u="none" strike="noStrike" kern="1200" smtClean="0">
                          <a:solidFill>
                            <a:schemeClr val="tx1"/>
                          </a:solidFill>
                          <a:latin typeface="+mn-ea"/>
                          <a:ea typeface="+mn-ea"/>
                          <a:cs typeface="+mn-cs"/>
                        </a:rPr>
                        <a:t> </a:t>
                      </a:r>
                      <a:r>
                        <a:rPr lang="en-US" sz="1200" b="0" i="0" u="none" strike="noStrike" kern="1200" smtClean="0">
                          <a:solidFill>
                            <a:schemeClr val="tx1"/>
                          </a:solidFill>
                          <a:latin typeface="+mn-ea"/>
                          <a:ea typeface="+mn-ea"/>
                          <a:cs typeface="+mn-cs"/>
                        </a:rPr>
                        <a:t>192 </a:t>
                      </a:r>
                      <a:r>
                        <a:rPr lang="ko-KR" altLang="en-US" sz="1200" b="0" i="0" u="none" strike="noStrike" kern="1200" smtClean="0">
                          <a:solidFill>
                            <a:schemeClr val="tx1"/>
                          </a:solidFill>
                          <a:latin typeface="+mn-ea"/>
                          <a:ea typeface="+mn-ea"/>
                          <a:cs typeface="+mn-cs"/>
                        </a:rPr>
                        <a:t>비트 </a:t>
                      </a:r>
                      <a:r>
                        <a:rPr lang="ko-KR" sz="1200" b="0" i="0" u="none" strike="noStrike" kern="1200" smtClean="0">
                          <a:solidFill>
                            <a:schemeClr val="tx1"/>
                          </a:solidFill>
                          <a:latin typeface="+mn-ea"/>
                          <a:ea typeface="+mn-ea"/>
                          <a:cs typeface="+mn-cs"/>
                        </a:rPr>
                        <a:t>이상</a:t>
                      </a:r>
                      <a:r>
                        <a:rPr lang="en-US" sz="1200" b="0" i="0" u="none" strike="noStrike" kern="1200">
                          <a:solidFill>
                            <a:schemeClr val="tx1"/>
                          </a:solidFill>
                          <a:latin typeface="+mn-ea"/>
                          <a:ea typeface="+mn-ea"/>
                          <a:cs typeface="+mn-cs"/>
                        </a:rPr>
                        <a:t>) </a:t>
                      </a:r>
                      <a:endParaRPr lang="ko-KR" sz="1200" b="0" i="0" u="none" strike="noStrike" kern="1200">
                        <a:solidFill>
                          <a:schemeClr val="tx1"/>
                        </a:solidFill>
                        <a:latin typeface="+mn-ea"/>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7891432"/>
                  </a:ext>
                </a:extLst>
              </a:tr>
              <a:tr h="348639">
                <a:tc vMerge="1">
                  <a:txBody>
                    <a:bodyPr/>
                    <a:lstStyle/>
                    <a:p>
                      <a:pPr algn="l" fontAlgn="ctr"/>
                      <a:endParaRPr lang="en-US" sz="1200" b="0" i="0" u="none" strike="noStrike" dirty="0">
                        <a:solidFill>
                          <a:schemeClr val="tx1"/>
                        </a:solidFill>
                        <a:latin typeface="+mn-ea"/>
                        <a:ea typeface="+mn-ea"/>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323850" algn="l" defTabSz="914400" rtl="0" eaLnBrk="1" fontAlgn="ctr" latinLnBrk="1" hangingPunct="1">
                        <a:lnSpc>
                          <a:spcPct val="150000"/>
                        </a:lnSpc>
                        <a:spcAft>
                          <a:spcPts val="0"/>
                        </a:spcAft>
                        <a:tabLst>
                          <a:tab pos="575945" algn="l"/>
                          <a:tab pos="508000" algn="l"/>
                        </a:tabLst>
                      </a:pPr>
                      <a:r>
                        <a:rPr 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sz="1200" b="0" i="0" u="none" strike="noStrike" kern="1200" smtClean="0">
                          <a:solidFill>
                            <a:schemeClr val="tx1"/>
                          </a:solidFill>
                          <a:latin typeface="+mn-ea"/>
                          <a:ea typeface="+mn-ea"/>
                          <a:cs typeface="+mn-cs"/>
                        </a:rPr>
                        <a:t>오프라인 </a:t>
                      </a:r>
                      <a:r>
                        <a:rPr lang="ko-KR" sz="1200" b="0" i="0" u="none" strike="noStrike" kern="1200">
                          <a:solidFill>
                            <a:schemeClr val="tx1"/>
                          </a:solidFill>
                          <a:latin typeface="+mn-ea"/>
                          <a:ea typeface="+mn-ea"/>
                          <a:cs typeface="+mn-cs"/>
                        </a:rPr>
                        <a:t>전달 </a:t>
                      </a:r>
                      <a:r>
                        <a:rPr lang="en-US" sz="1200" b="0" i="0" u="none" strike="noStrike" kern="1200">
                          <a:solidFill>
                            <a:schemeClr val="tx1"/>
                          </a:solidFill>
                          <a:latin typeface="+mn-ea"/>
                          <a:ea typeface="+mn-ea"/>
                          <a:cs typeface="+mn-cs"/>
                        </a:rPr>
                        <a:t>: </a:t>
                      </a:r>
                      <a:r>
                        <a:rPr lang="ko-KR" sz="1200" b="0" i="0" u="none" strike="noStrike" kern="1200">
                          <a:solidFill>
                            <a:schemeClr val="tx1"/>
                          </a:solidFill>
                          <a:latin typeface="+mn-ea"/>
                          <a:ea typeface="+mn-ea"/>
                          <a:cs typeface="+mn-cs"/>
                        </a:rPr>
                        <a:t>암호키는 담당자</a:t>
                      </a:r>
                      <a:r>
                        <a:rPr lang="en-US" sz="1200" b="0" i="0" u="none" strike="noStrike" kern="1200">
                          <a:solidFill>
                            <a:schemeClr val="tx1"/>
                          </a:solidFill>
                          <a:latin typeface="+mn-ea"/>
                          <a:ea typeface="+mn-ea"/>
                          <a:cs typeface="+mn-cs"/>
                        </a:rPr>
                        <a:t>(</a:t>
                      </a:r>
                      <a:r>
                        <a:rPr lang="ko-KR" sz="1200" b="0" i="0" u="none" strike="noStrike" kern="1200">
                          <a:solidFill>
                            <a:schemeClr val="tx1"/>
                          </a:solidFill>
                          <a:latin typeface="+mn-ea"/>
                          <a:ea typeface="+mn-ea"/>
                          <a:cs typeface="+mn-cs"/>
                        </a:rPr>
                        <a:t>현업담당자</a:t>
                      </a:r>
                      <a:r>
                        <a:rPr lang="en-US" sz="1200" b="0" i="0" u="none" strike="noStrike" kern="1200">
                          <a:solidFill>
                            <a:schemeClr val="tx1"/>
                          </a:solidFill>
                          <a:latin typeface="+mn-ea"/>
                          <a:ea typeface="+mn-ea"/>
                          <a:cs typeface="+mn-cs"/>
                        </a:rPr>
                        <a:t>, </a:t>
                      </a:r>
                      <a:r>
                        <a:rPr lang="ko-KR" sz="1200" b="0" i="0" u="none" strike="noStrike" kern="1200" smtClean="0">
                          <a:solidFill>
                            <a:schemeClr val="tx1"/>
                          </a:solidFill>
                          <a:latin typeface="+mn-ea"/>
                          <a:ea typeface="+mn-ea"/>
                          <a:cs typeface="+mn-cs"/>
                        </a:rPr>
                        <a:t>보안담당자</a:t>
                      </a:r>
                      <a:r>
                        <a:rPr lang="en-US" sz="1200" b="0" i="0" u="none" strike="noStrike" kern="1200">
                          <a:solidFill>
                            <a:schemeClr val="tx1"/>
                          </a:solidFill>
                          <a:latin typeface="+mn-ea"/>
                          <a:ea typeface="+mn-ea"/>
                          <a:cs typeface="+mn-cs"/>
                        </a:rPr>
                        <a:t>) </a:t>
                      </a:r>
                      <a:r>
                        <a:rPr lang="ko-KR" sz="1200" b="0" i="0" u="none" strike="noStrike" kern="1200">
                          <a:solidFill>
                            <a:schemeClr val="tx1"/>
                          </a:solidFill>
                          <a:latin typeface="+mn-ea"/>
                          <a:ea typeface="+mn-ea"/>
                          <a:cs typeface="+mn-cs"/>
                        </a:rPr>
                        <a:t>개별 생성</a:t>
                      </a:r>
                      <a:r>
                        <a:rPr lang="en-US" sz="1200" b="0" i="0" u="none" strike="noStrike" kern="1200">
                          <a:solidFill>
                            <a:schemeClr val="tx1"/>
                          </a:solidFill>
                          <a:latin typeface="+mn-ea"/>
                          <a:ea typeface="+mn-ea"/>
                          <a:cs typeface="+mn-cs"/>
                        </a:rPr>
                        <a:t>/</a:t>
                      </a:r>
                      <a:r>
                        <a:rPr lang="ko-KR" sz="1200" b="0" i="0" u="none" strike="noStrike" kern="1200">
                          <a:solidFill>
                            <a:schemeClr val="tx1"/>
                          </a:solidFill>
                          <a:latin typeface="+mn-ea"/>
                          <a:ea typeface="+mn-ea"/>
                          <a:cs typeface="+mn-cs"/>
                        </a:rPr>
                        <a:t>입력</a:t>
                      </a:r>
                      <a:r>
                        <a:rPr lang="en-US" sz="1200" b="0" i="0" u="none" strike="noStrike" kern="1200">
                          <a:solidFill>
                            <a:schemeClr val="tx1"/>
                          </a:solidFill>
                          <a:latin typeface="+mn-ea"/>
                          <a:ea typeface="+mn-ea"/>
                          <a:cs typeface="+mn-cs"/>
                        </a:rPr>
                        <a:t>/</a:t>
                      </a:r>
                      <a:r>
                        <a:rPr lang="ko-KR" sz="1200" b="0" i="0" u="none" strike="noStrike" kern="1200">
                          <a:solidFill>
                            <a:schemeClr val="tx1"/>
                          </a:solidFill>
                          <a:latin typeface="+mn-ea"/>
                          <a:ea typeface="+mn-ea"/>
                          <a:cs typeface="+mn-cs"/>
                        </a:rPr>
                        <a:t>보관</a:t>
                      </a:r>
                      <a:r>
                        <a:rPr lang="en-US" sz="1200" b="0" i="0" u="none" strike="noStrike" kern="1200">
                          <a:solidFill>
                            <a:schemeClr val="tx1"/>
                          </a:solidFill>
                          <a:latin typeface="+mn-ea"/>
                          <a:ea typeface="+mn-ea"/>
                          <a:cs typeface="+mn-cs"/>
                        </a:rPr>
                        <a:t>(</a:t>
                      </a:r>
                      <a:r>
                        <a:rPr lang="ko-KR" sz="1200" b="0" i="0" u="none" strike="noStrike" kern="1200">
                          <a:solidFill>
                            <a:schemeClr val="tx1"/>
                          </a:solidFill>
                          <a:latin typeface="+mn-ea"/>
                          <a:ea typeface="+mn-ea"/>
                          <a:cs typeface="+mn-cs"/>
                        </a:rPr>
                        <a:t>대외비</a:t>
                      </a:r>
                      <a:r>
                        <a:rPr lang="en-US" sz="1200" b="0" i="0" u="none" strike="noStrike" kern="1200">
                          <a:solidFill>
                            <a:schemeClr val="tx1"/>
                          </a:solidFill>
                          <a:latin typeface="+mn-ea"/>
                          <a:ea typeface="+mn-ea"/>
                          <a:cs typeface="+mn-cs"/>
                        </a:rPr>
                        <a:t>)</a:t>
                      </a:r>
                      <a:endParaRPr lang="ko-KR" sz="1200" b="0" i="0" u="none" strike="noStrike" kern="1200">
                        <a:solidFill>
                          <a:schemeClr val="tx1"/>
                        </a:solidFill>
                        <a:latin typeface="+mn-ea"/>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9699478"/>
                  </a:ext>
                </a:extLst>
              </a:tr>
              <a:tr h="348639">
                <a:tc rowSpan="2">
                  <a:txBody>
                    <a:bodyPr/>
                    <a:lstStyle/>
                    <a:p>
                      <a:pPr marL="0" algn="l" defTabSz="914400" rtl="0" eaLnBrk="1" fontAlgn="ctr" latinLnBrk="1" hangingPunct="1"/>
                      <a:r>
                        <a:rPr lang="ko-KR" altLang="en-US" sz="1200" b="0" i="0" u="none" strike="noStrike" kern="1200" smtClean="0">
                          <a:solidFill>
                            <a:schemeClr val="tx1"/>
                          </a:solidFill>
                          <a:latin typeface="+mn-ea"/>
                          <a:ea typeface="+mn-ea"/>
                          <a:cs typeface="+mn-cs"/>
                        </a:rPr>
                        <a:t>   암호키 폐기방법</a:t>
                      </a:r>
                      <a:endParaRPr lang="en-US" sz="1200" b="0" i="0" u="none" strike="noStrike" kern="1200" dirty="0">
                        <a:solidFill>
                          <a:schemeClr val="tx1"/>
                        </a:solidFill>
                        <a:latin typeface="+mn-ea"/>
                        <a:ea typeface="+mn-ea"/>
                        <a:cs typeface="+mn-cs"/>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323850" algn="l" defTabSz="914400" rtl="0" eaLnBrk="1" fontAlgn="ctr" latinLnBrk="1" hangingPunct="1">
                        <a:lnSpc>
                          <a:spcPct val="150000"/>
                        </a:lnSpc>
                        <a:spcBef>
                          <a:spcPts val="0"/>
                        </a:spcBef>
                        <a:spcAft>
                          <a:spcPts val="0"/>
                        </a:spcAft>
                        <a:buClrTx/>
                        <a:buSzTx/>
                        <a:buFontTx/>
                        <a:buNone/>
                        <a:tabLst>
                          <a:tab pos="575945" algn="l"/>
                          <a:tab pos="508000" algn="l"/>
                        </a:tabLst>
                        <a:defRPr/>
                      </a:pPr>
                      <a:r>
                        <a:rPr lang="ko-KR" alt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altLang="ko-KR" sz="1200" b="0" i="0" u="none" strike="noStrike" kern="1200" smtClean="0">
                          <a:solidFill>
                            <a:schemeClr val="tx1"/>
                          </a:solidFill>
                          <a:latin typeface="+mn-ea"/>
                          <a:ea typeface="+mn-ea"/>
                          <a:cs typeface="+mn-cs"/>
                        </a:rPr>
                        <a:t>키 노출 또는 해독 위험존재 시 암호화키 재생성 또는 암호화 메커니즘 변경 </a:t>
                      </a: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5105621"/>
                  </a:ext>
                </a:extLst>
              </a:tr>
              <a:tr h="348639">
                <a:tc vMerge="1">
                  <a:txBody>
                    <a:bodyPr/>
                    <a:lstStyle/>
                    <a:p>
                      <a:pPr marL="0" algn="l" defTabSz="914400" rtl="0" eaLnBrk="1" fontAlgn="ctr" latinLnBrk="1" hangingPunct="1"/>
                      <a:endParaRPr lang="en-US" sz="1200" b="0" i="0" u="none" strike="noStrike" kern="1200" dirty="0">
                        <a:solidFill>
                          <a:schemeClr val="tx1"/>
                        </a:solidFill>
                        <a:latin typeface="+mn-ea"/>
                        <a:ea typeface="+mn-ea"/>
                        <a:cs typeface="+mn-cs"/>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264160" algn="l" defTabSz="914400" rtl="0" eaLnBrk="1" fontAlgn="ctr" latinLnBrk="1" hangingPunct="1">
                        <a:lnSpc>
                          <a:spcPct val="150000"/>
                        </a:lnSpc>
                        <a:spcAft>
                          <a:spcPts val="0"/>
                        </a:spcAft>
                        <a:tabLst>
                          <a:tab pos="575945" algn="l"/>
                          <a:tab pos="508000" algn="l"/>
                        </a:tabLst>
                      </a:pPr>
                      <a:r>
                        <a:rPr 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sz="1200" b="0" i="0" u="none" strike="noStrike" kern="1200" smtClean="0">
                          <a:solidFill>
                            <a:schemeClr val="tx1"/>
                          </a:solidFill>
                          <a:latin typeface="+mn-ea"/>
                          <a:ea typeface="+mn-ea"/>
                          <a:cs typeface="+mn-cs"/>
                        </a:rPr>
                        <a:t>키 </a:t>
                      </a:r>
                      <a:r>
                        <a:rPr lang="ko-KR" sz="1200" b="0" i="0" u="none" strike="noStrike" kern="1200">
                          <a:solidFill>
                            <a:schemeClr val="tx1"/>
                          </a:solidFill>
                          <a:latin typeface="+mn-ea"/>
                          <a:ea typeface="+mn-ea"/>
                          <a:cs typeface="+mn-cs"/>
                        </a:rPr>
                        <a:t>유효기간 만료 시 키 재생성</a:t>
                      </a: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8843534"/>
                  </a:ext>
                </a:extLst>
              </a:tr>
            </a:tbl>
          </a:graphicData>
        </a:graphic>
      </p:graphicFrame>
      <p:sp>
        <p:nvSpPr>
          <p:cNvPr id="25" name="Rectangle 3"/>
          <p:cNvSpPr>
            <a:spLocks noChangeArrowheads="1"/>
          </p:cNvSpPr>
          <p:nvPr/>
        </p:nvSpPr>
        <p:spPr bwMode="auto">
          <a:xfrm>
            <a:off x="699993" y="1142438"/>
            <a:ext cx="8753507" cy="609398"/>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ko-KR" altLang="en-US" sz="1200" smtClean="0">
                <a:latin typeface="KB금융 본문체 Light" panose="020B0303000000000000" pitchFamily="50" charset="-127"/>
                <a:ea typeface="KB금융 본문체 Light" panose="020B0303000000000000" pitchFamily="50" charset="-127"/>
                <a:cs typeface="ヒラギノ角ゴ ProN W3"/>
              </a:rPr>
              <a:t>암호화 매커니즘</a:t>
            </a:r>
            <a:r>
              <a:rPr lang="en-US" altLang="ko-KR" sz="1200" smtClean="0">
                <a:latin typeface="KB금융 본문체 Light" panose="020B0303000000000000" pitchFamily="50" charset="-127"/>
                <a:ea typeface="KB금융 본문체 Light" panose="020B0303000000000000" pitchFamily="50" charset="-127"/>
                <a:cs typeface="ヒラギノ角ゴ ProN W3"/>
              </a:rPr>
              <a:t>(</a:t>
            </a:r>
            <a:r>
              <a:rPr lang="ko-KR" altLang="en-US" sz="1200" smtClean="0">
                <a:latin typeface="KB금융 본문체 Light" panose="020B0303000000000000" pitchFamily="50" charset="-127"/>
                <a:ea typeface="KB금융 본문체 Light" panose="020B0303000000000000" pitchFamily="50" charset="-127"/>
                <a:cs typeface="ヒラギノ角ゴ ProN W3"/>
              </a:rPr>
              <a:t>알고리즘</a:t>
            </a:r>
            <a:r>
              <a:rPr lang="en-US" altLang="ko-KR" sz="1200" smtClean="0">
                <a:latin typeface="KB금융 본문체 Light" panose="020B0303000000000000" pitchFamily="50" charset="-127"/>
                <a:ea typeface="KB금융 본문체 Light" panose="020B0303000000000000" pitchFamily="50" charset="-127"/>
                <a:cs typeface="ヒラギノ角ゴ ProN W3"/>
              </a:rPr>
              <a:t>, </a:t>
            </a:r>
            <a:r>
              <a:rPr lang="ko-KR" altLang="en-US" sz="1200" smtClean="0">
                <a:latin typeface="KB금융 본문체 Light" panose="020B0303000000000000" pitchFamily="50" charset="-127"/>
                <a:ea typeface="KB금융 본문체 Light" panose="020B0303000000000000" pitchFamily="50" charset="-127"/>
                <a:cs typeface="ヒラギノ角ゴ ProN W3"/>
              </a:rPr>
              <a:t>보안강도</a:t>
            </a:r>
            <a:r>
              <a:rPr lang="en-US" altLang="ko-KR" sz="1200" smtClean="0">
                <a:latin typeface="KB금융 본문체 Light" panose="020B0303000000000000" pitchFamily="50" charset="-127"/>
                <a:ea typeface="KB금융 본문체 Light" panose="020B0303000000000000" pitchFamily="50" charset="-127"/>
                <a:cs typeface="ヒラギノ角ゴ ProN W3"/>
              </a:rPr>
              <a:t>)</a:t>
            </a:r>
            <a:r>
              <a:rPr lang="ko-KR" altLang="en-US" sz="1200" smtClean="0">
                <a:latin typeface="KB금융 본문체 Light" panose="020B0303000000000000" pitchFamily="50" charset="-127"/>
                <a:ea typeface="KB금융 본문체 Light" panose="020B0303000000000000" pitchFamily="50" charset="-127"/>
                <a:cs typeface="ヒラギノ角ゴ ProN W3"/>
              </a:rPr>
              <a:t>은 </a:t>
            </a:r>
            <a:r>
              <a:rPr lang="en-US" altLang="ko-KR" sz="1200" b="1" u="sng" smtClean="0">
                <a:latin typeface="KB금융 본문체 Light" panose="020B0303000000000000" pitchFamily="50" charset="-127"/>
                <a:ea typeface="KB금융 본문체 Light" panose="020B0303000000000000" pitchFamily="50" charset="-127"/>
                <a:cs typeface="ヒラギノ角ゴ ProN W3"/>
              </a:rPr>
              <a:t>KISA</a:t>
            </a:r>
            <a:r>
              <a:rPr lang="ko-KR" altLang="en-US" sz="1200" b="1" u="sng" smtClean="0">
                <a:latin typeface="KB금융 본문체 Light" panose="020B0303000000000000" pitchFamily="50" charset="-127"/>
                <a:ea typeface="KB금융 본문체 Light" panose="020B0303000000000000" pitchFamily="50" charset="-127"/>
                <a:cs typeface="ヒラギノ角ゴ ProN W3"/>
              </a:rPr>
              <a:t>암호화 가이드 권고를 준수</a:t>
            </a:r>
            <a:r>
              <a:rPr lang="ko-KR" altLang="en-US" sz="1200" smtClean="0">
                <a:latin typeface="KB금융 본문체 Light" panose="020B0303000000000000" pitchFamily="50" charset="-127"/>
                <a:ea typeface="KB금융 본문체 Light" panose="020B0303000000000000" pitchFamily="50" charset="-127"/>
                <a:cs typeface="ヒラギノ角ゴ ProN W3"/>
              </a:rPr>
              <a:t>하여야 함</a:t>
            </a:r>
            <a:endParaRPr lang="en-US" altLang="ko-KR" sz="1200" smtClean="0">
              <a:latin typeface="KB금융 본문체 Light" panose="020B0303000000000000" pitchFamily="50" charset="-127"/>
              <a:ea typeface="KB금융 본문체 Light" panose="020B0303000000000000" pitchFamily="50" charset="-127"/>
              <a:cs typeface="ヒラギノ角ゴ ProN W3"/>
            </a:endParaRPr>
          </a:p>
          <a:p>
            <a:pPr marL="285750" indent="-285750">
              <a:lnSpc>
                <a:spcPct val="130000"/>
              </a:lnSpc>
              <a:spcBef>
                <a:spcPct val="20000"/>
              </a:spcBef>
              <a:buSzPct val="100000"/>
              <a:buFont typeface="Wingdings" panose="05000000000000000000" pitchFamily="2" charset="2"/>
              <a:buChar char="l"/>
            </a:pPr>
            <a:r>
              <a:rPr lang="ko-KR" altLang="en-US" sz="1200" smtClean="0">
                <a:latin typeface="KB금융 본문체 Light" panose="020B0303000000000000" pitchFamily="50" charset="-127"/>
                <a:ea typeface="KB금융 본문체 Light" panose="020B0303000000000000" pitchFamily="50" charset="-127"/>
                <a:cs typeface="ヒラギノ角ゴ ProN W3"/>
              </a:rPr>
              <a:t>암호키 유효기간은 법적 민감성</a:t>
            </a:r>
            <a:r>
              <a:rPr lang="en-US" altLang="ko-KR" sz="1200" smtClean="0">
                <a:latin typeface="KB금융 본문체 Light" panose="020B0303000000000000" pitchFamily="50" charset="-127"/>
                <a:ea typeface="KB금융 본문체 Light" panose="020B0303000000000000" pitchFamily="50" charset="-127"/>
                <a:cs typeface="ヒラギノ角ゴ ProN W3"/>
              </a:rPr>
              <a:t>, </a:t>
            </a:r>
            <a:r>
              <a:rPr lang="ko-KR" altLang="en-US" sz="1200" smtClean="0">
                <a:latin typeface="KB금융 본문체 Light" panose="020B0303000000000000" pitchFamily="50" charset="-127"/>
                <a:ea typeface="KB금융 본문체 Light" panose="020B0303000000000000" pitchFamily="50" charset="-127"/>
                <a:cs typeface="ヒラギノ角ゴ ProN W3"/>
              </a:rPr>
              <a:t>암호화 키관리 운영 환경의 보안수준 및 암호키 유출 시 복구비용을 고려하여 설정해야 함</a:t>
            </a:r>
            <a:endParaRPr lang="en-US" altLang="ko-KR" sz="1200"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10" name="Rectangle 3"/>
          <p:cNvSpPr>
            <a:spLocks noChangeArrowheads="1"/>
          </p:cNvSpPr>
          <p:nvPr/>
        </p:nvSpPr>
        <p:spPr bwMode="auto">
          <a:xfrm>
            <a:off x="416496" y="5942583"/>
            <a:ext cx="8183044" cy="480131"/>
          </a:xfrm>
          <a:prstGeom prst="rect">
            <a:avLst/>
          </a:prstGeom>
          <a:noFill/>
          <a:ln w="9525" algn="ctr">
            <a:noFill/>
            <a:miter lim="800000"/>
            <a:headEnd/>
            <a:tailEnd/>
          </a:ln>
          <a:effectLst/>
        </p:spPr>
        <p:txBody>
          <a:bodyPr wrap="square">
            <a:spAutoFit/>
          </a:bodyPr>
          <a:lstStyle/>
          <a:p>
            <a:pPr marL="171450" indent="-171450">
              <a:lnSpc>
                <a:spcPct val="130000"/>
              </a:lnSpc>
              <a:spcBef>
                <a:spcPct val="20000"/>
              </a:spcBef>
              <a:buSzPct val="100000"/>
              <a:buFont typeface="Arial" panose="020B0604020202020204" pitchFamily="34" charset="0"/>
              <a:buChar char="•"/>
            </a:pPr>
            <a:r>
              <a:rPr lang="ko-KR" altLang="en-US" sz="900" baseline="30000" smtClean="0">
                <a:latin typeface="KB금융 본문체 Light" panose="020B0303000000000000" pitchFamily="50" charset="-127"/>
                <a:ea typeface="KB금융 본문체 Light" panose="020B0303000000000000" pitchFamily="50" charset="-127"/>
                <a:cs typeface="ヒラギノ角ゴ ProN W3"/>
              </a:rPr>
              <a:t>주</a:t>
            </a:r>
            <a:r>
              <a:rPr lang="en-US" altLang="ko-KR" sz="900" baseline="30000" smtClean="0">
                <a:latin typeface="KB금융 본문체 Light" panose="020B0303000000000000" pitchFamily="50" charset="-127"/>
                <a:ea typeface="KB금융 본문체 Light" panose="020B0303000000000000" pitchFamily="50" charset="-127"/>
                <a:cs typeface="ヒラギノ角ゴ ProN W3"/>
              </a:rPr>
              <a:t>1)</a:t>
            </a:r>
            <a:r>
              <a:rPr lang="en-US" altLang="ko-KR" sz="900" smtClean="0">
                <a:latin typeface="KB금융 본문체 Light" panose="020B0303000000000000" pitchFamily="50" charset="-127"/>
                <a:ea typeface="KB금융 본문체 Light" panose="020B0303000000000000" pitchFamily="50" charset="-127"/>
                <a:cs typeface="ヒラギノ角ゴ ProN W3"/>
              </a:rPr>
              <a:t> </a:t>
            </a:r>
            <a:r>
              <a:rPr lang="ko-KR" altLang="en-US" sz="900" smtClean="0">
                <a:latin typeface="KB금융 본문체 Light" panose="020B0303000000000000" pitchFamily="50" charset="-127"/>
                <a:ea typeface="KB금융 본문체 Light" panose="020B0303000000000000" pitchFamily="50" charset="-127"/>
                <a:cs typeface="ヒラギノ角ゴ ProN W3"/>
              </a:rPr>
              <a:t>보안강도 </a:t>
            </a:r>
            <a:r>
              <a:rPr lang="en-US" altLang="ko-KR" sz="900" smtClean="0">
                <a:latin typeface="KB금융 본문체 Light" panose="020B0303000000000000" pitchFamily="50" charset="-127"/>
                <a:ea typeface="KB금융 본문체 Light" panose="020B0303000000000000" pitchFamily="50" charset="-127"/>
                <a:cs typeface="ヒラギノ角ゴ ProN W3"/>
              </a:rPr>
              <a:t>: </a:t>
            </a:r>
            <a:r>
              <a:rPr lang="ko-KR" altLang="en-US" sz="900" smtClean="0">
                <a:latin typeface="KB금융 본문체 Light" panose="020B0303000000000000" pitchFamily="50" charset="-127"/>
                <a:ea typeface="KB금융 본문체 Light" panose="020B0303000000000000" pitchFamily="50" charset="-127"/>
                <a:cs typeface="ヒラギノ角ゴ ProN W3"/>
              </a:rPr>
              <a:t>암호 </a:t>
            </a:r>
            <a:r>
              <a:rPr lang="ko-KR" altLang="en-US" sz="900">
                <a:latin typeface="KB금융 본문체 Light" panose="020B0303000000000000" pitchFamily="50" charset="-127"/>
                <a:ea typeface="KB금융 본문체 Light" panose="020B0303000000000000" pitchFamily="50" charset="-127"/>
                <a:cs typeface="ヒラギノ角ゴ ProN W3"/>
              </a:rPr>
              <a:t>알고리즘이나 시스템의 암호키 또는 해시함수의 취약성을 찾아내는데 소요되는 작업량을 수치화한 것으로 </a:t>
            </a:r>
            <a:r>
              <a:rPr lang="en-US" altLang="ko-KR" sz="900" smtClean="0">
                <a:latin typeface="KB금융 본문체 Light" panose="020B0303000000000000" pitchFamily="50" charset="-127"/>
                <a:ea typeface="KB금융 본문체 Light" panose="020B0303000000000000" pitchFamily="50" charset="-127"/>
                <a:cs typeface="ヒラギノ角ゴ ProN W3"/>
              </a:rPr>
              <a:t>112</a:t>
            </a:r>
            <a:r>
              <a:rPr lang="ko-KR" altLang="en-US" sz="900" baseline="30000" smtClean="0">
                <a:latin typeface="KB금융 본문체 Light" panose="020B0303000000000000" pitchFamily="50" charset="-127"/>
                <a:ea typeface="KB금융 본문체 Light" panose="020B0303000000000000" pitchFamily="50" charset="-127"/>
                <a:cs typeface="ヒラギノ角ゴ ProN W3"/>
              </a:rPr>
              <a:t>주</a:t>
            </a:r>
            <a:r>
              <a:rPr lang="en-US" altLang="ko-KR" sz="900" baseline="30000" smtClean="0">
                <a:latin typeface="KB금융 본문체 Light" panose="020B0303000000000000" pitchFamily="50" charset="-127"/>
                <a:ea typeface="KB금융 본문체 Light" panose="020B0303000000000000" pitchFamily="50" charset="-127"/>
                <a:cs typeface="ヒラギノ角ゴ ProN W3"/>
              </a:rPr>
              <a:t>2)</a:t>
            </a:r>
            <a:r>
              <a:rPr lang="en-US" altLang="ko-KR" sz="900" smtClean="0">
                <a:latin typeface="KB금융 본문체 Light" panose="020B0303000000000000" pitchFamily="50" charset="-127"/>
                <a:ea typeface="KB금융 본문체 Light" panose="020B0303000000000000" pitchFamily="50" charset="-127"/>
                <a:cs typeface="ヒラギノ角ゴ ProN W3"/>
              </a:rPr>
              <a:t>, </a:t>
            </a:r>
            <a:r>
              <a:rPr lang="en-US" altLang="ko-KR" sz="900">
                <a:latin typeface="KB금융 본문체 Light" panose="020B0303000000000000" pitchFamily="50" charset="-127"/>
                <a:ea typeface="KB금융 본문체 Light" panose="020B0303000000000000" pitchFamily="50" charset="-127"/>
                <a:cs typeface="ヒラギノ角ゴ ProN W3"/>
              </a:rPr>
              <a:t>128, 192, </a:t>
            </a:r>
            <a:r>
              <a:rPr lang="en-US" altLang="ko-KR" sz="900" smtClean="0">
                <a:latin typeface="KB금융 본문체 Light" panose="020B0303000000000000" pitchFamily="50" charset="-127"/>
                <a:ea typeface="KB금융 본문체 Light" panose="020B0303000000000000" pitchFamily="50" charset="-127"/>
                <a:cs typeface="ヒラギノ角ゴ ProN W3"/>
              </a:rPr>
              <a:t>256 </a:t>
            </a:r>
            <a:r>
              <a:rPr lang="ko-KR" altLang="en-US" sz="900">
                <a:latin typeface="KB금융 본문체 Light" panose="020B0303000000000000" pitchFamily="50" charset="-127"/>
                <a:ea typeface="KB금융 본문체 Light" panose="020B0303000000000000" pitchFamily="50" charset="-127"/>
                <a:cs typeface="ヒラギノ角ゴ ProN W3"/>
              </a:rPr>
              <a:t>비트로 </a:t>
            </a:r>
            <a:r>
              <a:rPr lang="ko-KR" altLang="en-US" sz="900" smtClean="0">
                <a:latin typeface="KB금융 본문체 Light" panose="020B0303000000000000" pitchFamily="50" charset="-127"/>
                <a:ea typeface="KB금융 본문체 Light" panose="020B0303000000000000" pitchFamily="50" charset="-127"/>
                <a:cs typeface="ヒラギノ角ゴ ProN W3"/>
              </a:rPr>
              <a:t>정의</a:t>
            </a:r>
            <a:endParaRPr lang="en-US" altLang="ko-KR" sz="900" smtClean="0">
              <a:latin typeface="KB금융 본문체 Light" panose="020B0303000000000000" pitchFamily="50" charset="-127"/>
              <a:ea typeface="KB금융 본문체 Light" panose="020B0303000000000000" pitchFamily="50" charset="-127"/>
              <a:cs typeface="ヒラギノ角ゴ ProN W3"/>
            </a:endParaRPr>
          </a:p>
          <a:p>
            <a:pPr marL="171450" indent="-171450">
              <a:lnSpc>
                <a:spcPct val="130000"/>
              </a:lnSpc>
              <a:spcBef>
                <a:spcPct val="20000"/>
              </a:spcBef>
              <a:buSzPct val="100000"/>
              <a:buFont typeface="Arial" panose="020B0604020202020204" pitchFamily="34" charset="0"/>
              <a:buChar char="•"/>
            </a:pPr>
            <a:r>
              <a:rPr lang="ko-KR" altLang="en-US" sz="900" baseline="30000">
                <a:latin typeface="KB금융 본문체 Light" panose="020B0303000000000000" pitchFamily="50" charset="-127"/>
                <a:ea typeface="KB금융 본문체 Light" panose="020B0303000000000000" pitchFamily="50" charset="-127"/>
                <a:cs typeface="ヒラギノ角ゴ ProN W3"/>
              </a:rPr>
              <a:t>주</a:t>
            </a:r>
            <a:r>
              <a:rPr lang="en-US" altLang="ko-KR" sz="900" baseline="30000">
                <a:latin typeface="KB금융 본문체 Light" panose="020B0303000000000000" pitchFamily="50" charset="-127"/>
                <a:ea typeface="KB금융 본문체 Light" panose="020B0303000000000000" pitchFamily="50" charset="-127"/>
                <a:cs typeface="ヒラギノ角ゴ ProN W3"/>
              </a:rPr>
              <a:t>2)</a:t>
            </a:r>
            <a:r>
              <a:rPr lang="en-US" altLang="ko-KR" sz="900">
                <a:latin typeface="KB금융 본문체 Light" panose="020B0303000000000000" pitchFamily="50" charset="-127"/>
                <a:ea typeface="KB금융 본문체 Light" panose="020B0303000000000000" pitchFamily="50" charset="-127"/>
                <a:cs typeface="ヒラギノ角ゴ ProN W3"/>
              </a:rPr>
              <a:t> </a:t>
            </a:r>
            <a:r>
              <a:rPr lang="en-US" altLang="ko-KR" sz="900" smtClean="0">
                <a:latin typeface="KB금융 본문체 Light" panose="020B0303000000000000" pitchFamily="50" charset="-127"/>
                <a:ea typeface="KB금융 본문체 Light" panose="020B0303000000000000" pitchFamily="50" charset="-127"/>
                <a:cs typeface="ヒラギノ角ゴ ProN W3"/>
              </a:rPr>
              <a:t>112 </a:t>
            </a:r>
            <a:r>
              <a:rPr lang="ko-KR" altLang="en-US" sz="900" smtClean="0">
                <a:latin typeface="KB금융 본문체 Light" panose="020B0303000000000000" pitchFamily="50" charset="-127"/>
                <a:ea typeface="KB금융 본문체 Light" panose="020B0303000000000000" pitchFamily="50" charset="-127"/>
                <a:cs typeface="ヒラギノ角ゴ ProN W3"/>
              </a:rPr>
              <a:t>비트의 </a:t>
            </a:r>
            <a:r>
              <a:rPr lang="ko-KR" altLang="en-US" sz="900">
                <a:latin typeface="KB금융 본문체 Light" panose="020B0303000000000000" pitchFamily="50" charset="-127"/>
                <a:ea typeface="KB금융 본문체 Light" panose="020B0303000000000000" pitchFamily="50" charset="-127"/>
                <a:cs typeface="ヒラギノ角ゴ ProN W3"/>
              </a:rPr>
              <a:t>보안강도</a:t>
            </a:r>
            <a:r>
              <a:rPr lang="en-US" altLang="ko-KR" sz="900">
                <a:latin typeface="KB금융 본문체 Light" panose="020B0303000000000000" pitchFamily="50" charset="-127"/>
                <a:ea typeface="KB금융 본문체 Light" panose="020B0303000000000000" pitchFamily="50" charset="-127"/>
                <a:cs typeface="ヒラギノ角ゴ ProN W3"/>
              </a:rPr>
              <a:t> : 2</a:t>
            </a:r>
            <a:r>
              <a:rPr lang="en-US" altLang="ko-KR" sz="900" baseline="30000">
                <a:latin typeface="KB금융 본문체 Light" panose="020B0303000000000000" pitchFamily="50" charset="-127"/>
                <a:ea typeface="KB금융 본문체 Light" panose="020B0303000000000000" pitchFamily="50" charset="-127"/>
                <a:cs typeface="ヒラギノ角ゴ ProN W3"/>
              </a:rPr>
              <a:t>112</a:t>
            </a:r>
            <a:r>
              <a:rPr lang="en-US" altLang="ko-KR" sz="900">
                <a:latin typeface="KB금융 본문체 Light" panose="020B0303000000000000" pitchFamily="50" charset="-127"/>
                <a:ea typeface="KB금융 본문체 Light" panose="020B0303000000000000" pitchFamily="50" charset="-127"/>
                <a:cs typeface="ヒラギノ角ゴ ProN W3"/>
              </a:rPr>
              <a:t> </a:t>
            </a:r>
            <a:r>
              <a:rPr lang="ko-KR" altLang="en-US" sz="900">
                <a:latin typeface="KB금융 본문체 Light" panose="020B0303000000000000" pitchFamily="50" charset="-127"/>
                <a:ea typeface="KB금융 본문체 Light" panose="020B0303000000000000" pitchFamily="50" charset="-127"/>
                <a:cs typeface="ヒラギノ角ゴ ProN W3"/>
              </a:rPr>
              <a:t>번의 계산을 해야 암호키 또는 암호 알고리즘의 취약성을 알아낼 수 있음을 </a:t>
            </a:r>
            <a:r>
              <a:rPr lang="ko-KR" altLang="en-US" sz="900" smtClean="0">
                <a:latin typeface="KB금융 본문체 Light" panose="020B0303000000000000" pitchFamily="50" charset="-127"/>
                <a:ea typeface="KB금융 본문체 Light" panose="020B0303000000000000" pitchFamily="50" charset="-127"/>
                <a:cs typeface="ヒラギノ角ゴ ProN W3"/>
              </a:rPr>
              <a:t>의미</a:t>
            </a:r>
            <a:endParaRPr lang="en-US" altLang="ko-KR" sz="900">
              <a:latin typeface="KB금융 본문체 Light" panose="020B0303000000000000" pitchFamily="50" charset="-127"/>
              <a:ea typeface="KB금융 본문체 Light" panose="020B0303000000000000" pitchFamily="50" charset="-127"/>
              <a:cs typeface="ヒラギノ角ゴ ProN W3"/>
            </a:endParaRPr>
          </a:p>
        </p:txBody>
      </p:sp>
    </p:spTree>
    <p:extLst>
      <p:ext uri="{BB962C8B-B14F-4D97-AF65-F5344CB8AC3E}">
        <p14:creationId xmlns:p14="http://schemas.microsoft.com/office/powerpoint/2010/main" val="9161328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en-US" altLang="ko-KR" dirty="0"/>
              <a:t>5</a:t>
            </a:r>
            <a:r>
              <a:rPr lang="en-US" altLang="ko-KR" smtClean="0"/>
              <a:t>. </a:t>
            </a:r>
            <a:r>
              <a:rPr lang="ko-KR" altLang="en-US" smtClean="0"/>
              <a:t>암호화 처리방법</a:t>
            </a:r>
            <a:r>
              <a:rPr lang="en-US" altLang="ko-KR" smtClean="0"/>
              <a:t>(1/2)</a:t>
            </a:r>
            <a:endParaRPr lang="ko-KR" altLang="en-US" dirty="0"/>
          </a:p>
        </p:txBody>
      </p:sp>
      <p:sp>
        <p:nvSpPr>
          <p:cNvPr id="56" name="Rectangle 3"/>
          <p:cNvSpPr>
            <a:spLocks noChangeArrowheads="1"/>
          </p:cNvSpPr>
          <p:nvPr/>
        </p:nvSpPr>
        <p:spPr bwMode="auto">
          <a:xfrm>
            <a:off x="308484" y="764704"/>
            <a:ext cx="9144000" cy="372410"/>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ko-KR" altLang="en-US" sz="1400" b="1" smtClean="0">
                <a:solidFill>
                  <a:srgbClr val="FF0000"/>
                </a:solidFill>
                <a:latin typeface="KB금융 본문체 Light" panose="020B0303000000000000" pitchFamily="50" charset="-127"/>
                <a:ea typeface="KB금융 본문체 Light" panose="020B0303000000000000" pitchFamily="50" charset="-127"/>
                <a:cs typeface="ヒラギノ角ゴ ProN W3"/>
              </a:rPr>
              <a:t>당행 </a:t>
            </a:r>
            <a:r>
              <a:rPr lang="en-US" altLang="ko-KR" sz="1400" b="1" smtClean="0">
                <a:solidFill>
                  <a:srgbClr val="FF0000"/>
                </a:solidFill>
                <a:latin typeface="KB금융 본문체 Light" panose="020B0303000000000000" pitchFamily="50" charset="-127"/>
                <a:ea typeface="KB금융 본문체 Light" panose="020B0303000000000000" pitchFamily="50" charset="-127"/>
                <a:cs typeface="ヒラギノ角ゴ ProN W3"/>
              </a:rPr>
              <a:t>DB </a:t>
            </a:r>
            <a:r>
              <a:rPr lang="ko-KR" altLang="en-US" sz="1400" b="1">
                <a:solidFill>
                  <a:srgbClr val="FF0000"/>
                </a:solidFill>
                <a:latin typeface="KB금융 본문체 Light" panose="020B0303000000000000" pitchFamily="50" charset="-127"/>
                <a:ea typeface="KB금융 본문체 Light" panose="020B0303000000000000" pitchFamily="50" charset="-127"/>
                <a:cs typeface="ヒラギノ角ゴ ProN W3"/>
              </a:rPr>
              <a:t>암호화 흐름도</a:t>
            </a:r>
            <a:endParaRPr lang="en-US" altLang="ko-KR" sz="1400" b="1" dirty="0">
              <a:solidFill>
                <a:srgbClr val="FF0000"/>
              </a:solidFill>
              <a:latin typeface="KB금융 본문체 Light" panose="020B0303000000000000" pitchFamily="50" charset="-127"/>
              <a:ea typeface="KB금융 본문체 Light" panose="020B0303000000000000" pitchFamily="50" charset="-127"/>
              <a:cs typeface="ヒラギノ角ゴ ProN W3"/>
            </a:endParaRPr>
          </a:p>
        </p:txBody>
      </p:sp>
      <p:sp>
        <p:nvSpPr>
          <p:cNvPr id="25" name="Rectangle 3"/>
          <p:cNvSpPr>
            <a:spLocks noChangeArrowheads="1"/>
          </p:cNvSpPr>
          <p:nvPr/>
        </p:nvSpPr>
        <p:spPr bwMode="auto">
          <a:xfrm>
            <a:off x="699993" y="1142438"/>
            <a:ext cx="8753507" cy="572464"/>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ko-KR" altLang="en-US" sz="1200">
                <a:latin typeface="KB금융 본문체 Light" panose="020B0303000000000000" pitchFamily="50" charset="-127"/>
                <a:ea typeface="KB금융 본문체 Light" panose="020B0303000000000000" pitchFamily="50" charset="-127"/>
                <a:cs typeface="ヒラギノ角ゴ ProN W3"/>
              </a:rPr>
              <a:t>테이블 컬럼 중 고유식별정보</a:t>
            </a:r>
            <a:r>
              <a:rPr lang="en-US" altLang="ko-KR" sz="1200">
                <a:latin typeface="KB금융 본문체 Light" panose="020B0303000000000000" pitchFamily="50" charset="-127"/>
                <a:ea typeface="KB금융 본문체 Light" panose="020B0303000000000000" pitchFamily="50" charset="-127"/>
                <a:cs typeface="ヒラギノ角ゴ ProN W3"/>
              </a:rPr>
              <a:t>(</a:t>
            </a:r>
            <a:r>
              <a:rPr lang="ko-KR" altLang="en-US" sz="1200">
                <a:latin typeface="KB금융 본문체 Light" panose="020B0303000000000000" pitchFamily="50" charset="-127"/>
                <a:ea typeface="KB금융 본문체 Light" panose="020B0303000000000000" pitchFamily="50" charset="-127"/>
                <a:cs typeface="ヒラギノ角ゴ ProN W3"/>
              </a:rPr>
              <a:t>주민번호 등</a:t>
            </a:r>
            <a:r>
              <a:rPr lang="en-US" altLang="ko-KR" sz="1200">
                <a:latin typeface="KB금융 본문체 Light" panose="020B0303000000000000" pitchFamily="50" charset="-127"/>
                <a:ea typeface="KB금융 본문체 Light" panose="020B0303000000000000" pitchFamily="50" charset="-127"/>
                <a:cs typeface="ヒラギノ角ゴ ProN W3"/>
              </a:rPr>
              <a:t>)</a:t>
            </a:r>
            <a:r>
              <a:rPr lang="ko-KR" altLang="en-US" sz="1200">
                <a:latin typeface="KB금융 본문체 Light" panose="020B0303000000000000" pitchFamily="50" charset="-127"/>
                <a:ea typeface="KB금융 본문체 Light" panose="020B0303000000000000" pitchFamily="50" charset="-127"/>
                <a:cs typeface="ヒラギノ角ゴ ProN W3"/>
              </a:rPr>
              <a:t>에 해당하는 경우 </a:t>
            </a:r>
            <a:r>
              <a:rPr lang="ko-KR" altLang="en-US" sz="1200" smtClean="0">
                <a:latin typeface="KB금융 본문체 Light" panose="020B0303000000000000" pitchFamily="50" charset="-127"/>
                <a:ea typeface="KB금융 본문체 Light" panose="020B0303000000000000" pitchFamily="50" charset="-127"/>
                <a:cs typeface="ヒラギノ角ゴ ProN W3"/>
              </a:rPr>
              <a:t>업무프로그램이 데이터를 저장하는 </a:t>
            </a:r>
            <a:r>
              <a:rPr lang="ko-KR" altLang="en-US" sz="1200">
                <a:latin typeface="KB금융 본문체 Light" panose="020B0303000000000000" pitchFamily="50" charset="-127"/>
                <a:ea typeface="KB금융 본문체 Light" panose="020B0303000000000000" pitchFamily="50" charset="-127"/>
                <a:cs typeface="ヒラギノ角ゴ ProN W3"/>
              </a:rPr>
              <a:t>시점에 암호화 되고</a:t>
            </a:r>
            <a:r>
              <a:rPr lang="en-US" altLang="ko-KR" sz="1200">
                <a:latin typeface="KB금융 본문체 Light" panose="020B0303000000000000" pitchFamily="50" charset="-127"/>
                <a:ea typeface="KB금융 본문체 Light" panose="020B0303000000000000" pitchFamily="50" charset="-127"/>
                <a:cs typeface="ヒラギノ角ゴ ProN W3"/>
              </a:rPr>
              <a:t>, </a:t>
            </a:r>
            <a:r>
              <a:rPr lang="ko-KR" altLang="en-US" sz="1200" smtClean="0">
                <a:latin typeface="KB금융 본문체 Light" panose="020B0303000000000000" pitchFamily="50" charset="-127"/>
                <a:ea typeface="KB금융 본문체 Light" panose="020B0303000000000000" pitchFamily="50" charset="-127"/>
                <a:cs typeface="ヒラギノ角ゴ ProN W3"/>
              </a:rPr>
              <a:t>저장 데이터 참조하는 시점에 복호화함으로써 고유식별번호의 암호화가 유지됨</a:t>
            </a:r>
            <a:endParaRPr lang="en-US" altLang="ko-KR" sz="1200" baseline="3000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71" name="AutoShape 147"/>
          <p:cNvSpPr>
            <a:spLocks noChangeArrowheads="1"/>
          </p:cNvSpPr>
          <p:nvPr/>
        </p:nvSpPr>
        <p:spPr bwMode="auto">
          <a:xfrm>
            <a:off x="463997" y="1808820"/>
            <a:ext cx="9072000" cy="3888432"/>
          </a:xfrm>
          <a:prstGeom prst="roundRect">
            <a:avLst>
              <a:gd name="adj" fmla="val 1347"/>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defTabSz="550863"/>
            <a:endParaRPr lang="ko-KR" altLang="ko-KR" sz="600">
              <a:solidFill>
                <a:srgbClr val="000000"/>
              </a:solidFill>
              <a:latin typeface="맑은 고딕" pitchFamily="50" charset="-127"/>
              <a:ea typeface="맑은 고딕" pitchFamily="50" charset="-127"/>
            </a:endParaRPr>
          </a:p>
        </p:txBody>
      </p:sp>
      <p:sp>
        <p:nvSpPr>
          <p:cNvPr id="73" name="Rectangle 8"/>
          <p:cNvSpPr>
            <a:spLocks noChangeArrowheads="1"/>
          </p:cNvSpPr>
          <p:nvPr/>
        </p:nvSpPr>
        <p:spPr bwMode="gray">
          <a:xfrm>
            <a:off x="2936751" y="2518551"/>
            <a:ext cx="1356520" cy="554407"/>
          </a:xfrm>
          <a:prstGeom prst="rect">
            <a:avLst/>
          </a:prstGeom>
          <a:noFill/>
          <a:ln w="9525" algn="ctr">
            <a:solidFill>
              <a:schemeClr val="bg1">
                <a:lumMod val="50000"/>
              </a:schemeClr>
            </a:solidFill>
            <a:miter lim="800000"/>
            <a:headEnd/>
            <a:tailEnd/>
          </a:ln>
        </p:spPr>
        <p:txBody>
          <a:bodyPr wrap="square" lIns="92075" tIns="46038" rIns="92075" bIns="46038" anchor="ctr"/>
          <a:lstStyle/>
          <a:p>
            <a:pPr algn="ctr" eaLnBrk="0" latinLnBrk="0" hangingPunct="0">
              <a:spcBef>
                <a:spcPct val="50000"/>
              </a:spcBef>
              <a:defRPr/>
            </a:pPr>
            <a:r>
              <a:rPr lang="en-US" altLang="ko-KR" sz="1100" dirty="0" smtClean="0">
                <a:latin typeface="KB금융 제목체 Bold" panose="020B0803000000000000" pitchFamily="50" charset="-127"/>
                <a:ea typeface="KB금융 제목체 Bold" panose="020B0803000000000000" pitchFamily="50" charset="-127"/>
              </a:rPr>
              <a:t>MCI</a:t>
            </a:r>
          </a:p>
        </p:txBody>
      </p:sp>
      <p:sp>
        <p:nvSpPr>
          <p:cNvPr id="76" name="순서도: 자기 디스크 75"/>
          <p:cNvSpPr/>
          <p:nvPr/>
        </p:nvSpPr>
        <p:spPr bwMode="auto">
          <a:xfrm>
            <a:off x="2954213" y="4706892"/>
            <a:ext cx="1329534" cy="736421"/>
          </a:xfrm>
          <a:prstGeom prst="flowChartMagneticDisk">
            <a:avLst/>
          </a:prstGeom>
          <a:noFill/>
          <a:ln w="9525" cap="flat" cmpd="sng" algn="ctr">
            <a:solidFill>
              <a:schemeClr val="bg1">
                <a:lumMod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ko-KR" altLang="en-US" sz="1300" i="0" u="none" strike="noStrike" cap="none" normalizeH="0" baseline="0" smtClean="0">
              <a:ln>
                <a:noFill/>
              </a:ln>
              <a:solidFill>
                <a:schemeClr val="tx1"/>
              </a:solidFill>
              <a:effectLst/>
              <a:latin typeface="KB금융 본문체 Light" panose="020B0303000000000000" pitchFamily="50" charset="-127"/>
              <a:ea typeface="KB금융 본문체 Light" panose="020B0303000000000000" pitchFamily="50" charset="-127"/>
            </a:endParaRPr>
          </a:p>
        </p:txBody>
      </p:sp>
      <p:sp>
        <p:nvSpPr>
          <p:cNvPr id="77" name="Rectangle 8"/>
          <p:cNvSpPr>
            <a:spLocks noChangeArrowheads="1"/>
          </p:cNvSpPr>
          <p:nvPr/>
        </p:nvSpPr>
        <p:spPr bwMode="gray">
          <a:xfrm>
            <a:off x="1954088" y="3593893"/>
            <a:ext cx="943370" cy="242684"/>
          </a:xfrm>
          <a:prstGeom prst="rect">
            <a:avLst/>
          </a:prstGeom>
          <a:noFill/>
          <a:ln w="9525" algn="ctr">
            <a:noFill/>
            <a:miter lim="800000"/>
            <a:headEnd/>
            <a:tailEnd/>
          </a:ln>
        </p:spPr>
        <p:txBody>
          <a:bodyPr wrap="square" lIns="0" tIns="36000" rIns="0" bIns="36000" anchor="ctr"/>
          <a:lstStyle/>
          <a:p>
            <a:pPr algn="ctr" eaLnBrk="0" latinLnBrk="0" hangingPunct="0">
              <a:spcBef>
                <a:spcPct val="50000"/>
              </a:spcBef>
              <a:defRPr/>
            </a:pPr>
            <a:r>
              <a:rPr lang="ko-KR" altLang="en-US" sz="900" smtClean="0">
                <a:latin typeface="KB금융 본문체 Light" panose="020B0303000000000000" pitchFamily="50" charset="-127"/>
                <a:ea typeface="KB금융 본문체 Light" panose="020B0303000000000000" pitchFamily="50" charset="-127"/>
              </a:rPr>
              <a:t>①고유식별번호</a:t>
            </a:r>
            <a:r>
              <a:rPr lang="en-US" altLang="ko-KR" sz="900" smtClean="0">
                <a:latin typeface="KB금융 본문체 Light" panose="020B0303000000000000" pitchFamily="50" charset="-127"/>
                <a:ea typeface="KB금융 본문체 Light" panose="020B0303000000000000" pitchFamily="50" charset="-127"/>
              </a:rPr>
              <a:t/>
            </a:r>
            <a:br>
              <a:rPr lang="en-US" altLang="ko-KR" sz="900" smtClean="0">
                <a:latin typeface="KB금융 본문체 Light" panose="020B0303000000000000" pitchFamily="50" charset="-127"/>
                <a:ea typeface="KB금융 본문체 Light" panose="020B0303000000000000" pitchFamily="50" charset="-127"/>
              </a:rPr>
            </a:br>
            <a:r>
              <a:rPr lang="en-US" altLang="ko-KR" sz="900" smtClean="0">
                <a:latin typeface="KB금융 본문체 Light" panose="020B0303000000000000" pitchFamily="50" charset="-127"/>
                <a:ea typeface="KB금융 본문체 Light" panose="020B0303000000000000" pitchFamily="50" charset="-127"/>
              </a:rPr>
              <a:t>(</a:t>
            </a:r>
            <a:r>
              <a:rPr lang="ko-KR" altLang="en-US" sz="900" smtClean="0">
                <a:latin typeface="KB금융 본문체 Light" panose="020B0303000000000000" pitchFamily="50" charset="-127"/>
                <a:ea typeface="KB금융 본문체 Light" panose="020B0303000000000000" pitchFamily="50" charset="-127"/>
              </a:rPr>
              <a:t>평문</a:t>
            </a:r>
            <a:r>
              <a:rPr lang="en-US" altLang="ko-KR" sz="900" smtClean="0">
                <a:latin typeface="KB금융 본문체 Light" panose="020B0303000000000000" pitchFamily="50" charset="-127"/>
                <a:ea typeface="KB금융 본문체 Light" panose="020B0303000000000000" pitchFamily="50" charset="-127"/>
              </a:rPr>
              <a:t>)</a:t>
            </a:r>
            <a:endParaRPr lang="en-US" altLang="ko-KR" sz="900" dirty="0" smtClean="0">
              <a:latin typeface="KB금융 본문체 Light" panose="020B0303000000000000" pitchFamily="50" charset="-127"/>
              <a:ea typeface="KB금융 본문체 Light" panose="020B0303000000000000" pitchFamily="50" charset="-127"/>
            </a:endParaRPr>
          </a:p>
        </p:txBody>
      </p:sp>
      <p:sp>
        <p:nvSpPr>
          <p:cNvPr id="78" name="Rectangle 8"/>
          <p:cNvSpPr>
            <a:spLocks noChangeArrowheads="1"/>
          </p:cNvSpPr>
          <p:nvPr/>
        </p:nvSpPr>
        <p:spPr bwMode="gray">
          <a:xfrm>
            <a:off x="3345529" y="4706892"/>
            <a:ext cx="535783" cy="242684"/>
          </a:xfrm>
          <a:prstGeom prst="rect">
            <a:avLst/>
          </a:prstGeom>
          <a:noFill/>
          <a:ln w="9525" algn="ctr">
            <a:noFill/>
            <a:miter lim="800000"/>
            <a:headEnd/>
            <a:tailEnd/>
          </a:ln>
        </p:spPr>
        <p:txBody>
          <a:bodyPr wrap="none" lIns="92075" tIns="46038" rIns="92075" bIns="46038" anchor="ctr"/>
          <a:lstStyle/>
          <a:p>
            <a:pPr algn="ctr" eaLnBrk="0" latinLnBrk="0" hangingPunct="0">
              <a:spcBef>
                <a:spcPct val="50000"/>
              </a:spcBef>
              <a:defRPr/>
            </a:pPr>
            <a:r>
              <a:rPr lang="ko-KR" altLang="en-US" sz="1100" dirty="0" smtClean="0">
                <a:latin typeface="KB금융 제목체 Bold" panose="020B0803000000000000" pitchFamily="50" charset="-127"/>
                <a:ea typeface="KB금융 제목체 Bold" panose="020B0803000000000000" pitchFamily="50" charset="-127"/>
              </a:rPr>
              <a:t>고객원장 테이블</a:t>
            </a:r>
            <a:endParaRPr lang="en-US" altLang="ko-KR" sz="1100" dirty="0" smtClean="0">
              <a:latin typeface="KB금융 제목체 Bold" panose="020B0803000000000000" pitchFamily="50" charset="-127"/>
              <a:ea typeface="KB금융 제목체 Bold" panose="020B0803000000000000" pitchFamily="50" charset="-127"/>
            </a:endParaRPr>
          </a:p>
        </p:txBody>
      </p:sp>
      <p:sp>
        <p:nvSpPr>
          <p:cNvPr id="79" name="Rectangle 8"/>
          <p:cNvSpPr>
            <a:spLocks noChangeArrowheads="1"/>
          </p:cNvSpPr>
          <p:nvPr/>
        </p:nvSpPr>
        <p:spPr bwMode="gray">
          <a:xfrm>
            <a:off x="3250282" y="5041628"/>
            <a:ext cx="784225" cy="284658"/>
          </a:xfrm>
          <a:prstGeom prst="rect">
            <a:avLst/>
          </a:prstGeom>
          <a:noFill/>
          <a:ln w="9525" algn="ctr">
            <a:solidFill>
              <a:schemeClr val="bg1">
                <a:lumMod val="65000"/>
              </a:schemeClr>
            </a:solidFill>
            <a:miter lim="800000"/>
            <a:headEnd/>
            <a:tailEnd/>
          </a:ln>
        </p:spPr>
        <p:txBody>
          <a:bodyPr wrap="none" lIns="92075" tIns="46038" rIns="92075" bIns="46038" anchor="ctr"/>
          <a:lstStyle/>
          <a:p>
            <a:pPr algn="ctr" eaLnBrk="0" latinLnBrk="0" hangingPunct="0">
              <a:spcBef>
                <a:spcPct val="50000"/>
              </a:spcBef>
              <a:defRPr/>
            </a:pPr>
            <a:r>
              <a:rPr lang="ko-KR" altLang="en-US" sz="900" dirty="0" smtClean="0">
                <a:latin typeface="KB금융 본문체 Light" panose="020B0303000000000000" pitchFamily="50" charset="-127"/>
                <a:ea typeface="KB금융 본문체 Light" panose="020B0303000000000000" pitchFamily="50" charset="-127"/>
              </a:rPr>
              <a:t>암호화 </a:t>
            </a:r>
            <a:r>
              <a:rPr lang="en-US" altLang="ko-KR" sz="900" smtClean="0">
                <a:latin typeface="KB금융 본문체 Light" panose="020B0303000000000000" pitchFamily="50" charset="-127"/>
                <a:ea typeface="KB금융 본문체 Light" panose="020B0303000000000000" pitchFamily="50" charset="-127"/>
              </a:rPr>
              <a:t/>
            </a:r>
            <a:br>
              <a:rPr lang="en-US" altLang="ko-KR" sz="900" smtClean="0">
                <a:latin typeface="KB금융 본문체 Light" panose="020B0303000000000000" pitchFamily="50" charset="-127"/>
                <a:ea typeface="KB금융 본문체 Light" panose="020B0303000000000000" pitchFamily="50" charset="-127"/>
              </a:rPr>
            </a:br>
            <a:r>
              <a:rPr lang="ko-KR" altLang="en-US" sz="900" smtClean="0">
                <a:latin typeface="KB금융 본문체 Light" panose="020B0303000000000000" pitchFamily="50" charset="-127"/>
                <a:ea typeface="KB금융 본문체 Light" panose="020B0303000000000000" pitchFamily="50" charset="-127"/>
              </a:rPr>
              <a:t>고유식별번호</a:t>
            </a:r>
            <a:endParaRPr lang="en-US" altLang="ko-KR" sz="900" dirty="0" smtClean="0">
              <a:latin typeface="KB금융 본문체 Light" panose="020B0303000000000000" pitchFamily="50" charset="-127"/>
              <a:ea typeface="KB금융 본문체 Light" panose="020B0303000000000000" pitchFamily="50" charset="-127"/>
            </a:endParaRPr>
          </a:p>
        </p:txBody>
      </p:sp>
      <p:cxnSp>
        <p:nvCxnSpPr>
          <p:cNvPr id="80" name="직선 화살표 연결선 79"/>
          <p:cNvCxnSpPr/>
          <p:nvPr/>
        </p:nvCxnSpPr>
        <p:spPr bwMode="auto">
          <a:xfrm>
            <a:off x="2009650" y="3878421"/>
            <a:ext cx="830263" cy="0"/>
          </a:xfrm>
          <a:prstGeom prst="straightConnector1">
            <a:avLst/>
          </a:prstGeom>
          <a:noFill/>
          <a:ln w="19050" cap="flat" cmpd="sng" algn="ctr">
            <a:solidFill>
              <a:schemeClr val="bg1">
                <a:lumMod val="65000"/>
              </a:schemeClr>
            </a:solidFill>
            <a:prstDash val="solid"/>
            <a:round/>
            <a:headEnd type="arrow" w="med" len="med"/>
            <a:tailEnd type="none"/>
          </a:ln>
          <a:effectLst/>
        </p:spPr>
      </p:cxnSp>
      <p:grpSp>
        <p:nvGrpSpPr>
          <p:cNvPr id="81" name="그룹 80"/>
          <p:cNvGrpSpPr/>
          <p:nvPr/>
        </p:nvGrpSpPr>
        <p:grpSpPr>
          <a:xfrm>
            <a:off x="1039688" y="2629737"/>
            <a:ext cx="609600" cy="485367"/>
            <a:chOff x="685800" y="2857501"/>
            <a:chExt cx="609600" cy="552448"/>
          </a:xfrm>
          <a:noFill/>
        </p:grpSpPr>
        <p:sp>
          <p:nvSpPr>
            <p:cNvPr id="122" name="모서리가 둥근 직사각형 121"/>
            <p:cNvSpPr/>
            <p:nvPr/>
          </p:nvSpPr>
          <p:spPr bwMode="auto">
            <a:xfrm>
              <a:off x="685800" y="2857501"/>
              <a:ext cx="609600" cy="376236"/>
            </a:xfrm>
            <a:prstGeom prst="roundRect">
              <a:avLst/>
            </a:prstGeom>
            <a:grpFill/>
            <a:ln w="9525" cap="flat" cmpd="sng" algn="ctr">
              <a:solidFill>
                <a:schemeClr val="bg1">
                  <a:lumMod val="75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50000"/>
                </a:spcBef>
                <a:spcAft>
                  <a:spcPct val="0"/>
                </a:spcAft>
                <a:buClrTx/>
                <a:buSzTx/>
                <a:buFontTx/>
                <a:buNone/>
                <a:tabLst/>
              </a:pPr>
              <a:r>
                <a:rPr kumimoji="0" lang="ko-KR" altLang="en-US" sz="1100" i="0" u="none" strike="noStrike" cap="none" normalizeH="0" baseline="0" dirty="0" smtClean="0">
                  <a:ln>
                    <a:noFill/>
                  </a:ln>
                  <a:solidFill>
                    <a:schemeClr val="tx1"/>
                  </a:solidFill>
                  <a:effectLst/>
                  <a:latin typeface="KB금융 제목체 Bold" panose="020B0803000000000000" pitchFamily="50" charset="-127"/>
                  <a:ea typeface="KB금융 제목체 Bold" panose="020B0803000000000000" pitchFamily="50" charset="-127"/>
                </a:rPr>
                <a:t>단말</a:t>
              </a:r>
            </a:p>
          </p:txBody>
        </p:sp>
        <p:sp>
          <p:nvSpPr>
            <p:cNvPr id="123" name="이등변 삼각형 122"/>
            <p:cNvSpPr/>
            <p:nvPr/>
          </p:nvSpPr>
          <p:spPr bwMode="auto">
            <a:xfrm>
              <a:off x="762000" y="3231358"/>
              <a:ext cx="457200" cy="178591"/>
            </a:xfrm>
            <a:prstGeom prst="triangle">
              <a:avLst/>
            </a:prstGeom>
            <a:grpFill/>
            <a:ln w="9525" cap="flat" cmpd="sng" algn="ctr">
              <a:solidFill>
                <a:schemeClr val="bg1">
                  <a:lumMod val="75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ko-KR" altLang="en-US" sz="1100" i="0" u="none" strike="noStrike" cap="none" normalizeH="0" baseline="0" smtClean="0">
                <a:ln>
                  <a:noFill/>
                </a:ln>
                <a:solidFill>
                  <a:schemeClr val="tx1"/>
                </a:solidFill>
                <a:effectLst/>
                <a:latin typeface="KB금융 제목체 Bold" panose="020B0803000000000000" pitchFamily="50" charset="-127"/>
                <a:ea typeface="KB금융 제목체 Bold" panose="020B0803000000000000" pitchFamily="50" charset="-127"/>
              </a:endParaRPr>
            </a:p>
          </p:txBody>
        </p:sp>
      </p:grpSp>
      <p:cxnSp>
        <p:nvCxnSpPr>
          <p:cNvPr id="82" name="직선 화살표 연결선 81"/>
          <p:cNvCxnSpPr>
            <a:stCxn id="122" idx="3"/>
            <a:endCxn id="73" idx="1"/>
          </p:cNvCxnSpPr>
          <p:nvPr/>
        </p:nvCxnSpPr>
        <p:spPr bwMode="auto">
          <a:xfrm>
            <a:off x="1649288" y="2795012"/>
            <a:ext cx="1287463" cy="742"/>
          </a:xfrm>
          <a:prstGeom prst="straightConnector1">
            <a:avLst/>
          </a:prstGeom>
          <a:noFill/>
          <a:ln w="15875" cap="flat" cmpd="sng" algn="ctr">
            <a:solidFill>
              <a:schemeClr val="bg1">
                <a:lumMod val="75000"/>
              </a:schemeClr>
            </a:solidFill>
            <a:prstDash val="solid"/>
            <a:round/>
            <a:headEnd type="none" w="med" len="med"/>
            <a:tailEnd type="arrow"/>
          </a:ln>
          <a:effectLst/>
        </p:spPr>
      </p:cxnSp>
      <p:sp>
        <p:nvSpPr>
          <p:cNvPr id="83" name="Rectangle 8"/>
          <p:cNvSpPr>
            <a:spLocks noChangeArrowheads="1"/>
          </p:cNvSpPr>
          <p:nvPr/>
        </p:nvSpPr>
        <p:spPr bwMode="gray">
          <a:xfrm>
            <a:off x="1748644" y="2529012"/>
            <a:ext cx="1103310" cy="242684"/>
          </a:xfrm>
          <a:prstGeom prst="rect">
            <a:avLst/>
          </a:prstGeom>
          <a:noFill/>
          <a:ln w="9525" algn="ctr">
            <a:noFill/>
            <a:miter lim="800000"/>
            <a:headEnd/>
            <a:tailEnd/>
          </a:ln>
        </p:spPr>
        <p:txBody>
          <a:bodyPr wrap="square" lIns="0" tIns="36000" rIns="0" bIns="36000" anchor="ctr"/>
          <a:lstStyle/>
          <a:p>
            <a:pPr algn="ctr" eaLnBrk="0" hangingPunct="0">
              <a:spcBef>
                <a:spcPct val="50000"/>
              </a:spcBef>
              <a:defRPr/>
            </a:pPr>
            <a:r>
              <a:rPr lang="ko-KR" altLang="en-US" sz="900" smtClean="0">
                <a:latin typeface="KB금융 본문체 Light" panose="020B0303000000000000" pitchFamily="50" charset="-127"/>
                <a:ea typeface="KB금융 본문체 Light" panose="020B0303000000000000" pitchFamily="50" charset="-127"/>
              </a:rPr>
              <a:t>입력전문</a:t>
            </a:r>
            <a:r>
              <a:rPr lang="en-US" altLang="ko-KR" sz="900">
                <a:latin typeface="KB금융 본문체 Light" panose="020B0303000000000000" pitchFamily="50" charset="-127"/>
                <a:ea typeface="KB금융 본문체 Light" panose="020B0303000000000000" pitchFamily="50" charset="-127"/>
              </a:rPr>
              <a:t>(</a:t>
            </a:r>
            <a:r>
              <a:rPr lang="ko-KR" altLang="en-US" sz="900">
                <a:latin typeface="KB금융 본문체 Light" panose="020B0303000000000000" pitchFamily="50" charset="-127"/>
                <a:ea typeface="KB금융 본문체 Light" panose="020B0303000000000000" pitchFamily="50" charset="-127"/>
              </a:rPr>
              <a:t>암호화</a:t>
            </a:r>
            <a:r>
              <a:rPr lang="en-US" altLang="ko-KR" sz="900">
                <a:latin typeface="KB금융 본문체 Light" panose="020B0303000000000000" pitchFamily="50" charset="-127"/>
                <a:ea typeface="KB금융 본문체 Light" panose="020B0303000000000000" pitchFamily="50" charset="-127"/>
              </a:rPr>
              <a:t>)</a:t>
            </a:r>
            <a:r>
              <a:rPr lang="ko-KR" altLang="en-US" sz="900" baseline="30000" smtClean="0">
                <a:latin typeface="KB금융 본문체 Light" panose="020B0303000000000000" pitchFamily="50" charset="-127"/>
                <a:ea typeface="KB금융 본문체 Light" panose="020B0303000000000000" pitchFamily="50" charset="-127"/>
              </a:rPr>
              <a:t>주</a:t>
            </a:r>
            <a:r>
              <a:rPr lang="en-US" altLang="ko-KR" sz="900" baseline="30000" smtClean="0">
                <a:latin typeface="KB금융 본문체 Light" panose="020B0303000000000000" pitchFamily="50" charset="-127"/>
                <a:ea typeface="KB금융 본문체 Light" panose="020B0303000000000000" pitchFamily="50" charset="-127"/>
              </a:rPr>
              <a:t>2)</a:t>
            </a:r>
            <a:endParaRPr lang="en-US" altLang="ko-KR" sz="900" baseline="30000" dirty="0">
              <a:latin typeface="KB금융 본문체 Light" panose="020B0303000000000000" pitchFamily="50" charset="-127"/>
              <a:ea typeface="KB금융 본문체 Light" panose="020B0303000000000000" pitchFamily="50" charset="-127"/>
            </a:endParaRPr>
          </a:p>
        </p:txBody>
      </p:sp>
      <p:sp>
        <p:nvSpPr>
          <p:cNvPr id="84" name="직사각형 83"/>
          <p:cNvSpPr/>
          <p:nvPr/>
        </p:nvSpPr>
        <p:spPr bwMode="auto">
          <a:xfrm>
            <a:off x="658688" y="2263314"/>
            <a:ext cx="4038600" cy="3276000"/>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ko-KR" altLang="en-US" sz="1300" i="0" u="none" strike="noStrike" cap="none" normalizeH="0" baseline="0" smtClean="0">
              <a:ln>
                <a:noFill/>
              </a:ln>
              <a:solidFill>
                <a:schemeClr val="tx1"/>
              </a:solidFill>
              <a:effectLst/>
              <a:latin typeface="KB금융 본문체 Light" panose="020B0303000000000000" pitchFamily="50" charset="-127"/>
              <a:ea typeface="KB금융 본문체 Light" panose="020B0303000000000000" pitchFamily="50" charset="-127"/>
            </a:endParaRPr>
          </a:p>
        </p:txBody>
      </p:sp>
      <p:sp>
        <p:nvSpPr>
          <p:cNvPr id="85" name="Rectangle 8"/>
          <p:cNvSpPr>
            <a:spLocks noChangeArrowheads="1"/>
          </p:cNvSpPr>
          <p:nvPr/>
        </p:nvSpPr>
        <p:spPr bwMode="gray">
          <a:xfrm>
            <a:off x="963488" y="3761261"/>
            <a:ext cx="939404" cy="368211"/>
          </a:xfrm>
          <a:prstGeom prst="rect">
            <a:avLst/>
          </a:prstGeom>
          <a:noFill/>
          <a:ln w="9525" algn="ctr">
            <a:solidFill>
              <a:schemeClr val="bg1">
                <a:lumMod val="50000"/>
              </a:schemeClr>
            </a:solidFill>
            <a:miter lim="800000"/>
            <a:headEnd/>
            <a:tailEnd/>
          </a:ln>
        </p:spPr>
        <p:txBody>
          <a:bodyPr wrap="square" lIns="92075" tIns="46038" rIns="92075" bIns="46038" anchor="ctr"/>
          <a:lstStyle/>
          <a:p>
            <a:pPr algn="ctr" eaLnBrk="0" hangingPunct="0">
              <a:spcBef>
                <a:spcPct val="50000"/>
              </a:spcBef>
              <a:defRPr/>
            </a:pPr>
            <a:r>
              <a:rPr lang="ko-KR" altLang="en-US" sz="1100" smtClean="0">
                <a:latin typeface="KB금융 제목체 Bold" panose="020B0803000000000000" pitchFamily="50" charset="-127"/>
                <a:ea typeface="KB금융 제목체 Bold" panose="020B0803000000000000" pitchFamily="50" charset="-127"/>
              </a:rPr>
              <a:t>암</a:t>
            </a:r>
            <a:r>
              <a:rPr lang="en-US" altLang="ko-KR" sz="1100">
                <a:latin typeface="KB금융 제목체 Bold" panose="020B0803000000000000" pitchFamily="50" charset="-127"/>
                <a:ea typeface="KB금융 제목체 Bold" panose="020B0803000000000000" pitchFamily="50" charset="-127"/>
              </a:rPr>
              <a:t>·</a:t>
            </a:r>
            <a:r>
              <a:rPr lang="ko-KR" altLang="en-US" sz="1100">
                <a:latin typeface="KB금융 제목체 Bold" panose="020B0803000000000000" pitchFamily="50" charset="-127"/>
                <a:ea typeface="KB금융 제목체 Bold" panose="020B0803000000000000" pitchFamily="50" charset="-127"/>
              </a:rPr>
              <a:t>복호화</a:t>
            </a:r>
            <a:r>
              <a:rPr lang="en-US" altLang="ko-KR" sz="1100" dirty="0" smtClean="0">
                <a:latin typeface="KB금융 제목체 Bold" panose="020B0803000000000000" pitchFamily="50" charset="-127"/>
                <a:ea typeface="KB금융 제목체 Bold" panose="020B0803000000000000" pitchFamily="50" charset="-127"/>
              </a:rPr>
              <a:t/>
            </a:r>
            <a:br>
              <a:rPr lang="en-US" altLang="ko-KR" sz="1100" dirty="0" smtClean="0">
                <a:latin typeface="KB금융 제목체 Bold" panose="020B0803000000000000" pitchFamily="50" charset="-127"/>
                <a:ea typeface="KB금융 제목체 Bold" panose="020B0803000000000000" pitchFamily="50" charset="-127"/>
              </a:rPr>
            </a:br>
            <a:r>
              <a:rPr lang="en-US" altLang="ko-KR" sz="1100" dirty="0" smtClean="0">
                <a:latin typeface="KB금융 제목체 Bold" panose="020B0803000000000000" pitchFamily="50" charset="-127"/>
                <a:ea typeface="KB금융 제목체 Bold" panose="020B0803000000000000" pitchFamily="50" charset="-127"/>
              </a:rPr>
              <a:t>Agent</a:t>
            </a:r>
          </a:p>
        </p:txBody>
      </p:sp>
      <p:cxnSp>
        <p:nvCxnSpPr>
          <p:cNvPr id="86" name="직선 화살표 연결선 85"/>
          <p:cNvCxnSpPr/>
          <p:nvPr/>
        </p:nvCxnSpPr>
        <p:spPr bwMode="auto">
          <a:xfrm>
            <a:off x="2028700" y="4020684"/>
            <a:ext cx="830263" cy="0"/>
          </a:xfrm>
          <a:prstGeom prst="straightConnector1">
            <a:avLst/>
          </a:prstGeom>
          <a:noFill/>
          <a:ln w="19050" cap="flat" cmpd="sng" algn="ctr">
            <a:solidFill>
              <a:schemeClr val="bg1">
                <a:lumMod val="65000"/>
              </a:schemeClr>
            </a:solidFill>
            <a:prstDash val="solid"/>
            <a:round/>
            <a:headEnd type="none" w="med" len="med"/>
            <a:tailEnd type="arrow"/>
          </a:ln>
          <a:effectLst/>
        </p:spPr>
      </p:cxnSp>
      <p:sp>
        <p:nvSpPr>
          <p:cNvPr id="87" name="Rectangle 8"/>
          <p:cNvSpPr>
            <a:spLocks noChangeArrowheads="1"/>
          </p:cNvSpPr>
          <p:nvPr/>
        </p:nvSpPr>
        <p:spPr bwMode="gray">
          <a:xfrm>
            <a:off x="1963613" y="4037419"/>
            <a:ext cx="914400" cy="242684"/>
          </a:xfrm>
          <a:prstGeom prst="rect">
            <a:avLst/>
          </a:prstGeom>
          <a:noFill/>
          <a:ln w="9525" algn="ctr">
            <a:noFill/>
            <a:miter lim="800000"/>
            <a:headEnd/>
            <a:tailEnd/>
          </a:ln>
        </p:spPr>
        <p:txBody>
          <a:bodyPr wrap="square" lIns="0" tIns="36000" rIns="0" bIns="36000" anchor="ctr"/>
          <a:lstStyle/>
          <a:p>
            <a:pPr algn="ctr" eaLnBrk="0" latinLnBrk="0" hangingPunct="0">
              <a:spcBef>
                <a:spcPct val="50000"/>
              </a:spcBef>
              <a:defRPr/>
            </a:pPr>
            <a:r>
              <a:rPr lang="ko-KR" altLang="en-US" sz="900" smtClean="0">
                <a:latin typeface="KB금융 본문체 Light" panose="020B0303000000000000" pitchFamily="50" charset="-127"/>
                <a:ea typeface="KB금융 본문체 Light" panose="020B0303000000000000" pitchFamily="50" charset="-127"/>
              </a:rPr>
              <a:t>②고유식별번호</a:t>
            </a:r>
            <a:r>
              <a:rPr lang="en-US" altLang="ko-KR" sz="900" dirty="0" smtClean="0">
                <a:latin typeface="KB금융 본문체 Light" panose="020B0303000000000000" pitchFamily="50" charset="-127"/>
                <a:ea typeface="KB금융 본문체 Light" panose="020B0303000000000000" pitchFamily="50" charset="-127"/>
              </a:rPr>
              <a:t/>
            </a:r>
            <a:br>
              <a:rPr lang="en-US" altLang="ko-KR" sz="900" dirty="0" smtClean="0">
                <a:latin typeface="KB금융 본문체 Light" panose="020B0303000000000000" pitchFamily="50" charset="-127"/>
                <a:ea typeface="KB금융 본문체 Light" panose="020B0303000000000000" pitchFamily="50" charset="-127"/>
              </a:rPr>
            </a:br>
            <a:r>
              <a:rPr lang="en-US" altLang="ko-KR" sz="900" dirty="0" smtClean="0">
                <a:latin typeface="KB금융 본문체 Light" panose="020B0303000000000000" pitchFamily="50" charset="-127"/>
                <a:ea typeface="KB금융 본문체 Light" panose="020B0303000000000000" pitchFamily="50" charset="-127"/>
              </a:rPr>
              <a:t>(</a:t>
            </a:r>
            <a:r>
              <a:rPr lang="ko-KR" altLang="en-US" sz="900" dirty="0" smtClean="0">
                <a:latin typeface="KB금융 본문체 Light" panose="020B0303000000000000" pitchFamily="50" charset="-127"/>
                <a:ea typeface="KB금융 본문체 Light" panose="020B0303000000000000" pitchFamily="50" charset="-127"/>
              </a:rPr>
              <a:t>암호화</a:t>
            </a:r>
            <a:r>
              <a:rPr lang="en-US" altLang="ko-KR" sz="900" dirty="0" smtClean="0">
                <a:latin typeface="KB금융 본문체 Light" panose="020B0303000000000000" pitchFamily="50" charset="-127"/>
                <a:ea typeface="KB금융 본문체 Light" panose="020B0303000000000000" pitchFamily="50" charset="-127"/>
              </a:rPr>
              <a:t>)</a:t>
            </a:r>
          </a:p>
        </p:txBody>
      </p:sp>
      <p:sp>
        <p:nvSpPr>
          <p:cNvPr id="88" name="Rectangle 8"/>
          <p:cNvSpPr>
            <a:spLocks noChangeArrowheads="1"/>
          </p:cNvSpPr>
          <p:nvPr/>
        </p:nvSpPr>
        <p:spPr bwMode="gray">
          <a:xfrm>
            <a:off x="3584450" y="4397260"/>
            <a:ext cx="960438" cy="242684"/>
          </a:xfrm>
          <a:prstGeom prst="rect">
            <a:avLst/>
          </a:prstGeom>
          <a:noFill/>
          <a:ln w="9525" algn="ctr">
            <a:noFill/>
            <a:miter lim="800000"/>
            <a:headEnd/>
            <a:tailEnd/>
          </a:ln>
        </p:spPr>
        <p:txBody>
          <a:bodyPr wrap="square" lIns="0" tIns="36000" rIns="0" bIns="36000" anchor="ctr"/>
          <a:lstStyle/>
          <a:p>
            <a:pPr algn="ctr" eaLnBrk="0" latinLnBrk="0" hangingPunct="0">
              <a:spcBef>
                <a:spcPct val="50000"/>
              </a:spcBef>
              <a:defRPr/>
            </a:pPr>
            <a:r>
              <a:rPr lang="ko-KR" altLang="en-US" sz="900" smtClean="0">
                <a:latin typeface="KB금융 본문체 Light" panose="020B0303000000000000" pitchFamily="50" charset="-127"/>
                <a:ea typeface="KB금융 본문체 Light" panose="020B0303000000000000" pitchFamily="50" charset="-127"/>
              </a:rPr>
              <a:t>③고유식별번호</a:t>
            </a:r>
            <a:r>
              <a:rPr lang="en-US" altLang="ko-KR" sz="900" dirty="0" smtClean="0">
                <a:latin typeface="KB금융 본문체 Light" panose="020B0303000000000000" pitchFamily="50" charset="-127"/>
                <a:ea typeface="KB금융 본문체 Light" panose="020B0303000000000000" pitchFamily="50" charset="-127"/>
              </a:rPr>
              <a:t/>
            </a:r>
            <a:br>
              <a:rPr lang="en-US" altLang="ko-KR" sz="900" dirty="0" smtClean="0">
                <a:latin typeface="KB금융 본문체 Light" panose="020B0303000000000000" pitchFamily="50" charset="-127"/>
                <a:ea typeface="KB금융 본문체 Light" panose="020B0303000000000000" pitchFamily="50" charset="-127"/>
              </a:rPr>
            </a:br>
            <a:r>
              <a:rPr lang="en-US" altLang="ko-KR" sz="900" dirty="0" smtClean="0">
                <a:latin typeface="KB금융 본문체 Light" panose="020B0303000000000000" pitchFamily="50" charset="-127"/>
                <a:ea typeface="KB금융 본문체 Light" panose="020B0303000000000000" pitchFamily="50" charset="-127"/>
              </a:rPr>
              <a:t>(</a:t>
            </a:r>
            <a:r>
              <a:rPr lang="ko-KR" altLang="en-US" sz="900" dirty="0" smtClean="0">
                <a:latin typeface="KB금융 본문체 Light" panose="020B0303000000000000" pitchFamily="50" charset="-127"/>
                <a:ea typeface="KB금융 본문체 Light" panose="020B0303000000000000" pitchFamily="50" charset="-127"/>
              </a:rPr>
              <a:t>암호화</a:t>
            </a:r>
            <a:r>
              <a:rPr lang="en-US" altLang="ko-KR" sz="900" dirty="0" smtClean="0">
                <a:latin typeface="KB금융 본문체 Light" panose="020B0303000000000000" pitchFamily="50" charset="-127"/>
                <a:ea typeface="KB금융 본문체 Light" panose="020B0303000000000000" pitchFamily="50" charset="-127"/>
              </a:rPr>
              <a:t>)</a:t>
            </a:r>
          </a:p>
        </p:txBody>
      </p:sp>
      <p:sp>
        <p:nvSpPr>
          <p:cNvPr id="89" name="Rectangle 8"/>
          <p:cNvSpPr>
            <a:spLocks noChangeArrowheads="1"/>
          </p:cNvSpPr>
          <p:nvPr/>
        </p:nvSpPr>
        <p:spPr bwMode="gray">
          <a:xfrm>
            <a:off x="7584951" y="2518551"/>
            <a:ext cx="1356520" cy="554406"/>
          </a:xfrm>
          <a:prstGeom prst="rect">
            <a:avLst/>
          </a:prstGeom>
          <a:noFill/>
          <a:ln w="9525" algn="ctr">
            <a:solidFill>
              <a:schemeClr val="bg1">
                <a:lumMod val="50000"/>
              </a:schemeClr>
            </a:solidFill>
            <a:miter lim="800000"/>
            <a:headEnd/>
            <a:tailEnd/>
          </a:ln>
        </p:spPr>
        <p:txBody>
          <a:bodyPr wrap="square" lIns="92075" tIns="46038" rIns="92075" bIns="46038" anchor="ctr"/>
          <a:lstStyle/>
          <a:p>
            <a:pPr algn="ctr" eaLnBrk="0" latinLnBrk="0" hangingPunct="0">
              <a:spcBef>
                <a:spcPct val="50000"/>
              </a:spcBef>
              <a:defRPr/>
            </a:pPr>
            <a:r>
              <a:rPr lang="en-US" altLang="ko-KR" sz="1100" dirty="0" smtClean="0">
                <a:latin typeface="KB금융 제목체 Bold" panose="020B0803000000000000" pitchFamily="50" charset="-127"/>
                <a:ea typeface="KB금융 제목체 Bold" panose="020B0803000000000000" pitchFamily="50" charset="-127"/>
              </a:rPr>
              <a:t>MCI</a:t>
            </a:r>
          </a:p>
        </p:txBody>
      </p:sp>
      <p:sp>
        <p:nvSpPr>
          <p:cNvPr id="90" name="Rectangle 8"/>
          <p:cNvSpPr>
            <a:spLocks noChangeArrowheads="1"/>
          </p:cNvSpPr>
          <p:nvPr/>
        </p:nvSpPr>
        <p:spPr bwMode="gray">
          <a:xfrm>
            <a:off x="7584952" y="3635734"/>
            <a:ext cx="1356520" cy="585792"/>
          </a:xfrm>
          <a:prstGeom prst="rect">
            <a:avLst/>
          </a:prstGeom>
          <a:noFill/>
          <a:ln w="9525" algn="ctr">
            <a:solidFill>
              <a:schemeClr val="bg1">
                <a:lumMod val="50000"/>
              </a:schemeClr>
            </a:solidFill>
            <a:miter lim="800000"/>
            <a:headEnd/>
            <a:tailEnd/>
          </a:ln>
        </p:spPr>
        <p:txBody>
          <a:bodyPr wrap="square" lIns="92075" tIns="46038" rIns="92075" bIns="46038" anchor="ctr"/>
          <a:lstStyle/>
          <a:p>
            <a:pPr algn="ctr" eaLnBrk="0" latinLnBrk="0" hangingPunct="0">
              <a:spcBef>
                <a:spcPct val="50000"/>
              </a:spcBef>
              <a:defRPr/>
            </a:pPr>
            <a:r>
              <a:rPr lang="ko-KR" altLang="en-US" sz="1100" dirty="0" smtClean="0">
                <a:latin typeface="KB금융 제목체 Bold" panose="020B0803000000000000" pitchFamily="50" charset="-127"/>
                <a:ea typeface="KB금융 제목체 Bold" panose="020B0803000000000000" pitchFamily="50" charset="-127"/>
              </a:rPr>
              <a:t>업무  프로그램</a:t>
            </a:r>
            <a:endParaRPr lang="en-US" altLang="ko-KR" sz="1100" dirty="0" smtClean="0">
              <a:latin typeface="KB금융 제목체 Bold" panose="020B0803000000000000" pitchFamily="50" charset="-127"/>
              <a:ea typeface="KB금융 제목체 Bold" panose="020B0803000000000000" pitchFamily="50" charset="-127"/>
            </a:endParaRPr>
          </a:p>
        </p:txBody>
      </p:sp>
      <p:sp>
        <p:nvSpPr>
          <p:cNvPr id="91" name="순서도: 자기 디스크 90"/>
          <p:cNvSpPr/>
          <p:nvPr/>
        </p:nvSpPr>
        <p:spPr bwMode="auto">
          <a:xfrm>
            <a:off x="7602413" y="4706892"/>
            <a:ext cx="1329534" cy="736421"/>
          </a:xfrm>
          <a:prstGeom prst="flowChartMagneticDisk">
            <a:avLst/>
          </a:prstGeom>
          <a:noFill/>
          <a:ln w="9525" cap="flat" cmpd="sng" algn="ctr">
            <a:solidFill>
              <a:schemeClr val="bg1">
                <a:lumMod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latinLnBrk="0">
              <a:spcBef>
                <a:spcPct val="50000"/>
              </a:spcBef>
            </a:pPr>
            <a:endParaRPr kumimoji="0" lang="ko-KR" altLang="en-US" sz="1300">
              <a:latin typeface="KB금융 본문체 Light" panose="020B0303000000000000" pitchFamily="50" charset="-127"/>
              <a:ea typeface="KB금융 본문체 Light" panose="020B0303000000000000" pitchFamily="50" charset="-127"/>
            </a:endParaRPr>
          </a:p>
        </p:txBody>
      </p:sp>
      <p:sp>
        <p:nvSpPr>
          <p:cNvPr id="93" name="Rectangle 8"/>
          <p:cNvSpPr>
            <a:spLocks noChangeArrowheads="1"/>
          </p:cNvSpPr>
          <p:nvPr/>
        </p:nvSpPr>
        <p:spPr bwMode="gray">
          <a:xfrm>
            <a:off x="6545139" y="3702682"/>
            <a:ext cx="906462" cy="242684"/>
          </a:xfrm>
          <a:prstGeom prst="rect">
            <a:avLst/>
          </a:prstGeom>
          <a:noFill/>
          <a:ln w="9525" algn="ctr">
            <a:noFill/>
            <a:miter lim="800000"/>
            <a:headEnd/>
            <a:tailEnd/>
          </a:ln>
        </p:spPr>
        <p:txBody>
          <a:bodyPr wrap="square" lIns="0" tIns="36000" rIns="0" bIns="36000" anchor="ctr"/>
          <a:lstStyle/>
          <a:p>
            <a:pPr algn="ctr" eaLnBrk="0" hangingPunct="0">
              <a:spcBef>
                <a:spcPct val="50000"/>
              </a:spcBef>
              <a:defRPr/>
            </a:pPr>
            <a:r>
              <a:rPr lang="ko-KR" altLang="en-US" sz="900" smtClean="0">
                <a:latin typeface="KB금융 본문체 Light" panose="020B0303000000000000" pitchFamily="50" charset="-127"/>
                <a:ea typeface="KB금융 본문체 Light" panose="020B0303000000000000" pitchFamily="50" charset="-127"/>
              </a:rPr>
              <a:t>③고유식별번호</a:t>
            </a:r>
            <a:r>
              <a:rPr lang="en-US" altLang="ko-KR" sz="900" dirty="0" smtClean="0">
                <a:latin typeface="KB금융 본문체 Light" panose="020B0303000000000000" pitchFamily="50" charset="-127"/>
                <a:ea typeface="KB금융 본문체 Light" panose="020B0303000000000000" pitchFamily="50" charset="-127"/>
              </a:rPr>
              <a:t/>
            </a:r>
            <a:br>
              <a:rPr lang="en-US" altLang="ko-KR" sz="900" dirty="0" smtClean="0">
                <a:latin typeface="KB금융 본문체 Light" panose="020B0303000000000000" pitchFamily="50" charset="-127"/>
                <a:ea typeface="KB금융 본문체 Light" panose="020B0303000000000000" pitchFamily="50" charset="-127"/>
              </a:rPr>
            </a:br>
            <a:r>
              <a:rPr lang="en-US" altLang="ko-KR" sz="900" dirty="0" smtClean="0">
                <a:latin typeface="KB금융 본문체 Light" panose="020B0303000000000000" pitchFamily="50" charset="-127"/>
                <a:ea typeface="KB금융 본문체 Light" panose="020B0303000000000000" pitchFamily="50" charset="-127"/>
              </a:rPr>
              <a:t>(</a:t>
            </a:r>
            <a:r>
              <a:rPr lang="ko-KR" altLang="en-US" sz="900" dirty="0" err="1" smtClean="0">
                <a:latin typeface="KB금융 본문체 Light" panose="020B0303000000000000" pitchFamily="50" charset="-127"/>
                <a:ea typeface="KB금융 본문체 Light" panose="020B0303000000000000" pitchFamily="50" charset="-127"/>
              </a:rPr>
              <a:t>평문</a:t>
            </a:r>
            <a:r>
              <a:rPr lang="en-US" altLang="ko-KR" sz="900" dirty="0" smtClean="0">
                <a:latin typeface="KB금융 본문체 Light" panose="020B0303000000000000" pitchFamily="50" charset="-127"/>
                <a:ea typeface="KB금융 본문체 Light" panose="020B0303000000000000" pitchFamily="50" charset="-127"/>
              </a:rPr>
              <a:t>)</a:t>
            </a:r>
          </a:p>
        </p:txBody>
      </p:sp>
      <p:sp>
        <p:nvSpPr>
          <p:cNvPr id="94" name="Rectangle 8"/>
          <p:cNvSpPr>
            <a:spLocks noChangeArrowheads="1"/>
          </p:cNvSpPr>
          <p:nvPr/>
        </p:nvSpPr>
        <p:spPr bwMode="gray">
          <a:xfrm>
            <a:off x="8038241" y="4731998"/>
            <a:ext cx="535783" cy="242684"/>
          </a:xfrm>
          <a:prstGeom prst="rect">
            <a:avLst/>
          </a:prstGeom>
          <a:noFill/>
          <a:ln w="9525" algn="ctr">
            <a:noFill/>
            <a:miter lim="800000"/>
            <a:headEnd/>
            <a:tailEnd/>
          </a:ln>
        </p:spPr>
        <p:txBody>
          <a:bodyPr wrap="none" lIns="92075" tIns="46038" rIns="92075" bIns="46038" anchor="ctr"/>
          <a:lstStyle/>
          <a:p>
            <a:pPr algn="ctr" eaLnBrk="0" latinLnBrk="0" hangingPunct="0">
              <a:spcBef>
                <a:spcPct val="50000"/>
              </a:spcBef>
              <a:defRPr/>
            </a:pPr>
            <a:r>
              <a:rPr lang="ko-KR" altLang="en-US" sz="1100" dirty="0" smtClean="0">
                <a:latin typeface="KB금융 제목체 Bold" panose="020B0803000000000000" pitchFamily="50" charset="-127"/>
                <a:ea typeface="KB금융 제목체 Bold" panose="020B0803000000000000" pitchFamily="50" charset="-127"/>
              </a:rPr>
              <a:t>업</a:t>
            </a:r>
            <a:r>
              <a:rPr lang="ko-KR" altLang="en-US" sz="1100" dirty="0">
                <a:latin typeface="KB금융 제목체 Bold" panose="020B0803000000000000" pitchFamily="50" charset="-127"/>
                <a:ea typeface="KB금융 제목체 Bold" panose="020B0803000000000000" pitchFamily="50" charset="-127"/>
              </a:rPr>
              <a:t>무</a:t>
            </a:r>
            <a:r>
              <a:rPr lang="ko-KR" altLang="en-US" sz="1100" dirty="0" smtClean="0">
                <a:latin typeface="KB금융 제목체 Bold" panose="020B0803000000000000" pitchFamily="50" charset="-127"/>
                <a:ea typeface="KB금융 제목체 Bold" panose="020B0803000000000000" pitchFamily="50" charset="-127"/>
              </a:rPr>
              <a:t>원장 테이블</a:t>
            </a:r>
            <a:endParaRPr lang="en-US" altLang="ko-KR" sz="1100" dirty="0" smtClean="0">
              <a:latin typeface="KB금융 제목체 Bold" panose="020B0803000000000000" pitchFamily="50" charset="-127"/>
              <a:ea typeface="KB금융 제목체 Bold" panose="020B0803000000000000" pitchFamily="50" charset="-127"/>
            </a:endParaRPr>
          </a:p>
        </p:txBody>
      </p:sp>
      <p:sp>
        <p:nvSpPr>
          <p:cNvPr id="95" name="Rectangle 8"/>
          <p:cNvSpPr>
            <a:spLocks noChangeArrowheads="1"/>
          </p:cNvSpPr>
          <p:nvPr/>
        </p:nvSpPr>
        <p:spPr bwMode="gray">
          <a:xfrm>
            <a:off x="7964131" y="5040714"/>
            <a:ext cx="716833" cy="313124"/>
          </a:xfrm>
          <a:prstGeom prst="rect">
            <a:avLst/>
          </a:prstGeom>
          <a:noFill/>
          <a:ln w="9525" algn="ctr">
            <a:solidFill>
              <a:schemeClr val="bg1">
                <a:lumMod val="65000"/>
              </a:schemeClr>
            </a:solidFill>
            <a:miter lim="800000"/>
            <a:headEnd/>
            <a:tailEnd/>
          </a:ln>
        </p:spPr>
        <p:txBody>
          <a:bodyPr wrap="none" lIns="92075" tIns="46038" rIns="92075" bIns="46038" anchor="ctr"/>
          <a:lstStyle/>
          <a:p>
            <a:pPr algn="ctr" eaLnBrk="0" latinLnBrk="0" hangingPunct="0">
              <a:spcBef>
                <a:spcPct val="50000"/>
              </a:spcBef>
              <a:defRPr/>
            </a:pPr>
            <a:r>
              <a:rPr lang="ko-KR" altLang="en-US" sz="900" dirty="0" smtClean="0">
                <a:latin typeface="KB금융 본문체 Light" panose="020B0303000000000000" pitchFamily="50" charset="-127"/>
                <a:ea typeface="KB금융 본문체 Light" panose="020B0303000000000000" pitchFamily="50" charset="-127"/>
              </a:rPr>
              <a:t>암호화 </a:t>
            </a:r>
            <a:r>
              <a:rPr lang="en-US" altLang="ko-KR" sz="900" smtClean="0">
                <a:latin typeface="KB금융 본문체 Light" panose="020B0303000000000000" pitchFamily="50" charset="-127"/>
                <a:ea typeface="KB금융 본문체 Light" panose="020B0303000000000000" pitchFamily="50" charset="-127"/>
              </a:rPr>
              <a:t/>
            </a:r>
            <a:br>
              <a:rPr lang="en-US" altLang="ko-KR" sz="900" smtClean="0">
                <a:latin typeface="KB금융 본문체 Light" panose="020B0303000000000000" pitchFamily="50" charset="-127"/>
                <a:ea typeface="KB금융 본문체 Light" panose="020B0303000000000000" pitchFamily="50" charset="-127"/>
              </a:rPr>
            </a:br>
            <a:r>
              <a:rPr lang="ko-KR" altLang="en-US" sz="900" smtClean="0">
                <a:latin typeface="KB금융 본문체 Light" panose="020B0303000000000000" pitchFamily="50" charset="-127"/>
                <a:ea typeface="KB금융 본문체 Light" panose="020B0303000000000000" pitchFamily="50" charset="-127"/>
              </a:rPr>
              <a:t>고유식별번호</a:t>
            </a:r>
            <a:endParaRPr lang="en-US" altLang="ko-KR" sz="900" dirty="0" smtClean="0">
              <a:latin typeface="KB금융 본문체 Light" panose="020B0303000000000000" pitchFamily="50" charset="-127"/>
              <a:ea typeface="KB금융 본문체 Light" panose="020B0303000000000000" pitchFamily="50" charset="-127"/>
            </a:endParaRPr>
          </a:p>
        </p:txBody>
      </p:sp>
      <p:cxnSp>
        <p:nvCxnSpPr>
          <p:cNvPr id="96" name="직선 화살표 연결선 95"/>
          <p:cNvCxnSpPr/>
          <p:nvPr/>
        </p:nvCxnSpPr>
        <p:spPr bwMode="auto">
          <a:xfrm>
            <a:off x="6640388" y="3987210"/>
            <a:ext cx="830263" cy="0"/>
          </a:xfrm>
          <a:prstGeom prst="straightConnector1">
            <a:avLst/>
          </a:prstGeom>
          <a:noFill/>
          <a:ln w="19050" cap="flat" cmpd="sng" algn="ctr">
            <a:solidFill>
              <a:schemeClr val="bg1">
                <a:lumMod val="65000"/>
              </a:schemeClr>
            </a:solidFill>
            <a:prstDash val="solid"/>
            <a:round/>
            <a:headEnd type="none" w="med" len="med"/>
            <a:tailEnd type="arrow"/>
          </a:ln>
          <a:effectLst/>
        </p:spPr>
      </p:cxnSp>
      <p:sp>
        <p:nvSpPr>
          <p:cNvPr id="100" name="직사각형 99"/>
          <p:cNvSpPr/>
          <p:nvPr/>
        </p:nvSpPr>
        <p:spPr bwMode="auto">
          <a:xfrm>
            <a:off x="5306888" y="2263314"/>
            <a:ext cx="4038600" cy="3276000"/>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ko-KR" altLang="en-US" sz="1000" i="0" u="none" strike="noStrike" cap="none" normalizeH="0" baseline="0" smtClean="0">
              <a:ln>
                <a:noFill/>
              </a:ln>
              <a:solidFill>
                <a:schemeClr val="tx1"/>
              </a:solidFill>
              <a:effectLst/>
              <a:latin typeface="KB금융 본문체 Light" panose="020B0303000000000000" pitchFamily="50" charset="-127"/>
              <a:ea typeface="KB금융 본문체 Light" panose="020B0303000000000000" pitchFamily="50" charset="-127"/>
            </a:endParaRPr>
          </a:p>
        </p:txBody>
      </p:sp>
      <p:sp>
        <p:nvSpPr>
          <p:cNvPr id="101" name="Rectangle 8"/>
          <p:cNvSpPr>
            <a:spLocks noChangeArrowheads="1"/>
          </p:cNvSpPr>
          <p:nvPr/>
        </p:nvSpPr>
        <p:spPr bwMode="gray">
          <a:xfrm>
            <a:off x="5611688" y="3870049"/>
            <a:ext cx="939404" cy="368211"/>
          </a:xfrm>
          <a:prstGeom prst="rect">
            <a:avLst/>
          </a:prstGeom>
          <a:noFill/>
          <a:ln w="9525" algn="ctr">
            <a:solidFill>
              <a:schemeClr val="bg1">
                <a:lumMod val="50000"/>
              </a:schemeClr>
            </a:solidFill>
            <a:miter lim="800000"/>
            <a:headEnd/>
            <a:tailEnd/>
          </a:ln>
        </p:spPr>
        <p:txBody>
          <a:bodyPr wrap="square" lIns="92075" tIns="46038" rIns="92075" bIns="46038" anchor="ctr"/>
          <a:lstStyle/>
          <a:p>
            <a:pPr algn="ctr" eaLnBrk="0" hangingPunct="0">
              <a:spcBef>
                <a:spcPct val="50000"/>
              </a:spcBef>
              <a:defRPr/>
            </a:pPr>
            <a:r>
              <a:rPr lang="ko-KR" altLang="en-US" sz="1100" smtClean="0">
                <a:latin typeface="KB금융 제목체 Bold" panose="020B0803000000000000" pitchFamily="50" charset="-127"/>
                <a:ea typeface="KB금융 제목체 Bold" panose="020B0803000000000000" pitchFamily="50" charset="-127"/>
              </a:rPr>
              <a:t>암</a:t>
            </a:r>
            <a:r>
              <a:rPr lang="en-US" altLang="ko-KR" sz="1100">
                <a:latin typeface="KB금융 제목체 Bold" panose="020B0803000000000000" pitchFamily="50" charset="-127"/>
                <a:ea typeface="KB금융 제목체 Bold" panose="020B0803000000000000" pitchFamily="50" charset="-127"/>
              </a:rPr>
              <a:t>·</a:t>
            </a:r>
            <a:r>
              <a:rPr lang="ko-KR" altLang="en-US" sz="1100">
                <a:latin typeface="KB금융 제목체 Bold" panose="020B0803000000000000" pitchFamily="50" charset="-127"/>
                <a:ea typeface="KB금융 제목체 Bold" panose="020B0803000000000000" pitchFamily="50" charset="-127"/>
              </a:rPr>
              <a:t>복호화</a:t>
            </a:r>
            <a:r>
              <a:rPr lang="en-US" altLang="ko-KR" sz="1100" dirty="0" smtClean="0">
                <a:latin typeface="KB금융 제목체 Bold" panose="020B0803000000000000" pitchFamily="50" charset="-127"/>
                <a:ea typeface="KB금융 제목체 Bold" panose="020B0803000000000000" pitchFamily="50" charset="-127"/>
              </a:rPr>
              <a:t/>
            </a:r>
            <a:br>
              <a:rPr lang="en-US" altLang="ko-KR" sz="1100" dirty="0" smtClean="0">
                <a:latin typeface="KB금융 제목체 Bold" panose="020B0803000000000000" pitchFamily="50" charset="-127"/>
                <a:ea typeface="KB금융 제목체 Bold" panose="020B0803000000000000" pitchFamily="50" charset="-127"/>
              </a:rPr>
            </a:br>
            <a:r>
              <a:rPr lang="en-US" altLang="ko-KR" sz="1100" dirty="0" smtClean="0">
                <a:latin typeface="KB금융 제목체 Bold" panose="020B0803000000000000" pitchFamily="50" charset="-127"/>
                <a:ea typeface="KB금융 제목체 Bold" panose="020B0803000000000000" pitchFamily="50" charset="-127"/>
              </a:rPr>
              <a:t>Agent</a:t>
            </a:r>
          </a:p>
        </p:txBody>
      </p:sp>
      <p:cxnSp>
        <p:nvCxnSpPr>
          <p:cNvPr id="102" name="직선 화살표 연결선 101"/>
          <p:cNvCxnSpPr/>
          <p:nvPr/>
        </p:nvCxnSpPr>
        <p:spPr bwMode="auto">
          <a:xfrm>
            <a:off x="6621733" y="4129473"/>
            <a:ext cx="830263" cy="0"/>
          </a:xfrm>
          <a:prstGeom prst="straightConnector1">
            <a:avLst/>
          </a:prstGeom>
          <a:noFill/>
          <a:ln w="19050" cap="flat" cmpd="sng" algn="ctr">
            <a:solidFill>
              <a:schemeClr val="bg1">
                <a:lumMod val="65000"/>
              </a:schemeClr>
            </a:solidFill>
            <a:prstDash val="solid"/>
            <a:round/>
            <a:headEnd type="arrow" w="med" len="med"/>
            <a:tailEnd type="none"/>
          </a:ln>
          <a:effectLst/>
        </p:spPr>
      </p:cxnSp>
      <p:sp>
        <p:nvSpPr>
          <p:cNvPr id="103" name="Rectangle 8"/>
          <p:cNvSpPr>
            <a:spLocks noChangeArrowheads="1"/>
          </p:cNvSpPr>
          <p:nvPr/>
        </p:nvSpPr>
        <p:spPr bwMode="gray">
          <a:xfrm>
            <a:off x="6572125" y="4202258"/>
            <a:ext cx="944563" cy="242684"/>
          </a:xfrm>
          <a:prstGeom prst="rect">
            <a:avLst/>
          </a:prstGeom>
          <a:noFill/>
          <a:ln w="9525" algn="ctr">
            <a:noFill/>
            <a:miter lim="800000"/>
            <a:headEnd/>
            <a:tailEnd/>
          </a:ln>
        </p:spPr>
        <p:txBody>
          <a:bodyPr wrap="square" lIns="0" tIns="36000" rIns="0" bIns="36000" anchor="ctr"/>
          <a:lstStyle/>
          <a:p>
            <a:pPr algn="ctr" eaLnBrk="0" hangingPunct="0">
              <a:spcBef>
                <a:spcPct val="50000"/>
              </a:spcBef>
              <a:defRPr/>
            </a:pPr>
            <a:r>
              <a:rPr lang="ko-KR" altLang="en-US" sz="900" smtClean="0">
                <a:latin typeface="KB금융 본문체 Light" panose="020B0303000000000000" pitchFamily="50" charset="-127"/>
                <a:ea typeface="KB금융 본문체 Light" panose="020B0303000000000000" pitchFamily="50" charset="-127"/>
              </a:rPr>
              <a:t>②고유식별번호</a:t>
            </a:r>
            <a:r>
              <a:rPr lang="en-US" altLang="ko-KR" sz="900" smtClean="0">
                <a:latin typeface="KB금융 본문체 Light" panose="020B0303000000000000" pitchFamily="50" charset="-127"/>
                <a:ea typeface="KB금융 본문체 Light" panose="020B0303000000000000" pitchFamily="50" charset="-127"/>
              </a:rPr>
              <a:t/>
            </a:r>
            <a:br>
              <a:rPr lang="en-US" altLang="ko-KR" sz="900" smtClean="0">
                <a:latin typeface="KB금융 본문체 Light" panose="020B0303000000000000" pitchFamily="50" charset="-127"/>
                <a:ea typeface="KB금융 본문체 Light" panose="020B0303000000000000" pitchFamily="50" charset="-127"/>
              </a:rPr>
            </a:br>
            <a:r>
              <a:rPr lang="en-US" altLang="ko-KR" sz="900" smtClean="0">
                <a:latin typeface="KB금융 본문체 Light" panose="020B0303000000000000" pitchFamily="50" charset="-127"/>
                <a:ea typeface="KB금융 본문체 Light" panose="020B0303000000000000" pitchFamily="50" charset="-127"/>
              </a:rPr>
              <a:t>(</a:t>
            </a:r>
            <a:r>
              <a:rPr lang="ko-KR" altLang="en-US" sz="900" smtClean="0">
                <a:latin typeface="KB금융 본문체 Light" panose="020B0303000000000000" pitchFamily="50" charset="-127"/>
                <a:ea typeface="KB금융 본문체 Light" panose="020B0303000000000000" pitchFamily="50" charset="-127"/>
              </a:rPr>
              <a:t>암호화</a:t>
            </a:r>
            <a:r>
              <a:rPr lang="en-US" altLang="ko-KR" sz="900" smtClean="0">
                <a:latin typeface="KB금융 본문체 Light" panose="020B0303000000000000" pitchFamily="50" charset="-127"/>
                <a:ea typeface="KB금융 본문체 Light" panose="020B0303000000000000" pitchFamily="50" charset="-127"/>
              </a:rPr>
              <a:t>)</a:t>
            </a:r>
            <a:endParaRPr lang="en-US" altLang="ko-KR" sz="900" dirty="0" smtClean="0">
              <a:latin typeface="KB금융 본문체 Light" panose="020B0303000000000000" pitchFamily="50" charset="-127"/>
              <a:ea typeface="KB금융 본문체 Light" panose="020B0303000000000000" pitchFamily="50" charset="-127"/>
            </a:endParaRPr>
          </a:p>
        </p:txBody>
      </p:sp>
      <p:sp>
        <p:nvSpPr>
          <p:cNvPr id="104" name="Rectangle 8"/>
          <p:cNvSpPr>
            <a:spLocks noChangeArrowheads="1"/>
          </p:cNvSpPr>
          <p:nvPr/>
        </p:nvSpPr>
        <p:spPr bwMode="gray">
          <a:xfrm>
            <a:off x="8354888" y="3234050"/>
            <a:ext cx="630560" cy="242684"/>
          </a:xfrm>
          <a:prstGeom prst="rect">
            <a:avLst/>
          </a:prstGeom>
          <a:noFill/>
          <a:ln w="9525" algn="ctr">
            <a:noFill/>
            <a:miter lim="800000"/>
            <a:headEnd/>
            <a:tailEnd/>
          </a:ln>
        </p:spPr>
        <p:txBody>
          <a:bodyPr wrap="square" lIns="0" tIns="36000" rIns="0" bIns="36000" anchor="ctr"/>
          <a:lstStyle/>
          <a:p>
            <a:pPr algn="ctr" eaLnBrk="0" latinLnBrk="0" hangingPunct="0">
              <a:spcBef>
                <a:spcPct val="50000"/>
              </a:spcBef>
              <a:defRPr/>
            </a:pPr>
            <a:r>
              <a:rPr lang="ko-KR" altLang="en-US" sz="900" smtClean="0">
                <a:latin typeface="KB금융 본문체 Light" panose="020B0303000000000000" pitchFamily="50" charset="-127"/>
                <a:ea typeface="KB금융 본문체 Light" panose="020B0303000000000000" pitchFamily="50" charset="-127"/>
              </a:rPr>
              <a:t>고유식별번호복호화요청</a:t>
            </a:r>
            <a:endParaRPr lang="en-US" altLang="ko-KR" sz="900" dirty="0" smtClean="0">
              <a:latin typeface="KB금융 본문체 Light" panose="020B0303000000000000" pitchFamily="50" charset="-127"/>
              <a:ea typeface="KB금융 본문체 Light" panose="020B0303000000000000" pitchFamily="50" charset="-127"/>
            </a:endParaRPr>
          </a:p>
        </p:txBody>
      </p:sp>
      <p:cxnSp>
        <p:nvCxnSpPr>
          <p:cNvPr id="107" name="직선 화살표 연결선 106"/>
          <p:cNvCxnSpPr/>
          <p:nvPr/>
        </p:nvCxnSpPr>
        <p:spPr bwMode="auto">
          <a:xfrm>
            <a:off x="8193360" y="3121793"/>
            <a:ext cx="1" cy="465105"/>
          </a:xfrm>
          <a:prstGeom prst="straightConnector1">
            <a:avLst/>
          </a:prstGeom>
          <a:noFill/>
          <a:ln w="15875" cap="flat" cmpd="sng" algn="ctr">
            <a:solidFill>
              <a:schemeClr val="bg1">
                <a:lumMod val="75000"/>
              </a:schemeClr>
            </a:solidFill>
            <a:prstDash val="solid"/>
            <a:round/>
            <a:headEnd type="arrow" w="med" len="med"/>
            <a:tailEnd type="none"/>
          </a:ln>
          <a:effectLst/>
        </p:spPr>
      </p:cxnSp>
      <p:cxnSp>
        <p:nvCxnSpPr>
          <p:cNvPr id="108" name="직선 화살표 연결선 107"/>
          <p:cNvCxnSpPr/>
          <p:nvPr/>
        </p:nvCxnSpPr>
        <p:spPr bwMode="auto">
          <a:xfrm>
            <a:off x="8261400" y="4263366"/>
            <a:ext cx="3968" cy="376579"/>
          </a:xfrm>
          <a:prstGeom prst="straightConnector1">
            <a:avLst/>
          </a:prstGeom>
          <a:noFill/>
          <a:ln w="15875" cap="flat" cmpd="sng" algn="ctr">
            <a:solidFill>
              <a:schemeClr val="bg1">
                <a:lumMod val="75000"/>
              </a:schemeClr>
            </a:solidFill>
            <a:prstDash val="solid"/>
            <a:round/>
            <a:headEnd type="arrow" w="med" len="med"/>
            <a:tailEnd type="none"/>
          </a:ln>
          <a:effectLst/>
        </p:spPr>
      </p:cxnSp>
      <p:sp>
        <p:nvSpPr>
          <p:cNvPr id="109" name="Rectangle 8"/>
          <p:cNvSpPr>
            <a:spLocks noChangeArrowheads="1"/>
          </p:cNvSpPr>
          <p:nvPr/>
        </p:nvSpPr>
        <p:spPr bwMode="gray">
          <a:xfrm>
            <a:off x="7353176" y="4387630"/>
            <a:ext cx="914004" cy="242684"/>
          </a:xfrm>
          <a:prstGeom prst="rect">
            <a:avLst/>
          </a:prstGeom>
          <a:noFill/>
          <a:ln w="9525" algn="ctr">
            <a:noFill/>
            <a:miter lim="800000"/>
            <a:headEnd/>
            <a:tailEnd/>
          </a:ln>
        </p:spPr>
        <p:txBody>
          <a:bodyPr wrap="square" lIns="0" tIns="36000" rIns="0" bIns="36000" anchor="ctr"/>
          <a:lstStyle/>
          <a:p>
            <a:pPr algn="ctr" eaLnBrk="0" hangingPunct="0">
              <a:spcBef>
                <a:spcPct val="50000"/>
              </a:spcBef>
              <a:defRPr/>
            </a:pPr>
            <a:r>
              <a:rPr lang="ko-KR" altLang="en-US" sz="900" smtClean="0">
                <a:latin typeface="KB금융 본문체 Light" panose="020B0303000000000000" pitchFamily="50" charset="-127"/>
                <a:ea typeface="KB금융 본문체 Light" panose="020B0303000000000000" pitchFamily="50" charset="-127"/>
              </a:rPr>
              <a:t>①고유식별번호</a:t>
            </a:r>
            <a:r>
              <a:rPr lang="en-US" altLang="ko-KR" sz="900" dirty="0" smtClean="0">
                <a:latin typeface="KB금융 본문체 Light" panose="020B0303000000000000" pitchFamily="50" charset="-127"/>
                <a:ea typeface="KB금융 본문체 Light" panose="020B0303000000000000" pitchFamily="50" charset="-127"/>
              </a:rPr>
              <a:t/>
            </a:r>
            <a:br>
              <a:rPr lang="en-US" altLang="ko-KR" sz="900" dirty="0" smtClean="0">
                <a:latin typeface="KB금융 본문체 Light" panose="020B0303000000000000" pitchFamily="50" charset="-127"/>
                <a:ea typeface="KB금융 본문체 Light" panose="020B0303000000000000" pitchFamily="50" charset="-127"/>
              </a:rPr>
            </a:br>
            <a:r>
              <a:rPr lang="en-US" altLang="ko-KR" sz="900" dirty="0" smtClean="0">
                <a:latin typeface="KB금융 본문체 Light" panose="020B0303000000000000" pitchFamily="50" charset="-127"/>
                <a:ea typeface="KB금융 본문체 Light" panose="020B0303000000000000" pitchFamily="50" charset="-127"/>
              </a:rPr>
              <a:t>(</a:t>
            </a:r>
            <a:r>
              <a:rPr lang="ko-KR" altLang="en-US" sz="900" dirty="0" smtClean="0">
                <a:latin typeface="KB금융 본문체 Light" panose="020B0303000000000000" pitchFamily="50" charset="-127"/>
                <a:ea typeface="KB금융 본문체 Light" panose="020B0303000000000000" pitchFamily="50" charset="-127"/>
              </a:rPr>
              <a:t>암호화</a:t>
            </a:r>
            <a:r>
              <a:rPr lang="en-US" altLang="ko-KR" sz="900" dirty="0" smtClean="0">
                <a:latin typeface="KB금융 본문체 Light" panose="020B0303000000000000" pitchFamily="50" charset="-127"/>
                <a:ea typeface="KB금융 본문체 Light" panose="020B0303000000000000" pitchFamily="50" charset="-127"/>
              </a:rPr>
              <a:t>)</a:t>
            </a:r>
          </a:p>
        </p:txBody>
      </p:sp>
      <p:sp>
        <p:nvSpPr>
          <p:cNvPr id="112" name="Rectangle 8"/>
          <p:cNvSpPr>
            <a:spLocks noChangeArrowheads="1"/>
          </p:cNvSpPr>
          <p:nvPr/>
        </p:nvSpPr>
        <p:spPr bwMode="gray">
          <a:xfrm>
            <a:off x="7313538" y="3259155"/>
            <a:ext cx="735806" cy="242684"/>
          </a:xfrm>
          <a:prstGeom prst="rect">
            <a:avLst/>
          </a:prstGeom>
          <a:noFill/>
          <a:ln w="9525" algn="ctr">
            <a:noFill/>
            <a:miter lim="800000"/>
            <a:headEnd/>
            <a:tailEnd/>
          </a:ln>
        </p:spPr>
        <p:txBody>
          <a:bodyPr wrap="square" lIns="0" tIns="36000" rIns="0" bIns="36000" anchor="ctr"/>
          <a:lstStyle/>
          <a:p>
            <a:pPr algn="ctr" eaLnBrk="0" hangingPunct="0">
              <a:spcBef>
                <a:spcPct val="50000"/>
              </a:spcBef>
              <a:defRPr/>
            </a:pPr>
            <a:r>
              <a:rPr lang="ko-KR" altLang="en-US" sz="900" smtClean="0">
                <a:latin typeface="KB금융 본문체 Light" panose="020B0303000000000000" pitchFamily="50" charset="-127"/>
                <a:ea typeface="KB금융 본문체 Light" panose="020B0303000000000000" pitchFamily="50" charset="-127"/>
              </a:rPr>
              <a:t>④고유식별번호</a:t>
            </a:r>
            <a:r>
              <a:rPr lang="en-US" altLang="ko-KR" sz="900" dirty="0" smtClean="0">
                <a:latin typeface="KB금융 본문체 Light" panose="020B0303000000000000" pitchFamily="50" charset="-127"/>
                <a:ea typeface="KB금융 본문체 Light" panose="020B0303000000000000" pitchFamily="50" charset="-127"/>
              </a:rPr>
              <a:t/>
            </a:r>
            <a:br>
              <a:rPr lang="en-US" altLang="ko-KR" sz="900" dirty="0" smtClean="0">
                <a:latin typeface="KB금융 본문체 Light" panose="020B0303000000000000" pitchFamily="50" charset="-127"/>
                <a:ea typeface="KB금융 본문체 Light" panose="020B0303000000000000" pitchFamily="50" charset="-127"/>
              </a:rPr>
            </a:br>
            <a:r>
              <a:rPr lang="en-US" altLang="ko-KR" sz="900" dirty="0" smtClean="0">
                <a:latin typeface="KB금융 본문체 Light" panose="020B0303000000000000" pitchFamily="50" charset="-127"/>
                <a:ea typeface="KB금융 본문체 Light" panose="020B0303000000000000" pitchFamily="50" charset="-127"/>
              </a:rPr>
              <a:t>(</a:t>
            </a:r>
            <a:r>
              <a:rPr lang="ko-KR" altLang="en-US" sz="900" dirty="0" err="1" smtClean="0">
                <a:latin typeface="KB금융 본문체 Light" panose="020B0303000000000000" pitchFamily="50" charset="-127"/>
                <a:ea typeface="KB금융 본문체 Light" panose="020B0303000000000000" pitchFamily="50" charset="-127"/>
              </a:rPr>
              <a:t>평문</a:t>
            </a:r>
            <a:r>
              <a:rPr lang="en-US" altLang="ko-KR" sz="900" dirty="0" smtClean="0">
                <a:latin typeface="KB금융 본문체 Light" panose="020B0303000000000000" pitchFamily="50" charset="-127"/>
                <a:ea typeface="KB금융 본문체 Light" panose="020B0303000000000000" pitchFamily="50" charset="-127"/>
              </a:rPr>
              <a:t>)</a:t>
            </a:r>
          </a:p>
        </p:txBody>
      </p:sp>
      <p:sp>
        <p:nvSpPr>
          <p:cNvPr id="113" name="직사각형 112"/>
          <p:cNvSpPr/>
          <p:nvPr/>
        </p:nvSpPr>
        <p:spPr bwMode="auto">
          <a:xfrm>
            <a:off x="658688" y="1956220"/>
            <a:ext cx="4038600" cy="288000"/>
          </a:xfrm>
          <a:prstGeom prst="rect">
            <a:avLst/>
          </a:prstGeom>
          <a:noFill/>
          <a:ln w="6350" algn="ctr">
            <a:solidFill>
              <a:schemeClr val="bg1">
                <a:lumMod val="50000"/>
              </a:schemeClr>
            </a:solidFill>
            <a:miter lim="800000"/>
            <a:headEnd/>
            <a:tailEnd/>
          </a:ln>
          <a:effectLst/>
        </p:spPr>
        <p:txBody>
          <a:bodyPr wrap="none" tIns="36000" bIns="36000" anchor="ctr" anchorCtr="0"/>
          <a:lstStyle/>
          <a:p>
            <a:pPr algn="ctr"/>
            <a:r>
              <a:rPr lang="ko-KR" altLang="en-US" sz="1400" smtClean="0">
                <a:latin typeface="KB금융 제목체 Bold" panose="020B0803000000000000" pitchFamily="50" charset="-127"/>
                <a:ea typeface="KB금융 제목체 Bold" panose="020B0803000000000000" pitchFamily="50" charset="-127"/>
              </a:rPr>
              <a:t>고유식별번호</a:t>
            </a:r>
            <a:r>
              <a:rPr lang="ko-KR" altLang="en-US" sz="1400" baseline="30000" smtClean="0">
                <a:latin typeface="KB금융 제목체 Bold" panose="020B0803000000000000" pitchFamily="50" charset="-127"/>
                <a:ea typeface="KB금융 제목체 Bold" panose="020B0803000000000000" pitchFamily="50" charset="-127"/>
              </a:rPr>
              <a:t>주</a:t>
            </a:r>
            <a:r>
              <a:rPr lang="en-US" altLang="ko-KR" sz="1400" baseline="30000" smtClean="0">
                <a:latin typeface="KB금융 제목체 Bold" panose="020B0803000000000000" pitchFamily="50" charset="-127"/>
                <a:ea typeface="KB금융 제목체 Bold" panose="020B0803000000000000" pitchFamily="50" charset="-127"/>
              </a:rPr>
              <a:t>1)</a:t>
            </a:r>
            <a:r>
              <a:rPr lang="ko-KR" altLang="en-US" sz="1400" smtClean="0">
                <a:latin typeface="KB금융 제목체 Bold" panose="020B0803000000000000" pitchFamily="50" charset="-127"/>
                <a:ea typeface="KB금융 제목체 Bold" panose="020B0803000000000000" pitchFamily="50" charset="-127"/>
              </a:rPr>
              <a:t> </a:t>
            </a:r>
            <a:r>
              <a:rPr lang="ko-KR" altLang="en-US" sz="1400" dirty="0">
                <a:latin typeface="KB금융 제목체 Bold" panose="020B0803000000000000" pitchFamily="50" charset="-127"/>
                <a:ea typeface="KB금융 제목체 Bold" panose="020B0803000000000000" pitchFamily="50" charset="-127"/>
              </a:rPr>
              <a:t>저장 </a:t>
            </a:r>
            <a:r>
              <a:rPr lang="en-US" altLang="ko-KR" sz="1400" dirty="0">
                <a:latin typeface="KB금융 제목체 Bold" panose="020B0803000000000000" pitchFamily="50" charset="-127"/>
                <a:ea typeface="KB금융 제목체 Bold" panose="020B0803000000000000" pitchFamily="50" charset="-127"/>
              </a:rPr>
              <a:t>(</a:t>
            </a:r>
            <a:r>
              <a:rPr lang="ko-KR" altLang="en-US" sz="1400" dirty="0">
                <a:latin typeface="KB금융 제목체 Bold" panose="020B0803000000000000" pitchFamily="50" charset="-127"/>
                <a:ea typeface="KB금융 제목체 Bold" panose="020B0803000000000000" pitchFamily="50" charset="-127"/>
              </a:rPr>
              <a:t>암호화</a:t>
            </a:r>
            <a:r>
              <a:rPr lang="en-US" altLang="ko-KR" sz="1400" dirty="0">
                <a:latin typeface="KB금융 제목체 Bold" panose="020B0803000000000000" pitchFamily="50" charset="-127"/>
                <a:ea typeface="KB금융 제목체 Bold" panose="020B0803000000000000" pitchFamily="50" charset="-127"/>
              </a:rPr>
              <a:t>)</a:t>
            </a:r>
            <a:endParaRPr lang="ko-KR" altLang="en-US" sz="1400" dirty="0">
              <a:latin typeface="KB금융 제목체 Bold" panose="020B0803000000000000" pitchFamily="50" charset="-127"/>
              <a:ea typeface="KB금융 제목체 Bold" panose="020B0803000000000000" pitchFamily="50" charset="-127"/>
            </a:endParaRPr>
          </a:p>
        </p:txBody>
      </p:sp>
      <p:sp>
        <p:nvSpPr>
          <p:cNvPr id="114" name="직사각형 113"/>
          <p:cNvSpPr/>
          <p:nvPr/>
        </p:nvSpPr>
        <p:spPr bwMode="auto">
          <a:xfrm>
            <a:off x="5306888" y="1956220"/>
            <a:ext cx="4038600" cy="288000"/>
          </a:xfrm>
          <a:prstGeom prst="rect">
            <a:avLst/>
          </a:prstGeom>
          <a:noFill/>
          <a:ln w="6350" algn="ctr">
            <a:solidFill>
              <a:schemeClr val="bg1">
                <a:lumMod val="50000"/>
              </a:schemeClr>
            </a:solidFill>
            <a:miter lim="800000"/>
            <a:headEnd/>
            <a:tailEnd/>
          </a:ln>
          <a:effectLst/>
        </p:spPr>
        <p:txBody>
          <a:bodyPr wrap="none" tIns="36000" bIns="36000" anchor="ctr" anchorCtr="0"/>
          <a:lstStyle/>
          <a:p>
            <a:pPr algn="ctr"/>
            <a:r>
              <a:rPr lang="ko-KR" altLang="en-US" sz="1400" smtClean="0">
                <a:latin typeface="KB금융 제목체 Bold" panose="020B0803000000000000" pitchFamily="50" charset="-127"/>
                <a:ea typeface="KB금융 제목체 Bold" panose="020B0803000000000000" pitchFamily="50" charset="-127"/>
              </a:rPr>
              <a:t>고유식별번호 출력 </a:t>
            </a:r>
            <a:r>
              <a:rPr lang="en-US" altLang="ko-KR" sz="1400" dirty="0">
                <a:latin typeface="KB금융 제목체 Bold" panose="020B0803000000000000" pitchFamily="50" charset="-127"/>
                <a:ea typeface="KB금융 제목체 Bold" panose="020B0803000000000000" pitchFamily="50" charset="-127"/>
              </a:rPr>
              <a:t>(</a:t>
            </a:r>
            <a:r>
              <a:rPr lang="ko-KR" altLang="en-US" sz="1400" dirty="0" err="1">
                <a:latin typeface="KB금융 제목체 Bold" panose="020B0803000000000000" pitchFamily="50" charset="-127"/>
                <a:ea typeface="KB금융 제목체 Bold" panose="020B0803000000000000" pitchFamily="50" charset="-127"/>
              </a:rPr>
              <a:t>복호화</a:t>
            </a:r>
            <a:r>
              <a:rPr lang="en-US" altLang="ko-KR" sz="1400" dirty="0">
                <a:latin typeface="KB금융 제목체 Bold" panose="020B0803000000000000" pitchFamily="50" charset="-127"/>
                <a:ea typeface="KB금융 제목체 Bold" panose="020B0803000000000000" pitchFamily="50" charset="-127"/>
              </a:rPr>
              <a:t>)</a:t>
            </a:r>
            <a:endParaRPr lang="ko-KR" altLang="en-US" sz="1400" dirty="0">
              <a:latin typeface="KB금융 제목체 Bold" panose="020B0803000000000000" pitchFamily="50" charset="-127"/>
              <a:ea typeface="KB금융 제목체 Bold" panose="020B0803000000000000" pitchFamily="50" charset="-127"/>
            </a:endParaRPr>
          </a:p>
        </p:txBody>
      </p:sp>
      <p:sp>
        <p:nvSpPr>
          <p:cNvPr id="115" name="Rectangle 8"/>
          <p:cNvSpPr>
            <a:spLocks noChangeArrowheads="1"/>
          </p:cNvSpPr>
          <p:nvPr/>
        </p:nvSpPr>
        <p:spPr bwMode="gray">
          <a:xfrm>
            <a:off x="2935160" y="3635734"/>
            <a:ext cx="1356520" cy="605665"/>
          </a:xfrm>
          <a:prstGeom prst="rect">
            <a:avLst/>
          </a:prstGeom>
          <a:noFill/>
          <a:ln w="9525" algn="ctr">
            <a:solidFill>
              <a:schemeClr val="bg1">
                <a:lumMod val="50000"/>
              </a:schemeClr>
            </a:solidFill>
            <a:miter lim="800000"/>
            <a:headEnd/>
            <a:tailEnd/>
          </a:ln>
        </p:spPr>
        <p:txBody>
          <a:bodyPr wrap="square" lIns="92075" tIns="46038" rIns="92075" bIns="46038" anchor="ctr"/>
          <a:lstStyle/>
          <a:p>
            <a:pPr algn="ctr" eaLnBrk="0" latinLnBrk="0" hangingPunct="0">
              <a:spcBef>
                <a:spcPct val="50000"/>
              </a:spcBef>
              <a:defRPr/>
            </a:pPr>
            <a:r>
              <a:rPr lang="ko-KR" altLang="en-US" sz="1100" dirty="0" smtClean="0">
                <a:latin typeface="KB금융 제목체 Bold" panose="020B0803000000000000" pitchFamily="50" charset="-127"/>
                <a:ea typeface="KB금융 제목체 Bold" panose="020B0803000000000000" pitchFamily="50" charset="-127"/>
              </a:rPr>
              <a:t>업무 </a:t>
            </a:r>
            <a:r>
              <a:rPr lang="en-US" altLang="ko-KR" sz="1100" dirty="0" smtClean="0">
                <a:latin typeface="KB금융 제목체 Bold" panose="020B0803000000000000" pitchFamily="50" charset="-127"/>
                <a:ea typeface="KB금융 제목체 Bold" panose="020B0803000000000000" pitchFamily="50" charset="-127"/>
              </a:rPr>
              <a:t> </a:t>
            </a:r>
            <a:r>
              <a:rPr lang="ko-KR" altLang="en-US" sz="1100" dirty="0" smtClean="0">
                <a:latin typeface="KB금융 제목체 Bold" panose="020B0803000000000000" pitchFamily="50" charset="-127"/>
                <a:ea typeface="KB금융 제목체 Bold" panose="020B0803000000000000" pitchFamily="50" charset="-127"/>
              </a:rPr>
              <a:t>프로그램</a:t>
            </a:r>
            <a:endParaRPr lang="en-US" altLang="ko-KR" sz="1100" dirty="0" smtClean="0">
              <a:latin typeface="KB금융 제목체 Bold" panose="020B0803000000000000" pitchFamily="50" charset="-127"/>
              <a:ea typeface="KB금융 제목체 Bold" panose="020B0803000000000000" pitchFamily="50" charset="-127"/>
            </a:endParaRPr>
          </a:p>
        </p:txBody>
      </p:sp>
      <p:cxnSp>
        <p:nvCxnSpPr>
          <p:cNvPr id="116" name="직선 화살표 연결선 115"/>
          <p:cNvCxnSpPr>
            <a:stCxn id="73" idx="2"/>
            <a:endCxn id="115" idx="0"/>
          </p:cNvCxnSpPr>
          <p:nvPr/>
        </p:nvCxnSpPr>
        <p:spPr bwMode="auto">
          <a:xfrm flipH="1">
            <a:off x="3613420" y="3072957"/>
            <a:ext cx="1591" cy="562777"/>
          </a:xfrm>
          <a:prstGeom prst="straightConnector1">
            <a:avLst/>
          </a:prstGeom>
          <a:noFill/>
          <a:ln w="15875" cap="flat" cmpd="sng" algn="ctr">
            <a:solidFill>
              <a:schemeClr val="bg1">
                <a:lumMod val="75000"/>
              </a:schemeClr>
            </a:solidFill>
            <a:prstDash val="solid"/>
            <a:round/>
            <a:headEnd type="none" w="med" len="med"/>
            <a:tailEnd type="arrow"/>
          </a:ln>
          <a:effectLst/>
        </p:spPr>
      </p:cxnSp>
      <p:sp>
        <p:nvSpPr>
          <p:cNvPr id="117" name="Rectangle 8"/>
          <p:cNvSpPr>
            <a:spLocks noChangeArrowheads="1"/>
          </p:cNvSpPr>
          <p:nvPr/>
        </p:nvSpPr>
        <p:spPr bwMode="gray">
          <a:xfrm>
            <a:off x="3588636" y="3193886"/>
            <a:ext cx="838200" cy="323012"/>
          </a:xfrm>
          <a:prstGeom prst="rect">
            <a:avLst/>
          </a:prstGeom>
          <a:noFill/>
          <a:ln w="9525" algn="ctr">
            <a:noFill/>
            <a:miter lim="800000"/>
            <a:headEnd/>
            <a:tailEnd/>
          </a:ln>
        </p:spPr>
        <p:txBody>
          <a:bodyPr wrap="square" lIns="0" tIns="36000" rIns="0" bIns="36000" anchor="ctr"/>
          <a:lstStyle/>
          <a:p>
            <a:pPr algn="ctr" eaLnBrk="0" latinLnBrk="0" hangingPunct="0">
              <a:spcBef>
                <a:spcPct val="50000"/>
              </a:spcBef>
              <a:defRPr/>
            </a:pPr>
            <a:r>
              <a:rPr lang="ko-KR" altLang="en-US" sz="900" smtClean="0">
                <a:latin typeface="KB금융 본문체 Light" panose="020B0303000000000000" pitchFamily="50" charset="-127"/>
                <a:ea typeface="KB금융 본문체 Light" panose="020B0303000000000000" pitchFamily="50" charset="-127"/>
              </a:rPr>
              <a:t>고유식별번호</a:t>
            </a:r>
            <a:r>
              <a:rPr lang="ko-KR" altLang="en-US" sz="900" baseline="30000" smtClean="0">
                <a:latin typeface="KB금융 본문체 Light" panose="020B0303000000000000" pitchFamily="50" charset="-127"/>
                <a:ea typeface="KB금융 본문체 Light" panose="020B0303000000000000" pitchFamily="50" charset="-127"/>
              </a:rPr>
              <a:t>주</a:t>
            </a:r>
            <a:r>
              <a:rPr lang="en-US" altLang="ko-KR" sz="900" baseline="30000" smtClean="0">
                <a:latin typeface="KB금융 본문체 Light" panose="020B0303000000000000" pitchFamily="50" charset="-127"/>
                <a:ea typeface="KB금융 본문체 Light" panose="020B0303000000000000" pitchFamily="50" charset="-127"/>
              </a:rPr>
              <a:t>2)</a:t>
            </a:r>
            <a:r>
              <a:rPr lang="en-US" altLang="ko-KR" sz="900" smtClean="0">
                <a:latin typeface="KB금융 본문체 Light" panose="020B0303000000000000" pitchFamily="50" charset="-127"/>
                <a:ea typeface="KB금융 본문체 Light" panose="020B0303000000000000" pitchFamily="50" charset="-127"/>
              </a:rPr>
              <a:t/>
            </a:r>
            <a:br>
              <a:rPr lang="en-US" altLang="ko-KR" sz="900" smtClean="0">
                <a:latin typeface="KB금융 본문체 Light" panose="020B0303000000000000" pitchFamily="50" charset="-127"/>
                <a:ea typeface="KB금융 본문체 Light" panose="020B0303000000000000" pitchFamily="50" charset="-127"/>
              </a:rPr>
            </a:br>
            <a:r>
              <a:rPr lang="ko-KR" altLang="en-US" sz="900" smtClean="0">
                <a:latin typeface="KB금융 본문체 Light" panose="020B0303000000000000" pitchFamily="50" charset="-127"/>
                <a:ea typeface="KB금융 본문체 Light" panose="020B0303000000000000" pitchFamily="50" charset="-127"/>
              </a:rPr>
              <a:t>암호화요청</a:t>
            </a:r>
            <a:endParaRPr lang="en-US" altLang="ko-KR" sz="900" dirty="0" smtClean="0">
              <a:latin typeface="KB금융 본문체 Light" panose="020B0303000000000000" pitchFamily="50" charset="-127"/>
              <a:ea typeface="KB금융 본문체 Light" panose="020B0303000000000000" pitchFamily="50" charset="-127"/>
            </a:endParaRPr>
          </a:p>
        </p:txBody>
      </p:sp>
      <p:cxnSp>
        <p:nvCxnSpPr>
          <p:cNvPr id="118" name="직선 화살표 연결선 117"/>
          <p:cNvCxnSpPr/>
          <p:nvPr/>
        </p:nvCxnSpPr>
        <p:spPr bwMode="auto">
          <a:xfrm>
            <a:off x="8301371" y="3149371"/>
            <a:ext cx="1" cy="465105"/>
          </a:xfrm>
          <a:prstGeom prst="straightConnector1">
            <a:avLst/>
          </a:prstGeom>
          <a:noFill/>
          <a:ln w="15875" cap="flat" cmpd="sng" algn="ctr">
            <a:solidFill>
              <a:schemeClr val="bg1">
                <a:lumMod val="75000"/>
              </a:schemeClr>
            </a:solidFill>
            <a:prstDash val="solid"/>
            <a:round/>
            <a:headEnd type="none" w="med" len="med"/>
            <a:tailEnd type="arrow"/>
          </a:ln>
          <a:effectLst/>
        </p:spPr>
      </p:cxnSp>
      <p:cxnSp>
        <p:nvCxnSpPr>
          <p:cNvPr id="119" name="직선 화살표 연결선 118"/>
          <p:cNvCxnSpPr>
            <a:stCxn id="115" idx="2"/>
            <a:endCxn id="76" idx="1"/>
          </p:cNvCxnSpPr>
          <p:nvPr/>
        </p:nvCxnSpPr>
        <p:spPr bwMode="auto">
          <a:xfrm>
            <a:off x="3613420" y="4241399"/>
            <a:ext cx="5560" cy="465493"/>
          </a:xfrm>
          <a:prstGeom prst="straightConnector1">
            <a:avLst/>
          </a:prstGeom>
          <a:noFill/>
          <a:ln w="15875" cap="flat" cmpd="sng" algn="ctr">
            <a:solidFill>
              <a:schemeClr val="bg1">
                <a:lumMod val="75000"/>
              </a:schemeClr>
            </a:solidFill>
            <a:prstDash val="solid"/>
            <a:round/>
            <a:headEnd type="none" w="med" len="med"/>
            <a:tailEnd type="arrow"/>
          </a:ln>
          <a:effectLst/>
        </p:spPr>
      </p:cxnSp>
      <p:grpSp>
        <p:nvGrpSpPr>
          <p:cNvPr id="57" name="그룹 56"/>
          <p:cNvGrpSpPr/>
          <p:nvPr/>
        </p:nvGrpSpPr>
        <p:grpSpPr>
          <a:xfrm>
            <a:off x="5611688" y="2605675"/>
            <a:ext cx="609600" cy="485367"/>
            <a:chOff x="685800" y="2857501"/>
            <a:chExt cx="609600" cy="552448"/>
          </a:xfrm>
          <a:noFill/>
        </p:grpSpPr>
        <p:sp>
          <p:nvSpPr>
            <p:cNvPr id="58" name="모서리가 둥근 직사각형 57"/>
            <p:cNvSpPr/>
            <p:nvPr/>
          </p:nvSpPr>
          <p:spPr bwMode="auto">
            <a:xfrm>
              <a:off x="685800" y="2857501"/>
              <a:ext cx="609600" cy="376236"/>
            </a:xfrm>
            <a:prstGeom prst="roundRect">
              <a:avLst/>
            </a:prstGeom>
            <a:grpFill/>
            <a:ln w="9525" cap="flat" cmpd="sng" algn="ctr">
              <a:solidFill>
                <a:schemeClr val="bg1">
                  <a:lumMod val="75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50000"/>
                </a:spcBef>
                <a:spcAft>
                  <a:spcPct val="0"/>
                </a:spcAft>
                <a:buClrTx/>
                <a:buSzTx/>
                <a:buFontTx/>
                <a:buNone/>
                <a:tabLst/>
              </a:pPr>
              <a:r>
                <a:rPr kumimoji="0" lang="ko-KR" altLang="en-US" sz="1100" i="0" u="none" strike="noStrike" cap="none" normalizeH="0" baseline="0" smtClean="0">
                  <a:ln>
                    <a:noFill/>
                  </a:ln>
                  <a:solidFill>
                    <a:schemeClr val="tx1"/>
                  </a:solidFill>
                  <a:effectLst/>
                  <a:latin typeface="KB금융 제목체 Bold" panose="020B0803000000000000" pitchFamily="50" charset="-127"/>
                  <a:ea typeface="KB금융 제목체 Bold" panose="020B0803000000000000" pitchFamily="50" charset="-127"/>
                </a:rPr>
                <a:t>단말</a:t>
              </a:r>
            </a:p>
          </p:txBody>
        </p:sp>
        <p:sp>
          <p:nvSpPr>
            <p:cNvPr id="59" name="이등변 삼각형 58"/>
            <p:cNvSpPr/>
            <p:nvPr/>
          </p:nvSpPr>
          <p:spPr bwMode="auto">
            <a:xfrm>
              <a:off x="762000" y="3231358"/>
              <a:ext cx="457200" cy="178591"/>
            </a:xfrm>
            <a:prstGeom prst="triangle">
              <a:avLst/>
            </a:prstGeom>
            <a:grpFill/>
            <a:ln w="9525" cap="flat" cmpd="sng" algn="ctr">
              <a:solidFill>
                <a:schemeClr val="bg1">
                  <a:lumMod val="75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ko-KR" altLang="en-US" sz="1100" i="0" u="none" strike="noStrike" cap="none" normalizeH="0" baseline="0" smtClean="0">
                <a:ln>
                  <a:noFill/>
                </a:ln>
                <a:solidFill>
                  <a:schemeClr val="tx1"/>
                </a:solidFill>
                <a:effectLst/>
                <a:latin typeface="KB금융 제목체 Bold" panose="020B0803000000000000" pitchFamily="50" charset="-127"/>
                <a:ea typeface="KB금융 제목체 Bold" panose="020B0803000000000000" pitchFamily="50" charset="-127"/>
              </a:endParaRPr>
            </a:p>
          </p:txBody>
        </p:sp>
      </p:grpSp>
      <p:cxnSp>
        <p:nvCxnSpPr>
          <p:cNvPr id="60" name="직선 화살표 연결선 59"/>
          <p:cNvCxnSpPr/>
          <p:nvPr/>
        </p:nvCxnSpPr>
        <p:spPr bwMode="auto">
          <a:xfrm flipV="1">
            <a:off x="6221288" y="2720269"/>
            <a:ext cx="1363663" cy="2091"/>
          </a:xfrm>
          <a:prstGeom prst="straightConnector1">
            <a:avLst/>
          </a:prstGeom>
          <a:noFill/>
          <a:ln w="15875" cap="flat" cmpd="sng" algn="ctr">
            <a:solidFill>
              <a:schemeClr val="bg1">
                <a:lumMod val="75000"/>
              </a:schemeClr>
            </a:solidFill>
            <a:prstDash val="solid"/>
            <a:round/>
            <a:headEnd type="none" w="med" len="med"/>
            <a:tailEnd type="arrow"/>
          </a:ln>
          <a:effectLst/>
        </p:spPr>
      </p:cxnSp>
      <p:sp>
        <p:nvSpPr>
          <p:cNvPr id="61" name="Rectangle 8"/>
          <p:cNvSpPr>
            <a:spLocks noChangeArrowheads="1"/>
          </p:cNvSpPr>
          <p:nvPr/>
        </p:nvSpPr>
        <p:spPr bwMode="gray">
          <a:xfrm>
            <a:off x="6221289" y="2442970"/>
            <a:ext cx="1363662" cy="242684"/>
          </a:xfrm>
          <a:prstGeom prst="rect">
            <a:avLst/>
          </a:prstGeom>
          <a:noFill/>
          <a:ln w="9525" algn="ctr">
            <a:noFill/>
            <a:miter lim="800000"/>
            <a:headEnd/>
            <a:tailEnd/>
          </a:ln>
        </p:spPr>
        <p:txBody>
          <a:bodyPr wrap="square" lIns="0" tIns="36000" rIns="0" bIns="36000" anchor="ctr"/>
          <a:lstStyle/>
          <a:p>
            <a:pPr algn="ctr" eaLnBrk="0" hangingPunct="0">
              <a:spcBef>
                <a:spcPct val="50000"/>
              </a:spcBef>
              <a:defRPr/>
            </a:pPr>
            <a:r>
              <a:rPr lang="ko-KR" altLang="en-US" sz="900">
                <a:latin typeface="KB금융 본문체 Light" panose="020B0303000000000000" pitchFamily="50" charset="-127"/>
                <a:ea typeface="KB금융 본문체 Light" panose="020B0303000000000000" pitchFamily="50" charset="-127"/>
              </a:rPr>
              <a:t>입</a:t>
            </a:r>
            <a:r>
              <a:rPr lang="ko-KR" altLang="en-US" sz="900" smtClean="0">
                <a:latin typeface="KB금융 본문체 Light" panose="020B0303000000000000" pitchFamily="50" charset="-127"/>
                <a:ea typeface="KB금융 본문체 Light" panose="020B0303000000000000" pitchFamily="50" charset="-127"/>
              </a:rPr>
              <a:t>력전문</a:t>
            </a:r>
            <a:r>
              <a:rPr lang="en-US" altLang="ko-KR" sz="900">
                <a:latin typeface="KB금융 본문체 Light" panose="020B0303000000000000" pitchFamily="50" charset="-127"/>
                <a:ea typeface="KB금융 본문체 Light" panose="020B0303000000000000" pitchFamily="50" charset="-127"/>
              </a:rPr>
              <a:t>(</a:t>
            </a:r>
            <a:r>
              <a:rPr lang="ko-KR" altLang="en-US" sz="900">
                <a:latin typeface="KB금융 본문체 Light" panose="020B0303000000000000" pitchFamily="50" charset="-127"/>
                <a:ea typeface="KB금융 본문체 Light" panose="020B0303000000000000" pitchFamily="50" charset="-127"/>
              </a:rPr>
              <a:t>암호화</a:t>
            </a:r>
            <a:r>
              <a:rPr lang="en-US" altLang="ko-KR" sz="900" smtClean="0">
                <a:latin typeface="KB금융 본문체 Light" panose="020B0303000000000000" pitchFamily="50" charset="-127"/>
                <a:ea typeface="KB금융 본문체 Light" panose="020B0303000000000000" pitchFamily="50" charset="-127"/>
              </a:rPr>
              <a:t>)</a:t>
            </a:r>
            <a:endParaRPr lang="en-US" altLang="ko-KR" sz="900" baseline="30000" dirty="0">
              <a:latin typeface="KB금융 본문체 Light" panose="020B0303000000000000" pitchFamily="50" charset="-127"/>
              <a:ea typeface="KB금융 본문체 Light" panose="020B0303000000000000" pitchFamily="50" charset="-127"/>
            </a:endParaRPr>
          </a:p>
        </p:txBody>
      </p:sp>
      <p:cxnSp>
        <p:nvCxnSpPr>
          <p:cNvPr id="62" name="직선 화살표 연결선 61"/>
          <p:cNvCxnSpPr/>
          <p:nvPr/>
        </p:nvCxnSpPr>
        <p:spPr bwMode="auto">
          <a:xfrm flipV="1">
            <a:off x="6221288" y="2803010"/>
            <a:ext cx="1363663" cy="2091"/>
          </a:xfrm>
          <a:prstGeom prst="straightConnector1">
            <a:avLst/>
          </a:prstGeom>
          <a:noFill/>
          <a:ln w="15875" cap="flat" cmpd="sng" algn="ctr">
            <a:solidFill>
              <a:schemeClr val="bg1">
                <a:lumMod val="75000"/>
              </a:schemeClr>
            </a:solidFill>
            <a:prstDash val="solid"/>
            <a:round/>
            <a:headEnd type="triangle" w="med" len="med"/>
            <a:tailEnd type="none"/>
          </a:ln>
          <a:effectLst/>
        </p:spPr>
      </p:cxnSp>
      <p:sp>
        <p:nvSpPr>
          <p:cNvPr id="63" name="Rectangle 8"/>
          <p:cNvSpPr>
            <a:spLocks noChangeArrowheads="1"/>
          </p:cNvSpPr>
          <p:nvPr/>
        </p:nvSpPr>
        <p:spPr bwMode="gray">
          <a:xfrm>
            <a:off x="6221289" y="2848358"/>
            <a:ext cx="1363662" cy="242684"/>
          </a:xfrm>
          <a:prstGeom prst="rect">
            <a:avLst/>
          </a:prstGeom>
          <a:noFill/>
          <a:ln w="9525" algn="ctr">
            <a:noFill/>
            <a:miter lim="800000"/>
            <a:headEnd/>
            <a:tailEnd/>
          </a:ln>
        </p:spPr>
        <p:txBody>
          <a:bodyPr wrap="square" lIns="0" tIns="36000" rIns="0" bIns="36000" anchor="ctr"/>
          <a:lstStyle/>
          <a:p>
            <a:pPr algn="ctr" eaLnBrk="0" latinLnBrk="0" hangingPunct="0">
              <a:spcBef>
                <a:spcPct val="50000"/>
              </a:spcBef>
              <a:defRPr/>
            </a:pPr>
            <a:r>
              <a:rPr lang="ko-KR" altLang="en-US" sz="900" smtClean="0">
                <a:latin typeface="KB금융 본문체 Light" panose="020B0303000000000000" pitchFamily="50" charset="-127"/>
                <a:ea typeface="KB금융 본문체 Light" panose="020B0303000000000000" pitchFamily="50" charset="-127"/>
              </a:rPr>
              <a:t>출력전문</a:t>
            </a:r>
            <a:r>
              <a:rPr lang="en-US" altLang="ko-KR" sz="900" smtClean="0">
                <a:latin typeface="KB금융 본문체 Light" panose="020B0303000000000000" pitchFamily="50" charset="-127"/>
                <a:ea typeface="KB금융 본문체 Light" panose="020B0303000000000000" pitchFamily="50" charset="-127"/>
              </a:rPr>
              <a:t>(</a:t>
            </a:r>
            <a:r>
              <a:rPr lang="ko-KR" altLang="en-US" sz="900" smtClean="0">
                <a:latin typeface="KB금융 본문체 Light" panose="020B0303000000000000" pitchFamily="50" charset="-127"/>
                <a:ea typeface="KB금융 본문체 Light" panose="020B0303000000000000" pitchFamily="50" charset="-127"/>
              </a:rPr>
              <a:t>암호화</a:t>
            </a:r>
            <a:r>
              <a:rPr lang="en-US" altLang="ko-KR" sz="900" smtClean="0">
                <a:latin typeface="KB금융 본문체 Light" panose="020B0303000000000000" pitchFamily="50" charset="-127"/>
                <a:ea typeface="KB금융 본문체 Light" panose="020B0303000000000000" pitchFamily="50" charset="-127"/>
              </a:rPr>
              <a:t>)</a:t>
            </a:r>
            <a:r>
              <a:rPr lang="ko-KR" altLang="en-US" sz="900" baseline="30000" smtClean="0">
                <a:latin typeface="KB금융 본문체 Light" panose="020B0303000000000000" pitchFamily="50" charset="-127"/>
                <a:ea typeface="KB금융 본문체 Light" panose="020B0303000000000000" pitchFamily="50" charset="-127"/>
              </a:rPr>
              <a:t>주</a:t>
            </a:r>
            <a:r>
              <a:rPr lang="en-US" altLang="ko-KR" sz="900" baseline="30000" smtClean="0">
                <a:latin typeface="KB금융 본문체 Light" panose="020B0303000000000000" pitchFamily="50" charset="-127"/>
                <a:ea typeface="KB금융 본문체 Light" panose="020B0303000000000000" pitchFamily="50" charset="-127"/>
              </a:rPr>
              <a:t>2)</a:t>
            </a:r>
            <a:endParaRPr lang="en-US" altLang="ko-KR" sz="900" baseline="30000" dirty="0" smtClean="0">
              <a:latin typeface="KB금융 본문체 Light" panose="020B0303000000000000" pitchFamily="50" charset="-127"/>
              <a:ea typeface="KB금융 본문체 Light" panose="020B0303000000000000" pitchFamily="50" charset="-127"/>
            </a:endParaRPr>
          </a:p>
        </p:txBody>
      </p:sp>
      <p:sp>
        <p:nvSpPr>
          <p:cNvPr id="64" name="Rectangle 3"/>
          <p:cNvSpPr>
            <a:spLocks noChangeArrowheads="1"/>
          </p:cNvSpPr>
          <p:nvPr/>
        </p:nvSpPr>
        <p:spPr bwMode="auto">
          <a:xfrm>
            <a:off x="416496" y="5762563"/>
            <a:ext cx="8183044" cy="523220"/>
          </a:xfrm>
          <a:prstGeom prst="rect">
            <a:avLst/>
          </a:prstGeom>
          <a:noFill/>
          <a:ln w="9525" algn="ctr">
            <a:noFill/>
            <a:miter lim="800000"/>
            <a:headEnd/>
            <a:tailEnd/>
          </a:ln>
          <a:effectLst/>
        </p:spPr>
        <p:txBody>
          <a:bodyPr wrap="square">
            <a:spAutoFit/>
          </a:bodyPr>
          <a:lstStyle/>
          <a:p>
            <a:pPr marL="171450" indent="-171450">
              <a:lnSpc>
                <a:spcPct val="130000"/>
              </a:lnSpc>
              <a:spcBef>
                <a:spcPct val="20000"/>
              </a:spcBef>
              <a:buSzPct val="100000"/>
              <a:buFont typeface="Arial" panose="020B0604020202020204" pitchFamily="34" charset="0"/>
              <a:buChar char="•"/>
            </a:pPr>
            <a:r>
              <a:rPr lang="ko-KR" altLang="en-US" sz="1000" baseline="30000" smtClean="0">
                <a:latin typeface="KB금융 본문체 Light" panose="020B0303000000000000" pitchFamily="50" charset="-127"/>
                <a:ea typeface="KB금융 본문체 Light" panose="020B0303000000000000" pitchFamily="50" charset="-127"/>
                <a:cs typeface="ヒラギノ角ゴ ProN W3"/>
              </a:rPr>
              <a:t>주</a:t>
            </a:r>
            <a:r>
              <a:rPr lang="en-US" altLang="ko-KR" sz="1000" baseline="30000" smtClean="0">
                <a:latin typeface="KB금융 본문체 Light" panose="020B0303000000000000" pitchFamily="50" charset="-127"/>
                <a:ea typeface="KB금융 본문체 Light" panose="020B0303000000000000" pitchFamily="50" charset="-127"/>
                <a:cs typeface="ヒラギノ角ゴ ProN W3"/>
              </a:rPr>
              <a:t>1)</a:t>
            </a:r>
            <a:r>
              <a:rPr lang="en-US" altLang="ko-KR" sz="1000" smtClean="0">
                <a:latin typeface="KB금융 본문체 Light" panose="020B0303000000000000" pitchFamily="50" charset="-127"/>
                <a:ea typeface="KB금융 본문체 Light" panose="020B0303000000000000" pitchFamily="50" charset="-127"/>
                <a:cs typeface="ヒラギノ角ゴ ProN W3"/>
              </a:rPr>
              <a:t> </a:t>
            </a:r>
            <a:r>
              <a:rPr lang="ko-KR" altLang="en-US" sz="1000">
                <a:latin typeface="KB금융 본문체 Light" panose="020B0303000000000000" pitchFamily="50" charset="-127"/>
                <a:ea typeface="KB금융 본문체 Light" panose="020B0303000000000000" pitchFamily="50" charset="-127"/>
                <a:cs typeface="ヒラギノ角ゴ ProN W3"/>
              </a:rPr>
              <a:t>고유식별번호 </a:t>
            </a:r>
            <a:r>
              <a:rPr lang="en-US" altLang="ko-KR" sz="1000">
                <a:latin typeface="KB금융 본문체 Light" panose="020B0303000000000000" pitchFamily="50" charset="-127"/>
                <a:ea typeface="KB금융 본문체 Light" panose="020B0303000000000000" pitchFamily="50" charset="-127"/>
                <a:cs typeface="ヒラギノ角ゴ ProN W3"/>
              </a:rPr>
              <a:t>: </a:t>
            </a:r>
            <a:r>
              <a:rPr lang="ko-KR" altLang="en-US" sz="1000">
                <a:latin typeface="KB금융 본문체 Light" panose="020B0303000000000000" pitchFamily="50" charset="-127"/>
                <a:ea typeface="KB금융 본문체 Light" panose="020B0303000000000000" pitchFamily="50" charset="-127"/>
                <a:cs typeface="ヒラギノ角ゴ ProN W3"/>
              </a:rPr>
              <a:t>주민등록번호</a:t>
            </a:r>
            <a:r>
              <a:rPr lang="en-US" altLang="ko-KR" sz="1000">
                <a:latin typeface="KB금융 본문체 Light" panose="020B0303000000000000" pitchFamily="50" charset="-127"/>
                <a:ea typeface="KB금융 본문체 Light" panose="020B0303000000000000" pitchFamily="50" charset="-127"/>
                <a:cs typeface="ヒラギノ角ゴ ProN W3"/>
              </a:rPr>
              <a:t>, </a:t>
            </a:r>
            <a:r>
              <a:rPr lang="ko-KR" altLang="en-US" sz="1000">
                <a:latin typeface="KB금융 본문체 Light" panose="020B0303000000000000" pitchFamily="50" charset="-127"/>
                <a:ea typeface="KB금융 본문체 Light" panose="020B0303000000000000" pitchFamily="50" charset="-127"/>
                <a:cs typeface="ヒラギノ角ゴ ProN W3"/>
              </a:rPr>
              <a:t>여권번호</a:t>
            </a:r>
            <a:r>
              <a:rPr lang="en-US" altLang="ko-KR" sz="1000">
                <a:latin typeface="KB금융 본문체 Light" panose="020B0303000000000000" pitchFamily="50" charset="-127"/>
                <a:ea typeface="KB금융 본문체 Light" panose="020B0303000000000000" pitchFamily="50" charset="-127"/>
                <a:cs typeface="ヒラギノ角ゴ ProN W3"/>
              </a:rPr>
              <a:t>, </a:t>
            </a:r>
            <a:r>
              <a:rPr lang="ko-KR" altLang="en-US" sz="1000">
                <a:latin typeface="KB금융 본문체 Light" panose="020B0303000000000000" pitchFamily="50" charset="-127"/>
                <a:ea typeface="KB금융 본문체 Light" panose="020B0303000000000000" pitchFamily="50" charset="-127"/>
                <a:cs typeface="ヒラギノ角ゴ ProN W3"/>
              </a:rPr>
              <a:t>운정면허번호</a:t>
            </a:r>
            <a:r>
              <a:rPr lang="en-US" altLang="ko-KR" sz="1000">
                <a:latin typeface="KB금융 본문체 Light" panose="020B0303000000000000" pitchFamily="50" charset="-127"/>
                <a:ea typeface="KB금융 본문체 Light" panose="020B0303000000000000" pitchFamily="50" charset="-127"/>
                <a:cs typeface="ヒラギノ角ゴ ProN W3"/>
              </a:rPr>
              <a:t>, </a:t>
            </a:r>
            <a:r>
              <a:rPr lang="ko-KR" altLang="en-US" sz="1000" smtClean="0">
                <a:latin typeface="KB금융 본문체 Light" panose="020B0303000000000000" pitchFamily="50" charset="-127"/>
                <a:ea typeface="KB금융 본문체 Light" panose="020B0303000000000000" pitchFamily="50" charset="-127"/>
                <a:cs typeface="ヒラギノ角ゴ ProN W3"/>
              </a:rPr>
              <a:t>외국인등록번호</a:t>
            </a:r>
            <a:endParaRPr lang="en-US" altLang="ko-KR" sz="1000" smtClean="0">
              <a:latin typeface="KB금융 본문체 Light" panose="020B0303000000000000" pitchFamily="50" charset="-127"/>
              <a:ea typeface="KB금융 본문체 Light" panose="020B0303000000000000" pitchFamily="50" charset="-127"/>
              <a:cs typeface="ヒラギノ角ゴ ProN W3"/>
            </a:endParaRPr>
          </a:p>
          <a:p>
            <a:pPr marL="171450" indent="-171450">
              <a:lnSpc>
                <a:spcPct val="130000"/>
              </a:lnSpc>
              <a:spcBef>
                <a:spcPct val="20000"/>
              </a:spcBef>
              <a:buSzPct val="100000"/>
              <a:buFont typeface="Arial" panose="020B0604020202020204" pitchFamily="34" charset="0"/>
              <a:buChar char="•"/>
            </a:pPr>
            <a:r>
              <a:rPr lang="ko-KR" altLang="en-US" sz="1000" baseline="30000" smtClean="0">
                <a:latin typeface="+mn-ea"/>
                <a:cs typeface="ヒラギノ角ゴ ProN W3"/>
              </a:rPr>
              <a:t>주</a:t>
            </a:r>
            <a:r>
              <a:rPr lang="en-US" altLang="ko-KR" sz="1000" baseline="30000" smtClean="0">
                <a:latin typeface="+mn-ea"/>
                <a:cs typeface="ヒラギノ角ゴ ProN W3"/>
              </a:rPr>
              <a:t>2)</a:t>
            </a:r>
            <a:r>
              <a:rPr lang="en-US" altLang="ko-KR" sz="1000" smtClean="0">
                <a:latin typeface="+mn-ea"/>
                <a:cs typeface="ヒラギノ角ゴ ProN W3"/>
              </a:rPr>
              <a:t> </a:t>
            </a:r>
            <a:r>
              <a:rPr lang="ko-KR" altLang="en-US" sz="1000">
                <a:latin typeface="+mn-ea"/>
                <a:cs typeface="ヒラギノ角ゴ ProN W3"/>
              </a:rPr>
              <a:t>입</a:t>
            </a:r>
            <a:r>
              <a:rPr lang="en-US" altLang="ko-KR" sz="1000">
                <a:latin typeface="+mn-ea"/>
                <a:cs typeface="ヒラギノ角ゴ ProN W3"/>
              </a:rPr>
              <a:t>·</a:t>
            </a:r>
            <a:r>
              <a:rPr lang="ko-KR" altLang="en-US" sz="1000">
                <a:latin typeface="+mn-ea"/>
                <a:cs typeface="ヒラギノ角ゴ ProN W3"/>
              </a:rPr>
              <a:t>출력전문 內 고유식별번호는 평문으로 존재하나 단말</a:t>
            </a:r>
            <a:r>
              <a:rPr lang="en-US" altLang="ko-KR" sz="1000">
                <a:latin typeface="+mn-ea"/>
                <a:cs typeface="ヒラギノ角ゴ ProN W3"/>
              </a:rPr>
              <a:t>-MCI </a:t>
            </a:r>
            <a:r>
              <a:rPr lang="ko-KR" altLang="en-US" sz="1000">
                <a:latin typeface="+mn-ea"/>
                <a:cs typeface="ヒラギノ角ゴ ProN W3"/>
              </a:rPr>
              <a:t>간 전송되는 입</a:t>
            </a:r>
            <a:r>
              <a:rPr lang="en-US" altLang="ko-KR" sz="1000">
                <a:latin typeface="+mn-ea"/>
                <a:cs typeface="ヒラギノ角ゴ ProN W3"/>
              </a:rPr>
              <a:t>·</a:t>
            </a:r>
            <a:r>
              <a:rPr lang="ko-KR" altLang="en-US" sz="1000">
                <a:latin typeface="+mn-ea"/>
                <a:cs typeface="ヒラギノ角ゴ ProN W3"/>
              </a:rPr>
              <a:t>출력전문 전체가 암호화되므로 </a:t>
            </a:r>
            <a:r>
              <a:rPr lang="ko-KR" altLang="en-US" sz="1000" smtClean="0">
                <a:latin typeface="+mn-ea"/>
                <a:cs typeface="ヒラギノ角ゴ ProN W3"/>
              </a:rPr>
              <a:t>안전함</a:t>
            </a:r>
            <a:endParaRPr lang="en-US" altLang="ko-KR" sz="1000">
              <a:latin typeface="+mn-ea"/>
              <a:cs typeface="ヒラギノ角ゴ ProN W3"/>
            </a:endParaRPr>
          </a:p>
        </p:txBody>
      </p:sp>
    </p:spTree>
    <p:extLst>
      <p:ext uri="{BB962C8B-B14F-4D97-AF65-F5344CB8AC3E}">
        <p14:creationId xmlns:p14="http://schemas.microsoft.com/office/powerpoint/2010/main" val="3193056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en-US" altLang="ko-KR" dirty="0"/>
              <a:t>5</a:t>
            </a:r>
            <a:r>
              <a:rPr lang="en-US" altLang="ko-KR" smtClean="0"/>
              <a:t>. </a:t>
            </a:r>
            <a:r>
              <a:rPr lang="ko-KR" altLang="en-US" smtClean="0"/>
              <a:t>암호화 처리방법</a:t>
            </a:r>
            <a:r>
              <a:rPr lang="en-US" altLang="ko-KR" smtClean="0"/>
              <a:t>(2/2)</a:t>
            </a:r>
            <a:endParaRPr lang="ko-KR" altLang="en-US" dirty="0"/>
          </a:p>
        </p:txBody>
      </p:sp>
      <p:sp>
        <p:nvSpPr>
          <p:cNvPr id="56" name="Rectangle 3"/>
          <p:cNvSpPr>
            <a:spLocks noChangeArrowheads="1"/>
          </p:cNvSpPr>
          <p:nvPr/>
        </p:nvSpPr>
        <p:spPr bwMode="auto">
          <a:xfrm>
            <a:off x="308484" y="764704"/>
            <a:ext cx="9144000" cy="372410"/>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ko-KR" altLang="en-US" sz="1400" b="1" smtClean="0">
                <a:solidFill>
                  <a:srgbClr val="FF0000"/>
                </a:solidFill>
                <a:latin typeface="KB금융 본문체 Light" panose="020B0303000000000000" pitchFamily="50" charset="-127"/>
                <a:ea typeface="KB금융 본문체 Light" panose="020B0303000000000000" pitchFamily="50" charset="-127"/>
                <a:cs typeface="ヒラギノ角ゴ ProN W3"/>
              </a:rPr>
              <a:t>당행 파일</a:t>
            </a:r>
            <a:r>
              <a:rPr lang="en-US" altLang="ko-KR" sz="1400" b="1" smtClean="0">
                <a:solidFill>
                  <a:srgbClr val="FF0000"/>
                </a:solidFill>
                <a:latin typeface="KB금융 본문체 Light" panose="020B0303000000000000" pitchFamily="50" charset="-127"/>
                <a:ea typeface="KB금융 본문체 Light" panose="020B0303000000000000" pitchFamily="50" charset="-127"/>
                <a:cs typeface="ヒラギノ角ゴ ProN W3"/>
              </a:rPr>
              <a:t> </a:t>
            </a:r>
            <a:r>
              <a:rPr lang="ko-KR" altLang="en-US" sz="1400" b="1">
                <a:solidFill>
                  <a:srgbClr val="FF0000"/>
                </a:solidFill>
                <a:latin typeface="KB금융 본문체 Light" panose="020B0303000000000000" pitchFamily="50" charset="-127"/>
                <a:ea typeface="KB금융 본문체 Light" panose="020B0303000000000000" pitchFamily="50" charset="-127"/>
                <a:cs typeface="ヒラギノ角ゴ ProN W3"/>
              </a:rPr>
              <a:t>암호화 흐름도</a:t>
            </a:r>
            <a:endParaRPr lang="en-US" altLang="ko-KR" sz="1400" b="1" dirty="0">
              <a:solidFill>
                <a:srgbClr val="FF0000"/>
              </a:solidFill>
              <a:latin typeface="KB금융 본문체 Light" panose="020B0303000000000000" pitchFamily="50" charset="-127"/>
              <a:ea typeface="KB금융 본문체 Light" panose="020B0303000000000000" pitchFamily="50" charset="-127"/>
              <a:cs typeface="ヒラギノ角ゴ ProN W3"/>
            </a:endParaRPr>
          </a:p>
        </p:txBody>
      </p:sp>
      <p:sp>
        <p:nvSpPr>
          <p:cNvPr id="25" name="Rectangle 3"/>
          <p:cNvSpPr>
            <a:spLocks noChangeArrowheads="1"/>
          </p:cNvSpPr>
          <p:nvPr/>
        </p:nvSpPr>
        <p:spPr bwMode="auto">
          <a:xfrm>
            <a:off x="699993" y="1142438"/>
            <a:ext cx="8753507" cy="572464"/>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ko-KR" altLang="en-US" sz="1200" smtClean="0">
                <a:latin typeface="KB금융 본문체 Light" panose="020B0303000000000000" pitchFamily="50" charset="-127"/>
                <a:ea typeface="KB금융 본문체 Light" panose="020B0303000000000000" pitchFamily="50" charset="-127"/>
                <a:cs typeface="ヒラギノ角ゴ ProN W3"/>
              </a:rPr>
              <a:t>파일 내용 </a:t>
            </a:r>
            <a:r>
              <a:rPr lang="ko-KR" altLang="en-US" sz="1200">
                <a:latin typeface="KB금융 본문체 Light" panose="020B0303000000000000" pitchFamily="50" charset="-127"/>
                <a:ea typeface="KB금융 본문체 Light" panose="020B0303000000000000" pitchFamily="50" charset="-127"/>
                <a:cs typeface="ヒラギノ角ゴ ProN W3"/>
              </a:rPr>
              <a:t>중 고유식별정보</a:t>
            </a:r>
            <a:r>
              <a:rPr lang="en-US" altLang="ko-KR" sz="1200">
                <a:latin typeface="KB금융 본문체 Light" panose="020B0303000000000000" pitchFamily="50" charset="-127"/>
                <a:ea typeface="KB금융 본문체 Light" panose="020B0303000000000000" pitchFamily="50" charset="-127"/>
                <a:cs typeface="ヒラギノ角ゴ ProN W3"/>
              </a:rPr>
              <a:t>(</a:t>
            </a:r>
            <a:r>
              <a:rPr lang="ko-KR" altLang="en-US" sz="1200">
                <a:latin typeface="KB금융 본문체 Light" panose="020B0303000000000000" pitchFamily="50" charset="-127"/>
                <a:ea typeface="KB금융 본문체 Light" panose="020B0303000000000000" pitchFamily="50" charset="-127"/>
                <a:cs typeface="ヒラギノ角ゴ ProN W3"/>
              </a:rPr>
              <a:t>주민번호 등</a:t>
            </a:r>
            <a:r>
              <a:rPr lang="en-US" altLang="ko-KR" sz="1200" smtClean="0">
                <a:latin typeface="KB금융 본문체 Light" panose="020B0303000000000000" pitchFamily="50" charset="-127"/>
                <a:ea typeface="KB금융 본문체 Light" panose="020B0303000000000000" pitchFamily="50" charset="-127"/>
                <a:cs typeface="ヒラギノ角ゴ ProN W3"/>
              </a:rPr>
              <a:t>)</a:t>
            </a:r>
            <a:r>
              <a:rPr lang="ko-KR" altLang="en-US" sz="1200" smtClean="0">
                <a:latin typeface="KB금융 본문체 Light" panose="020B0303000000000000" pitchFamily="50" charset="-127"/>
                <a:ea typeface="KB금융 본문체 Light" panose="020B0303000000000000" pitchFamily="50" charset="-127"/>
                <a:cs typeface="ヒラギノ角ゴ ProN W3"/>
              </a:rPr>
              <a:t>가 있는 경우 업무프로그램이 파일 생성완료 시점에는 암호화 </a:t>
            </a:r>
            <a:r>
              <a:rPr lang="ko-KR" altLang="en-US" sz="1200">
                <a:latin typeface="KB금융 본문체 Light" panose="020B0303000000000000" pitchFamily="50" charset="-127"/>
                <a:ea typeface="KB금융 본문체 Light" panose="020B0303000000000000" pitchFamily="50" charset="-127"/>
                <a:cs typeface="ヒラギノ角ゴ ProN W3"/>
              </a:rPr>
              <a:t>되고</a:t>
            </a:r>
            <a:r>
              <a:rPr lang="en-US" altLang="ko-KR" sz="1200">
                <a:latin typeface="KB금융 본문체 Light" panose="020B0303000000000000" pitchFamily="50" charset="-127"/>
                <a:ea typeface="KB금융 본문체 Light" panose="020B0303000000000000" pitchFamily="50" charset="-127"/>
                <a:cs typeface="ヒラギノ角ゴ ProN W3"/>
              </a:rPr>
              <a:t>, </a:t>
            </a:r>
            <a:r>
              <a:rPr lang="ko-KR" altLang="en-US" sz="1200" smtClean="0">
                <a:latin typeface="KB금융 본문체 Light" panose="020B0303000000000000" pitchFamily="50" charset="-127"/>
                <a:ea typeface="KB금융 본문체 Light" panose="020B0303000000000000" pitchFamily="50" charset="-127"/>
                <a:cs typeface="ヒラギノ角ゴ ProN W3"/>
              </a:rPr>
              <a:t>저장 파일을 참조하는 시점에 복호화함으로써 고유식별번호의 암호화가 유지됨</a:t>
            </a:r>
            <a:endParaRPr lang="en-US" altLang="ko-KR" sz="1200" baseline="3000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57" name="직사각형 56"/>
          <p:cNvSpPr/>
          <p:nvPr/>
        </p:nvSpPr>
        <p:spPr bwMode="auto">
          <a:xfrm>
            <a:off x="658688" y="1964524"/>
            <a:ext cx="4038600" cy="288000"/>
          </a:xfrm>
          <a:prstGeom prst="rect">
            <a:avLst/>
          </a:prstGeom>
          <a:noFill/>
          <a:ln w="6350" algn="ctr">
            <a:solidFill>
              <a:schemeClr val="bg1">
                <a:lumMod val="50000"/>
              </a:schemeClr>
            </a:solidFill>
            <a:miter lim="800000"/>
            <a:headEnd/>
            <a:tailEnd/>
          </a:ln>
          <a:effectLst/>
        </p:spPr>
        <p:txBody>
          <a:bodyPr wrap="none" tIns="36000" bIns="36000" anchor="ctr" anchorCtr="0"/>
          <a:lstStyle/>
          <a:p>
            <a:pPr algn="ctr"/>
            <a:r>
              <a:rPr lang="ko-KR" altLang="en-US" sz="1400" smtClean="0">
                <a:latin typeface="KB금융 제목체 Bold" panose="020B0803000000000000" pitchFamily="50" charset="-127"/>
                <a:ea typeface="KB금융 제목체 Bold" panose="020B0803000000000000" pitchFamily="50" charset="-127"/>
              </a:rPr>
              <a:t>파일 생성 </a:t>
            </a:r>
            <a:r>
              <a:rPr lang="en-US" altLang="ko-KR" sz="1400" dirty="0">
                <a:latin typeface="KB금융 제목체 Bold" panose="020B0803000000000000" pitchFamily="50" charset="-127"/>
                <a:ea typeface="KB금융 제목체 Bold" panose="020B0803000000000000" pitchFamily="50" charset="-127"/>
              </a:rPr>
              <a:t>(</a:t>
            </a:r>
            <a:r>
              <a:rPr lang="ko-KR" altLang="en-US" sz="1400" dirty="0">
                <a:latin typeface="KB금융 제목체 Bold" panose="020B0803000000000000" pitchFamily="50" charset="-127"/>
                <a:ea typeface="KB금융 제목체 Bold" panose="020B0803000000000000" pitchFamily="50" charset="-127"/>
              </a:rPr>
              <a:t>암호화</a:t>
            </a:r>
            <a:r>
              <a:rPr lang="en-US" altLang="ko-KR" sz="1400" dirty="0">
                <a:latin typeface="KB금융 제목체 Bold" panose="020B0803000000000000" pitchFamily="50" charset="-127"/>
                <a:ea typeface="KB금융 제목체 Bold" panose="020B0803000000000000" pitchFamily="50" charset="-127"/>
              </a:rPr>
              <a:t>)</a:t>
            </a:r>
            <a:endParaRPr lang="ko-KR" altLang="en-US" sz="1400" dirty="0">
              <a:latin typeface="KB금융 제목체 Bold" panose="020B0803000000000000" pitchFamily="50" charset="-127"/>
              <a:ea typeface="KB금융 제목체 Bold" panose="020B0803000000000000" pitchFamily="50" charset="-127"/>
            </a:endParaRPr>
          </a:p>
        </p:txBody>
      </p:sp>
      <p:sp>
        <p:nvSpPr>
          <p:cNvPr id="58" name="직사각형 57"/>
          <p:cNvSpPr/>
          <p:nvPr/>
        </p:nvSpPr>
        <p:spPr bwMode="auto">
          <a:xfrm>
            <a:off x="5306888" y="1964524"/>
            <a:ext cx="4038600" cy="288000"/>
          </a:xfrm>
          <a:prstGeom prst="rect">
            <a:avLst/>
          </a:prstGeom>
          <a:noFill/>
          <a:ln w="6350" algn="ctr">
            <a:solidFill>
              <a:schemeClr val="bg1">
                <a:lumMod val="50000"/>
              </a:schemeClr>
            </a:solidFill>
            <a:miter lim="800000"/>
            <a:headEnd/>
            <a:tailEnd/>
          </a:ln>
          <a:effectLst/>
        </p:spPr>
        <p:txBody>
          <a:bodyPr wrap="none" tIns="36000" bIns="36000" anchor="ctr" anchorCtr="0"/>
          <a:lstStyle/>
          <a:p>
            <a:pPr algn="ctr"/>
            <a:r>
              <a:rPr lang="ko-KR" altLang="en-US" sz="1400" smtClean="0">
                <a:latin typeface="KB금융 제목체 Bold" panose="020B0803000000000000" pitchFamily="50" charset="-127"/>
                <a:ea typeface="KB금융 제목체 Bold" panose="020B0803000000000000" pitchFamily="50" charset="-127"/>
              </a:rPr>
              <a:t>파일 출력 </a:t>
            </a:r>
            <a:r>
              <a:rPr lang="en-US" altLang="ko-KR" sz="1400" dirty="0">
                <a:latin typeface="KB금융 제목체 Bold" panose="020B0803000000000000" pitchFamily="50" charset="-127"/>
                <a:ea typeface="KB금융 제목체 Bold" panose="020B0803000000000000" pitchFamily="50" charset="-127"/>
              </a:rPr>
              <a:t>(</a:t>
            </a:r>
            <a:r>
              <a:rPr lang="ko-KR" altLang="en-US" sz="1400" dirty="0" err="1">
                <a:latin typeface="KB금융 제목체 Bold" panose="020B0803000000000000" pitchFamily="50" charset="-127"/>
                <a:ea typeface="KB금융 제목체 Bold" panose="020B0803000000000000" pitchFamily="50" charset="-127"/>
              </a:rPr>
              <a:t>복호화</a:t>
            </a:r>
            <a:r>
              <a:rPr lang="en-US" altLang="ko-KR" sz="1400" dirty="0">
                <a:latin typeface="KB금융 제목체 Bold" panose="020B0803000000000000" pitchFamily="50" charset="-127"/>
                <a:ea typeface="KB금융 제목체 Bold" panose="020B0803000000000000" pitchFamily="50" charset="-127"/>
              </a:rPr>
              <a:t>)</a:t>
            </a:r>
            <a:endParaRPr lang="ko-KR" altLang="en-US" sz="1400" dirty="0">
              <a:latin typeface="KB금융 제목체 Bold" panose="020B0803000000000000" pitchFamily="50" charset="-127"/>
              <a:ea typeface="KB금융 제목체 Bold" panose="020B0803000000000000" pitchFamily="50" charset="-127"/>
            </a:endParaRPr>
          </a:p>
        </p:txBody>
      </p:sp>
      <p:sp>
        <p:nvSpPr>
          <p:cNvPr id="59" name="Rectangle 8"/>
          <p:cNvSpPr>
            <a:spLocks noChangeArrowheads="1"/>
          </p:cNvSpPr>
          <p:nvPr/>
        </p:nvSpPr>
        <p:spPr bwMode="gray">
          <a:xfrm>
            <a:off x="2936751" y="2526855"/>
            <a:ext cx="1356520" cy="554407"/>
          </a:xfrm>
          <a:prstGeom prst="rect">
            <a:avLst/>
          </a:prstGeom>
          <a:noFill/>
          <a:ln w="9525" algn="ctr">
            <a:solidFill>
              <a:schemeClr val="bg1">
                <a:lumMod val="50000"/>
              </a:schemeClr>
            </a:solidFill>
            <a:miter lim="800000"/>
            <a:headEnd/>
            <a:tailEnd/>
          </a:ln>
        </p:spPr>
        <p:txBody>
          <a:bodyPr wrap="square" lIns="92075" tIns="46038" rIns="92075" bIns="46038" anchor="ctr"/>
          <a:lstStyle/>
          <a:p>
            <a:pPr algn="ctr" eaLnBrk="0" latinLnBrk="0" hangingPunct="0">
              <a:spcBef>
                <a:spcPct val="50000"/>
              </a:spcBef>
              <a:defRPr/>
            </a:pPr>
            <a:r>
              <a:rPr lang="en-US" altLang="ko-KR" sz="1100" smtClean="0">
                <a:latin typeface="KB금융 제목체 Bold" panose="020B0803000000000000" pitchFamily="50" charset="-127"/>
                <a:ea typeface="KB금융 제목체 Bold" panose="020B0803000000000000" pitchFamily="50" charset="-127"/>
              </a:rPr>
              <a:t>MCI</a:t>
            </a:r>
            <a:endParaRPr lang="en-US" altLang="ko-KR" sz="1100" dirty="0" smtClean="0">
              <a:latin typeface="KB금융 제목체 Bold" panose="020B0803000000000000" pitchFamily="50" charset="-127"/>
              <a:ea typeface="KB금융 제목체 Bold" panose="020B0803000000000000" pitchFamily="50" charset="-127"/>
            </a:endParaRPr>
          </a:p>
        </p:txBody>
      </p:sp>
      <p:sp>
        <p:nvSpPr>
          <p:cNvPr id="61" name="Rectangle 8"/>
          <p:cNvSpPr>
            <a:spLocks noChangeArrowheads="1"/>
          </p:cNvSpPr>
          <p:nvPr/>
        </p:nvSpPr>
        <p:spPr bwMode="gray">
          <a:xfrm>
            <a:off x="2071389" y="3602197"/>
            <a:ext cx="708768" cy="242684"/>
          </a:xfrm>
          <a:prstGeom prst="rect">
            <a:avLst/>
          </a:prstGeom>
          <a:noFill/>
          <a:ln w="9525" algn="ctr">
            <a:noFill/>
            <a:miter lim="800000"/>
            <a:headEnd/>
            <a:tailEnd/>
          </a:ln>
        </p:spPr>
        <p:txBody>
          <a:bodyPr wrap="square" lIns="0" tIns="36000" rIns="0" bIns="36000" anchor="ctr"/>
          <a:lstStyle/>
          <a:p>
            <a:pPr algn="ctr" eaLnBrk="0" latinLnBrk="0" hangingPunct="0">
              <a:spcBef>
                <a:spcPct val="50000"/>
              </a:spcBef>
              <a:defRPr/>
            </a:pPr>
            <a:r>
              <a:rPr lang="ko-KR" altLang="en-US" sz="900" smtClean="0">
                <a:latin typeface="KB금융 본문체 Light" panose="020B0303000000000000" pitchFamily="50" charset="-127"/>
                <a:ea typeface="KB금융 본문체 Light" panose="020B0303000000000000" pitchFamily="50" charset="-127"/>
              </a:rPr>
              <a:t>①파일</a:t>
            </a:r>
            <a:r>
              <a:rPr lang="en-US" altLang="ko-KR" sz="900" dirty="0" smtClean="0">
                <a:latin typeface="KB금융 본문체 Light" panose="020B0303000000000000" pitchFamily="50" charset="-127"/>
                <a:ea typeface="KB금융 본문체 Light" panose="020B0303000000000000" pitchFamily="50" charset="-127"/>
              </a:rPr>
              <a:t/>
            </a:r>
            <a:br>
              <a:rPr lang="en-US" altLang="ko-KR" sz="900" dirty="0" smtClean="0">
                <a:latin typeface="KB금융 본문체 Light" panose="020B0303000000000000" pitchFamily="50" charset="-127"/>
                <a:ea typeface="KB금융 본문체 Light" panose="020B0303000000000000" pitchFamily="50" charset="-127"/>
              </a:rPr>
            </a:br>
            <a:r>
              <a:rPr lang="en-US" altLang="ko-KR" sz="900" dirty="0" smtClean="0">
                <a:latin typeface="KB금융 본문체 Light" panose="020B0303000000000000" pitchFamily="50" charset="-127"/>
                <a:ea typeface="KB금융 본문체 Light" panose="020B0303000000000000" pitchFamily="50" charset="-127"/>
              </a:rPr>
              <a:t>(</a:t>
            </a:r>
            <a:r>
              <a:rPr lang="ko-KR" altLang="en-US" sz="900" dirty="0" smtClean="0">
                <a:latin typeface="KB금융 본문체 Light" panose="020B0303000000000000" pitchFamily="50" charset="-127"/>
                <a:ea typeface="KB금융 본문체 Light" panose="020B0303000000000000" pitchFamily="50" charset="-127"/>
              </a:rPr>
              <a:t>암호화 요청</a:t>
            </a:r>
            <a:r>
              <a:rPr lang="en-US" altLang="ko-KR" sz="900" dirty="0" smtClean="0">
                <a:latin typeface="KB금융 본문체 Light" panose="020B0303000000000000" pitchFamily="50" charset="-127"/>
                <a:ea typeface="KB금융 본문체 Light" panose="020B0303000000000000" pitchFamily="50" charset="-127"/>
              </a:rPr>
              <a:t>)</a:t>
            </a:r>
          </a:p>
        </p:txBody>
      </p:sp>
      <p:sp>
        <p:nvSpPr>
          <p:cNvPr id="62" name="Rectangle 8"/>
          <p:cNvSpPr>
            <a:spLocks noChangeArrowheads="1"/>
          </p:cNvSpPr>
          <p:nvPr/>
        </p:nvSpPr>
        <p:spPr bwMode="gray">
          <a:xfrm>
            <a:off x="3345529" y="4715196"/>
            <a:ext cx="535783" cy="242684"/>
          </a:xfrm>
          <a:prstGeom prst="rect">
            <a:avLst/>
          </a:prstGeom>
          <a:noFill/>
          <a:ln w="9525" algn="ctr">
            <a:noFill/>
            <a:miter lim="800000"/>
            <a:headEnd/>
            <a:tailEnd/>
          </a:ln>
        </p:spPr>
        <p:txBody>
          <a:bodyPr wrap="none" lIns="92075" tIns="46038" rIns="92075" bIns="46038" anchor="ctr"/>
          <a:lstStyle/>
          <a:p>
            <a:pPr algn="ctr" eaLnBrk="0" latinLnBrk="0" hangingPunct="0">
              <a:spcBef>
                <a:spcPct val="50000"/>
              </a:spcBef>
              <a:defRPr/>
            </a:pPr>
            <a:r>
              <a:rPr lang="ko-KR" altLang="en-US" sz="1100" smtClean="0">
                <a:latin typeface="KB금융 제목체 Bold" panose="020B0803000000000000" pitchFamily="50" charset="-127"/>
                <a:ea typeface="KB금융 제목체 Bold" panose="020B0803000000000000" pitchFamily="50" charset="-127"/>
              </a:rPr>
              <a:t>파일 저장 디렉토리</a:t>
            </a:r>
            <a:endParaRPr lang="en-US" altLang="ko-KR" sz="1100" dirty="0" smtClean="0">
              <a:latin typeface="KB금융 제목체 Bold" panose="020B0803000000000000" pitchFamily="50" charset="-127"/>
              <a:ea typeface="KB금융 제목체 Bold" panose="020B0803000000000000" pitchFamily="50" charset="-127"/>
            </a:endParaRPr>
          </a:p>
        </p:txBody>
      </p:sp>
      <p:cxnSp>
        <p:nvCxnSpPr>
          <p:cNvPr id="64" name="직선 화살표 연결선 63"/>
          <p:cNvCxnSpPr/>
          <p:nvPr/>
        </p:nvCxnSpPr>
        <p:spPr bwMode="auto">
          <a:xfrm>
            <a:off x="2009650" y="3886725"/>
            <a:ext cx="830263" cy="0"/>
          </a:xfrm>
          <a:prstGeom prst="straightConnector1">
            <a:avLst/>
          </a:prstGeom>
          <a:noFill/>
          <a:ln w="19050" cap="flat" cmpd="sng" algn="ctr">
            <a:solidFill>
              <a:schemeClr val="bg1">
                <a:lumMod val="65000"/>
              </a:schemeClr>
            </a:solidFill>
            <a:prstDash val="solid"/>
            <a:round/>
            <a:headEnd type="arrow" w="med" len="med"/>
            <a:tailEnd type="none"/>
          </a:ln>
          <a:effectLst/>
        </p:spPr>
      </p:cxnSp>
      <p:grpSp>
        <p:nvGrpSpPr>
          <p:cNvPr id="65" name="그룹 64"/>
          <p:cNvGrpSpPr/>
          <p:nvPr/>
        </p:nvGrpSpPr>
        <p:grpSpPr>
          <a:xfrm>
            <a:off x="1039688" y="2638041"/>
            <a:ext cx="609600" cy="485367"/>
            <a:chOff x="685800" y="2857501"/>
            <a:chExt cx="609600" cy="552448"/>
          </a:xfrm>
          <a:noFill/>
        </p:grpSpPr>
        <p:sp>
          <p:nvSpPr>
            <p:cNvPr id="66" name="모서리가 둥근 직사각형 65"/>
            <p:cNvSpPr/>
            <p:nvPr/>
          </p:nvSpPr>
          <p:spPr bwMode="auto">
            <a:xfrm>
              <a:off x="685800" y="2857501"/>
              <a:ext cx="609600" cy="376236"/>
            </a:xfrm>
            <a:prstGeom prst="roundRect">
              <a:avLst/>
            </a:prstGeom>
            <a:grpFill/>
            <a:ln w="9525" cap="flat" cmpd="sng" algn="ctr">
              <a:solidFill>
                <a:schemeClr val="bg1">
                  <a:lumMod val="75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50000"/>
                </a:spcBef>
                <a:spcAft>
                  <a:spcPct val="0"/>
                </a:spcAft>
                <a:buClrTx/>
                <a:buSzTx/>
                <a:buFontTx/>
                <a:buNone/>
                <a:tabLst/>
              </a:pPr>
              <a:r>
                <a:rPr kumimoji="0" lang="ko-KR" altLang="en-US" sz="1100" i="0" u="none" strike="noStrike" cap="none" normalizeH="0" baseline="0" dirty="0" smtClean="0">
                  <a:ln>
                    <a:noFill/>
                  </a:ln>
                  <a:solidFill>
                    <a:schemeClr val="tx1"/>
                  </a:solidFill>
                  <a:effectLst/>
                  <a:latin typeface="KB금융 제목체 Bold" panose="020B0803000000000000" pitchFamily="50" charset="-127"/>
                  <a:ea typeface="KB금융 제목체 Bold" panose="020B0803000000000000" pitchFamily="50" charset="-127"/>
                </a:rPr>
                <a:t>단말</a:t>
              </a:r>
            </a:p>
          </p:txBody>
        </p:sp>
        <p:sp>
          <p:nvSpPr>
            <p:cNvPr id="67" name="이등변 삼각형 66"/>
            <p:cNvSpPr/>
            <p:nvPr/>
          </p:nvSpPr>
          <p:spPr bwMode="auto">
            <a:xfrm>
              <a:off x="762000" y="3231358"/>
              <a:ext cx="457200" cy="178591"/>
            </a:xfrm>
            <a:prstGeom prst="triangle">
              <a:avLst/>
            </a:prstGeom>
            <a:grpFill/>
            <a:ln w="9525" cap="flat" cmpd="sng" algn="ctr">
              <a:solidFill>
                <a:schemeClr val="bg1">
                  <a:lumMod val="75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ko-KR" altLang="en-US" sz="1100" i="0" u="none" strike="noStrike" cap="none" normalizeH="0" baseline="0" smtClean="0">
                <a:ln>
                  <a:noFill/>
                </a:ln>
                <a:solidFill>
                  <a:schemeClr val="tx1"/>
                </a:solidFill>
                <a:effectLst/>
                <a:latin typeface="KB금융 제목체 Bold" panose="020B0803000000000000" pitchFamily="50" charset="-127"/>
                <a:ea typeface="KB금융 제목체 Bold" panose="020B0803000000000000" pitchFamily="50" charset="-127"/>
              </a:endParaRPr>
            </a:p>
          </p:txBody>
        </p:sp>
      </p:grpSp>
      <p:cxnSp>
        <p:nvCxnSpPr>
          <p:cNvPr id="68" name="직선 화살표 연결선 67"/>
          <p:cNvCxnSpPr>
            <a:stCxn id="66" idx="3"/>
            <a:endCxn id="59" idx="1"/>
          </p:cNvCxnSpPr>
          <p:nvPr/>
        </p:nvCxnSpPr>
        <p:spPr bwMode="auto">
          <a:xfrm>
            <a:off x="1649288" y="2803316"/>
            <a:ext cx="1287463" cy="742"/>
          </a:xfrm>
          <a:prstGeom prst="straightConnector1">
            <a:avLst/>
          </a:prstGeom>
          <a:noFill/>
          <a:ln w="15875" cap="flat" cmpd="sng" algn="ctr">
            <a:solidFill>
              <a:schemeClr val="bg1">
                <a:lumMod val="75000"/>
              </a:schemeClr>
            </a:solidFill>
            <a:prstDash val="solid"/>
            <a:round/>
            <a:headEnd type="none" w="med" len="med"/>
            <a:tailEnd type="arrow"/>
          </a:ln>
          <a:effectLst/>
        </p:spPr>
      </p:cxnSp>
      <p:sp>
        <p:nvSpPr>
          <p:cNvPr id="69" name="Rectangle 8"/>
          <p:cNvSpPr>
            <a:spLocks noChangeArrowheads="1"/>
          </p:cNvSpPr>
          <p:nvPr/>
        </p:nvSpPr>
        <p:spPr bwMode="gray">
          <a:xfrm>
            <a:off x="1852661" y="2537316"/>
            <a:ext cx="828933" cy="242684"/>
          </a:xfrm>
          <a:prstGeom prst="rect">
            <a:avLst/>
          </a:prstGeom>
          <a:noFill/>
          <a:ln w="9525" algn="ctr">
            <a:noFill/>
            <a:miter lim="800000"/>
            <a:headEnd/>
            <a:tailEnd/>
          </a:ln>
        </p:spPr>
        <p:txBody>
          <a:bodyPr wrap="square" lIns="0" tIns="36000" rIns="0" bIns="36000" anchor="ctr"/>
          <a:lstStyle/>
          <a:p>
            <a:pPr algn="ctr" eaLnBrk="0" latinLnBrk="0" hangingPunct="0">
              <a:spcBef>
                <a:spcPct val="50000"/>
              </a:spcBef>
              <a:defRPr/>
            </a:pPr>
            <a:r>
              <a:rPr lang="ko-KR" altLang="en-US" sz="900" smtClean="0">
                <a:latin typeface="KB금융 본문체 Light" panose="020B0303000000000000" pitchFamily="50" charset="-127"/>
                <a:ea typeface="KB금융 본문체 Light" panose="020B0303000000000000" pitchFamily="50" charset="-127"/>
              </a:rPr>
              <a:t>입력전문</a:t>
            </a:r>
            <a:r>
              <a:rPr lang="en-US" altLang="ko-KR" sz="900" smtClean="0">
                <a:latin typeface="KB금융 본문체 Light" panose="020B0303000000000000" pitchFamily="50" charset="-127"/>
                <a:ea typeface="KB금융 본문체 Light" panose="020B0303000000000000" pitchFamily="50" charset="-127"/>
              </a:rPr>
              <a:t>(</a:t>
            </a:r>
            <a:r>
              <a:rPr lang="ko-KR" altLang="en-US" sz="900" dirty="0" smtClean="0">
                <a:latin typeface="KB금융 본문체 Light" panose="020B0303000000000000" pitchFamily="50" charset="-127"/>
                <a:ea typeface="KB금융 본문체 Light" panose="020B0303000000000000" pitchFamily="50" charset="-127"/>
              </a:rPr>
              <a:t>암호화</a:t>
            </a:r>
            <a:r>
              <a:rPr lang="en-US" altLang="ko-KR" sz="900" dirty="0" smtClean="0">
                <a:latin typeface="KB금융 본문체 Light" panose="020B0303000000000000" pitchFamily="50" charset="-127"/>
                <a:ea typeface="KB금융 본문체 Light" panose="020B0303000000000000" pitchFamily="50" charset="-127"/>
              </a:rPr>
              <a:t>)</a:t>
            </a:r>
          </a:p>
        </p:txBody>
      </p:sp>
      <p:sp>
        <p:nvSpPr>
          <p:cNvPr id="70" name="직사각형 69"/>
          <p:cNvSpPr/>
          <p:nvPr/>
        </p:nvSpPr>
        <p:spPr bwMode="auto">
          <a:xfrm>
            <a:off x="658688" y="2271618"/>
            <a:ext cx="4038600" cy="3276000"/>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ko-KR" altLang="en-US" sz="1300" i="0" u="none" strike="noStrike" cap="none" normalizeH="0" baseline="0" smtClean="0">
              <a:ln>
                <a:noFill/>
              </a:ln>
              <a:solidFill>
                <a:schemeClr val="tx1"/>
              </a:solidFill>
              <a:effectLst/>
              <a:latin typeface="KB금융 본문체 Light" panose="020B0303000000000000" pitchFamily="50" charset="-127"/>
              <a:ea typeface="KB금융 본문체 Light" panose="020B0303000000000000" pitchFamily="50" charset="-127"/>
            </a:endParaRPr>
          </a:p>
        </p:txBody>
      </p:sp>
      <p:sp>
        <p:nvSpPr>
          <p:cNvPr id="72" name="Rectangle 8"/>
          <p:cNvSpPr>
            <a:spLocks noChangeArrowheads="1"/>
          </p:cNvSpPr>
          <p:nvPr/>
        </p:nvSpPr>
        <p:spPr bwMode="gray">
          <a:xfrm>
            <a:off x="963488" y="3769565"/>
            <a:ext cx="939404" cy="368211"/>
          </a:xfrm>
          <a:prstGeom prst="rect">
            <a:avLst/>
          </a:prstGeom>
          <a:noFill/>
          <a:ln w="9525" algn="ctr">
            <a:solidFill>
              <a:schemeClr val="bg1">
                <a:lumMod val="50000"/>
              </a:schemeClr>
            </a:solidFill>
            <a:miter lim="800000"/>
            <a:headEnd/>
            <a:tailEnd/>
          </a:ln>
        </p:spPr>
        <p:txBody>
          <a:bodyPr wrap="square" lIns="92075" tIns="46038" rIns="92075" bIns="46038" anchor="ctr"/>
          <a:lstStyle/>
          <a:p>
            <a:pPr algn="ctr" eaLnBrk="0" hangingPunct="0">
              <a:spcBef>
                <a:spcPct val="50000"/>
              </a:spcBef>
              <a:defRPr/>
            </a:pPr>
            <a:r>
              <a:rPr lang="ko-KR" altLang="en-US" sz="1100" smtClean="0">
                <a:latin typeface="KB금융 제목체 Bold" panose="020B0803000000000000" pitchFamily="50" charset="-127"/>
                <a:ea typeface="KB금융 제목체 Bold" panose="020B0803000000000000" pitchFamily="50" charset="-127"/>
              </a:rPr>
              <a:t>암</a:t>
            </a:r>
            <a:r>
              <a:rPr lang="en-US" altLang="ko-KR" sz="1100" smtClean="0">
                <a:latin typeface="KB금융 제목체 Bold" panose="020B0803000000000000" pitchFamily="50" charset="-127"/>
                <a:ea typeface="KB금융 제목체 Bold" panose="020B0803000000000000" pitchFamily="50" charset="-127"/>
              </a:rPr>
              <a:t>·</a:t>
            </a:r>
            <a:r>
              <a:rPr lang="ko-KR" altLang="en-US" sz="1100" smtClean="0">
                <a:latin typeface="KB금융 제목체 Bold" panose="020B0803000000000000" pitchFamily="50" charset="-127"/>
                <a:ea typeface="KB금융 제목체 Bold" panose="020B0803000000000000" pitchFamily="50" charset="-127"/>
              </a:rPr>
              <a:t>복호화</a:t>
            </a:r>
            <a:r>
              <a:rPr lang="en-US" altLang="ko-KR" sz="1100" dirty="0" smtClean="0">
                <a:latin typeface="KB금융 제목체 Bold" panose="020B0803000000000000" pitchFamily="50" charset="-127"/>
                <a:ea typeface="KB금융 제목체 Bold" panose="020B0803000000000000" pitchFamily="50" charset="-127"/>
              </a:rPr>
              <a:t/>
            </a:r>
            <a:br>
              <a:rPr lang="en-US" altLang="ko-KR" sz="1100" dirty="0" smtClean="0">
                <a:latin typeface="KB금융 제목체 Bold" panose="020B0803000000000000" pitchFamily="50" charset="-127"/>
                <a:ea typeface="KB금융 제목체 Bold" panose="020B0803000000000000" pitchFamily="50" charset="-127"/>
              </a:rPr>
            </a:br>
            <a:r>
              <a:rPr lang="en-US" altLang="ko-KR" sz="1100" dirty="0" smtClean="0">
                <a:latin typeface="KB금융 제목체 Bold" panose="020B0803000000000000" pitchFamily="50" charset="-127"/>
                <a:ea typeface="KB금융 제목체 Bold" panose="020B0803000000000000" pitchFamily="50" charset="-127"/>
              </a:rPr>
              <a:t>Agent</a:t>
            </a:r>
          </a:p>
        </p:txBody>
      </p:sp>
      <p:cxnSp>
        <p:nvCxnSpPr>
          <p:cNvPr id="74" name="직선 화살표 연결선 73"/>
          <p:cNvCxnSpPr/>
          <p:nvPr/>
        </p:nvCxnSpPr>
        <p:spPr bwMode="auto">
          <a:xfrm>
            <a:off x="2028700" y="4028988"/>
            <a:ext cx="830263" cy="0"/>
          </a:xfrm>
          <a:prstGeom prst="straightConnector1">
            <a:avLst/>
          </a:prstGeom>
          <a:noFill/>
          <a:ln w="19050" cap="flat" cmpd="sng" algn="ctr">
            <a:solidFill>
              <a:schemeClr val="bg1">
                <a:lumMod val="65000"/>
              </a:schemeClr>
            </a:solidFill>
            <a:prstDash val="solid"/>
            <a:round/>
            <a:headEnd type="none" w="med" len="med"/>
            <a:tailEnd type="arrow"/>
          </a:ln>
          <a:effectLst/>
        </p:spPr>
      </p:cxnSp>
      <p:sp>
        <p:nvSpPr>
          <p:cNvPr id="75" name="Rectangle 8"/>
          <p:cNvSpPr>
            <a:spLocks noChangeArrowheads="1"/>
          </p:cNvSpPr>
          <p:nvPr/>
        </p:nvSpPr>
        <p:spPr bwMode="gray">
          <a:xfrm>
            <a:off x="2162736" y="4080798"/>
            <a:ext cx="516155" cy="242684"/>
          </a:xfrm>
          <a:prstGeom prst="rect">
            <a:avLst/>
          </a:prstGeom>
          <a:noFill/>
          <a:ln w="9525" algn="ctr">
            <a:noFill/>
            <a:miter lim="800000"/>
            <a:headEnd/>
            <a:tailEnd/>
          </a:ln>
        </p:spPr>
        <p:txBody>
          <a:bodyPr wrap="square" lIns="0" tIns="36000" rIns="0" bIns="36000" anchor="ctr"/>
          <a:lstStyle/>
          <a:p>
            <a:pPr algn="ctr" eaLnBrk="0" latinLnBrk="0" hangingPunct="0">
              <a:spcBef>
                <a:spcPct val="50000"/>
              </a:spcBef>
              <a:defRPr/>
            </a:pPr>
            <a:r>
              <a:rPr lang="ko-KR" altLang="en-US" sz="900" smtClean="0">
                <a:latin typeface="KB금융 본문체 Light" panose="020B0303000000000000" pitchFamily="50" charset="-127"/>
                <a:ea typeface="KB금융 본문체 Light" panose="020B0303000000000000" pitchFamily="50" charset="-127"/>
              </a:rPr>
              <a:t>②파일</a:t>
            </a:r>
            <a:r>
              <a:rPr lang="en-US" altLang="ko-KR" sz="900" dirty="0" smtClean="0">
                <a:latin typeface="KB금융 본문체 Light" panose="020B0303000000000000" pitchFamily="50" charset="-127"/>
                <a:ea typeface="KB금융 본문체 Light" panose="020B0303000000000000" pitchFamily="50" charset="-127"/>
              </a:rPr>
              <a:t/>
            </a:r>
            <a:br>
              <a:rPr lang="en-US" altLang="ko-KR" sz="900" dirty="0" smtClean="0">
                <a:latin typeface="KB금융 본문체 Light" panose="020B0303000000000000" pitchFamily="50" charset="-127"/>
                <a:ea typeface="KB금융 본문체 Light" panose="020B0303000000000000" pitchFamily="50" charset="-127"/>
              </a:rPr>
            </a:br>
            <a:r>
              <a:rPr lang="en-US" altLang="ko-KR" sz="900" dirty="0" smtClean="0">
                <a:latin typeface="KB금융 본문체 Light" panose="020B0303000000000000" pitchFamily="50" charset="-127"/>
                <a:ea typeface="KB금융 본문체 Light" panose="020B0303000000000000" pitchFamily="50" charset="-127"/>
              </a:rPr>
              <a:t>(</a:t>
            </a:r>
            <a:r>
              <a:rPr lang="ko-KR" altLang="en-US" sz="900" dirty="0" smtClean="0">
                <a:latin typeface="KB금융 본문체 Light" panose="020B0303000000000000" pitchFamily="50" charset="-127"/>
                <a:ea typeface="KB금융 본문체 Light" panose="020B0303000000000000" pitchFamily="50" charset="-127"/>
              </a:rPr>
              <a:t>암호화</a:t>
            </a:r>
            <a:r>
              <a:rPr lang="en-US" altLang="ko-KR" sz="900" dirty="0" smtClean="0">
                <a:latin typeface="KB금융 본문체 Light" panose="020B0303000000000000" pitchFamily="50" charset="-127"/>
                <a:ea typeface="KB금융 본문체 Light" panose="020B0303000000000000" pitchFamily="50" charset="-127"/>
              </a:rPr>
              <a:t>)</a:t>
            </a:r>
          </a:p>
        </p:txBody>
      </p:sp>
      <p:sp>
        <p:nvSpPr>
          <p:cNvPr id="124" name="Rectangle 8"/>
          <p:cNvSpPr>
            <a:spLocks noChangeArrowheads="1"/>
          </p:cNvSpPr>
          <p:nvPr/>
        </p:nvSpPr>
        <p:spPr bwMode="gray">
          <a:xfrm>
            <a:off x="3668056" y="4368830"/>
            <a:ext cx="492856" cy="242684"/>
          </a:xfrm>
          <a:prstGeom prst="rect">
            <a:avLst/>
          </a:prstGeom>
          <a:noFill/>
          <a:ln w="9525" algn="ctr">
            <a:noFill/>
            <a:miter lim="800000"/>
            <a:headEnd/>
            <a:tailEnd/>
          </a:ln>
        </p:spPr>
        <p:txBody>
          <a:bodyPr wrap="square" lIns="0" tIns="36000" rIns="0" bIns="36000" anchor="ctr"/>
          <a:lstStyle/>
          <a:p>
            <a:pPr algn="ctr" eaLnBrk="0" latinLnBrk="0" hangingPunct="0">
              <a:spcBef>
                <a:spcPct val="50000"/>
              </a:spcBef>
              <a:defRPr/>
            </a:pPr>
            <a:r>
              <a:rPr lang="ko-KR" altLang="en-US" sz="900" smtClean="0">
                <a:latin typeface="KB금융 본문체 Light" panose="020B0303000000000000" pitchFamily="50" charset="-127"/>
                <a:ea typeface="KB금융 본문체 Light" panose="020B0303000000000000" pitchFamily="50" charset="-127"/>
              </a:rPr>
              <a:t>③파일</a:t>
            </a:r>
            <a:r>
              <a:rPr lang="en-US" altLang="ko-KR" sz="900" dirty="0" smtClean="0">
                <a:latin typeface="KB금융 본문체 Light" panose="020B0303000000000000" pitchFamily="50" charset="-127"/>
                <a:ea typeface="KB금융 본문체 Light" panose="020B0303000000000000" pitchFamily="50" charset="-127"/>
              </a:rPr>
              <a:t/>
            </a:r>
            <a:br>
              <a:rPr lang="en-US" altLang="ko-KR" sz="900" dirty="0" smtClean="0">
                <a:latin typeface="KB금융 본문체 Light" panose="020B0303000000000000" pitchFamily="50" charset="-127"/>
                <a:ea typeface="KB금융 본문체 Light" panose="020B0303000000000000" pitchFamily="50" charset="-127"/>
              </a:rPr>
            </a:br>
            <a:r>
              <a:rPr lang="en-US" altLang="ko-KR" sz="900" dirty="0" smtClean="0">
                <a:latin typeface="KB금융 본문체 Light" panose="020B0303000000000000" pitchFamily="50" charset="-127"/>
                <a:ea typeface="KB금융 본문체 Light" panose="020B0303000000000000" pitchFamily="50" charset="-127"/>
              </a:rPr>
              <a:t>(</a:t>
            </a:r>
            <a:r>
              <a:rPr lang="ko-KR" altLang="en-US" sz="900" dirty="0" smtClean="0">
                <a:latin typeface="KB금융 본문체 Light" panose="020B0303000000000000" pitchFamily="50" charset="-127"/>
                <a:ea typeface="KB금융 본문체 Light" panose="020B0303000000000000" pitchFamily="50" charset="-127"/>
              </a:rPr>
              <a:t>암호화</a:t>
            </a:r>
            <a:r>
              <a:rPr lang="en-US" altLang="ko-KR" sz="900" dirty="0" smtClean="0">
                <a:latin typeface="KB금융 본문체 Light" panose="020B0303000000000000" pitchFamily="50" charset="-127"/>
                <a:ea typeface="KB금융 본문체 Light" panose="020B0303000000000000" pitchFamily="50" charset="-127"/>
              </a:rPr>
              <a:t>)</a:t>
            </a:r>
          </a:p>
        </p:txBody>
      </p:sp>
      <p:sp>
        <p:nvSpPr>
          <p:cNvPr id="125" name="Rectangle 8"/>
          <p:cNvSpPr>
            <a:spLocks noChangeArrowheads="1"/>
          </p:cNvSpPr>
          <p:nvPr/>
        </p:nvSpPr>
        <p:spPr bwMode="gray">
          <a:xfrm>
            <a:off x="7584951" y="2526855"/>
            <a:ext cx="1356520" cy="554406"/>
          </a:xfrm>
          <a:prstGeom prst="rect">
            <a:avLst/>
          </a:prstGeom>
          <a:noFill/>
          <a:ln w="9525" algn="ctr">
            <a:solidFill>
              <a:schemeClr val="bg1">
                <a:lumMod val="50000"/>
              </a:schemeClr>
            </a:solidFill>
            <a:miter lim="800000"/>
            <a:headEnd/>
            <a:tailEnd/>
          </a:ln>
        </p:spPr>
        <p:txBody>
          <a:bodyPr wrap="square" lIns="92075" tIns="46038" rIns="92075" bIns="46038" anchor="ctr"/>
          <a:lstStyle/>
          <a:p>
            <a:pPr algn="ctr" eaLnBrk="0" latinLnBrk="0" hangingPunct="0">
              <a:spcBef>
                <a:spcPct val="50000"/>
              </a:spcBef>
              <a:defRPr/>
            </a:pPr>
            <a:r>
              <a:rPr lang="en-US" altLang="ko-KR" sz="1100" smtClean="0">
                <a:latin typeface="KB금융 제목체 Bold" panose="020B0803000000000000" pitchFamily="50" charset="-127"/>
                <a:ea typeface="KB금융 제목체 Bold" panose="020B0803000000000000" pitchFamily="50" charset="-127"/>
              </a:rPr>
              <a:t>MCI</a:t>
            </a:r>
            <a:endParaRPr lang="en-US" altLang="ko-KR" sz="1100" dirty="0" smtClean="0">
              <a:latin typeface="KB금융 제목체 Bold" panose="020B0803000000000000" pitchFamily="50" charset="-127"/>
              <a:ea typeface="KB금융 제목체 Bold" panose="020B0803000000000000" pitchFamily="50" charset="-127"/>
            </a:endParaRPr>
          </a:p>
        </p:txBody>
      </p:sp>
      <p:sp>
        <p:nvSpPr>
          <p:cNvPr id="126" name="Rectangle 8"/>
          <p:cNvSpPr>
            <a:spLocks noChangeArrowheads="1"/>
          </p:cNvSpPr>
          <p:nvPr/>
        </p:nvSpPr>
        <p:spPr bwMode="gray">
          <a:xfrm>
            <a:off x="7584952" y="3644038"/>
            <a:ext cx="1356519" cy="585792"/>
          </a:xfrm>
          <a:prstGeom prst="rect">
            <a:avLst/>
          </a:prstGeom>
          <a:noFill/>
          <a:ln w="9525" algn="ctr">
            <a:solidFill>
              <a:schemeClr val="bg1">
                <a:lumMod val="50000"/>
              </a:schemeClr>
            </a:solidFill>
            <a:miter lim="800000"/>
            <a:headEnd/>
            <a:tailEnd/>
          </a:ln>
        </p:spPr>
        <p:txBody>
          <a:bodyPr wrap="square" lIns="92075" tIns="46038" rIns="92075" bIns="46038" anchor="ctr"/>
          <a:lstStyle/>
          <a:p>
            <a:pPr algn="ctr" eaLnBrk="0" latinLnBrk="0" hangingPunct="0">
              <a:spcBef>
                <a:spcPct val="50000"/>
              </a:spcBef>
              <a:defRPr/>
            </a:pPr>
            <a:r>
              <a:rPr lang="ko-KR" altLang="en-US" sz="1100" dirty="0" smtClean="0">
                <a:latin typeface="KB금융 제목체 Bold" panose="020B0803000000000000" pitchFamily="50" charset="-127"/>
                <a:ea typeface="KB금융 제목체 Bold" panose="020B0803000000000000" pitchFamily="50" charset="-127"/>
              </a:rPr>
              <a:t>업무  프로그램</a:t>
            </a:r>
            <a:endParaRPr lang="en-US" altLang="ko-KR" sz="1100" dirty="0" smtClean="0">
              <a:latin typeface="KB금융 제목체 Bold" panose="020B0803000000000000" pitchFamily="50" charset="-127"/>
              <a:ea typeface="KB금융 제목체 Bold" panose="020B0803000000000000" pitchFamily="50" charset="-127"/>
            </a:endParaRPr>
          </a:p>
        </p:txBody>
      </p:sp>
      <p:sp>
        <p:nvSpPr>
          <p:cNvPr id="129" name="Rectangle 8"/>
          <p:cNvSpPr>
            <a:spLocks noChangeArrowheads="1"/>
          </p:cNvSpPr>
          <p:nvPr/>
        </p:nvSpPr>
        <p:spPr bwMode="gray">
          <a:xfrm>
            <a:off x="6545139" y="3710986"/>
            <a:ext cx="906462" cy="242684"/>
          </a:xfrm>
          <a:prstGeom prst="rect">
            <a:avLst/>
          </a:prstGeom>
          <a:noFill/>
          <a:ln w="9525" algn="ctr">
            <a:noFill/>
            <a:miter lim="800000"/>
            <a:headEnd/>
            <a:tailEnd/>
          </a:ln>
        </p:spPr>
        <p:txBody>
          <a:bodyPr wrap="square" lIns="0" tIns="36000" rIns="0" bIns="36000" anchor="ctr"/>
          <a:lstStyle/>
          <a:p>
            <a:pPr algn="ctr" eaLnBrk="0" hangingPunct="0">
              <a:spcBef>
                <a:spcPct val="50000"/>
              </a:spcBef>
              <a:defRPr/>
            </a:pPr>
            <a:r>
              <a:rPr lang="ko-KR" altLang="en-US" sz="900" smtClean="0">
                <a:latin typeface="KB금융 본문체 Light" panose="020B0303000000000000" pitchFamily="50" charset="-127"/>
                <a:ea typeface="KB금융 본문체 Light" panose="020B0303000000000000" pitchFamily="50" charset="-127"/>
              </a:rPr>
              <a:t>③파일</a:t>
            </a:r>
            <a:r>
              <a:rPr lang="en-US" altLang="ko-KR" sz="900" dirty="0" smtClean="0">
                <a:latin typeface="KB금융 본문체 Light" panose="020B0303000000000000" pitchFamily="50" charset="-127"/>
                <a:ea typeface="KB금융 본문체 Light" panose="020B0303000000000000" pitchFamily="50" charset="-127"/>
              </a:rPr>
              <a:t/>
            </a:r>
            <a:br>
              <a:rPr lang="en-US" altLang="ko-KR" sz="900" dirty="0" smtClean="0">
                <a:latin typeface="KB금융 본문체 Light" panose="020B0303000000000000" pitchFamily="50" charset="-127"/>
                <a:ea typeface="KB금융 본문체 Light" panose="020B0303000000000000" pitchFamily="50" charset="-127"/>
              </a:rPr>
            </a:br>
            <a:r>
              <a:rPr lang="en-US" altLang="ko-KR" sz="900" dirty="0" smtClean="0">
                <a:latin typeface="KB금융 본문체 Light" panose="020B0303000000000000" pitchFamily="50" charset="-127"/>
                <a:ea typeface="KB금융 본문체 Light" panose="020B0303000000000000" pitchFamily="50" charset="-127"/>
              </a:rPr>
              <a:t>(</a:t>
            </a:r>
            <a:r>
              <a:rPr lang="ko-KR" altLang="en-US" sz="900" dirty="0" err="1" smtClean="0">
                <a:latin typeface="KB금융 본문체 Light" panose="020B0303000000000000" pitchFamily="50" charset="-127"/>
                <a:ea typeface="KB금융 본문체 Light" panose="020B0303000000000000" pitchFamily="50" charset="-127"/>
              </a:rPr>
              <a:t>평문</a:t>
            </a:r>
            <a:r>
              <a:rPr lang="en-US" altLang="ko-KR" sz="900" dirty="0" smtClean="0">
                <a:latin typeface="KB금융 본문체 Light" panose="020B0303000000000000" pitchFamily="50" charset="-127"/>
                <a:ea typeface="KB금융 본문체 Light" panose="020B0303000000000000" pitchFamily="50" charset="-127"/>
              </a:rPr>
              <a:t>)</a:t>
            </a:r>
          </a:p>
        </p:txBody>
      </p:sp>
      <p:sp>
        <p:nvSpPr>
          <p:cNvPr id="130" name="Rectangle 8"/>
          <p:cNvSpPr>
            <a:spLocks noChangeArrowheads="1"/>
          </p:cNvSpPr>
          <p:nvPr/>
        </p:nvSpPr>
        <p:spPr bwMode="gray">
          <a:xfrm>
            <a:off x="8038241" y="4740302"/>
            <a:ext cx="535783" cy="242684"/>
          </a:xfrm>
          <a:prstGeom prst="rect">
            <a:avLst/>
          </a:prstGeom>
          <a:noFill/>
          <a:ln w="9525" algn="ctr">
            <a:noFill/>
            <a:miter lim="800000"/>
            <a:headEnd/>
            <a:tailEnd/>
          </a:ln>
        </p:spPr>
        <p:txBody>
          <a:bodyPr wrap="none" lIns="92075" tIns="46038" rIns="92075" bIns="46038" anchor="ctr"/>
          <a:lstStyle/>
          <a:p>
            <a:pPr algn="ctr" eaLnBrk="0" latinLnBrk="0" hangingPunct="0">
              <a:spcBef>
                <a:spcPct val="50000"/>
              </a:spcBef>
              <a:defRPr/>
            </a:pPr>
            <a:r>
              <a:rPr lang="ko-KR" altLang="en-US" sz="1100" smtClean="0">
                <a:latin typeface="KB금융 제목체 Bold" panose="020B0803000000000000" pitchFamily="50" charset="-127"/>
                <a:ea typeface="KB금융 제목체 Bold" panose="020B0803000000000000" pitchFamily="50" charset="-127"/>
              </a:rPr>
              <a:t>파일 저장 디렉토리</a:t>
            </a:r>
            <a:endParaRPr lang="en-US" altLang="ko-KR" sz="1100" dirty="0" smtClean="0">
              <a:latin typeface="KB금융 제목체 Bold" panose="020B0803000000000000" pitchFamily="50" charset="-127"/>
              <a:ea typeface="KB금융 제목체 Bold" panose="020B0803000000000000" pitchFamily="50" charset="-127"/>
            </a:endParaRPr>
          </a:p>
        </p:txBody>
      </p:sp>
      <p:cxnSp>
        <p:nvCxnSpPr>
          <p:cNvPr id="132" name="직선 화살표 연결선 131"/>
          <p:cNvCxnSpPr/>
          <p:nvPr/>
        </p:nvCxnSpPr>
        <p:spPr bwMode="auto">
          <a:xfrm>
            <a:off x="6640388" y="3995514"/>
            <a:ext cx="830263" cy="0"/>
          </a:xfrm>
          <a:prstGeom prst="straightConnector1">
            <a:avLst/>
          </a:prstGeom>
          <a:noFill/>
          <a:ln w="19050" cap="flat" cmpd="sng" algn="ctr">
            <a:solidFill>
              <a:schemeClr val="bg1">
                <a:lumMod val="65000"/>
              </a:schemeClr>
            </a:solidFill>
            <a:prstDash val="solid"/>
            <a:round/>
            <a:headEnd type="none" w="med" len="med"/>
            <a:tailEnd type="arrow"/>
          </a:ln>
          <a:effectLst/>
        </p:spPr>
      </p:cxnSp>
      <p:grpSp>
        <p:nvGrpSpPr>
          <p:cNvPr id="133" name="그룹 132"/>
          <p:cNvGrpSpPr/>
          <p:nvPr/>
        </p:nvGrpSpPr>
        <p:grpSpPr>
          <a:xfrm>
            <a:off x="5611688" y="2613979"/>
            <a:ext cx="609600" cy="485367"/>
            <a:chOff x="685800" y="2857501"/>
            <a:chExt cx="609600" cy="552448"/>
          </a:xfrm>
          <a:noFill/>
        </p:grpSpPr>
        <p:sp>
          <p:nvSpPr>
            <p:cNvPr id="134" name="모서리가 둥근 직사각형 133"/>
            <p:cNvSpPr/>
            <p:nvPr/>
          </p:nvSpPr>
          <p:spPr bwMode="auto">
            <a:xfrm>
              <a:off x="685800" y="2857501"/>
              <a:ext cx="609600" cy="376236"/>
            </a:xfrm>
            <a:prstGeom prst="roundRect">
              <a:avLst/>
            </a:prstGeom>
            <a:grpFill/>
            <a:ln w="9525" cap="flat" cmpd="sng" algn="ctr">
              <a:solidFill>
                <a:schemeClr val="bg1">
                  <a:lumMod val="75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50000"/>
                </a:spcBef>
                <a:spcAft>
                  <a:spcPct val="0"/>
                </a:spcAft>
                <a:buClrTx/>
                <a:buSzTx/>
                <a:buFontTx/>
                <a:buNone/>
                <a:tabLst/>
              </a:pPr>
              <a:r>
                <a:rPr kumimoji="0" lang="ko-KR" altLang="en-US" sz="1100" i="0" u="none" strike="noStrike" cap="none" normalizeH="0" baseline="0" smtClean="0">
                  <a:ln>
                    <a:noFill/>
                  </a:ln>
                  <a:solidFill>
                    <a:schemeClr val="tx1"/>
                  </a:solidFill>
                  <a:effectLst/>
                  <a:latin typeface="KB금융 제목체 Bold" panose="020B0803000000000000" pitchFamily="50" charset="-127"/>
                  <a:ea typeface="KB금융 제목체 Bold" panose="020B0803000000000000" pitchFamily="50" charset="-127"/>
                </a:rPr>
                <a:t>단말</a:t>
              </a:r>
            </a:p>
          </p:txBody>
        </p:sp>
        <p:sp>
          <p:nvSpPr>
            <p:cNvPr id="135" name="이등변 삼각형 134"/>
            <p:cNvSpPr/>
            <p:nvPr/>
          </p:nvSpPr>
          <p:spPr bwMode="auto">
            <a:xfrm>
              <a:off x="762000" y="3231358"/>
              <a:ext cx="457200" cy="178591"/>
            </a:xfrm>
            <a:prstGeom prst="triangle">
              <a:avLst/>
            </a:prstGeom>
            <a:grpFill/>
            <a:ln w="9525" cap="flat" cmpd="sng" algn="ctr">
              <a:solidFill>
                <a:schemeClr val="bg1">
                  <a:lumMod val="75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ko-KR" altLang="en-US" sz="1100" i="0" u="none" strike="noStrike" cap="none" normalizeH="0" baseline="0" smtClean="0">
                <a:ln>
                  <a:noFill/>
                </a:ln>
                <a:solidFill>
                  <a:schemeClr val="tx1"/>
                </a:solidFill>
                <a:effectLst/>
                <a:latin typeface="KB금융 제목체 Bold" panose="020B0803000000000000" pitchFamily="50" charset="-127"/>
                <a:ea typeface="KB금융 제목체 Bold" panose="020B0803000000000000" pitchFamily="50" charset="-127"/>
              </a:endParaRPr>
            </a:p>
          </p:txBody>
        </p:sp>
      </p:grpSp>
      <p:cxnSp>
        <p:nvCxnSpPr>
          <p:cNvPr id="136" name="직선 화살표 연결선 135"/>
          <p:cNvCxnSpPr/>
          <p:nvPr/>
        </p:nvCxnSpPr>
        <p:spPr bwMode="auto">
          <a:xfrm flipV="1">
            <a:off x="6221288" y="2728573"/>
            <a:ext cx="1363663" cy="2091"/>
          </a:xfrm>
          <a:prstGeom prst="straightConnector1">
            <a:avLst/>
          </a:prstGeom>
          <a:noFill/>
          <a:ln w="15875" cap="flat" cmpd="sng" algn="ctr">
            <a:solidFill>
              <a:schemeClr val="bg1">
                <a:lumMod val="75000"/>
              </a:schemeClr>
            </a:solidFill>
            <a:prstDash val="solid"/>
            <a:round/>
            <a:headEnd type="none" w="med" len="med"/>
            <a:tailEnd type="arrow"/>
          </a:ln>
          <a:effectLst/>
        </p:spPr>
      </p:cxnSp>
      <p:sp>
        <p:nvSpPr>
          <p:cNvPr id="137" name="Rectangle 8"/>
          <p:cNvSpPr>
            <a:spLocks noChangeArrowheads="1"/>
          </p:cNvSpPr>
          <p:nvPr/>
        </p:nvSpPr>
        <p:spPr bwMode="gray">
          <a:xfrm>
            <a:off x="6221289" y="2451274"/>
            <a:ext cx="1363662" cy="242684"/>
          </a:xfrm>
          <a:prstGeom prst="rect">
            <a:avLst/>
          </a:prstGeom>
          <a:noFill/>
          <a:ln w="9525" algn="ctr">
            <a:noFill/>
            <a:miter lim="800000"/>
            <a:headEnd/>
            <a:tailEnd/>
          </a:ln>
        </p:spPr>
        <p:txBody>
          <a:bodyPr wrap="square" lIns="0" tIns="36000" rIns="0" bIns="36000" anchor="ctr"/>
          <a:lstStyle/>
          <a:p>
            <a:pPr algn="ctr" eaLnBrk="0" latinLnBrk="0" hangingPunct="0">
              <a:spcBef>
                <a:spcPct val="50000"/>
              </a:spcBef>
              <a:defRPr/>
            </a:pPr>
            <a:r>
              <a:rPr lang="ko-KR" altLang="en-US" sz="900" smtClean="0">
                <a:latin typeface="KB금융 본문체 Light" panose="020B0303000000000000" pitchFamily="50" charset="-127"/>
                <a:ea typeface="KB금융 본문체 Light" panose="020B0303000000000000" pitchFamily="50" charset="-127"/>
              </a:rPr>
              <a:t>입력전문</a:t>
            </a:r>
            <a:r>
              <a:rPr lang="en-US" altLang="ko-KR" sz="900" smtClean="0">
                <a:latin typeface="KB금융 본문체 Light" panose="020B0303000000000000" pitchFamily="50" charset="-127"/>
                <a:ea typeface="KB금융 본문체 Light" panose="020B0303000000000000" pitchFamily="50" charset="-127"/>
              </a:rPr>
              <a:t>(</a:t>
            </a:r>
            <a:r>
              <a:rPr lang="ko-KR" altLang="en-US" sz="900" smtClean="0">
                <a:latin typeface="KB금융 본문체 Light" panose="020B0303000000000000" pitchFamily="50" charset="-127"/>
                <a:ea typeface="KB금융 본문체 Light" panose="020B0303000000000000" pitchFamily="50" charset="-127"/>
              </a:rPr>
              <a:t>암호화</a:t>
            </a:r>
            <a:r>
              <a:rPr lang="en-US" altLang="ko-KR" sz="900" dirty="0" smtClean="0">
                <a:latin typeface="KB금융 본문체 Light" panose="020B0303000000000000" pitchFamily="50" charset="-127"/>
                <a:ea typeface="KB금융 본문체 Light" panose="020B0303000000000000" pitchFamily="50" charset="-127"/>
              </a:rPr>
              <a:t>)</a:t>
            </a:r>
            <a:r>
              <a:rPr lang="ko-KR" altLang="en-US" sz="900" dirty="0" smtClean="0">
                <a:latin typeface="KB금융 본문체 Light" panose="020B0303000000000000" pitchFamily="50" charset="-127"/>
                <a:ea typeface="KB금융 본문체 Light" panose="020B0303000000000000" pitchFamily="50" charset="-127"/>
              </a:rPr>
              <a:t>  </a:t>
            </a:r>
            <a:endParaRPr lang="en-US" altLang="ko-KR" sz="900" dirty="0" smtClean="0">
              <a:latin typeface="KB금융 본문체 Light" panose="020B0303000000000000" pitchFamily="50" charset="-127"/>
              <a:ea typeface="KB금융 본문체 Light" panose="020B0303000000000000" pitchFamily="50" charset="-127"/>
            </a:endParaRPr>
          </a:p>
        </p:txBody>
      </p:sp>
      <p:sp>
        <p:nvSpPr>
          <p:cNvPr id="138" name="직사각형 137"/>
          <p:cNvSpPr/>
          <p:nvPr/>
        </p:nvSpPr>
        <p:spPr bwMode="auto">
          <a:xfrm>
            <a:off x="5306888" y="2271618"/>
            <a:ext cx="4038600" cy="3276000"/>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ko-KR" altLang="en-US" sz="1000" i="0" u="none" strike="noStrike" cap="none" normalizeH="0" baseline="0" smtClean="0">
              <a:ln>
                <a:noFill/>
              </a:ln>
              <a:solidFill>
                <a:schemeClr val="tx1"/>
              </a:solidFill>
              <a:effectLst/>
              <a:latin typeface="KB금융 본문체 Light" panose="020B0303000000000000" pitchFamily="50" charset="-127"/>
              <a:ea typeface="KB금융 본문체 Light" panose="020B0303000000000000" pitchFamily="50" charset="-127"/>
            </a:endParaRPr>
          </a:p>
        </p:txBody>
      </p:sp>
      <p:sp>
        <p:nvSpPr>
          <p:cNvPr id="139" name="Rectangle 8"/>
          <p:cNvSpPr>
            <a:spLocks noChangeArrowheads="1"/>
          </p:cNvSpPr>
          <p:nvPr/>
        </p:nvSpPr>
        <p:spPr bwMode="gray">
          <a:xfrm>
            <a:off x="5611688" y="3878353"/>
            <a:ext cx="939404" cy="368211"/>
          </a:xfrm>
          <a:prstGeom prst="rect">
            <a:avLst/>
          </a:prstGeom>
          <a:noFill/>
          <a:ln w="9525" algn="ctr">
            <a:solidFill>
              <a:schemeClr val="bg1">
                <a:lumMod val="50000"/>
              </a:schemeClr>
            </a:solidFill>
            <a:miter lim="800000"/>
            <a:headEnd/>
            <a:tailEnd/>
          </a:ln>
        </p:spPr>
        <p:txBody>
          <a:bodyPr wrap="square" lIns="92075" tIns="46038" rIns="92075" bIns="46038" anchor="ctr"/>
          <a:lstStyle/>
          <a:p>
            <a:pPr algn="ctr" eaLnBrk="0" latinLnBrk="0" hangingPunct="0">
              <a:spcBef>
                <a:spcPct val="50000"/>
              </a:spcBef>
              <a:defRPr/>
            </a:pPr>
            <a:r>
              <a:rPr lang="ko-KR" altLang="en-US" sz="1100" smtClean="0">
                <a:latin typeface="KB금융 제목체 Bold" panose="020B0803000000000000" pitchFamily="50" charset="-127"/>
                <a:ea typeface="KB금융 제목체 Bold" panose="020B0803000000000000" pitchFamily="50" charset="-127"/>
              </a:rPr>
              <a:t>암</a:t>
            </a:r>
            <a:r>
              <a:rPr lang="en-US" altLang="ko-KR" sz="1100" smtClean="0">
                <a:latin typeface="KB금융 제목체 Bold" panose="020B0803000000000000" pitchFamily="50" charset="-127"/>
                <a:ea typeface="KB금융 제목체 Bold" panose="020B0803000000000000" pitchFamily="50" charset="-127"/>
              </a:rPr>
              <a:t>·</a:t>
            </a:r>
            <a:r>
              <a:rPr lang="ko-KR" altLang="en-US" sz="1100" smtClean="0">
                <a:latin typeface="KB금융 제목체 Bold" panose="020B0803000000000000" pitchFamily="50" charset="-127"/>
                <a:ea typeface="KB금융 제목체 Bold" panose="020B0803000000000000" pitchFamily="50" charset="-127"/>
              </a:rPr>
              <a:t>복호화</a:t>
            </a:r>
            <a:r>
              <a:rPr lang="en-US" altLang="ko-KR" sz="1100" dirty="0" smtClean="0">
                <a:latin typeface="KB금융 제목체 Bold" panose="020B0803000000000000" pitchFamily="50" charset="-127"/>
                <a:ea typeface="KB금융 제목체 Bold" panose="020B0803000000000000" pitchFamily="50" charset="-127"/>
              </a:rPr>
              <a:t/>
            </a:r>
            <a:br>
              <a:rPr lang="en-US" altLang="ko-KR" sz="1100" dirty="0" smtClean="0">
                <a:latin typeface="KB금융 제목체 Bold" panose="020B0803000000000000" pitchFamily="50" charset="-127"/>
                <a:ea typeface="KB금융 제목체 Bold" panose="020B0803000000000000" pitchFamily="50" charset="-127"/>
              </a:rPr>
            </a:br>
            <a:r>
              <a:rPr lang="en-US" altLang="ko-KR" sz="1100" dirty="0" smtClean="0">
                <a:latin typeface="KB금융 제목체 Bold" panose="020B0803000000000000" pitchFamily="50" charset="-127"/>
                <a:ea typeface="KB금융 제목체 Bold" panose="020B0803000000000000" pitchFamily="50" charset="-127"/>
              </a:rPr>
              <a:t>Agent</a:t>
            </a:r>
          </a:p>
        </p:txBody>
      </p:sp>
      <p:cxnSp>
        <p:nvCxnSpPr>
          <p:cNvPr id="140" name="직선 화살표 연결선 139"/>
          <p:cNvCxnSpPr/>
          <p:nvPr/>
        </p:nvCxnSpPr>
        <p:spPr bwMode="auto">
          <a:xfrm>
            <a:off x="6621733" y="4137777"/>
            <a:ext cx="830263" cy="0"/>
          </a:xfrm>
          <a:prstGeom prst="straightConnector1">
            <a:avLst/>
          </a:prstGeom>
          <a:noFill/>
          <a:ln w="19050" cap="flat" cmpd="sng" algn="ctr">
            <a:solidFill>
              <a:schemeClr val="bg1">
                <a:lumMod val="65000"/>
              </a:schemeClr>
            </a:solidFill>
            <a:prstDash val="solid"/>
            <a:round/>
            <a:headEnd type="arrow" w="med" len="med"/>
            <a:tailEnd type="none"/>
          </a:ln>
          <a:effectLst/>
        </p:spPr>
      </p:cxnSp>
      <p:sp>
        <p:nvSpPr>
          <p:cNvPr id="141" name="Rectangle 8"/>
          <p:cNvSpPr>
            <a:spLocks noChangeArrowheads="1"/>
          </p:cNvSpPr>
          <p:nvPr/>
        </p:nvSpPr>
        <p:spPr bwMode="gray">
          <a:xfrm>
            <a:off x="6572125" y="4210562"/>
            <a:ext cx="944563" cy="242684"/>
          </a:xfrm>
          <a:prstGeom prst="rect">
            <a:avLst/>
          </a:prstGeom>
          <a:noFill/>
          <a:ln w="9525" algn="ctr">
            <a:noFill/>
            <a:miter lim="800000"/>
            <a:headEnd/>
            <a:tailEnd/>
          </a:ln>
        </p:spPr>
        <p:txBody>
          <a:bodyPr wrap="square" lIns="0" tIns="36000" rIns="0" bIns="36000" anchor="ctr"/>
          <a:lstStyle/>
          <a:p>
            <a:pPr algn="ctr" eaLnBrk="0" hangingPunct="0">
              <a:spcBef>
                <a:spcPct val="50000"/>
              </a:spcBef>
              <a:defRPr/>
            </a:pPr>
            <a:r>
              <a:rPr lang="ko-KR" altLang="en-US" sz="900" smtClean="0">
                <a:latin typeface="KB금융 본문체 Light" panose="020B0303000000000000" pitchFamily="50" charset="-127"/>
                <a:ea typeface="KB금융 본문체 Light" panose="020B0303000000000000" pitchFamily="50" charset="-127"/>
              </a:rPr>
              <a:t>②파일</a:t>
            </a:r>
            <a:r>
              <a:rPr lang="en-US" altLang="ko-KR" sz="900" dirty="0" smtClean="0">
                <a:latin typeface="KB금융 본문체 Light" panose="020B0303000000000000" pitchFamily="50" charset="-127"/>
                <a:ea typeface="KB금융 본문체 Light" panose="020B0303000000000000" pitchFamily="50" charset="-127"/>
              </a:rPr>
              <a:t/>
            </a:r>
            <a:br>
              <a:rPr lang="en-US" altLang="ko-KR" sz="900" dirty="0" smtClean="0">
                <a:latin typeface="KB금융 본문체 Light" panose="020B0303000000000000" pitchFamily="50" charset="-127"/>
                <a:ea typeface="KB금융 본문체 Light" panose="020B0303000000000000" pitchFamily="50" charset="-127"/>
              </a:rPr>
            </a:br>
            <a:r>
              <a:rPr lang="en-US" altLang="ko-KR" sz="900" smtClean="0">
                <a:latin typeface="KB금융 본문체 Light" panose="020B0303000000000000" pitchFamily="50" charset="-127"/>
                <a:ea typeface="KB금융 본문체 Light" panose="020B0303000000000000" pitchFamily="50" charset="-127"/>
              </a:rPr>
              <a:t>(</a:t>
            </a:r>
            <a:r>
              <a:rPr lang="ko-KR" altLang="en-US" sz="900" smtClean="0">
                <a:latin typeface="KB금융 본문체 Light" panose="020B0303000000000000" pitchFamily="50" charset="-127"/>
                <a:ea typeface="KB금융 본문체 Light" panose="020B0303000000000000" pitchFamily="50" charset="-127"/>
              </a:rPr>
              <a:t>복호화요청</a:t>
            </a:r>
            <a:r>
              <a:rPr lang="en-US" altLang="ko-KR" sz="900" smtClean="0">
                <a:latin typeface="KB금융 본문체 Light" panose="020B0303000000000000" pitchFamily="50" charset="-127"/>
                <a:ea typeface="KB금융 본문체 Light" panose="020B0303000000000000" pitchFamily="50" charset="-127"/>
              </a:rPr>
              <a:t>)</a:t>
            </a:r>
            <a:endParaRPr lang="en-US" altLang="ko-KR" sz="900" dirty="0" smtClean="0">
              <a:latin typeface="KB금융 본문체 Light" panose="020B0303000000000000" pitchFamily="50" charset="-127"/>
              <a:ea typeface="KB금융 본문체 Light" panose="020B0303000000000000" pitchFamily="50" charset="-127"/>
            </a:endParaRPr>
          </a:p>
        </p:txBody>
      </p:sp>
      <p:cxnSp>
        <p:nvCxnSpPr>
          <p:cNvPr id="146" name="직선 화살표 연결선 145"/>
          <p:cNvCxnSpPr/>
          <p:nvPr/>
        </p:nvCxnSpPr>
        <p:spPr bwMode="auto">
          <a:xfrm>
            <a:off x="8229364" y="4305289"/>
            <a:ext cx="3968" cy="414237"/>
          </a:xfrm>
          <a:prstGeom prst="straightConnector1">
            <a:avLst/>
          </a:prstGeom>
          <a:noFill/>
          <a:ln w="15875" cap="flat" cmpd="sng" algn="ctr">
            <a:solidFill>
              <a:schemeClr val="bg1">
                <a:lumMod val="75000"/>
              </a:schemeClr>
            </a:solidFill>
            <a:prstDash val="solid"/>
            <a:round/>
            <a:headEnd type="arrow" w="med" len="med"/>
            <a:tailEnd type="none"/>
          </a:ln>
          <a:effectLst/>
        </p:spPr>
      </p:cxnSp>
      <p:sp>
        <p:nvSpPr>
          <p:cNvPr id="147" name="Rectangle 8"/>
          <p:cNvSpPr>
            <a:spLocks noChangeArrowheads="1"/>
          </p:cNvSpPr>
          <p:nvPr/>
        </p:nvSpPr>
        <p:spPr bwMode="gray">
          <a:xfrm>
            <a:off x="7618005" y="4395934"/>
            <a:ext cx="755375" cy="242684"/>
          </a:xfrm>
          <a:prstGeom prst="rect">
            <a:avLst/>
          </a:prstGeom>
          <a:noFill/>
          <a:ln w="9525" algn="ctr">
            <a:noFill/>
            <a:miter lim="800000"/>
            <a:headEnd/>
            <a:tailEnd/>
          </a:ln>
        </p:spPr>
        <p:txBody>
          <a:bodyPr wrap="square" lIns="0" tIns="36000" rIns="0" bIns="36000" anchor="ctr"/>
          <a:lstStyle/>
          <a:p>
            <a:pPr algn="ctr" eaLnBrk="0" hangingPunct="0">
              <a:spcBef>
                <a:spcPct val="50000"/>
              </a:spcBef>
              <a:defRPr/>
            </a:pPr>
            <a:r>
              <a:rPr lang="ko-KR" altLang="en-US" sz="900" smtClean="0">
                <a:latin typeface="KB금융 본문체 Light" panose="020B0303000000000000" pitchFamily="50" charset="-127"/>
                <a:ea typeface="KB금융 본문체 Light" panose="020B0303000000000000" pitchFamily="50" charset="-127"/>
              </a:rPr>
              <a:t>①파일</a:t>
            </a:r>
            <a:r>
              <a:rPr lang="en-US" altLang="ko-KR" sz="900" smtClean="0">
                <a:latin typeface="KB금융 본문체 Light" panose="020B0303000000000000" pitchFamily="50" charset="-127"/>
                <a:ea typeface="KB금융 본문체 Light" panose="020B0303000000000000" pitchFamily="50" charset="-127"/>
              </a:rPr>
              <a:t/>
            </a:r>
            <a:br>
              <a:rPr lang="en-US" altLang="ko-KR" sz="900" smtClean="0">
                <a:latin typeface="KB금융 본문체 Light" panose="020B0303000000000000" pitchFamily="50" charset="-127"/>
                <a:ea typeface="KB금융 본문체 Light" panose="020B0303000000000000" pitchFamily="50" charset="-127"/>
              </a:rPr>
            </a:br>
            <a:r>
              <a:rPr lang="en-US" altLang="ko-KR" sz="900" smtClean="0">
                <a:latin typeface="KB금융 본문체 Light" panose="020B0303000000000000" pitchFamily="50" charset="-127"/>
                <a:ea typeface="KB금융 본문체 Light" panose="020B0303000000000000" pitchFamily="50" charset="-127"/>
              </a:rPr>
              <a:t>(</a:t>
            </a:r>
            <a:r>
              <a:rPr lang="ko-KR" altLang="en-US" sz="900" smtClean="0">
                <a:latin typeface="KB금융 본문체 Light" panose="020B0303000000000000" pitchFamily="50" charset="-127"/>
                <a:ea typeface="KB금융 본문체 Light" panose="020B0303000000000000" pitchFamily="50" charset="-127"/>
              </a:rPr>
              <a:t>암호화</a:t>
            </a:r>
            <a:r>
              <a:rPr lang="en-US" altLang="ko-KR" sz="900" dirty="0" smtClean="0">
                <a:latin typeface="KB금융 본문체 Light" panose="020B0303000000000000" pitchFamily="50" charset="-127"/>
                <a:ea typeface="KB금융 본문체 Light" panose="020B0303000000000000" pitchFamily="50" charset="-127"/>
              </a:rPr>
              <a:t>)</a:t>
            </a:r>
          </a:p>
        </p:txBody>
      </p:sp>
      <p:sp>
        <p:nvSpPr>
          <p:cNvPr id="150" name="Rectangle 8"/>
          <p:cNvSpPr>
            <a:spLocks noChangeArrowheads="1"/>
          </p:cNvSpPr>
          <p:nvPr/>
        </p:nvSpPr>
        <p:spPr bwMode="gray">
          <a:xfrm>
            <a:off x="8409384" y="4395490"/>
            <a:ext cx="415344" cy="242684"/>
          </a:xfrm>
          <a:prstGeom prst="rect">
            <a:avLst/>
          </a:prstGeom>
          <a:noFill/>
          <a:ln w="9525" algn="ctr">
            <a:noFill/>
            <a:miter lim="800000"/>
            <a:headEnd/>
            <a:tailEnd/>
          </a:ln>
        </p:spPr>
        <p:txBody>
          <a:bodyPr wrap="square" lIns="0" tIns="36000" rIns="0" bIns="36000" anchor="ctr"/>
          <a:lstStyle/>
          <a:p>
            <a:pPr algn="ctr" eaLnBrk="0" hangingPunct="0">
              <a:spcBef>
                <a:spcPct val="50000"/>
              </a:spcBef>
              <a:defRPr/>
            </a:pPr>
            <a:r>
              <a:rPr lang="ko-KR" altLang="en-US" sz="900" smtClean="0">
                <a:latin typeface="KB금융 본문체 Light" panose="020B0303000000000000" pitchFamily="50" charset="-127"/>
                <a:ea typeface="KB금융 본문체 Light" panose="020B0303000000000000" pitchFamily="50" charset="-127"/>
              </a:rPr>
              <a:t>④파일</a:t>
            </a:r>
            <a:r>
              <a:rPr lang="en-US" altLang="ko-KR" sz="900" dirty="0" smtClean="0">
                <a:latin typeface="KB금융 본문체 Light" panose="020B0303000000000000" pitchFamily="50" charset="-127"/>
                <a:ea typeface="KB금융 본문체 Light" panose="020B0303000000000000" pitchFamily="50" charset="-127"/>
              </a:rPr>
              <a:t/>
            </a:r>
            <a:br>
              <a:rPr lang="en-US" altLang="ko-KR" sz="900" dirty="0" smtClean="0">
                <a:latin typeface="KB금융 본문체 Light" panose="020B0303000000000000" pitchFamily="50" charset="-127"/>
                <a:ea typeface="KB금융 본문체 Light" panose="020B0303000000000000" pitchFamily="50" charset="-127"/>
              </a:rPr>
            </a:br>
            <a:r>
              <a:rPr lang="en-US" altLang="ko-KR" sz="900" dirty="0" smtClean="0">
                <a:latin typeface="KB금융 본문체 Light" panose="020B0303000000000000" pitchFamily="50" charset="-127"/>
                <a:ea typeface="KB금융 본문체 Light" panose="020B0303000000000000" pitchFamily="50" charset="-127"/>
              </a:rPr>
              <a:t>(</a:t>
            </a:r>
            <a:r>
              <a:rPr lang="ko-KR" altLang="en-US" sz="900" dirty="0" err="1" smtClean="0">
                <a:latin typeface="KB금융 본문체 Light" panose="020B0303000000000000" pitchFamily="50" charset="-127"/>
                <a:ea typeface="KB금융 본문체 Light" panose="020B0303000000000000" pitchFamily="50" charset="-127"/>
              </a:rPr>
              <a:t>평문</a:t>
            </a:r>
            <a:r>
              <a:rPr lang="en-US" altLang="ko-KR" sz="900" dirty="0" smtClean="0">
                <a:latin typeface="KB금융 본문체 Light" panose="020B0303000000000000" pitchFamily="50" charset="-127"/>
                <a:ea typeface="KB금융 본문체 Light" panose="020B0303000000000000" pitchFamily="50" charset="-127"/>
              </a:rPr>
              <a:t>)</a:t>
            </a:r>
          </a:p>
        </p:txBody>
      </p:sp>
      <p:sp>
        <p:nvSpPr>
          <p:cNvPr id="151" name="Rectangle 8"/>
          <p:cNvSpPr>
            <a:spLocks noChangeArrowheads="1"/>
          </p:cNvSpPr>
          <p:nvPr/>
        </p:nvSpPr>
        <p:spPr bwMode="gray">
          <a:xfrm>
            <a:off x="2936752" y="3644038"/>
            <a:ext cx="1354928" cy="605665"/>
          </a:xfrm>
          <a:prstGeom prst="rect">
            <a:avLst/>
          </a:prstGeom>
          <a:noFill/>
          <a:ln w="9525" algn="ctr">
            <a:solidFill>
              <a:schemeClr val="bg1">
                <a:lumMod val="50000"/>
              </a:schemeClr>
            </a:solidFill>
            <a:miter lim="800000"/>
            <a:headEnd/>
            <a:tailEnd/>
          </a:ln>
        </p:spPr>
        <p:txBody>
          <a:bodyPr wrap="square" lIns="92075" tIns="46038" rIns="92075" bIns="46038" anchor="ctr"/>
          <a:lstStyle/>
          <a:p>
            <a:pPr algn="ctr" eaLnBrk="0" latinLnBrk="0" hangingPunct="0">
              <a:spcBef>
                <a:spcPct val="50000"/>
              </a:spcBef>
              <a:defRPr/>
            </a:pPr>
            <a:r>
              <a:rPr lang="ko-KR" altLang="en-US" sz="1100" dirty="0" smtClean="0">
                <a:latin typeface="KB금융 제목체 Bold" panose="020B0803000000000000" pitchFamily="50" charset="-127"/>
                <a:ea typeface="KB금융 제목체 Bold" panose="020B0803000000000000" pitchFamily="50" charset="-127"/>
              </a:rPr>
              <a:t>업무 </a:t>
            </a:r>
            <a:r>
              <a:rPr lang="en-US" altLang="ko-KR" sz="1100" dirty="0" smtClean="0">
                <a:latin typeface="KB금융 제목체 Bold" panose="020B0803000000000000" pitchFamily="50" charset="-127"/>
                <a:ea typeface="KB금융 제목체 Bold" panose="020B0803000000000000" pitchFamily="50" charset="-127"/>
              </a:rPr>
              <a:t> </a:t>
            </a:r>
            <a:r>
              <a:rPr lang="ko-KR" altLang="en-US" sz="1100" dirty="0" smtClean="0">
                <a:latin typeface="KB금융 제목체 Bold" panose="020B0803000000000000" pitchFamily="50" charset="-127"/>
                <a:ea typeface="KB금융 제목체 Bold" panose="020B0803000000000000" pitchFamily="50" charset="-127"/>
              </a:rPr>
              <a:t>프로그램</a:t>
            </a:r>
            <a:endParaRPr lang="en-US" altLang="ko-KR" sz="1100" dirty="0" smtClean="0">
              <a:latin typeface="KB금융 제목체 Bold" panose="020B0803000000000000" pitchFamily="50" charset="-127"/>
              <a:ea typeface="KB금융 제목체 Bold" panose="020B0803000000000000" pitchFamily="50" charset="-127"/>
            </a:endParaRPr>
          </a:p>
        </p:txBody>
      </p:sp>
      <p:cxnSp>
        <p:nvCxnSpPr>
          <p:cNvPr id="152" name="직선 화살표 연결선 151"/>
          <p:cNvCxnSpPr/>
          <p:nvPr/>
        </p:nvCxnSpPr>
        <p:spPr bwMode="auto">
          <a:xfrm flipH="1">
            <a:off x="3620057" y="3151239"/>
            <a:ext cx="795" cy="422823"/>
          </a:xfrm>
          <a:prstGeom prst="straightConnector1">
            <a:avLst/>
          </a:prstGeom>
          <a:noFill/>
          <a:ln w="15875" cap="flat" cmpd="sng" algn="ctr">
            <a:solidFill>
              <a:schemeClr val="bg1">
                <a:lumMod val="75000"/>
              </a:schemeClr>
            </a:solidFill>
            <a:prstDash val="solid"/>
            <a:round/>
            <a:headEnd type="none" w="med" len="med"/>
            <a:tailEnd type="arrow"/>
          </a:ln>
          <a:effectLst/>
        </p:spPr>
      </p:cxnSp>
      <p:sp>
        <p:nvSpPr>
          <p:cNvPr id="153" name="Rectangle 8"/>
          <p:cNvSpPr>
            <a:spLocks noChangeArrowheads="1"/>
          </p:cNvSpPr>
          <p:nvPr/>
        </p:nvSpPr>
        <p:spPr bwMode="gray">
          <a:xfrm>
            <a:off x="3675176" y="3242354"/>
            <a:ext cx="629752" cy="242684"/>
          </a:xfrm>
          <a:prstGeom prst="rect">
            <a:avLst/>
          </a:prstGeom>
          <a:noFill/>
          <a:ln w="9525" algn="ctr">
            <a:noFill/>
            <a:miter lim="800000"/>
            <a:headEnd/>
            <a:tailEnd/>
          </a:ln>
        </p:spPr>
        <p:txBody>
          <a:bodyPr wrap="square" lIns="0" tIns="36000" rIns="0" bIns="36000" anchor="ctr"/>
          <a:lstStyle/>
          <a:p>
            <a:pPr algn="ctr" eaLnBrk="0" latinLnBrk="0" hangingPunct="0">
              <a:spcBef>
                <a:spcPct val="50000"/>
              </a:spcBef>
              <a:defRPr/>
            </a:pPr>
            <a:r>
              <a:rPr lang="ko-KR" altLang="en-US" sz="900" smtClean="0">
                <a:latin typeface="KB금융 본문체 Light" panose="020B0303000000000000" pitchFamily="50" charset="-127"/>
                <a:ea typeface="KB금융 본문체 Light" panose="020B0303000000000000" pitchFamily="50" charset="-127"/>
              </a:rPr>
              <a:t>파일암호화    요청</a:t>
            </a:r>
            <a:endParaRPr lang="en-US" altLang="ko-KR" sz="900" dirty="0" smtClean="0">
              <a:latin typeface="KB금융 본문체 Light" panose="020B0303000000000000" pitchFamily="50" charset="-127"/>
              <a:ea typeface="KB금융 본문체 Light" panose="020B0303000000000000" pitchFamily="50" charset="-127"/>
            </a:endParaRPr>
          </a:p>
        </p:txBody>
      </p:sp>
      <p:cxnSp>
        <p:nvCxnSpPr>
          <p:cNvPr id="155" name="직선 화살표 연결선 154"/>
          <p:cNvCxnSpPr/>
          <p:nvPr/>
        </p:nvCxnSpPr>
        <p:spPr bwMode="auto">
          <a:xfrm>
            <a:off x="3614216" y="4330431"/>
            <a:ext cx="4765" cy="384705"/>
          </a:xfrm>
          <a:prstGeom prst="straightConnector1">
            <a:avLst/>
          </a:prstGeom>
          <a:noFill/>
          <a:ln w="15875" cap="flat" cmpd="sng" algn="ctr">
            <a:solidFill>
              <a:schemeClr val="bg1">
                <a:lumMod val="75000"/>
              </a:schemeClr>
            </a:solidFill>
            <a:prstDash val="solid"/>
            <a:round/>
            <a:headEnd type="none" w="med" len="med"/>
            <a:tailEnd type="arrow"/>
          </a:ln>
          <a:effectLst/>
        </p:spPr>
      </p:cxnSp>
      <p:cxnSp>
        <p:nvCxnSpPr>
          <p:cNvPr id="46" name="직선 화살표 연결선 45"/>
          <p:cNvCxnSpPr/>
          <p:nvPr/>
        </p:nvCxnSpPr>
        <p:spPr bwMode="auto">
          <a:xfrm>
            <a:off x="8265367" y="3130097"/>
            <a:ext cx="1" cy="465105"/>
          </a:xfrm>
          <a:prstGeom prst="straightConnector1">
            <a:avLst/>
          </a:prstGeom>
          <a:noFill/>
          <a:ln w="15875" cap="flat" cmpd="sng" algn="ctr">
            <a:solidFill>
              <a:schemeClr val="bg1">
                <a:lumMod val="75000"/>
              </a:schemeClr>
            </a:solidFill>
            <a:prstDash val="solid"/>
            <a:round/>
            <a:headEnd type="none" w="med" len="med"/>
            <a:tailEnd type="arrow"/>
          </a:ln>
          <a:effectLst/>
        </p:spPr>
      </p:cxnSp>
      <p:sp>
        <p:nvSpPr>
          <p:cNvPr id="47" name="Rectangle 8"/>
          <p:cNvSpPr>
            <a:spLocks noChangeArrowheads="1"/>
          </p:cNvSpPr>
          <p:nvPr/>
        </p:nvSpPr>
        <p:spPr bwMode="gray">
          <a:xfrm>
            <a:off x="8310741" y="3267459"/>
            <a:ext cx="552823" cy="242684"/>
          </a:xfrm>
          <a:prstGeom prst="rect">
            <a:avLst/>
          </a:prstGeom>
          <a:noFill/>
          <a:ln w="9525" algn="ctr">
            <a:noFill/>
            <a:miter lim="800000"/>
            <a:headEnd/>
            <a:tailEnd/>
          </a:ln>
        </p:spPr>
        <p:txBody>
          <a:bodyPr wrap="square" lIns="0" tIns="36000" rIns="0" bIns="36000" anchor="ctr"/>
          <a:lstStyle/>
          <a:p>
            <a:pPr algn="ctr" eaLnBrk="0" latinLnBrk="0" hangingPunct="0">
              <a:spcBef>
                <a:spcPct val="50000"/>
              </a:spcBef>
              <a:defRPr/>
            </a:pPr>
            <a:r>
              <a:rPr lang="ko-KR" altLang="en-US" sz="900" smtClean="0">
                <a:latin typeface="KB금융 본문체 Light" panose="020B0303000000000000" pitchFamily="50" charset="-127"/>
                <a:ea typeface="KB금융 본문체 Light" panose="020B0303000000000000" pitchFamily="50" charset="-127"/>
              </a:rPr>
              <a:t>파일복호화</a:t>
            </a:r>
            <a:r>
              <a:rPr lang="en-US" altLang="ko-KR" sz="900">
                <a:latin typeface="KB금융 본문체 Light" panose="020B0303000000000000" pitchFamily="50" charset="-127"/>
                <a:ea typeface="KB금융 본문체 Light" panose="020B0303000000000000" pitchFamily="50" charset="-127"/>
              </a:rPr>
              <a:t> </a:t>
            </a:r>
            <a:r>
              <a:rPr lang="en-US" altLang="ko-KR" sz="900" smtClean="0">
                <a:latin typeface="KB금융 본문체 Light" panose="020B0303000000000000" pitchFamily="50" charset="-127"/>
                <a:ea typeface="KB금융 본문체 Light" panose="020B0303000000000000" pitchFamily="50" charset="-127"/>
              </a:rPr>
              <a:t>   </a:t>
            </a:r>
            <a:r>
              <a:rPr lang="ko-KR" altLang="en-US" sz="900" smtClean="0">
                <a:latin typeface="KB금융 본문체 Light" panose="020B0303000000000000" pitchFamily="50" charset="-127"/>
                <a:ea typeface="KB금융 본문체 Light" panose="020B0303000000000000" pitchFamily="50" charset="-127"/>
              </a:rPr>
              <a:t>요청</a:t>
            </a:r>
            <a:endParaRPr lang="en-US" altLang="ko-KR" sz="900" dirty="0" smtClean="0">
              <a:latin typeface="KB금융 본문체 Light" panose="020B0303000000000000" pitchFamily="50" charset="-127"/>
              <a:ea typeface="KB금융 본문체 Light" panose="020B0303000000000000" pitchFamily="50" charset="-127"/>
            </a:endParaRPr>
          </a:p>
        </p:txBody>
      </p:sp>
      <p:cxnSp>
        <p:nvCxnSpPr>
          <p:cNvPr id="48" name="직선 화살표 연결선 47"/>
          <p:cNvCxnSpPr/>
          <p:nvPr/>
        </p:nvCxnSpPr>
        <p:spPr bwMode="auto">
          <a:xfrm flipV="1">
            <a:off x="6221288" y="2811314"/>
            <a:ext cx="1363663" cy="2091"/>
          </a:xfrm>
          <a:prstGeom prst="straightConnector1">
            <a:avLst/>
          </a:prstGeom>
          <a:noFill/>
          <a:ln w="15875" cap="flat" cmpd="sng" algn="ctr">
            <a:solidFill>
              <a:schemeClr val="bg1">
                <a:lumMod val="75000"/>
              </a:schemeClr>
            </a:solidFill>
            <a:prstDash val="solid"/>
            <a:round/>
            <a:headEnd type="triangle" w="med" len="med"/>
            <a:tailEnd type="none"/>
          </a:ln>
          <a:effectLst/>
        </p:spPr>
      </p:cxnSp>
      <p:sp>
        <p:nvSpPr>
          <p:cNvPr id="49" name="Rectangle 8"/>
          <p:cNvSpPr>
            <a:spLocks noChangeArrowheads="1"/>
          </p:cNvSpPr>
          <p:nvPr/>
        </p:nvSpPr>
        <p:spPr bwMode="gray">
          <a:xfrm>
            <a:off x="6221289" y="2856662"/>
            <a:ext cx="1363662" cy="242684"/>
          </a:xfrm>
          <a:prstGeom prst="rect">
            <a:avLst/>
          </a:prstGeom>
          <a:noFill/>
          <a:ln w="9525" algn="ctr">
            <a:noFill/>
            <a:miter lim="800000"/>
            <a:headEnd/>
            <a:tailEnd/>
          </a:ln>
        </p:spPr>
        <p:txBody>
          <a:bodyPr wrap="square" lIns="0" tIns="36000" rIns="0" bIns="36000" anchor="ctr"/>
          <a:lstStyle/>
          <a:p>
            <a:pPr algn="ctr" eaLnBrk="0" latinLnBrk="0" hangingPunct="0">
              <a:spcBef>
                <a:spcPct val="50000"/>
              </a:spcBef>
              <a:defRPr/>
            </a:pPr>
            <a:r>
              <a:rPr lang="ko-KR" altLang="en-US" sz="900" smtClean="0">
                <a:latin typeface="KB금융 본문체 Light" panose="020B0303000000000000" pitchFamily="50" charset="-127"/>
                <a:ea typeface="KB금융 본문체 Light" panose="020B0303000000000000" pitchFamily="50" charset="-127"/>
              </a:rPr>
              <a:t>출력전문</a:t>
            </a:r>
            <a:r>
              <a:rPr lang="en-US" altLang="ko-KR" sz="900" smtClean="0">
                <a:latin typeface="KB금융 본문체 Light" panose="020B0303000000000000" pitchFamily="50" charset="-127"/>
                <a:ea typeface="KB금융 본문체 Light" panose="020B0303000000000000" pitchFamily="50" charset="-127"/>
              </a:rPr>
              <a:t>(</a:t>
            </a:r>
            <a:r>
              <a:rPr lang="ko-KR" altLang="en-US" sz="900" smtClean="0">
                <a:latin typeface="KB금융 본문체 Light" panose="020B0303000000000000" pitchFamily="50" charset="-127"/>
                <a:ea typeface="KB금융 본문체 Light" panose="020B0303000000000000" pitchFamily="50" charset="-127"/>
              </a:rPr>
              <a:t>암호화</a:t>
            </a:r>
            <a:r>
              <a:rPr lang="en-US" altLang="ko-KR" sz="900" smtClean="0">
                <a:latin typeface="KB금융 본문체 Light" panose="020B0303000000000000" pitchFamily="50" charset="-127"/>
                <a:ea typeface="KB금융 본문체 Light" panose="020B0303000000000000" pitchFamily="50" charset="-127"/>
              </a:rPr>
              <a:t>)</a:t>
            </a:r>
            <a:endParaRPr lang="en-US" altLang="ko-KR" sz="900" dirty="0" smtClean="0">
              <a:latin typeface="KB금융 본문체 Light" panose="020B0303000000000000" pitchFamily="50" charset="-127"/>
              <a:ea typeface="KB금융 본문체 Light" panose="020B0303000000000000" pitchFamily="50" charset="-127"/>
            </a:endParaRPr>
          </a:p>
        </p:txBody>
      </p:sp>
      <p:cxnSp>
        <p:nvCxnSpPr>
          <p:cNvPr id="52" name="직선 화살표 연결선 51"/>
          <p:cNvCxnSpPr/>
          <p:nvPr/>
        </p:nvCxnSpPr>
        <p:spPr bwMode="auto">
          <a:xfrm>
            <a:off x="8331870" y="4312004"/>
            <a:ext cx="3968" cy="443526"/>
          </a:xfrm>
          <a:prstGeom prst="straightConnector1">
            <a:avLst/>
          </a:prstGeom>
          <a:noFill/>
          <a:ln w="15875" cap="flat" cmpd="sng" algn="ctr">
            <a:solidFill>
              <a:schemeClr val="bg1">
                <a:lumMod val="75000"/>
              </a:schemeClr>
            </a:solidFill>
            <a:prstDash val="solid"/>
            <a:round/>
            <a:headEnd type="none" w="med" len="med"/>
            <a:tailEnd type="arrow"/>
          </a:ln>
          <a:effectLst/>
        </p:spPr>
      </p:cxnSp>
      <p:cxnSp>
        <p:nvCxnSpPr>
          <p:cNvPr id="14" name="꺾인 연결선 13"/>
          <p:cNvCxnSpPr/>
          <p:nvPr/>
        </p:nvCxnSpPr>
        <p:spPr>
          <a:xfrm rot="10800000">
            <a:off x="5601073" y="2779256"/>
            <a:ext cx="2005415" cy="2082389"/>
          </a:xfrm>
          <a:prstGeom prst="bentConnector3">
            <a:avLst>
              <a:gd name="adj1" fmla="val 109421"/>
            </a:avLst>
          </a:prstGeom>
          <a:noFill/>
          <a:ln w="15875" cap="flat" cmpd="sng" algn="ctr">
            <a:solidFill>
              <a:schemeClr val="bg1">
                <a:lumMod val="75000"/>
              </a:schemeClr>
            </a:solidFill>
            <a:prstDash val="solid"/>
            <a:round/>
            <a:headEnd type="none" w="med" len="med"/>
            <a:tailEnd type="arrow"/>
          </a:ln>
          <a:effectLst/>
        </p:spPr>
      </p:cxnSp>
      <p:sp>
        <p:nvSpPr>
          <p:cNvPr id="63" name="Rectangle 8"/>
          <p:cNvSpPr>
            <a:spLocks noChangeArrowheads="1"/>
          </p:cNvSpPr>
          <p:nvPr/>
        </p:nvSpPr>
        <p:spPr bwMode="gray">
          <a:xfrm>
            <a:off x="6039061" y="4908890"/>
            <a:ext cx="1176251" cy="167802"/>
          </a:xfrm>
          <a:prstGeom prst="rect">
            <a:avLst/>
          </a:prstGeom>
          <a:noFill/>
          <a:ln w="9525" algn="ctr">
            <a:noFill/>
            <a:miter lim="800000"/>
            <a:headEnd/>
            <a:tailEnd/>
          </a:ln>
        </p:spPr>
        <p:txBody>
          <a:bodyPr wrap="square" lIns="0" tIns="36000" rIns="0" bIns="36000" anchor="ctr"/>
          <a:lstStyle/>
          <a:p>
            <a:pPr algn="ctr" eaLnBrk="0" hangingPunct="0">
              <a:spcBef>
                <a:spcPct val="50000"/>
              </a:spcBef>
              <a:defRPr/>
            </a:pPr>
            <a:r>
              <a:rPr lang="ko-KR" altLang="en-US" sz="900" smtClean="0">
                <a:latin typeface="KB금융 본문체 Light" panose="020B0303000000000000" pitchFamily="50" charset="-127"/>
                <a:ea typeface="KB금융 본문체 Light" panose="020B0303000000000000" pitchFamily="50" charset="-127"/>
              </a:rPr>
              <a:t>⑤</a:t>
            </a:r>
            <a:r>
              <a:rPr lang="en-US" altLang="ko-KR" sz="900" smtClean="0">
                <a:latin typeface="KB금융 본문체 Light" panose="020B0303000000000000" pitchFamily="50" charset="-127"/>
                <a:ea typeface="KB금융 본문체 Light" panose="020B0303000000000000" pitchFamily="50" charset="-127"/>
              </a:rPr>
              <a:t>SFTP / NDM </a:t>
            </a:r>
            <a:r>
              <a:rPr lang="ko-KR" altLang="en-US" sz="900" smtClean="0">
                <a:latin typeface="KB금융 본문체 Light" panose="020B0303000000000000" pitchFamily="50" charset="-127"/>
                <a:ea typeface="KB금융 본문체 Light" panose="020B0303000000000000" pitchFamily="50" charset="-127"/>
              </a:rPr>
              <a:t>전송</a:t>
            </a:r>
            <a:endParaRPr lang="en-US" altLang="ko-KR" sz="900" dirty="0" smtClean="0">
              <a:latin typeface="KB금융 본문체 Light" panose="020B0303000000000000" pitchFamily="50" charset="-127"/>
              <a:ea typeface="KB금융 본문체 Light" panose="020B0303000000000000" pitchFamily="50" charset="-127"/>
            </a:endParaRPr>
          </a:p>
        </p:txBody>
      </p:sp>
      <p:sp>
        <p:nvSpPr>
          <p:cNvPr id="50" name="AutoShape 147"/>
          <p:cNvSpPr>
            <a:spLocks noChangeArrowheads="1"/>
          </p:cNvSpPr>
          <p:nvPr/>
        </p:nvSpPr>
        <p:spPr bwMode="auto">
          <a:xfrm>
            <a:off x="463997" y="1808820"/>
            <a:ext cx="9072000" cy="3888432"/>
          </a:xfrm>
          <a:prstGeom prst="roundRect">
            <a:avLst>
              <a:gd name="adj" fmla="val 1347"/>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defTabSz="550863"/>
            <a:endParaRPr lang="ko-KR" altLang="ko-KR" sz="600">
              <a:solidFill>
                <a:srgbClr val="000000"/>
              </a:solidFill>
              <a:latin typeface="맑은 고딕" pitchFamily="50" charset="-127"/>
              <a:ea typeface="맑은 고딕" pitchFamily="50" charset="-127"/>
            </a:endParaRPr>
          </a:p>
        </p:txBody>
      </p:sp>
    </p:spTree>
    <p:extLst>
      <p:ext uri="{BB962C8B-B14F-4D97-AF65-F5344CB8AC3E}">
        <p14:creationId xmlns:p14="http://schemas.microsoft.com/office/powerpoint/2010/main" val="42883296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en-US" altLang="ko-KR" dirty="0"/>
              <a:t>6</a:t>
            </a:r>
            <a:r>
              <a:rPr lang="en-US" altLang="ko-KR" smtClean="0"/>
              <a:t>. </a:t>
            </a:r>
            <a:r>
              <a:rPr lang="ko-KR" altLang="en-US" smtClean="0"/>
              <a:t>암호화 적용현황</a:t>
            </a:r>
            <a:endParaRPr lang="ko-KR" altLang="en-US" dirty="0"/>
          </a:p>
        </p:txBody>
      </p:sp>
      <p:sp>
        <p:nvSpPr>
          <p:cNvPr id="56" name="Rectangle 3"/>
          <p:cNvSpPr>
            <a:spLocks noChangeArrowheads="1"/>
          </p:cNvSpPr>
          <p:nvPr/>
        </p:nvSpPr>
        <p:spPr bwMode="auto">
          <a:xfrm>
            <a:off x="308484" y="764704"/>
            <a:ext cx="9144000" cy="372410"/>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ko-KR" altLang="en-US" sz="1400" b="1">
                <a:solidFill>
                  <a:srgbClr val="FF0000"/>
                </a:solidFill>
                <a:latin typeface="KB금융 본문체 Light" panose="020B0303000000000000" pitchFamily="50" charset="-127"/>
                <a:ea typeface="KB금융 본문체 Light" panose="020B0303000000000000" pitchFamily="50" charset="-127"/>
                <a:cs typeface="ヒラギノ角ゴ ProN W3"/>
              </a:rPr>
              <a:t>당행 암호화 </a:t>
            </a:r>
            <a:r>
              <a:rPr lang="ko-KR" altLang="en-US" sz="1400" b="1" smtClean="0">
                <a:solidFill>
                  <a:srgbClr val="FF0000"/>
                </a:solidFill>
                <a:latin typeface="KB금융 본문체 Light" panose="020B0303000000000000" pitchFamily="50" charset="-127"/>
                <a:ea typeface="KB금융 본문체 Light" panose="020B0303000000000000" pitchFamily="50" charset="-127"/>
                <a:cs typeface="ヒラギノ角ゴ ProN W3"/>
              </a:rPr>
              <a:t>대상별 적용 현황</a:t>
            </a:r>
            <a:endParaRPr lang="en-US" altLang="ko-KR" sz="1400" b="1" dirty="0">
              <a:solidFill>
                <a:srgbClr val="FF0000"/>
              </a:solidFill>
              <a:latin typeface="KB금융 본문체 Light" panose="020B0303000000000000" pitchFamily="50" charset="-127"/>
              <a:ea typeface="KB금융 본문체 Light" panose="020B0303000000000000" pitchFamily="50" charset="-127"/>
              <a:cs typeface="ヒラギノ角ゴ ProN W3"/>
            </a:endParaRPr>
          </a:p>
        </p:txBody>
      </p:sp>
      <p:sp>
        <p:nvSpPr>
          <p:cNvPr id="21" name="Rectangle 3"/>
          <p:cNvSpPr>
            <a:spLocks noChangeArrowheads="1"/>
          </p:cNvSpPr>
          <p:nvPr/>
        </p:nvSpPr>
        <p:spPr bwMode="auto">
          <a:xfrm>
            <a:off x="699993" y="1142438"/>
            <a:ext cx="8753507" cy="609398"/>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ko-KR" altLang="en-US" sz="1200" smtClean="0">
                <a:latin typeface="KB금융 본문체 Light" panose="020B0303000000000000" pitchFamily="50" charset="-127"/>
                <a:ea typeface="KB금융 본문체 Light" panose="020B0303000000000000" pitchFamily="50" charset="-127"/>
                <a:cs typeface="ヒラギノ角ゴ ProN W3"/>
              </a:rPr>
              <a:t>암화화 적용 대상은 법률</a:t>
            </a:r>
            <a:r>
              <a:rPr lang="en-US" altLang="ko-KR" sz="1200" smtClean="0">
                <a:latin typeface="KB금융 본문체 Light" panose="020B0303000000000000" pitchFamily="50" charset="-127"/>
                <a:ea typeface="KB금융 본문체 Light" panose="020B0303000000000000" pitchFamily="50" charset="-127"/>
                <a:cs typeface="ヒラギノ角ゴ ProN W3"/>
              </a:rPr>
              <a:t>·</a:t>
            </a:r>
            <a:r>
              <a:rPr lang="ko-KR" altLang="en-US" sz="1200" smtClean="0">
                <a:latin typeface="KB금융 본문체 Light" panose="020B0303000000000000" pitchFamily="50" charset="-127"/>
                <a:ea typeface="KB금융 본문체 Light" panose="020B0303000000000000" pitchFamily="50" charset="-127"/>
                <a:cs typeface="ヒラギノ角ゴ ProN W3"/>
              </a:rPr>
              <a:t>규정별로 상이하며 유관기관과의 협의를 통해 </a:t>
            </a:r>
            <a:r>
              <a:rPr lang="ko-KR" altLang="en-US" sz="1200" b="1" u="sng" smtClean="0">
                <a:latin typeface="KB금융 본문체 Light" panose="020B0303000000000000" pitchFamily="50" charset="-127"/>
                <a:ea typeface="KB금융 본문체 Light" panose="020B0303000000000000" pitchFamily="50" charset="-127"/>
                <a:cs typeface="ヒラギノ角ゴ ProN W3"/>
              </a:rPr>
              <a:t>개인정보보호법을 기준</a:t>
            </a:r>
            <a:r>
              <a:rPr lang="ko-KR" altLang="en-US" sz="1200" smtClean="0">
                <a:latin typeface="KB금융 본문체 Light" panose="020B0303000000000000" pitchFamily="50" charset="-127"/>
                <a:ea typeface="KB금융 본문체 Light" panose="020B0303000000000000" pitchFamily="50" charset="-127"/>
                <a:cs typeface="ヒラギノ角ゴ ProN W3"/>
              </a:rPr>
              <a:t>으로 암호화 적용함</a:t>
            </a:r>
            <a:endParaRPr lang="en-US" altLang="ko-KR" sz="1200" smtClean="0">
              <a:latin typeface="KB금융 본문체 Light" panose="020B0303000000000000" pitchFamily="50" charset="-127"/>
              <a:ea typeface="KB금융 본문체 Light" panose="020B0303000000000000" pitchFamily="50" charset="-127"/>
              <a:cs typeface="ヒラギノ角ゴ ProN W3"/>
            </a:endParaRPr>
          </a:p>
          <a:p>
            <a:pPr marL="285750" indent="-285750">
              <a:lnSpc>
                <a:spcPct val="130000"/>
              </a:lnSpc>
              <a:spcBef>
                <a:spcPct val="20000"/>
              </a:spcBef>
              <a:buSzPct val="100000"/>
              <a:buFont typeface="Wingdings" panose="05000000000000000000" pitchFamily="2" charset="2"/>
              <a:buChar char="l"/>
            </a:pPr>
            <a:r>
              <a:rPr lang="ko-KR" altLang="en-US" sz="1200" smtClean="0">
                <a:latin typeface="KB금융 본문체 Light" panose="020B0303000000000000" pitchFamily="50" charset="-127"/>
                <a:ea typeface="KB금융 본문체 Light" panose="020B0303000000000000" pitchFamily="50" charset="-127"/>
                <a:cs typeface="ヒラギノ角ゴ ProN W3"/>
              </a:rPr>
              <a:t>암호화 기준은 관련법률</a:t>
            </a:r>
            <a:r>
              <a:rPr lang="en-US" altLang="ko-KR" sz="1200">
                <a:latin typeface="KB금융 본문체 Light" panose="020B0303000000000000" pitchFamily="50" charset="-127"/>
                <a:ea typeface="KB금융 본문체 Light" panose="020B0303000000000000" pitchFamily="50" charset="-127"/>
                <a:cs typeface="ヒラギノ角ゴ ProN W3"/>
              </a:rPr>
              <a:t>·</a:t>
            </a:r>
            <a:r>
              <a:rPr lang="ko-KR" altLang="en-US" sz="1200" smtClean="0">
                <a:latin typeface="KB금융 본문체 Light" panose="020B0303000000000000" pitchFamily="50" charset="-127"/>
                <a:ea typeface="KB금융 본문체 Light" panose="020B0303000000000000" pitchFamily="50" charset="-127"/>
                <a:cs typeface="ヒラギノ角ゴ ProN W3"/>
              </a:rPr>
              <a:t>규정에서 제시한 기준을 포함하여 적용함으로써 개인정보의 안전성을 확보함</a:t>
            </a:r>
            <a:endParaRPr lang="en-US" altLang="ko-KR" sz="1200" dirty="0" smtClean="0">
              <a:latin typeface="KB금융 본문체 Light" panose="020B0303000000000000" pitchFamily="50" charset="-127"/>
              <a:ea typeface="KB금융 본문체 Light" panose="020B0303000000000000" pitchFamily="50" charset="-127"/>
              <a:cs typeface="ヒラギノ角ゴ ProN W3"/>
            </a:endParaRPr>
          </a:p>
        </p:txBody>
      </p:sp>
      <p:graphicFrame>
        <p:nvGraphicFramePr>
          <p:cNvPr id="25" name="표 24"/>
          <p:cNvGraphicFramePr>
            <a:graphicFrameLocks noGrp="1"/>
          </p:cNvGraphicFramePr>
          <p:nvPr>
            <p:extLst>
              <p:ext uri="{D42A27DB-BD31-4B8C-83A1-F6EECF244321}">
                <p14:modId xmlns:p14="http://schemas.microsoft.com/office/powerpoint/2010/main" val="4158754824"/>
              </p:ext>
            </p:extLst>
          </p:nvPr>
        </p:nvGraphicFramePr>
        <p:xfrm>
          <a:off x="381884" y="1772817"/>
          <a:ext cx="9138354" cy="4428489"/>
        </p:xfrm>
        <a:graphic>
          <a:graphicData uri="http://schemas.openxmlformats.org/drawingml/2006/table">
            <a:tbl>
              <a:tblPr firstRow="1" bandRow="1">
                <a:tableStyleId>{93296810-A885-4BE3-A3E7-6D5BEEA58F35}</a:tableStyleId>
              </a:tblPr>
              <a:tblGrid>
                <a:gridCol w="970859">
                  <a:extLst>
                    <a:ext uri="{9D8B030D-6E8A-4147-A177-3AD203B41FA5}">
                      <a16:colId xmlns:a16="http://schemas.microsoft.com/office/drawing/2014/main" val="20000"/>
                    </a:ext>
                  </a:extLst>
                </a:gridCol>
                <a:gridCol w="2520137">
                  <a:extLst>
                    <a:ext uri="{9D8B030D-6E8A-4147-A177-3AD203B41FA5}">
                      <a16:colId xmlns:a16="http://schemas.microsoft.com/office/drawing/2014/main" val="20001"/>
                    </a:ext>
                  </a:extLst>
                </a:gridCol>
                <a:gridCol w="1548172">
                  <a:extLst>
                    <a:ext uri="{9D8B030D-6E8A-4147-A177-3AD203B41FA5}">
                      <a16:colId xmlns:a16="http://schemas.microsoft.com/office/drawing/2014/main" val="3114955219"/>
                    </a:ext>
                  </a:extLst>
                </a:gridCol>
                <a:gridCol w="2628292">
                  <a:extLst>
                    <a:ext uri="{9D8B030D-6E8A-4147-A177-3AD203B41FA5}">
                      <a16:colId xmlns:a16="http://schemas.microsoft.com/office/drawing/2014/main" val="2715995840"/>
                    </a:ext>
                  </a:extLst>
                </a:gridCol>
                <a:gridCol w="1470894">
                  <a:extLst>
                    <a:ext uri="{9D8B030D-6E8A-4147-A177-3AD203B41FA5}">
                      <a16:colId xmlns:a16="http://schemas.microsoft.com/office/drawing/2014/main" val="2030398496"/>
                    </a:ext>
                  </a:extLst>
                </a:gridCol>
              </a:tblGrid>
              <a:tr h="306640">
                <a:tc>
                  <a:txBody>
                    <a:bodyPr/>
                    <a:lstStyle/>
                    <a:p>
                      <a:pPr algn="ctr" fontAlgn="ctr"/>
                      <a:r>
                        <a:rPr lang="ko-KR" altLang="en-US" sz="1200" b="1" i="0" u="none" strike="noStrike" smtClean="0">
                          <a:solidFill>
                            <a:schemeClr val="tx1"/>
                          </a:solidFill>
                          <a:latin typeface="+mn-ea"/>
                          <a:ea typeface="+mn-ea"/>
                        </a:rPr>
                        <a:t>암호화 대상</a:t>
                      </a:r>
                      <a:endParaRPr lang="en-US" sz="1200" b="1" i="0" u="none" strike="noStrike" dirty="0">
                        <a:solidFill>
                          <a:schemeClr val="tx1"/>
                        </a:solidFill>
                        <a:latin typeface="+mn-ea"/>
                        <a:ea typeface="+mn-ea"/>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r>
                        <a:rPr lang="ko-KR" altLang="en-US" sz="1200" b="1" i="0" u="none" strike="noStrike" kern="1200" smtClean="0">
                          <a:solidFill>
                            <a:schemeClr val="tx1"/>
                          </a:solidFill>
                          <a:latin typeface="+mn-ea"/>
                          <a:ea typeface="+mn-ea"/>
                          <a:cs typeface="+mn-cs"/>
                        </a:rPr>
                        <a:t>상세 분류</a:t>
                      </a:r>
                      <a:endParaRPr lang="ko-KR" altLang="en-US" sz="1200" b="1"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r>
                        <a:rPr lang="ko-KR" altLang="en-US" sz="1200" b="1" i="0" u="none" strike="noStrike" kern="1200" smtClean="0">
                          <a:solidFill>
                            <a:schemeClr val="tx1"/>
                          </a:solidFill>
                          <a:latin typeface="+mn-ea"/>
                          <a:ea typeface="+mn-ea"/>
                          <a:cs typeface="+mn-cs"/>
                        </a:rPr>
                        <a:t>적용 여부</a:t>
                      </a:r>
                      <a:endParaRPr lang="ko-KR" altLang="en-US" sz="1200" b="1"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r>
                        <a:rPr lang="ko-KR" altLang="en-US" sz="1200" b="1" i="0" u="none" strike="noStrike" kern="1200" smtClean="0">
                          <a:solidFill>
                            <a:schemeClr val="tx1"/>
                          </a:solidFill>
                          <a:latin typeface="+mn-ea"/>
                          <a:ea typeface="+mn-ea"/>
                          <a:cs typeface="+mn-cs"/>
                        </a:rPr>
                        <a:t>적용 방식</a:t>
                      </a:r>
                      <a:endParaRPr lang="ko-KR" altLang="en-US" sz="1200" b="1"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r>
                        <a:rPr lang="ko-KR" altLang="en-US" sz="1200" b="1" i="0" u="none" strike="noStrike" kern="1200" smtClean="0">
                          <a:solidFill>
                            <a:schemeClr val="tx1"/>
                          </a:solidFill>
                          <a:latin typeface="+mn-ea"/>
                          <a:ea typeface="+mn-ea"/>
                          <a:cs typeface="+mn-cs"/>
                        </a:rPr>
                        <a:t>비고</a:t>
                      </a:r>
                      <a:endParaRPr lang="ko-KR" altLang="en-US" sz="1200" b="1"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000"/>
                  </a:ext>
                </a:extLst>
              </a:tr>
              <a:tr h="432532">
                <a:tc rowSpan="3">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1200" smtClean="0">
                          <a:latin typeface="+mn-ea"/>
                          <a:ea typeface="+mn-ea"/>
                        </a:rPr>
                        <a:t>고유식별번호</a:t>
                      </a:r>
                      <a:endParaRPr lang="en-US" altLang="ko-KR" sz="1200" baseline="30000" smtClean="0">
                        <a:latin typeface="+mn-ea"/>
                        <a:ea typeface="+mn-ea"/>
                      </a:endParaRPr>
                    </a:p>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aseline="0" smtClean="0">
                          <a:latin typeface="+mn-ea"/>
                          <a:ea typeface="+mn-ea"/>
                        </a:rPr>
                        <a:t>(</a:t>
                      </a:r>
                      <a:r>
                        <a:rPr lang="ko-KR" altLang="en-US" sz="1200" baseline="0" smtClean="0">
                          <a:latin typeface="+mn-ea"/>
                          <a:ea typeface="+mn-ea"/>
                        </a:rPr>
                        <a:t>파일포함</a:t>
                      </a:r>
                      <a:r>
                        <a:rPr lang="en-US" altLang="ko-KR" sz="1200" baseline="0" smtClean="0">
                          <a:latin typeface="+mn-ea"/>
                          <a:ea typeface="+mn-ea"/>
                        </a:rPr>
                        <a:t>)</a:t>
                      </a:r>
                      <a:endParaRPr lang="ko-KR" altLang="en-US" sz="1200" baseline="0" dirty="0">
                        <a:latin typeface="+mn-ea"/>
                        <a:ea typeface="+mn-ea"/>
                      </a:endParaRPr>
                    </a:p>
                  </a:txBody>
                  <a:tcPr marL="38080" marR="38080" marT="38094" marB="38094"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Wingdings" panose="05000000000000000000" pitchFamily="2" charset="2"/>
                        <a:buNone/>
                        <a:tabLst/>
                        <a:defRPr/>
                      </a:pPr>
                      <a:r>
                        <a:rPr lang="ko-KR" alt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en-US" altLang="ko-KR" sz="1200" b="0" smtClean="0">
                          <a:solidFill>
                            <a:schemeClr val="tx1"/>
                          </a:solidFill>
                          <a:latin typeface="+mn-ea"/>
                          <a:ea typeface="+mn-ea"/>
                        </a:rPr>
                        <a:t>DB(</a:t>
                      </a:r>
                      <a:r>
                        <a:rPr lang="ko-KR" altLang="en-US" sz="1200" b="0" smtClean="0">
                          <a:solidFill>
                            <a:schemeClr val="tx1"/>
                          </a:solidFill>
                          <a:latin typeface="+mn-ea"/>
                          <a:ea typeface="+mn-ea"/>
                        </a:rPr>
                        <a:t>테이블</a:t>
                      </a:r>
                      <a:r>
                        <a:rPr lang="en-US" altLang="ko-KR" sz="1200" b="0" smtClean="0">
                          <a:solidFill>
                            <a:schemeClr val="tx1"/>
                          </a:solidFill>
                          <a:latin typeface="+mn-ea"/>
                          <a:ea typeface="+mn-ea"/>
                        </a:rPr>
                        <a:t>), </a:t>
                      </a:r>
                      <a:r>
                        <a:rPr lang="ko-KR" altLang="en-US" sz="1200" b="0" smtClean="0">
                          <a:solidFill>
                            <a:schemeClr val="tx1"/>
                          </a:solidFill>
                          <a:latin typeface="+mn-ea"/>
                          <a:ea typeface="+mn-ea"/>
                        </a:rPr>
                        <a:t>거래로그</a:t>
                      </a:r>
                      <a:r>
                        <a:rPr lang="en-US" altLang="ko-KR" sz="1200" b="0" smtClean="0">
                          <a:solidFill>
                            <a:schemeClr val="tx1"/>
                          </a:solidFill>
                          <a:latin typeface="+mn-ea"/>
                          <a:ea typeface="+mn-ea"/>
                        </a:rPr>
                        <a:t>, </a:t>
                      </a:r>
                      <a:r>
                        <a:rPr lang="ko-KR" altLang="en-US" sz="1200" b="0" smtClean="0">
                          <a:solidFill>
                            <a:schemeClr val="tx1"/>
                          </a:solidFill>
                          <a:latin typeface="+mn-ea"/>
                          <a:ea typeface="+mn-ea"/>
                        </a:rPr>
                        <a:t>데이터 파일</a:t>
                      </a:r>
                      <a:endParaRPr lang="en-US" altLang="ko-KR" sz="1200" b="0" smtClean="0">
                        <a:solidFill>
                          <a:schemeClr val="tx1"/>
                        </a:solidFill>
                        <a:latin typeface="+mn-ea"/>
                        <a:ea typeface="+mn-ea"/>
                      </a:endParaRPr>
                    </a:p>
                  </a:txBody>
                  <a:tcPr marL="38080" marR="38080" marT="38094" marB="3809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1" hangingPunct="1">
                        <a:lnSpc>
                          <a:spcPct val="100000"/>
                        </a:lnSpc>
                        <a:spcBef>
                          <a:spcPts val="0"/>
                        </a:spcBef>
                        <a:spcAft>
                          <a:spcPts val="0"/>
                        </a:spcAft>
                        <a:buClrTx/>
                        <a:buSzTx/>
                        <a:buFont typeface="Wingdings" panose="05000000000000000000" pitchFamily="2" charset="2"/>
                        <a:buNone/>
                        <a:tabLst/>
                        <a:defRPr/>
                      </a:pPr>
                      <a:r>
                        <a:rPr lang="ko-KR" altLang="en-US" sz="1200" b="0" smtClean="0">
                          <a:solidFill>
                            <a:schemeClr val="tx1"/>
                          </a:solidFill>
                          <a:latin typeface="+mn-ea"/>
                          <a:ea typeface="+mn-ea"/>
                        </a:rPr>
                        <a:t>적용 완료</a:t>
                      </a:r>
                      <a:endParaRPr lang="ko-KR" altLang="en-US" sz="1200" b="0" dirty="0">
                        <a:solidFill>
                          <a:schemeClr val="tx1"/>
                        </a:solidFill>
                        <a:latin typeface="+mn-ea"/>
                        <a:ea typeface="+mn-ea"/>
                      </a:endParaRPr>
                    </a:p>
                  </a:txBody>
                  <a:tcPr marL="38080" marR="38080" marT="38094" marB="3809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171450" marR="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ko-KR" altLang="en-US" sz="1200" b="0" smtClean="0">
                          <a:solidFill>
                            <a:schemeClr val="tx1"/>
                          </a:solidFill>
                          <a:latin typeface="+mn-ea"/>
                          <a:ea typeface="+mn-ea"/>
                        </a:rPr>
                        <a:t>양방향 암호화</a:t>
                      </a:r>
                      <a:r>
                        <a:rPr lang="en-US" altLang="ko-KR" sz="1200" b="0" smtClean="0">
                          <a:solidFill>
                            <a:schemeClr val="tx1"/>
                          </a:solidFill>
                          <a:latin typeface="+mn-ea"/>
                          <a:ea typeface="+mn-ea"/>
                        </a:rPr>
                        <a:t>(AES-256)</a:t>
                      </a:r>
                    </a:p>
                    <a:p>
                      <a:pPr marL="171450" marR="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ko-KR" altLang="en-US" sz="1200" b="0" smtClean="0">
                          <a:solidFill>
                            <a:schemeClr val="tx1"/>
                          </a:solidFill>
                          <a:latin typeface="+mn-ea"/>
                          <a:ea typeface="+mn-ea"/>
                        </a:rPr>
                        <a:t>키관리시스템 연동</a:t>
                      </a:r>
                      <a:endParaRPr lang="ko-KR" altLang="en-US" sz="1200" b="0" dirty="0">
                        <a:solidFill>
                          <a:schemeClr val="tx1"/>
                        </a:solidFill>
                        <a:latin typeface="+mn-ea"/>
                        <a:ea typeface="+mn-ea"/>
                      </a:endParaRPr>
                    </a:p>
                  </a:txBody>
                  <a:tcPr marL="38080" marR="38080" marT="38094" marB="3809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171450" marR="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200" b="0" smtClean="0">
                          <a:solidFill>
                            <a:schemeClr val="tx1"/>
                          </a:solidFill>
                          <a:latin typeface="+mn-ea"/>
                          <a:ea typeface="+mn-ea"/>
                        </a:rPr>
                        <a:t>D’Amo BA-SCP</a:t>
                      </a:r>
                    </a:p>
                    <a:p>
                      <a:pPr marL="171450" marR="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200" b="0" smtClean="0">
                          <a:solidFill>
                            <a:schemeClr val="tx1"/>
                          </a:solidFill>
                          <a:latin typeface="+mn-ea"/>
                          <a:ea typeface="+mn-ea"/>
                        </a:rPr>
                        <a:t>D’Amo SG-KMS</a:t>
                      </a:r>
                      <a:endParaRPr lang="ko-KR" altLang="en-US" sz="1200" b="0" dirty="0">
                        <a:solidFill>
                          <a:schemeClr val="tx1"/>
                        </a:solidFill>
                        <a:latin typeface="+mn-ea"/>
                        <a:ea typeface="+mn-ea"/>
                      </a:endParaRPr>
                    </a:p>
                  </a:txBody>
                  <a:tcPr marL="38080" marR="38080" marT="38094" marB="38094" anchor="ctr">
                    <a:lnL w="6350" cap="flat" cmpd="sng" algn="ctr">
                      <a:solidFill>
                        <a:schemeClr val="bg1">
                          <a:lumMod val="50000"/>
                        </a:schemeClr>
                      </a:solid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7772991"/>
                  </a:ext>
                </a:extLst>
              </a:tr>
              <a:tr h="432532">
                <a:tc vMerge="1">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200" dirty="0">
                        <a:latin typeface="+mn-ea"/>
                        <a:ea typeface="+mn-ea"/>
                      </a:endParaRPr>
                    </a:p>
                  </a:txBody>
                  <a:tcPr marL="38080" marR="38080" marT="38094" marB="38094">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Wingdings" panose="05000000000000000000" pitchFamily="2" charset="2"/>
                        <a:buNone/>
                        <a:tabLst/>
                        <a:defRPr/>
                      </a:pPr>
                      <a:r>
                        <a:rPr lang="ko-KR" alt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altLang="en-US" sz="1200" b="0" smtClean="0">
                          <a:solidFill>
                            <a:schemeClr val="tx1"/>
                          </a:solidFill>
                          <a:latin typeface="+mn-ea"/>
                          <a:ea typeface="+mn-ea"/>
                        </a:rPr>
                        <a:t>이미지 파일</a:t>
                      </a:r>
                      <a:endParaRPr lang="en-US" altLang="ko-KR" sz="1200" b="0" smtClean="0">
                        <a:solidFill>
                          <a:schemeClr val="tx1"/>
                        </a:solidFill>
                        <a:latin typeface="+mn-ea"/>
                        <a:ea typeface="+mn-ea"/>
                      </a:endParaRPr>
                    </a:p>
                  </a:txBody>
                  <a:tcPr marL="38080" marR="38080" marT="38094" marB="3809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1" hangingPunct="1">
                        <a:lnSpc>
                          <a:spcPct val="100000"/>
                        </a:lnSpc>
                        <a:spcBef>
                          <a:spcPts val="0"/>
                        </a:spcBef>
                        <a:spcAft>
                          <a:spcPts val="0"/>
                        </a:spcAft>
                        <a:buClrTx/>
                        <a:buSzTx/>
                        <a:buFont typeface="Wingdings" panose="05000000000000000000" pitchFamily="2" charset="2"/>
                        <a:buNone/>
                        <a:tabLst/>
                        <a:defRPr/>
                      </a:pPr>
                      <a:r>
                        <a:rPr lang="ko-KR" altLang="en-US" sz="1200" b="0" smtClean="0">
                          <a:solidFill>
                            <a:schemeClr val="tx1"/>
                          </a:solidFill>
                          <a:latin typeface="+mn-ea"/>
                          <a:ea typeface="+mn-ea"/>
                        </a:rPr>
                        <a:t>적용 완료</a:t>
                      </a:r>
                      <a:endParaRPr lang="ko-KR" altLang="en-US" sz="1200" b="0" dirty="0">
                        <a:solidFill>
                          <a:schemeClr val="tx1"/>
                        </a:solidFill>
                        <a:latin typeface="+mn-ea"/>
                        <a:ea typeface="+mn-ea"/>
                      </a:endParaRPr>
                    </a:p>
                  </a:txBody>
                  <a:tcPr marL="38080" marR="38080" marT="38094" marB="3809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171450" marR="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endParaRPr lang="ko-KR" altLang="en-US" sz="1200" b="0" dirty="0">
                        <a:solidFill>
                          <a:schemeClr val="tx1"/>
                        </a:solidFill>
                        <a:latin typeface="+mn-ea"/>
                        <a:ea typeface="+mn-ea"/>
                      </a:endParaRPr>
                    </a:p>
                  </a:txBody>
                  <a:tcPr marL="38080" marR="38080" marT="38094" marB="38094">
                    <a:lnL w="6350" cap="flat" cmpd="sng" algn="ctr">
                      <a:solidFill>
                        <a:schemeClr val="bg1">
                          <a:lumMod val="50000"/>
                        </a:schemeClr>
                      </a:solid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tc>
                <a:extLst>
                  <a:ext uri="{0D108BD9-81ED-4DB2-BD59-A6C34878D82A}">
                    <a16:rowId xmlns:a16="http://schemas.microsoft.com/office/drawing/2014/main" val="1444482091"/>
                  </a:ext>
                </a:extLst>
              </a:tr>
              <a:tr h="432532">
                <a:tc vMerge="1">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200" dirty="0">
                        <a:latin typeface="+mn-ea"/>
                        <a:ea typeface="+mn-ea"/>
                      </a:endParaRPr>
                    </a:p>
                  </a:txBody>
                  <a:tcPr marL="38080" marR="38080" marT="38094" marB="38094">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Wingdings" panose="05000000000000000000" pitchFamily="2" charset="2"/>
                        <a:buNone/>
                        <a:tabLst/>
                        <a:defRPr/>
                      </a:pPr>
                      <a:r>
                        <a:rPr lang="ko-KR" alt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altLang="en-US" sz="1200" b="0" smtClean="0">
                          <a:solidFill>
                            <a:schemeClr val="tx1"/>
                          </a:solidFill>
                          <a:latin typeface="+mn-ea"/>
                          <a:ea typeface="+mn-ea"/>
                        </a:rPr>
                        <a:t>녹취</a:t>
                      </a:r>
                      <a:r>
                        <a:rPr lang="ko-KR" altLang="en-US" sz="1200" b="0" baseline="0" smtClean="0">
                          <a:solidFill>
                            <a:schemeClr val="tx1"/>
                          </a:solidFill>
                          <a:latin typeface="+mn-ea"/>
                          <a:ea typeface="+mn-ea"/>
                        </a:rPr>
                        <a:t> 파일</a:t>
                      </a:r>
                      <a:r>
                        <a:rPr lang="en-US" altLang="ko-KR" sz="1200" b="0" baseline="0" smtClean="0">
                          <a:solidFill>
                            <a:schemeClr val="tx1"/>
                          </a:solidFill>
                          <a:latin typeface="+mn-ea"/>
                          <a:ea typeface="+mn-ea"/>
                        </a:rPr>
                        <a:t>, </a:t>
                      </a:r>
                      <a:r>
                        <a:rPr lang="ko-KR" altLang="en-US" sz="1200" b="0" baseline="0" smtClean="0">
                          <a:solidFill>
                            <a:schemeClr val="tx1"/>
                          </a:solidFill>
                          <a:latin typeface="+mn-ea"/>
                          <a:ea typeface="+mn-ea"/>
                        </a:rPr>
                        <a:t>문서파일</a:t>
                      </a:r>
                      <a:r>
                        <a:rPr lang="en-US" altLang="ko-KR" sz="1200" b="0" baseline="0" smtClean="0">
                          <a:solidFill>
                            <a:schemeClr val="tx1"/>
                          </a:solidFill>
                          <a:latin typeface="+mn-ea"/>
                          <a:ea typeface="+mn-ea"/>
                        </a:rPr>
                        <a:t>, </a:t>
                      </a:r>
                      <a:r>
                        <a:rPr lang="ko-KR" altLang="en-US" sz="1200" b="0" baseline="0" smtClean="0">
                          <a:solidFill>
                            <a:schemeClr val="tx1"/>
                          </a:solidFill>
                          <a:latin typeface="+mn-ea"/>
                          <a:ea typeface="+mn-ea"/>
                        </a:rPr>
                        <a:t>백업 데이터</a:t>
                      </a:r>
                      <a:endParaRPr lang="en-US" altLang="ko-KR" sz="1200" b="0" smtClean="0">
                        <a:solidFill>
                          <a:schemeClr val="tx1"/>
                        </a:solidFill>
                        <a:latin typeface="+mn-ea"/>
                        <a:ea typeface="+mn-ea"/>
                      </a:endParaRPr>
                    </a:p>
                  </a:txBody>
                  <a:tcPr marL="38080" marR="38080" marT="38094" marB="3809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1" hangingPunct="1">
                        <a:lnSpc>
                          <a:spcPct val="100000"/>
                        </a:lnSpc>
                        <a:spcBef>
                          <a:spcPts val="0"/>
                        </a:spcBef>
                        <a:spcAft>
                          <a:spcPts val="0"/>
                        </a:spcAft>
                        <a:buClrTx/>
                        <a:buSzTx/>
                        <a:buFont typeface="Wingdings" panose="05000000000000000000" pitchFamily="2" charset="2"/>
                        <a:buNone/>
                        <a:tabLst/>
                        <a:defRPr/>
                      </a:pPr>
                      <a:r>
                        <a:rPr lang="ko-KR" altLang="en-US" sz="1200" b="0" smtClean="0">
                          <a:solidFill>
                            <a:schemeClr val="tx1"/>
                          </a:solidFill>
                          <a:latin typeface="+mn-ea"/>
                          <a:ea typeface="+mn-ea"/>
                        </a:rPr>
                        <a:t>적용 완료</a:t>
                      </a:r>
                      <a:endParaRPr lang="ko-KR" altLang="en-US" sz="1200" b="0" dirty="0">
                        <a:solidFill>
                          <a:schemeClr val="tx1"/>
                        </a:solidFill>
                        <a:latin typeface="+mn-ea"/>
                        <a:ea typeface="+mn-ea"/>
                      </a:endParaRPr>
                    </a:p>
                  </a:txBody>
                  <a:tcPr marL="38080" marR="38080" marT="38094" marB="3809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171450" marR="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endParaRPr lang="ko-KR" altLang="en-US" sz="1200" b="0" dirty="0">
                        <a:solidFill>
                          <a:schemeClr val="tx1"/>
                        </a:solidFill>
                        <a:latin typeface="+mn-ea"/>
                        <a:ea typeface="+mn-ea"/>
                      </a:endParaRPr>
                    </a:p>
                  </a:txBody>
                  <a:tcPr marL="38080" marR="38080" marT="38094" marB="38094">
                    <a:lnL w="6350" cap="flat" cmpd="sng" algn="ctr">
                      <a:solidFill>
                        <a:schemeClr val="bg1">
                          <a:lumMod val="50000"/>
                        </a:schemeClr>
                      </a:solid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tc>
                <a:extLst>
                  <a:ext uri="{0D108BD9-81ED-4DB2-BD59-A6C34878D82A}">
                    <a16:rowId xmlns:a16="http://schemas.microsoft.com/office/drawing/2014/main" val="631522647"/>
                  </a:ext>
                </a:extLst>
              </a:tr>
              <a:tr h="1043195">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1200" smtClean="0">
                          <a:latin typeface="+mn-ea"/>
                          <a:ea typeface="+mn-ea"/>
                        </a:rPr>
                        <a:t>비밀번호</a:t>
                      </a:r>
                      <a:endParaRPr lang="ko-KR" altLang="en-US" sz="1200" dirty="0">
                        <a:latin typeface="+mn-ea"/>
                        <a:ea typeface="+mn-ea"/>
                      </a:endParaRPr>
                    </a:p>
                  </a:txBody>
                  <a:tcPr marL="38080" marR="38080" marT="38094" marB="38094"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Wingdings" panose="05000000000000000000" pitchFamily="2" charset="2"/>
                        <a:buNone/>
                        <a:tabLst/>
                        <a:defRPr/>
                      </a:pPr>
                      <a:r>
                        <a:rPr lang="ko-KR" alt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altLang="en-US" sz="1200" b="0" smtClean="0">
                          <a:solidFill>
                            <a:schemeClr val="tx1"/>
                          </a:solidFill>
                          <a:latin typeface="+mn-ea"/>
                          <a:ea typeface="+mn-ea"/>
                        </a:rPr>
                        <a:t>거래비밀번호</a:t>
                      </a:r>
                      <a:endParaRPr lang="en-US" altLang="ko-KR" sz="1200" b="0" smtClean="0">
                        <a:solidFill>
                          <a:schemeClr val="tx1"/>
                        </a:solidFill>
                        <a:latin typeface="+mn-ea"/>
                        <a:ea typeface="+mn-ea"/>
                      </a:endParaRPr>
                    </a:p>
                    <a:p>
                      <a:pPr marL="0" marR="0" lvl="0" indent="0" algn="l" defTabSz="914400" rtl="0" eaLnBrk="1" fontAlgn="auto" latinLnBrk="1" hangingPunct="1">
                        <a:lnSpc>
                          <a:spcPct val="100000"/>
                        </a:lnSpc>
                        <a:spcBef>
                          <a:spcPts val="0"/>
                        </a:spcBef>
                        <a:spcAft>
                          <a:spcPts val="0"/>
                        </a:spcAft>
                        <a:buClrTx/>
                        <a:buSzTx/>
                        <a:buFont typeface="Wingdings" panose="05000000000000000000" pitchFamily="2" charset="2"/>
                        <a:buNone/>
                        <a:tabLst/>
                        <a:defRPr/>
                      </a:pPr>
                      <a:r>
                        <a:rPr lang="ko-KR" alt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altLang="en-US" sz="1200" b="0" smtClean="0">
                          <a:solidFill>
                            <a:schemeClr val="tx1"/>
                          </a:solidFill>
                          <a:latin typeface="+mn-ea"/>
                          <a:ea typeface="+mn-ea"/>
                        </a:rPr>
                        <a:t>사용자비밀번호</a:t>
                      </a:r>
                      <a:endParaRPr lang="en-US" altLang="ko-KR" sz="1200" b="0" smtClean="0">
                        <a:solidFill>
                          <a:schemeClr val="tx1"/>
                        </a:solidFill>
                        <a:latin typeface="+mn-ea"/>
                        <a:ea typeface="+mn-ea"/>
                      </a:endParaRPr>
                    </a:p>
                    <a:p>
                      <a:pPr marL="0" marR="0" lvl="0" indent="0" algn="l" defTabSz="914400" rtl="0" eaLnBrk="1" fontAlgn="auto" latinLnBrk="1" hangingPunct="1">
                        <a:lnSpc>
                          <a:spcPct val="100000"/>
                        </a:lnSpc>
                        <a:spcBef>
                          <a:spcPts val="0"/>
                        </a:spcBef>
                        <a:spcAft>
                          <a:spcPts val="0"/>
                        </a:spcAft>
                        <a:buClrTx/>
                        <a:buSzTx/>
                        <a:buFont typeface="Wingdings" panose="05000000000000000000" pitchFamily="2" charset="2"/>
                        <a:buNone/>
                        <a:tabLst/>
                        <a:defRPr/>
                      </a:pPr>
                      <a:r>
                        <a:rPr lang="ko-KR" alt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altLang="en-US" sz="1200" b="0" smtClean="0">
                          <a:solidFill>
                            <a:schemeClr val="tx1"/>
                          </a:solidFill>
                          <a:latin typeface="+mn-ea"/>
                          <a:ea typeface="+mn-ea"/>
                        </a:rPr>
                        <a:t>관리자비밀번호</a:t>
                      </a:r>
                      <a:endParaRPr lang="en-US" altLang="ko-KR" sz="1200" b="0" smtClean="0">
                        <a:solidFill>
                          <a:schemeClr val="tx1"/>
                        </a:solidFill>
                        <a:latin typeface="+mn-ea"/>
                        <a:ea typeface="+mn-ea"/>
                      </a:endParaRPr>
                    </a:p>
                  </a:txBody>
                  <a:tcPr marL="38080" marR="38080" marT="38094" marB="3809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1" hangingPunct="1">
                        <a:lnSpc>
                          <a:spcPct val="100000"/>
                        </a:lnSpc>
                        <a:spcBef>
                          <a:spcPts val="0"/>
                        </a:spcBef>
                        <a:spcAft>
                          <a:spcPts val="0"/>
                        </a:spcAft>
                        <a:buClrTx/>
                        <a:buSzTx/>
                        <a:buFont typeface="Wingdings" panose="05000000000000000000" pitchFamily="2" charset="2"/>
                        <a:buNone/>
                        <a:tabLst/>
                        <a:defRPr/>
                      </a:pPr>
                      <a:r>
                        <a:rPr lang="ko-KR" altLang="en-US" sz="1200" b="0" smtClean="0">
                          <a:solidFill>
                            <a:schemeClr val="tx1"/>
                          </a:solidFill>
                          <a:latin typeface="+mn-ea"/>
                          <a:ea typeface="+mn-ea"/>
                        </a:rPr>
                        <a:t>적용 완료</a:t>
                      </a:r>
                      <a:endParaRPr lang="ko-KR" altLang="en-US" sz="1200" b="0" dirty="0">
                        <a:solidFill>
                          <a:schemeClr val="tx1"/>
                        </a:solidFill>
                        <a:latin typeface="+mn-ea"/>
                        <a:ea typeface="+mn-ea"/>
                      </a:endParaRPr>
                    </a:p>
                  </a:txBody>
                  <a:tcPr marL="38080" marR="38080" marT="38094" marB="3809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ko-KR" altLang="en-US" sz="1200" b="0" smtClean="0">
                          <a:solidFill>
                            <a:schemeClr val="tx1"/>
                          </a:solidFill>
                          <a:latin typeface="+mn-ea"/>
                          <a:ea typeface="+mn-ea"/>
                        </a:rPr>
                        <a:t>일방향 암호화</a:t>
                      </a:r>
                      <a:r>
                        <a:rPr lang="en-US" altLang="ko-KR" sz="1200" b="0" smtClean="0">
                          <a:solidFill>
                            <a:schemeClr val="tx1"/>
                          </a:solidFill>
                          <a:latin typeface="+mn-ea"/>
                          <a:ea typeface="+mn-ea"/>
                        </a:rPr>
                        <a:t>(SHA-256)</a:t>
                      </a:r>
                    </a:p>
                    <a:p>
                      <a:pPr marL="171450" marR="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ko-KR" altLang="en-US" sz="1200" b="0" smtClean="0">
                          <a:solidFill>
                            <a:schemeClr val="tx1"/>
                          </a:solidFill>
                          <a:latin typeface="+mn-ea"/>
                          <a:ea typeface="+mn-ea"/>
                        </a:rPr>
                        <a:t>솔트 포함</a:t>
                      </a:r>
                      <a:endParaRPr lang="ko-KR" altLang="en-US" sz="1200" b="0" dirty="0">
                        <a:solidFill>
                          <a:schemeClr val="tx1"/>
                        </a:solidFill>
                        <a:latin typeface="+mn-ea"/>
                        <a:ea typeface="+mn-ea"/>
                      </a:endParaRPr>
                    </a:p>
                  </a:txBody>
                  <a:tcPr marL="38080" marR="38080" marT="38094" marB="3809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200" b="0" smtClean="0">
                          <a:solidFill>
                            <a:schemeClr val="tx1"/>
                          </a:solidFill>
                          <a:latin typeface="+mn-ea"/>
                          <a:ea typeface="+mn-ea"/>
                        </a:rPr>
                        <a:t>D’Amo</a:t>
                      </a:r>
                      <a:r>
                        <a:rPr lang="en-US" altLang="ko-KR" sz="1200" b="0" baseline="0" smtClean="0">
                          <a:solidFill>
                            <a:schemeClr val="tx1"/>
                          </a:solidFill>
                          <a:latin typeface="+mn-ea"/>
                          <a:ea typeface="+mn-ea"/>
                        </a:rPr>
                        <a:t> SCP-HOST</a:t>
                      </a:r>
                      <a:endParaRPr lang="en-US" altLang="ko-KR" sz="1200" b="0" smtClean="0">
                        <a:solidFill>
                          <a:schemeClr val="tx1"/>
                        </a:solidFill>
                        <a:latin typeface="+mn-ea"/>
                        <a:ea typeface="+mn-ea"/>
                      </a:endParaRPr>
                    </a:p>
                  </a:txBody>
                  <a:tcPr marL="38080" marR="38080" marT="38094" marB="38094" anchor="ctr">
                    <a:lnL w="6350" cap="flat" cmpd="sng" algn="ctr">
                      <a:solidFill>
                        <a:schemeClr val="bg1">
                          <a:lumMod val="50000"/>
                        </a:schemeClr>
                      </a:solid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3054552"/>
                  </a:ext>
                </a:extLst>
              </a:tr>
              <a:tr h="1348526">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1200" smtClean="0">
                          <a:latin typeface="+mn-ea"/>
                          <a:ea typeface="+mn-ea"/>
                        </a:rPr>
                        <a:t>주요금융거래</a:t>
                      </a:r>
                      <a:endParaRPr lang="en-US" altLang="ko-KR" sz="1200" smtClean="0">
                        <a:latin typeface="+mn-ea"/>
                        <a:ea typeface="+mn-ea"/>
                      </a:endParaRPr>
                    </a:p>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smtClean="0">
                          <a:latin typeface="+mn-ea"/>
                          <a:ea typeface="+mn-ea"/>
                        </a:rPr>
                        <a:t>(</a:t>
                      </a:r>
                      <a:r>
                        <a:rPr lang="ko-KR" altLang="en-US" sz="1200" smtClean="0">
                          <a:latin typeface="+mn-ea"/>
                          <a:ea typeface="+mn-ea"/>
                        </a:rPr>
                        <a:t>전문포함</a:t>
                      </a:r>
                      <a:r>
                        <a:rPr lang="en-US" altLang="ko-KR" sz="1200" smtClean="0">
                          <a:latin typeface="+mn-ea"/>
                          <a:ea typeface="+mn-ea"/>
                        </a:rPr>
                        <a:t>)</a:t>
                      </a:r>
                      <a:endParaRPr lang="ko-KR" altLang="en-US" sz="1200" baseline="30000" dirty="0">
                        <a:latin typeface="+mn-ea"/>
                        <a:ea typeface="+mn-ea"/>
                      </a:endParaRPr>
                    </a:p>
                  </a:txBody>
                  <a:tcPr marL="38080" marR="38080" marT="38094" marB="38094"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Wingdings" panose="05000000000000000000" pitchFamily="2" charset="2"/>
                        <a:buNone/>
                        <a:tabLst/>
                        <a:defRPr/>
                      </a:pPr>
                      <a:r>
                        <a:rPr lang="ko-KR" alt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altLang="en-US" sz="1200" b="0" i="0" u="none" strike="noStrike" kern="1200" smtClean="0">
                          <a:solidFill>
                            <a:schemeClr val="tx1"/>
                          </a:solidFill>
                          <a:latin typeface="+mn-ea"/>
                          <a:ea typeface="+mn-ea"/>
                          <a:cs typeface="+mn-cs"/>
                        </a:rPr>
                        <a:t>전자금융거래</a:t>
                      </a:r>
                      <a:endParaRPr lang="en-US" altLang="ko-KR" sz="1200" b="0" i="0" u="none" strike="noStrike" kern="1200" smtClean="0">
                        <a:solidFill>
                          <a:schemeClr val="tx1"/>
                        </a:solidFill>
                        <a:latin typeface="+mn-ea"/>
                        <a:ea typeface="+mn-ea"/>
                        <a:cs typeface="+mn-cs"/>
                      </a:endParaRPr>
                    </a:p>
                    <a:p>
                      <a:pPr marL="0" marR="0" lvl="0" indent="0" algn="l" defTabSz="914400" rtl="0" eaLnBrk="1" fontAlgn="auto" latinLnBrk="1" hangingPunct="1">
                        <a:lnSpc>
                          <a:spcPct val="100000"/>
                        </a:lnSpc>
                        <a:spcBef>
                          <a:spcPts val="0"/>
                        </a:spcBef>
                        <a:spcAft>
                          <a:spcPts val="0"/>
                        </a:spcAft>
                        <a:buClrTx/>
                        <a:buSzTx/>
                        <a:buFont typeface="Wingdings" panose="05000000000000000000" pitchFamily="2" charset="2"/>
                        <a:buNone/>
                        <a:tabLst/>
                        <a:defRPr/>
                      </a:pPr>
                      <a:r>
                        <a:rPr lang="ko-KR" alt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altLang="en-US" sz="1200" b="0" i="0" u="none" strike="noStrike" kern="1200" smtClean="0">
                          <a:solidFill>
                            <a:schemeClr val="tx1"/>
                          </a:solidFill>
                          <a:latin typeface="+mn-ea"/>
                          <a:ea typeface="+mn-ea"/>
                          <a:cs typeface="+mn-cs"/>
                        </a:rPr>
                        <a:t>자동화기기거래</a:t>
                      </a:r>
                      <a:endParaRPr lang="en-US" altLang="ko-KR" sz="1200" b="0" i="0" u="none" strike="noStrike" kern="1200" smtClean="0">
                        <a:solidFill>
                          <a:schemeClr val="tx1"/>
                        </a:solidFill>
                        <a:latin typeface="+mn-ea"/>
                        <a:ea typeface="+mn-ea"/>
                        <a:cs typeface="+mn-cs"/>
                      </a:endParaRPr>
                    </a:p>
                    <a:p>
                      <a:pPr marL="0" marR="0" lvl="0" indent="0" algn="l" defTabSz="914400" rtl="0" eaLnBrk="1" fontAlgn="auto" latinLnBrk="1" hangingPunct="1">
                        <a:lnSpc>
                          <a:spcPct val="100000"/>
                        </a:lnSpc>
                        <a:spcBef>
                          <a:spcPts val="0"/>
                        </a:spcBef>
                        <a:spcAft>
                          <a:spcPts val="0"/>
                        </a:spcAft>
                        <a:buClrTx/>
                        <a:buSzTx/>
                        <a:buFont typeface="Wingdings" panose="05000000000000000000" pitchFamily="2" charset="2"/>
                        <a:buNone/>
                        <a:tabLst/>
                        <a:defRPr/>
                      </a:pPr>
                      <a:r>
                        <a:rPr lang="ko-KR" alt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altLang="en-US" sz="1200" b="0" i="0" u="none" strike="noStrike" kern="1200" smtClean="0">
                          <a:solidFill>
                            <a:schemeClr val="tx1"/>
                          </a:solidFill>
                          <a:latin typeface="+mn-ea"/>
                          <a:ea typeface="+mn-ea"/>
                          <a:cs typeface="+mn-cs"/>
                        </a:rPr>
                        <a:t>단말온라인거래</a:t>
                      </a:r>
                      <a:endParaRPr lang="en-US" altLang="ko-KR" sz="1200" b="0" i="0" u="none" strike="noStrike" kern="1200" smtClean="0">
                        <a:solidFill>
                          <a:schemeClr val="tx1"/>
                        </a:solidFill>
                        <a:latin typeface="+mn-ea"/>
                        <a:ea typeface="+mn-ea"/>
                        <a:cs typeface="+mn-cs"/>
                      </a:endParaRPr>
                    </a:p>
                    <a:p>
                      <a:pPr marL="0" marR="0" lvl="0" indent="0" algn="l" defTabSz="914400" rtl="0" eaLnBrk="1" fontAlgn="auto" latinLnBrk="1" hangingPunct="1">
                        <a:lnSpc>
                          <a:spcPct val="100000"/>
                        </a:lnSpc>
                        <a:spcBef>
                          <a:spcPts val="0"/>
                        </a:spcBef>
                        <a:spcAft>
                          <a:spcPts val="0"/>
                        </a:spcAft>
                        <a:buClrTx/>
                        <a:buSzTx/>
                        <a:buFont typeface="Wingdings" panose="05000000000000000000" pitchFamily="2" charset="2"/>
                        <a:buNone/>
                        <a:tabLst/>
                        <a:defRPr/>
                      </a:pPr>
                      <a:r>
                        <a:rPr lang="ko-KR" alt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altLang="en-US" sz="1200" b="0" i="0" u="none" strike="noStrike" kern="1200" smtClean="0">
                          <a:solidFill>
                            <a:schemeClr val="tx1"/>
                          </a:solidFill>
                          <a:latin typeface="+mn-ea"/>
                          <a:ea typeface="+mn-ea"/>
                          <a:cs typeface="+mn-cs"/>
                        </a:rPr>
                        <a:t>개인신용정보</a:t>
                      </a:r>
                      <a:endParaRPr lang="en-US" altLang="ko-KR" sz="1200" b="0" smtClean="0">
                        <a:solidFill>
                          <a:schemeClr val="tx1"/>
                        </a:solidFill>
                        <a:latin typeface="+mn-ea"/>
                        <a:ea typeface="+mn-ea"/>
                      </a:endParaRPr>
                    </a:p>
                  </a:txBody>
                  <a:tcPr marL="38080" marR="38080" marT="38094" marB="3809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1" hangingPunct="1">
                        <a:lnSpc>
                          <a:spcPct val="100000"/>
                        </a:lnSpc>
                        <a:spcBef>
                          <a:spcPts val="0"/>
                        </a:spcBef>
                        <a:spcAft>
                          <a:spcPts val="0"/>
                        </a:spcAft>
                        <a:buClrTx/>
                        <a:buSzTx/>
                        <a:buFont typeface="Wingdings" panose="05000000000000000000" pitchFamily="2" charset="2"/>
                        <a:buNone/>
                        <a:tabLst/>
                        <a:defRPr/>
                      </a:pPr>
                      <a:r>
                        <a:rPr lang="ko-KR" altLang="en-US" sz="1200" b="0" smtClean="0">
                          <a:solidFill>
                            <a:schemeClr val="tx1"/>
                          </a:solidFill>
                          <a:latin typeface="+mn-ea"/>
                          <a:ea typeface="+mn-ea"/>
                        </a:rPr>
                        <a:t>적용완료</a:t>
                      </a:r>
                      <a:endParaRPr lang="ko-KR" altLang="en-US" sz="1200" b="0" dirty="0">
                        <a:solidFill>
                          <a:schemeClr val="tx1"/>
                        </a:solidFill>
                        <a:latin typeface="+mn-ea"/>
                        <a:ea typeface="+mn-ea"/>
                      </a:endParaRPr>
                    </a:p>
                  </a:txBody>
                  <a:tcPr marL="38080" marR="38080" marT="38094" marB="3809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ko-KR" altLang="en-US" sz="1200" b="0" smtClean="0">
                          <a:solidFill>
                            <a:schemeClr val="tx1"/>
                          </a:solidFill>
                          <a:latin typeface="+mn-ea"/>
                          <a:ea typeface="+mn-ea"/>
                        </a:rPr>
                        <a:t>양방향 암호화</a:t>
                      </a:r>
                      <a:r>
                        <a:rPr lang="en-US" altLang="ko-KR" sz="1200" b="0" smtClean="0">
                          <a:solidFill>
                            <a:schemeClr val="tx1"/>
                          </a:solidFill>
                          <a:latin typeface="+mn-ea"/>
                          <a:ea typeface="+mn-ea"/>
                        </a:rPr>
                        <a:t>(SEED, AES-256)</a:t>
                      </a:r>
                    </a:p>
                    <a:p>
                      <a:pPr marL="171450" marR="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ko-KR" altLang="en-US" sz="1200" b="0" smtClean="0">
                          <a:solidFill>
                            <a:schemeClr val="tx1"/>
                          </a:solidFill>
                          <a:latin typeface="+mn-ea"/>
                          <a:ea typeface="+mn-ea"/>
                        </a:rPr>
                        <a:t>키관리시스템 연동</a:t>
                      </a:r>
                      <a:endParaRPr lang="ko-KR" altLang="en-US" sz="1200" b="0" dirty="0">
                        <a:solidFill>
                          <a:schemeClr val="tx1"/>
                        </a:solidFill>
                        <a:latin typeface="+mn-ea"/>
                        <a:ea typeface="+mn-ea"/>
                      </a:endParaRPr>
                    </a:p>
                  </a:txBody>
                  <a:tcPr marL="38080" marR="38080" marT="38094" marB="3809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200" b="0" smtClean="0">
                          <a:solidFill>
                            <a:schemeClr val="tx1"/>
                          </a:solidFill>
                          <a:latin typeface="+mn-ea"/>
                          <a:ea typeface="+mn-ea"/>
                        </a:rPr>
                        <a:t>D’Amo WA-SDK</a:t>
                      </a:r>
                    </a:p>
                    <a:p>
                      <a:pPr marL="171450" marR="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200" b="0" smtClean="0">
                          <a:solidFill>
                            <a:schemeClr val="tx1"/>
                          </a:solidFill>
                          <a:latin typeface="+mn-ea"/>
                          <a:ea typeface="+mn-ea"/>
                        </a:rPr>
                        <a:t>D’Amo SG-KMS</a:t>
                      </a:r>
                      <a:endParaRPr lang="ko-KR" altLang="en-US" sz="1200" b="0" dirty="0">
                        <a:solidFill>
                          <a:schemeClr val="tx1"/>
                        </a:solidFill>
                        <a:latin typeface="+mn-ea"/>
                        <a:ea typeface="+mn-ea"/>
                      </a:endParaRPr>
                    </a:p>
                  </a:txBody>
                  <a:tcPr marL="38080" marR="38080" marT="38094" marB="38094" anchor="ctr">
                    <a:lnL w="6350" cap="flat" cmpd="sng" algn="ctr">
                      <a:solidFill>
                        <a:schemeClr val="bg1">
                          <a:lumMod val="50000"/>
                        </a:schemeClr>
                      </a:solid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2456431"/>
                  </a:ext>
                </a:extLst>
              </a:tr>
              <a:tr h="432532">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1200" smtClean="0">
                          <a:latin typeface="+mn-ea"/>
                          <a:ea typeface="+mn-ea"/>
                        </a:rPr>
                        <a:t>바이오 정보</a:t>
                      </a:r>
                      <a:r>
                        <a:rPr lang="ko-KR" altLang="en-US" sz="1200" baseline="30000" smtClean="0">
                          <a:latin typeface="+mn-ea"/>
                          <a:ea typeface="+mn-ea"/>
                        </a:rPr>
                        <a:t>주</a:t>
                      </a:r>
                      <a:r>
                        <a:rPr lang="en-US" altLang="ko-KR" sz="1200" baseline="30000" smtClean="0">
                          <a:latin typeface="+mn-ea"/>
                          <a:ea typeface="+mn-ea"/>
                        </a:rPr>
                        <a:t>2)</a:t>
                      </a:r>
                      <a:endParaRPr lang="ko-KR" altLang="en-US" sz="1200" baseline="30000" dirty="0">
                        <a:latin typeface="+mn-ea"/>
                        <a:ea typeface="+mn-ea"/>
                      </a:endParaRPr>
                    </a:p>
                  </a:txBody>
                  <a:tcPr marL="38080" marR="38080" marT="38094" marB="38094"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Wingdings" panose="05000000000000000000" pitchFamily="2" charset="2"/>
                        <a:buNone/>
                        <a:tabLst/>
                        <a:defRPr/>
                      </a:pPr>
                      <a:r>
                        <a:rPr lang="ko-KR" altLang="ko-KR" sz="1200" b="0" i="0" u="none" strike="noStrike" kern="1200" smtClean="0">
                          <a:solidFill>
                            <a:schemeClr val="tx1"/>
                          </a:solidFill>
                          <a:latin typeface="+mn-ea"/>
                          <a:ea typeface="+mn-ea"/>
                          <a:cs typeface="+mn-cs"/>
                        </a:rPr>
                        <a:t>□</a:t>
                      </a:r>
                      <a:r>
                        <a:rPr lang="en-US" altLang="ko-KR" sz="1200" b="0" i="0" u="none" strike="noStrike" kern="1200" smtClean="0">
                          <a:solidFill>
                            <a:schemeClr val="tx1"/>
                          </a:solidFill>
                          <a:latin typeface="+mn-ea"/>
                          <a:ea typeface="+mn-ea"/>
                          <a:cs typeface="+mn-cs"/>
                        </a:rPr>
                        <a:t> </a:t>
                      </a:r>
                      <a:r>
                        <a:rPr lang="ko-KR" altLang="en-US" sz="1200" b="0" smtClean="0">
                          <a:solidFill>
                            <a:schemeClr val="tx1"/>
                          </a:solidFill>
                          <a:latin typeface="+mn-ea"/>
                          <a:ea typeface="+mn-ea"/>
                        </a:rPr>
                        <a:t>현재 수집정보 없음</a:t>
                      </a:r>
                      <a:endParaRPr lang="en-US" altLang="ko-KR" sz="1200" b="0" smtClean="0">
                        <a:solidFill>
                          <a:schemeClr val="tx1"/>
                        </a:solidFill>
                        <a:latin typeface="+mn-ea"/>
                        <a:ea typeface="+mn-ea"/>
                      </a:endParaRPr>
                    </a:p>
                  </a:txBody>
                  <a:tcPr marL="38080" marR="38080" marT="38094" marB="3809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1" hangingPunct="1">
                        <a:lnSpc>
                          <a:spcPct val="100000"/>
                        </a:lnSpc>
                        <a:spcBef>
                          <a:spcPts val="0"/>
                        </a:spcBef>
                        <a:spcAft>
                          <a:spcPts val="0"/>
                        </a:spcAft>
                        <a:buClrTx/>
                        <a:buSzTx/>
                        <a:buFont typeface="Wingdings" panose="05000000000000000000" pitchFamily="2" charset="2"/>
                        <a:buNone/>
                        <a:tabLst/>
                        <a:defRPr/>
                      </a:pPr>
                      <a:r>
                        <a:rPr lang="en-US" altLang="ko-KR" sz="1200" b="0" smtClean="0">
                          <a:solidFill>
                            <a:schemeClr val="tx1"/>
                          </a:solidFill>
                          <a:latin typeface="+mn-ea"/>
                          <a:ea typeface="+mn-ea"/>
                        </a:rPr>
                        <a:t>-</a:t>
                      </a:r>
                      <a:endParaRPr lang="ko-KR" altLang="en-US" sz="1200" b="0" dirty="0">
                        <a:solidFill>
                          <a:schemeClr val="tx1"/>
                        </a:solidFill>
                        <a:latin typeface="+mn-ea"/>
                        <a:ea typeface="+mn-ea"/>
                      </a:endParaRPr>
                    </a:p>
                  </a:txBody>
                  <a:tcPr marL="38080" marR="38080" marT="38094" marB="3809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ko-KR" altLang="en-US" sz="1200" b="0" smtClean="0">
                          <a:solidFill>
                            <a:schemeClr val="tx1"/>
                          </a:solidFill>
                          <a:latin typeface="+mn-ea"/>
                          <a:ea typeface="+mn-ea"/>
                        </a:rPr>
                        <a:t>요건 발생 시 반영함</a:t>
                      </a:r>
                      <a:endParaRPr lang="ko-KR" altLang="en-US" sz="1200" b="0" dirty="0">
                        <a:solidFill>
                          <a:schemeClr val="tx1"/>
                        </a:solidFill>
                        <a:latin typeface="+mn-ea"/>
                        <a:ea typeface="+mn-ea"/>
                      </a:endParaRPr>
                    </a:p>
                  </a:txBody>
                  <a:tcPr marL="38080" marR="38080" marT="38094" marB="3809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endParaRPr lang="ko-KR" altLang="en-US" sz="1200" b="0" dirty="0">
                        <a:solidFill>
                          <a:schemeClr val="tx1"/>
                        </a:solidFill>
                        <a:latin typeface="+mn-ea"/>
                        <a:ea typeface="+mn-ea"/>
                      </a:endParaRPr>
                    </a:p>
                  </a:txBody>
                  <a:tcPr marL="38080" marR="38080" marT="38094" marB="38094" anchor="ctr">
                    <a:lnL w="6350" cap="flat" cmpd="sng" algn="ctr">
                      <a:solidFill>
                        <a:schemeClr val="bg1">
                          <a:lumMod val="50000"/>
                        </a:schemeClr>
                      </a:solid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2837897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모서리가 둥근 직사각형 146"/>
          <p:cNvSpPr/>
          <p:nvPr/>
        </p:nvSpPr>
        <p:spPr>
          <a:xfrm>
            <a:off x="560388" y="3520386"/>
            <a:ext cx="5328000" cy="2000250"/>
          </a:xfrm>
          <a:prstGeom prst="roundRect">
            <a:avLst>
              <a:gd name="adj" fmla="val 3998"/>
            </a:avLst>
          </a:prstGeom>
          <a:pattFill prst="dkUpDiag">
            <a:fgClr>
              <a:schemeClr val="bg1">
                <a:lumMod val="85000"/>
              </a:schemeClr>
            </a:fgClr>
            <a:bgClr>
              <a:schemeClr val="bg1"/>
            </a:bgClr>
          </a:pattFill>
          <a:ln w="12700">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kumimoji="0" lang="ko-KR" altLang="en-US" dirty="0">
              <a:effectLst/>
              <a:latin typeface="KB금융 본문체 Light" panose="020B0303000000000000" pitchFamily="50" charset="-127"/>
              <a:ea typeface="KB금융 본문체 Light" panose="020B0303000000000000" pitchFamily="50" charset="-127"/>
            </a:endParaRPr>
          </a:p>
        </p:txBody>
      </p:sp>
      <p:sp>
        <p:nvSpPr>
          <p:cNvPr id="77" name="모서리가 둥근 직사각형 76"/>
          <p:cNvSpPr/>
          <p:nvPr/>
        </p:nvSpPr>
        <p:spPr bwMode="auto">
          <a:xfrm>
            <a:off x="2516800" y="4516035"/>
            <a:ext cx="2165350" cy="552450"/>
          </a:xfrm>
          <a:prstGeom prst="roundRect">
            <a:avLst>
              <a:gd name="adj" fmla="val 3998"/>
            </a:avLst>
          </a:prstGeom>
          <a:noFill/>
          <a:ln w="19050">
            <a:solidFill>
              <a:srgbClr val="BFBFBF"/>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kumimoji="0" lang="ko-KR" altLang="en-US" sz="1000" dirty="0">
              <a:solidFill>
                <a:schemeClr val="tx1"/>
              </a:solidFill>
              <a:effectLst/>
              <a:latin typeface="+mn-ea"/>
            </a:endParaRPr>
          </a:p>
        </p:txBody>
      </p:sp>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en-US" altLang="ko-KR" dirty="0"/>
              <a:t>7</a:t>
            </a:r>
            <a:r>
              <a:rPr lang="en-US" altLang="ko-KR" smtClean="0"/>
              <a:t>. </a:t>
            </a:r>
            <a:r>
              <a:rPr lang="ko-KR" altLang="en-US" smtClean="0"/>
              <a:t>암호화 신규적용</a:t>
            </a:r>
            <a:endParaRPr lang="ko-KR" altLang="en-US" dirty="0"/>
          </a:p>
        </p:txBody>
      </p:sp>
      <p:sp>
        <p:nvSpPr>
          <p:cNvPr id="56" name="Rectangle 3"/>
          <p:cNvSpPr>
            <a:spLocks noChangeArrowheads="1"/>
          </p:cNvSpPr>
          <p:nvPr/>
        </p:nvSpPr>
        <p:spPr bwMode="auto">
          <a:xfrm>
            <a:off x="308484" y="764704"/>
            <a:ext cx="9144000" cy="351186"/>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ko-KR" altLang="en-US" sz="1400" b="1" dirty="0" smtClean="0">
                <a:solidFill>
                  <a:srgbClr val="FF0000"/>
                </a:solidFill>
                <a:latin typeface="KB금융 본문체 Light" panose="020B0303000000000000" pitchFamily="50" charset="-127"/>
                <a:ea typeface="KB금융 본문체 Light" panose="020B0303000000000000" pitchFamily="50" charset="-127"/>
                <a:cs typeface="ヒラギノ角ゴ ProN W3"/>
              </a:rPr>
              <a:t>당행 암호화 실무 적용 흐름도</a:t>
            </a:r>
            <a:endParaRPr lang="en-US" altLang="ko-KR" sz="1400" b="1" dirty="0" smtClean="0">
              <a:solidFill>
                <a:srgbClr val="FF0000"/>
              </a:solidFill>
              <a:latin typeface="KB금융 본문체 Light" panose="020B0303000000000000" pitchFamily="50" charset="-127"/>
              <a:ea typeface="KB금융 본문체 Light" panose="020B0303000000000000" pitchFamily="50" charset="-127"/>
              <a:cs typeface="ヒラギノ角ゴ ProN W3"/>
            </a:endParaRPr>
          </a:p>
        </p:txBody>
      </p:sp>
      <p:sp>
        <p:nvSpPr>
          <p:cNvPr id="25" name="Rectangle 3"/>
          <p:cNvSpPr>
            <a:spLocks noChangeArrowheads="1"/>
          </p:cNvSpPr>
          <p:nvPr/>
        </p:nvSpPr>
        <p:spPr bwMode="auto">
          <a:xfrm>
            <a:off x="699993" y="1142438"/>
            <a:ext cx="8753507" cy="332399"/>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ko-KR" altLang="en-US" sz="1200" smtClean="0">
                <a:latin typeface="KB금융 본문체 Light" panose="020B0303000000000000" pitchFamily="50" charset="-127"/>
                <a:ea typeface="KB금융 본문체 Light" panose="020B0303000000000000" pitchFamily="50" charset="-127"/>
                <a:cs typeface="ヒラギノ角ゴ ProN W3"/>
              </a:rPr>
              <a:t>신규 도입되는 업무에 대한 암호화 적용은 </a:t>
            </a:r>
            <a:r>
              <a:rPr lang="en-US" altLang="ko-KR" sz="1200" smtClean="0">
                <a:latin typeface="KB금융 본문체 Light" panose="020B0303000000000000" pitchFamily="50" charset="-127"/>
                <a:ea typeface="KB금융 본문체 Light" panose="020B0303000000000000" pitchFamily="50" charset="-127"/>
                <a:cs typeface="ヒラギノ角ゴ ProN W3"/>
              </a:rPr>
              <a:t>API </a:t>
            </a:r>
            <a:r>
              <a:rPr lang="ko-KR" altLang="en-US" sz="1200" smtClean="0">
                <a:latin typeface="KB금융 본문체 Light" panose="020B0303000000000000" pitchFamily="50" charset="-127"/>
                <a:ea typeface="KB금융 본문체 Light" panose="020B0303000000000000" pitchFamily="50" charset="-127"/>
                <a:cs typeface="ヒラギノ角ゴ ProN W3"/>
              </a:rPr>
              <a:t>방식의 전용 암호화 프로그램으로 개발해야 함 </a:t>
            </a:r>
            <a:r>
              <a:rPr lang="ko-KR" altLang="en-US" sz="1200" baseline="30000" smtClean="0">
                <a:latin typeface="KB금융 본문체 Light" panose="020B0303000000000000" pitchFamily="50" charset="-127"/>
                <a:ea typeface="KB금융 본문체 Light" panose="020B0303000000000000" pitchFamily="50" charset="-127"/>
                <a:cs typeface="ヒラギノ角ゴ ProN W3"/>
              </a:rPr>
              <a:t>주</a:t>
            </a:r>
            <a:r>
              <a:rPr lang="en-US" altLang="ko-KR" sz="1200" baseline="30000" smtClean="0">
                <a:latin typeface="KB금융 본문체 Light" panose="020B0303000000000000" pitchFamily="50" charset="-127"/>
                <a:ea typeface="KB금융 본문체 Light" panose="020B0303000000000000" pitchFamily="50" charset="-127"/>
                <a:cs typeface="ヒラギノ角ゴ ProN W3"/>
              </a:rPr>
              <a:t>1)</a:t>
            </a:r>
            <a:endParaRPr lang="en-US" altLang="ko-KR" sz="1200" baseline="30000">
              <a:latin typeface="KB금융 본문체 Light" panose="020B0303000000000000" pitchFamily="50" charset="-127"/>
              <a:ea typeface="KB금융 본문체 Light" panose="020B0303000000000000" pitchFamily="50" charset="-127"/>
              <a:cs typeface="ヒラギノ角ゴ ProN W3"/>
            </a:endParaRPr>
          </a:p>
        </p:txBody>
      </p:sp>
      <p:sp>
        <p:nvSpPr>
          <p:cNvPr id="58" name="Rectangle 3"/>
          <p:cNvSpPr>
            <a:spLocks noChangeArrowheads="1"/>
          </p:cNvSpPr>
          <p:nvPr/>
        </p:nvSpPr>
        <p:spPr bwMode="auto">
          <a:xfrm>
            <a:off x="416496" y="5762563"/>
            <a:ext cx="8183044" cy="292388"/>
          </a:xfrm>
          <a:prstGeom prst="rect">
            <a:avLst/>
          </a:prstGeom>
          <a:noFill/>
          <a:ln w="9525" algn="ctr">
            <a:noFill/>
            <a:miter lim="800000"/>
            <a:headEnd/>
            <a:tailEnd/>
          </a:ln>
          <a:effectLst/>
        </p:spPr>
        <p:txBody>
          <a:bodyPr wrap="square">
            <a:spAutoFit/>
          </a:bodyPr>
          <a:lstStyle/>
          <a:p>
            <a:pPr marL="171450" indent="-171450">
              <a:lnSpc>
                <a:spcPct val="130000"/>
              </a:lnSpc>
              <a:spcBef>
                <a:spcPct val="20000"/>
              </a:spcBef>
              <a:buSzPct val="100000"/>
              <a:buFont typeface="Arial" panose="020B0604020202020204" pitchFamily="34" charset="0"/>
              <a:buChar char="•"/>
            </a:pPr>
            <a:r>
              <a:rPr lang="ko-KR" altLang="en-US" sz="1000" baseline="30000" smtClean="0">
                <a:latin typeface="+mn-ea"/>
                <a:cs typeface="ヒラギノ角ゴ ProN W3"/>
              </a:rPr>
              <a:t>주</a:t>
            </a:r>
            <a:r>
              <a:rPr lang="en-US" altLang="ko-KR" sz="1000" baseline="30000" smtClean="0">
                <a:latin typeface="+mn-ea"/>
                <a:cs typeface="ヒラギノ角ゴ ProN W3"/>
              </a:rPr>
              <a:t>1)</a:t>
            </a:r>
            <a:r>
              <a:rPr lang="en-US" altLang="ko-KR" sz="1000" smtClean="0">
                <a:latin typeface="+mn-ea"/>
                <a:cs typeface="ヒラギノ角ゴ ProN W3"/>
              </a:rPr>
              <a:t> </a:t>
            </a:r>
            <a:r>
              <a:rPr lang="ko-KR" altLang="en-US" sz="1000" smtClean="0">
                <a:latin typeface="+mn-ea"/>
                <a:cs typeface="ヒラギノ角ゴ ProN W3"/>
              </a:rPr>
              <a:t>첨부</a:t>
            </a:r>
            <a:r>
              <a:rPr lang="en-US" altLang="ko-KR" sz="1000" smtClean="0">
                <a:latin typeface="+mn-ea"/>
                <a:cs typeface="ヒラギノ角ゴ ProN W3"/>
              </a:rPr>
              <a:t>1.</a:t>
            </a:r>
            <a:r>
              <a:rPr lang="ko-KR" altLang="en-US" sz="1000" smtClean="0">
                <a:latin typeface="+mn-ea"/>
                <a:cs typeface="ヒラギノ角ゴ ProN W3"/>
              </a:rPr>
              <a:t>암호키 신청방법</a:t>
            </a:r>
            <a:r>
              <a:rPr lang="en-US" altLang="ko-KR" sz="1000" smtClean="0">
                <a:latin typeface="+mn-ea"/>
                <a:cs typeface="ヒラギノ角ゴ ProN W3"/>
              </a:rPr>
              <a:t> </a:t>
            </a:r>
            <a:r>
              <a:rPr lang="ko-KR" altLang="en-US" sz="1000" smtClean="0">
                <a:latin typeface="+mn-ea"/>
                <a:cs typeface="ヒラギノ角ゴ ProN W3"/>
              </a:rPr>
              <a:t>참조</a:t>
            </a:r>
            <a:endParaRPr lang="en-US" altLang="ko-KR" sz="1000" smtClean="0">
              <a:latin typeface="+mn-ea"/>
              <a:cs typeface="ヒラギノ角ゴ ProN W3"/>
            </a:endParaRPr>
          </a:p>
        </p:txBody>
      </p:sp>
      <p:sp>
        <p:nvSpPr>
          <p:cNvPr id="71" name="직사각형 70"/>
          <p:cNvSpPr/>
          <p:nvPr/>
        </p:nvSpPr>
        <p:spPr bwMode="auto">
          <a:xfrm>
            <a:off x="6177136" y="2005069"/>
            <a:ext cx="3240000" cy="3194260"/>
          </a:xfrm>
          <a:prstGeom prst="rect">
            <a:avLst/>
          </a:prstGeom>
          <a:noFill/>
          <a:ln w="9525" algn="ctr">
            <a:solidFill>
              <a:schemeClr val="bg1">
                <a:lumMod val="50000"/>
              </a:schemeClr>
            </a:solidFill>
            <a:round/>
            <a:headEnd/>
            <a:tailEnd/>
          </a:ln>
          <a:effectLst/>
        </p:spPr>
        <p:txBody>
          <a:bodyPr lIns="72000" tIns="36000" rIns="72000" bIns="36000" anchor="t"/>
          <a:lstStyle/>
          <a:p>
            <a:pPr algn="ctr" eaLnBrk="1" latinLnBrk="1" hangingPunct="1">
              <a:spcBef>
                <a:spcPct val="50000"/>
              </a:spcBef>
            </a:pPr>
            <a:endParaRPr lang="ko-KR" altLang="en-US" sz="1000" b="1">
              <a:latin typeface="+mn-ea"/>
            </a:endParaRPr>
          </a:p>
        </p:txBody>
      </p:sp>
      <p:sp>
        <p:nvSpPr>
          <p:cNvPr id="73" name="AutoShape 147"/>
          <p:cNvSpPr>
            <a:spLocks noChangeArrowheads="1"/>
          </p:cNvSpPr>
          <p:nvPr/>
        </p:nvSpPr>
        <p:spPr bwMode="auto">
          <a:xfrm>
            <a:off x="463997" y="1699829"/>
            <a:ext cx="9072000" cy="3961419"/>
          </a:xfrm>
          <a:prstGeom prst="roundRect">
            <a:avLst>
              <a:gd name="adj" fmla="val 1347"/>
            </a:avLst>
          </a:prstGeom>
          <a:noFill/>
          <a:ln w="19050" algn="ctr">
            <a:solidFill>
              <a:schemeClr val="tx1"/>
            </a:solidFill>
            <a:round/>
            <a:headEnd/>
            <a:tailEnd/>
          </a:ln>
          <a:extLst/>
        </p:spPr>
        <p:txBody>
          <a:bodyPr wrap="none" lIns="0" tIns="0" rIns="0" bIns="0" anchor="ctr"/>
          <a:lstStyle/>
          <a:p>
            <a:pPr algn="ctr" defTabSz="550863"/>
            <a:endParaRPr lang="ko-KR" altLang="ko-KR" sz="1000">
              <a:latin typeface="+mn-ea"/>
            </a:endParaRPr>
          </a:p>
        </p:txBody>
      </p:sp>
      <p:pic>
        <p:nvPicPr>
          <p:cNvPr id="78" name="그림 39" descr="HW_DAmo_KMS_gray.em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70946" y="4896197"/>
            <a:ext cx="574092" cy="360000"/>
          </a:xfrm>
          <a:prstGeom prst="rect">
            <a:avLst/>
          </a:prstGeom>
          <a:noFill/>
          <a:ln>
            <a:noFill/>
          </a:ln>
          <a:extLst/>
        </p:spPr>
      </p:pic>
      <p:grpSp>
        <p:nvGrpSpPr>
          <p:cNvPr id="83" name="그룹 30"/>
          <p:cNvGrpSpPr>
            <a:grpSpLocks/>
          </p:cNvGrpSpPr>
          <p:nvPr/>
        </p:nvGrpSpPr>
        <p:grpSpPr bwMode="auto">
          <a:xfrm>
            <a:off x="1015142" y="4450976"/>
            <a:ext cx="464629" cy="497731"/>
            <a:chOff x="1173284" y="4454956"/>
            <a:chExt cx="465015" cy="497567"/>
          </a:xfrm>
          <a:noFill/>
        </p:grpSpPr>
        <p:sp>
          <p:nvSpPr>
            <p:cNvPr id="84" name="타원 83"/>
            <p:cNvSpPr/>
            <p:nvPr/>
          </p:nvSpPr>
          <p:spPr>
            <a:xfrm>
              <a:off x="1173824" y="4488283"/>
              <a:ext cx="463934" cy="46498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latinLnBrk="1" hangingPunct="1">
                <a:defRPr/>
              </a:pPr>
              <a:endParaRPr lang="ko-KR" altLang="en-US" sz="1000" dirty="0">
                <a:solidFill>
                  <a:schemeClr val="tx1"/>
                </a:solidFill>
                <a:effectLst/>
                <a:latin typeface="+mn-ea"/>
              </a:endParaRPr>
            </a:p>
          </p:txBody>
        </p:sp>
        <p:pic>
          <p:nvPicPr>
            <p:cNvPr id="85" name="그림 29" descr="PC모니터.emf"/>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03872" y="4454956"/>
              <a:ext cx="402014" cy="39502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86" name="직사각형 142"/>
          <p:cNvSpPr>
            <a:spLocks noChangeArrowheads="1"/>
          </p:cNvSpPr>
          <p:nvPr/>
        </p:nvSpPr>
        <p:spPr bwMode="auto">
          <a:xfrm>
            <a:off x="619218" y="4976191"/>
            <a:ext cx="1277594" cy="461665"/>
          </a:xfrm>
          <a:prstGeom prst="rect">
            <a:avLst/>
          </a:prstGeom>
          <a:noFill/>
          <a:ln>
            <a:noFill/>
          </a:ln>
          <a:extLst/>
        </p:spPr>
        <p:txBody>
          <a:bodyPr wrap="none" lIns="0" tIns="0" rIns="0" bIns="0">
            <a:spAutoFit/>
          </a:bodyPr>
          <a:lstStyle>
            <a:lvl1pPr latinLnBrk="1">
              <a:spcBef>
                <a:spcPct val="20000"/>
              </a:spcBef>
              <a:buFont typeface="Arial" panose="020B0604020202020204" pitchFamily="34" charset="0"/>
              <a:buChar char="•"/>
              <a:defRPr sz="3200">
                <a:solidFill>
                  <a:schemeClr val="tx1"/>
                </a:solidFill>
                <a:latin typeface="맑은 고딕" panose="020B0503020000020004" pitchFamily="50" charset="-127"/>
                <a:ea typeface="맑은 고딕" panose="020B0503020000020004" pitchFamily="50" charset="-127"/>
              </a:defRPr>
            </a:lvl1pPr>
            <a:lvl2pPr marL="742950" indent="-285750" latinLnBrk="1">
              <a:spcBef>
                <a:spcPct val="20000"/>
              </a:spcBef>
              <a:buFont typeface="Arial" panose="020B0604020202020204" pitchFamily="34" charset="0"/>
              <a:buChar char="–"/>
              <a:defRPr sz="2800">
                <a:solidFill>
                  <a:schemeClr val="tx1"/>
                </a:solidFill>
                <a:latin typeface="맑은 고딕" panose="020B0503020000020004" pitchFamily="50" charset="-127"/>
                <a:ea typeface="맑은 고딕" panose="020B0503020000020004" pitchFamily="50" charset="-127"/>
              </a:defRPr>
            </a:lvl2pPr>
            <a:lvl3pPr marL="1143000" indent="-228600" latinLnBrk="1">
              <a:spcBef>
                <a:spcPct val="20000"/>
              </a:spcBef>
              <a:buFont typeface="Arial" panose="020B0604020202020204" pitchFamily="34" charset="0"/>
              <a:buChar char="•"/>
              <a:defRPr sz="2400">
                <a:solidFill>
                  <a:schemeClr val="tx1"/>
                </a:solidFill>
                <a:latin typeface="맑은 고딕" panose="020B0503020000020004" pitchFamily="50" charset="-127"/>
                <a:ea typeface="맑은 고딕" panose="020B0503020000020004" pitchFamily="50" charset="-127"/>
              </a:defRPr>
            </a:lvl3pPr>
            <a:lvl4pPr marL="1600200" indent="-228600" latinLnBrk="1">
              <a:spcBef>
                <a:spcPct val="20000"/>
              </a:spcBef>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4pPr>
            <a:lvl5pPr marL="2057400" indent="-228600" latinLnBrk="1">
              <a:spcBef>
                <a:spcPct val="20000"/>
              </a:spcBef>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9pPr>
          </a:lstStyle>
          <a:p>
            <a:pPr algn="ctr" eaLnBrk="1" latinLnBrk="0" hangingPunct="1">
              <a:spcBef>
                <a:spcPct val="0"/>
              </a:spcBef>
              <a:spcAft>
                <a:spcPct val="30000"/>
              </a:spcAft>
              <a:buClr>
                <a:srgbClr val="7BA8D5"/>
              </a:buClr>
              <a:buFont typeface="Wingdings 2" panose="05020102010507070707" pitchFamily="18" charset="2"/>
              <a:buNone/>
            </a:pPr>
            <a:r>
              <a:rPr lang="en-US" altLang="ko-KR" sz="1000" b="1" dirty="0">
                <a:effectLst/>
                <a:latin typeface="+mn-ea"/>
                <a:ea typeface="+mn-ea"/>
              </a:rPr>
              <a:t>D’Amo</a:t>
            </a:r>
            <a:br>
              <a:rPr lang="en-US" altLang="ko-KR" sz="1000" b="1" dirty="0">
                <a:effectLst/>
                <a:latin typeface="+mn-ea"/>
                <a:ea typeface="+mn-ea"/>
              </a:rPr>
            </a:br>
            <a:r>
              <a:rPr lang="en-US" altLang="ko-KR" sz="1000" b="1" dirty="0" smtClean="0">
                <a:effectLst/>
                <a:latin typeface="+mn-ea"/>
                <a:ea typeface="+mn-ea"/>
              </a:rPr>
              <a:t>Key manager</a:t>
            </a:r>
            <a:r>
              <a:rPr lang="en-US" altLang="ko-KR" sz="1000" b="1" dirty="0">
                <a:latin typeface="+mn-ea"/>
                <a:ea typeface="+mn-ea"/>
              </a:rPr>
              <a:t> </a:t>
            </a:r>
            <a:r>
              <a:rPr lang="en-US" altLang="ko-KR" sz="1000" b="1" dirty="0" smtClean="0">
                <a:effectLst/>
                <a:latin typeface="+mn-ea"/>
                <a:ea typeface="+mn-ea"/>
              </a:rPr>
              <a:t>Console</a:t>
            </a:r>
            <a:r>
              <a:rPr lang="en-US" altLang="ko-KR" sz="1000" b="1" dirty="0">
                <a:effectLst/>
                <a:latin typeface="+mn-ea"/>
                <a:ea typeface="+mn-ea"/>
              </a:rPr>
              <a:t/>
            </a:r>
            <a:br>
              <a:rPr lang="en-US" altLang="ko-KR" sz="1000" b="1" dirty="0">
                <a:effectLst/>
                <a:latin typeface="+mn-ea"/>
                <a:ea typeface="+mn-ea"/>
              </a:rPr>
            </a:br>
            <a:r>
              <a:rPr lang="en-US" altLang="ko-KR" sz="1000" dirty="0">
                <a:effectLst/>
                <a:latin typeface="+mn-ea"/>
                <a:ea typeface="+mn-ea"/>
              </a:rPr>
              <a:t>(</a:t>
            </a:r>
            <a:r>
              <a:rPr lang="ko-KR" altLang="en-US" sz="1000" dirty="0">
                <a:effectLst/>
                <a:latin typeface="+mn-ea"/>
                <a:ea typeface="+mn-ea"/>
              </a:rPr>
              <a:t>보안관리자</a:t>
            </a:r>
            <a:r>
              <a:rPr lang="en-US" altLang="ko-KR" sz="1000" dirty="0">
                <a:effectLst/>
                <a:latin typeface="+mn-ea"/>
                <a:ea typeface="+mn-ea"/>
              </a:rPr>
              <a:t>)</a:t>
            </a:r>
            <a:endParaRPr lang="ko-KR" altLang="en-US" sz="1000" dirty="0">
              <a:effectLst/>
              <a:latin typeface="+mn-ea"/>
              <a:ea typeface="+mn-ea"/>
            </a:endParaRPr>
          </a:p>
        </p:txBody>
      </p:sp>
      <p:cxnSp>
        <p:nvCxnSpPr>
          <p:cNvPr id="87" name="직선 화살표 연결선 86"/>
          <p:cNvCxnSpPr/>
          <p:nvPr/>
        </p:nvCxnSpPr>
        <p:spPr bwMode="auto">
          <a:xfrm flipH="1">
            <a:off x="1498178" y="4644240"/>
            <a:ext cx="828000" cy="0"/>
          </a:xfrm>
          <a:prstGeom prst="straightConnector1">
            <a:avLst/>
          </a:prstGeom>
          <a:solidFill>
            <a:schemeClr val="bg1"/>
          </a:solidFill>
          <a:ln w="19050" cap="flat" cmpd="sng" algn="ctr">
            <a:solidFill>
              <a:schemeClr val="bg2">
                <a:lumMod val="50000"/>
              </a:schemeClr>
            </a:solidFill>
            <a:prstDash val="solid"/>
            <a:round/>
            <a:headEnd type="triangle" w="med" len="med"/>
            <a:tailEnd type="triangle"/>
          </a:ln>
          <a:effectLst/>
        </p:spPr>
      </p:cxnSp>
      <p:sp>
        <p:nvSpPr>
          <p:cNvPr id="88" name="직사각형 231"/>
          <p:cNvSpPr>
            <a:spLocks noChangeArrowheads="1"/>
          </p:cNvSpPr>
          <p:nvPr/>
        </p:nvSpPr>
        <p:spPr bwMode="auto">
          <a:xfrm>
            <a:off x="1517197" y="4713870"/>
            <a:ext cx="856004" cy="307777"/>
          </a:xfrm>
          <a:prstGeom prst="rect">
            <a:avLst/>
          </a:prstGeom>
          <a:noFill/>
          <a:ln>
            <a:noFill/>
          </a:ln>
          <a:extLst/>
        </p:spPr>
        <p:txBody>
          <a:bodyPr wrap="none" lIns="0" tIns="0" rIns="0" bIns="0">
            <a:spAutoFit/>
          </a:bodyPr>
          <a:lstStyle>
            <a:lvl1pPr latinLnBrk="1">
              <a:spcBef>
                <a:spcPct val="20000"/>
              </a:spcBef>
              <a:buFont typeface="Arial" panose="020B0604020202020204" pitchFamily="34" charset="0"/>
              <a:buChar char="•"/>
              <a:defRPr sz="3200">
                <a:solidFill>
                  <a:schemeClr val="tx1"/>
                </a:solidFill>
                <a:latin typeface="맑은 고딕" panose="020B0503020000020004" pitchFamily="50" charset="-127"/>
                <a:ea typeface="맑은 고딕" panose="020B0503020000020004" pitchFamily="50" charset="-127"/>
              </a:defRPr>
            </a:lvl1pPr>
            <a:lvl2pPr marL="742950" indent="-285750" latinLnBrk="1">
              <a:spcBef>
                <a:spcPct val="20000"/>
              </a:spcBef>
              <a:buFont typeface="Arial" panose="020B0604020202020204" pitchFamily="34" charset="0"/>
              <a:buChar char="–"/>
              <a:defRPr sz="2800">
                <a:solidFill>
                  <a:schemeClr val="tx1"/>
                </a:solidFill>
                <a:latin typeface="맑은 고딕" panose="020B0503020000020004" pitchFamily="50" charset="-127"/>
                <a:ea typeface="맑은 고딕" panose="020B0503020000020004" pitchFamily="50" charset="-127"/>
              </a:defRPr>
            </a:lvl2pPr>
            <a:lvl3pPr marL="1143000" indent="-228600" latinLnBrk="1">
              <a:spcBef>
                <a:spcPct val="20000"/>
              </a:spcBef>
              <a:buFont typeface="Arial" panose="020B0604020202020204" pitchFamily="34" charset="0"/>
              <a:buChar char="•"/>
              <a:defRPr sz="2400">
                <a:solidFill>
                  <a:schemeClr val="tx1"/>
                </a:solidFill>
                <a:latin typeface="맑은 고딕" panose="020B0503020000020004" pitchFamily="50" charset="-127"/>
                <a:ea typeface="맑은 고딕" panose="020B0503020000020004" pitchFamily="50" charset="-127"/>
              </a:defRPr>
            </a:lvl3pPr>
            <a:lvl4pPr marL="1600200" indent="-228600" latinLnBrk="1">
              <a:spcBef>
                <a:spcPct val="20000"/>
              </a:spcBef>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4pPr>
            <a:lvl5pPr marL="2057400" indent="-228600" latinLnBrk="1">
              <a:spcBef>
                <a:spcPct val="20000"/>
              </a:spcBef>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9pPr>
          </a:lstStyle>
          <a:p>
            <a:pPr algn="ctr" eaLnBrk="1" latinLnBrk="0" hangingPunct="1">
              <a:spcBef>
                <a:spcPct val="0"/>
              </a:spcBef>
              <a:spcAft>
                <a:spcPct val="30000"/>
              </a:spcAft>
              <a:buClr>
                <a:srgbClr val="7BA8D5"/>
              </a:buClr>
              <a:buFont typeface="Wingdings 2" panose="05020102010507070707" pitchFamily="18" charset="2"/>
              <a:buNone/>
            </a:pPr>
            <a:r>
              <a:rPr lang="ko-KR" altLang="en-US" sz="1000" dirty="0">
                <a:effectLst/>
                <a:latin typeface="+mn-ea"/>
                <a:ea typeface="+mn-ea"/>
              </a:rPr>
              <a:t>암복호화 키</a:t>
            </a:r>
            <a:r>
              <a:rPr lang="en-US" altLang="ko-KR" sz="1000" dirty="0">
                <a:effectLst/>
                <a:latin typeface="+mn-ea"/>
                <a:ea typeface="+mn-ea"/>
              </a:rPr>
              <a:t>,</a:t>
            </a:r>
            <a:br>
              <a:rPr lang="en-US" altLang="ko-KR" sz="1000" dirty="0">
                <a:effectLst/>
                <a:latin typeface="+mn-ea"/>
                <a:ea typeface="+mn-ea"/>
              </a:rPr>
            </a:br>
            <a:r>
              <a:rPr lang="ko-KR" altLang="en-US" sz="1000" dirty="0">
                <a:effectLst/>
                <a:latin typeface="+mn-ea"/>
                <a:ea typeface="+mn-ea"/>
              </a:rPr>
              <a:t>로그 및 정책관리</a:t>
            </a:r>
            <a:endParaRPr lang="en-US" altLang="ko-KR" sz="1000" dirty="0">
              <a:effectLst/>
              <a:latin typeface="+mn-ea"/>
              <a:ea typeface="+mn-ea"/>
            </a:endParaRPr>
          </a:p>
        </p:txBody>
      </p:sp>
      <p:grpSp>
        <p:nvGrpSpPr>
          <p:cNvPr id="89" name="그룹 88"/>
          <p:cNvGrpSpPr/>
          <p:nvPr/>
        </p:nvGrpSpPr>
        <p:grpSpPr>
          <a:xfrm>
            <a:off x="6938877" y="2167909"/>
            <a:ext cx="2327982" cy="2916296"/>
            <a:chOff x="6938877" y="3032984"/>
            <a:chExt cx="2327982" cy="2916296"/>
          </a:xfrm>
          <a:noFill/>
        </p:grpSpPr>
        <p:grpSp>
          <p:nvGrpSpPr>
            <p:cNvPr id="90" name="그룹 89"/>
            <p:cNvGrpSpPr/>
            <p:nvPr/>
          </p:nvGrpSpPr>
          <p:grpSpPr>
            <a:xfrm>
              <a:off x="8042859" y="5301280"/>
              <a:ext cx="1224000" cy="648000"/>
              <a:chOff x="8126939" y="5435057"/>
              <a:chExt cx="1224000" cy="648000"/>
            </a:xfrm>
            <a:grpFill/>
          </p:grpSpPr>
          <p:sp>
            <p:nvSpPr>
              <p:cNvPr id="105" name="순서도: 자기 디스크 104"/>
              <p:cNvSpPr/>
              <p:nvPr/>
            </p:nvSpPr>
            <p:spPr bwMode="auto">
              <a:xfrm>
                <a:off x="8126939" y="5435057"/>
                <a:ext cx="1224000" cy="648000"/>
              </a:xfrm>
              <a:prstGeom prst="flowChartMagneticDisk">
                <a:avLst/>
              </a:prstGeom>
              <a:grpFill/>
              <a:ln w="9525" cap="flat" cmpd="sng" algn="ctr">
                <a:solidFill>
                  <a:schemeClr val="bg1">
                    <a:lumMod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ko-KR" altLang="en-US" sz="1000" i="0" u="none" strike="noStrike" cap="none" normalizeH="0" baseline="0" smtClean="0">
                  <a:ln>
                    <a:noFill/>
                  </a:ln>
                  <a:effectLst/>
                  <a:latin typeface="+mn-ea"/>
                </a:endParaRPr>
              </a:p>
            </p:txBody>
          </p:sp>
          <p:sp>
            <p:nvSpPr>
              <p:cNvPr id="106" name="Rectangle 8"/>
              <p:cNvSpPr>
                <a:spLocks noChangeArrowheads="1"/>
              </p:cNvSpPr>
              <p:nvPr/>
            </p:nvSpPr>
            <p:spPr bwMode="gray">
              <a:xfrm>
                <a:off x="8518255" y="5435057"/>
                <a:ext cx="535783" cy="276225"/>
              </a:xfrm>
              <a:prstGeom prst="rect">
                <a:avLst/>
              </a:prstGeom>
              <a:grpFill/>
              <a:ln w="9525" algn="ctr">
                <a:noFill/>
                <a:miter lim="800000"/>
                <a:headEnd/>
                <a:tailEnd/>
              </a:ln>
            </p:spPr>
            <p:txBody>
              <a:bodyPr wrap="none" lIns="92075" tIns="46038" rIns="92075" bIns="46038" anchor="ctr"/>
              <a:lstStyle/>
              <a:p>
                <a:pPr algn="ctr" eaLnBrk="0" latinLnBrk="0" hangingPunct="0">
                  <a:spcBef>
                    <a:spcPct val="50000"/>
                  </a:spcBef>
                  <a:defRPr/>
                </a:pPr>
                <a:r>
                  <a:rPr lang="ko-KR" altLang="en-US" sz="1000" dirty="0" smtClean="0">
                    <a:latin typeface="+mn-ea"/>
                  </a:rPr>
                  <a:t>고객원장 테이블</a:t>
                </a:r>
                <a:endParaRPr lang="en-US" altLang="ko-KR" sz="1000" dirty="0" smtClean="0">
                  <a:latin typeface="+mn-ea"/>
                </a:endParaRPr>
              </a:p>
            </p:txBody>
          </p:sp>
          <p:sp>
            <p:nvSpPr>
              <p:cNvPr id="107" name="Rectangle 8"/>
              <p:cNvSpPr>
                <a:spLocks noChangeArrowheads="1"/>
              </p:cNvSpPr>
              <p:nvPr/>
            </p:nvSpPr>
            <p:spPr bwMode="gray">
              <a:xfrm>
                <a:off x="8319837" y="5708062"/>
                <a:ext cx="900000" cy="324000"/>
              </a:xfrm>
              <a:prstGeom prst="rect">
                <a:avLst/>
              </a:prstGeom>
              <a:grpFill/>
              <a:ln w="9525" algn="ctr">
                <a:solidFill>
                  <a:schemeClr val="bg1">
                    <a:lumMod val="65000"/>
                  </a:schemeClr>
                </a:solidFill>
                <a:miter lim="800000"/>
                <a:headEnd/>
                <a:tailEnd/>
              </a:ln>
            </p:spPr>
            <p:txBody>
              <a:bodyPr wrap="none" lIns="92075" tIns="46038" rIns="92075" bIns="46038" anchor="ctr"/>
              <a:lstStyle/>
              <a:p>
                <a:pPr algn="ctr" eaLnBrk="0" latinLnBrk="0" hangingPunct="0">
                  <a:spcBef>
                    <a:spcPct val="50000"/>
                  </a:spcBef>
                  <a:defRPr/>
                </a:pPr>
                <a:r>
                  <a:rPr lang="ko-KR" altLang="en-US" sz="1000" dirty="0" smtClean="0">
                    <a:latin typeface="+mn-ea"/>
                  </a:rPr>
                  <a:t>암호화 </a:t>
                </a:r>
                <a:r>
                  <a:rPr lang="en-US" altLang="ko-KR" sz="1000" dirty="0" smtClean="0">
                    <a:latin typeface="+mn-ea"/>
                  </a:rPr>
                  <a:t/>
                </a:r>
                <a:br>
                  <a:rPr lang="en-US" altLang="ko-KR" sz="1000" dirty="0" smtClean="0">
                    <a:latin typeface="+mn-ea"/>
                  </a:rPr>
                </a:br>
                <a:r>
                  <a:rPr lang="ko-KR" altLang="en-US" sz="1000" dirty="0" smtClean="0">
                    <a:latin typeface="+mn-ea"/>
                  </a:rPr>
                  <a:t>주민등록번호</a:t>
                </a:r>
                <a:endParaRPr lang="en-US" altLang="ko-KR" sz="1000" dirty="0" smtClean="0">
                  <a:latin typeface="+mn-ea"/>
                </a:endParaRPr>
              </a:p>
            </p:txBody>
          </p:sp>
        </p:grpSp>
        <p:sp>
          <p:nvSpPr>
            <p:cNvPr id="91" name="Rectangle 8"/>
            <p:cNvSpPr>
              <a:spLocks noChangeArrowheads="1"/>
            </p:cNvSpPr>
            <p:nvPr/>
          </p:nvSpPr>
          <p:spPr bwMode="gray">
            <a:xfrm>
              <a:off x="7483790" y="3286281"/>
              <a:ext cx="1103310" cy="276225"/>
            </a:xfrm>
            <a:prstGeom prst="rect">
              <a:avLst/>
            </a:prstGeom>
            <a:grpFill/>
            <a:ln w="9525" algn="ctr">
              <a:noFill/>
              <a:miter lim="800000"/>
              <a:headEnd/>
              <a:tailEnd/>
            </a:ln>
          </p:spPr>
          <p:txBody>
            <a:bodyPr wrap="square" lIns="0" tIns="36000" rIns="0" bIns="36000" anchor="ctr"/>
            <a:lstStyle/>
            <a:p>
              <a:pPr algn="r" eaLnBrk="0" latinLnBrk="0" hangingPunct="0">
                <a:spcBef>
                  <a:spcPct val="50000"/>
                </a:spcBef>
                <a:defRPr/>
              </a:pPr>
              <a:r>
                <a:rPr lang="ko-KR" altLang="en-US" sz="1000" dirty="0" smtClean="0">
                  <a:latin typeface="+mn-ea"/>
                </a:rPr>
                <a:t>입력 전문</a:t>
              </a:r>
              <a:endParaRPr lang="en-US" altLang="ko-KR" sz="1000" dirty="0" smtClean="0">
                <a:latin typeface="+mn-ea"/>
              </a:endParaRPr>
            </a:p>
          </p:txBody>
        </p:sp>
        <p:sp>
          <p:nvSpPr>
            <p:cNvPr id="93" name="Rectangle 8"/>
            <p:cNvSpPr>
              <a:spLocks noChangeArrowheads="1"/>
            </p:cNvSpPr>
            <p:nvPr/>
          </p:nvSpPr>
          <p:spPr bwMode="gray">
            <a:xfrm>
              <a:off x="6938877" y="4181139"/>
              <a:ext cx="943370" cy="276225"/>
            </a:xfrm>
            <a:prstGeom prst="rect">
              <a:avLst/>
            </a:prstGeom>
            <a:grpFill/>
            <a:ln w="9525" algn="ctr">
              <a:noFill/>
              <a:miter lim="800000"/>
              <a:headEnd/>
              <a:tailEnd/>
            </a:ln>
          </p:spPr>
          <p:txBody>
            <a:bodyPr wrap="square" lIns="0" tIns="36000" rIns="0" bIns="36000" anchor="ctr"/>
            <a:lstStyle/>
            <a:p>
              <a:pPr algn="ctr" eaLnBrk="0" latinLnBrk="0" hangingPunct="0">
                <a:spcBef>
                  <a:spcPct val="50000"/>
                </a:spcBef>
                <a:defRPr/>
              </a:pPr>
              <a:r>
                <a:rPr lang="ko-KR" altLang="en-US" sz="1000" dirty="0" smtClean="0">
                  <a:latin typeface="+mn-ea"/>
                </a:rPr>
                <a:t>①주민등록번호</a:t>
              </a:r>
              <a:r>
                <a:rPr lang="en-US" altLang="ko-KR" sz="1000" dirty="0" smtClean="0">
                  <a:latin typeface="+mn-ea"/>
                </a:rPr>
                <a:t/>
              </a:r>
              <a:br>
                <a:rPr lang="en-US" altLang="ko-KR" sz="1000" dirty="0" smtClean="0">
                  <a:latin typeface="+mn-ea"/>
                </a:rPr>
              </a:br>
              <a:r>
                <a:rPr lang="en-US" altLang="ko-KR" sz="1000" dirty="0" smtClean="0">
                  <a:latin typeface="+mn-ea"/>
                </a:rPr>
                <a:t>(</a:t>
              </a:r>
              <a:r>
                <a:rPr lang="ko-KR" altLang="en-US" sz="1000" dirty="0" smtClean="0">
                  <a:latin typeface="+mn-ea"/>
                </a:rPr>
                <a:t>암호화 요청</a:t>
              </a:r>
              <a:r>
                <a:rPr lang="en-US" altLang="ko-KR" sz="1000" dirty="0" smtClean="0">
                  <a:latin typeface="+mn-ea"/>
                </a:rPr>
                <a:t>)</a:t>
              </a:r>
            </a:p>
          </p:txBody>
        </p:sp>
        <p:cxnSp>
          <p:nvCxnSpPr>
            <p:cNvPr id="94" name="직선 화살표 연결선 93"/>
            <p:cNvCxnSpPr/>
            <p:nvPr/>
          </p:nvCxnSpPr>
          <p:spPr bwMode="auto">
            <a:xfrm>
              <a:off x="6983928" y="4504991"/>
              <a:ext cx="1008000" cy="0"/>
            </a:xfrm>
            <a:prstGeom prst="straightConnector1">
              <a:avLst/>
            </a:prstGeom>
            <a:grpFill/>
            <a:ln w="15875" cap="flat" cmpd="sng" algn="ctr">
              <a:solidFill>
                <a:srgbClr val="800000"/>
              </a:solidFill>
              <a:prstDash val="solid"/>
              <a:round/>
              <a:headEnd type="triangle" w="med" len="med"/>
              <a:tailEnd type="none"/>
            </a:ln>
            <a:effectLst/>
          </p:spPr>
        </p:cxnSp>
        <p:cxnSp>
          <p:nvCxnSpPr>
            <p:cNvPr id="95" name="직선 화살표 연결선 94"/>
            <p:cNvCxnSpPr/>
            <p:nvPr/>
          </p:nvCxnSpPr>
          <p:spPr bwMode="auto">
            <a:xfrm>
              <a:off x="7002978" y="4666916"/>
              <a:ext cx="1008000" cy="0"/>
            </a:xfrm>
            <a:prstGeom prst="straightConnector1">
              <a:avLst/>
            </a:prstGeom>
            <a:grpFill/>
            <a:ln w="15875" cap="flat" cmpd="sng" algn="ctr">
              <a:solidFill>
                <a:srgbClr val="800000"/>
              </a:solidFill>
              <a:prstDash val="solid"/>
              <a:round/>
              <a:headEnd type="none" w="med" len="med"/>
              <a:tailEnd type="triangle"/>
            </a:ln>
            <a:effectLst/>
          </p:spPr>
        </p:cxnSp>
        <p:sp>
          <p:nvSpPr>
            <p:cNvPr id="96" name="Rectangle 8"/>
            <p:cNvSpPr>
              <a:spLocks noChangeArrowheads="1"/>
            </p:cNvSpPr>
            <p:nvPr/>
          </p:nvSpPr>
          <p:spPr bwMode="gray">
            <a:xfrm>
              <a:off x="6938877" y="4747461"/>
              <a:ext cx="914400" cy="276225"/>
            </a:xfrm>
            <a:prstGeom prst="rect">
              <a:avLst/>
            </a:prstGeom>
            <a:grpFill/>
            <a:ln w="9525" algn="ctr">
              <a:noFill/>
              <a:miter lim="800000"/>
              <a:headEnd/>
              <a:tailEnd/>
            </a:ln>
          </p:spPr>
          <p:txBody>
            <a:bodyPr wrap="square" lIns="0" tIns="36000" rIns="0" bIns="36000" anchor="ctr"/>
            <a:lstStyle/>
            <a:p>
              <a:pPr algn="ctr" eaLnBrk="0" latinLnBrk="0" hangingPunct="0">
                <a:spcBef>
                  <a:spcPct val="50000"/>
                </a:spcBef>
                <a:defRPr/>
              </a:pPr>
              <a:r>
                <a:rPr lang="ko-KR" altLang="en-US" sz="1000" dirty="0" smtClean="0">
                  <a:latin typeface="+mn-ea"/>
                </a:rPr>
                <a:t>②주민등록번호</a:t>
              </a:r>
              <a:r>
                <a:rPr lang="en-US" altLang="ko-KR" sz="1000" dirty="0" smtClean="0">
                  <a:latin typeface="+mn-ea"/>
                </a:rPr>
                <a:t/>
              </a:r>
              <a:br>
                <a:rPr lang="en-US" altLang="ko-KR" sz="1000" dirty="0" smtClean="0">
                  <a:latin typeface="+mn-ea"/>
                </a:rPr>
              </a:br>
              <a:r>
                <a:rPr lang="en-US" altLang="ko-KR" sz="1000" dirty="0" smtClean="0">
                  <a:latin typeface="+mn-ea"/>
                </a:rPr>
                <a:t>(</a:t>
              </a:r>
              <a:r>
                <a:rPr lang="ko-KR" altLang="en-US" sz="1000" dirty="0" smtClean="0">
                  <a:latin typeface="+mn-ea"/>
                </a:rPr>
                <a:t>암호화</a:t>
              </a:r>
              <a:r>
                <a:rPr lang="en-US" altLang="ko-KR" sz="1000" dirty="0" smtClean="0">
                  <a:latin typeface="+mn-ea"/>
                </a:rPr>
                <a:t>)</a:t>
              </a:r>
            </a:p>
          </p:txBody>
        </p:sp>
        <p:sp>
          <p:nvSpPr>
            <p:cNvPr id="97" name="Rectangle 8"/>
            <p:cNvSpPr>
              <a:spLocks noChangeArrowheads="1"/>
            </p:cNvSpPr>
            <p:nvPr/>
          </p:nvSpPr>
          <p:spPr bwMode="gray">
            <a:xfrm>
              <a:off x="8015873" y="4389917"/>
              <a:ext cx="1224000" cy="432000"/>
            </a:xfrm>
            <a:prstGeom prst="rect">
              <a:avLst/>
            </a:prstGeom>
            <a:grpFill/>
            <a:ln w="3175">
              <a:solidFill>
                <a:schemeClr val="bg1">
                  <a:lumMod val="50000"/>
                </a:schemeClr>
              </a:solidFill>
              <a:miter lim="800000"/>
              <a:headEnd/>
              <a:tailEnd/>
            </a:ln>
          </p:spPr>
          <p:txBody>
            <a:bodyPr wrap="none" rtlCol="0" anchor="ctr"/>
            <a:lstStyle/>
            <a:p>
              <a:pPr algn="ctr" eaLnBrk="1" latinLnBrk="1" hangingPunct="1"/>
              <a:r>
                <a:rPr lang="ko-KR" altLang="en-US" sz="1000" b="1" dirty="0">
                  <a:latin typeface="+mn-ea"/>
                </a:rPr>
                <a:t>업무 </a:t>
              </a:r>
              <a:r>
                <a:rPr lang="en-US" altLang="ko-KR" sz="1000" b="1" dirty="0">
                  <a:latin typeface="+mn-ea"/>
                </a:rPr>
                <a:t> </a:t>
              </a:r>
              <a:r>
                <a:rPr lang="ko-KR" altLang="en-US" sz="1000" b="1" dirty="0">
                  <a:latin typeface="+mn-ea"/>
                </a:rPr>
                <a:t>프로그램</a:t>
              </a:r>
              <a:endParaRPr lang="en-US" altLang="ko-KR" sz="1000" b="1" dirty="0">
                <a:latin typeface="+mn-ea"/>
              </a:endParaRPr>
            </a:p>
          </p:txBody>
        </p:sp>
        <p:sp>
          <p:nvSpPr>
            <p:cNvPr id="98" name="Rectangle 8"/>
            <p:cNvSpPr>
              <a:spLocks noChangeArrowheads="1"/>
            </p:cNvSpPr>
            <p:nvPr/>
          </p:nvSpPr>
          <p:spPr bwMode="gray">
            <a:xfrm>
              <a:off x="7869456" y="3954076"/>
              <a:ext cx="1188000" cy="276225"/>
            </a:xfrm>
            <a:prstGeom prst="rect">
              <a:avLst/>
            </a:prstGeom>
            <a:grpFill/>
            <a:ln w="9525" algn="ctr">
              <a:noFill/>
              <a:miter lim="800000"/>
              <a:headEnd/>
              <a:tailEnd/>
            </a:ln>
          </p:spPr>
          <p:txBody>
            <a:bodyPr wrap="square" lIns="0" tIns="36000" rIns="0" bIns="36000" anchor="ctr"/>
            <a:lstStyle/>
            <a:p>
              <a:pPr algn="ctr" eaLnBrk="0" latinLnBrk="0" hangingPunct="0">
                <a:spcBef>
                  <a:spcPct val="50000"/>
                </a:spcBef>
                <a:defRPr/>
              </a:pPr>
              <a:r>
                <a:rPr lang="ko-KR" altLang="en-US" sz="1000" dirty="0" smtClean="0">
                  <a:latin typeface="+mn-ea"/>
                </a:rPr>
                <a:t>주민등록번호 </a:t>
              </a:r>
              <a:r>
                <a:rPr lang="en-US" altLang="ko-KR" sz="1000" dirty="0" smtClean="0">
                  <a:latin typeface="+mn-ea"/>
                </a:rPr>
                <a:t> (</a:t>
              </a:r>
              <a:r>
                <a:rPr lang="ko-KR" altLang="en-US" sz="1000" dirty="0" err="1" smtClean="0">
                  <a:latin typeface="+mn-ea"/>
                </a:rPr>
                <a:t>평문</a:t>
              </a:r>
              <a:r>
                <a:rPr lang="en-US" altLang="ko-KR" sz="1000" dirty="0" smtClean="0">
                  <a:latin typeface="+mn-ea"/>
                </a:rPr>
                <a:t>)</a:t>
              </a:r>
            </a:p>
          </p:txBody>
        </p:sp>
        <p:cxnSp>
          <p:nvCxnSpPr>
            <p:cNvPr id="99" name="직선 화살표 연결선 98"/>
            <p:cNvCxnSpPr/>
            <p:nvPr/>
          </p:nvCxnSpPr>
          <p:spPr bwMode="auto">
            <a:xfrm rot="5400000">
              <a:off x="8407846" y="3501032"/>
              <a:ext cx="432000" cy="0"/>
            </a:xfrm>
            <a:prstGeom prst="straightConnector1">
              <a:avLst/>
            </a:prstGeom>
            <a:grpFill/>
            <a:ln w="12700" cap="flat" cmpd="sng" algn="ctr">
              <a:solidFill>
                <a:srgbClr val="544F3F"/>
              </a:solidFill>
              <a:prstDash val="solid"/>
              <a:round/>
              <a:headEnd type="none" w="med" len="med"/>
              <a:tailEnd type="triangle"/>
            </a:ln>
            <a:effectLst/>
          </p:spPr>
        </p:cxnSp>
        <p:cxnSp>
          <p:nvCxnSpPr>
            <p:cNvPr id="100" name="직선 화살표 연결선 99"/>
            <p:cNvCxnSpPr/>
            <p:nvPr/>
          </p:nvCxnSpPr>
          <p:spPr bwMode="auto">
            <a:xfrm rot="5400000">
              <a:off x="8407846" y="4188161"/>
              <a:ext cx="432000" cy="0"/>
            </a:xfrm>
            <a:prstGeom prst="straightConnector1">
              <a:avLst/>
            </a:prstGeom>
            <a:grpFill/>
            <a:ln w="12700" cap="flat" cmpd="sng" algn="ctr">
              <a:solidFill>
                <a:srgbClr val="544F3F"/>
              </a:solidFill>
              <a:prstDash val="solid"/>
              <a:round/>
              <a:headEnd type="none" w="med" len="med"/>
              <a:tailEnd type="triangle"/>
            </a:ln>
            <a:effectLst/>
          </p:spPr>
        </p:cxnSp>
        <p:cxnSp>
          <p:nvCxnSpPr>
            <p:cNvPr id="101" name="직선 화살표 연결선 100"/>
            <p:cNvCxnSpPr/>
            <p:nvPr/>
          </p:nvCxnSpPr>
          <p:spPr bwMode="auto">
            <a:xfrm rot="5400000">
              <a:off x="8371846" y="5080682"/>
              <a:ext cx="504000" cy="0"/>
            </a:xfrm>
            <a:prstGeom prst="straightConnector1">
              <a:avLst/>
            </a:prstGeom>
            <a:grpFill/>
            <a:ln w="15875" cap="flat" cmpd="sng" algn="ctr">
              <a:solidFill>
                <a:srgbClr val="800000"/>
              </a:solidFill>
              <a:prstDash val="solid"/>
              <a:round/>
              <a:headEnd type="none" w="med" len="med"/>
              <a:tailEnd type="triangle"/>
            </a:ln>
            <a:effectLst/>
          </p:spPr>
        </p:cxnSp>
        <p:sp>
          <p:nvSpPr>
            <p:cNvPr id="102" name="Rectangle 8"/>
            <p:cNvSpPr>
              <a:spLocks noChangeArrowheads="1"/>
            </p:cNvSpPr>
            <p:nvPr/>
          </p:nvSpPr>
          <p:spPr bwMode="gray">
            <a:xfrm>
              <a:off x="7772377" y="4906143"/>
              <a:ext cx="1297794" cy="276225"/>
            </a:xfrm>
            <a:prstGeom prst="rect">
              <a:avLst/>
            </a:prstGeom>
            <a:grpFill/>
            <a:ln w="9525" algn="ctr">
              <a:noFill/>
              <a:miter lim="800000"/>
              <a:headEnd/>
              <a:tailEnd/>
            </a:ln>
          </p:spPr>
          <p:txBody>
            <a:bodyPr wrap="square" lIns="0" tIns="36000" rIns="0" bIns="36000" anchor="ctr"/>
            <a:lstStyle/>
            <a:p>
              <a:pPr algn="ctr">
                <a:spcBef>
                  <a:spcPct val="50000"/>
                </a:spcBef>
                <a:defRPr/>
              </a:pPr>
              <a:r>
                <a:rPr lang="ko-KR" altLang="en-US" sz="1000" dirty="0">
                  <a:latin typeface="+mn-ea"/>
                </a:rPr>
                <a:t>③ 주민등록번호</a:t>
              </a:r>
              <a:r>
                <a:rPr lang="en-US" altLang="ko-KR" sz="1000" dirty="0" smtClean="0">
                  <a:latin typeface="+mn-ea"/>
                </a:rPr>
                <a:t>  (</a:t>
              </a:r>
              <a:r>
                <a:rPr lang="ko-KR" altLang="en-US" sz="1000" dirty="0" smtClean="0">
                  <a:latin typeface="+mn-ea"/>
                </a:rPr>
                <a:t>암호</a:t>
              </a:r>
              <a:r>
                <a:rPr lang="ko-KR" altLang="en-US" sz="1000" dirty="0">
                  <a:latin typeface="+mn-ea"/>
                </a:rPr>
                <a:t>화</a:t>
              </a:r>
              <a:r>
                <a:rPr lang="en-US" altLang="ko-KR" sz="1000" dirty="0" smtClean="0">
                  <a:latin typeface="+mn-ea"/>
                </a:rPr>
                <a:t>)</a:t>
              </a:r>
            </a:p>
          </p:txBody>
        </p:sp>
        <p:sp>
          <p:nvSpPr>
            <p:cNvPr id="103" name="Rectangle 8"/>
            <p:cNvSpPr>
              <a:spLocks noChangeArrowheads="1"/>
            </p:cNvSpPr>
            <p:nvPr/>
          </p:nvSpPr>
          <p:spPr bwMode="gray">
            <a:xfrm>
              <a:off x="8015873" y="3712586"/>
              <a:ext cx="1224000" cy="252000"/>
            </a:xfrm>
            <a:prstGeom prst="rect">
              <a:avLst/>
            </a:prstGeom>
            <a:grpFill/>
            <a:ln w="9525" algn="ctr">
              <a:solidFill>
                <a:schemeClr val="bg1">
                  <a:lumMod val="50000"/>
                </a:schemeClr>
              </a:solidFill>
              <a:miter lim="800000"/>
              <a:headEnd/>
              <a:tailEnd/>
            </a:ln>
          </p:spPr>
          <p:txBody>
            <a:bodyPr wrap="square" lIns="92075" tIns="46038" rIns="92075" bIns="46038" anchor="ctr"/>
            <a:lstStyle/>
            <a:p>
              <a:pPr algn="ctr" eaLnBrk="0" latinLnBrk="0" hangingPunct="0">
                <a:spcBef>
                  <a:spcPct val="50000"/>
                </a:spcBef>
                <a:defRPr/>
              </a:pPr>
              <a:r>
                <a:rPr lang="ko-KR" altLang="en-US" sz="1000" dirty="0" smtClean="0">
                  <a:latin typeface="+mn-ea"/>
                </a:rPr>
                <a:t>채널</a:t>
              </a:r>
              <a:r>
                <a:rPr lang="en-US" altLang="ko-KR" sz="1000" dirty="0" smtClean="0">
                  <a:latin typeface="+mn-ea"/>
                </a:rPr>
                <a:t>(MCI)</a:t>
              </a:r>
            </a:p>
          </p:txBody>
        </p:sp>
        <p:sp>
          <p:nvSpPr>
            <p:cNvPr id="104" name="모서리가 둥근 직사각형 103"/>
            <p:cNvSpPr/>
            <p:nvPr/>
          </p:nvSpPr>
          <p:spPr bwMode="auto">
            <a:xfrm>
              <a:off x="8015873" y="3032984"/>
              <a:ext cx="1224000" cy="252000"/>
            </a:xfrm>
            <a:prstGeom prst="roundRect">
              <a:avLst/>
            </a:prstGeom>
            <a:grpFill/>
            <a:ln w="9525" algn="ctr">
              <a:solidFill>
                <a:schemeClr val="bg1">
                  <a:lumMod val="50000"/>
                </a:schemeClr>
              </a:solidFill>
              <a:miter lim="800000"/>
              <a:headEnd/>
              <a:tailEnd/>
            </a:ln>
          </p:spPr>
          <p:txBody>
            <a:bodyPr wrap="square" lIns="92075" tIns="46038" rIns="92075" bIns="46038" anchor="ctr"/>
            <a:lstStyle/>
            <a:p>
              <a:pPr algn="ctr">
                <a:spcBef>
                  <a:spcPct val="50000"/>
                </a:spcBef>
              </a:pPr>
              <a:r>
                <a:rPr lang="ko-KR" altLang="en-US" sz="1000" dirty="0">
                  <a:latin typeface="+mn-ea"/>
                </a:rPr>
                <a:t>단말</a:t>
              </a:r>
              <a:r>
                <a:rPr lang="en-US" altLang="ko-KR" sz="1000" dirty="0">
                  <a:latin typeface="+mn-ea"/>
                </a:rPr>
                <a:t>(User)</a:t>
              </a:r>
              <a:endParaRPr lang="ko-KR" altLang="en-US" sz="1000" dirty="0">
                <a:latin typeface="+mn-ea"/>
              </a:endParaRPr>
            </a:p>
          </p:txBody>
        </p:sp>
      </p:grpSp>
      <p:sp>
        <p:nvSpPr>
          <p:cNvPr id="112" name="직사각형 142"/>
          <p:cNvSpPr>
            <a:spLocks noChangeArrowheads="1"/>
          </p:cNvSpPr>
          <p:nvPr/>
        </p:nvSpPr>
        <p:spPr bwMode="auto">
          <a:xfrm>
            <a:off x="3424039" y="1952836"/>
            <a:ext cx="448841" cy="153888"/>
          </a:xfrm>
          <a:prstGeom prst="rect">
            <a:avLst/>
          </a:prstGeom>
          <a:noFill/>
          <a:ln>
            <a:noFill/>
          </a:ln>
          <a:extLst/>
        </p:spPr>
        <p:txBody>
          <a:bodyPr wrap="none" lIns="0" tIns="0" rIns="0" bIns="0">
            <a:spAutoFit/>
          </a:bodyPr>
          <a:lstStyle>
            <a:lvl1pPr latinLnBrk="1">
              <a:spcBef>
                <a:spcPct val="20000"/>
              </a:spcBef>
              <a:buFont typeface="Arial" panose="020B0604020202020204" pitchFamily="34" charset="0"/>
              <a:buChar char="•"/>
              <a:defRPr sz="3200">
                <a:solidFill>
                  <a:schemeClr val="tx1"/>
                </a:solidFill>
                <a:latin typeface="맑은 고딕" panose="020B0503020000020004" pitchFamily="50" charset="-127"/>
                <a:ea typeface="맑은 고딕" panose="020B0503020000020004" pitchFamily="50" charset="-127"/>
              </a:defRPr>
            </a:lvl1pPr>
            <a:lvl2pPr marL="742950" indent="-285750" latinLnBrk="1">
              <a:spcBef>
                <a:spcPct val="20000"/>
              </a:spcBef>
              <a:buFont typeface="Arial" panose="020B0604020202020204" pitchFamily="34" charset="0"/>
              <a:buChar char="–"/>
              <a:defRPr sz="2800">
                <a:solidFill>
                  <a:schemeClr val="tx1"/>
                </a:solidFill>
                <a:latin typeface="맑은 고딕" panose="020B0503020000020004" pitchFamily="50" charset="-127"/>
                <a:ea typeface="맑은 고딕" panose="020B0503020000020004" pitchFamily="50" charset="-127"/>
              </a:defRPr>
            </a:lvl2pPr>
            <a:lvl3pPr marL="1143000" indent="-228600" latinLnBrk="1">
              <a:spcBef>
                <a:spcPct val="20000"/>
              </a:spcBef>
              <a:buFont typeface="Arial" panose="020B0604020202020204" pitchFamily="34" charset="0"/>
              <a:buChar char="•"/>
              <a:defRPr sz="2400">
                <a:solidFill>
                  <a:schemeClr val="tx1"/>
                </a:solidFill>
                <a:latin typeface="맑은 고딕" panose="020B0503020000020004" pitchFamily="50" charset="-127"/>
                <a:ea typeface="맑은 고딕" panose="020B0503020000020004" pitchFamily="50" charset="-127"/>
              </a:defRPr>
            </a:lvl3pPr>
            <a:lvl4pPr marL="1600200" indent="-228600" latinLnBrk="1">
              <a:spcBef>
                <a:spcPct val="20000"/>
              </a:spcBef>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4pPr>
            <a:lvl5pPr marL="2057400" indent="-228600" latinLnBrk="1">
              <a:spcBef>
                <a:spcPct val="20000"/>
              </a:spcBef>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9pPr>
          </a:lstStyle>
          <a:p>
            <a:pPr algn="ctr" eaLnBrk="1" latinLnBrk="0" hangingPunct="1">
              <a:spcBef>
                <a:spcPct val="0"/>
              </a:spcBef>
              <a:spcAft>
                <a:spcPct val="30000"/>
              </a:spcAft>
              <a:buClr>
                <a:srgbClr val="7BA8D5"/>
              </a:buClr>
              <a:buFont typeface="Wingdings 2" panose="05020102010507070707" pitchFamily="18" charset="2"/>
              <a:buNone/>
            </a:pPr>
            <a:r>
              <a:rPr lang="ko-KR" altLang="en-US" sz="1000" dirty="0">
                <a:effectLst/>
                <a:latin typeface="+mn-ea"/>
                <a:ea typeface="+mn-ea"/>
              </a:rPr>
              <a:t>업무서버</a:t>
            </a:r>
          </a:p>
        </p:txBody>
      </p:sp>
      <p:sp>
        <p:nvSpPr>
          <p:cNvPr id="113" name="모서리가 둥근 직사각형 112"/>
          <p:cNvSpPr/>
          <p:nvPr/>
        </p:nvSpPr>
        <p:spPr>
          <a:xfrm>
            <a:off x="2745871" y="2584283"/>
            <a:ext cx="1704975" cy="864000"/>
          </a:xfrm>
          <a:prstGeom prst="roundRect">
            <a:avLst>
              <a:gd name="adj" fmla="val 3998"/>
            </a:avLst>
          </a:prstGeom>
          <a:noFill/>
          <a:ln w="19050">
            <a:solidFill>
              <a:srgbClr val="BFBFBF"/>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kumimoji="0" lang="ko-KR" altLang="en-US" sz="1000" dirty="0">
              <a:solidFill>
                <a:schemeClr val="tx1"/>
              </a:solidFill>
              <a:effectLst/>
              <a:latin typeface="+mn-ea"/>
            </a:endParaRPr>
          </a:p>
        </p:txBody>
      </p:sp>
      <p:sp>
        <p:nvSpPr>
          <p:cNvPr id="114" name="모서리가 둥근 직사각형 50"/>
          <p:cNvSpPr>
            <a:spLocks noChangeArrowheads="1"/>
          </p:cNvSpPr>
          <p:nvPr/>
        </p:nvSpPr>
        <p:spPr bwMode="auto">
          <a:xfrm>
            <a:off x="2950658" y="2485341"/>
            <a:ext cx="1295400" cy="241300"/>
          </a:xfrm>
          <a:prstGeom prst="roundRect">
            <a:avLst>
              <a:gd name="adj" fmla="val 16667"/>
            </a:avLst>
          </a:prstGeom>
          <a:solidFill>
            <a:schemeClr val="bg1"/>
          </a:solidFill>
          <a:ln w="19050" algn="ctr">
            <a:solidFill>
              <a:srgbClr val="BFBFBF"/>
            </a:solidFill>
            <a:round/>
            <a:headEnd/>
            <a:tailEnd/>
          </a:ln>
        </p:spPr>
        <p:txBody>
          <a:bodyPr lIns="0" tIns="0" rIns="0" bIns="0" anchor="ctr"/>
          <a:lstStyle>
            <a:lvl1pPr latinLnBrk="1">
              <a:spcBef>
                <a:spcPct val="20000"/>
              </a:spcBef>
              <a:buFont typeface="Arial" panose="020B0604020202020204" pitchFamily="34" charset="0"/>
              <a:buChar char="•"/>
              <a:defRPr sz="3200">
                <a:solidFill>
                  <a:schemeClr val="tx1"/>
                </a:solidFill>
                <a:latin typeface="맑은 고딕" panose="020B0503020000020004" pitchFamily="50" charset="-127"/>
                <a:ea typeface="맑은 고딕" panose="020B0503020000020004" pitchFamily="50" charset="-127"/>
              </a:defRPr>
            </a:lvl1pPr>
            <a:lvl2pPr indent="-285750" latinLnBrk="1">
              <a:spcBef>
                <a:spcPct val="20000"/>
              </a:spcBef>
              <a:buFont typeface="Arial" panose="020B0604020202020204" pitchFamily="34" charset="0"/>
              <a:buChar char="–"/>
              <a:defRPr sz="2800">
                <a:solidFill>
                  <a:schemeClr val="tx1"/>
                </a:solidFill>
                <a:latin typeface="맑은 고딕" panose="020B0503020000020004" pitchFamily="50" charset="-127"/>
                <a:ea typeface="맑은 고딕" panose="020B0503020000020004" pitchFamily="50" charset="-127"/>
              </a:defRPr>
            </a:lvl2pPr>
            <a:lvl3pPr indent="-228600" latinLnBrk="1">
              <a:spcBef>
                <a:spcPct val="20000"/>
              </a:spcBef>
              <a:buFont typeface="Arial" panose="020B0604020202020204" pitchFamily="34" charset="0"/>
              <a:buChar char="•"/>
              <a:defRPr sz="2400">
                <a:solidFill>
                  <a:schemeClr val="tx1"/>
                </a:solidFill>
                <a:latin typeface="맑은 고딕" panose="020B0503020000020004" pitchFamily="50" charset="-127"/>
                <a:ea typeface="맑은 고딕" panose="020B0503020000020004" pitchFamily="50" charset="-127"/>
              </a:defRPr>
            </a:lvl3pPr>
            <a:lvl4pPr indent="-228600" latinLnBrk="1">
              <a:spcBef>
                <a:spcPct val="20000"/>
              </a:spcBef>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4pPr>
            <a:lvl5pPr indent="-228600" latinLnBrk="1">
              <a:spcBef>
                <a:spcPct val="20000"/>
              </a:spcBef>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5pPr>
            <a:lvl6pPr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6pPr>
            <a:lvl7pPr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7pPr>
            <a:lvl8pPr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8pPr>
            <a:lvl9pPr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9pPr>
          </a:lstStyle>
          <a:p>
            <a:pPr algn="ctr" eaLnBrk="1" latinLnBrk="0" hangingPunct="1">
              <a:spcBef>
                <a:spcPct val="0"/>
              </a:spcBef>
              <a:spcAft>
                <a:spcPct val="30000"/>
              </a:spcAft>
              <a:buClr>
                <a:srgbClr val="7BA8D5"/>
              </a:buClr>
              <a:buFont typeface="Wingdings 2" panose="05020102010507070707" pitchFamily="18" charset="2"/>
              <a:buNone/>
            </a:pPr>
            <a:r>
              <a:rPr kumimoji="0" lang="ko-KR" altLang="en-US" sz="1000" dirty="0">
                <a:effectLst/>
                <a:latin typeface="+mn-ea"/>
                <a:ea typeface="+mn-ea"/>
                <a:cs typeface="Times New Roman" panose="02020603050405020304" pitchFamily="18" charset="0"/>
              </a:rPr>
              <a:t>기존 </a:t>
            </a:r>
            <a:r>
              <a:rPr kumimoji="0" lang="en-US" altLang="ko-KR" sz="1000" dirty="0">
                <a:effectLst/>
                <a:latin typeface="+mn-ea"/>
                <a:ea typeface="+mn-ea"/>
                <a:cs typeface="Times New Roman" panose="02020603050405020304" pitchFamily="18" charset="0"/>
              </a:rPr>
              <a:t>Application</a:t>
            </a:r>
            <a:endParaRPr kumimoji="0" lang="ko-KR" altLang="en-US" sz="1000">
              <a:effectLst/>
              <a:latin typeface="+mn-ea"/>
              <a:ea typeface="+mn-ea"/>
              <a:cs typeface="Times New Roman" panose="02020603050405020304" pitchFamily="18" charset="0"/>
            </a:endParaRPr>
          </a:p>
        </p:txBody>
      </p:sp>
      <p:sp>
        <p:nvSpPr>
          <p:cNvPr id="115" name="AutoShape 9"/>
          <p:cNvSpPr>
            <a:spLocks noChangeArrowheads="1"/>
          </p:cNvSpPr>
          <p:nvPr/>
        </p:nvSpPr>
        <p:spPr bwMode="auto">
          <a:xfrm>
            <a:off x="2917321" y="2877828"/>
            <a:ext cx="1362075" cy="400050"/>
          </a:xfrm>
          <a:prstGeom prst="roundRect">
            <a:avLst>
              <a:gd name="adj" fmla="val 8375"/>
            </a:avLst>
          </a:prstGeom>
          <a:noFill/>
          <a:ln w="3175">
            <a:solidFill>
              <a:schemeClr val="bg1">
                <a:lumMod val="50000"/>
              </a:schemeClr>
            </a:solidFill>
            <a:miter lim="800000"/>
            <a:headEnd/>
            <a:tailEnd/>
          </a:ln>
          <a:extLst/>
        </p:spPr>
        <p:txBody>
          <a:bodyPr wrap="none" rtlCol="0" anchor="ctr"/>
          <a:lstStyle/>
          <a:p>
            <a:pPr algn="ctr" eaLnBrk="1" latinLnBrk="1" hangingPunct="1"/>
            <a:r>
              <a:rPr lang="ko-KR" altLang="en-US" sz="1000" b="1" dirty="0">
                <a:latin typeface="+mn-ea"/>
              </a:rPr>
              <a:t>암</a:t>
            </a:r>
            <a:r>
              <a:rPr lang="en-US" altLang="ko-KR" sz="1000" b="1" dirty="0">
                <a:latin typeface="+mn-ea"/>
              </a:rPr>
              <a:t>/</a:t>
            </a:r>
            <a:r>
              <a:rPr lang="ko-KR" altLang="en-US" sz="1000" b="1" dirty="0" err="1">
                <a:latin typeface="+mn-ea"/>
              </a:rPr>
              <a:t>복호화</a:t>
            </a:r>
            <a:r>
              <a:rPr lang="ko-KR" altLang="en-US" sz="1000" b="1" dirty="0">
                <a:latin typeface="+mn-ea"/>
              </a:rPr>
              <a:t> 요청</a:t>
            </a:r>
            <a:r>
              <a:rPr lang="en-US" altLang="ko-KR" sz="1000" b="1">
                <a:latin typeface="+mn-ea"/>
              </a:rPr>
              <a:t/>
            </a:r>
            <a:br>
              <a:rPr lang="en-US" altLang="ko-KR" sz="1000" b="1">
                <a:latin typeface="+mn-ea"/>
              </a:rPr>
            </a:br>
            <a:r>
              <a:rPr lang="en-US" altLang="ko-KR" sz="1000" b="1" smtClean="0">
                <a:latin typeface="+mn-ea"/>
              </a:rPr>
              <a:t>(</a:t>
            </a:r>
            <a:r>
              <a:rPr lang="ko-KR" altLang="en-US" sz="1000" b="1" smtClean="0">
                <a:latin typeface="+mn-ea"/>
              </a:rPr>
              <a:t>업무프로그램</a:t>
            </a:r>
            <a:r>
              <a:rPr lang="en-US" altLang="ko-KR" sz="1000" b="1" smtClean="0">
                <a:latin typeface="+mn-ea"/>
              </a:rPr>
              <a:t> </a:t>
            </a:r>
            <a:r>
              <a:rPr lang="ko-KR" altLang="en-US" sz="1000" b="1" dirty="0">
                <a:latin typeface="+mn-ea"/>
              </a:rPr>
              <a:t>일부 수정</a:t>
            </a:r>
            <a:r>
              <a:rPr lang="en-US" altLang="ko-KR" sz="1000" b="1" dirty="0">
                <a:latin typeface="+mn-ea"/>
              </a:rPr>
              <a:t>)</a:t>
            </a:r>
          </a:p>
        </p:txBody>
      </p:sp>
      <p:cxnSp>
        <p:nvCxnSpPr>
          <p:cNvPr id="116" name="직선 화살표 연결선 115"/>
          <p:cNvCxnSpPr/>
          <p:nvPr/>
        </p:nvCxnSpPr>
        <p:spPr bwMode="auto">
          <a:xfrm flipV="1">
            <a:off x="3214183" y="3285816"/>
            <a:ext cx="0" cy="344487"/>
          </a:xfrm>
          <a:prstGeom prst="straightConnector1">
            <a:avLst/>
          </a:prstGeom>
          <a:solidFill>
            <a:schemeClr val="bg1"/>
          </a:solidFill>
          <a:ln w="19050" cap="flat" cmpd="sng" algn="ctr">
            <a:solidFill>
              <a:schemeClr val="bg2">
                <a:lumMod val="50000"/>
              </a:schemeClr>
            </a:solidFill>
            <a:prstDash val="solid"/>
            <a:round/>
            <a:headEnd type="triangle" w="med" len="med"/>
            <a:tailEnd type="none"/>
          </a:ln>
          <a:effectLst/>
        </p:spPr>
      </p:cxnSp>
      <p:cxnSp>
        <p:nvCxnSpPr>
          <p:cNvPr id="117" name="직선 화살표 연결선 116"/>
          <p:cNvCxnSpPr/>
          <p:nvPr/>
        </p:nvCxnSpPr>
        <p:spPr bwMode="auto">
          <a:xfrm flipV="1">
            <a:off x="3947608" y="3285816"/>
            <a:ext cx="0" cy="344487"/>
          </a:xfrm>
          <a:prstGeom prst="straightConnector1">
            <a:avLst/>
          </a:prstGeom>
          <a:solidFill>
            <a:schemeClr val="bg1"/>
          </a:solidFill>
          <a:ln w="19050" cap="flat" cmpd="sng" algn="ctr">
            <a:solidFill>
              <a:schemeClr val="bg2">
                <a:lumMod val="50000"/>
              </a:schemeClr>
            </a:solidFill>
            <a:prstDash val="solid"/>
            <a:round/>
            <a:headEnd type="none" w="med" len="med"/>
            <a:tailEnd type="triangle"/>
          </a:ln>
          <a:effectLst/>
        </p:spPr>
      </p:cxnSp>
      <p:cxnSp>
        <p:nvCxnSpPr>
          <p:cNvPr id="118" name="직선 화살표 연결선 117"/>
          <p:cNvCxnSpPr/>
          <p:nvPr/>
        </p:nvCxnSpPr>
        <p:spPr bwMode="auto">
          <a:xfrm flipV="1">
            <a:off x="3214183" y="3897002"/>
            <a:ext cx="0" cy="612000"/>
          </a:xfrm>
          <a:prstGeom prst="straightConnector1">
            <a:avLst/>
          </a:prstGeom>
          <a:solidFill>
            <a:schemeClr val="bg1"/>
          </a:solidFill>
          <a:ln w="19050" cap="flat" cmpd="sng" algn="ctr">
            <a:solidFill>
              <a:schemeClr val="bg2">
                <a:lumMod val="50000"/>
              </a:schemeClr>
            </a:solidFill>
            <a:prstDash val="solid"/>
            <a:round/>
            <a:headEnd type="triangle" w="med" len="med"/>
            <a:tailEnd type="none"/>
          </a:ln>
          <a:effectLst/>
        </p:spPr>
      </p:cxnSp>
      <p:cxnSp>
        <p:nvCxnSpPr>
          <p:cNvPr id="119" name="직선 화살표 연결선 118"/>
          <p:cNvCxnSpPr/>
          <p:nvPr/>
        </p:nvCxnSpPr>
        <p:spPr bwMode="auto">
          <a:xfrm flipV="1">
            <a:off x="3947608" y="3897002"/>
            <a:ext cx="0" cy="612000"/>
          </a:xfrm>
          <a:prstGeom prst="straightConnector1">
            <a:avLst/>
          </a:prstGeom>
          <a:solidFill>
            <a:schemeClr val="bg1"/>
          </a:solidFill>
          <a:ln w="19050" cap="flat" cmpd="sng" algn="ctr">
            <a:solidFill>
              <a:schemeClr val="bg2">
                <a:lumMod val="50000"/>
              </a:schemeClr>
            </a:solidFill>
            <a:prstDash val="solid"/>
            <a:round/>
            <a:headEnd type="none" w="med" len="med"/>
            <a:tailEnd type="triangle"/>
          </a:ln>
          <a:effectLst/>
        </p:spPr>
      </p:cxnSp>
      <p:cxnSp>
        <p:nvCxnSpPr>
          <p:cNvPr id="120" name="직선 화살표 연결선 98"/>
          <p:cNvCxnSpPr>
            <a:cxnSpLocks noChangeShapeType="1"/>
          </p:cNvCxnSpPr>
          <p:nvPr/>
        </p:nvCxnSpPr>
        <p:spPr bwMode="auto">
          <a:xfrm>
            <a:off x="3941258" y="4176365"/>
            <a:ext cx="792000" cy="0"/>
          </a:xfrm>
          <a:prstGeom prst="straightConnector1">
            <a:avLst/>
          </a:prstGeom>
          <a:noFill/>
          <a:ln w="15875" algn="ctr">
            <a:solidFill>
              <a:srgbClr val="FB8501"/>
            </a:solidFill>
            <a:prstDash val="sysDash"/>
            <a:round/>
            <a:headEnd type="oval" w="med" len="med"/>
            <a:tailEnd/>
          </a:ln>
          <a:extLst>
            <a:ext uri="{909E8E84-426E-40DD-AFC4-6F175D3DCCD1}">
              <a14:hiddenFill xmlns:a14="http://schemas.microsoft.com/office/drawing/2010/main">
                <a:noFill/>
              </a14:hiddenFill>
            </a:ext>
          </a:extLst>
        </p:spPr>
      </p:cxnSp>
      <p:cxnSp>
        <p:nvCxnSpPr>
          <p:cNvPr id="121" name="직선 화살표 연결선 105"/>
          <p:cNvCxnSpPr>
            <a:cxnSpLocks noChangeShapeType="1"/>
          </p:cNvCxnSpPr>
          <p:nvPr/>
        </p:nvCxnSpPr>
        <p:spPr bwMode="auto">
          <a:xfrm>
            <a:off x="3206848" y="4319240"/>
            <a:ext cx="1512000" cy="0"/>
          </a:xfrm>
          <a:prstGeom prst="straightConnector1">
            <a:avLst/>
          </a:prstGeom>
          <a:noFill/>
          <a:ln w="15875" algn="ctr">
            <a:solidFill>
              <a:srgbClr val="FB8501"/>
            </a:solidFill>
            <a:prstDash val="sysDash"/>
            <a:round/>
            <a:headEnd type="oval" w="med" len="med"/>
            <a:tailEnd/>
          </a:ln>
          <a:extLst>
            <a:ext uri="{909E8E84-426E-40DD-AFC4-6F175D3DCCD1}">
              <a14:hiddenFill xmlns:a14="http://schemas.microsoft.com/office/drawing/2010/main">
                <a:noFill/>
              </a14:hiddenFill>
            </a:ext>
          </a:extLst>
        </p:spPr>
      </p:cxnSp>
      <p:sp>
        <p:nvSpPr>
          <p:cNvPr id="123" name="직사각형 231"/>
          <p:cNvSpPr>
            <a:spLocks noChangeArrowheads="1"/>
          </p:cNvSpPr>
          <p:nvPr/>
        </p:nvSpPr>
        <p:spPr bwMode="auto">
          <a:xfrm>
            <a:off x="6249144" y="2075495"/>
            <a:ext cx="1317668" cy="180000"/>
          </a:xfrm>
          <a:prstGeom prst="rect">
            <a:avLst/>
          </a:prstGeom>
          <a:noFill/>
          <a:ln w="19050">
            <a:noFill/>
            <a:round/>
            <a:headEnd/>
            <a:tailEnd/>
          </a:ln>
          <a:extLst/>
        </p:spPr>
        <p:txBody>
          <a:bodyPr wrap="none" anchor="ctr"/>
          <a:lstStyle/>
          <a:p>
            <a:pPr eaLnBrk="1" latinLnBrk="1" hangingPunct="1">
              <a:buClr>
                <a:srgbClr val="FFC000"/>
              </a:buClr>
            </a:pPr>
            <a:r>
              <a:rPr lang="ko-KR" altLang="en-US" sz="1000" dirty="0">
                <a:latin typeface="+mn-ea"/>
              </a:rPr>
              <a:t>암호화 </a:t>
            </a:r>
            <a:r>
              <a:rPr lang="en-US" altLang="ko-KR" sz="1000" dirty="0">
                <a:latin typeface="+mn-ea"/>
              </a:rPr>
              <a:t>API </a:t>
            </a:r>
            <a:r>
              <a:rPr lang="ko-KR" altLang="en-US" sz="1000" dirty="0">
                <a:latin typeface="+mn-ea"/>
              </a:rPr>
              <a:t>호출 </a:t>
            </a:r>
            <a:r>
              <a:rPr lang="ko-KR" altLang="en-US" sz="1000" dirty="0" smtClean="0">
                <a:latin typeface="+mn-ea"/>
              </a:rPr>
              <a:t>예시</a:t>
            </a:r>
            <a:endParaRPr lang="en-US" altLang="ko-KR" sz="1000" dirty="0">
              <a:latin typeface="+mn-ea"/>
            </a:endParaRPr>
          </a:p>
        </p:txBody>
      </p:sp>
      <p:sp>
        <p:nvSpPr>
          <p:cNvPr id="125" name="직사각형 231"/>
          <p:cNvSpPr>
            <a:spLocks noChangeArrowheads="1"/>
          </p:cNvSpPr>
          <p:nvPr/>
        </p:nvSpPr>
        <p:spPr bwMode="auto">
          <a:xfrm>
            <a:off x="6147168" y="5312652"/>
            <a:ext cx="3168000" cy="153888"/>
          </a:xfrm>
          <a:prstGeom prst="rect">
            <a:avLst/>
          </a:prstGeom>
          <a:noFill/>
          <a:ln>
            <a:noFill/>
          </a:ln>
          <a:extLst/>
        </p:spPr>
        <p:txBody>
          <a:bodyPr wrap="none" lIns="0" tIns="0" rIns="0" bIns="0" anchor="ctr" anchorCtr="0">
            <a:noAutofit/>
          </a:bodyPr>
          <a:lstStyle>
            <a:lvl1pPr latinLnBrk="1">
              <a:spcBef>
                <a:spcPct val="20000"/>
              </a:spcBef>
              <a:buFont typeface="Arial" panose="020B0604020202020204" pitchFamily="34" charset="0"/>
              <a:buChar char="•"/>
              <a:defRPr sz="3200">
                <a:solidFill>
                  <a:schemeClr val="tx1"/>
                </a:solidFill>
                <a:latin typeface="맑은 고딕" panose="020B0503020000020004" pitchFamily="50" charset="-127"/>
                <a:ea typeface="맑은 고딕" panose="020B0503020000020004" pitchFamily="50" charset="-127"/>
              </a:defRPr>
            </a:lvl1pPr>
            <a:lvl2pPr marL="742950" indent="-285750" latinLnBrk="1">
              <a:spcBef>
                <a:spcPct val="20000"/>
              </a:spcBef>
              <a:buFont typeface="Arial" panose="020B0604020202020204" pitchFamily="34" charset="0"/>
              <a:buChar char="–"/>
              <a:defRPr sz="2800">
                <a:solidFill>
                  <a:schemeClr val="tx1"/>
                </a:solidFill>
                <a:latin typeface="맑은 고딕" panose="020B0503020000020004" pitchFamily="50" charset="-127"/>
                <a:ea typeface="맑은 고딕" panose="020B0503020000020004" pitchFamily="50" charset="-127"/>
              </a:defRPr>
            </a:lvl2pPr>
            <a:lvl3pPr marL="1143000" indent="-228600" latinLnBrk="1">
              <a:spcBef>
                <a:spcPct val="20000"/>
              </a:spcBef>
              <a:buFont typeface="Arial" panose="020B0604020202020204" pitchFamily="34" charset="0"/>
              <a:buChar char="•"/>
              <a:defRPr sz="2400">
                <a:solidFill>
                  <a:schemeClr val="tx1"/>
                </a:solidFill>
                <a:latin typeface="맑은 고딕" panose="020B0503020000020004" pitchFamily="50" charset="-127"/>
                <a:ea typeface="맑은 고딕" panose="020B0503020000020004" pitchFamily="50" charset="-127"/>
              </a:defRPr>
            </a:lvl3pPr>
            <a:lvl4pPr marL="1600200" indent="-228600" latinLnBrk="1">
              <a:spcBef>
                <a:spcPct val="20000"/>
              </a:spcBef>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4pPr>
            <a:lvl5pPr marL="2057400" indent="-228600" latinLnBrk="1">
              <a:spcBef>
                <a:spcPct val="20000"/>
              </a:spcBef>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9pPr>
          </a:lstStyle>
          <a:p>
            <a:pPr eaLnBrk="1" latinLnBrk="0" hangingPunct="1">
              <a:spcBef>
                <a:spcPct val="0"/>
              </a:spcBef>
              <a:spcAft>
                <a:spcPct val="30000"/>
              </a:spcAft>
              <a:buClr>
                <a:srgbClr val="7BA8D5"/>
              </a:buClr>
              <a:buFont typeface="Wingdings 2" panose="05020102010507070707" pitchFamily="18" charset="2"/>
              <a:buNone/>
            </a:pPr>
            <a:r>
              <a:rPr lang="ko-KR" altLang="en-US" sz="1000" b="1" dirty="0" smtClean="0">
                <a:effectLst/>
                <a:latin typeface="+mn-ea"/>
                <a:ea typeface="+mn-ea"/>
              </a:rPr>
              <a:t>♣ </a:t>
            </a:r>
            <a:r>
              <a:rPr lang="ko-KR" altLang="en-US" sz="1000" b="1" dirty="0" smtClean="0">
                <a:latin typeface="+mn-ea"/>
                <a:ea typeface="+mn-ea"/>
              </a:rPr>
              <a:t>암호화 </a:t>
            </a:r>
            <a:r>
              <a:rPr lang="en-US" altLang="ko-KR" sz="1000" b="1" dirty="0" smtClean="0">
                <a:latin typeface="+mn-ea"/>
                <a:ea typeface="+mn-ea"/>
              </a:rPr>
              <a:t>API </a:t>
            </a:r>
            <a:r>
              <a:rPr lang="ko-KR" altLang="en-US" sz="1000" b="1" dirty="0" err="1" smtClean="0">
                <a:latin typeface="+mn-ea"/>
                <a:ea typeface="+mn-ea"/>
              </a:rPr>
              <a:t>호출시</a:t>
            </a:r>
            <a:r>
              <a:rPr lang="ko-KR" altLang="en-US" sz="1000" b="1" dirty="0" smtClean="0">
                <a:latin typeface="+mn-ea"/>
                <a:ea typeface="+mn-ea"/>
              </a:rPr>
              <a:t> 로그관리서버</a:t>
            </a:r>
            <a:r>
              <a:rPr lang="en-US" altLang="ko-KR" sz="1000" b="1" dirty="0" smtClean="0">
                <a:latin typeface="+mn-ea"/>
                <a:ea typeface="+mn-ea"/>
              </a:rPr>
              <a:t>(LMS)</a:t>
            </a:r>
            <a:r>
              <a:rPr lang="ko-KR" altLang="en-US" sz="1000" b="1" dirty="0" smtClean="0">
                <a:latin typeface="+mn-ea"/>
                <a:ea typeface="+mn-ea"/>
              </a:rPr>
              <a:t>에 기록 관리</a:t>
            </a:r>
            <a:endParaRPr lang="en-US" altLang="ko-KR" sz="1000" b="1" dirty="0" smtClean="0">
              <a:latin typeface="+mn-ea"/>
              <a:ea typeface="+mn-ea"/>
            </a:endParaRPr>
          </a:p>
        </p:txBody>
      </p:sp>
      <p:cxnSp>
        <p:nvCxnSpPr>
          <p:cNvPr id="126" name="꺾인 연결선 125"/>
          <p:cNvCxnSpPr>
            <a:endCxn id="125" idx="1"/>
          </p:cNvCxnSpPr>
          <p:nvPr/>
        </p:nvCxnSpPr>
        <p:spPr bwMode="auto">
          <a:xfrm>
            <a:off x="4508726" y="4697804"/>
            <a:ext cx="1638442" cy="691792"/>
          </a:xfrm>
          <a:prstGeom prst="bentConnector3">
            <a:avLst>
              <a:gd name="adj1" fmla="val 50000"/>
            </a:avLst>
          </a:prstGeom>
          <a:solidFill>
            <a:schemeClr val="bg1"/>
          </a:solidFill>
          <a:ln w="12700" cap="flat" cmpd="sng" algn="ctr">
            <a:solidFill>
              <a:srgbClr val="FB8501"/>
            </a:solidFill>
            <a:prstDash val="sysDash"/>
            <a:round/>
            <a:headEnd type="oval" w="sm" len="sm"/>
            <a:tailEnd type="triangle"/>
          </a:ln>
          <a:effectLst/>
        </p:spPr>
      </p:cxnSp>
      <p:sp>
        <p:nvSpPr>
          <p:cNvPr id="128" name="직사각형 231"/>
          <p:cNvSpPr>
            <a:spLocks noChangeArrowheads="1"/>
          </p:cNvSpPr>
          <p:nvPr/>
        </p:nvSpPr>
        <p:spPr bwMode="auto">
          <a:xfrm>
            <a:off x="560387" y="2216965"/>
            <a:ext cx="1702273" cy="396000"/>
          </a:xfrm>
          <a:prstGeom prst="rect">
            <a:avLst/>
          </a:prstGeom>
          <a:noFill/>
          <a:ln>
            <a:noFill/>
          </a:ln>
          <a:extLst/>
        </p:spPr>
        <p:txBody>
          <a:bodyPr wrap="none" lIns="0" tIns="0" rIns="0" bIns="0" anchor="ctr" anchorCtr="0">
            <a:noAutofit/>
          </a:bodyPr>
          <a:lstStyle>
            <a:lvl1pPr latinLnBrk="1">
              <a:spcBef>
                <a:spcPct val="20000"/>
              </a:spcBef>
              <a:buFont typeface="Arial" panose="020B0604020202020204" pitchFamily="34" charset="0"/>
              <a:buChar char="•"/>
              <a:defRPr sz="3200">
                <a:solidFill>
                  <a:schemeClr val="tx1"/>
                </a:solidFill>
                <a:latin typeface="맑은 고딕" panose="020B0503020000020004" pitchFamily="50" charset="-127"/>
                <a:ea typeface="맑은 고딕" panose="020B0503020000020004" pitchFamily="50" charset="-127"/>
              </a:defRPr>
            </a:lvl1pPr>
            <a:lvl2pPr marL="742950" indent="-285750" latinLnBrk="1">
              <a:spcBef>
                <a:spcPct val="20000"/>
              </a:spcBef>
              <a:buFont typeface="Arial" panose="020B0604020202020204" pitchFamily="34" charset="0"/>
              <a:buChar char="–"/>
              <a:defRPr sz="2800">
                <a:solidFill>
                  <a:schemeClr val="tx1"/>
                </a:solidFill>
                <a:latin typeface="맑은 고딕" panose="020B0503020000020004" pitchFamily="50" charset="-127"/>
                <a:ea typeface="맑은 고딕" panose="020B0503020000020004" pitchFamily="50" charset="-127"/>
              </a:defRPr>
            </a:lvl2pPr>
            <a:lvl3pPr marL="1143000" indent="-228600" latinLnBrk="1">
              <a:spcBef>
                <a:spcPct val="20000"/>
              </a:spcBef>
              <a:buFont typeface="Arial" panose="020B0604020202020204" pitchFamily="34" charset="0"/>
              <a:buChar char="•"/>
              <a:defRPr sz="2400">
                <a:solidFill>
                  <a:schemeClr val="tx1"/>
                </a:solidFill>
                <a:latin typeface="맑은 고딕" panose="020B0503020000020004" pitchFamily="50" charset="-127"/>
                <a:ea typeface="맑은 고딕" panose="020B0503020000020004" pitchFamily="50" charset="-127"/>
              </a:defRPr>
            </a:lvl3pPr>
            <a:lvl4pPr marL="1600200" indent="-228600" latinLnBrk="1">
              <a:spcBef>
                <a:spcPct val="20000"/>
              </a:spcBef>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4pPr>
            <a:lvl5pPr marL="2057400" indent="-228600" latinLnBrk="1">
              <a:spcBef>
                <a:spcPct val="20000"/>
              </a:spcBef>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9pPr>
          </a:lstStyle>
          <a:p>
            <a:pPr eaLnBrk="1" latinLnBrk="0" hangingPunct="1">
              <a:spcBef>
                <a:spcPct val="0"/>
              </a:spcBef>
              <a:spcAft>
                <a:spcPct val="30000"/>
              </a:spcAft>
              <a:buClr>
                <a:srgbClr val="7BA8D5"/>
              </a:buClr>
              <a:buFont typeface="Wingdings 2" panose="05020102010507070707" pitchFamily="18" charset="2"/>
              <a:buNone/>
            </a:pPr>
            <a:r>
              <a:rPr lang="ko-KR" altLang="en-US" sz="1000" b="1" dirty="0" smtClean="0">
                <a:effectLst/>
                <a:latin typeface="+mn-ea"/>
                <a:ea typeface="+mn-ea"/>
              </a:rPr>
              <a:t>♣ </a:t>
            </a:r>
            <a:r>
              <a:rPr lang="ko-KR" altLang="en-US" sz="1000" b="1" dirty="0" smtClean="0">
                <a:latin typeface="+mn-ea"/>
                <a:ea typeface="+mn-ea"/>
              </a:rPr>
              <a:t>암</a:t>
            </a:r>
            <a:r>
              <a:rPr lang="en-US" altLang="ko-KR" sz="1000" b="1" dirty="0" smtClean="0">
                <a:latin typeface="+mn-ea"/>
                <a:ea typeface="+mn-ea"/>
              </a:rPr>
              <a:t>/</a:t>
            </a:r>
            <a:r>
              <a:rPr lang="ko-KR" altLang="en-US" sz="1000" b="1" dirty="0" err="1" smtClean="0">
                <a:latin typeface="+mn-ea"/>
                <a:ea typeface="+mn-ea"/>
              </a:rPr>
              <a:t>복호화</a:t>
            </a:r>
            <a:r>
              <a:rPr lang="ko-KR" altLang="en-US" sz="1000" b="1" dirty="0" smtClean="0">
                <a:latin typeface="+mn-ea"/>
                <a:ea typeface="+mn-ea"/>
              </a:rPr>
              <a:t> </a:t>
            </a:r>
            <a:r>
              <a:rPr lang="en-US" altLang="ko-KR" sz="1000" b="1" dirty="0" smtClean="0">
                <a:latin typeface="+mn-ea"/>
                <a:ea typeface="+mn-ea"/>
              </a:rPr>
              <a:t>API </a:t>
            </a:r>
            <a:r>
              <a:rPr lang="ko-KR" altLang="en-US" sz="1000" b="1" dirty="0" smtClean="0">
                <a:latin typeface="+mn-ea"/>
                <a:ea typeface="+mn-ea"/>
              </a:rPr>
              <a:t>호출을 위한</a:t>
            </a:r>
            <a:endParaRPr lang="en-US" altLang="ko-KR" sz="1000" b="1" dirty="0" smtClean="0">
              <a:latin typeface="+mn-ea"/>
              <a:ea typeface="+mn-ea"/>
            </a:endParaRPr>
          </a:p>
          <a:p>
            <a:pPr eaLnBrk="1" latinLnBrk="0" hangingPunct="1">
              <a:spcBef>
                <a:spcPct val="0"/>
              </a:spcBef>
              <a:spcAft>
                <a:spcPct val="30000"/>
              </a:spcAft>
              <a:buClr>
                <a:srgbClr val="7BA8D5"/>
              </a:buClr>
              <a:buFont typeface="Wingdings 2" panose="05020102010507070707" pitchFamily="18" charset="2"/>
              <a:buNone/>
            </a:pPr>
            <a:r>
              <a:rPr lang="en-US" altLang="ko-KR" sz="1000" b="1" dirty="0">
                <a:latin typeface="+mn-ea"/>
                <a:ea typeface="+mn-ea"/>
              </a:rPr>
              <a:t> </a:t>
            </a:r>
            <a:r>
              <a:rPr lang="en-US" altLang="ko-KR" sz="1000" b="1" dirty="0" smtClean="0">
                <a:latin typeface="+mn-ea"/>
                <a:ea typeface="+mn-ea"/>
              </a:rPr>
              <a:t>   </a:t>
            </a:r>
            <a:r>
              <a:rPr lang="ko-KR" altLang="en-US" sz="1000" b="1" dirty="0" smtClean="0">
                <a:latin typeface="+mn-ea"/>
                <a:ea typeface="+mn-ea"/>
              </a:rPr>
              <a:t>업무담당자 프로그램 개발범위</a:t>
            </a:r>
            <a:endParaRPr lang="en-US" altLang="ko-KR" sz="1000" b="1" dirty="0" smtClean="0">
              <a:latin typeface="+mn-ea"/>
              <a:ea typeface="+mn-ea"/>
            </a:endParaRPr>
          </a:p>
        </p:txBody>
      </p:sp>
      <p:cxnSp>
        <p:nvCxnSpPr>
          <p:cNvPr id="129" name="꺾인 연결선 128"/>
          <p:cNvCxnSpPr>
            <a:stCxn id="115" idx="1"/>
            <a:endCxn id="128" idx="2"/>
          </p:cNvCxnSpPr>
          <p:nvPr/>
        </p:nvCxnSpPr>
        <p:spPr bwMode="auto">
          <a:xfrm rot="10800000">
            <a:off x="1411525" y="2612965"/>
            <a:ext cx="1505797" cy="464888"/>
          </a:xfrm>
          <a:prstGeom prst="bentConnector2">
            <a:avLst/>
          </a:prstGeom>
          <a:solidFill>
            <a:schemeClr val="bg1"/>
          </a:solidFill>
          <a:ln w="12700" cap="flat" cmpd="sng" algn="ctr">
            <a:solidFill>
              <a:srgbClr val="FB8501"/>
            </a:solidFill>
            <a:prstDash val="sysDash"/>
            <a:round/>
            <a:headEnd type="oval" w="sm" len="sm"/>
            <a:tailEnd type="triangle"/>
          </a:ln>
          <a:effectLst/>
        </p:spPr>
      </p:cxnSp>
      <p:grpSp>
        <p:nvGrpSpPr>
          <p:cNvPr id="135" name="그룹 134"/>
          <p:cNvGrpSpPr/>
          <p:nvPr/>
        </p:nvGrpSpPr>
        <p:grpSpPr>
          <a:xfrm>
            <a:off x="8865757" y="1988908"/>
            <a:ext cx="576000" cy="612000"/>
            <a:chOff x="8855247" y="2870144"/>
            <a:chExt cx="576000" cy="612000"/>
          </a:xfrm>
        </p:grpSpPr>
        <p:sp>
          <p:nvSpPr>
            <p:cNvPr id="136" name="대각선 줄무늬 135"/>
            <p:cNvSpPr/>
            <p:nvPr/>
          </p:nvSpPr>
          <p:spPr bwMode="auto">
            <a:xfrm rot="5400000">
              <a:off x="8837247" y="2888144"/>
              <a:ext cx="612000" cy="576000"/>
            </a:xfrm>
            <a:prstGeom prst="diagStripe">
              <a:avLst>
                <a:gd name="adj" fmla="val 64697"/>
              </a:avLst>
            </a:prstGeom>
            <a:solidFill>
              <a:srgbClr val="44546B"/>
            </a:solidFill>
            <a:ln w="3175" cap="flat" cmpd="sng" algn="ctr">
              <a:noFill/>
              <a:prstDash val="solid"/>
              <a:round/>
              <a:headEnd type="none" w="med" len="med"/>
              <a:tailEnd type="none" w="med" len="med"/>
            </a:ln>
            <a:effectLst/>
          </p:spPr>
          <p:txBody>
            <a:bodyPr wrap="none" anchor="ctr"/>
            <a:lstStyle/>
            <a:p>
              <a:pPr algn="ctr">
                <a:lnSpc>
                  <a:spcPct val="150000"/>
                </a:lnSpc>
                <a:defRPr/>
              </a:pPr>
              <a:endParaRPr lang="ko-KR" altLang="en-US" sz="1000" dirty="0">
                <a:solidFill>
                  <a:schemeClr val="bg1"/>
                </a:solidFill>
                <a:latin typeface="나눔고딕" pitchFamily="50" charset="-127"/>
                <a:ea typeface="나눔고딕" pitchFamily="50" charset="-127"/>
              </a:endParaRPr>
            </a:p>
          </p:txBody>
        </p:sp>
        <p:sp>
          <p:nvSpPr>
            <p:cNvPr id="137" name="TextBox 2"/>
            <p:cNvSpPr txBox="1">
              <a:spLocks noChangeArrowheads="1"/>
            </p:cNvSpPr>
            <p:nvPr/>
          </p:nvSpPr>
          <p:spPr bwMode="auto">
            <a:xfrm rot="2640000">
              <a:off x="9075607" y="2994692"/>
              <a:ext cx="20839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defRPr kumimoji="1" sz="1400">
                  <a:solidFill>
                    <a:schemeClr val="tx1"/>
                  </a:solidFill>
                  <a:latin typeface="코레일체" panose="020B0400000000000000" pitchFamily="50" charset="-127"/>
                  <a:ea typeface="코레일체" panose="020B0400000000000000" pitchFamily="50" charset="-127"/>
                </a:defRPr>
              </a:lvl1pPr>
              <a:lvl2pPr marL="742950" indent="-285750">
                <a:defRPr kumimoji="1" sz="1400">
                  <a:solidFill>
                    <a:schemeClr val="tx1"/>
                  </a:solidFill>
                  <a:latin typeface="코레일체" panose="020B0400000000000000" pitchFamily="50" charset="-127"/>
                  <a:ea typeface="코레일체" panose="020B0400000000000000" pitchFamily="50" charset="-127"/>
                </a:defRPr>
              </a:lvl2pPr>
              <a:lvl3pPr marL="1143000" indent="-228600">
                <a:defRPr kumimoji="1" sz="1400">
                  <a:solidFill>
                    <a:schemeClr val="tx1"/>
                  </a:solidFill>
                  <a:latin typeface="코레일체" panose="020B0400000000000000" pitchFamily="50" charset="-127"/>
                  <a:ea typeface="코레일체" panose="020B0400000000000000" pitchFamily="50" charset="-127"/>
                </a:defRPr>
              </a:lvl3pPr>
              <a:lvl4pPr marL="1600200" indent="-228600">
                <a:defRPr kumimoji="1" sz="1400">
                  <a:solidFill>
                    <a:schemeClr val="tx1"/>
                  </a:solidFill>
                  <a:latin typeface="코레일체" panose="020B0400000000000000" pitchFamily="50" charset="-127"/>
                  <a:ea typeface="코레일체" panose="020B0400000000000000" pitchFamily="50" charset="-127"/>
                </a:defRPr>
              </a:lvl4pPr>
              <a:lvl5pPr marL="2057400" indent="-228600">
                <a:defRPr kumimoji="1" sz="1400">
                  <a:solidFill>
                    <a:schemeClr val="tx1"/>
                  </a:solidFill>
                  <a:latin typeface="코레일체" panose="020B0400000000000000" pitchFamily="50" charset="-127"/>
                  <a:ea typeface="코레일체" panose="020B0400000000000000" pitchFamily="50" charset="-127"/>
                </a:defRPr>
              </a:lvl5pPr>
              <a:lvl6pPr marL="2514600" indent="-228600" eaLnBrk="0" fontAlgn="base" hangingPunct="0">
                <a:spcBef>
                  <a:spcPct val="0"/>
                </a:spcBef>
                <a:spcAft>
                  <a:spcPct val="0"/>
                </a:spcAft>
                <a:defRPr kumimoji="1" sz="1400">
                  <a:solidFill>
                    <a:schemeClr val="tx1"/>
                  </a:solidFill>
                  <a:latin typeface="코레일체" panose="020B0400000000000000" pitchFamily="50" charset="-127"/>
                  <a:ea typeface="코레일체" panose="020B0400000000000000" pitchFamily="50" charset="-127"/>
                </a:defRPr>
              </a:lvl6pPr>
              <a:lvl7pPr marL="2971800" indent="-228600" eaLnBrk="0" fontAlgn="base" hangingPunct="0">
                <a:spcBef>
                  <a:spcPct val="0"/>
                </a:spcBef>
                <a:spcAft>
                  <a:spcPct val="0"/>
                </a:spcAft>
                <a:defRPr kumimoji="1" sz="1400">
                  <a:solidFill>
                    <a:schemeClr val="tx1"/>
                  </a:solidFill>
                  <a:latin typeface="코레일체" panose="020B0400000000000000" pitchFamily="50" charset="-127"/>
                  <a:ea typeface="코레일체" panose="020B0400000000000000" pitchFamily="50" charset="-127"/>
                </a:defRPr>
              </a:lvl7pPr>
              <a:lvl8pPr marL="3429000" indent="-228600" eaLnBrk="0" fontAlgn="base" hangingPunct="0">
                <a:spcBef>
                  <a:spcPct val="0"/>
                </a:spcBef>
                <a:spcAft>
                  <a:spcPct val="0"/>
                </a:spcAft>
                <a:defRPr kumimoji="1" sz="1400">
                  <a:solidFill>
                    <a:schemeClr val="tx1"/>
                  </a:solidFill>
                  <a:latin typeface="코레일체" panose="020B0400000000000000" pitchFamily="50" charset="-127"/>
                  <a:ea typeface="코레일체" panose="020B0400000000000000" pitchFamily="50" charset="-127"/>
                </a:defRPr>
              </a:lvl8pPr>
              <a:lvl9pPr marL="3886200" indent="-228600" eaLnBrk="0" fontAlgn="base" hangingPunct="0">
                <a:spcBef>
                  <a:spcPct val="0"/>
                </a:spcBef>
                <a:spcAft>
                  <a:spcPct val="0"/>
                </a:spcAft>
                <a:defRPr kumimoji="1" sz="1400">
                  <a:solidFill>
                    <a:schemeClr val="tx1"/>
                  </a:solidFill>
                  <a:latin typeface="코레일체" panose="020B0400000000000000" pitchFamily="50" charset="-127"/>
                  <a:ea typeface="코레일체" panose="020B0400000000000000" pitchFamily="50" charset="-127"/>
                </a:defRPr>
              </a:lvl9pPr>
            </a:lstStyle>
            <a:p>
              <a:pPr>
                <a:lnSpc>
                  <a:spcPct val="150000"/>
                </a:lnSpc>
              </a:pPr>
              <a:r>
                <a:rPr lang="ko-KR" altLang="en-US" sz="900" b="1" dirty="0">
                  <a:solidFill>
                    <a:schemeClr val="bg1"/>
                  </a:solidFill>
                  <a:latin typeface="KB금융 본문체 Bold" panose="020B0803000000000000" pitchFamily="50" charset="-127"/>
                  <a:ea typeface="KB금융 본문체 Bold" panose="020B0803000000000000" pitchFamily="50" charset="-127"/>
                </a:rPr>
                <a:t>예시</a:t>
              </a:r>
              <a:endParaRPr lang="ko-KR" altLang="en-US" sz="1000" b="1" dirty="0">
                <a:solidFill>
                  <a:schemeClr val="bg1"/>
                </a:solidFill>
                <a:latin typeface="KB금융 본문체 Bold" panose="020B0803000000000000" pitchFamily="50" charset="-127"/>
                <a:ea typeface="KB금융 본문체 Bold" panose="020B0803000000000000" pitchFamily="50" charset="-127"/>
              </a:endParaRPr>
            </a:p>
          </p:txBody>
        </p:sp>
      </p:grpSp>
      <p:sp>
        <p:nvSpPr>
          <p:cNvPr id="138" name="모서리가 둥근 직사각형 38"/>
          <p:cNvSpPr>
            <a:spLocks noChangeArrowheads="1"/>
          </p:cNvSpPr>
          <p:nvPr/>
        </p:nvSpPr>
        <p:spPr bwMode="auto">
          <a:xfrm>
            <a:off x="2631571" y="3653000"/>
            <a:ext cx="1933575" cy="241300"/>
          </a:xfrm>
          <a:prstGeom prst="roundRect">
            <a:avLst>
              <a:gd name="adj" fmla="val 16667"/>
            </a:avLst>
          </a:prstGeom>
          <a:solidFill>
            <a:srgbClr val="2159B7"/>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lstStyle>
            <a:lvl1pPr latinLnBrk="1">
              <a:spcBef>
                <a:spcPct val="20000"/>
              </a:spcBef>
              <a:buFont typeface="Arial" panose="020B0604020202020204" pitchFamily="34" charset="0"/>
              <a:buChar char="•"/>
              <a:defRPr sz="3200">
                <a:solidFill>
                  <a:schemeClr val="tx1"/>
                </a:solidFill>
                <a:latin typeface="맑은 고딕" panose="020B0503020000020004" pitchFamily="50" charset="-127"/>
                <a:ea typeface="맑은 고딕" panose="020B0503020000020004" pitchFamily="50" charset="-127"/>
              </a:defRPr>
            </a:lvl1pPr>
            <a:lvl2pPr indent="-285750" latinLnBrk="1">
              <a:spcBef>
                <a:spcPct val="20000"/>
              </a:spcBef>
              <a:buFont typeface="Arial" panose="020B0604020202020204" pitchFamily="34" charset="0"/>
              <a:buChar char="–"/>
              <a:defRPr sz="2800">
                <a:solidFill>
                  <a:schemeClr val="tx1"/>
                </a:solidFill>
                <a:latin typeface="맑은 고딕" panose="020B0503020000020004" pitchFamily="50" charset="-127"/>
                <a:ea typeface="맑은 고딕" panose="020B0503020000020004" pitchFamily="50" charset="-127"/>
              </a:defRPr>
            </a:lvl2pPr>
            <a:lvl3pPr indent="-228600" latinLnBrk="1">
              <a:spcBef>
                <a:spcPct val="20000"/>
              </a:spcBef>
              <a:buFont typeface="Arial" panose="020B0604020202020204" pitchFamily="34" charset="0"/>
              <a:buChar char="•"/>
              <a:defRPr sz="2400">
                <a:solidFill>
                  <a:schemeClr val="tx1"/>
                </a:solidFill>
                <a:latin typeface="맑은 고딕" panose="020B0503020000020004" pitchFamily="50" charset="-127"/>
                <a:ea typeface="맑은 고딕" panose="020B0503020000020004" pitchFamily="50" charset="-127"/>
              </a:defRPr>
            </a:lvl3pPr>
            <a:lvl4pPr indent="-228600" latinLnBrk="1">
              <a:spcBef>
                <a:spcPct val="20000"/>
              </a:spcBef>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4pPr>
            <a:lvl5pPr indent="-228600" latinLnBrk="1">
              <a:spcBef>
                <a:spcPct val="20000"/>
              </a:spcBef>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5pPr>
            <a:lvl6pPr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6pPr>
            <a:lvl7pPr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7pPr>
            <a:lvl8pPr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8pPr>
            <a:lvl9pPr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9pPr>
          </a:lstStyle>
          <a:p>
            <a:pPr algn="ctr" eaLnBrk="1" latinLnBrk="0" hangingPunct="1">
              <a:spcBef>
                <a:spcPct val="0"/>
              </a:spcBef>
              <a:spcAft>
                <a:spcPct val="30000"/>
              </a:spcAft>
              <a:buClr>
                <a:srgbClr val="7BA8D5"/>
              </a:buClr>
              <a:buFont typeface="Wingdings 2" panose="05020102010507070707" pitchFamily="18" charset="2"/>
              <a:buNone/>
            </a:pPr>
            <a:r>
              <a:rPr kumimoji="0" lang="en-US" altLang="ko-KR" sz="1000" dirty="0">
                <a:solidFill>
                  <a:schemeClr val="bg1"/>
                </a:solidFill>
                <a:effectLst/>
                <a:latin typeface="KB금융 본문체 Light" panose="020B0303000000000000" pitchFamily="50" charset="-127"/>
                <a:ea typeface="KB금융 본문체 Light" panose="020B0303000000000000" pitchFamily="50" charset="-127"/>
                <a:cs typeface="Times New Roman" panose="02020603050405020304" pitchFamily="18" charset="0"/>
              </a:rPr>
              <a:t>BA-SCP Agent (</a:t>
            </a:r>
            <a:r>
              <a:rPr kumimoji="0" lang="ko-KR" altLang="en-US" sz="1000">
                <a:solidFill>
                  <a:schemeClr val="bg1"/>
                </a:solidFill>
                <a:effectLst/>
                <a:latin typeface="KB금융 본문체 Light" panose="020B0303000000000000" pitchFamily="50" charset="-127"/>
                <a:ea typeface="KB금융 본문체 Light" panose="020B0303000000000000" pitchFamily="50" charset="-127"/>
                <a:cs typeface="Times New Roman" panose="02020603050405020304" pitchFamily="18" charset="0"/>
              </a:rPr>
              <a:t>암복호화 수행</a:t>
            </a:r>
            <a:r>
              <a:rPr kumimoji="0" lang="en-US" altLang="ko-KR" sz="1000" dirty="0">
                <a:solidFill>
                  <a:schemeClr val="bg1"/>
                </a:solidFill>
                <a:effectLst/>
                <a:latin typeface="KB금융 본문체 Light" panose="020B0303000000000000" pitchFamily="50" charset="-127"/>
                <a:ea typeface="KB금융 본문체 Light" panose="020B0303000000000000" pitchFamily="50" charset="-127"/>
                <a:cs typeface="Times New Roman" panose="02020603050405020304" pitchFamily="18" charset="0"/>
              </a:rPr>
              <a:t>)</a:t>
            </a:r>
            <a:endParaRPr kumimoji="0" lang="ko-KR" altLang="en-US" sz="1000">
              <a:solidFill>
                <a:schemeClr val="bg1"/>
              </a:solidFill>
              <a:effectLst/>
              <a:latin typeface="KB금융 본문체 Light" panose="020B0303000000000000" pitchFamily="50" charset="-127"/>
              <a:ea typeface="KB금융 본문체 Light" panose="020B0303000000000000" pitchFamily="50" charset="-127"/>
              <a:cs typeface="Times New Roman" panose="02020603050405020304" pitchFamily="18" charset="0"/>
            </a:endParaRPr>
          </a:p>
        </p:txBody>
      </p:sp>
      <p:sp>
        <p:nvSpPr>
          <p:cNvPr id="139" name="AutoShape 82"/>
          <p:cNvSpPr>
            <a:spLocks noChangeArrowheads="1"/>
          </p:cNvSpPr>
          <p:nvPr/>
        </p:nvSpPr>
        <p:spPr bwMode="auto">
          <a:xfrm>
            <a:off x="4340388" y="5301232"/>
            <a:ext cx="1548000" cy="216000"/>
          </a:xfrm>
          <a:prstGeom prst="roundRect">
            <a:avLst/>
          </a:prstGeom>
          <a:solidFill>
            <a:schemeClr val="tx1">
              <a:lumMod val="50000"/>
              <a:lumOff val="50000"/>
            </a:schemeClr>
          </a:solidFill>
          <a:ln w="3175">
            <a:noFill/>
            <a:miter lim="800000"/>
            <a:headEnd/>
            <a:tailEnd/>
          </a:ln>
        </p:spPr>
        <p:txBody>
          <a:bodyPr wrap="none" rtlCol="0" anchor="ctr"/>
          <a:lstStyle/>
          <a:p>
            <a:pPr algn="ctr" defTabSz="984250" fontAlgn="auto" latinLnBrk="1">
              <a:lnSpc>
                <a:spcPct val="110000"/>
              </a:lnSpc>
              <a:spcBef>
                <a:spcPts val="0"/>
              </a:spcBef>
              <a:spcAft>
                <a:spcPts val="0"/>
              </a:spcAft>
            </a:pPr>
            <a:r>
              <a:rPr lang="ko-KR" altLang="en-US" sz="1000" kern="0" dirty="0" err="1">
                <a:solidFill>
                  <a:srgbClr val="FFFF00"/>
                </a:solidFill>
                <a:latin typeface="KB금융 본문체 Bold" panose="020B0803000000000000" pitchFamily="50" charset="-127"/>
                <a:ea typeface="KB금융 본문체 Bold" panose="020B0803000000000000" pitchFamily="50" charset="-127"/>
              </a:rPr>
              <a:t>암호화키관리시스템</a:t>
            </a:r>
            <a:endParaRPr lang="ko-KR" altLang="ko-KR" sz="1000" kern="0" dirty="0">
              <a:solidFill>
                <a:srgbClr val="FFFF00"/>
              </a:solidFill>
              <a:latin typeface="KB금융 본문체 Bold" panose="020B0803000000000000" pitchFamily="50" charset="-127"/>
              <a:ea typeface="KB금융 본문체 Bold" panose="020B0803000000000000" pitchFamily="50" charset="-127"/>
            </a:endParaRPr>
          </a:p>
        </p:txBody>
      </p:sp>
      <p:sp>
        <p:nvSpPr>
          <p:cNvPr id="140" name="사다리꼴 2"/>
          <p:cNvSpPr/>
          <p:nvPr/>
        </p:nvSpPr>
        <p:spPr bwMode="auto">
          <a:xfrm rot="16200000">
            <a:off x="3809267" y="2852292"/>
            <a:ext cx="3223862" cy="1496960"/>
          </a:xfrm>
          <a:custGeom>
            <a:avLst/>
            <a:gdLst>
              <a:gd name="connsiteX0" fmla="*/ 0 w 1434860"/>
              <a:gd name="connsiteY0" fmla="*/ 1210478 h 1210478"/>
              <a:gd name="connsiteX1" fmla="*/ 302620 w 1434860"/>
              <a:gd name="connsiteY1" fmla="*/ 0 h 1210478"/>
              <a:gd name="connsiteX2" fmla="*/ 1132241 w 1434860"/>
              <a:gd name="connsiteY2" fmla="*/ 0 h 1210478"/>
              <a:gd name="connsiteX3" fmla="*/ 1434860 w 1434860"/>
              <a:gd name="connsiteY3" fmla="*/ 1210478 h 1210478"/>
              <a:gd name="connsiteX4" fmla="*/ 0 w 1434860"/>
              <a:gd name="connsiteY4" fmla="*/ 1210478 h 1210478"/>
              <a:gd name="connsiteX0" fmla="*/ 0 w 1434860"/>
              <a:gd name="connsiteY0" fmla="*/ 1210478 h 1210478"/>
              <a:gd name="connsiteX1" fmla="*/ 302620 w 1434860"/>
              <a:gd name="connsiteY1" fmla="*/ 0 h 1210478"/>
              <a:gd name="connsiteX2" fmla="*/ 1268875 w 1434860"/>
              <a:gd name="connsiteY2" fmla="*/ 10511 h 1210478"/>
              <a:gd name="connsiteX3" fmla="*/ 1434860 w 1434860"/>
              <a:gd name="connsiteY3" fmla="*/ 1210478 h 1210478"/>
              <a:gd name="connsiteX4" fmla="*/ 0 w 1434860"/>
              <a:gd name="connsiteY4" fmla="*/ 1210478 h 1210478"/>
              <a:gd name="connsiteX0" fmla="*/ 33711 w 1468571"/>
              <a:gd name="connsiteY0" fmla="*/ 1210478 h 1210478"/>
              <a:gd name="connsiteX1" fmla="*/ 0 w 1468571"/>
              <a:gd name="connsiteY1" fmla="*/ 0 h 1210478"/>
              <a:gd name="connsiteX2" fmla="*/ 1302586 w 1468571"/>
              <a:gd name="connsiteY2" fmla="*/ 10511 h 1210478"/>
              <a:gd name="connsiteX3" fmla="*/ 1468571 w 1468571"/>
              <a:gd name="connsiteY3" fmla="*/ 1210478 h 1210478"/>
              <a:gd name="connsiteX4" fmla="*/ 33711 w 1468571"/>
              <a:gd name="connsiteY4" fmla="*/ 1210478 h 1210478"/>
              <a:gd name="connsiteX0" fmla="*/ 0 w 3158558"/>
              <a:gd name="connsiteY0" fmla="*/ 1504769 h 1504769"/>
              <a:gd name="connsiteX1" fmla="*/ 1689987 w 3158558"/>
              <a:gd name="connsiteY1" fmla="*/ 0 h 1504769"/>
              <a:gd name="connsiteX2" fmla="*/ 2992573 w 3158558"/>
              <a:gd name="connsiteY2" fmla="*/ 10511 h 1504769"/>
              <a:gd name="connsiteX3" fmla="*/ 3158558 w 3158558"/>
              <a:gd name="connsiteY3" fmla="*/ 1210478 h 1504769"/>
              <a:gd name="connsiteX4" fmla="*/ 0 w 3158558"/>
              <a:gd name="connsiteY4" fmla="*/ 1504769 h 1504769"/>
              <a:gd name="connsiteX0" fmla="*/ 0 w 3179582"/>
              <a:gd name="connsiteY0" fmla="*/ 1504769 h 1504769"/>
              <a:gd name="connsiteX1" fmla="*/ 1689987 w 3179582"/>
              <a:gd name="connsiteY1" fmla="*/ 0 h 1504769"/>
              <a:gd name="connsiteX2" fmla="*/ 2992573 w 3179582"/>
              <a:gd name="connsiteY2" fmla="*/ 10511 h 1504769"/>
              <a:gd name="connsiteX3" fmla="*/ 3179582 w 3179582"/>
              <a:gd name="connsiteY3" fmla="*/ 1473236 h 1504769"/>
              <a:gd name="connsiteX4" fmla="*/ 0 w 3179582"/>
              <a:gd name="connsiteY4" fmla="*/ 1504769 h 1504769"/>
              <a:gd name="connsiteX0" fmla="*/ 0 w 3179582"/>
              <a:gd name="connsiteY0" fmla="*/ 1504769 h 1518522"/>
              <a:gd name="connsiteX1" fmla="*/ 1689987 w 3179582"/>
              <a:gd name="connsiteY1" fmla="*/ 0 h 1518522"/>
              <a:gd name="connsiteX2" fmla="*/ 2992573 w 3179582"/>
              <a:gd name="connsiteY2" fmla="*/ 10511 h 1518522"/>
              <a:gd name="connsiteX3" fmla="*/ 3179582 w 3179582"/>
              <a:gd name="connsiteY3" fmla="*/ 1473236 h 1518522"/>
              <a:gd name="connsiteX4" fmla="*/ 3151111 w 3179582"/>
              <a:gd name="connsiteY4" fmla="*/ 1518417 h 1518522"/>
              <a:gd name="connsiteX5" fmla="*/ 0 w 3179582"/>
              <a:gd name="connsiteY5" fmla="*/ 1504769 h 1518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79582" h="1518522">
                <a:moveTo>
                  <a:pt x="0" y="1504769"/>
                </a:moveTo>
                <a:lnTo>
                  <a:pt x="1689987" y="0"/>
                </a:lnTo>
                <a:lnTo>
                  <a:pt x="2992573" y="10511"/>
                </a:lnTo>
                <a:lnTo>
                  <a:pt x="3179582" y="1473236"/>
                </a:lnTo>
                <a:cubicBezTo>
                  <a:pt x="3166587" y="1470527"/>
                  <a:pt x="3164106" y="1521126"/>
                  <a:pt x="3151111" y="1518417"/>
                </a:cubicBezTo>
                <a:lnTo>
                  <a:pt x="0" y="1504769"/>
                </a:lnTo>
                <a:close/>
              </a:path>
            </a:pathLst>
          </a:custGeom>
          <a:gradFill>
            <a:gsLst>
              <a:gs pos="0">
                <a:schemeClr val="bg1"/>
              </a:gs>
              <a:gs pos="50000">
                <a:srgbClr val="FFE9A3"/>
              </a:gs>
              <a:gs pos="100000">
                <a:srgbClr val="FFE9A3"/>
              </a:gs>
            </a:gsLst>
            <a:lin ang="5400000" scaled="0"/>
          </a:gradFill>
          <a:ln w="6350" algn="ctr">
            <a:noFill/>
            <a:miter lim="800000"/>
            <a:headEnd/>
            <a:tailEnd/>
          </a:ln>
        </p:spPr>
        <p:txBody>
          <a:bodyPr wrap="none" lIns="18000" tIns="0" rIns="18000" bIns="0" rtlCol="0" anchor="ctr"/>
          <a:lstStyle/>
          <a:p>
            <a:pPr algn="ctr" latinLnBrk="0">
              <a:lnSpc>
                <a:spcPct val="90000"/>
              </a:lnSpc>
            </a:pPr>
            <a:endParaRPr lang="ko-KR" altLang="en-US" sz="900" dirty="0" smtClean="0"/>
          </a:p>
        </p:txBody>
      </p:sp>
      <p:sp>
        <p:nvSpPr>
          <p:cNvPr id="141" name="아래쪽 화살표 140"/>
          <p:cNvSpPr/>
          <p:nvPr/>
        </p:nvSpPr>
        <p:spPr bwMode="auto">
          <a:xfrm rot="5400000" flipH="1">
            <a:off x="5349100" y="2174198"/>
            <a:ext cx="284910" cy="933093"/>
          </a:xfrm>
          <a:prstGeom prst="downArrow">
            <a:avLst>
              <a:gd name="adj1" fmla="val 60000"/>
              <a:gd name="adj2" fmla="val 56020"/>
            </a:avLst>
          </a:prstGeom>
          <a:gradFill flip="none" rotWithShape="1">
            <a:gsLst>
              <a:gs pos="0">
                <a:schemeClr val="bg1">
                  <a:lumMod val="65000"/>
                </a:schemeClr>
              </a:gs>
              <a:gs pos="50000">
                <a:schemeClr val="bg1">
                  <a:lumMod val="85000"/>
                </a:schemeClr>
              </a:gs>
              <a:gs pos="100000">
                <a:schemeClr val="bg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1000" dirty="0">
              <a:solidFill>
                <a:srgbClr val="FFFFFF"/>
              </a:solidFill>
              <a:latin typeface="나눔고딕" pitchFamily="50" charset="-127"/>
              <a:ea typeface="나눔고딕" pitchFamily="50" charset="-127"/>
            </a:endParaRPr>
          </a:p>
        </p:txBody>
      </p:sp>
      <p:sp>
        <p:nvSpPr>
          <p:cNvPr id="109" name="모서리가 둥근 직사각형 108"/>
          <p:cNvSpPr/>
          <p:nvPr/>
        </p:nvSpPr>
        <p:spPr>
          <a:xfrm>
            <a:off x="2504571" y="2206316"/>
            <a:ext cx="2189162" cy="1900237"/>
          </a:xfrm>
          <a:prstGeom prst="roundRect">
            <a:avLst>
              <a:gd name="adj" fmla="val 3998"/>
            </a:avLst>
          </a:prstGeom>
          <a:noFill/>
          <a:ln w="190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kumimoji="0" lang="ko-KR" altLang="en-US" sz="1000" dirty="0">
              <a:solidFill>
                <a:schemeClr val="tx1"/>
              </a:solidFill>
              <a:effectLst/>
              <a:latin typeface="+mn-ea"/>
            </a:endParaRPr>
          </a:p>
        </p:txBody>
      </p:sp>
      <p:sp>
        <p:nvSpPr>
          <p:cNvPr id="142" name="Rectangle 8"/>
          <p:cNvSpPr>
            <a:spLocks noChangeArrowheads="1"/>
          </p:cNvSpPr>
          <p:nvPr/>
        </p:nvSpPr>
        <p:spPr bwMode="gray">
          <a:xfrm>
            <a:off x="6249144" y="3512073"/>
            <a:ext cx="684000" cy="432000"/>
          </a:xfrm>
          <a:prstGeom prst="rect">
            <a:avLst/>
          </a:prstGeom>
          <a:solidFill>
            <a:srgbClr val="2159B7"/>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lstStyle/>
          <a:p>
            <a:pPr algn="ctr" eaLnBrk="1" hangingPunct="1">
              <a:spcAft>
                <a:spcPct val="30000"/>
              </a:spcAft>
              <a:buClr>
                <a:srgbClr val="7BA8D5"/>
              </a:buClr>
              <a:buFont typeface="Wingdings 2" panose="05020102010507070707" pitchFamily="18" charset="2"/>
              <a:buNone/>
            </a:pPr>
            <a:r>
              <a:rPr kumimoji="0" lang="ko-KR" altLang="en-US" sz="1000" dirty="0">
                <a:solidFill>
                  <a:schemeClr val="bg1"/>
                </a:solidFill>
                <a:latin typeface="KB금융 본문체 Light" panose="020B0303000000000000" pitchFamily="50" charset="-127"/>
                <a:ea typeface="KB금융 본문체 Light" panose="020B0303000000000000" pitchFamily="50" charset="-127"/>
                <a:cs typeface="Times New Roman" panose="02020603050405020304" pitchFamily="18" charset="0"/>
              </a:rPr>
              <a:t>암호화</a:t>
            </a:r>
            <a:r>
              <a:rPr kumimoji="0" lang="en-US" altLang="ko-KR" sz="1000" dirty="0">
                <a:solidFill>
                  <a:schemeClr val="bg1"/>
                </a:solidFill>
                <a:latin typeface="KB금융 본문체 Light" panose="020B0303000000000000" pitchFamily="50" charset="-127"/>
                <a:ea typeface="KB금융 본문체 Light" panose="020B0303000000000000" pitchFamily="50" charset="-127"/>
                <a:cs typeface="Times New Roman" panose="02020603050405020304" pitchFamily="18" charset="0"/>
              </a:rPr>
              <a:t/>
            </a:r>
            <a:br>
              <a:rPr kumimoji="0" lang="en-US" altLang="ko-KR" sz="1000" dirty="0">
                <a:solidFill>
                  <a:schemeClr val="bg1"/>
                </a:solidFill>
                <a:latin typeface="KB금융 본문체 Light" panose="020B0303000000000000" pitchFamily="50" charset="-127"/>
                <a:ea typeface="KB금융 본문체 Light" panose="020B0303000000000000" pitchFamily="50" charset="-127"/>
                <a:cs typeface="Times New Roman" panose="02020603050405020304" pitchFamily="18" charset="0"/>
              </a:rPr>
            </a:br>
            <a:r>
              <a:rPr kumimoji="0" lang="en-US" altLang="ko-KR" sz="1000" dirty="0">
                <a:solidFill>
                  <a:schemeClr val="bg1"/>
                </a:solidFill>
                <a:latin typeface="KB금융 본문체 Light" panose="020B0303000000000000" pitchFamily="50" charset="-127"/>
                <a:ea typeface="KB금융 본문체 Light" panose="020B0303000000000000" pitchFamily="50" charset="-127"/>
                <a:cs typeface="Times New Roman" panose="02020603050405020304" pitchFamily="18" charset="0"/>
              </a:rPr>
              <a:t>Agent</a:t>
            </a:r>
          </a:p>
        </p:txBody>
      </p:sp>
      <p:sp>
        <p:nvSpPr>
          <p:cNvPr id="122" name="직사각형 231"/>
          <p:cNvSpPr>
            <a:spLocks noChangeArrowheads="1"/>
          </p:cNvSpPr>
          <p:nvPr/>
        </p:nvSpPr>
        <p:spPr bwMode="auto">
          <a:xfrm>
            <a:off x="4768506" y="4046476"/>
            <a:ext cx="596317" cy="461665"/>
          </a:xfrm>
          <a:prstGeom prst="rect">
            <a:avLst/>
          </a:prstGeom>
          <a:noFill/>
          <a:ln>
            <a:noFill/>
          </a:ln>
          <a:extLst/>
        </p:spPr>
        <p:txBody>
          <a:bodyPr wrap="none" lIns="0" tIns="0" rIns="0" bIns="0">
            <a:spAutoFit/>
          </a:bodyPr>
          <a:lstStyle>
            <a:lvl1pPr latinLnBrk="1">
              <a:spcBef>
                <a:spcPct val="20000"/>
              </a:spcBef>
              <a:buFont typeface="Arial" panose="020B0604020202020204" pitchFamily="34" charset="0"/>
              <a:buChar char="•"/>
              <a:defRPr sz="3200">
                <a:solidFill>
                  <a:schemeClr val="tx1"/>
                </a:solidFill>
                <a:latin typeface="맑은 고딕" panose="020B0503020000020004" pitchFamily="50" charset="-127"/>
                <a:ea typeface="맑은 고딕" panose="020B0503020000020004" pitchFamily="50" charset="-127"/>
              </a:defRPr>
            </a:lvl1pPr>
            <a:lvl2pPr marL="742950" indent="-285750" latinLnBrk="1">
              <a:spcBef>
                <a:spcPct val="20000"/>
              </a:spcBef>
              <a:buFont typeface="Arial" panose="020B0604020202020204" pitchFamily="34" charset="0"/>
              <a:buChar char="–"/>
              <a:defRPr sz="2800">
                <a:solidFill>
                  <a:schemeClr val="tx1"/>
                </a:solidFill>
                <a:latin typeface="맑은 고딕" panose="020B0503020000020004" pitchFamily="50" charset="-127"/>
                <a:ea typeface="맑은 고딕" panose="020B0503020000020004" pitchFamily="50" charset="-127"/>
              </a:defRPr>
            </a:lvl2pPr>
            <a:lvl3pPr marL="1143000" indent="-228600" latinLnBrk="1">
              <a:spcBef>
                <a:spcPct val="20000"/>
              </a:spcBef>
              <a:buFont typeface="Arial" panose="020B0604020202020204" pitchFamily="34" charset="0"/>
              <a:buChar char="•"/>
              <a:defRPr sz="2400">
                <a:solidFill>
                  <a:schemeClr val="tx1"/>
                </a:solidFill>
                <a:latin typeface="맑은 고딕" panose="020B0503020000020004" pitchFamily="50" charset="-127"/>
                <a:ea typeface="맑은 고딕" panose="020B0503020000020004" pitchFamily="50" charset="-127"/>
              </a:defRPr>
            </a:lvl3pPr>
            <a:lvl4pPr marL="1600200" indent="-228600" latinLnBrk="1">
              <a:spcBef>
                <a:spcPct val="20000"/>
              </a:spcBef>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4pPr>
            <a:lvl5pPr marL="2057400" indent="-228600" latinLnBrk="1">
              <a:spcBef>
                <a:spcPct val="20000"/>
              </a:spcBef>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9pPr>
          </a:lstStyle>
          <a:p>
            <a:pPr eaLnBrk="1" latinLnBrk="0" hangingPunct="1">
              <a:spcBef>
                <a:spcPct val="0"/>
              </a:spcBef>
              <a:spcAft>
                <a:spcPct val="30000"/>
              </a:spcAft>
              <a:buClr>
                <a:srgbClr val="7BA8D5"/>
              </a:buClr>
              <a:buFont typeface="Wingdings 2" panose="05020102010507070707" pitchFamily="18" charset="2"/>
              <a:buNone/>
            </a:pPr>
            <a:r>
              <a:rPr lang="ko-KR" altLang="en-US" sz="1000" b="1" dirty="0">
                <a:effectLst/>
                <a:latin typeface="+mn-ea"/>
                <a:ea typeface="+mn-ea"/>
              </a:rPr>
              <a:t>인증 및</a:t>
            </a:r>
            <a:r>
              <a:rPr lang="en-US" altLang="ko-KR" sz="1000" b="1" dirty="0">
                <a:effectLst/>
                <a:latin typeface="+mn-ea"/>
                <a:ea typeface="+mn-ea"/>
              </a:rPr>
              <a:t/>
            </a:r>
            <a:br>
              <a:rPr lang="en-US" altLang="ko-KR" sz="1000" b="1" dirty="0">
                <a:effectLst/>
                <a:latin typeface="+mn-ea"/>
                <a:ea typeface="+mn-ea"/>
              </a:rPr>
            </a:br>
            <a:r>
              <a:rPr lang="ko-KR" altLang="en-US" sz="1000" b="1" dirty="0" err="1">
                <a:effectLst/>
                <a:latin typeface="+mn-ea"/>
                <a:ea typeface="+mn-ea"/>
              </a:rPr>
              <a:t>암복호화</a:t>
            </a:r>
            <a:r>
              <a:rPr lang="ko-KR" altLang="en-US" sz="1000" b="1" dirty="0">
                <a:effectLst/>
                <a:latin typeface="+mn-ea"/>
                <a:ea typeface="+mn-ea"/>
              </a:rPr>
              <a:t> 키</a:t>
            </a:r>
            <a:r>
              <a:rPr lang="en-US" altLang="ko-KR" sz="1000" b="1" dirty="0">
                <a:effectLst/>
                <a:latin typeface="+mn-ea"/>
                <a:ea typeface="+mn-ea"/>
              </a:rPr>
              <a:t/>
            </a:r>
            <a:br>
              <a:rPr lang="en-US" altLang="ko-KR" sz="1000" b="1" dirty="0">
                <a:effectLst/>
                <a:latin typeface="+mn-ea"/>
                <a:ea typeface="+mn-ea"/>
              </a:rPr>
            </a:br>
            <a:r>
              <a:rPr lang="ko-KR" altLang="en-US" sz="1000" b="1" dirty="0">
                <a:effectLst/>
                <a:latin typeface="+mn-ea"/>
                <a:ea typeface="+mn-ea"/>
              </a:rPr>
              <a:t>요청</a:t>
            </a:r>
            <a:r>
              <a:rPr lang="en-US" altLang="ko-KR" sz="1000" b="1" dirty="0">
                <a:effectLst/>
                <a:latin typeface="+mn-ea"/>
                <a:ea typeface="+mn-ea"/>
              </a:rPr>
              <a:t>/</a:t>
            </a:r>
            <a:r>
              <a:rPr lang="ko-KR" altLang="en-US" sz="1000" b="1" dirty="0">
                <a:effectLst/>
                <a:latin typeface="+mn-ea"/>
                <a:ea typeface="+mn-ea"/>
              </a:rPr>
              <a:t>응답</a:t>
            </a:r>
            <a:endParaRPr lang="en-US" altLang="ko-KR" sz="1000" b="1" dirty="0">
              <a:effectLst/>
              <a:latin typeface="+mn-ea"/>
              <a:ea typeface="+mn-ea"/>
            </a:endParaRPr>
          </a:p>
        </p:txBody>
      </p:sp>
      <p:sp>
        <p:nvSpPr>
          <p:cNvPr id="143" name="AutoShape 9"/>
          <p:cNvSpPr>
            <a:spLocks noChangeArrowheads="1"/>
          </p:cNvSpPr>
          <p:nvPr/>
        </p:nvSpPr>
        <p:spPr bwMode="auto">
          <a:xfrm>
            <a:off x="2781526" y="4597754"/>
            <a:ext cx="517525" cy="227012"/>
          </a:xfrm>
          <a:prstGeom prst="roundRect">
            <a:avLst>
              <a:gd name="adj" fmla="val 8375"/>
            </a:avLst>
          </a:prstGeom>
          <a:solidFill>
            <a:srgbClr val="999999"/>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nchorCtr="1"/>
          <a:lstStyle>
            <a:lvl1pPr latinLnBrk="1">
              <a:spcBef>
                <a:spcPct val="20000"/>
              </a:spcBef>
              <a:buFont typeface="Arial" panose="020B0604020202020204" pitchFamily="34" charset="0"/>
              <a:buChar char="•"/>
              <a:defRPr sz="3200">
                <a:solidFill>
                  <a:schemeClr val="tx1"/>
                </a:solidFill>
                <a:latin typeface="맑은 고딕" panose="020B0503020000020004" pitchFamily="50" charset="-127"/>
                <a:ea typeface="맑은 고딕" panose="020B0503020000020004" pitchFamily="50" charset="-127"/>
              </a:defRPr>
            </a:lvl1pPr>
            <a:lvl2pPr indent="-285750" latinLnBrk="1">
              <a:spcBef>
                <a:spcPct val="20000"/>
              </a:spcBef>
              <a:buFont typeface="Arial" panose="020B0604020202020204" pitchFamily="34" charset="0"/>
              <a:buChar char="–"/>
              <a:defRPr sz="2800">
                <a:solidFill>
                  <a:schemeClr val="tx1"/>
                </a:solidFill>
                <a:latin typeface="맑은 고딕" panose="020B0503020000020004" pitchFamily="50" charset="-127"/>
                <a:ea typeface="맑은 고딕" panose="020B0503020000020004" pitchFamily="50" charset="-127"/>
              </a:defRPr>
            </a:lvl2pPr>
            <a:lvl3pPr indent="-228600" latinLnBrk="1">
              <a:spcBef>
                <a:spcPct val="20000"/>
              </a:spcBef>
              <a:buFont typeface="Arial" panose="020B0604020202020204" pitchFamily="34" charset="0"/>
              <a:buChar char="•"/>
              <a:defRPr sz="2400">
                <a:solidFill>
                  <a:schemeClr val="tx1"/>
                </a:solidFill>
                <a:latin typeface="맑은 고딕" panose="020B0503020000020004" pitchFamily="50" charset="-127"/>
                <a:ea typeface="맑은 고딕" panose="020B0503020000020004" pitchFamily="50" charset="-127"/>
              </a:defRPr>
            </a:lvl3pPr>
            <a:lvl4pPr indent="-228600" latinLnBrk="1">
              <a:spcBef>
                <a:spcPct val="20000"/>
              </a:spcBef>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4pPr>
            <a:lvl5pPr indent="-228600" latinLnBrk="1">
              <a:spcBef>
                <a:spcPct val="20000"/>
              </a:spcBef>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5pPr>
            <a:lvl6pPr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6pPr>
            <a:lvl7pPr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7pPr>
            <a:lvl8pPr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8pPr>
            <a:lvl9pPr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9pPr>
          </a:lstStyle>
          <a:p>
            <a:pPr algn="ctr">
              <a:spcBef>
                <a:spcPct val="50000"/>
              </a:spcBef>
              <a:buFontTx/>
              <a:buNone/>
            </a:pPr>
            <a:r>
              <a:rPr lang="en-US" altLang="ko-KR" sz="1000" b="1" dirty="0">
                <a:solidFill>
                  <a:schemeClr val="bg1"/>
                </a:solidFill>
                <a:effectLst/>
                <a:latin typeface="KB금융 본문체 Light" panose="020B0303000000000000" pitchFamily="50" charset="-127"/>
                <a:ea typeface="KB금융 본문체 Light" panose="020B0303000000000000" pitchFamily="50" charset="-127"/>
              </a:rPr>
              <a:t>KEY</a:t>
            </a:r>
          </a:p>
        </p:txBody>
      </p:sp>
      <p:sp>
        <p:nvSpPr>
          <p:cNvPr id="144" name="AutoShape 9"/>
          <p:cNvSpPr>
            <a:spLocks noChangeArrowheads="1"/>
          </p:cNvSpPr>
          <p:nvPr/>
        </p:nvSpPr>
        <p:spPr bwMode="auto">
          <a:xfrm>
            <a:off x="3386363" y="4597754"/>
            <a:ext cx="517525" cy="227012"/>
          </a:xfrm>
          <a:prstGeom prst="roundRect">
            <a:avLst>
              <a:gd name="adj" fmla="val 8375"/>
            </a:avLst>
          </a:prstGeom>
          <a:solidFill>
            <a:srgbClr val="999999"/>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nchorCtr="1"/>
          <a:lstStyle>
            <a:lvl1pPr latinLnBrk="1">
              <a:spcBef>
                <a:spcPct val="20000"/>
              </a:spcBef>
              <a:buFont typeface="Arial" panose="020B0604020202020204" pitchFamily="34" charset="0"/>
              <a:buChar char="•"/>
              <a:defRPr sz="3200">
                <a:solidFill>
                  <a:schemeClr val="tx1"/>
                </a:solidFill>
                <a:latin typeface="맑은 고딕" panose="020B0503020000020004" pitchFamily="50" charset="-127"/>
                <a:ea typeface="맑은 고딕" panose="020B0503020000020004" pitchFamily="50" charset="-127"/>
              </a:defRPr>
            </a:lvl1pPr>
            <a:lvl2pPr indent="-285750" latinLnBrk="1">
              <a:spcBef>
                <a:spcPct val="20000"/>
              </a:spcBef>
              <a:buFont typeface="Arial" panose="020B0604020202020204" pitchFamily="34" charset="0"/>
              <a:buChar char="–"/>
              <a:defRPr sz="2800">
                <a:solidFill>
                  <a:schemeClr val="tx1"/>
                </a:solidFill>
                <a:latin typeface="맑은 고딕" panose="020B0503020000020004" pitchFamily="50" charset="-127"/>
                <a:ea typeface="맑은 고딕" panose="020B0503020000020004" pitchFamily="50" charset="-127"/>
              </a:defRPr>
            </a:lvl2pPr>
            <a:lvl3pPr indent="-228600" latinLnBrk="1">
              <a:spcBef>
                <a:spcPct val="20000"/>
              </a:spcBef>
              <a:buFont typeface="Arial" panose="020B0604020202020204" pitchFamily="34" charset="0"/>
              <a:buChar char="•"/>
              <a:defRPr sz="2400">
                <a:solidFill>
                  <a:schemeClr val="tx1"/>
                </a:solidFill>
                <a:latin typeface="맑은 고딕" panose="020B0503020000020004" pitchFamily="50" charset="-127"/>
                <a:ea typeface="맑은 고딕" panose="020B0503020000020004" pitchFamily="50" charset="-127"/>
              </a:defRPr>
            </a:lvl3pPr>
            <a:lvl4pPr indent="-228600" latinLnBrk="1">
              <a:spcBef>
                <a:spcPct val="20000"/>
              </a:spcBef>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4pPr>
            <a:lvl5pPr indent="-228600" latinLnBrk="1">
              <a:spcBef>
                <a:spcPct val="20000"/>
              </a:spcBef>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5pPr>
            <a:lvl6pPr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6pPr>
            <a:lvl7pPr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7pPr>
            <a:lvl8pPr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8pPr>
            <a:lvl9pPr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9pPr>
          </a:lstStyle>
          <a:p>
            <a:pPr algn="ctr">
              <a:spcBef>
                <a:spcPct val="50000"/>
              </a:spcBef>
              <a:buFontTx/>
              <a:buNone/>
            </a:pPr>
            <a:r>
              <a:rPr lang="ko-KR" altLang="en-US" sz="1000" b="1" dirty="0">
                <a:solidFill>
                  <a:schemeClr val="bg1"/>
                </a:solidFill>
                <a:effectLst/>
                <a:latin typeface="KB금융 본문체 Light" panose="020B0303000000000000" pitchFamily="50" charset="-127"/>
                <a:ea typeface="KB금융 본문체 Light" panose="020B0303000000000000" pitchFamily="50" charset="-127"/>
              </a:rPr>
              <a:t>정책</a:t>
            </a:r>
            <a:endParaRPr lang="en-US" altLang="ko-KR" sz="1000" b="1" dirty="0">
              <a:solidFill>
                <a:schemeClr val="bg1"/>
              </a:solidFill>
              <a:effectLst/>
              <a:latin typeface="KB금융 본문체 Light" panose="020B0303000000000000" pitchFamily="50" charset="-127"/>
              <a:ea typeface="KB금융 본문체 Light" panose="020B0303000000000000" pitchFamily="50" charset="-127"/>
            </a:endParaRPr>
          </a:p>
        </p:txBody>
      </p:sp>
      <p:sp>
        <p:nvSpPr>
          <p:cNvPr id="145" name="AutoShape 9"/>
          <p:cNvSpPr>
            <a:spLocks noChangeArrowheads="1"/>
          </p:cNvSpPr>
          <p:nvPr/>
        </p:nvSpPr>
        <p:spPr bwMode="auto">
          <a:xfrm>
            <a:off x="3991201" y="4597754"/>
            <a:ext cx="517525" cy="227012"/>
          </a:xfrm>
          <a:prstGeom prst="roundRect">
            <a:avLst>
              <a:gd name="adj" fmla="val 8375"/>
            </a:avLst>
          </a:prstGeom>
          <a:solidFill>
            <a:srgbClr val="999999"/>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nchorCtr="1"/>
          <a:lstStyle>
            <a:lvl1pPr latinLnBrk="1">
              <a:spcBef>
                <a:spcPct val="20000"/>
              </a:spcBef>
              <a:buFont typeface="Arial" panose="020B0604020202020204" pitchFamily="34" charset="0"/>
              <a:buChar char="•"/>
              <a:defRPr sz="3200">
                <a:solidFill>
                  <a:schemeClr val="tx1"/>
                </a:solidFill>
                <a:latin typeface="맑은 고딕" panose="020B0503020000020004" pitchFamily="50" charset="-127"/>
                <a:ea typeface="맑은 고딕" panose="020B0503020000020004" pitchFamily="50" charset="-127"/>
              </a:defRPr>
            </a:lvl1pPr>
            <a:lvl2pPr indent="-285750" latinLnBrk="1">
              <a:spcBef>
                <a:spcPct val="20000"/>
              </a:spcBef>
              <a:buFont typeface="Arial" panose="020B0604020202020204" pitchFamily="34" charset="0"/>
              <a:buChar char="–"/>
              <a:defRPr sz="2800">
                <a:solidFill>
                  <a:schemeClr val="tx1"/>
                </a:solidFill>
                <a:latin typeface="맑은 고딕" panose="020B0503020000020004" pitchFamily="50" charset="-127"/>
                <a:ea typeface="맑은 고딕" panose="020B0503020000020004" pitchFamily="50" charset="-127"/>
              </a:defRPr>
            </a:lvl2pPr>
            <a:lvl3pPr indent="-228600" latinLnBrk="1">
              <a:spcBef>
                <a:spcPct val="20000"/>
              </a:spcBef>
              <a:buFont typeface="Arial" panose="020B0604020202020204" pitchFamily="34" charset="0"/>
              <a:buChar char="•"/>
              <a:defRPr sz="2400">
                <a:solidFill>
                  <a:schemeClr val="tx1"/>
                </a:solidFill>
                <a:latin typeface="맑은 고딕" panose="020B0503020000020004" pitchFamily="50" charset="-127"/>
                <a:ea typeface="맑은 고딕" panose="020B0503020000020004" pitchFamily="50" charset="-127"/>
              </a:defRPr>
            </a:lvl3pPr>
            <a:lvl4pPr indent="-228600" latinLnBrk="1">
              <a:spcBef>
                <a:spcPct val="20000"/>
              </a:spcBef>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4pPr>
            <a:lvl5pPr indent="-228600" latinLnBrk="1">
              <a:spcBef>
                <a:spcPct val="20000"/>
              </a:spcBef>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5pPr>
            <a:lvl6pPr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6pPr>
            <a:lvl7pPr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7pPr>
            <a:lvl8pPr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8pPr>
            <a:lvl9pPr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9pPr>
          </a:lstStyle>
          <a:p>
            <a:pPr algn="ctr">
              <a:spcBef>
                <a:spcPct val="50000"/>
              </a:spcBef>
              <a:buFontTx/>
              <a:buNone/>
            </a:pPr>
            <a:r>
              <a:rPr lang="ko-KR" altLang="en-US" sz="1000" b="1" dirty="0" smtClean="0">
                <a:solidFill>
                  <a:schemeClr val="bg1"/>
                </a:solidFill>
                <a:effectLst/>
                <a:latin typeface="KB금융 본문체 Light" panose="020B0303000000000000" pitchFamily="50" charset="-127"/>
                <a:ea typeface="KB금융 본문체 Light" panose="020B0303000000000000" pitchFamily="50" charset="-127"/>
              </a:rPr>
              <a:t>로그</a:t>
            </a:r>
            <a:endParaRPr lang="en-US" altLang="ko-KR" sz="1000" b="1" dirty="0">
              <a:solidFill>
                <a:schemeClr val="bg1"/>
              </a:solidFill>
              <a:effectLst/>
              <a:latin typeface="KB금융 본문체 Light" panose="020B0303000000000000" pitchFamily="50" charset="-127"/>
              <a:ea typeface="KB금융 본문체 Light" panose="020B0303000000000000" pitchFamily="50" charset="-127"/>
            </a:endParaRPr>
          </a:p>
        </p:txBody>
      </p:sp>
      <p:sp>
        <p:nvSpPr>
          <p:cNvPr id="146" name="모서리가 둥근 직사각형 37"/>
          <p:cNvSpPr>
            <a:spLocks noChangeArrowheads="1"/>
          </p:cNvSpPr>
          <p:nvPr/>
        </p:nvSpPr>
        <p:spPr bwMode="auto">
          <a:xfrm>
            <a:off x="3312136" y="4932855"/>
            <a:ext cx="1295400" cy="241300"/>
          </a:xfrm>
          <a:prstGeom prst="roundRect">
            <a:avLst>
              <a:gd name="adj" fmla="val 16667"/>
            </a:avLst>
          </a:prstGeom>
          <a:solidFill>
            <a:schemeClr val="bg1"/>
          </a:solidFill>
          <a:ln w="28575" algn="ctr">
            <a:solidFill>
              <a:srgbClr val="BFBFBF"/>
            </a:solidFill>
            <a:round/>
            <a:headEnd/>
            <a:tailEnd/>
          </a:ln>
        </p:spPr>
        <p:txBody>
          <a:bodyPr lIns="0" tIns="0" rIns="0" bIns="0" anchor="ctr"/>
          <a:lstStyle>
            <a:lvl1pPr latinLnBrk="1">
              <a:spcBef>
                <a:spcPct val="20000"/>
              </a:spcBef>
              <a:buFont typeface="Arial" panose="020B0604020202020204" pitchFamily="34" charset="0"/>
              <a:buChar char="•"/>
              <a:defRPr sz="3200">
                <a:solidFill>
                  <a:schemeClr val="tx1"/>
                </a:solidFill>
                <a:latin typeface="맑은 고딕" panose="020B0503020000020004" pitchFamily="50" charset="-127"/>
                <a:ea typeface="맑은 고딕" panose="020B0503020000020004" pitchFamily="50" charset="-127"/>
              </a:defRPr>
            </a:lvl1pPr>
            <a:lvl2pPr indent="-285750" latinLnBrk="1">
              <a:spcBef>
                <a:spcPct val="20000"/>
              </a:spcBef>
              <a:buFont typeface="Arial" panose="020B0604020202020204" pitchFamily="34" charset="0"/>
              <a:buChar char="–"/>
              <a:defRPr sz="2800">
                <a:solidFill>
                  <a:schemeClr val="tx1"/>
                </a:solidFill>
                <a:latin typeface="맑은 고딕" panose="020B0503020000020004" pitchFamily="50" charset="-127"/>
                <a:ea typeface="맑은 고딕" panose="020B0503020000020004" pitchFamily="50" charset="-127"/>
              </a:defRPr>
            </a:lvl2pPr>
            <a:lvl3pPr indent="-228600" latinLnBrk="1">
              <a:spcBef>
                <a:spcPct val="20000"/>
              </a:spcBef>
              <a:buFont typeface="Arial" panose="020B0604020202020204" pitchFamily="34" charset="0"/>
              <a:buChar char="•"/>
              <a:defRPr sz="2400">
                <a:solidFill>
                  <a:schemeClr val="tx1"/>
                </a:solidFill>
                <a:latin typeface="맑은 고딕" panose="020B0503020000020004" pitchFamily="50" charset="-127"/>
                <a:ea typeface="맑은 고딕" panose="020B0503020000020004" pitchFamily="50" charset="-127"/>
              </a:defRPr>
            </a:lvl3pPr>
            <a:lvl4pPr indent="-228600" latinLnBrk="1">
              <a:spcBef>
                <a:spcPct val="20000"/>
              </a:spcBef>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4pPr>
            <a:lvl5pPr indent="-228600" latinLnBrk="1">
              <a:spcBef>
                <a:spcPct val="20000"/>
              </a:spcBef>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5pPr>
            <a:lvl6pPr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6pPr>
            <a:lvl7pPr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7pPr>
            <a:lvl8pPr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8pPr>
            <a:lvl9pPr indent="-228600" eaLnBrk="0" fontAlgn="base" hangingPunct="0">
              <a:spcBef>
                <a:spcPct val="20000"/>
              </a:spcBef>
              <a:spcAft>
                <a:spcPct val="0"/>
              </a:spcAft>
              <a:buFont typeface="Arial" panose="020B0604020202020204" pitchFamily="34" charset="0"/>
              <a:buChar char="»"/>
              <a:defRPr sz="2000">
                <a:solidFill>
                  <a:schemeClr val="tx1"/>
                </a:solidFill>
                <a:latin typeface="맑은 고딕" panose="020B0503020000020004" pitchFamily="50" charset="-127"/>
                <a:ea typeface="맑은 고딕" panose="020B0503020000020004" pitchFamily="50" charset="-127"/>
              </a:defRPr>
            </a:lvl9pPr>
          </a:lstStyle>
          <a:p>
            <a:pPr algn="ctr" eaLnBrk="1" latinLnBrk="0" hangingPunct="1">
              <a:spcBef>
                <a:spcPct val="0"/>
              </a:spcBef>
              <a:spcAft>
                <a:spcPct val="30000"/>
              </a:spcAft>
              <a:buClr>
                <a:srgbClr val="7BA8D5"/>
              </a:buClr>
              <a:buFont typeface="Wingdings 2" panose="05020102010507070707" pitchFamily="18" charset="2"/>
              <a:buNone/>
            </a:pPr>
            <a:r>
              <a:rPr kumimoji="0" lang="en-US" altLang="ko-KR" sz="1000" b="1" dirty="0" err="1">
                <a:effectLst/>
                <a:latin typeface="KB금융 본문체 Light" panose="020B0303000000000000" pitchFamily="50" charset="-127"/>
                <a:ea typeface="KB금융 본문체 Light" panose="020B0303000000000000" pitchFamily="50" charset="-127"/>
                <a:cs typeface="Times New Roman" panose="02020603050405020304" pitchFamily="18" charset="0"/>
              </a:rPr>
              <a:t>D’Amo</a:t>
            </a:r>
            <a:r>
              <a:rPr kumimoji="0" lang="en-US" altLang="ko-KR" sz="1000" b="1" dirty="0">
                <a:effectLst/>
                <a:latin typeface="KB금융 본문체 Light" panose="020B0303000000000000" pitchFamily="50" charset="-127"/>
                <a:ea typeface="KB금융 본문체 Light" panose="020B0303000000000000" pitchFamily="50" charset="-127"/>
                <a:cs typeface="Times New Roman" panose="02020603050405020304" pitchFamily="18" charset="0"/>
              </a:rPr>
              <a:t> </a:t>
            </a:r>
            <a:r>
              <a:rPr kumimoji="0" lang="en-US" altLang="ko-KR" sz="1000" b="1" dirty="0" smtClean="0">
                <a:effectLst/>
                <a:latin typeface="KB금융 본문체 Light" panose="020B0303000000000000" pitchFamily="50" charset="-127"/>
                <a:ea typeface="KB금융 본문체 Light" panose="020B0303000000000000" pitchFamily="50" charset="-127"/>
                <a:cs typeface="Times New Roman" panose="02020603050405020304" pitchFamily="18" charset="0"/>
              </a:rPr>
              <a:t>KMS</a:t>
            </a:r>
            <a:endParaRPr kumimoji="0" lang="ko-KR" altLang="en-US" sz="1000" b="1" dirty="0">
              <a:effectLst/>
              <a:latin typeface="KB금융 본문체 Light" panose="020B0303000000000000" pitchFamily="50" charset="-127"/>
              <a:ea typeface="KB금융 본문체 Light" panose="020B0303000000000000" pitchFamily="50" charset="-127"/>
              <a:cs typeface="Times New Roman" panose="02020603050405020304" pitchFamily="18" charset="0"/>
            </a:endParaRPr>
          </a:p>
        </p:txBody>
      </p:sp>
      <p:pic>
        <p:nvPicPr>
          <p:cNvPr id="111" name="그림 45" descr="서버일반.emf"/>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900772" y="1969519"/>
            <a:ext cx="360040" cy="450756"/>
          </a:xfrm>
          <a:prstGeom prst="rect">
            <a:avLst/>
          </a:prstGeom>
          <a:noFill/>
          <a:ln>
            <a:noFill/>
          </a:ln>
          <a:extLst/>
        </p:spPr>
      </p:pic>
    </p:spTree>
    <p:extLst>
      <p:ext uri="{BB962C8B-B14F-4D97-AF65-F5344CB8AC3E}">
        <p14:creationId xmlns:p14="http://schemas.microsoft.com/office/powerpoint/2010/main" val="34744498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53336" y="2586970"/>
            <a:ext cx="3399329" cy="553998"/>
          </a:xfrm>
          <a:prstGeom prst="rect">
            <a:avLst/>
          </a:prstGeom>
          <a:noFill/>
        </p:spPr>
        <p:txBody>
          <a:bodyPr wrap="none" rtlCol="0">
            <a:spAutoFit/>
          </a:bodyPr>
          <a:lstStyle/>
          <a:p>
            <a:pPr algn="ctr"/>
            <a:r>
              <a:rPr lang="en-US" altLang="ko-KR" sz="3000" dirty="0" smtClean="0">
                <a:latin typeface="KB금융 제목체 Medium" panose="020B0603000000000000" pitchFamily="50" charset="-127"/>
                <a:ea typeface="KB금융 제목체 Medium" panose="020B0603000000000000" pitchFamily="50" charset="-127"/>
              </a:rPr>
              <a:t>End of Document</a:t>
            </a:r>
            <a:endParaRPr lang="ko-KR" altLang="en-US" sz="3000" dirty="0">
              <a:latin typeface="KB금융 제목체 Medium" panose="020B0603000000000000" pitchFamily="50" charset="-127"/>
              <a:ea typeface="KB금융 제목체 Medium" panose="020B0603000000000000" pitchFamily="50" charset="-127"/>
            </a:endParaRPr>
          </a:p>
        </p:txBody>
      </p:sp>
    </p:spTree>
    <p:extLst>
      <p:ext uri="{BB962C8B-B14F-4D97-AF65-F5344CB8AC3E}">
        <p14:creationId xmlns:p14="http://schemas.microsoft.com/office/powerpoint/2010/main" val="6903504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ko-KR" altLang="en-US" smtClean="0"/>
              <a:t>첨부</a:t>
            </a:r>
            <a:r>
              <a:rPr lang="en-US" altLang="ko-KR" smtClean="0"/>
              <a:t>1. </a:t>
            </a:r>
            <a:r>
              <a:rPr lang="ko-KR" altLang="en-US" smtClean="0"/>
              <a:t>암호키 신청방법</a:t>
            </a:r>
            <a:r>
              <a:rPr lang="en-US" altLang="ko-KR" smtClean="0"/>
              <a:t>(1/4)</a:t>
            </a:r>
            <a:endParaRPr lang="ko-KR" altLang="en-US" dirty="0"/>
          </a:p>
        </p:txBody>
      </p:sp>
      <p:sp>
        <p:nvSpPr>
          <p:cNvPr id="56" name="Rectangle 3"/>
          <p:cNvSpPr>
            <a:spLocks noChangeArrowheads="1"/>
          </p:cNvSpPr>
          <p:nvPr/>
        </p:nvSpPr>
        <p:spPr bwMode="auto">
          <a:xfrm>
            <a:off x="308484" y="584684"/>
            <a:ext cx="9144000" cy="351186"/>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ko-KR" altLang="en-US" sz="1400" b="1" smtClean="0">
                <a:latin typeface="KB금융 본문체 Light" panose="020B0303000000000000" pitchFamily="50" charset="-127"/>
                <a:ea typeface="KB금융 본문체 Light" panose="020B0303000000000000" pitchFamily="50" charset="-127"/>
                <a:cs typeface="ヒラギノ角ゴ ProN W3"/>
              </a:rPr>
              <a:t>신청 절차</a:t>
            </a:r>
            <a:endParaRPr lang="en-US" altLang="ko-KR" sz="1400" b="1"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25" name="Rectangle 3"/>
          <p:cNvSpPr>
            <a:spLocks noChangeArrowheads="1"/>
          </p:cNvSpPr>
          <p:nvPr/>
        </p:nvSpPr>
        <p:spPr bwMode="auto">
          <a:xfrm>
            <a:off x="699993" y="873411"/>
            <a:ext cx="8753507" cy="1403461"/>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ko-KR" altLang="en-US" sz="1200" smtClean="0">
                <a:latin typeface="KB금융 본문체 Light" panose="020B0303000000000000" pitchFamily="50" charset="-127"/>
                <a:ea typeface="KB금융 본문체 Light" panose="020B0303000000000000" pitchFamily="50" charset="-127"/>
                <a:cs typeface="ヒラギノ角ゴ ProN W3"/>
              </a:rPr>
              <a:t>개인정보를 취급하는 업무 시스템에서 신규 암호화를 하기 위한 처리 순서를 정의한다</a:t>
            </a:r>
            <a:endParaRPr lang="en-US" altLang="ko-KR" sz="1200" smtClean="0">
              <a:latin typeface="KB금융 본문체 Light" panose="020B0303000000000000" pitchFamily="50" charset="-127"/>
              <a:ea typeface="KB금융 본문체 Light" panose="020B0303000000000000" pitchFamily="50" charset="-127"/>
              <a:cs typeface="ヒラギノ角ゴ ProN W3"/>
            </a:endParaRPr>
          </a:p>
          <a:p>
            <a:pPr marL="285750" indent="-285750">
              <a:lnSpc>
                <a:spcPct val="130000"/>
              </a:lnSpc>
              <a:spcBef>
                <a:spcPct val="20000"/>
              </a:spcBef>
              <a:buSzPct val="100000"/>
              <a:buFont typeface="Wingdings" panose="05000000000000000000" pitchFamily="2" charset="2"/>
              <a:buChar char="l"/>
            </a:pPr>
            <a:r>
              <a:rPr lang="ko-KR" altLang="en-US" sz="1200" smtClean="0">
                <a:latin typeface="KB금융 본문체 Light" panose="020B0303000000000000" pitchFamily="50" charset="-127"/>
                <a:ea typeface="KB금융 본문체 Light" panose="020B0303000000000000" pitchFamily="50" charset="-127"/>
                <a:cs typeface="ヒラギノ角ゴ ProN W3"/>
              </a:rPr>
              <a:t>당행의 암호화 구현방법은 </a:t>
            </a:r>
            <a:r>
              <a:rPr lang="en-US" altLang="ko-KR" sz="1200" smtClean="0">
                <a:latin typeface="KB금융 본문체 Light" panose="020B0303000000000000" pitchFamily="50" charset="-127"/>
                <a:ea typeface="KB금융 본문체 Light" panose="020B0303000000000000" pitchFamily="50" charset="-127"/>
                <a:cs typeface="ヒラギノ角ゴ ProN W3"/>
              </a:rPr>
              <a:t>API</a:t>
            </a:r>
            <a:r>
              <a:rPr lang="ko-KR" altLang="en-US" sz="1200" smtClean="0">
                <a:latin typeface="KB금융 본문체 Light" panose="020B0303000000000000" pitchFamily="50" charset="-127"/>
                <a:ea typeface="KB금융 본문체 Light" panose="020B0303000000000000" pitchFamily="50" charset="-127"/>
                <a:cs typeface="ヒラギノ角ゴ ProN W3"/>
              </a:rPr>
              <a:t>방식의 전용 암호화 프로그램을 적용해야 한다</a:t>
            </a:r>
            <a:endParaRPr lang="en-US" altLang="ko-KR" sz="1200" smtClean="0">
              <a:latin typeface="KB금융 본문체 Light" panose="020B0303000000000000" pitchFamily="50" charset="-127"/>
              <a:ea typeface="KB금융 본문체 Light" panose="020B0303000000000000" pitchFamily="50" charset="-127"/>
              <a:cs typeface="ヒラギノ角ゴ ProN W3"/>
            </a:endParaRPr>
          </a:p>
          <a:p>
            <a:pPr marL="285750" indent="-285750">
              <a:lnSpc>
                <a:spcPct val="130000"/>
              </a:lnSpc>
              <a:spcBef>
                <a:spcPct val="20000"/>
              </a:spcBef>
              <a:buSzPct val="100000"/>
              <a:buFont typeface="Wingdings" panose="05000000000000000000" pitchFamily="2" charset="2"/>
              <a:buChar char="l"/>
            </a:pPr>
            <a:r>
              <a:rPr lang="en-US" altLang="ko-KR" sz="1200" smtClean="0">
                <a:latin typeface="KB금융 본문체 Light" panose="020B0303000000000000" pitchFamily="50" charset="-127"/>
                <a:ea typeface="KB금융 본문체 Light" panose="020B0303000000000000" pitchFamily="50" charset="-127"/>
                <a:cs typeface="ヒラギノ角ゴ ProN W3"/>
              </a:rPr>
              <a:t>②,③</a:t>
            </a:r>
            <a:r>
              <a:rPr lang="ko-KR" altLang="en-US" sz="1200" smtClean="0">
                <a:latin typeface="KB금융 본문체 Light" panose="020B0303000000000000" pitchFamily="50" charset="-127"/>
                <a:ea typeface="KB금융 본문체 Light" panose="020B0303000000000000" pitchFamily="50" charset="-127"/>
                <a:cs typeface="ヒラギノ角ゴ ProN W3"/>
              </a:rPr>
              <a:t>단계에서 </a:t>
            </a:r>
            <a:r>
              <a:rPr lang="en-US" altLang="ko-KR" sz="1200" smtClean="0">
                <a:latin typeface="KB금융 본문체 Light" panose="020B0303000000000000" pitchFamily="50" charset="-127"/>
                <a:ea typeface="KB금융 본문체 Light" panose="020B0303000000000000" pitchFamily="50" charset="-127"/>
                <a:cs typeface="ヒラギノ角ゴ ProN W3"/>
              </a:rPr>
              <a:t>M/F </a:t>
            </a:r>
            <a:r>
              <a:rPr lang="ko-KR" altLang="en-US" sz="1200" smtClean="0">
                <a:latin typeface="KB금융 본문체 Light" panose="020B0303000000000000" pitchFamily="50" charset="-127"/>
                <a:ea typeface="KB금융 본문체 Light" panose="020B0303000000000000" pitchFamily="50" charset="-127"/>
                <a:cs typeface="ヒラギノ角ゴ ProN W3"/>
              </a:rPr>
              <a:t>거래와 연동하여 </a:t>
            </a:r>
            <a:r>
              <a:rPr lang="en-US" altLang="ko-KR" sz="1200">
                <a:latin typeface="KB금융 본문체 Light" panose="020B0303000000000000" pitchFamily="50" charset="-127"/>
                <a:ea typeface="KB금융 본문체 Light" panose="020B0303000000000000" pitchFamily="50" charset="-127"/>
                <a:cs typeface="ヒラギノ角ゴ ProN W3"/>
              </a:rPr>
              <a:t>M/F </a:t>
            </a:r>
            <a:r>
              <a:rPr lang="ko-KR" altLang="en-US" sz="1200" smtClean="0">
                <a:latin typeface="KB금융 본문체 Light" panose="020B0303000000000000" pitchFamily="50" charset="-127"/>
                <a:ea typeface="KB금융 본문체 Light" panose="020B0303000000000000" pitchFamily="50" charset="-127"/>
                <a:cs typeface="ヒラギノ角ゴ ProN W3"/>
              </a:rPr>
              <a:t>환경에서 암호화된 데이터를 업무서버에서 복호화 할 경우 </a:t>
            </a:r>
            <a:r>
              <a:rPr lang="en-US" altLang="ko-KR" sz="1200" smtClean="0">
                <a:latin typeface="KB금융 본문체 Light" panose="020B0303000000000000" pitchFamily="50" charset="-127"/>
                <a:ea typeface="KB금융 본문체 Light" panose="020B0303000000000000" pitchFamily="50" charset="-127"/>
                <a:cs typeface="ヒラギノ角ゴ ProN W3"/>
              </a:rPr>
              <a:t>M/F</a:t>
            </a:r>
            <a:r>
              <a:rPr lang="ko-KR" altLang="en-US" sz="1200" smtClean="0">
                <a:latin typeface="KB금융 본문체 Light" panose="020B0303000000000000" pitchFamily="50" charset="-127"/>
                <a:ea typeface="KB금융 본문체 Light" panose="020B0303000000000000" pitchFamily="50" charset="-127"/>
                <a:cs typeface="ヒラギノ角ゴ ProN W3"/>
              </a:rPr>
              <a:t>용 키를 사용하고</a:t>
            </a:r>
            <a:r>
              <a:rPr lang="en-US" altLang="ko-KR" sz="1200" smtClean="0">
                <a:latin typeface="KB금융 본문체 Light" panose="020B0303000000000000" pitchFamily="50" charset="-127"/>
                <a:ea typeface="KB금융 본문체 Light" panose="020B0303000000000000" pitchFamily="50" charset="-127"/>
                <a:cs typeface="ヒラギノ角ゴ ProN W3"/>
              </a:rPr>
              <a:t>, </a:t>
            </a:r>
            <a:r>
              <a:rPr lang="ko-KR" altLang="en-US" sz="1200" smtClean="0">
                <a:latin typeface="KB금융 본문체 Light" panose="020B0303000000000000" pitchFamily="50" charset="-127"/>
                <a:ea typeface="KB금융 본문체 Light" panose="020B0303000000000000" pitchFamily="50" charset="-127"/>
                <a:cs typeface="ヒラギノ角ゴ ProN W3"/>
              </a:rPr>
              <a:t>서버업무에서 </a:t>
            </a:r>
            <a:r>
              <a:rPr lang="ko-KR" altLang="en-US" sz="1200" b="1" smtClean="0">
                <a:solidFill>
                  <a:srgbClr val="FF0000"/>
                </a:solidFill>
                <a:latin typeface="KB금융 본문체 Light" panose="020B0303000000000000" pitchFamily="50" charset="-127"/>
                <a:ea typeface="KB금융 본문체 Light" panose="020B0303000000000000" pitchFamily="50" charset="-127"/>
                <a:cs typeface="ヒラギノ角ゴ ProN W3"/>
              </a:rPr>
              <a:t>자체적으로 </a:t>
            </a:r>
            <a:r>
              <a:rPr lang="ko-KR" altLang="en-US" sz="1200" b="1" smtClean="0">
                <a:solidFill>
                  <a:srgbClr val="FF0000"/>
                </a:solidFill>
                <a:latin typeface="KB금융 본문체 Light" panose="020B0303000000000000" pitchFamily="50" charset="-127"/>
                <a:ea typeface="KB금융 본문체 Light" panose="020B0303000000000000" pitchFamily="50" charset="-127"/>
                <a:cs typeface="ヒラギノ角ゴ ProN W3"/>
              </a:rPr>
              <a:t>암호화 </a:t>
            </a:r>
            <a:r>
              <a:rPr lang="ko-KR" altLang="en-US" sz="1200" smtClean="0">
                <a:latin typeface="KB금융 본문체 Light" panose="020B0303000000000000" pitchFamily="50" charset="-127"/>
                <a:ea typeface="KB금융 본문체 Light" panose="020B0303000000000000" pitchFamily="50" charset="-127"/>
                <a:cs typeface="ヒラギノ角ゴ ProN W3"/>
              </a:rPr>
              <a:t>할 경우에는 </a:t>
            </a:r>
            <a:r>
              <a:rPr lang="ko-KR" altLang="en-US" sz="1200" b="1" smtClean="0">
                <a:solidFill>
                  <a:srgbClr val="FF0000"/>
                </a:solidFill>
                <a:latin typeface="KB금융 본문체 Light" panose="020B0303000000000000" pitchFamily="50" charset="-127"/>
                <a:ea typeface="KB금융 본문체 Light" panose="020B0303000000000000" pitchFamily="50" charset="-127"/>
                <a:cs typeface="ヒラギノ角ゴ ProN W3"/>
              </a:rPr>
              <a:t>업무서버용 암호키를 별도 생성해서 사용</a:t>
            </a:r>
            <a:r>
              <a:rPr lang="ko-KR" altLang="en-US" sz="1200" smtClean="0">
                <a:latin typeface="KB금융 본문체 Light" panose="020B0303000000000000" pitchFamily="50" charset="-127"/>
                <a:ea typeface="KB금융 본문체 Light" panose="020B0303000000000000" pitchFamily="50" charset="-127"/>
                <a:cs typeface="ヒラギノ角ゴ ProN W3"/>
              </a:rPr>
              <a:t>해야 한다</a:t>
            </a:r>
            <a:r>
              <a:rPr lang="en-US" altLang="ko-KR" sz="1200" smtClean="0">
                <a:latin typeface="KB금융 본문체 Light" panose="020B0303000000000000" pitchFamily="50" charset="-127"/>
                <a:ea typeface="KB금융 본문체 Light" panose="020B0303000000000000" pitchFamily="50" charset="-127"/>
                <a:cs typeface="ヒラギノ角ゴ ProN W3"/>
              </a:rPr>
              <a:t>.</a:t>
            </a:r>
          </a:p>
          <a:p>
            <a:pPr>
              <a:lnSpc>
                <a:spcPct val="130000"/>
              </a:lnSpc>
              <a:spcBef>
                <a:spcPct val="20000"/>
              </a:spcBef>
              <a:buSzPct val="100000"/>
            </a:pPr>
            <a:r>
              <a:rPr lang="en-US" altLang="ko-KR" sz="1200" smtClean="0">
                <a:latin typeface="KB금융 본문체 Light" panose="020B0303000000000000" pitchFamily="50" charset="-127"/>
                <a:ea typeface="KB금융 본문체 Light" panose="020B0303000000000000" pitchFamily="50" charset="-127"/>
                <a:cs typeface="ヒラギノ角ゴ ProN W3"/>
              </a:rPr>
              <a:t>       * </a:t>
            </a:r>
            <a:r>
              <a:rPr lang="ko-KR" altLang="en-US" sz="1200" smtClean="0">
                <a:latin typeface="KB금융 본문체 Light" panose="020B0303000000000000" pitchFamily="50" charset="-127"/>
                <a:ea typeface="KB금융 본문체 Light" panose="020B0303000000000000" pitchFamily="50" charset="-127"/>
                <a:cs typeface="ヒラギノ角ゴ ProN W3"/>
              </a:rPr>
              <a:t>업무서버 내 암복호화 </a:t>
            </a:r>
            <a:r>
              <a:rPr lang="ko-KR" altLang="en-US" sz="1200" smtClean="0">
                <a:latin typeface="KB금융 본문체 Light" panose="020B0303000000000000" pitchFamily="50" charset="-127"/>
                <a:ea typeface="KB금융 본문체 Light" panose="020B0303000000000000" pitchFamily="50" charset="-127"/>
                <a:cs typeface="ヒラギノ角ゴ ProN W3"/>
              </a:rPr>
              <a:t>거래에서 </a:t>
            </a:r>
            <a:r>
              <a:rPr lang="en-US" altLang="ko-KR" sz="1200">
                <a:latin typeface="KB금융 본문체 Light" panose="020B0303000000000000" pitchFamily="50" charset="-127"/>
                <a:ea typeface="KB금융 본문체 Light" panose="020B0303000000000000" pitchFamily="50" charset="-127"/>
                <a:cs typeface="ヒラギノ角ゴ ProN W3"/>
              </a:rPr>
              <a:t>M/F</a:t>
            </a:r>
            <a:r>
              <a:rPr lang="ko-KR" altLang="en-US" sz="1200">
                <a:latin typeface="KB금융 본문체 Light" panose="020B0303000000000000" pitchFamily="50" charset="-127"/>
                <a:ea typeface="KB금융 본문체 Light" panose="020B0303000000000000" pitchFamily="50" charset="-127"/>
                <a:cs typeface="ヒラギノ角ゴ ProN W3"/>
              </a:rPr>
              <a:t>용 </a:t>
            </a:r>
            <a:r>
              <a:rPr lang="ko-KR" altLang="en-US" sz="1200" smtClean="0">
                <a:latin typeface="KB금융 본문체 Light" panose="020B0303000000000000" pitchFamily="50" charset="-127"/>
                <a:ea typeface="KB금융 본문체 Light" panose="020B0303000000000000" pitchFamily="50" charset="-127"/>
                <a:cs typeface="ヒラギノ角ゴ ProN W3"/>
              </a:rPr>
              <a:t>키 사용금지</a:t>
            </a:r>
            <a:endParaRPr lang="en-US" altLang="ko-KR" sz="1200">
              <a:latin typeface="KB금융 본문체 Light" panose="020B0303000000000000" pitchFamily="50" charset="-127"/>
              <a:ea typeface="KB금융 본문체 Light" panose="020B0303000000000000" pitchFamily="50" charset="-127"/>
              <a:cs typeface="ヒラギノ角ゴ ProN W3"/>
            </a:endParaRPr>
          </a:p>
        </p:txBody>
      </p:sp>
      <p:sp>
        <p:nvSpPr>
          <p:cNvPr id="11" name="직사각형 10"/>
          <p:cNvSpPr/>
          <p:nvPr/>
        </p:nvSpPr>
        <p:spPr bwMode="auto">
          <a:xfrm>
            <a:off x="4016834" y="4204519"/>
            <a:ext cx="1008000" cy="828000"/>
          </a:xfrm>
          <a:prstGeom prst="rect">
            <a:avLst/>
          </a:prstGeom>
          <a:solidFill>
            <a:srgbClr val="2159B7"/>
          </a:solidFill>
          <a:ln w="6350">
            <a:solidFill>
              <a:srgbClr val="999999"/>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ko-KR" altLang="en-US" sz="1200" dirty="0">
                <a:solidFill>
                  <a:schemeClr val="bg1"/>
                </a:solidFill>
                <a:latin typeface="+mn-ea"/>
                <a:cs typeface="Arial" pitchFamily="34" charset="0"/>
              </a:rPr>
              <a:t>암호화 서비스 대상 검토</a:t>
            </a:r>
            <a:r>
              <a:rPr lang="en-US" altLang="ko-KR" sz="1200" dirty="0">
                <a:solidFill>
                  <a:schemeClr val="bg1"/>
                </a:solidFill>
                <a:latin typeface="+mn-ea"/>
                <a:cs typeface="Arial" pitchFamily="34" charset="0"/>
              </a:rPr>
              <a:t>/</a:t>
            </a:r>
            <a:r>
              <a:rPr lang="ko-KR" altLang="en-US" sz="1200" dirty="0">
                <a:solidFill>
                  <a:schemeClr val="bg1"/>
                </a:solidFill>
                <a:latin typeface="+mn-ea"/>
                <a:cs typeface="Arial" pitchFamily="34" charset="0"/>
              </a:rPr>
              <a:t>심의</a:t>
            </a:r>
          </a:p>
        </p:txBody>
      </p:sp>
      <p:sp>
        <p:nvSpPr>
          <p:cNvPr id="12" name="직사각형 11"/>
          <p:cNvSpPr/>
          <p:nvPr/>
        </p:nvSpPr>
        <p:spPr bwMode="auto">
          <a:xfrm>
            <a:off x="2696630" y="2271482"/>
            <a:ext cx="1008000"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ko-KR" altLang="en-US" sz="1200" dirty="0">
                <a:solidFill>
                  <a:srgbClr val="000000"/>
                </a:solidFill>
                <a:latin typeface="+mn-ea"/>
              </a:rPr>
              <a:t>대상 데이터 </a:t>
            </a:r>
            <a:r>
              <a:rPr lang="ko-KR" altLang="en-US" sz="1200">
                <a:solidFill>
                  <a:srgbClr val="000000"/>
                </a:solidFill>
                <a:latin typeface="+mn-ea"/>
              </a:rPr>
              <a:t>암호화 </a:t>
            </a:r>
            <a:r>
              <a:rPr lang="ko-KR" altLang="en-US" sz="1200" smtClean="0">
                <a:solidFill>
                  <a:srgbClr val="000000"/>
                </a:solidFill>
                <a:latin typeface="+mn-ea"/>
              </a:rPr>
              <a:t>검토</a:t>
            </a:r>
            <a:endParaRPr lang="en-US" altLang="ko-KR" sz="1200" smtClean="0">
              <a:solidFill>
                <a:srgbClr val="000000"/>
              </a:solidFill>
              <a:latin typeface="+mn-ea"/>
            </a:endParaRPr>
          </a:p>
        </p:txBody>
      </p:sp>
      <p:cxnSp>
        <p:nvCxnSpPr>
          <p:cNvPr id="13" name="직선 연결선 12"/>
          <p:cNvCxnSpPr/>
          <p:nvPr/>
        </p:nvCxnSpPr>
        <p:spPr bwMode="auto">
          <a:xfrm>
            <a:off x="1379606" y="3157708"/>
            <a:ext cx="7749858" cy="0"/>
          </a:xfrm>
          <a:prstGeom prst="line">
            <a:avLst/>
          </a:prstGeom>
          <a:ln w="19050">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직선 연결선 13"/>
          <p:cNvCxnSpPr/>
          <p:nvPr/>
        </p:nvCxnSpPr>
        <p:spPr bwMode="auto">
          <a:xfrm>
            <a:off x="1379606" y="4129759"/>
            <a:ext cx="7749858" cy="0"/>
          </a:xfrm>
          <a:prstGeom prst="line">
            <a:avLst/>
          </a:prstGeom>
          <a:ln w="19050">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5" name="직사각형 14"/>
          <p:cNvSpPr/>
          <p:nvPr/>
        </p:nvSpPr>
        <p:spPr bwMode="auto">
          <a:xfrm>
            <a:off x="6657244" y="5225946"/>
            <a:ext cx="1008000"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ko-KR" altLang="en-US" sz="1200" dirty="0">
                <a:solidFill>
                  <a:srgbClr val="000000"/>
                </a:solidFill>
                <a:latin typeface="+mn-ea"/>
              </a:rPr>
              <a:t>암호화 서비스</a:t>
            </a:r>
            <a:endParaRPr lang="en-US" altLang="ko-KR" sz="1200" dirty="0">
              <a:solidFill>
                <a:srgbClr val="000000"/>
              </a:solidFill>
              <a:latin typeface="+mn-ea"/>
            </a:endParaRPr>
          </a:p>
          <a:p>
            <a:pPr algn="ctr">
              <a:defRPr/>
            </a:pPr>
            <a:r>
              <a:rPr lang="ko-KR" altLang="en-US" sz="1200" dirty="0">
                <a:solidFill>
                  <a:srgbClr val="000000"/>
                </a:solidFill>
                <a:latin typeface="+mn-ea"/>
              </a:rPr>
              <a:t>모니터링</a:t>
            </a:r>
            <a:endParaRPr lang="en-US" altLang="ko-KR" sz="1200" dirty="0">
              <a:solidFill>
                <a:srgbClr val="000000"/>
              </a:solidFill>
              <a:latin typeface="+mn-ea"/>
            </a:endParaRPr>
          </a:p>
        </p:txBody>
      </p:sp>
      <p:sp>
        <p:nvSpPr>
          <p:cNvPr id="16" name="직사각형 15"/>
          <p:cNvSpPr/>
          <p:nvPr/>
        </p:nvSpPr>
        <p:spPr bwMode="auto">
          <a:xfrm>
            <a:off x="2696630" y="3218594"/>
            <a:ext cx="1008000" cy="828000"/>
          </a:xfrm>
          <a:prstGeom prst="rect">
            <a:avLst/>
          </a:prstGeom>
          <a:solidFill>
            <a:srgbClr val="DFDFDF"/>
          </a:solidFill>
          <a:ln w="6350">
            <a:solidFill>
              <a:srgbClr val="999999"/>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ko-KR" altLang="en-US" sz="1200" smtClean="0">
                <a:solidFill>
                  <a:srgbClr val="000000"/>
                </a:solidFill>
                <a:latin typeface="+mn-ea"/>
              </a:rPr>
              <a:t>암호키</a:t>
            </a:r>
            <a:endParaRPr lang="en-US" altLang="ko-KR" sz="1200" smtClean="0">
              <a:solidFill>
                <a:srgbClr val="000000"/>
              </a:solidFill>
              <a:latin typeface="+mn-ea"/>
            </a:endParaRPr>
          </a:p>
          <a:p>
            <a:pPr algn="ctr">
              <a:defRPr/>
            </a:pPr>
            <a:r>
              <a:rPr lang="ko-KR" altLang="en-US" sz="1200" smtClean="0">
                <a:solidFill>
                  <a:srgbClr val="000000"/>
                </a:solidFill>
                <a:latin typeface="+mn-ea"/>
              </a:rPr>
              <a:t>신청</a:t>
            </a:r>
            <a:endParaRPr lang="en-US" altLang="ko-KR" sz="1200" smtClean="0">
              <a:solidFill>
                <a:srgbClr val="000000"/>
              </a:solidFill>
              <a:latin typeface="+mn-ea"/>
            </a:endParaRPr>
          </a:p>
        </p:txBody>
      </p:sp>
      <p:sp>
        <p:nvSpPr>
          <p:cNvPr id="21" name="직사각형 20"/>
          <p:cNvSpPr/>
          <p:nvPr/>
        </p:nvSpPr>
        <p:spPr bwMode="auto">
          <a:xfrm>
            <a:off x="5337039" y="4204519"/>
            <a:ext cx="1008000" cy="828000"/>
          </a:xfrm>
          <a:prstGeom prst="rect">
            <a:avLst/>
          </a:prstGeom>
          <a:solidFill>
            <a:srgbClr val="2159B7"/>
          </a:solidFill>
          <a:ln w="6350">
            <a:solidFill>
              <a:srgbClr val="999999"/>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ko-KR" altLang="en-US" sz="1200" smtClean="0">
                <a:solidFill>
                  <a:schemeClr val="bg1"/>
                </a:solidFill>
                <a:latin typeface="+mn-ea"/>
                <a:cs typeface="Arial" pitchFamily="34" charset="0"/>
              </a:rPr>
              <a:t>암호키</a:t>
            </a:r>
            <a:r>
              <a:rPr lang="en-US" altLang="ko-KR" sz="1200" smtClean="0">
                <a:solidFill>
                  <a:schemeClr val="bg1"/>
                </a:solidFill>
                <a:latin typeface="+mn-ea"/>
                <a:cs typeface="Arial" pitchFamily="34" charset="0"/>
              </a:rPr>
              <a:t/>
            </a:r>
            <a:br>
              <a:rPr lang="en-US" altLang="ko-KR" sz="1200" smtClean="0">
                <a:solidFill>
                  <a:schemeClr val="bg1"/>
                </a:solidFill>
                <a:latin typeface="+mn-ea"/>
                <a:cs typeface="Arial" pitchFamily="34" charset="0"/>
              </a:rPr>
            </a:br>
            <a:r>
              <a:rPr lang="ko-KR" altLang="en-US" sz="1200" smtClean="0">
                <a:solidFill>
                  <a:schemeClr val="bg1"/>
                </a:solidFill>
                <a:latin typeface="+mn-ea"/>
                <a:cs typeface="Arial" pitchFamily="34" charset="0"/>
              </a:rPr>
              <a:t>발급 </a:t>
            </a:r>
            <a:r>
              <a:rPr lang="ko-KR" altLang="en-US" sz="1200" dirty="0">
                <a:solidFill>
                  <a:schemeClr val="bg1"/>
                </a:solidFill>
                <a:latin typeface="+mn-ea"/>
                <a:cs typeface="Arial" pitchFamily="34" charset="0"/>
              </a:rPr>
              <a:t>통보</a:t>
            </a:r>
            <a:endParaRPr lang="en-US" altLang="ko-KR" sz="1200" dirty="0">
              <a:solidFill>
                <a:schemeClr val="bg1"/>
              </a:solidFill>
              <a:latin typeface="+mn-ea"/>
              <a:cs typeface="Arial" pitchFamily="34" charset="0"/>
            </a:endParaRPr>
          </a:p>
        </p:txBody>
      </p:sp>
      <p:cxnSp>
        <p:nvCxnSpPr>
          <p:cNvPr id="22" name="직선 화살표 연결선 21"/>
          <p:cNvCxnSpPr>
            <a:stCxn id="12" idx="2"/>
            <a:endCxn id="16" idx="0"/>
          </p:cNvCxnSpPr>
          <p:nvPr/>
        </p:nvCxnSpPr>
        <p:spPr bwMode="auto">
          <a:xfrm>
            <a:off x="3200630" y="3099482"/>
            <a:ext cx="0" cy="119112"/>
          </a:xfrm>
          <a:prstGeom prst="straightConnector1">
            <a:avLst/>
          </a:prstGeom>
          <a:ln w="19050">
            <a:solidFill>
              <a:srgbClr val="626262"/>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80"/>
          <p:cNvSpPr txBox="1">
            <a:spLocks noChangeArrowheads="1"/>
          </p:cNvSpPr>
          <p:nvPr/>
        </p:nvSpPr>
        <p:spPr bwMode="auto">
          <a:xfrm>
            <a:off x="1592335" y="2451502"/>
            <a:ext cx="10564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헤움네모고딕152" pitchFamily="18" charset="-127"/>
                <a:ea typeface="헤움네모고딕152" pitchFamily="18" charset="-127"/>
              </a:defRPr>
            </a:lvl1pPr>
            <a:lvl2pPr marL="742950" indent="-285750">
              <a:defRPr sz="1300">
                <a:solidFill>
                  <a:schemeClr val="tx1"/>
                </a:solidFill>
                <a:latin typeface="헤움네모고딕152" pitchFamily="18" charset="-127"/>
                <a:ea typeface="헤움네모고딕152" pitchFamily="18" charset="-127"/>
              </a:defRPr>
            </a:lvl2pPr>
            <a:lvl3pPr marL="1143000" indent="-228600">
              <a:defRPr sz="1300">
                <a:solidFill>
                  <a:schemeClr val="tx1"/>
                </a:solidFill>
                <a:latin typeface="헤움네모고딕152" pitchFamily="18" charset="-127"/>
                <a:ea typeface="헤움네모고딕152" pitchFamily="18" charset="-127"/>
              </a:defRPr>
            </a:lvl3pPr>
            <a:lvl4pPr marL="1600200" indent="-228600">
              <a:defRPr sz="1300">
                <a:solidFill>
                  <a:schemeClr val="tx1"/>
                </a:solidFill>
                <a:latin typeface="헤움네모고딕152" pitchFamily="18" charset="-127"/>
                <a:ea typeface="헤움네모고딕152" pitchFamily="18" charset="-127"/>
              </a:defRPr>
            </a:lvl4pPr>
            <a:lvl5pPr marL="2057400" indent="-228600">
              <a:defRPr sz="1300">
                <a:solidFill>
                  <a:schemeClr val="tx1"/>
                </a:solidFill>
                <a:latin typeface="헤움네모고딕152" pitchFamily="18" charset="-127"/>
                <a:ea typeface="헤움네모고딕152" pitchFamily="18" charset="-127"/>
              </a:defRPr>
            </a:lvl5pPr>
            <a:lvl6pPr marL="25146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6pPr>
            <a:lvl7pPr marL="29718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7pPr>
            <a:lvl8pPr marL="34290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8pPr>
            <a:lvl9pPr marL="38862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9pPr>
          </a:lstStyle>
          <a:p>
            <a:pPr eaLnBrk="1" hangingPunct="1"/>
            <a:r>
              <a:rPr kumimoji="1" lang="ko-KR" altLang="en-US" sz="1200" b="1">
                <a:solidFill>
                  <a:srgbClr val="000000"/>
                </a:solidFill>
                <a:latin typeface="+mn-ea"/>
                <a:ea typeface="+mn-ea"/>
              </a:rPr>
              <a:t>현업부서</a:t>
            </a:r>
            <a:endParaRPr kumimoji="1" lang="en-US" altLang="ko-KR" sz="1200" b="1">
              <a:solidFill>
                <a:srgbClr val="000000"/>
              </a:solidFill>
              <a:latin typeface="+mn-ea"/>
              <a:ea typeface="+mn-ea"/>
            </a:endParaRPr>
          </a:p>
          <a:p>
            <a:pPr eaLnBrk="1" hangingPunct="1"/>
            <a:r>
              <a:rPr kumimoji="1" lang="en-US" altLang="ko-KR" sz="1200" b="1">
                <a:solidFill>
                  <a:srgbClr val="000000"/>
                </a:solidFill>
                <a:latin typeface="+mn-ea"/>
                <a:ea typeface="+mn-ea"/>
              </a:rPr>
              <a:t>(</a:t>
            </a:r>
            <a:r>
              <a:rPr kumimoji="1" lang="ko-KR" altLang="en-US" sz="1200" b="1">
                <a:solidFill>
                  <a:srgbClr val="000000"/>
                </a:solidFill>
                <a:latin typeface="+mn-ea"/>
                <a:ea typeface="+mn-ea"/>
              </a:rPr>
              <a:t>업무개발의뢰</a:t>
            </a:r>
            <a:r>
              <a:rPr kumimoji="1" lang="en-US" altLang="ko-KR" sz="1200" b="1">
                <a:solidFill>
                  <a:srgbClr val="000000"/>
                </a:solidFill>
                <a:latin typeface="+mn-ea"/>
                <a:ea typeface="+mn-ea"/>
              </a:rPr>
              <a:t>)</a:t>
            </a:r>
            <a:endParaRPr kumimoji="1" lang="ko-KR" altLang="en-US" sz="1200" b="1">
              <a:solidFill>
                <a:srgbClr val="000000"/>
              </a:solidFill>
              <a:latin typeface="+mn-ea"/>
              <a:ea typeface="+mn-ea"/>
            </a:endParaRPr>
          </a:p>
        </p:txBody>
      </p:sp>
      <p:sp>
        <p:nvSpPr>
          <p:cNvPr id="29" name="TextBox 81"/>
          <p:cNvSpPr txBox="1">
            <a:spLocks noChangeArrowheads="1"/>
          </p:cNvSpPr>
          <p:nvPr/>
        </p:nvSpPr>
        <p:spPr bwMode="auto">
          <a:xfrm>
            <a:off x="1592335" y="3398615"/>
            <a:ext cx="10398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헤움네모고딕152" pitchFamily="18" charset="-127"/>
                <a:ea typeface="헤움네모고딕152" pitchFamily="18" charset="-127"/>
              </a:defRPr>
            </a:lvl1pPr>
            <a:lvl2pPr marL="742950" indent="-285750">
              <a:defRPr sz="1300">
                <a:solidFill>
                  <a:schemeClr val="tx1"/>
                </a:solidFill>
                <a:latin typeface="헤움네모고딕152" pitchFamily="18" charset="-127"/>
                <a:ea typeface="헤움네모고딕152" pitchFamily="18" charset="-127"/>
              </a:defRPr>
            </a:lvl2pPr>
            <a:lvl3pPr marL="1143000" indent="-228600">
              <a:defRPr sz="1300">
                <a:solidFill>
                  <a:schemeClr val="tx1"/>
                </a:solidFill>
                <a:latin typeface="헤움네모고딕152" pitchFamily="18" charset="-127"/>
                <a:ea typeface="헤움네모고딕152" pitchFamily="18" charset="-127"/>
              </a:defRPr>
            </a:lvl3pPr>
            <a:lvl4pPr marL="1600200" indent="-228600">
              <a:defRPr sz="1300">
                <a:solidFill>
                  <a:schemeClr val="tx1"/>
                </a:solidFill>
                <a:latin typeface="헤움네모고딕152" pitchFamily="18" charset="-127"/>
                <a:ea typeface="헤움네모고딕152" pitchFamily="18" charset="-127"/>
              </a:defRPr>
            </a:lvl4pPr>
            <a:lvl5pPr marL="2057400" indent="-228600">
              <a:defRPr sz="1300">
                <a:solidFill>
                  <a:schemeClr val="tx1"/>
                </a:solidFill>
                <a:latin typeface="헤움네모고딕152" pitchFamily="18" charset="-127"/>
                <a:ea typeface="헤움네모고딕152" pitchFamily="18" charset="-127"/>
              </a:defRPr>
            </a:lvl5pPr>
            <a:lvl6pPr marL="25146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6pPr>
            <a:lvl7pPr marL="29718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7pPr>
            <a:lvl8pPr marL="34290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8pPr>
            <a:lvl9pPr marL="38862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9pPr>
          </a:lstStyle>
          <a:p>
            <a:pPr eaLnBrk="1" hangingPunct="1"/>
            <a:r>
              <a:rPr kumimoji="1" lang="ko-KR" altLang="en-US" sz="1200" b="1">
                <a:solidFill>
                  <a:srgbClr val="000000"/>
                </a:solidFill>
                <a:latin typeface="+mn-ea"/>
                <a:ea typeface="+mn-ea"/>
              </a:rPr>
              <a:t>업무시스템</a:t>
            </a:r>
            <a:endParaRPr kumimoji="1" lang="en-US" altLang="ko-KR" sz="1200" b="1">
              <a:solidFill>
                <a:srgbClr val="000000"/>
              </a:solidFill>
              <a:latin typeface="+mn-ea"/>
              <a:ea typeface="+mn-ea"/>
            </a:endParaRPr>
          </a:p>
          <a:p>
            <a:pPr eaLnBrk="1" hangingPunct="1"/>
            <a:r>
              <a:rPr kumimoji="1" lang="ko-KR" altLang="en-US" sz="1200" b="1">
                <a:solidFill>
                  <a:srgbClr val="000000"/>
                </a:solidFill>
                <a:latin typeface="+mn-ea"/>
                <a:ea typeface="+mn-ea"/>
              </a:rPr>
              <a:t>개발팀</a:t>
            </a:r>
            <a:endParaRPr kumimoji="1" lang="en-US" altLang="ko-KR" sz="1200" b="1">
              <a:solidFill>
                <a:srgbClr val="000000"/>
              </a:solidFill>
              <a:latin typeface="+mn-ea"/>
              <a:ea typeface="+mn-ea"/>
            </a:endParaRPr>
          </a:p>
        </p:txBody>
      </p:sp>
      <p:sp>
        <p:nvSpPr>
          <p:cNvPr id="30" name="TextBox 82"/>
          <p:cNvSpPr txBox="1">
            <a:spLocks noChangeArrowheads="1"/>
          </p:cNvSpPr>
          <p:nvPr/>
        </p:nvSpPr>
        <p:spPr bwMode="auto">
          <a:xfrm>
            <a:off x="1592335" y="4431576"/>
            <a:ext cx="862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헤움네모고딕152" pitchFamily="18" charset="-127"/>
                <a:ea typeface="헤움네모고딕152" pitchFamily="18" charset="-127"/>
              </a:defRPr>
            </a:lvl1pPr>
            <a:lvl2pPr marL="742950" indent="-285750">
              <a:defRPr sz="1300">
                <a:solidFill>
                  <a:schemeClr val="tx1"/>
                </a:solidFill>
                <a:latin typeface="헤움네모고딕152" pitchFamily="18" charset="-127"/>
                <a:ea typeface="헤움네모고딕152" pitchFamily="18" charset="-127"/>
              </a:defRPr>
            </a:lvl2pPr>
            <a:lvl3pPr marL="1143000" indent="-228600">
              <a:defRPr sz="1300">
                <a:solidFill>
                  <a:schemeClr val="tx1"/>
                </a:solidFill>
                <a:latin typeface="헤움네모고딕152" pitchFamily="18" charset="-127"/>
                <a:ea typeface="헤움네모고딕152" pitchFamily="18" charset="-127"/>
              </a:defRPr>
            </a:lvl3pPr>
            <a:lvl4pPr marL="1600200" indent="-228600">
              <a:defRPr sz="1300">
                <a:solidFill>
                  <a:schemeClr val="tx1"/>
                </a:solidFill>
                <a:latin typeface="헤움네모고딕152" pitchFamily="18" charset="-127"/>
                <a:ea typeface="헤움네모고딕152" pitchFamily="18" charset="-127"/>
              </a:defRPr>
            </a:lvl4pPr>
            <a:lvl5pPr marL="2057400" indent="-228600">
              <a:defRPr sz="1300">
                <a:solidFill>
                  <a:schemeClr val="tx1"/>
                </a:solidFill>
                <a:latin typeface="헤움네모고딕152" pitchFamily="18" charset="-127"/>
                <a:ea typeface="헤움네모고딕152" pitchFamily="18" charset="-127"/>
              </a:defRPr>
            </a:lvl5pPr>
            <a:lvl6pPr marL="25146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6pPr>
            <a:lvl7pPr marL="29718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7pPr>
            <a:lvl8pPr marL="34290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8pPr>
            <a:lvl9pPr marL="38862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9pPr>
          </a:lstStyle>
          <a:p>
            <a:pPr eaLnBrk="1" hangingPunct="1"/>
            <a:r>
              <a:rPr kumimoji="1" lang="ko-KR" altLang="en-US" sz="1200" b="1" smtClean="0">
                <a:solidFill>
                  <a:srgbClr val="000000"/>
                </a:solidFill>
                <a:latin typeface="+mn-ea"/>
                <a:ea typeface="+mn-ea"/>
              </a:rPr>
              <a:t>정보보호부</a:t>
            </a:r>
            <a:endParaRPr kumimoji="1" lang="ko-KR" altLang="en-US" sz="1200" b="1">
              <a:solidFill>
                <a:srgbClr val="000000"/>
              </a:solidFill>
              <a:latin typeface="+mn-ea"/>
              <a:ea typeface="+mn-ea"/>
            </a:endParaRPr>
          </a:p>
        </p:txBody>
      </p:sp>
      <p:sp>
        <p:nvSpPr>
          <p:cNvPr id="31" name="TextBox 82"/>
          <p:cNvSpPr txBox="1">
            <a:spLocks noChangeArrowheads="1"/>
          </p:cNvSpPr>
          <p:nvPr/>
        </p:nvSpPr>
        <p:spPr bwMode="auto">
          <a:xfrm>
            <a:off x="1592335" y="5478946"/>
            <a:ext cx="87306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헤움네모고딕152" pitchFamily="18" charset="-127"/>
                <a:ea typeface="헤움네모고딕152" pitchFamily="18" charset="-127"/>
              </a:defRPr>
            </a:lvl1pPr>
            <a:lvl2pPr marL="742950" indent="-285750">
              <a:defRPr sz="1300">
                <a:solidFill>
                  <a:schemeClr val="tx1"/>
                </a:solidFill>
                <a:latin typeface="헤움네모고딕152" pitchFamily="18" charset="-127"/>
                <a:ea typeface="헤움네모고딕152" pitchFamily="18" charset="-127"/>
              </a:defRPr>
            </a:lvl2pPr>
            <a:lvl3pPr marL="1143000" indent="-228600">
              <a:defRPr sz="1300">
                <a:solidFill>
                  <a:schemeClr val="tx1"/>
                </a:solidFill>
                <a:latin typeface="헤움네모고딕152" pitchFamily="18" charset="-127"/>
                <a:ea typeface="헤움네모고딕152" pitchFamily="18" charset="-127"/>
              </a:defRPr>
            </a:lvl3pPr>
            <a:lvl4pPr marL="1600200" indent="-228600">
              <a:defRPr sz="1300">
                <a:solidFill>
                  <a:schemeClr val="tx1"/>
                </a:solidFill>
                <a:latin typeface="헤움네모고딕152" pitchFamily="18" charset="-127"/>
                <a:ea typeface="헤움네모고딕152" pitchFamily="18" charset="-127"/>
              </a:defRPr>
            </a:lvl4pPr>
            <a:lvl5pPr marL="2057400" indent="-228600">
              <a:defRPr sz="1300">
                <a:solidFill>
                  <a:schemeClr val="tx1"/>
                </a:solidFill>
                <a:latin typeface="헤움네모고딕152" pitchFamily="18" charset="-127"/>
                <a:ea typeface="헤움네모고딕152" pitchFamily="18" charset="-127"/>
              </a:defRPr>
            </a:lvl5pPr>
            <a:lvl6pPr marL="25146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6pPr>
            <a:lvl7pPr marL="29718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7pPr>
            <a:lvl8pPr marL="34290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8pPr>
            <a:lvl9pPr marL="38862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9pPr>
          </a:lstStyle>
          <a:p>
            <a:pPr eaLnBrk="1" hangingPunct="1"/>
            <a:r>
              <a:rPr kumimoji="1" lang="ko-KR" altLang="en-US" sz="1200" b="1">
                <a:solidFill>
                  <a:srgbClr val="000000"/>
                </a:solidFill>
                <a:latin typeface="+mn-ea"/>
                <a:ea typeface="+mn-ea"/>
              </a:rPr>
              <a:t>암호화 키 관리자</a:t>
            </a:r>
          </a:p>
        </p:txBody>
      </p:sp>
      <p:sp>
        <p:nvSpPr>
          <p:cNvPr id="32" name="직사각형 31"/>
          <p:cNvSpPr/>
          <p:nvPr/>
        </p:nvSpPr>
        <p:spPr bwMode="auto">
          <a:xfrm>
            <a:off x="5337039" y="3218594"/>
            <a:ext cx="1008000" cy="828000"/>
          </a:xfrm>
          <a:prstGeom prst="rect">
            <a:avLst/>
          </a:prstGeom>
          <a:solidFill>
            <a:srgbClr val="DFDFDF"/>
          </a:solidFill>
          <a:ln w="6350">
            <a:solidFill>
              <a:srgbClr val="999999"/>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ko-KR" altLang="en-US" sz="1200" smtClean="0">
                <a:solidFill>
                  <a:srgbClr val="000000"/>
                </a:solidFill>
                <a:latin typeface="+mn-ea"/>
                <a:cs typeface="Arial" pitchFamily="34" charset="0"/>
              </a:rPr>
              <a:t>암호키</a:t>
            </a:r>
            <a:endParaRPr lang="en-US" altLang="ko-KR" sz="1200" smtClean="0">
              <a:solidFill>
                <a:srgbClr val="000000"/>
              </a:solidFill>
              <a:latin typeface="+mn-ea"/>
              <a:cs typeface="Arial" pitchFamily="34" charset="0"/>
            </a:endParaRPr>
          </a:p>
          <a:p>
            <a:pPr algn="ctr">
              <a:defRPr/>
            </a:pPr>
            <a:r>
              <a:rPr lang="ko-KR" altLang="en-US" sz="1200" smtClean="0">
                <a:solidFill>
                  <a:srgbClr val="000000"/>
                </a:solidFill>
                <a:latin typeface="+mn-ea"/>
                <a:cs typeface="Arial" pitchFamily="34" charset="0"/>
              </a:rPr>
              <a:t>발급 확인</a:t>
            </a:r>
            <a:endParaRPr lang="ko-KR" altLang="en-US" sz="1200" dirty="0">
              <a:solidFill>
                <a:srgbClr val="000000"/>
              </a:solidFill>
              <a:latin typeface="+mn-ea"/>
              <a:cs typeface="Arial" pitchFamily="34" charset="0"/>
            </a:endParaRPr>
          </a:p>
        </p:txBody>
      </p:sp>
      <p:cxnSp>
        <p:nvCxnSpPr>
          <p:cNvPr id="33" name="직선 화살표 연결선 32"/>
          <p:cNvCxnSpPr>
            <a:stCxn id="21" idx="0"/>
            <a:endCxn id="32" idx="2"/>
          </p:cNvCxnSpPr>
          <p:nvPr/>
        </p:nvCxnSpPr>
        <p:spPr bwMode="auto">
          <a:xfrm flipV="1">
            <a:off x="5841039" y="4046594"/>
            <a:ext cx="0" cy="157925"/>
          </a:xfrm>
          <a:prstGeom prst="straightConnector1">
            <a:avLst/>
          </a:prstGeom>
          <a:ln w="19050">
            <a:solidFill>
              <a:srgbClr val="626262"/>
            </a:solidFill>
            <a:tailEnd type="triangle"/>
          </a:ln>
        </p:spPr>
        <p:style>
          <a:lnRef idx="1">
            <a:schemeClr val="accent1"/>
          </a:lnRef>
          <a:fillRef idx="0">
            <a:schemeClr val="accent1"/>
          </a:fillRef>
          <a:effectRef idx="0">
            <a:schemeClr val="accent1"/>
          </a:effectRef>
          <a:fontRef idx="minor">
            <a:schemeClr val="tx1"/>
          </a:fontRef>
        </p:style>
      </p:cxnSp>
      <p:sp>
        <p:nvSpPr>
          <p:cNvPr id="34" name="직사각형 33"/>
          <p:cNvSpPr/>
          <p:nvPr/>
        </p:nvSpPr>
        <p:spPr bwMode="auto">
          <a:xfrm>
            <a:off x="4016834" y="5259700"/>
            <a:ext cx="1008000"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ko-KR" altLang="en-US" sz="1200" smtClean="0">
                <a:solidFill>
                  <a:srgbClr val="000000"/>
                </a:solidFill>
                <a:latin typeface="+mn-ea"/>
              </a:rPr>
              <a:t>암호키 </a:t>
            </a:r>
            <a:r>
              <a:rPr lang="ko-KR" altLang="en-US" sz="1200" dirty="0">
                <a:solidFill>
                  <a:srgbClr val="000000"/>
                </a:solidFill>
                <a:latin typeface="+mn-ea"/>
              </a:rPr>
              <a:t>등록 및 발급</a:t>
            </a:r>
          </a:p>
        </p:txBody>
      </p:sp>
      <p:cxnSp>
        <p:nvCxnSpPr>
          <p:cNvPr id="35" name="직선 화살표 연결선 34"/>
          <p:cNvCxnSpPr>
            <a:stCxn id="11" idx="2"/>
            <a:endCxn id="34" idx="0"/>
          </p:cNvCxnSpPr>
          <p:nvPr/>
        </p:nvCxnSpPr>
        <p:spPr bwMode="auto">
          <a:xfrm>
            <a:off x="4520834" y="5032519"/>
            <a:ext cx="0" cy="227181"/>
          </a:xfrm>
          <a:prstGeom prst="straightConnector1">
            <a:avLst/>
          </a:prstGeom>
          <a:ln w="19050">
            <a:solidFill>
              <a:srgbClr val="626262"/>
            </a:solidFill>
            <a:tailEnd type="triangle"/>
          </a:ln>
        </p:spPr>
        <p:style>
          <a:lnRef idx="1">
            <a:schemeClr val="accent1"/>
          </a:lnRef>
          <a:fillRef idx="0">
            <a:schemeClr val="accent1"/>
          </a:fillRef>
          <a:effectRef idx="0">
            <a:schemeClr val="accent1"/>
          </a:effectRef>
          <a:fontRef idx="minor">
            <a:schemeClr val="tx1"/>
          </a:fontRef>
        </p:style>
      </p:cxnSp>
      <p:cxnSp>
        <p:nvCxnSpPr>
          <p:cNvPr id="36" name="꺾인 연결선 56"/>
          <p:cNvCxnSpPr>
            <a:cxnSpLocks noChangeShapeType="1"/>
            <a:stCxn id="34" idx="3"/>
            <a:endCxn id="21" idx="2"/>
          </p:cNvCxnSpPr>
          <p:nvPr/>
        </p:nvCxnSpPr>
        <p:spPr bwMode="auto">
          <a:xfrm flipV="1">
            <a:off x="5024834" y="5032519"/>
            <a:ext cx="816205" cy="641181"/>
          </a:xfrm>
          <a:prstGeom prst="bentConnector2">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7" name="직사각형 36"/>
          <p:cNvSpPr/>
          <p:nvPr/>
        </p:nvSpPr>
        <p:spPr bwMode="auto">
          <a:xfrm>
            <a:off x="6657244" y="2271482"/>
            <a:ext cx="1008000"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ko-KR" altLang="en-US" sz="1200" dirty="0">
                <a:solidFill>
                  <a:srgbClr val="000000"/>
                </a:solidFill>
                <a:latin typeface="+mn-ea"/>
              </a:rPr>
              <a:t>현업 고객정보 관리업무</a:t>
            </a:r>
          </a:p>
        </p:txBody>
      </p:sp>
      <p:sp>
        <p:nvSpPr>
          <p:cNvPr id="38" name="직사각형 37"/>
          <p:cNvSpPr/>
          <p:nvPr/>
        </p:nvSpPr>
        <p:spPr bwMode="auto">
          <a:xfrm>
            <a:off x="6657244" y="3218594"/>
            <a:ext cx="1008000" cy="828000"/>
          </a:xfrm>
          <a:prstGeom prst="rect">
            <a:avLst/>
          </a:prstGeom>
          <a:solidFill>
            <a:srgbClr val="DFDFDF"/>
          </a:solidFill>
          <a:ln w="6350">
            <a:solidFill>
              <a:srgbClr val="999999"/>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ko-KR" altLang="en-US" sz="1200" smtClean="0">
                <a:solidFill>
                  <a:srgbClr val="000000"/>
                </a:solidFill>
                <a:latin typeface="+mn-ea"/>
                <a:cs typeface="Arial" pitchFamily="34" charset="0"/>
              </a:rPr>
              <a:t>개발환경</a:t>
            </a:r>
            <a:endParaRPr lang="en-US" altLang="ko-KR" sz="1200" smtClean="0">
              <a:solidFill>
                <a:srgbClr val="000000"/>
              </a:solidFill>
              <a:latin typeface="+mn-ea"/>
              <a:cs typeface="Arial" pitchFamily="34" charset="0"/>
            </a:endParaRPr>
          </a:p>
          <a:p>
            <a:pPr algn="ctr">
              <a:defRPr/>
            </a:pPr>
            <a:r>
              <a:rPr lang="ko-KR" altLang="en-US" sz="1200" smtClean="0">
                <a:solidFill>
                  <a:srgbClr val="000000"/>
                </a:solidFill>
                <a:latin typeface="+mn-ea"/>
                <a:cs typeface="Arial" pitchFamily="34" charset="0"/>
              </a:rPr>
              <a:t>구성</a:t>
            </a:r>
            <a:endParaRPr lang="en-US" altLang="ko-KR" sz="1200" smtClean="0">
              <a:solidFill>
                <a:srgbClr val="000000"/>
              </a:solidFill>
              <a:latin typeface="+mn-ea"/>
              <a:cs typeface="Arial" pitchFamily="34" charset="0"/>
            </a:endParaRPr>
          </a:p>
          <a:p>
            <a:pPr algn="ctr">
              <a:defRPr/>
            </a:pPr>
            <a:r>
              <a:rPr lang="ko-KR" altLang="en-US" sz="1200" smtClean="0">
                <a:solidFill>
                  <a:srgbClr val="000000"/>
                </a:solidFill>
                <a:latin typeface="+mn-ea"/>
                <a:cs typeface="Arial" pitchFamily="34" charset="0"/>
              </a:rPr>
              <a:t> </a:t>
            </a:r>
            <a:r>
              <a:rPr lang="ko-KR" altLang="en-US" sz="1200" baseline="30000" smtClean="0">
                <a:solidFill>
                  <a:srgbClr val="000000"/>
                </a:solidFill>
                <a:latin typeface="+mn-ea"/>
                <a:cs typeface="Arial" pitchFamily="34" charset="0"/>
              </a:rPr>
              <a:t>주</a:t>
            </a:r>
            <a:r>
              <a:rPr lang="en-US" altLang="ko-KR" sz="1200" baseline="30000" smtClean="0">
                <a:solidFill>
                  <a:srgbClr val="000000"/>
                </a:solidFill>
                <a:latin typeface="+mn-ea"/>
                <a:cs typeface="Arial" pitchFamily="34" charset="0"/>
              </a:rPr>
              <a:t>1)</a:t>
            </a:r>
            <a:endParaRPr lang="ko-KR" altLang="en-US" sz="1200" baseline="30000" dirty="0">
              <a:solidFill>
                <a:srgbClr val="000000"/>
              </a:solidFill>
              <a:latin typeface="+mn-ea"/>
              <a:cs typeface="Arial" pitchFamily="34" charset="0"/>
            </a:endParaRPr>
          </a:p>
        </p:txBody>
      </p:sp>
      <p:sp>
        <p:nvSpPr>
          <p:cNvPr id="39" name="직사각형 38"/>
          <p:cNvSpPr/>
          <p:nvPr/>
        </p:nvSpPr>
        <p:spPr bwMode="auto">
          <a:xfrm>
            <a:off x="6657244" y="4204519"/>
            <a:ext cx="1008000" cy="828000"/>
          </a:xfrm>
          <a:prstGeom prst="rect">
            <a:avLst/>
          </a:prstGeom>
          <a:solidFill>
            <a:srgbClr val="2159B7"/>
          </a:solidFill>
          <a:ln w="6350">
            <a:solidFill>
              <a:srgbClr val="999999"/>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ko-KR" altLang="en-US" sz="1200" smtClean="0">
                <a:solidFill>
                  <a:schemeClr val="bg1"/>
                </a:solidFill>
                <a:latin typeface="+mn-ea"/>
                <a:cs typeface="Arial" pitchFamily="34" charset="0"/>
              </a:rPr>
              <a:t>암호키 </a:t>
            </a:r>
            <a:r>
              <a:rPr lang="ko-KR" altLang="en-US" sz="1200" dirty="0">
                <a:solidFill>
                  <a:schemeClr val="bg1"/>
                </a:solidFill>
                <a:latin typeface="+mn-ea"/>
                <a:cs typeface="Arial" pitchFamily="34" charset="0"/>
              </a:rPr>
              <a:t>정책 관리 </a:t>
            </a:r>
            <a:endParaRPr lang="en-US" altLang="ko-KR" sz="1200" dirty="0">
              <a:solidFill>
                <a:schemeClr val="bg1"/>
              </a:solidFill>
              <a:latin typeface="+mn-ea"/>
              <a:cs typeface="Arial" pitchFamily="34" charset="0"/>
            </a:endParaRPr>
          </a:p>
        </p:txBody>
      </p:sp>
      <p:cxnSp>
        <p:nvCxnSpPr>
          <p:cNvPr id="40" name="직선 화살표 연결선 39"/>
          <p:cNvCxnSpPr>
            <a:stCxn id="38" idx="2"/>
            <a:endCxn id="39" idx="0"/>
          </p:cNvCxnSpPr>
          <p:nvPr/>
        </p:nvCxnSpPr>
        <p:spPr bwMode="auto">
          <a:xfrm>
            <a:off x="7161244" y="4046594"/>
            <a:ext cx="0" cy="157925"/>
          </a:xfrm>
          <a:prstGeom prst="straightConnector1">
            <a:avLst/>
          </a:prstGeom>
          <a:ln w="19050">
            <a:solidFill>
              <a:srgbClr val="626262"/>
            </a:solidFill>
            <a:tailEnd type="triangle"/>
          </a:ln>
        </p:spPr>
        <p:style>
          <a:lnRef idx="1">
            <a:schemeClr val="accent1"/>
          </a:lnRef>
          <a:fillRef idx="0">
            <a:schemeClr val="accent1"/>
          </a:fillRef>
          <a:effectRef idx="0">
            <a:schemeClr val="accent1"/>
          </a:effectRef>
          <a:fontRef idx="minor">
            <a:schemeClr val="tx1"/>
          </a:fontRef>
        </p:style>
      </p:cxnSp>
      <p:cxnSp>
        <p:nvCxnSpPr>
          <p:cNvPr id="41" name="직선 화살표 연결선 40"/>
          <p:cNvCxnSpPr>
            <a:stCxn id="39" idx="2"/>
            <a:endCxn id="15" idx="0"/>
          </p:cNvCxnSpPr>
          <p:nvPr/>
        </p:nvCxnSpPr>
        <p:spPr bwMode="auto">
          <a:xfrm>
            <a:off x="7161244" y="5032519"/>
            <a:ext cx="0" cy="193427"/>
          </a:xfrm>
          <a:prstGeom prst="straightConnector1">
            <a:avLst/>
          </a:prstGeom>
          <a:ln w="19050">
            <a:solidFill>
              <a:srgbClr val="626262"/>
            </a:solidFill>
            <a:tailEnd type="triangle"/>
          </a:ln>
        </p:spPr>
        <p:style>
          <a:lnRef idx="1">
            <a:schemeClr val="accent1"/>
          </a:lnRef>
          <a:fillRef idx="0">
            <a:schemeClr val="accent1"/>
          </a:fillRef>
          <a:effectRef idx="0">
            <a:schemeClr val="accent1"/>
          </a:effectRef>
          <a:fontRef idx="minor">
            <a:schemeClr val="tx1"/>
          </a:fontRef>
        </p:style>
      </p:cxnSp>
      <p:sp>
        <p:nvSpPr>
          <p:cNvPr id="42" name="직사각형 41"/>
          <p:cNvSpPr/>
          <p:nvPr/>
        </p:nvSpPr>
        <p:spPr bwMode="auto">
          <a:xfrm>
            <a:off x="7977448" y="5225946"/>
            <a:ext cx="1008000"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ko-KR" altLang="en-US" sz="1200" dirty="0">
                <a:solidFill>
                  <a:srgbClr val="000000"/>
                </a:solidFill>
                <a:latin typeface="+mn-ea"/>
              </a:rPr>
              <a:t>암호화 서비스</a:t>
            </a:r>
            <a:endParaRPr lang="en-US" altLang="ko-KR" sz="1200" dirty="0">
              <a:solidFill>
                <a:srgbClr val="000000"/>
              </a:solidFill>
              <a:latin typeface="+mn-ea"/>
            </a:endParaRPr>
          </a:p>
          <a:p>
            <a:pPr algn="ctr">
              <a:defRPr/>
            </a:pPr>
            <a:r>
              <a:rPr lang="ko-KR" altLang="en-US" sz="1200">
                <a:solidFill>
                  <a:srgbClr val="000000"/>
                </a:solidFill>
                <a:latin typeface="+mn-ea"/>
              </a:rPr>
              <a:t>장애대응</a:t>
            </a:r>
            <a:endParaRPr lang="en-US" altLang="ko-KR" sz="1200" dirty="0">
              <a:solidFill>
                <a:srgbClr val="000000"/>
              </a:solidFill>
              <a:latin typeface="+mn-ea"/>
            </a:endParaRPr>
          </a:p>
        </p:txBody>
      </p:sp>
      <p:sp>
        <p:nvSpPr>
          <p:cNvPr id="43" name="직사각형 42"/>
          <p:cNvSpPr/>
          <p:nvPr/>
        </p:nvSpPr>
        <p:spPr bwMode="auto">
          <a:xfrm>
            <a:off x="7977448" y="4204519"/>
            <a:ext cx="1008000" cy="828000"/>
          </a:xfrm>
          <a:prstGeom prst="rect">
            <a:avLst/>
          </a:prstGeom>
          <a:solidFill>
            <a:srgbClr val="2159B7"/>
          </a:solidFill>
          <a:ln w="6350">
            <a:solidFill>
              <a:srgbClr val="999999"/>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ko-KR" altLang="en-US" sz="1200" smtClean="0">
                <a:solidFill>
                  <a:schemeClr val="bg1"/>
                </a:solidFill>
                <a:latin typeface="+mn-ea"/>
                <a:cs typeface="Arial" pitchFamily="34" charset="0"/>
              </a:rPr>
              <a:t>암호키 변경</a:t>
            </a:r>
            <a:r>
              <a:rPr lang="en-US" altLang="ko-KR" sz="1200" smtClean="0">
                <a:solidFill>
                  <a:schemeClr val="bg1"/>
                </a:solidFill>
                <a:latin typeface="+mn-ea"/>
                <a:cs typeface="Arial" pitchFamily="34" charset="0"/>
              </a:rPr>
              <a:t>·</a:t>
            </a:r>
            <a:r>
              <a:rPr lang="ko-KR" altLang="en-US" sz="1200" smtClean="0">
                <a:solidFill>
                  <a:schemeClr val="bg1"/>
                </a:solidFill>
                <a:latin typeface="+mn-ea"/>
                <a:cs typeface="Arial" pitchFamily="34" charset="0"/>
              </a:rPr>
              <a:t>유지 </a:t>
            </a:r>
            <a:r>
              <a:rPr lang="ko-KR" altLang="en-US" sz="1200" dirty="0">
                <a:solidFill>
                  <a:schemeClr val="bg1"/>
                </a:solidFill>
                <a:latin typeface="+mn-ea"/>
                <a:cs typeface="Arial" pitchFamily="34" charset="0"/>
              </a:rPr>
              <a:t>관리 </a:t>
            </a:r>
            <a:endParaRPr lang="en-US" altLang="ko-KR" sz="1200" dirty="0">
              <a:solidFill>
                <a:schemeClr val="bg1"/>
              </a:solidFill>
              <a:latin typeface="+mn-ea"/>
              <a:cs typeface="Arial" pitchFamily="34" charset="0"/>
            </a:endParaRPr>
          </a:p>
        </p:txBody>
      </p:sp>
      <p:cxnSp>
        <p:nvCxnSpPr>
          <p:cNvPr id="44" name="직선 화살표 연결선 74"/>
          <p:cNvCxnSpPr>
            <a:cxnSpLocks noChangeShapeType="1"/>
            <a:stCxn id="15" idx="3"/>
            <a:endCxn id="42" idx="1"/>
          </p:cNvCxnSpPr>
          <p:nvPr/>
        </p:nvCxnSpPr>
        <p:spPr bwMode="auto">
          <a:xfrm>
            <a:off x="7665244" y="5639946"/>
            <a:ext cx="312204" cy="0"/>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5" name="직선 화살표 연결선 77"/>
          <p:cNvCxnSpPr>
            <a:cxnSpLocks noChangeShapeType="1"/>
            <a:stCxn id="39" idx="3"/>
            <a:endCxn id="43" idx="1"/>
          </p:cNvCxnSpPr>
          <p:nvPr/>
        </p:nvCxnSpPr>
        <p:spPr bwMode="auto">
          <a:xfrm>
            <a:off x="7665244" y="4618519"/>
            <a:ext cx="312204" cy="0"/>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6" name="직사각형 45"/>
          <p:cNvSpPr/>
          <p:nvPr/>
        </p:nvSpPr>
        <p:spPr bwMode="auto">
          <a:xfrm>
            <a:off x="7977448" y="2271482"/>
            <a:ext cx="1008000"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ko-KR" altLang="en-US" sz="1200" dirty="0">
                <a:solidFill>
                  <a:srgbClr val="000000"/>
                </a:solidFill>
                <a:latin typeface="+mn-ea"/>
              </a:rPr>
              <a:t>현업 고객정보 </a:t>
            </a:r>
            <a:endParaRPr lang="en-US" altLang="ko-KR" sz="1200" dirty="0">
              <a:solidFill>
                <a:srgbClr val="000000"/>
              </a:solidFill>
              <a:latin typeface="+mn-ea"/>
            </a:endParaRPr>
          </a:p>
          <a:p>
            <a:pPr algn="ctr">
              <a:defRPr/>
            </a:pPr>
            <a:r>
              <a:rPr lang="ko-KR" altLang="en-US" sz="1200">
                <a:solidFill>
                  <a:srgbClr val="000000"/>
                </a:solidFill>
                <a:latin typeface="+mn-ea"/>
              </a:rPr>
              <a:t>이슈공유</a:t>
            </a:r>
            <a:endParaRPr lang="ko-KR" altLang="en-US" sz="1200" dirty="0">
              <a:solidFill>
                <a:srgbClr val="000000"/>
              </a:solidFill>
              <a:latin typeface="+mn-ea"/>
            </a:endParaRPr>
          </a:p>
        </p:txBody>
      </p:sp>
      <p:cxnSp>
        <p:nvCxnSpPr>
          <p:cNvPr id="47" name="직선 화살표 연결선 81"/>
          <p:cNvCxnSpPr>
            <a:cxnSpLocks noChangeShapeType="1"/>
            <a:stCxn id="32" idx="3"/>
            <a:endCxn id="38" idx="1"/>
          </p:cNvCxnSpPr>
          <p:nvPr/>
        </p:nvCxnSpPr>
        <p:spPr bwMode="auto">
          <a:xfrm>
            <a:off x="6345039" y="3632594"/>
            <a:ext cx="312205" cy="0"/>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8" name="직사각형 47"/>
          <p:cNvSpPr/>
          <p:nvPr/>
        </p:nvSpPr>
        <p:spPr bwMode="auto">
          <a:xfrm>
            <a:off x="7977448" y="3218594"/>
            <a:ext cx="1008000" cy="828000"/>
          </a:xfrm>
          <a:prstGeom prst="rect">
            <a:avLst/>
          </a:prstGeom>
          <a:solidFill>
            <a:srgbClr val="DFDFDF"/>
          </a:solidFill>
          <a:ln w="6350">
            <a:solidFill>
              <a:srgbClr val="999999"/>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ko-KR" altLang="en-US" sz="1200" smtClean="0">
                <a:solidFill>
                  <a:srgbClr val="000000"/>
                </a:solidFill>
                <a:latin typeface="+mn-ea"/>
                <a:cs typeface="Arial" pitchFamily="34" charset="0"/>
              </a:rPr>
              <a:t>업무프로그램</a:t>
            </a:r>
            <a:endParaRPr lang="en-US" altLang="ko-KR" sz="1200" smtClean="0">
              <a:solidFill>
                <a:srgbClr val="000000"/>
              </a:solidFill>
              <a:latin typeface="+mn-ea"/>
              <a:cs typeface="Arial" pitchFamily="34" charset="0"/>
            </a:endParaRPr>
          </a:p>
          <a:p>
            <a:pPr algn="ctr">
              <a:defRPr/>
            </a:pPr>
            <a:r>
              <a:rPr lang="ko-KR" altLang="en-US" sz="1200" smtClean="0">
                <a:solidFill>
                  <a:srgbClr val="000000"/>
                </a:solidFill>
                <a:latin typeface="+mn-ea"/>
                <a:cs typeface="Arial" pitchFamily="34" charset="0"/>
              </a:rPr>
              <a:t>암</a:t>
            </a:r>
            <a:r>
              <a:rPr lang="en-US" altLang="ko-KR" sz="1200" smtClean="0">
                <a:solidFill>
                  <a:srgbClr val="000000"/>
                </a:solidFill>
                <a:latin typeface="+mn-ea"/>
                <a:cs typeface="Arial" pitchFamily="34" charset="0"/>
              </a:rPr>
              <a:t>·</a:t>
            </a:r>
            <a:r>
              <a:rPr lang="ko-KR" altLang="en-US" sz="1200" smtClean="0">
                <a:solidFill>
                  <a:srgbClr val="000000"/>
                </a:solidFill>
                <a:latin typeface="+mn-ea"/>
                <a:cs typeface="Arial" pitchFamily="34" charset="0"/>
              </a:rPr>
              <a:t>복호 함수 적용</a:t>
            </a:r>
            <a:r>
              <a:rPr lang="en-US" altLang="ko-KR" sz="1200" smtClean="0">
                <a:solidFill>
                  <a:srgbClr val="000000"/>
                </a:solidFill>
                <a:latin typeface="+mn-ea"/>
                <a:cs typeface="Arial" pitchFamily="34" charset="0"/>
              </a:rPr>
              <a:t>/</a:t>
            </a:r>
            <a:r>
              <a:rPr lang="ko-KR" altLang="en-US" sz="1200" smtClean="0">
                <a:solidFill>
                  <a:srgbClr val="000000"/>
                </a:solidFill>
                <a:latin typeface="+mn-ea"/>
                <a:cs typeface="Arial" pitchFamily="34" charset="0"/>
              </a:rPr>
              <a:t>테스트</a:t>
            </a:r>
            <a:endParaRPr lang="en-US" altLang="ko-KR" sz="1200" smtClean="0">
              <a:solidFill>
                <a:srgbClr val="000000"/>
              </a:solidFill>
              <a:latin typeface="+mn-ea"/>
              <a:cs typeface="Arial" pitchFamily="34" charset="0"/>
            </a:endParaRPr>
          </a:p>
          <a:p>
            <a:pPr algn="ctr">
              <a:defRPr/>
            </a:pPr>
            <a:r>
              <a:rPr lang="en-US" altLang="ko-KR" sz="1200">
                <a:solidFill>
                  <a:srgbClr val="000000"/>
                </a:solidFill>
                <a:latin typeface="+mn-ea"/>
                <a:cs typeface="Arial" pitchFamily="34" charset="0"/>
              </a:rPr>
              <a:t> </a:t>
            </a:r>
            <a:r>
              <a:rPr lang="ko-KR" altLang="en-US" sz="1200" baseline="30000" smtClean="0">
                <a:solidFill>
                  <a:srgbClr val="000000"/>
                </a:solidFill>
                <a:latin typeface="+mn-ea"/>
                <a:cs typeface="Arial" pitchFamily="34" charset="0"/>
              </a:rPr>
              <a:t>주</a:t>
            </a:r>
            <a:r>
              <a:rPr lang="en-US" altLang="ko-KR" sz="1200" baseline="30000" smtClean="0">
                <a:solidFill>
                  <a:srgbClr val="000000"/>
                </a:solidFill>
                <a:latin typeface="+mn-ea"/>
                <a:cs typeface="Arial" pitchFamily="34" charset="0"/>
              </a:rPr>
              <a:t>2)</a:t>
            </a:r>
          </a:p>
        </p:txBody>
      </p:sp>
      <p:cxnSp>
        <p:nvCxnSpPr>
          <p:cNvPr id="49" name="직선 화살표 연결선 81"/>
          <p:cNvCxnSpPr>
            <a:cxnSpLocks noChangeShapeType="1"/>
            <a:stCxn id="38" idx="3"/>
            <a:endCxn id="48" idx="1"/>
          </p:cNvCxnSpPr>
          <p:nvPr/>
        </p:nvCxnSpPr>
        <p:spPr bwMode="auto">
          <a:xfrm>
            <a:off x="7665244" y="3632594"/>
            <a:ext cx="312204" cy="0"/>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0" name="직사각형 49"/>
          <p:cNvSpPr/>
          <p:nvPr/>
        </p:nvSpPr>
        <p:spPr>
          <a:xfrm>
            <a:off x="1064568" y="2240868"/>
            <a:ext cx="8172908" cy="3882928"/>
          </a:xfrm>
          <a:prstGeom prst="rect">
            <a:avLst/>
          </a:prstGeom>
          <a:noFill/>
          <a:ln w="12700">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1200">
              <a:latin typeface="+mn-ea"/>
            </a:endParaRPr>
          </a:p>
        </p:txBody>
      </p:sp>
      <p:grpSp>
        <p:nvGrpSpPr>
          <p:cNvPr id="51" name="그룹 96"/>
          <p:cNvGrpSpPr>
            <a:grpSpLocks/>
          </p:cNvGrpSpPr>
          <p:nvPr/>
        </p:nvGrpSpPr>
        <p:grpSpPr bwMode="auto">
          <a:xfrm>
            <a:off x="507468" y="3603680"/>
            <a:ext cx="1117600" cy="1116013"/>
            <a:chOff x="8191486" y="1773117"/>
            <a:chExt cx="1116227" cy="1116227"/>
          </a:xfrm>
        </p:grpSpPr>
        <p:sp>
          <p:nvSpPr>
            <p:cNvPr id="67" name="타원 66"/>
            <p:cNvSpPr/>
            <p:nvPr/>
          </p:nvSpPr>
          <p:spPr>
            <a:xfrm>
              <a:off x="8191486" y="1773117"/>
              <a:ext cx="1116227" cy="1116227"/>
            </a:xfrm>
            <a:prstGeom prst="ellipse">
              <a:avLst/>
            </a:prstGeom>
            <a:solidFill>
              <a:schemeClr val="bg1"/>
            </a:solidFill>
            <a:ln w="19050">
              <a:solidFill>
                <a:srgbClr val="CCCCCC"/>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ko-KR"/>
              </a:defPPr>
              <a:lvl1pPr algn="l" rtl="0" fontAlgn="base" latinLnBrk="1">
                <a:spcBef>
                  <a:spcPct val="0"/>
                </a:spcBef>
                <a:spcAft>
                  <a:spcPct val="0"/>
                </a:spcAft>
                <a:defRPr kumimoji="1" sz="2400" kern="1200">
                  <a:solidFill>
                    <a:schemeClr val="lt1"/>
                  </a:solidFill>
                  <a:latin typeface="+mn-lt"/>
                  <a:ea typeface="+mn-ea"/>
                  <a:cs typeface="+mn-cs"/>
                </a:defRPr>
              </a:lvl1pPr>
              <a:lvl2pPr marL="457200" algn="l" rtl="0" fontAlgn="base" latinLnBrk="1">
                <a:spcBef>
                  <a:spcPct val="0"/>
                </a:spcBef>
                <a:spcAft>
                  <a:spcPct val="0"/>
                </a:spcAft>
                <a:defRPr kumimoji="1" sz="2400" kern="1200">
                  <a:solidFill>
                    <a:schemeClr val="lt1"/>
                  </a:solidFill>
                  <a:latin typeface="+mn-lt"/>
                  <a:ea typeface="+mn-ea"/>
                  <a:cs typeface="+mn-cs"/>
                </a:defRPr>
              </a:lvl2pPr>
              <a:lvl3pPr marL="914400" algn="l" rtl="0" fontAlgn="base" latinLnBrk="1">
                <a:spcBef>
                  <a:spcPct val="0"/>
                </a:spcBef>
                <a:spcAft>
                  <a:spcPct val="0"/>
                </a:spcAft>
                <a:defRPr kumimoji="1" sz="2400" kern="1200">
                  <a:solidFill>
                    <a:schemeClr val="lt1"/>
                  </a:solidFill>
                  <a:latin typeface="+mn-lt"/>
                  <a:ea typeface="+mn-ea"/>
                  <a:cs typeface="+mn-cs"/>
                </a:defRPr>
              </a:lvl3pPr>
              <a:lvl4pPr marL="1371600" algn="l" rtl="0" fontAlgn="base" latinLnBrk="1">
                <a:spcBef>
                  <a:spcPct val="0"/>
                </a:spcBef>
                <a:spcAft>
                  <a:spcPct val="0"/>
                </a:spcAft>
                <a:defRPr kumimoji="1" sz="2400" kern="1200">
                  <a:solidFill>
                    <a:schemeClr val="lt1"/>
                  </a:solidFill>
                  <a:latin typeface="+mn-lt"/>
                  <a:ea typeface="+mn-ea"/>
                  <a:cs typeface="+mn-cs"/>
                </a:defRPr>
              </a:lvl4pPr>
              <a:lvl5pPr marL="1828800" algn="l" rtl="0" fontAlgn="base" latinLnBrk="1">
                <a:spcBef>
                  <a:spcPct val="0"/>
                </a:spcBef>
                <a:spcAft>
                  <a:spcPct val="0"/>
                </a:spcAft>
                <a:defRPr kumimoji="1" sz="2400" kern="1200">
                  <a:solidFill>
                    <a:schemeClr val="lt1"/>
                  </a:solidFill>
                  <a:latin typeface="+mn-lt"/>
                  <a:ea typeface="+mn-ea"/>
                  <a:cs typeface="+mn-cs"/>
                </a:defRPr>
              </a:lvl5pPr>
              <a:lvl6pPr marL="2286000" algn="l" defTabSz="914400" rtl="0" eaLnBrk="1" latinLnBrk="1" hangingPunct="1">
                <a:defRPr kumimoji="1" sz="2400" kern="1200">
                  <a:solidFill>
                    <a:schemeClr val="lt1"/>
                  </a:solidFill>
                  <a:latin typeface="+mn-lt"/>
                  <a:ea typeface="+mn-ea"/>
                  <a:cs typeface="+mn-cs"/>
                </a:defRPr>
              </a:lvl6pPr>
              <a:lvl7pPr marL="2743200" algn="l" defTabSz="914400" rtl="0" eaLnBrk="1" latinLnBrk="1" hangingPunct="1">
                <a:defRPr kumimoji="1" sz="2400" kern="1200">
                  <a:solidFill>
                    <a:schemeClr val="lt1"/>
                  </a:solidFill>
                  <a:latin typeface="+mn-lt"/>
                  <a:ea typeface="+mn-ea"/>
                  <a:cs typeface="+mn-cs"/>
                </a:defRPr>
              </a:lvl7pPr>
              <a:lvl8pPr marL="3200400" algn="l" defTabSz="914400" rtl="0" eaLnBrk="1" latinLnBrk="1" hangingPunct="1">
                <a:defRPr kumimoji="1" sz="2400" kern="1200">
                  <a:solidFill>
                    <a:schemeClr val="lt1"/>
                  </a:solidFill>
                  <a:latin typeface="+mn-lt"/>
                  <a:ea typeface="+mn-ea"/>
                  <a:cs typeface="+mn-cs"/>
                </a:defRPr>
              </a:lvl8pPr>
              <a:lvl9pPr marL="3657600" algn="l" defTabSz="914400" rtl="0" eaLnBrk="1" latinLnBrk="1" hangingPunct="1">
                <a:defRPr kumimoji="1" sz="2400" kern="1200">
                  <a:solidFill>
                    <a:schemeClr val="lt1"/>
                  </a:solidFill>
                  <a:latin typeface="+mn-lt"/>
                  <a:ea typeface="+mn-ea"/>
                  <a:cs typeface="+mn-cs"/>
                </a:defRPr>
              </a:lvl9pPr>
            </a:lstStyle>
            <a:p>
              <a:pPr algn="ctr">
                <a:defRPr/>
              </a:pPr>
              <a:endParaRPr lang="ko-KR" altLang="en-US">
                <a:latin typeface="+mn-ea"/>
              </a:endParaRPr>
            </a:p>
          </p:txBody>
        </p:sp>
        <p:sp>
          <p:nvSpPr>
            <p:cNvPr id="68" name="타원 67"/>
            <p:cNvSpPr/>
            <p:nvPr/>
          </p:nvSpPr>
          <p:spPr>
            <a:xfrm>
              <a:off x="8264421" y="1846156"/>
              <a:ext cx="970356" cy="970149"/>
            </a:xfrm>
            <a:prstGeom prst="ellipse">
              <a:avLst/>
            </a:prstGeom>
            <a:gradFill flip="none" rotWithShape="1">
              <a:gsLst>
                <a:gs pos="50000">
                  <a:srgbClr val="626262"/>
                </a:gs>
                <a:gs pos="90000">
                  <a:srgbClr val="999999"/>
                </a:gs>
              </a:gsLst>
              <a:lin ang="16200000" scaled="1"/>
              <a:tileRect/>
            </a:gradFill>
            <a:ln w="38100">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ko-KR"/>
              </a:defPPr>
              <a:lvl1pPr algn="l" rtl="0" fontAlgn="base" latinLnBrk="1">
                <a:spcBef>
                  <a:spcPct val="0"/>
                </a:spcBef>
                <a:spcAft>
                  <a:spcPct val="0"/>
                </a:spcAft>
                <a:defRPr kumimoji="1" sz="2400" kern="1200">
                  <a:solidFill>
                    <a:schemeClr val="lt1"/>
                  </a:solidFill>
                  <a:latin typeface="+mn-lt"/>
                  <a:ea typeface="+mn-ea"/>
                  <a:cs typeface="+mn-cs"/>
                </a:defRPr>
              </a:lvl1pPr>
              <a:lvl2pPr marL="457200" algn="l" rtl="0" fontAlgn="base" latinLnBrk="1">
                <a:spcBef>
                  <a:spcPct val="0"/>
                </a:spcBef>
                <a:spcAft>
                  <a:spcPct val="0"/>
                </a:spcAft>
                <a:defRPr kumimoji="1" sz="2400" kern="1200">
                  <a:solidFill>
                    <a:schemeClr val="lt1"/>
                  </a:solidFill>
                  <a:latin typeface="+mn-lt"/>
                  <a:ea typeface="+mn-ea"/>
                  <a:cs typeface="+mn-cs"/>
                </a:defRPr>
              </a:lvl2pPr>
              <a:lvl3pPr marL="914400" algn="l" rtl="0" fontAlgn="base" latinLnBrk="1">
                <a:spcBef>
                  <a:spcPct val="0"/>
                </a:spcBef>
                <a:spcAft>
                  <a:spcPct val="0"/>
                </a:spcAft>
                <a:defRPr kumimoji="1" sz="2400" kern="1200">
                  <a:solidFill>
                    <a:schemeClr val="lt1"/>
                  </a:solidFill>
                  <a:latin typeface="+mn-lt"/>
                  <a:ea typeface="+mn-ea"/>
                  <a:cs typeface="+mn-cs"/>
                </a:defRPr>
              </a:lvl3pPr>
              <a:lvl4pPr marL="1371600" algn="l" rtl="0" fontAlgn="base" latinLnBrk="1">
                <a:spcBef>
                  <a:spcPct val="0"/>
                </a:spcBef>
                <a:spcAft>
                  <a:spcPct val="0"/>
                </a:spcAft>
                <a:defRPr kumimoji="1" sz="2400" kern="1200">
                  <a:solidFill>
                    <a:schemeClr val="lt1"/>
                  </a:solidFill>
                  <a:latin typeface="+mn-lt"/>
                  <a:ea typeface="+mn-ea"/>
                  <a:cs typeface="+mn-cs"/>
                </a:defRPr>
              </a:lvl4pPr>
              <a:lvl5pPr marL="1828800" algn="l" rtl="0" fontAlgn="base" latinLnBrk="1">
                <a:spcBef>
                  <a:spcPct val="0"/>
                </a:spcBef>
                <a:spcAft>
                  <a:spcPct val="0"/>
                </a:spcAft>
                <a:defRPr kumimoji="1" sz="2400" kern="1200">
                  <a:solidFill>
                    <a:schemeClr val="lt1"/>
                  </a:solidFill>
                  <a:latin typeface="+mn-lt"/>
                  <a:ea typeface="+mn-ea"/>
                  <a:cs typeface="+mn-cs"/>
                </a:defRPr>
              </a:lvl5pPr>
              <a:lvl6pPr marL="2286000" algn="l" defTabSz="914400" rtl="0" eaLnBrk="1" latinLnBrk="1" hangingPunct="1">
                <a:defRPr kumimoji="1" sz="2400" kern="1200">
                  <a:solidFill>
                    <a:schemeClr val="lt1"/>
                  </a:solidFill>
                  <a:latin typeface="+mn-lt"/>
                  <a:ea typeface="+mn-ea"/>
                  <a:cs typeface="+mn-cs"/>
                </a:defRPr>
              </a:lvl6pPr>
              <a:lvl7pPr marL="2743200" algn="l" defTabSz="914400" rtl="0" eaLnBrk="1" latinLnBrk="1" hangingPunct="1">
                <a:defRPr kumimoji="1" sz="2400" kern="1200">
                  <a:solidFill>
                    <a:schemeClr val="lt1"/>
                  </a:solidFill>
                  <a:latin typeface="+mn-lt"/>
                  <a:ea typeface="+mn-ea"/>
                  <a:cs typeface="+mn-cs"/>
                </a:defRPr>
              </a:lvl7pPr>
              <a:lvl8pPr marL="3200400" algn="l" defTabSz="914400" rtl="0" eaLnBrk="1" latinLnBrk="1" hangingPunct="1">
                <a:defRPr kumimoji="1" sz="2400" kern="1200">
                  <a:solidFill>
                    <a:schemeClr val="lt1"/>
                  </a:solidFill>
                  <a:latin typeface="+mn-lt"/>
                  <a:ea typeface="+mn-ea"/>
                  <a:cs typeface="+mn-cs"/>
                </a:defRPr>
              </a:lvl8pPr>
              <a:lvl9pPr marL="3657600" algn="l" defTabSz="914400" rtl="0" eaLnBrk="1" latinLnBrk="1" hangingPunct="1">
                <a:defRPr kumimoji="1" sz="2400" kern="1200">
                  <a:solidFill>
                    <a:schemeClr val="lt1"/>
                  </a:solidFill>
                  <a:latin typeface="+mn-lt"/>
                  <a:ea typeface="+mn-ea"/>
                  <a:cs typeface="+mn-cs"/>
                </a:defRPr>
              </a:lvl9pPr>
            </a:lstStyle>
            <a:p>
              <a:pPr algn="ctr">
                <a:defRPr/>
              </a:pPr>
              <a:endParaRPr lang="ko-KR" altLang="en-US" sz="1800">
                <a:latin typeface="+mn-ea"/>
              </a:endParaRPr>
            </a:p>
          </p:txBody>
        </p:sp>
        <p:sp>
          <p:nvSpPr>
            <p:cNvPr id="69" name="타원 68"/>
            <p:cNvSpPr/>
            <p:nvPr/>
          </p:nvSpPr>
          <p:spPr>
            <a:xfrm>
              <a:off x="8318330" y="1900141"/>
              <a:ext cx="862539" cy="862178"/>
            </a:xfrm>
            <a:prstGeom prst="ellipse">
              <a:avLst/>
            </a:prstGeom>
            <a:noFill/>
            <a:ln>
              <a:solidFill>
                <a:srgbClr val="99999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ko-KR"/>
              </a:defPPr>
              <a:lvl1pPr algn="l" rtl="0" fontAlgn="base" latinLnBrk="1">
                <a:spcBef>
                  <a:spcPct val="0"/>
                </a:spcBef>
                <a:spcAft>
                  <a:spcPct val="0"/>
                </a:spcAft>
                <a:defRPr kumimoji="1" sz="2400" kern="1200">
                  <a:solidFill>
                    <a:schemeClr val="lt1"/>
                  </a:solidFill>
                  <a:latin typeface="+mn-lt"/>
                  <a:ea typeface="+mn-ea"/>
                  <a:cs typeface="+mn-cs"/>
                </a:defRPr>
              </a:lvl1pPr>
              <a:lvl2pPr marL="457200" algn="l" rtl="0" fontAlgn="base" latinLnBrk="1">
                <a:spcBef>
                  <a:spcPct val="0"/>
                </a:spcBef>
                <a:spcAft>
                  <a:spcPct val="0"/>
                </a:spcAft>
                <a:defRPr kumimoji="1" sz="2400" kern="1200">
                  <a:solidFill>
                    <a:schemeClr val="lt1"/>
                  </a:solidFill>
                  <a:latin typeface="+mn-lt"/>
                  <a:ea typeface="+mn-ea"/>
                  <a:cs typeface="+mn-cs"/>
                </a:defRPr>
              </a:lvl2pPr>
              <a:lvl3pPr marL="914400" algn="l" rtl="0" fontAlgn="base" latinLnBrk="1">
                <a:spcBef>
                  <a:spcPct val="0"/>
                </a:spcBef>
                <a:spcAft>
                  <a:spcPct val="0"/>
                </a:spcAft>
                <a:defRPr kumimoji="1" sz="2400" kern="1200">
                  <a:solidFill>
                    <a:schemeClr val="lt1"/>
                  </a:solidFill>
                  <a:latin typeface="+mn-lt"/>
                  <a:ea typeface="+mn-ea"/>
                  <a:cs typeface="+mn-cs"/>
                </a:defRPr>
              </a:lvl3pPr>
              <a:lvl4pPr marL="1371600" algn="l" rtl="0" fontAlgn="base" latinLnBrk="1">
                <a:spcBef>
                  <a:spcPct val="0"/>
                </a:spcBef>
                <a:spcAft>
                  <a:spcPct val="0"/>
                </a:spcAft>
                <a:defRPr kumimoji="1" sz="2400" kern="1200">
                  <a:solidFill>
                    <a:schemeClr val="lt1"/>
                  </a:solidFill>
                  <a:latin typeface="+mn-lt"/>
                  <a:ea typeface="+mn-ea"/>
                  <a:cs typeface="+mn-cs"/>
                </a:defRPr>
              </a:lvl4pPr>
              <a:lvl5pPr marL="1828800" algn="l" rtl="0" fontAlgn="base" latinLnBrk="1">
                <a:spcBef>
                  <a:spcPct val="0"/>
                </a:spcBef>
                <a:spcAft>
                  <a:spcPct val="0"/>
                </a:spcAft>
                <a:defRPr kumimoji="1" sz="2400" kern="1200">
                  <a:solidFill>
                    <a:schemeClr val="lt1"/>
                  </a:solidFill>
                  <a:latin typeface="+mn-lt"/>
                  <a:ea typeface="+mn-ea"/>
                  <a:cs typeface="+mn-cs"/>
                </a:defRPr>
              </a:lvl5pPr>
              <a:lvl6pPr marL="2286000" algn="l" defTabSz="914400" rtl="0" eaLnBrk="1" latinLnBrk="1" hangingPunct="1">
                <a:defRPr kumimoji="1" sz="2400" kern="1200">
                  <a:solidFill>
                    <a:schemeClr val="lt1"/>
                  </a:solidFill>
                  <a:latin typeface="+mn-lt"/>
                  <a:ea typeface="+mn-ea"/>
                  <a:cs typeface="+mn-cs"/>
                </a:defRPr>
              </a:lvl6pPr>
              <a:lvl7pPr marL="2743200" algn="l" defTabSz="914400" rtl="0" eaLnBrk="1" latinLnBrk="1" hangingPunct="1">
                <a:defRPr kumimoji="1" sz="2400" kern="1200">
                  <a:solidFill>
                    <a:schemeClr val="lt1"/>
                  </a:solidFill>
                  <a:latin typeface="+mn-lt"/>
                  <a:ea typeface="+mn-ea"/>
                  <a:cs typeface="+mn-cs"/>
                </a:defRPr>
              </a:lvl7pPr>
              <a:lvl8pPr marL="3200400" algn="l" defTabSz="914400" rtl="0" eaLnBrk="1" latinLnBrk="1" hangingPunct="1">
                <a:defRPr kumimoji="1" sz="2400" kern="1200">
                  <a:solidFill>
                    <a:schemeClr val="lt1"/>
                  </a:solidFill>
                  <a:latin typeface="+mn-lt"/>
                  <a:ea typeface="+mn-ea"/>
                  <a:cs typeface="+mn-cs"/>
                </a:defRPr>
              </a:lvl8pPr>
              <a:lvl9pPr marL="3657600" algn="l" defTabSz="914400" rtl="0" eaLnBrk="1" latinLnBrk="1" hangingPunct="1">
                <a:defRPr kumimoji="1" sz="2400" kern="1200">
                  <a:solidFill>
                    <a:schemeClr val="lt1"/>
                  </a:solidFill>
                  <a:latin typeface="+mn-lt"/>
                  <a:ea typeface="+mn-ea"/>
                  <a:cs typeface="+mn-cs"/>
                </a:defRPr>
              </a:lvl9pPr>
            </a:lstStyle>
            <a:p>
              <a:pPr algn="ctr">
                <a:defRPr/>
              </a:pPr>
              <a:endParaRPr lang="ko-KR" altLang="en-US">
                <a:latin typeface="+mn-ea"/>
              </a:endParaRPr>
            </a:p>
          </p:txBody>
        </p:sp>
        <p:sp>
          <p:nvSpPr>
            <p:cNvPr id="70" name="TextBox 17"/>
            <p:cNvSpPr txBox="1">
              <a:spLocks noChangeArrowheads="1"/>
            </p:cNvSpPr>
            <p:nvPr/>
          </p:nvSpPr>
          <p:spPr bwMode="auto">
            <a:xfrm>
              <a:off x="8343986" y="2145903"/>
              <a:ext cx="811227" cy="369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300">
                  <a:solidFill>
                    <a:schemeClr val="tx1"/>
                  </a:solidFill>
                  <a:latin typeface="헤움네모고딕152" pitchFamily="18" charset="-127"/>
                  <a:ea typeface="헤움네모고딕152" pitchFamily="18" charset="-127"/>
                </a:defRPr>
              </a:lvl1pPr>
              <a:lvl2pPr marL="742950" indent="-285750">
                <a:defRPr sz="1300">
                  <a:solidFill>
                    <a:schemeClr val="tx1"/>
                  </a:solidFill>
                  <a:latin typeface="헤움네모고딕152" pitchFamily="18" charset="-127"/>
                  <a:ea typeface="헤움네모고딕152" pitchFamily="18" charset="-127"/>
                </a:defRPr>
              </a:lvl2pPr>
              <a:lvl3pPr marL="1143000" indent="-228600">
                <a:defRPr sz="1300">
                  <a:solidFill>
                    <a:schemeClr val="tx1"/>
                  </a:solidFill>
                  <a:latin typeface="헤움네모고딕152" pitchFamily="18" charset="-127"/>
                  <a:ea typeface="헤움네모고딕152" pitchFamily="18" charset="-127"/>
                </a:defRPr>
              </a:lvl3pPr>
              <a:lvl4pPr marL="1600200" indent="-228600">
                <a:defRPr sz="1300">
                  <a:solidFill>
                    <a:schemeClr val="tx1"/>
                  </a:solidFill>
                  <a:latin typeface="헤움네모고딕152" pitchFamily="18" charset="-127"/>
                  <a:ea typeface="헤움네모고딕152" pitchFamily="18" charset="-127"/>
                </a:defRPr>
              </a:lvl4pPr>
              <a:lvl5pPr marL="2057400" indent="-228600">
                <a:defRPr sz="1300">
                  <a:solidFill>
                    <a:schemeClr val="tx1"/>
                  </a:solidFill>
                  <a:latin typeface="헤움네모고딕152" pitchFamily="18" charset="-127"/>
                  <a:ea typeface="헤움네모고딕152" pitchFamily="18" charset="-127"/>
                </a:defRPr>
              </a:lvl5pPr>
              <a:lvl6pPr marL="25146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6pPr>
              <a:lvl7pPr marL="29718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7pPr>
              <a:lvl8pPr marL="34290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8pPr>
              <a:lvl9pPr marL="38862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9pPr>
            </a:lstStyle>
            <a:p>
              <a:pPr algn="ctr" latinLnBrk="1"/>
              <a:r>
                <a:rPr kumimoji="1" lang="ko-KR" altLang="en-US" sz="1200" b="1" smtClean="0">
                  <a:solidFill>
                    <a:schemeClr val="bg1"/>
                  </a:solidFill>
                  <a:latin typeface="+mn-ea"/>
                  <a:ea typeface="+mn-ea"/>
                </a:rPr>
                <a:t>적용</a:t>
              </a:r>
              <a:endParaRPr kumimoji="1" lang="en-US" altLang="ko-KR" sz="1200" b="1" smtClean="0">
                <a:solidFill>
                  <a:schemeClr val="bg1"/>
                </a:solidFill>
                <a:latin typeface="+mn-ea"/>
                <a:ea typeface="+mn-ea"/>
              </a:endParaRPr>
            </a:p>
            <a:p>
              <a:pPr algn="ctr" latinLnBrk="1"/>
              <a:r>
                <a:rPr kumimoji="1" lang="ko-KR" altLang="en-US" sz="1200" b="1" smtClean="0">
                  <a:solidFill>
                    <a:schemeClr val="bg1"/>
                  </a:solidFill>
                  <a:latin typeface="+mn-ea"/>
                  <a:ea typeface="+mn-ea"/>
                </a:rPr>
                <a:t>순서</a:t>
              </a:r>
              <a:endParaRPr kumimoji="1" lang="en-US" altLang="ko-KR" sz="1200" b="1" smtClean="0">
                <a:solidFill>
                  <a:schemeClr val="bg1"/>
                </a:solidFill>
                <a:latin typeface="+mn-ea"/>
                <a:ea typeface="+mn-ea"/>
              </a:endParaRPr>
            </a:p>
          </p:txBody>
        </p:sp>
      </p:grpSp>
      <p:cxnSp>
        <p:nvCxnSpPr>
          <p:cNvPr id="52" name="직선 연결선 51"/>
          <p:cNvCxnSpPr/>
          <p:nvPr/>
        </p:nvCxnSpPr>
        <p:spPr bwMode="auto">
          <a:xfrm>
            <a:off x="1379606" y="5140715"/>
            <a:ext cx="7749858" cy="0"/>
          </a:xfrm>
          <a:prstGeom prst="line">
            <a:avLst/>
          </a:prstGeom>
          <a:ln w="19050">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2489332" y="2271482"/>
            <a:ext cx="196268" cy="218900"/>
          </a:xfrm>
          <a:prstGeom prst="rect">
            <a:avLst/>
          </a:prstGeom>
          <a:noFill/>
          <a:ln w="6350" cap="flat">
            <a:noFill/>
            <a:miter lim="800000"/>
          </a:ln>
        </p:spPr>
        <p:txBody>
          <a:bodyPr wrap="none" lIns="72000" tIns="36000" rIns="72000" bIns="36000" rtlCol="0" anchor="t" anchorCtr="0">
            <a:noAutofit/>
          </a:bodyPr>
          <a:lstStyle/>
          <a:p>
            <a:pPr algn="ctr">
              <a:lnSpc>
                <a:spcPct val="90000"/>
              </a:lnSpc>
            </a:pPr>
            <a:r>
              <a:rPr lang="ko-KR" altLang="en-US" sz="1200" smtClean="0">
                <a:solidFill>
                  <a:srgbClr val="FF0000"/>
                </a:solidFill>
                <a:cs typeface="Arial" pitchFamily="34" charset="0"/>
              </a:rPr>
              <a:t>①</a:t>
            </a:r>
          </a:p>
        </p:txBody>
      </p:sp>
      <p:sp>
        <p:nvSpPr>
          <p:cNvPr id="55" name="TextBox 54"/>
          <p:cNvSpPr txBox="1"/>
          <p:nvPr/>
        </p:nvSpPr>
        <p:spPr>
          <a:xfrm>
            <a:off x="2478254" y="3218594"/>
            <a:ext cx="190614" cy="218900"/>
          </a:xfrm>
          <a:prstGeom prst="rect">
            <a:avLst/>
          </a:prstGeom>
          <a:noFill/>
          <a:ln w="6350" cap="flat">
            <a:noFill/>
            <a:miter lim="800000"/>
          </a:ln>
        </p:spPr>
        <p:txBody>
          <a:bodyPr wrap="none" lIns="72000" tIns="36000" rIns="72000" bIns="36000" rtlCol="0" anchor="t" anchorCtr="0">
            <a:noAutofit/>
          </a:bodyPr>
          <a:lstStyle/>
          <a:p>
            <a:pPr algn="ctr">
              <a:lnSpc>
                <a:spcPct val="90000"/>
              </a:lnSpc>
            </a:pPr>
            <a:r>
              <a:rPr lang="ko-KR" altLang="en-US" sz="1200" smtClean="0">
                <a:solidFill>
                  <a:srgbClr val="FF0000"/>
                </a:solidFill>
                <a:cs typeface="Arial" pitchFamily="34" charset="0"/>
              </a:rPr>
              <a:t>②</a:t>
            </a:r>
          </a:p>
        </p:txBody>
      </p:sp>
      <p:sp>
        <p:nvSpPr>
          <p:cNvPr id="57" name="TextBox 56"/>
          <p:cNvSpPr txBox="1"/>
          <p:nvPr/>
        </p:nvSpPr>
        <p:spPr>
          <a:xfrm>
            <a:off x="3800872" y="4204519"/>
            <a:ext cx="190613" cy="218900"/>
          </a:xfrm>
          <a:prstGeom prst="rect">
            <a:avLst/>
          </a:prstGeom>
          <a:noFill/>
          <a:ln w="6350" cap="flat">
            <a:noFill/>
            <a:miter lim="800000"/>
          </a:ln>
        </p:spPr>
        <p:txBody>
          <a:bodyPr wrap="none" lIns="72000" tIns="36000" rIns="72000" bIns="36000" rtlCol="0" anchor="t" anchorCtr="0">
            <a:noAutofit/>
          </a:bodyPr>
          <a:lstStyle/>
          <a:p>
            <a:pPr algn="ctr">
              <a:lnSpc>
                <a:spcPct val="90000"/>
              </a:lnSpc>
            </a:pPr>
            <a:r>
              <a:rPr lang="ko-KR" altLang="en-US" sz="1200" smtClean="0">
                <a:solidFill>
                  <a:srgbClr val="FF0000"/>
                </a:solidFill>
                <a:cs typeface="Arial" pitchFamily="34" charset="0"/>
              </a:rPr>
              <a:t>③</a:t>
            </a:r>
          </a:p>
        </p:txBody>
      </p:sp>
      <p:sp>
        <p:nvSpPr>
          <p:cNvPr id="59" name="TextBox 58"/>
          <p:cNvSpPr txBox="1"/>
          <p:nvPr/>
        </p:nvSpPr>
        <p:spPr>
          <a:xfrm>
            <a:off x="7770097" y="4204519"/>
            <a:ext cx="190613" cy="218900"/>
          </a:xfrm>
          <a:prstGeom prst="rect">
            <a:avLst/>
          </a:prstGeom>
          <a:noFill/>
          <a:ln w="6350" cap="flat">
            <a:noFill/>
            <a:miter lim="800000"/>
          </a:ln>
        </p:spPr>
        <p:txBody>
          <a:bodyPr wrap="none" lIns="72000" tIns="36000" rIns="72000" bIns="36000" rtlCol="0" anchor="t" anchorCtr="0">
            <a:noAutofit/>
          </a:bodyPr>
          <a:lstStyle/>
          <a:p>
            <a:pPr algn="ctr">
              <a:lnSpc>
                <a:spcPct val="90000"/>
              </a:lnSpc>
            </a:pPr>
            <a:r>
              <a:rPr lang="ko-KR" altLang="en-US" sz="1200" smtClean="0">
                <a:solidFill>
                  <a:srgbClr val="FF0000"/>
                </a:solidFill>
                <a:cs typeface="Arial" pitchFamily="34" charset="0"/>
              </a:rPr>
              <a:t>⑨</a:t>
            </a:r>
          </a:p>
        </p:txBody>
      </p:sp>
      <p:sp>
        <p:nvSpPr>
          <p:cNvPr id="60" name="TextBox 59"/>
          <p:cNvSpPr txBox="1"/>
          <p:nvPr/>
        </p:nvSpPr>
        <p:spPr>
          <a:xfrm>
            <a:off x="7770097" y="3218594"/>
            <a:ext cx="190613" cy="218900"/>
          </a:xfrm>
          <a:prstGeom prst="rect">
            <a:avLst/>
          </a:prstGeom>
          <a:noFill/>
          <a:ln w="6350" cap="flat">
            <a:noFill/>
            <a:miter lim="800000"/>
          </a:ln>
        </p:spPr>
        <p:txBody>
          <a:bodyPr wrap="none" lIns="72000" tIns="36000" rIns="72000" bIns="36000" rtlCol="0" anchor="t" anchorCtr="0">
            <a:noAutofit/>
          </a:bodyPr>
          <a:lstStyle/>
          <a:p>
            <a:pPr algn="ctr">
              <a:lnSpc>
                <a:spcPct val="90000"/>
              </a:lnSpc>
            </a:pPr>
            <a:r>
              <a:rPr lang="ko-KR" altLang="en-US" sz="1200" smtClean="0">
                <a:solidFill>
                  <a:srgbClr val="FF0000"/>
                </a:solidFill>
                <a:cs typeface="Arial" pitchFamily="34" charset="0"/>
              </a:rPr>
              <a:t>⑧</a:t>
            </a:r>
          </a:p>
        </p:txBody>
      </p:sp>
      <p:sp>
        <p:nvSpPr>
          <p:cNvPr id="61" name="TextBox 60"/>
          <p:cNvSpPr txBox="1"/>
          <p:nvPr/>
        </p:nvSpPr>
        <p:spPr>
          <a:xfrm>
            <a:off x="6440229" y="3218594"/>
            <a:ext cx="190613" cy="218900"/>
          </a:xfrm>
          <a:prstGeom prst="rect">
            <a:avLst/>
          </a:prstGeom>
          <a:noFill/>
          <a:ln w="6350" cap="flat">
            <a:noFill/>
            <a:miter lim="800000"/>
          </a:ln>
        </p:spPr>
        <p:txBody>
          <a:bodyPr wrap="none" lIns="72000" tIns="36000" rIns="72000" bIns="36000" rtlCol="0" anchor="t" anchorCtr="0">
            <a:noAutofit/>
          </a:bodyPr>
          <a:lstStyle/>
          <a:p>
            <a:pPr algn="ctr">
              <a:lnSpc>
                <a:spcPct val="90000"/>
              </a:lnSpc>
            </a:pPr>
            <a:r>
              <a:rPr lang="ko-KR" altLang="en-US" sz="1200" smtClean="0">
                <a:solidFill>
                  <a:srgbClr val="FF0000"/>
                </a:solidFill>
                <a:cs typeface="Arial" pitchFamily="34" charset="0"/>
              </a:rPr>
              <a:t>⑦</a:t>
            </a:r>
          </a:p>
        </p:txBody>
      </p:sp>
      <p:sp>
        <p:nvSpPr>
          <p:cNvPr id="62" name="TextBox 61"/>
          <p:cNvSpPr txBox="1"/>
          <p:nvPr/>
        </p:nvSpPr>
        <p:spPr>
          <a:xfrm>
            <a:off x="5124707" y="3218594"/>
            <a:ext cx="190613" cy="218900"/>
          </a:xfrm>
          <a:prstGeom prst="rect">
            <a:avLst/>
          </a:prstGeom>
          <a:noFill/>
          <a:ln w="6350" cap="flat">
            <a:noFill/>
            <a:miter lim="800000"/>
          </a:ln>
        </p:spPr>
        <p:txBody>
          <a:bodyPr wrap="none" lIns="72000" tIns="36000" rIns="72000" bIns="36000" rtlCol="0" anchor="t" anchorCtr="0">
            <a:noAutofit/>
          </a:bodyPr>
          <a:lstStyle/>
          <a:p>
            <a:pPr algn="ctr">
              <a:lnSpc>
                <a:spcPct val="90000"/>
              </a:lnSpc>
            </a:pPr>
            <a:r>
              <a:rPr lang="ko-KR" altLang="en-US" sz="1200" smtClean="0">
                <a:solidFill>
                  <a:srgbClr val="FF0000"/>
                </a:solidFill>
                <a:cs typeface="Arial" pitchFamily="34" charset="0"/>
              </a:rPr>
              <a:t>⑥</a:t>
            </a:r>
          </a:p>
        </p:txBody>
      </p:sp>
      <p:sp>
        <p:nvSpPr>
          <p:cNvPr id="63" name="TextBox 62"/>
          <p:cNvSpPr txBox="1"/>
          <p:nvPr/>
        </p:nvSpPr>
        <p:spPr>
          <a:xfrm>
            <a:off x="5124707" y="4204519"/>
            <a:ext cx="190613" cy="218900"/>
          </a:xfrm>
          <a:prstGeom prst="rect">
            <a:avLst/>
          </a:prstGeom>
          <a:noFill/>
          <a:ln w="6350" cap="flat">
            <a:noFill/>
            <a:miter lim="800000"/>
          </a:ln>
        </p:spPr>
        <p:txBody>
          <a:bodyPr wrap="none" lIns="72000" tIns="36000" rIns="72000" bIns="36000" rtlCol="0" anchor="t" anchorCtr="0">
            <a:noAutofit/>
          </a:bodyPr>
          <a:lstStyle/>
          <a:p>
            <a:pPr algn="ctr">
              <a:lnSpc>
                <a:spcPct val="90000"/>
              </a:lnSpc>
            </a:pPr>
            <a:r>
              <a:rPr lang="ko-KR" altLang="en-US" sz="1200" smtClean="0">
                <a:solidFill>
                  <a:srgbClr val="FF0000"/>
                </a:solidFill>
                <a:cs typeface="Arial" pitchFamily="34" charset="0"/>
              </a:rPr>
              <a:t>⑤</a:t>
            </a:r>
          </a:p>
        </p:txBody>
      </p:sp>
      <p:sp>
        <p:nvSpPr>
          <p:cNvPr id="64" name="TextBox 63"/>
          <p:cNvSpPr txBox="1"/>
          <p:nvPr/>
        </p:nvSpPr>
        <p:spPr>
          <a:xfrm>
            <a:off x="3800872" y="5225946"/>
            <a:ext cx="190613" cy="218900"/>
          </a:xfrm>
          <a:prstGeom prst="rect">
            <a:avLst/>
          </a:prstGeom>
          <a:noFill/>
          <a:ln w="6350" cap="flat">
            <a:noFill/>
            <a:miter lim="800000"/>
          </a:ln>
        </p:spPr>
        <p:txBody>
          <a:bodyPr wrap="none" lIns="72000" tIns="36000" rIns="72000" bIns="36000" rtlCol="0" anchor="t" anchorCtr="0">
            <a:noAutofit/>
          </a:bodyPr>
          <a:lstStyle/>
          <a:p>
            <a:pPr algn="ctr">
              <a:lnSpc>
                <a:spcPct val="90000"/>
              </a:lnSpc>
            </a:pPr>
            <a:r>
              <a:rPr lang="ko-KR" altLang="en-US" sz="1200" smtClean="0">
                <a:solidFill>
                  <a:srgbClr val="FF0000"/>
                </a:solidFill>
                <a:cs typeface="Arial" pitchFamily="34" charset="0"/>
              </a:rPr>
              <a:t>④</a:t>
            </a:r>
          </a:p>
        </p:txBody>
      </p:sp>
      <p:sp>
        <p:nvSpPr>
          <p:cNvPr id="65" name="TextBox 64"/>
          <p:cNvSpPr txBox="1"/>
          <p:nvPr/>
        </p:nvSpPr>
        <p:spPr>
          <a:xfrm>
            <a:off x="6440229" y="5225946"/>
            <a:ext cx="190613" cy="218900"/>
          </a:xfrm>
          <a:prstGeom prst="rect">
            <a:avLst/>
          </a:prstGeom>
          <a:noFill/>
          <a:ln w="6350" cap="flat">
            <a:noFill/>
            <a:miter lim="800000"/>
          </a:ln>
        </p:spPr>
        <p:txBody>
          <a:bodyPr wrap="none" lIns="72000" tIns="36000" rIns="72000" bIns="36000" rtlCol="0" anchor="t" anchorCtr="0">
            <a:noAutofit/>
          </a:bodyPr>
          <a:lstStyle/>
          <a:p>
            <a:pPr algn="ctr">
              <a:lnSpc>
                <a:spcPct val="90000"/>
              </a:lnSpc>
            </a:pPr>
            <a:r>
              <a:rPr lang="ko-KR" altLang="en-US" sz="1200" smtClean="0">
                <a:solidFill>
                  <a:srgbClr val="FF0000"/>
                </a:solidFill>
                <a:cs typeface="Arial" pitchFamily="34" charset="0"/>
              </a:rPr>
              <a:t>⑨</a:t>
            </a:r>
          </a:p>
        </p:txBody>
      </p:sp>
      <p:sp>
        <p:nvSpPr>
          <p:cNvPr id="66" name="TextBox 65"/>
          <p:cNvSpPr txBox="1"/>
          <p:nvPr/>
        </p:nvSpPr>
        <p:spPr>
          <a:xfrm>
            <a:off x="7770097" y="5225946"/>
            <a:ext cx="190613" cy="218900"/>
          </a:xfrm>
          <a:prstGeom prst="rect">
            <a:avLst/>
          </a:prstGeom>
          <a:noFill/>
          <a:ln w="6350" cap="flat">
            <a:noFill/>
            <a:miter lim="800000"/>
          </a:ln>
        </p:spPr>
        <p:txBody>
          <a:bodyPr wrap="none" lIns="72000" tIns="36000" rIns="72000" bIns="36000" rtlCol="0" anchor="t" anchorCtr="0">
            <a:noAutofit/>
          </a:bodyPr>
          <a:lstStyle/>
          <a:p>
            <a:pPr algn="ctr">
              <a:lnSpc>
                <a:spcPct val="90000"/>
              </a:lnSpc>
            </a:pPr>
            <a:r>
              <a:rPr lang="ko-KR" altLang="en-US" sz="1200" smtClean="0">
                <a:solidFill>
                  <a:srgbClr val="FF0000"/>
                </a:solidFill>
                <a:cs typeface="Arial" pitchFamily="34" charset="0"/>
              </a:rPr>
              <a:t>⑩</a:t>
            </a:r>
          </a:p>
        </p:txBody>
      </p:sp>
      <p:sp>
        <p:nvSpPr>
          <p:cNvPr id="72" name="Rectangle 3"/>
          <p:cNvSpPr>
            <a:spLocks noChangeArrowheads="1"/>
          </p:cNvSpPr>
          <p:nvPr/>
        </p:nvSpPr>
        <p:spPr bwMode="auto">
          <a:xfrm>
            <a:off x="416496" y="6081095"/>
            <a:ext cx="8183044" cy="480131"/>
          </a:xfrm>
          <a:prstGeom prst="rect">
            <a:avLst/>
          </a:prstGeom>
          <a:noFill/>
          <a:ln w="9525" algn="ctr">
            <a:noFill/>
            <a:miter lim="800000"/>
            <a:headEnd/>
            <a:tailEnd/>
          </a:ln>
          <a:effectLst/>
        </p:spPr>
        <p:txBody>
          <a:bodyPr wrap="square">
            <a:spAutoFit/>
          </a:bodyPr>
          <a:lstStyle/>
          <a:p>
            <a:pPr marL="171450" indent="-171450">
              <a:lnSpc>
                <a:spcPct val="130000"/>
              </a:lnSpc>
              <a:spcBef>
                <a:spcPct val="20000"/>
              </a:spcBef>
              <a:buSzPct val="100000"/>
              <a:buFont typeface="Arial" panose="020B0604020202020204" pitchFamily="34" charset="0"/>
              <a:buChar char="•"/>
            </a:pPr>
            <a:r>
              <a:rPr lang="ko-KR" altLang="en-US" sz="900" baseline="30000" smtClean="0">
                <a:latin typeface="KB금융 본문체 Light" panose="020B0303000000000000" pitchFamily="50" charset="-127"/>
                <a:ea typeface="KB금융 본문체 Light" panose="020B0303000000000000" pitchFamily="50" charset="-127"/>
                <a:cs typeface="ヒラギノ角ゴ ProN W3"/>
              </a:rPr>
              <a:t>주</a:t>
            </a:r>
            <a:r>
              <a:rPr lang="en-US" altLang="ko-KR" sz="900" baseline="30000" smtClean="0">
                <a:latin typeface="KB금융 본문체 Light" panose="020B0303000000000000" pitchFamily="50" charset="-127"/>
                <a:ea typeface="KB금융 본문체 Light" panose="020B0303000000000000" pitchFamily="50" charset="-127"/>
                <a:cs typeface="ヒラギノ角ゴ ProN W3"/>
              </a:rPr>
              <a:t>1)</a:t>
            </a:r>
            <a:r>
              <a:rPr lang="en-US" altLang="ko-KR" sz="900" smtClean="0">
                <a:latin typeface="KB금융 본문체 Light" panose="020B0303000000000000" pitchFamily="50" charset="-127"/>
                <a:ea typeface="KB금융 본문체 Light" panose="020B0303000000000000" pitchFamily="50" charset="-127"/>
                <a:cs typeface="ヒラギノ角ゴ ProN W3"/>
              </a:rPr>
              <a:t> </a:t>
            </a:r>
            <a:r>
              <a:rPr lang="ko-KR" altLang="en-US" sz="900" smtClean="0">
                <a:latin typeface="KB금융 본문체 Light" panose="020B0303000000000000" pitchFamily="50" charset="-127"/>
                <a:ea typeface="KB금융 본문체 Light" panose="020B0303000000000000" pitchFamily="50" charset="-127"/>
                <a:cs typeface="ヒラギノ角ゴ ProN W3"/>
              </a:rPr>
              <a:t>첨부</a:t>
            </a:r>
            <a:r>
              <a:rPr lang="en-US" altLang="ko-KR" sz="900" smtClean="0">
                <a:latin typeface="KB금융 본문체 Light" panose="020B0303000000000000" pitchFamily="50" charset="-127"/>
                <a:ea typeface="KB금융 본문체 Light" panose="020B0303000000000000" pitchFamily="50" charset="-127"/>
                <a:cs typeface="ヒラギノ角ゴ ProN W3"/>
              </a:rPr>
              <a:t>2.</a:t>
            </a:r>
            <a:r>
              <a:rPr lang="ko-KR" altLang="en-US" sz="900" smtClean="0">
                <a:latin typeface="KB금융 본문체 Light" panose="020B0303000000000000" pitchFamily="50" charset="-127"/>
                <a:ea typeface="KB금융 본문체 Light" panose="020B0303000000000000" pitchFamily="50" charset="-127"/>
                <a:cs typeface="ヒラギノ角ゴ ProN W3"/>
              </a:rPr>
              <a:t>개발자 환경설정</a:t>
            </a:r>
            <a:r>
              <a:rPr lang="en-US" altLang="ko-KR" sz="900" smtClean="0">
                <a:latin typeface="KB금융 본문체 Light" panose="020B0303000000000000" pitchFamily="50" charset="-127"/>
                <a:ea typeface="KB금융 본문체 Light" panose="020B0303000000000000" pitchFamily="50" charset="-127"/>
                <a:cs typeface="ヒラギノ角ゴ ProN W3"/>
              </a:rPr>
              <a:t> </a:t>
            </a:r>
            <a:r>
              <a:rPr lang="ko-KR" altLang="en-US" sz="900" smtClean="0">
                <a:latin typeface="KB금융 본문체 Light" panose="020B0303000000000000" pitchFamily="50" charset="-127"/>
                <a:ea typeface="KB금융 본문체 Light" panose="020B0303000000000000" pitchFamily="50" charset="-127"/>
                <a:cs typeface="ヒラギノ角ゴ ProN W3"/>
              </a:rPr>
              <a:t>참조</a:t>
            </a:r>
            <a:endParaRPr lang="en-US" altLang="ko-KR" sz="900" smtClean="0">
              <a:latin typeface="KB금융 본문체 Light" panose="020B0303000000000000" pitchFamily="50" charset="-127"/>
              <a:ea typeface="KB금융 본문체 Light" panose="020B0303000000000000" pitchFamily="50" charset="-127"/>
              <a:cs typeface="ヒラギノ角ゴ ProN W3"/>
            </a:endParaRPr>
          </a:p>
          <a:p>
            <a:pPr marL="171450" indent="-171450">
              <a:lnSpc>
                <a:spcPct val="130000"/>
              </a:lnSpc>
              <a:spcBef>
                <a:spcPct val="20000"/>
              </a:spcBef>
              <a:buSzPct val="100000"/>
              <a:buFont typeface="Arial" panose="020B0604020202020204" pitchFamily="34" charset="0"/>
              <a:buChar char="•"/>
            </a:pPr>
            <a:r>
              <a:rPr lang="ko-KR" altLang="en-US" sz="900" baseline="30000" smtClean="0">
                <a:latin typeface="KB금융 본문체 Light" panose="020B0303000000000000" pitchFamily="50" charset="-127"/>
                <a:ea typeface="KB금융 본문체 Light" panose="020B0303000000000000" pitchFamily="50" charset="-127"/>
                <a:cs typeface="ヒラギノ角ゴ ProN W3"/>
              </a:rPr>
              <a:t>주</a:t>
            </a:r>
            <a:r>
              <a:rPr lang="en-US" altLang="ko-KR" sz="900" baseline="30000" smtClean="0">
                <a:latin typeface="KB금융 본문체 Light" panose="020B0303000000000000" pitchFamily="50" charset="-127"/>
                <a:ea typeface="KB금융 본문체 Light" panose="020B0303000000000000" pitchFamily="50" charset="-127"/>
                <a:cs typeface="ヒラギノ角ゴ ProN W3"/>
              </a:rPr>
              <a:t>2)</a:t>
            </a:r>
            <a:r>
              <a:rPr lang="en-US" altLang="ko-KR" sz="900" smtClean="0">
                <a:latin typeface="KB금융 본문체 Light" panose="020B0303000000000000" pitchFamily="50" charset="-127"/>
                <a:ea typeface="KB금융 본문체 Light" panose="020B0303000000000000" pitchFamily="50" charset="-127"/>
                <a:cs typeface="ヒラギノ角ゴ ProN W3"/>
              </a:rPr>
              <a:t> </a:t>
            </a:r>
            <a:r>
              <a:rPr lang="ko-KR" altLang="en-US" sz="900" smtClean="0">
                <a:latin typeface="KB금융 본문체 Light" panose="020B0303000000000000" pitchFamily="50" charset="-127"/>
                <a:ea typeface="KB금융 본문체 Light" panose="020B0303000000000000" pitchFamily="50" charset="-127"/>
                <a:cs typeface="ヒラギノ角ゴ ProN W3"/>
              </a:rPr>
              <a:t>첨부</a:t>
            </a:r>
            <a:r>
              <a:rPr lang="en-US" altLang="ko-KR" sz="900" smtClean="0">
                <a:latin typeface="KB금융 본문체 Light" panose="020B0303000000000000" pitchFamily="50" charset="-127"/>
                <a:ea typeface="KB금융 본문체 Light" panose="020B0303000000000000" pitchFamily="50" charset="-127"/>
                <a:cs typeface="ヒラギノ角ゴ ProN W3"/>
              </a:rPr>
              <a:t>3.</a:t>
            </a:r>
            <a:r>
              <a:rPr lang="ko-KR" altLang="en-US" sz="900" smtClean="0">
                <a:latin typeface="KB금융 본문체 Light" panose="020B0303000000000000" pitchFamily="50" charset="-127"/>
                <a:ea typeface="KB금융 본문체 Light" panose="020B0303000000000000" pitchFamily="50" charset="-127"/>
                <a:cs typeface="ヒラギノ角ゴ ProN W3"/>
              </a:rPr>
              <a:t>암</a:t>
            </a:r>
            <a:r>
              <a:rPr lang="en-US" altLang="ko-KR" sz="900" smtClean="0">
                <a:latin typeface="KB금융 본문체 Light" panose="020B0303000000000000" pitchFamily="50" charset="-127"/>
                <a:ea typeface="KB금융 본문체 Light" panose="020B0303000000000000" pitchFamily="50" charset="-127"/>
                <a:cs typeface="ヒラギノ角ゴ ProN W3"/>
              </a:rPr>
              <a:t>·</a:t>
            </a:r>
            <a:r>
              <a:rPr lang="ko-KR" altLang="en-US" sz="900" smtClean="0">
                <a:latin typeface="KB금융 본문체 Light" panose="020B0303000000000000" pitchFamily="50" charset="-127"/>
                <a:ea typeface="KB금융 본문체 Light" panose="020B0303000000000000" pitchFamily="50" charset="-127"/>
                <a:cs typeface="ヒラギノ角ゴ ProN W3"/>
              </a:rPr>
              <a:t>복호함수 적용가이드 </a:t>
            </a:r>
            <a:r>
              <a:rPr lang="en-US" altLang="ko-KR" sz="900" smtClean="0">
                <a:latin typeface="KB금융 본문체 Light" panose="020B0303000000000000" pitchFamily="50" charset="-127"/>
                <a:ea typeface="KB금융 본문체 Light" panose="020B0303000000000000" pitchFamily="50" charset="-127"/>
                <a:cs typeface="ヒラギノ角ゴ ProN W3"/>
              </a:rPr>
              <a:t>/ </a:t>
            </a:r>
            <a:r>
              <a:rPr lang="ko-KR" altLang="en-US" sz="900" smtClean="0">
                <a:latin typeface="KB금융 본문체 Light" panose="020B0303000000000000" pitchFamily="50" charset="-127"/>
                <a:ea typeface="KB금융 본문체 Light" panose="020B0303000000000000" pitchFamily="50" charset="-127"/>
                <a:cs typeface="ヒラギノ角ゴ ProN W3"/>
              </a:rPr>
              <a:t>첨부</a:t>
            </a:r>
            <a:r>
              <a:rPr lang="en-US" altLang="ko-KR" sz="900" smtClean="0">
                <a:latin typeface="KB금융 본문체 Light" panose="020B0303000000000000" pitchFamily="50" charset="-127"/>
                <a:ea typeface="KB금융 본문체 Light" panose="020B0303000000000000" pitchFamily="50" charset="-127"/>
                <a:cs typeface="ヒラギノ角ゴ ProN W3"/>
              </a:rPr>
              <a:t>4.</a:t>
            </a:r>
            <a:r>
              <a:rPr lang="ko-KR" altLang="en-US" sz="900">
                <a:latin typeface="KB금융 본문체 Light" panose="020B0303000000000000" pitchFamily="50" charset="-127"/>
                <a:ea typeface="KB금융 본문체 Light" panose="020B0303000000000000" pitchFamily="50" charset="-127"/>
                <a:cs typeface="ヒラギノ角ゴ ProN W3"/>
              </a:rPr>
              <a:t> 암</a:t>
            </a:r>
            <a:r>
              <a:rPr lang="en-US" altLang="ko-KR" sz="900">
                <a:latin typeface="KB금융 본문체 Light" panose="020B0303000000000000" pitchFamily="50" charset="-127"/>
                <a:ea typeface="KB금융 본문체 Light" panose="020B0303000000000000" pitchFamily="50" charset="-127"/>
                <a:cs typeface="ヒラギノ角ゴ ProN W3"/>
              </a:rPr>
              <a:t>·</a:t>
            </a:r>
            <a:r>
              <a:rPr lang="ko-KR" altLang="en-US" sz="900" smtClean="0">
                <a:latin typeface="KB금융 본문체 Light" panose="020B0303000000000000" pitchFamily="50" charset="-127"/>
                <a:ea typeface="KB금융 본문체 Light" panose="020B0303000000000000" pitchFamily="50" charset="-127"/>
                <a:cs typeface="ヒラギノ角ゴ ProN W3"/>
              </a:rPr>
              <a:t>복호함수 에러코드 참조</a:t>
            </a:r>
            <a:endParaRPr lang="en-US" altLang="ko-KR" sz="900" smtClean="0">
              <a:latin typeface="KB금융 본문체 Light" panose="020B0303000000000000" pitchFamily="50" charset="-127"/>
              <a:ea typeface="KB금융 본문체 Light" panose="020B0303000000000000" pitchFamily="50" charset="-127"/>
              <a:cs typeface="ヒラギノ角ゴ ProN W3"/>
            </a:endParaRPr>
          </a:p>
        </p:txBody>
      </p:sp>
      <p:cxnSp>
        <p:nvCxnSpPr>
          <p:cNvPr id="74" name="꺾인 연결선 73"/>
          <p:cNvCxnSpPr>
            <a:stCxn id="16" idx="2"/>
            <a:endCxn id="11" idx="1"/>
          </p:cNvCxnSpPr>
          <p:nvPr/>
        </p:nvCxnSpPr>
        <p:spPr>
          <a:xfrm rot="16200000" flipH="1">
            <a:off x="3322770" y="3924454"/>
            <a:ext cx="571925" cy="816204"/>
          </a:xfrm>
          <a:prstGeom prst="bentConnector2">
            <a:avLst/>
          </a:prstGeom>
          <a:ln w="19050">
            <a:solidFill>
              <a:srgbClr val="626262"/>
            </a:solidFill>
            <a:tailEnd type="triangle"/>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440229" y="4204519"/>
            <a:ext cx="190613" cy="218900"/>
          </a:xfrm>
          <a:prstGeom prst="rect">
            <a:avLst/>
          </a:prstGeom>
          <a:noFill/>
          <a:ln w="6350" cap="flat">
            <a:noFill/>
            <a:miter lim="800000"/>
          </a:ln>
        </p:spPr>
        <p:txBody>
          <a:bodyPr wrap="none" lIns="72000" tIns="36000" rIns="72000" bIns="36000" rtlCol="0" anchor="t" anchorCtr="0">
            <a:noAutofit/>
          </a:bodyPr>
          <a:lstStyle/>
          <a:p>
            <a:pPr algn="ctr">
              <a:lnSpc>
                <a:spcPct val="90000"/>
              </a:lnSpc>
            </a:pPr>
            <a:r>
              <a:rPr lang="ko-KR" altLang="en-US" sz="1200" smtClean="0">
                <a:solidFill>
                  <a:srgbClr val="FF0000"/>
                </a:solidFill>
                <a:cs typeface="Arial" pitchFamily="34" charset="0"/>
              </a:rPr>
              <a:t>⑧</a:t>
            </a:r>
          </a:p>
        </p:txBody>
      </p:sp>
      <p:cxnSp>
        <p:nvCxnSpPr>
          <p:cNvPr id="3" name="직선 화살표 연결선 2"/>
          <p:cNvCxnSpPr/>
          <p:nvPr/>
        </p:nvCxnSpPr>
        <p:spPr>
          <a:xfrm flipV="1">
            <a:off x="10126251" y="2709064"/>
            <a:ext cx="218073" cy="1390"/>
          </a:xfrm>
          <a:prstGeom prst="straightConnector1">
            <a:avLst/>
          </a:prstGeom>
          <a:ln w="6350" cap="flat">
            <a:solidFill>
              <a:schemeClr val="bg1">
                <a:lumMod val="50000"/>
              </a:schemeClr>
            </a:solidFill>
            <a:miter lim="800000"/>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70233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ko-KR" altLang="en-US" smtClean="0"/>
              <a:t>첨부</a:t>
            </a:r>
            <a:r>
              <a:rPr lang="en-US" altLang="ko-KR" smtClean="0"/>
              <a:t>1. </a:t>
            </a:r>
            <a:r>
              <a:rPr lang="ko-KR" altLang="en-US" smtClean="0"/>
              <a:t>암호키 신청방법</a:t>
            </a:r>
            <a:r>
              <a:rPr lang="en-US" altLang="ko-KR" smtClean="0"/>
              <a:t>(2/4)</a:t>
            </a:r>
            <a:endParaRPr lang="ko-KR" altLang="en-US" dirty="0"/>
          </a:p>
        </p:txBody>
      </p:sp>
      <p:sp>
        <p:nvSpPr>
          <p:cNvPr id="98" name="Rectangle 3"/>
          <p:cNvSpPr>
            <a:spLocks noChangeArrowheads="1"/>
          </p:cNvSpPr>
          <p:nvPr/>
        </p:nvSpPr>
        <p:spPr bwMode="auto">
          <a:xfrm>
            <a:off x="308484" y="764704"/>
            <a:ext cx="9144000" cy="372410"/>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ko-KR" altLang="en-US" sz="1400" b="1" smtClean="0">
                <a:latin typeface="KB금융 본문체 Light" panose="020B0303000000000000" pitchFamily="50" charset="-127"/>
                <a:ea typeface="KB금융 본문체 Light" panose="020B0303000000000000" pitchFamily="50" charset="-127"/>
                <a:cs typeface="ヒラギノ角ゴ ProN W3"/>
              </a:rPr>
              <a:t>암호화 적용 신청서 작성</a:t>
            </a:r>
            <a:r>
              <a:rPr lang="en-US" altLang="ko-KR" sz="1400" b="1" smtClean="0">
                <a:latin typeface="KB금융 본문체 Light" panose="020B0303000000000000" pitchFamily="50" charset="-127"/>
                <a:ea typeface="KB금융 본문체 Light" panose="020B0303000000000000" pitchFamily="50" charset="-127"/>
                <a:cs typeface="ヒラギノ角ゴ ProN W3"/>
              </a:rPr>
              <a:t>(</a:t>
            </a:r>
            <a:r>
              <a:rPr lang="ko-KR" altLang="en-US" sz="1400" b="1" smtClean="0">
                <a:latin typeface="KB금융 본문체 Light" panose="020B0303000000000000" pitchFamily="50" charset="-127"/>
                <a:ea typeface="KB금융 본문체 Light" panose="020B0303000000000000" pitchFamily="50" charset="-127"/>
                <a:cs typeface="ヒラギノ角ゴ ProN W3"/>
              </a:rPr>
              <a:t>유닉스</a:t>
            </a:r>
            <a:r>
              <a:rPr lang="en-US" altLang="ko-KR" sz="1400" b="1" smtClean="0">
                <a:latin typeface="KB금융 본문체 Light" panose="020B0303000000000000" pitchFamily="50" charset="-127"/>
                <a:ea typeface="KB금융 본문체 Light" panose="020B0303000000000000" pitchFamily="50" charset="-127"/>
                <a:cs typeface="ヒラギノ角ゴ ProN W3"/>
              </a:rPr>
              <a:t> </a:t>
            </a:r>
            <a:r>
              <a:rPr lang="ko-KR" altLang="en-US" sz="1400" b="1" smtClean="0">
                <a:latin typeface="KB금융 본문체 Light" panose="020B0303000000000000" pitchFamily="50" charset="-127"/>
                <a:ea typeface="KB금융 본문체 Light" panose="020B0303000000000000" pitchFamily="50" charset="-127"/>
                <a:cs typeface="ヒラギノ角ゴ ProN W3"/>
              </a:rPr>
              <a:t>기준</a:t>
            </a:r>
            <a:r>
              <a:rPr lang="en-US" altLang="ko-KR" sz="1400" b="1" smtClean="0">
                <a:latin typeface="KB금융 본문체 Light" panose="020B0303000000000000" pitchFamily="50" charset="-127"/>
                <a:ea typeface="KB금융 본문체 Light" panose="020B0303000000000000" pitchFamily="50" charset="-127"/>
                <a:cs typeface="ヒラギノ角ゴ ProN W3"/>
              </a:rPr>
              <a:t>)</a:t>
            </a:r>
            <a:endParaRPr lang="en-US" altLang="ko-KR" sz="1400" b="1"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99" name="Rectangle 3"/>
          <p:cNvSpPr>
            <a:spLocks noChangeArrowheads="1"/>
          </p:cNvSpPr>
          <p:nvPr/>
        </p:nvSpPr>
        <p:spPr bwMode="auto">
          <a:xfrm>
            <a:off x="699993" y="1142438"/>
            <a:ext cx="8753507" cy="332399"/>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ko-KR" altLang="en-US" sz="1200" smtClean="0">
                <a:latin typeface="KB금융 본문체 Light" panose="020B0303000000000000" pitchFamily="50" charset="-127"/>
                <a:ea typeface="KB금융 본문체 Light" panose="020B0303000000000000" pitchFamily="50" charset="-127"/>
                <a:cs typeface="ヒラギノ角ゴ ProN W3"/>
              </a:rPr>
              <a:t>해당 업무팀에서는 암호화 적용을 위해 정보보호부에서 제공하는 암호화 적용 신청서를 작성하여야 한다</a:t>
            </a:r>
            <a:endParaRPr lang="en-US" altLang="ko-KR" sz="1200" dirty="0" smtClean="0">
              <a:latin typeface="KB금융 본문체 Light" panose="020B0303000000000000" pitchFamily="50" charset="-127"/>
              <a:ea typeface="KB금융 본문체 Light" panose="020B0303000000000000" pitchFamily="50" charset="-127"/>
              <a:cs typeface="ヒラギノ角ゴ ProN W3"/>
            </a:endParaRPr>
          </a:p>
        </p:txBody>
      </p:sp>
      <p:graphicFrame>
        <p:nvGraphicFramePr>
          <p:cNvPr id="102" name="표 101"/>
          <p:cNvGraphicFramePr>
            <a:graphicFrameLocks noGrp="1"/>
          </p:cNvGraphicFramePr>
          <p:nvPr>
            <p:extLst/>
          </p:nvPr>
        </p:nvGraphicFramePr>
        <p:xfrm>
          <a:off x="1064568" y="1628801"/>
          <a:ext cx="8208912" cy="4396105"/>
        </p:xfrm>
        <a:graphic>
          <a:graphicData uri="http://schemas.openxmlformats.org/drawingml/2006/table">
            <a:tbl>
              <a:tblPr firstRow="1" bandRow="1">
                <a:tableStyleId>{93296810-A885-4BE3-A3E7-6D5BEEA58F35}</a:tableStyleId>
              </a:tblPr>
              <a:tblGrid>
                <a:gridCol w="1656184">
                  <a:extLst>
                    <a:ext uri="{9D8B030D-6E8A-4147-A177-3AD203B41FA5}">
                      <a16:colId xmlns:a16="http://schemas.microsoft.com/office/drawing/2014/main" val="20000"/>
                    </a:ext>
                  </a:extLst>
                </a:gridCol>
                <a:gridCol w="6552728">
                  <a:extLst>
                    <a:ext uri="{9D8B030D-6E8A-4147-A177-3AD203B41FA5}">
                      <a16:colId xmlns:a16="http://schemas.microsoft.com/office/drawing/2014/main" val="20001"/>
                    </a:ext>
                  </a:extLst>
                </a:gridCol>
              </a:tblGrid>
              <a:tr h="223440">
                <a:tc>
                  <a:txBody>
                    <a:bodyPr/>
                    <a:lstStyle/>
                    <a:p>
                      <a:pPr algn="ctr" fontAlgn="ctr"/>
                      <a:r>
                        <a:rPr lang="ko-KR" altLang="en-US" sz="1200" b="1" i="0" u="none" strike="noStrike" smtClean="0">
                          <a:solidFill>
                            <a:schemeClr val="tx1"/>
                          </a:solidFill>
                          <a:latin typeface="+mn-ea"/>
                          <a:ea typeface="+mn-ea"/>
                        </a:rPr>
                        <a:t>구분</a:t>
                      </a:r>
                      <a:endParaRPr lang="en-US" sz="1200" b="1" i="0" u="none" strike="noStrike" dirty="0">
                        <a:solidFill>
                          <a:schemeClr val="tx1"/>
                        </a:solidFill>
                        <a:latin typeface="+mn-ea"/>
                        <a:ea typeface="+mn-ea"/>
                      </a:endParaRPr>
                    </a:p>
                  </a:txBody>
                  <a:tcPr marL="784" marR="784" marT="784" marB="0"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r>
                        <a:rPr lang="ko-KR" altLang="en-US" sz="1200" b="1" i="0" u="none" strike="noStrike" kern="1200" dirty="0" smtClean="0">
                          <a:solidFill>
                            <a:schemeClr val="tx1"/>
                          </a:solidFill>
                          <a:latin typeface="+mn-ea"/>
                          <a:ea typeface="+mn-ea"/>
                          <a:cs typeface="+mn-cs"/>
                        </a:rPr>
                        <a:t>암호화 대상</a:t>
                      </a:r>
                      <a:endParaRPr lang="ko-KR" altLang="en-US" sz="1200" b="1" i="0" u="none" strike="noStrike" kern="1200" dirty="0">
                        <a:solidFill>
                          <a:schemeClr val="tx1"/>
                        </a:solidFill>
                        <a:latin typeface="+mn-ea"/>
                        <a:ea typeface="+mn-ea"/>
                        <a:cs typeface="+mn-cs"/>
                      </a:endParaRPr>
                    </a:p>
                  </a:txBody>
                  <a:tcPr marL="784" marR="784" marT="784" marB="0" anchor="ctr">
                    <a:lnL w="6350" cap="flat" cmpd="sng" algn="ctr">
                      <a:solidFill>
                        <a:schemeClr val="bg1">
                          <a:lumMod val="50000"/>
                        </a:schemeClr>
                      </a:solidFill>
                      <a:prstDash val="solid"/>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000"/>
                  </a:ext>
                </a:extLst>
              </a:tr>
              <a:tr h="941776">
                <a:tc>
                  <a:txBody>
                    <a:bodyPr/>
                    <a:lstStyle/>
                    <a:p>
                      <a:pPr marL="228600" indent="-228600" algn="ctr">
                        <a:buNone/>
                      </a:pPr>
                      <a:r>
                        <a:rPr lang="ko-KR" altLang="en-US" sz="1200" smtClean="0">
                          <a:latin typeface="+mn-ea"/>
                          <a:ea typeface="+mn-ea"/>
                        </a:rPr>
                        <a:t>신청자</a:t>
                      </a:r>
                      <a:endParaRPr lang="en-US" altLang="ko-KR" sz="1200" smtClean="0">
                        <a:latin typeface="+mn-ea"/>
                        <a:ea typeface="+mn-ea"/>
                      </a:endParaRPr>
                    </a:p>
                    <a:p>
                      <a:pPr marL="228600" indent="-228600" algn="ctr">
                        <a:buNone/>
                      </a:pPr>
                      <a:r>
                        <a:rPr lang="ko-KR" altLang="en-US" sz="1200" smtClean="0">
                          <a:latin typeface="+mn-ea"/>
                          <a:ea typeface="+mn-ea"/>
                        </a:rPr>
                        <a:t>사전작업</a:t>
                      </a:r>
                      <a:endParaRPr lang="ko-KR" altLang="en-US" sz="1200" dirty="0">
                        <a:latin typeface="+mn-ea"/>
                        <a:ea typeface="+mn-ea"/>
                      </a:endParaRPr>
                    </a:p>
                  </a:txBody>
                  <a:tcPr marL="38080" marR="38080" marT="38094" marB="38094"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latinLnBrk="1">
                        <a:buFont typeface="Wingdings" panose="05000000000000000000" pitchFamily="2" charset="2"/>
                        <a:buChar char="§"/>
                      </a:pPr>
                      <a:r>
                        <a:rPr lang="ko-KR" altLang="en-US" sz="1200" b="0" smtClean="0">
                          <a:solidFill>
                            <a:schemeClr val="tx1"/>
                          </a:solidFill>
                          <a:latin typeface="+mn-ea"/>
                          <a:ea typeface="+mn-ea"/>
                        </a:rPr>
                        <a:t>암호화 적용대상 업무서버 내에 </a:t>
                      </a:r>
                      <a:r>
                        <a:rPr lang="en-US" altLang="ko-KR" sz="1200" b="0" smtClean="0">
                          <a:solidFill>
                            <a:schemeClr val="tx1"/>
                          </a:solidFill>
                          <a:latin typeface="+mn-ea"/>
                          <a:ea typeface="+mn-ea"/>
                        </a:rPr>
                        <a:t>“/fsscp/pav” </a:t>
                      </a:r>
                      <a:r>
                        <a:rPr lang="ko-KR" altLang="en-US" sz="1200" b="0" smtClean="0">
                          <a:solidFill>
                            <a:schemeClr val="tx1"/>
                          </a:solidFill>
                          <a:latin typeface="+mn-ea"/>
                          <a:ea typeface="+mn-ea"/>
                        </a:rPr>
                        <a:t>라는</a:t>
                      </a:r>
                      <a:r>
                        <a:rPr lang="en-US" altLang="ko-KR" sz="1200" b="0" smtClean="0">
                          <a:solidFill>
                            <a:schemeClr val="tx1"/>
                          </a:solidFill>
                          <a:latin typeface="+mn-ea"/>
                          <a:ea typeface="+mn-ea"/>
                        </a:rPr>
                        <a:t> </a:t>
                      </a:r>
                      <a:r>
                        <a:rPr lang="ko-KR" altLang="en-US" sz="1200" b="0" smtClean="0">
                          <a:solidFill>
                            <a:schemeClr val="tx1"/>
                          </a:solidFill>
                          <a:latin typeface="+mn-ea"/>
                          <a:ea typeface="+mn-ea"/>
                        </a:rPr>
                        <a:t>파일 시스템 구성 필요</a:t>
                      </a:r>
                      <a:r>
                        <a:rPr lang="en-US" altLang="ko-KR" sz="1200" b="0" smtClean="0">
                          <a:solidFill>
                            <a:schemeClr val="tx1"/>
                          </a:solidFill>
                          <a:latin typeface="+mn-ea"/>
                          <a:ea typeface="+mn-ea"/>
                        </a:rPr>
                        <a:t>(</a:t>
                      </a:r>
                      <a:r>
                        <a:rPr lang="ko-KR" altLang="en-US" sz="1200" b="0" smtClean="0">
                          <a:solidFill>
                            <a:schemeClr val="tx1"/>
                          </a:solidFill>
                          <a:latin typeface="+mn-ea"/>
                          <a:ea typeface="+mn-ea"/>
                        </a:rPr>
                        <a:t>용량 </a:t>
                      </a:r>
                      <a:r>
                        <a:rPr lang="en-US" altLang="ko-KR" sz="1200" b="0" smtClean="0">
                          <a:solidFill>
                            <a:schemeClr val="tx1"/>
                          </a:solidFill>
                          <a:latin typeface="+mn-ea"/>
                          <a:ea typeface="+mn-ea"/>
                        </a:rPr>
                        <a:t>2BG</a:t>
                      </a:r>
                      <a:r>
                        <a:rPr lang="ko-KR" altLang="en-US" sz="1200" b="0" smtClean="0">
                          <a:solidFill>
                            <a:schemeClr val="tx1"/>
                          </a:solidFill>
                          <a:latin typeface="+mn-ea"/>
                          <a:ea typeface="+mn-ea"/>
                        </a:rPr>
                        <a:t>필요</a:t>
                      </a:r>
                      <a:r>
                        <a:rPr lang="en-US" altLang="ko-KR" sz="1200" b="0" smtClean="0">
                          <a:solidFill>
                            <a:schemeClr val="tx1"/>
                          </a:solidFill>
                          <a:latin typeface="+mn-ea"/>
                          <a:ea typeface="+mn-ea"/>
                        </a:rPr>
                        <a:t>)</a:t>
                      </a:r>
                      <a:endParaRPr lang="en-US" altLang="ko-KR" sz="1200" b="0" dirty="0" smtClean="0">
                        <a:solidFill>
                          <a:schemeClr val="tx1"/>
                        </a:solidFill>
                        <a:latin typeface="+mn-ea"/>
                        <a:ea typeface="+mn-ea"/>
                      </a:endParaRPr>
                    </a:p>
                    <a:p>
                      <a:pPr marL="171450" indent="-171450" algn="l" latinLnBrk="1">
                        <a:buFont typeface="Wingdings" panose="05000000000000000000" pitchFamily="2" charset="2"/>
                        <a:buChar char="§"/>
                      </a:pPr>
                      <a:r>
                        <a:rPr lang="ko-KR" altLang="en-US" sz="1200" b="0" smtClean="0">
                          <a:solidFill>
                            <a:schemeClr val="tx1"/>
                          </a:solidFill>
                          <a:latin typeface="+mn-ea"/>
                          <a:ea typeface="+mn-ea"/>
                        </a:rPr>
                        <a:t>소유자 </a:t>
                      </a:r>
                      <a:r>
                        <a:rPr lang="en-US" altLang="ko-KR" sz="1200" b="0" smtClean="0">
                          <a:solidFill>
                            <a:schemeClr val="tx1"/>
                          </a:solidFill>
                          <a:latin typeface="+mn-ea"/>
                          <a:ea typeface="+mn-ea"/>
                        </a:rPr>
                        <a:t>pav000-</a:t>
                      </a:r>
                      <a:r>
                        <a:rPr lang="ko-KR" altLang="en-US" sz="1200" b="0" smtClean="0">
                          <a:solidFill>
                            <a:schemeClr val="tx1"/>
                          </a:solidFill>
                          <a:latin typeface="+mn-ea"/>
                          <a:ea typeface="+mn-ea"/>
                        </a:rPr>
                        <a:t>그룹 </a:t>
                      </a:r>
                      <a:r>
                        <a:rPr lang="en-US" altLang="ko-KR" sz="1200" b="0" smtClean="0">
                          <a:solidFill>
                            <a:schemeClr val="tx1"/>
                          </a:solidFill>
                          <a:latin typeface="+mn-ea"/>
                          <a:ea typeface="+mn-ea"/>
                        </a:rPr>
                        <a:t>grpav-</a:t>
                      </a:r>
                      <a:r>
                        <a:rPr lang="ko-KR" altLang="en-US" sz="1200" b="0" smtClean="0">
                          <a:solidFill>
                            <a:schemeClr val="tx1"/>
                          </a:solidFill>
                          <a:latin typeface="+mn-ea"/>
                          <a:ea typeface="+mn-ea"/>
                        </a:rPr>
                        <a:t>권한 </a:t>
                      </a:r>
                      <a:r>
                        <a:rPr lang="en-US" altLang="ko-KR" sz="1200" b="0" smtClean="0">
                          <a:solidFill>
                            <a:schemeClr val="tx1"/>
                          </a:solidFill>
                          <a:latin typeface="+mn-ea"/>
                          <a:ea typeface="+mn-ea"/>
                        </a:rPr>
                        <a:t>755</a:t>
                      </a:r>
                      <a:endParaRPr lang="en-US" altLang="ko-KR" sz="1200" b="0" dirty="0" smtClean="0">
                        <a:solidFill>
                          <a:schemeClr val="tx1"/>
                        </a:solidFill>
                        <a:latin typeface="+mn-ea"/>
                        <a:ea typeface="+mn-ea"/>
                      </a:endParaRPr>
                    </a:p>
                    <a:p>
                      <a:pPr marL="171450" indent="-171450" algn="l" latinLnBrk="1">
                        <a:buFont typeface="Wingdings" panose="05000000000000000000" pitchFamily="2" charset="2"/>
                        <a:buChar char="§"/>
                      </a:pPr>
                      <a:r>
                        <a:rPr lang="ko-KR" altLang="en-US" sz="1200" b="0" smtClean="0">
                          <a:solidFill>
                            <a:schemeClr val="tx1"/>
                          </a:solidFill>
                          <a:latin typeface="+mn-ea"/>
                          <a:ea typeface="+mn-ea"/>
                        </a:rPr>
                        <a:t>신청은 신청자가 직접 시스템운영부에 요청</a:t>
                      </a:r>
                      <a:endParaRPr lang="en-US" altLang="ko-KR" sz="1200" b="0" smtClean="0">
                        <a:solidFill>
                          <a:schemeClr val="tx1"/>
                        </a:solidFill>
                        <a:latin typeface="+mn-ea"/>
                        <a:ea typeface="+mn-ea"/>
                      </a:endParaRPr>
                    </a:p>
                  </a:txBody>
                  <a:tcPr marL="38080" marR="38080" marT="38094" marB="38094" anchor="ctr">
                    <a:lnL w="6350" cap="flat" cmpd="sng" algn="ctr">
                      <a:solidFill>
                        <a:schemeClr val="bg1">
                          <a:lumMod val="50000"/>
                        </a:schemeClr>
                      </a:solid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941776">
                <a:tc>
                  <a:txBody>
                    <a:bodyPr/>
                    <a:lstStyle/>
                    <a:p>
                      <a:pPr marL="228600" indent="-228600" algn="ctr">
                        <a:buNone/>
                      </a:pPr>
                      <a:r>
                        <a:rPr lang="ko-KR" altLang="en-US" sz="1200" smtClean="0">
                          <a:latin typeface="+mn-ea"/>
                          <a:ea typeface="+mn-ea"/>
                        </a:rPr>
                        <a:t>신청자정보</a:t>
                      </a:r>
                      <a:endParaRPr lang="ko-KR" altLang="en-US" sz="1200" dirty="0">
                        <a:latin typeface="+mn-ea"/>
                        <a:ea typeface="+mn-ea"/>
                      </a:endParaRPr>
                    </a:p>
                  </a:txBody>
                  <a:tcPr marL="38080" marR="38080" marT="38094" marB="38094"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latinLnBrk="1">
                        <a:buFont typeface="Wingdings" panose="05000000000000000000" pitchFamily="2" charset="2"/>
                        <a:buChar char="§"/>
                      </a:pPr>
                      <a:r>
                        <a:rPr lang="ko-KR" altLang="en-US" sz="1200" b="0" smtClean="0">
                          <a:solidFill>
                            <a:schemeClr val="tx1"/>
                          </a:solidFill>
                          <a:latin typeface="+mn-ea"/>
                          <a:ea typeface="+mn-ea"/>
                        </a:rPr>
                        <a:t>성명</a:t>
                      </a:r>
                      <a:endParaRPr lang="en-US" altLang="ko-KR" sz="1200" b="0" smtClean="0">
                        <a:solidFill>
                          <a:schemeClr val="tx1"/>
                        </a:solidFill>
                        <a:latin typeface="+mn-ea"/>
                        <a:ea typeface="+mn-ea"/>
                      </a:endParaRPr>
                    </a:p>
                    <a:p>
                      <a:pPr marL="171450" indent="-171450" algn="l" latinLnBrk="1">
                        <a:buFont typeface="Wingdings" panose="05000000000000000000" pitchFamily="2" charset="2"/>
                        <a:buChar char="§"/>
                      </a:pPr>
                      <a:r>
                        <a:rPr lang="ko-KR" altLang="en-US" sz="1200" b="0" smtClean="0">
                          <a:solidFill>
                            <a:schemeClr val="tx1"/>
                          </a:solidFill>
                          <a:latin typeface="+mn-ea"/>
                          <a:ea typeface="+mn-ea"/>
                        </a:rPr>
                        <a:t>부서명</a:t>
                      </a:r>
                      <a:endParaRPr lang="en-US" altLang="ko-KR" sz="1200" b="0" smtClean="0">
                        <a:solidFill>
                          <a:schemeClr val="tx1"/>
                        </a:solidFill>
                        <a:latin typeface="+mn-ea"/>
                        <a:ea typeface="+mn-ea"/>
                      </a:endParaRPr>
                    </a:p>
                    <a:p>
                      <a:pPr marL="171450" indent="-171450" algn="l" latinLnBrk="1">
                        <a:buFont typeface="Wingdings" panose="05000000000000000000" pitchFamily="2" charset="2"/>
                        <a:buChar char="§"/>
                      </a:pPr>
                      <a:r>
                        <a:rPr lang="ko-KR" altLang="en-US" sz="1200" b="0" smtClean="0">
                          <a:solidFill>
                            <a:schemeClr val="tx1"/>
                          </a:solidFill>
                          <a:latin typeface="+mn-ea"/>
                          <a:ea typeface="+mn-ea"/>
                        </a:rPr>
                        <a:t>내선번호</a:t>
                      </a:r>
                      <a:endParaRPr lang="en-US" altLang="ko-KR" sz="1200" b="0" smtClean="0">
                        <a:solidFill>
                          <a:schemeClr val="tx1"/>
                        </a:solidFill>
                        <a:latin typeface="+mn-ea"/>
                        <a:ea typeface="+mn-ea"/>
                      </a:endParaRPr>
                    </a:p>
                    <a:p>
                      <a:pPr marL="171450" indent="-171450" algn="l" latinLnBrk="1">
                        <a:buFont typeface="Wingdings" panose="05000000000000000000" pitchFamily="2" charset="2"/>
                        <a:buChar char="§"/>
                      </a:pPr>
                      <a:r>
                        <a:rPr lang="ko-KR" altLang="en-US" sz="1200" b="0" smtClean="0">
                          <a:solidFill>
                            <a:schemeClr val="tx1"/>
                          </a:solidFill>
                          <a:latin typeface="+mn-ea"/>
                          <a:ea typeface="+mn-ea"/>
                        </a:rPr>
                        <a:t>작업희망일</a:t>
                      </a:r>
                      <a:r>
                        <a:rPr lang="en-US" altLang="ko-KR" sz="1200" b="0" smtClean="0">
                          <a:solidFill>
                            <a:schemeClr val="tx1"/>
                          </a:solidFill>
                          <a:latin typeface="+mn-ea"/>
                          <a:ea typeface="+mn-ea"/>
                        </a:rPr>
                        <a:t>(</a:t>
                      </a:r>
                      <a:r>
                        <a:rPr lang="ko-KR" altLang="en-US" sz="1200" b="0" smtClean="0">
                          <a:solidFill>
                            <a:schemeClr val="tx1"/>
                          </a:solidFill>
                          <a:latin typeface="+mn-ea"/>
                          <a:ea typeface="+mn-ea"/>
                        </a:rPr>
                        <a:t>적용예정일</a:t>
                      </a:r>
                      <a:r>
                        <a:rPr lang="en-US" altLang="ko-KR" sz="1200" b="0" smtClean="0">
                          <a:solidFill>
                            <a:schemeClr val="tx1"/>
                          </a:solidFill>
                          <a:latin typeface="+mn-ea"/>
                          <a:ea typeface="+mn-ea"/>
                        </a:rPr>
                        <a:t>)</a:t>
                      </a:r>
                    </a:p>
                  </a:txBody>
                  <a:tcPr marL="38080" marR="38080" marT="38094" marB="38094" anchor="ctr">
                    <a:lnL w="6350" cap="flat" cmpd="sng" algn="ctr">
                      <a:solidFill>
                        <a:schemeClr val="bg1">
                          <a:lumMod val="50000"/>
                        </a:schemeClr>
                      </a:solid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1919733"/>
                  </a:ext>
                </a:extLst>
              </a:tr>
              <a:tr h="707470">
                <a:tc>
                  <a:txBody>
                    <a:bodyPr/>
                    <a:lstStyle/>
                    <a:p>
                      <a:pPr marL="228600" indent="-228600" algn="ctr">
                        <a:buNone/>
                      </a:pPr>
                      <a:r>
                        <a:rPr lang="ko-KR" altLang="en-US" sz="1200" smtClean="0">
                          <a:latin typeface="+mn-ea"/>
                          <a:ea typeface="+mn-ea"/>
                        </a:rPr>
                        <a:t>시스템정보</a:t>
                      </a:r>
                      <a:endParaRPr lang="en-US" altLang="ko-KR" sz="1200" smtClean="0">
                        <a:latin typeface="+mn-ea"/>
                        <a:ea typeface="+mn-ea"/>
                      </a:endParaRPr>
                    </a:p>
                  </a:txBody>
                  <a:tcPr marL="38080" marR="38080" marT="38094" marB="38094"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latinLnBrk="1">
                        <a:buFont typeface="Wingdings" panose="05000000000000000000" pitchFamily="2" charset="2"/>
                        <a:buChar char="§"/>
                      </a:pPr>
                      <a:r>
                        <a:rPr lang="ko-KR" altLang="en-US" sz="1200" b="0" smtClean="0">
                          <a:solidFill>
                            <a:schemeClr val="tx1"/>
                          </a:solidFill>
                          <a:latin typeface="+mn-ea"/>
                          <a:ea typeface="+mn-ea"/>
                        </a:rPr>
                        <a:t>적용대상 서버의 운영</a:t>
                      </a:r>
                      <a:r>
                        <a:rPr lang="en-US" altLang="ko-KR" sz="1200" b="0" smtClean="0">
                          <a:solidFill>
                            <a:schemeClr val="tx1"/>
                          </a:solidFill>
                          <a:latin typeface="+mn-ea"/>
                          <a:ea typeface="+mn-ea"/>
                        </a:rPr>
                        <a:t>/</a:t>
                      </a:r>
                      <a:r>
                        <a:rPr lang="ko-KR" altLang="en-US" sz="1200" b="0" smtClean="0">
                          <a:solidFill>
                            <a:schemeClr val="tx1"/>
                          </a:solidFill>
                          <a:latin typeface="+mn-ea"/>
                          <a:ea typeface="+mn-ea"/>
                        </a:rPr>
                        <a:t>개발 구분</a:t>
                      </a:r>
                      <a:endParaRPr lang="en-US" altLang="ko-KR" sz="1200" b="0" smtClean="0">
                        <a:solidFill>
                          <a:schemeClr val="tx1"/>
                        </a:solidFill>
                        <a:latin typeface="+mn-ea"/>
                        <a:ea typeface="+mn-ea"/>
                      </a:endParaRPr>
                    </a:p>
                    <a:p>
                      <a:pPr marL="171450" indent="-171450" algn="l" latinLnBrk="1">
                        <a:buFont typeface="Wingdings" panose="05000000000000000000" pitchFamily="2" charset="2"/>
                        <a:buChar char="§"/>
                      </a:pPr>
                      <a:r>
                        <a:rPr lang="en-US" altLang="ko-KR" sz="1200" b="0" smtClean="0">
                          <a:solidFill>
                            <a:schemeClr val="tx1"/>
                          </a:solidFill>
                          <a:latin typeface="+mn-ea"/>
                          <a:ea typeface="+mn-ea"/>
                        </a:rPr>
                        <a:t>Host</a:t>
                      </a:r>
                      <a:r>
                        <a:rPr lang="ko-KR" altLang="en-US" sz="1200" b="0" smtClean="0">
                          <a:solidFill>
                            <a:schemeClr val="tx1"/>
                          </a:solidFill>
                          <a:latin typeface="+mn-ea"/>
                          <a:ea typeface="+mn-ea"/>
                        </a:rPr>
                        <a:t>명</a:t>
                      </a:r>
                      <a:endParaRPr lang="en-US" altLang="ko-KR" sz="1200" b="0" smtClean="0">
                        <a:solidFill>
                          <a:schemeClr val="tx1"/>
                        </a:solidFill>
                        <a:latin typeface="+mn-ea"/>
                        <a:ea typeface="+mn-ea"/>
                      </a:endParaRPr>
                    </a:p>
                    <a:p>
                      <a:pPr marL="171450" indent="-171450" algn="l" latinLnBrk="1">
                        <a:buFont typeface="Wingdings" panose="05000000000000000000" pitchFamily="2" charset="2"/>
                        <a:buChar char="§"/>
                      </a:pPr>
                      <a:r>
                        <a:rPr lang="ko-KR" altLang="en-US" sz="1200" b="0" smtClean="0">
                          <a:solidFill>
                            <a:schemeClr val="tx1"/>
                          </a:solidFill>
                          <a:latin typeface="+mn-ea"/>
                          <a:ea typeface="+mn-ea"/>
                        </a:rPr>
                        <a:t>적용대상 서버의 </a:t>
                      </a:r>
                      <a:r>
                        <a:rPr lang="en-US" altLang="ko-KR" sz="1200" b="0" smtClean="0">
                          <a:solidFill>
                            <a:schemeClr val="tx1"/>
                          </a:solidFill>
                          <a:latin typeface="+mn-ea"/>
                          <a:ea typeface="+mn-ea"/>
                        </a:rPr>
                        <a:t>IP</a:t>
                      </a:r>
                    </a:p>
                    <a:p>
                      <a:pPr marL="171450" indent="-171450" algn="l" latinLnBrk="1">
                        <a:buFont typeface="Wingdings" panose="05000000000000000000" pitchFamily="2" charset="2"/>
                        <a:buChar char="§"/>
                      </a:pPr>
                      <a:r>
                        <a:rPr lang="ko-KR" altLang="en-US" sz="1200" b="0" smtClean="0">
                          <a:solidFill>
                            <a:schemeClr val="tx1"/>
                          </a:solidFill>
                          <a:latin typeface="+mn-ea"/>
                          <a:ea typeface="+mn-ea"/>
                        </a:rPr>
                        <a:t>적용대상 서버의 </a:t>
                      </a:r>
                      <a:r>
                        <a:rPr lang="en-US" altLang="ko-KR" sz="1200" b="0" smtClean="0">
                          <a:solidFill>
                            <a:schemeClr val="tx1"/>
                          </a:solidFill>
                          <a:latin typeface="+mn-ea"/>
                          <a:ea typeface="+mn-ea"/>
                        </a:rPr>
                        <a:t>OS</a:t>
                      </a:r>
                      <a:r>
                        <a:rPr lang="en-US" altLang="ko-KR" sz="1200" b="0" baseline="0" smtClean="0">
                          <a:solidFill>
                            <a:schemeClr val="tx1"/>
                          </a:solidFill>
                          <a:latin typeface="+mn-ea"/>
                          <a:ea typeface="+mn-ea"/>
                        </a:rPr>
                        <a:t>( </a:t>
                      </a:r>
                      <a:r>
                        <a:rPr lang="ko-KR" altLang="en-US" sz="1200" b="0" baseline="0" smtClean="0">
                          <a:solidFill>
                            <a:schemeClr val="tx1"/>
                          </a:solidFill>
                          <a:latin typeface="+mn-ea"/>
                          <a:ea typeface="+mn-ea"/>
                        </a:rPr>
                        <a:t>서버에 접속하여 </a:t>
                      </a:r>
                      <a:r>
                        <a:rPr lang="en-US" altLang="ko-KR" sz="1200" b="0" baseline="0" smtClean="0">
                          <a:solidFill>
                            <a:schemeClr val="tx1"/>
                          </a:solidFill>
                          <a:latin typeface="+mn-ea"/>
                          <a:ea typeface="+mn-ea"/>
                        </a:rPr>
                        <a:t>uname –a </a:t>
                      </a:r>
                      <a:r>
                        <a:rPr lang="ko-KR" altLang="en-US" sz="1200" b="0" baseline="0" smtClean="0">
                          <a:solidFill>
                            <a:schemeClr val="tx1"/>
                          </a:solidFill>
                          <a:latin typeface="+mn-ea"/>
                          <a:ea typeface="+mn-ea"/>
                        </a:rPr>
                        <a:t>를 실행한 후 화면에 표시되는 정보</a:t>
                      </a:r>
                      <a:r>
                        <a:rPr lang="en-US" altLang="ko-KR" sz="1200" b="0" baseline="0" smtClean="0">
                          <a:solidFill>
                            <a:schemeClr val="tx1"/>
                          </a:solidFill>
                          <a:latin typeface="+mn-ea"/>
                          <a:ea typeface="+mn-ea"/>
                        </a:rPr>
                        <a:t>)</a:t>
                      </a:r>
                      <a:endParaRPr lang="en-US" altLang="ko-KR" sz="1200" b="0" smtClean="0">
                        <a:solidFill>
                          <a:schemeClr val="tx1"/>
                        </a:solidFill>
                        <a:latin typeface="+mn-ea"/>
                        <a:ea typeface="+mn-ea"/>
                      </a:endParaRPr>
                    </a:p>
                    <a:p>
                      <a:pPr marL="171450" indent="-171450" algn="l" latinLnBrk="1">
                        <a:buFont typeface="Wingdings" panose="05000000000000000000" pitchFamily="2" charset="2"/>
                        <a:buChar char="§"/>
                      </a:pPr>
                      <a:r>
                        <a:rPr lang="ko-KR" altLang="en-US" sz="1200" b="0" smtClean="0">
                          <a:solidFill>
                            <a:schemeClr val="tx1"/>
                          </a:solidFill>
                          <a:latin typeface="+mn-ea"/>
                          <a:ea typeface="+mn-ea"/>
                        </a:rPr>
                        <a:t>개발언어</a:t>
                      </a:r>
                      <a:r>
                        <a:rPr lang="en-US" altLang="ko-KR" sz="1200" b="0" smtClean="0">
                          <a:solidFill>
                            <a:schemeClr val="tx1"/>
                          </a:solidFill>
                          <a:latin typeface="+mn-ea"/>
                          <a:ea typeface="+mn-ea"/>
                        </a:rPr>
                        <a:t>(JAVA/C</a:t>
                      </a:r>
                      <a:r>
                        <a:rPr lang="en-US" altLang="ko-KR" sz="1200" b="0" baseline="0" smtClean="0">
                          <a:solidFill>
                            <a:schemeClr val="tx1"/>
                          </a:solidFill>
                          <a:latin typeface="+mn-ea"/>
                          <a:ea typeface="+mn-ea"/>
                        </a:rPr>
                        <a:t> </a:t>
                      </a:r>
                      <a:r>
                        <a:rPr lang="ko-KR" altLang="en-US" sz="1200" b="0" baseline="0" smtClean="0">
                          <a:solidFill>
                            <a:schemeClr val="tx1"/>
                          </a:solidFill>
                          <a:latin typeface="+mn-ea"/>
                          <a:ea typeface="+mn-ea"/>
                        </a:rPr>
                        <a:t>등</a:t>
                      </a:r>
                      <a:r>
                        <a:rPr lang="en-US" altLang="ko-KR" sz="1200" b="0" baseline="0" smtClean="0">
                          <a:solidFill>
                            <a:schemeClr val="tx1"/>
                          </a:solidFill>
                          <a:latin typeface="+mn-ea"/>
                          <a:ea typeface="+mn-ea"/>
                        </a:rPr>
                        <a:t>)</a:t>
                      </a:r>
                    </a:p>
                    <a:p>
                      <a:pPr marL="171450" indent="-171450" algn="l" latinLnBrk="1">
                        <a:buFont typeface="Wingdings" panose="05000000000000000000" pitchFamily="2" charset="2"/>
                        <a:buChar char="§"/>
                      </a:pPr>
                      <a:r>
                        <a:rPr lang="en-US" altLang="ko-KR" sz="1200" b="0" baseline="0" smtClean="0">
                          <a:solidFill>
                            <a:schemeClr val="tx1"/>
                          </a:solidFill>
                          <a:latin typeface="+mn-ea"/>
                          <a:ea typeface="+mn-ea"/>
                        </a:rPr>
                        <a:t>HP </a:t>
                      </a:r>
                      <a:r>
                        <a:rPr lang="ko-KR" altLang="en-US" sz="1200" b="0" baseline="0" smtClean="0">
                          <a:solidFill>
                            <a:schemeClr val="tx1"/>
                          </a:solidFill>
                          <a:latin typeface="+mn-ea"/>
                          <a:ea typeface="+mn-ea"/>
                        </a:rPr>
                        <a:t>서버인 경우 </a:t>
                      </a:r>
                      <a:r>
                        <a:rPr lang="en-US" altLang="ko-KR" sz="1200" b="0" baseline="0" smtClean="0">
                          <a:solidFill>
                            <a:schemeClr val="tx1"/>
                          </a:solidFill>
                          <a:latin typeface="+mn-ea"/>
                          <a:ea typeface="+mn-ea"/>
                        </a:rPr>
                        <a:t>CPU </a:t>
                      </a:r>
                      <a:r>
                        <a:rPr lang="ko-KR" altLang="en-US" sz="1200" b="0" baseline="0" smtClean="0">
                          <a:solidFill>
                            <a:schemeClr val="tx1"/>
                          </a:solidFill>
                          <a:latin typeface="+mn-ea"/>
                          <a:ea typeface="+mn-ea"/>
                        </a:rPr>
                        <a:t>칩셋</a:t>
                      </a:r>
                      <a:endParaRPr lang="ko-KR" altLang="en-US" sz="1200" dirty="0">
                        <a:latin typeface="+mn-ea"/>
                        <a:ea typeface="+mn-ea"/>
                      </a:endParaRPr>
                    </a:p>
                  </a:txBody>
                  <a:tcPr marL="38080" marR="38080" marT="38094" marB="38094" anchor="ctr">
                    <a:lnL w="6350" cap="flat" cmpd="sng" algn="ctr">
                      <a:solidFill>
                        <a:schemeClr val="bg1">
                          <a:lumMod val="50000"/>
                        </a:schemeClr>
                      </a:solid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115645">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1200" smtClean="0">
                          <a:latin typeface="+mn-ea"/>
                          <a:ea typeface="+mn-ea"/>
                        </a:rPr>
                        <a:t>암호화 대상 정보</a:t>
                      </a:r>
                      <a:endParaRPr lang="en-US" altLang="ko-KR" sz="1200" dirty="0" smtClean="0">
                        <a:latin typeface="+mn-ea"/>
                        <a:ea typeface="+mn-ea"/>
                      </a:endParaRPr>
                    </a:p>
                  </a:txBody>
                  <a:tcPr marL="38080" marR="38080" marT="38094" marB="38094" anchor="ctr">
                    <a:lnL w="12700" cap="flat" cmpd="sng" algn="ctr">
                      <a:noFill/>
                      <a:prstDash val="sysDot"/>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ko-KR" altLang="en-US" sz="1200" b="0" smtClean="0">
                          <a:solidFill>
                            <a:schemeClr val="tx1"/>
                          </a:solidFill>
                          <a:latin typeface="+mn-ea"/>
                          <a:ea typeface="+mn-ea"/>
                        </a:rPr>
                        <a:t>암호화 대상</a:t>
                      </a:r>
                      <a:r>
                        <a:rPr lang="en-US" altLang="ko-KR" sz="1200" b="0" smtClean="0">
                          <a:solidFill>
                            <a:schemeClr val="tx1"/>
                          </a:solidFill>
                          <a:latin typeface="+mn-ea"/>
                          <a:ea typeface="+mn-ea"/>
                        </a:rPr>
                        <a:t>(</a:t>
                      </a:r>
                      <a:r>
                        <a:rPr lang="ko-KR" altLang="en-US" sz="1200" b="0" smtClean="0">
                          <a:solidFill>
                            <a:schemeClr val="tx1"/>
                          </a:solidFill>
                          <a:latin typeface="+mn-ea"/>
                          <a:ea typeface="+mn-ea"/>
                        </a:rPr>
                        <a:t>어떤 데이터를 암호화할 것인지 기재</a:t>
                      </a:r>
                      <a:r>
                        <a:rPr lang="en-US" altLang="ko-KR" sz="1200" b="0" smtClean="0">
                          <a:solidFill>
                            <a:schemeClr val="tx1"/>
                          </a:solidFill>
                          <a:latin typeface="+mn-ea"/>
                          <a:ea typeface="+mn-ea"/>
                        </a:rPr>
                        <a:t>)</a:t>
                      </a:r>
                    </a:p>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ko-KR" altLang="en-US" sz="1200" b="0" smtClean="0">
                          <a:solidFill>
                            <a:schemeClr val="tx1"/>
                          </a:solidFill>
                          <a:latin typeface="+mn-ea"/>
                          <a:ea typeface="+mn-ea"/>
                        </a:rPr>
                        <a:t>사용권한</a:t>
                      </a:r>
                      <a:r>
                        <a:rPr lang="en-US" altLang="ko-KR" sz="1200" b="0" smtClean="0">
                          <a:solidFill>
                            <a:schemeClr val="tx1"/>
                          </a:solidFill>
                          <a:latin typeface="+mn-ea"/>
                          <a:ea typeface="+mn-ea"/>
                        </a:rPr>
                        <a:t>(</a:t>
                      </a:r>
                      <a:r>
                        <a:rPr lang="ko-KR" altLang="en-US" sz="1200" b="0" smtClean="0">
                          <a:solidFill>
                            <a:schemeClr val="tx1"/>
                          </a:solidFill>
                          <a:latin typeface="+mn-ea"/>
                          <a:ea typeface="+mn-ea"/>
                        </a:rPr>
                        <a:t>암호화만 할 것인지 복호화도 할 것인지 기재</a:t>
                      </a:r>
                      <a:r>
                        <a:rPr lang="en-US" altLang="ko-KR" sz="1200" b="0" smtClean="0">
                          <a:solidFill>
                            <a:schemeClr val="tx1"/>
                          </a:solidFill>
                          <a:latin typeface="+mn-ea"/>
                          <a:ea typeface="+mn-ea"/>
                        </a:rPr>
                        <a:t>)</a:t>
                      </a:r>
                    </a:p>
                  </a:txBody>
                  <a:tcPr marL="38080" marR="38080" marT="38094" marB="38094" anchor="ctr">
                    <a:lnL w="6350" cap="flat" cmpd="sng" algn="ctr">
                      <a:solidFill>
                        <a:schemeClr val="bg1">
                          <a:lumMod val="50000"/>
                        </a:schemeClr>
                      </a:solid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
        <p:nvSpPr>
          <p:cNvPr id="116" name="Rectangle 3"/>
          <p:cNvSpPr>
            <a:spLocks noChangeArrowheads="1"/>
          </p:cNvSpPr>
          <p:nvPr/>
        </p:nvSpPr>
        <p:spPr bwMode="auto">
          <a:xfrm>
            <a:off x="1090436" y="6089568"/>
            <a:ext cx="8183044" cy="272382"/>
          </a:xfrm>
          <a:prstGeom prst="rect">
            <a:avLst/>
          </a:prstGeom>
          <a:noFill/>
          <a:ln w="9525" algn="ctr">
            <a:noFill/>
            <a:miter lim="800000"/>
            <a:headEnd/>
            <a:tailEnd/>
          </a:ln>
          <a:effectLst/>
        </p:spPr>
        <p:txBody>
          <a:bodyPr wrap="square">
            <a:spAutoFit/>
          </a:bodyPr>
          <a:lstStyle/>
          <a:p>
            <a:pPr>
              <a:lnSpc>
                <a:spcPct val="130000"/>
              </a:lnSpc>
              <a:spcBef>
                <a:spcPct val="20000"/>
              </a:spcBef>
              <a:buSzPct val="100000"/>
            </a:pPr>
            <a:r>
              <a:rPr lang="en-US" altLang="ko-KR" sz="900" smtClean="0">
                <a:latin typeface="KB금융 본문체 Light" panose="020B0303000000000000" pitchFamily="50" charset="-127"/>
                <a:ea typeface="KB금융 본문체 Light" panose="020B0303000000000000" pitchFamily="50" charset="-127"/>
                <a:cs typeface="ヒラギノ角ゴ ProN W3"/>
              </a:rPr>
              <a:t>* </a:t>
            </a:r>
            <a:r>
              <a:rPr lang="ko-KR" altLang="en-US" sz="900" smtClean="0">
                <a:latin typeface="KB금융 본문체 Light" panose="020B0303000000000000" pitchFamily="50" charset="-127"/>
                <a:ea typeface="KB금융 본문체 Light" panose="020B0303000000000000" pitchFamily="50" charset="-127"/>
                <a:cs typeface="ヒラギノ角ゴ ProN W3"/>
              </a:rPr>
              <a:t>상세 내용은 별지 서식 </a:t>
            </a:r>
            <a:r>
              <a:rPr lang="en-US" altLang="ko-KR" sz="900" smtClean="0">
                <a:latin typeface="KB금융 본문체 Light" panose="020B0303000000000000" pitchFamily="50" charset="-127"/>
                <a:ea typeface="KB금융 본문체 Light" panose="020B0303000000000000" pitchFamily="50" charset="-127"/>
                <a:cs typeface="ヒラギノ角ゴ ProN W3"/>
              </a:rPr>
              <a:t>“KMS_</a:t>
            </a:r>
            <a:r>
              <a:rPr lang="ko-KR" altLang="en-US" sz="900" smtClean="0">
                <a:latin typeface="KB금융 본문체 Light" panose="020B0303000000000000" pitchFamily="50" charset="-127"/>
                <a:ea typeface="KB금융 본문체 Light" panose="020B0303000000000000" pitchFamily="50" charset="-127"/>
                <a:cs typeface="ヒラギノ角ゴ ProN W3"/>
              </a:rPr>
              <a:t>보안솔루션 적용 신청서</a:t>
            </a:r>
            <a:r>
              <a:rPr lang="en-US" altLang="ko-KR" sz="900" smtClean="0">
                <a:latin typeface="KB금융 본문체 Light" panose="020B0303000000000000" pitchFamily="50" charset="-127"/>
                <a:ea typeface="KB금융 본문체 Light" panose="020B0303000000000000" pitchFamily="50" charset="-127"/>
                <a:cs typeface="ヒラギノ角ゴ ProN W3"/>
              </a:rPr>
              <a:t>(</a:t>
            </a:r>
            <a:r>
              <a:rPr lang="ko-KR" altLang="en-US" sz="900" smtClean="0">
                <a:latin typeface="KB금융 본문체 Light" panose="020B0303000000000000" pitchFamily="50" charset="-127"/>
                <a:ea typeface="KB금융 본문체 Light" panose="020B0303000000000000" pitchFamily="50" charset="-127"/>
                <a:cs typeface="ヒラギノ角ゴ ProN W3"/>
              </a:rPr>
              <a:t>협조전</a:t>
            </a:r>
            <a:r>
              <a:rPr lang="en-US" altLang="ko-KR" sz="900" smtClean="0">
                <a:latin typeface="KB금융 본문체 Light" panose="020B0303000000000000" pitchFamily="50" charset="-127"/>
                <a:ea typeface="KB금융 본문체 Light" panose="020B0303000000000000" pitchFamily="50" charset="-127"/>
                <a:cs typeface="ヒラギノ角ゴ ProN W3"/>
              </a:rPr>
              <a:t>)v1.3.docx”</a:t>
            </a:r>
            <a:r>
              <a:rPr lang="ko-KR" altLang="en-US" sz="900">
                <a:latin typeface="KB금융 본문체 Light" panose="020B0303000000000000" pitchFamily="50" charset="-127"/>
                <a:ea typeface="KB금융 본문체 Light" panose="020B0303000000000000" pitchFamily="50" charset="-127"/>
                <a:cs typeface="ヒラギノ角ゴ ProN W3"/>
              </a:rPr>
              <a:t> </a:t>
            </a:r>
            <a:r>
              <a:rPr lang="ko-KR" altLang="en-US" sz="900" smtClean="0">
                <a:latin typeface="KB금융 본문체 Light" panose="020B0303000000000000" pitchFamily="50" charset="-127"/>
                <a:ea typeface="KB금융 본문체 Light" panose="020B0303000000000000" pitchFamily="50" charset="-127"/>
                <a:cs typeface="ヒラギノ角ゴ ProN W3"/>
              </a:rPr>
              <a:t>참조</a:t>
            </a:r>
            <a:endParaRPr lang="en-US" altLang="ko-KR" sz="900" dirty="0">
              <a:latin typeface="KB금융 본문체 Light" panose="020B0303000000000000" pitchFamily="50" charset="-127"/>
              <a:ea typeface="KB금융 본문체 Light" panose="020B0303000000000000" pitchFamily="50" charset="-127"/>
              <a:cs typeface="ヒラギノ角ゴ ProN W3"/>
            </a:endParaRPr>
          </a:p>
        </p:txBody>
      </p:sp>
    </p:spTree>
    <p:extLst>
      <p:ext uri="{BB962C8B-B14F-4D97-AF65-F5344CB8AC3E}">
        <p14:creationId xmlns:p14="http://schemas.microsoft.com/office/powerpoint/2010/main" val="25216611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ko-KR" altLang="en-US" smtClean="0"/>
              <a:t>첨부</a:t>
            </a:r>
            <a:r>
              <a:rPr lang="en-US" altLang="ko-KR" smtClean="0"/>
              <a:t>1. </a:t>
            </a:r>
            <a:r>
              <a:rPr lang="ko-KR" altLang="en-US" smtClean="0"/>
              <a:t>암호키 신청방법</a:t>
            </a:r>
            <a:r>
              <a:rPr lang="en-US" altLang="ko-KR" smtClean="0"/>
              <a:t>(3/4)</a:t>
            </a:r>
            <a:endParaRPr lang="ko-KR" altLang="en-US" dirty="0"/>
          </a:p>
        </p:txBody>
      </p:sp>
      <p:sp>
        <p:nvSpPr>
          <p:cNvPr id="98" name="Rectangle 3"/>
          <p:cNvSpPr>
            <a:spLocks noChangeArrowheads="1"/>
          </p:cNvSpPr>
          <p:nvPr/>
        </p:nvSpPr>
        <p:spPr bwMode="auto">
          <a:xfrm>
            <a:off x="308484" y="764704"/>
            <a:ext cx="9144000" cy="372410"/>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ko-KR" altLang="en-US" sz="1400" b="1" smtClean="0">
                <a:latin typeface="KB금융 본문체 Light" panose="020B0303000000000000" pitchFamily="50" charset="-127"/>
                <a:ea typeface="KB금융 본문체 Light" panose="020B0303000000000000" pitchFamily="50" charset="-127"/>
                <a:cs typeface="ヒラギノ角ゴ ProN W3"/>
              </a:rPr>
              <a:t>암호화 적용 신청서 작성</a:t>
            </a:r>
            <a:r>
              <a:rPr lang="en-US" altLang="ko-KR" sz="1400" b="1" smtClean="0">
                <a:latin typeface="KB금융 본문체 Light" panose="020B0303000000000000" pitchFamily="50" charset="-127"/>
                <a:ea typeface="KB금융 본문체 Light" panose="020B0303000000000000" pitchFamily="50" charset="-127"/>
                <a:cs typeface="ヒラギノ角ゴ ProN W3"/>
              </a:rPr>
              <a:t>(</a:t>
            </a:r>
            <a:r>
              <a:rPr lang="ko-KR" altLang="en-US" sz="1400" b="1" smtClean="0">
                <a:latin typeface="KB금융 본문체 Light" panose="020B0303000000000000" pitchFamily="50" charset="-127"/>
                <a:ea typeface="KB금융 본문체 Light" panose="020B0303000000000000" pitchFamily="50" charset="-127"/>
                <a:cs typeface="ヒラギノ角ゴ ProN W3"/>
              </a:rPr>
              <a:t>메인프레임</a:t>
            </a:r>
            <a:r>
              <a:rPr lang="en-US" altLang="ko-KR" sz="1400" b="1" smtClean="0">
                <a:latin typeface="KB금융 본문체 Light" panose="020B0303000000000000" pitchFamily="50" charset="-127"/>
                <a:ea typeface="KB금융 본문체 Light" panose="020B0303000000000000" pitchFamily="50" charset="-127"/>
                <a:cs typeface="ヒラギノ角ゴ ProN W3"/>
              </a:rPr>
              <a:t> </a:t>
            </a:r>
            <a:r>
              <a:rPr lang="ko-KR" altLang="en-US" sz="1400" b="1" smtClean="0">
                <a:latin typeface="KB금융 본문체 Light" panose="020B0303000000000000" pitchFamily="50" charset="-127"/>
                <a:ea typeface="KB금융 본문체 Light" panose="020B0303000000000000" pitchFamily="50" charset="-127"/>
                <a:cs typeface="ヒラギノ角ゴ ProN W3"/>
              </a:rPr>
              <a:t>기준</a:t>
            </a:r>
            <a:r>
              <a:rPr lang="en-US" altLang="ko-KR" sz="1400" b="1" smtClean="0">
                <a:latin typeface="KB금융 본문체 Light" panose="020B0303000000000000" pitchFamily="50" charset="-127"/>
                <a:ea typeface="KB금융 본문체 Light" panose="020B0303000000000000" pitchFamily="50" charset="-127"/>
                <a:cs typeface="ヒラギノ角ゴ ProN W3"/>
              </a:rPr>
              <a:t>)</a:t>
            </a:r>
            <a:endParaRPr lang="en-US" altLang="ko-KR" sz="1400" b="1"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99" name="Rectangle 3"/>
          <p:cNvSpPr>
            <a:spLocks noChangeArrowheads="1"/>
          </p:cNvSpPr>
          <p:nvPr/>
        </p:nvSpPr>
        <p:spPr bwMode="auto">
          <a:xfrm>
            <a:off x="699993" y="1142438"/>
            <a:ext cx="8753507" cy="886397"/>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ko-KR" altLang="en-US" sz="1200" smtClean="0">
                <a:latin typeface="KB금융 본문체 Light" panose="020B0303000000000000" pitchFamily="50" charset="-127"/>
                <a:ea typeface="KB금융 본문체 Light" panose="020B0303000000000000" pitchFamily="50" charset="-127"/>
                <a:cs typeface="ヒラギノ角ゴ ProN W3"/>
              </a:rPr>
              <a:t>별도의 신청서 양식은 없으며 해당 업무 코드에 대한 권한 부여만 하면 된다</a:t>
            </a:r>
            <a:endParaRPr lang="en-US" altLang="ko-KR" sz="1200" smtClean="0">
              <a:latin typeface="KB금융 본문체 Light" panose="020B0303000000000000" pitchFamily="50" charset="-127"/>
              <a:ea typeface="KB금융 본문체 Light" panose="020B0303000000000000" pitchFamily="50" charset="-127"/>
              <a:cs typeface="ヒラギノ角ゴ ProN W3"/>
            </a:endParaRPr>
          </a:p>
          <a:p>
            <a:pPr marL="285750" indent="-285750">
              <a:lnSpc>
                <a:spcPct val="130000"/>
              </a:lnSpc>
              <a:spcBef>
                <a:spcPct val="20000"/>
              </a:spcBef>
              <a:buSzPct val="100000"/>
              <a:buFont typeface="Wingdings" panose="05000000000000000000" pitchFamily="2" charset="2"/>
              <a:buChar char="l"/>
            </a:pPr>
            <a:r>
              <a:rPr lang="ko-KR" altLang="en-US" sz="1200" smtClean="0">
                <a:latin typeface="KB금융 본문체 Light" panose="020B0303000000000000" pitchFamily="50" charset="-127"/>
                <a:ea typeface="KB금융 본문체 Light" panose="020B0303000000000000" pitchFamily="50" charset="-127"/>
                <a:cs typeface="ヒラギノ角ゴ ProN W3"/>
              </a:rPr>
              <a:t>권한 부여 방법 </a:t>
            </a:r>
            <a:r>
              <a:rPr lang="en-US" altLang="ko-KR" sz="1200" smtClean="0">
                <a:latin typeface="KB금융 본문체 Light" panose="020B0303000000000000" pitchFamily="50" charset="-127"/>
                <a:ea typeface="KB금융 본문체 Light" panose="020B0303000000000000" pitchFamily="50" charset="-127"/>
                <a:cs typeface="ヒラギノ角ゴ ProN W3"/>
              </a:rPr>
              <a:t>: </a:t>
            </a:r>
            <a:r>
              <a:rPr lang="ko-KR" altLang="en-US" sz="1200" smtClean="0">
                <a:latin typeface="KB금융 본문체 Light" panose="020B0303000000000000" pitchFamily="50" charset="-127"/>
                <a:ea typeface="KB금융 본문체 Light" panose="020B0303000000000000" pitchFamily="50" charset="-127"/>
                <a:cs typeface="ヒラギノ角ゴ ProN W3"/>
              </a:rPr>
              <a:t>해당 업무 코드에 대한 </a:t>
            </a:r>
            <a:r>
              <a:rPr lang="en-US" altLang="ko-KR" sz="1200" smtClean="0">
                <a:latin typeface="KB금융 본문체 Light" panose="020B0303000000000000" pitchFamily="50" charset="-127"/>
                <a:ea typeface="KB금융 본문체 Light" panose="020B0303000000000000" pitchFamily="50" charset="-127"/>
                <a:cs typeface="ヒラギノ角ゴ ProN W3"/>
              </a:rPr>
              <a:t>Agent ID </a:t>
            </a:r>
            <a:r>
              <a:rPr lang="ko-KR" altLang="en-US" sz="1200" smtClean="0">
                <a:latin typeface="KB금융 본문체 Light" panose="020B0303000000000000" pitchFamily="50" charset="-127"/>
                <a:ea typeface="KB금융 본문체 Light" panose="020B0303000000000000" pitchFamily="50" charset="-127"/>
                <a:cs typeface="ヒラギノ角ゴ ProN W3"/>
              </a:rPr>
              <a:t>를 생성하여 </a:t>
            </a:r>
            <a:r>
              <a:rPr lang="en-US" altLang="ko-KR" sz="1200" smtClean="0">
                <a:latin typeface="KB금융 본문체 Light" panose="020B0303000000000000" pitchFamily="50" charset="-127"/>
                <a:ea typeface="KB금융 본문체 Light" panose="020B0303000000000000" pitchFamily="50" charset="-127"/>
                <a:cs typeface="ヒラギノ角ゴ ProN W3"/>
              </a:rPr>
              <a:t>KMS(</a:t>
            </a:r>
            <a:r>
              <a:rPr lang="ko-KR" altLang="en-US" sz="1200" smtClean="0">
                <a:latin typeface="KB금융 본문체 Light" panose="020B0303000000000000" pitchFamily="50" charset="-127"/>
                <a:ea typeface="KB금융 본문체 Light" panose="020B0303000000000000" pitchFamily="50" charset="-127"/>
                <a:cs typeface="ヒラギノ角ゴ ProN W3"/>
              </a:rPr>
              <a:t>키관리시스템</a:t>
            </a:r>
            <a:r>
              <a:rPr lang="en-US" altLang="ko-KR" sz="1200" smtClean="0">
                <a:latin typeface="KB금융 본문체 Light" panose="020B0303000000000000" pitchFamily="50" charset="-127"/>
                <a:ea typeface="KB금융 본문체 Light" panose="020B0303000000000000" pitchFamily="50" charset="-127"/>
                <a:cs typeface="ヒラギノ角ゴ ProN W3"/>
              </a:rPr>
              <a:t>)</a:t>
            </a:r>
            <a:r>
              <a:rPr lang="ko-KR" altLang="en-US" sz="1200" smtClean="0">
                <a:latin typeface="KB금융 본문체 Light" panose="020B0303000000000000" pitchFamily="50" charset="-127"/>
                <a:ea typeface="KB금융 본문체 Light" panose="020B0303000000000000" pitchFamily="50" charset="-127"/>
                <a:cs typeface="ヒラギノ角ゴ ProN W3"/>
              </a:rPr>
              <a:t>에 등록하면 된다</a:t>
            </a:r>
            <a:endParaRPr lang="en-US" altLang="ko-KR" sz="1200" smtClean="0">
              <a:latin typeface="KB금융 본문체 Light" panose="020B0303000000000000" pitchFamily="50" charset="-127"/>
              <a:ea typeface="KB금융 본문체 Light" panose="020B0303000000000000" pitchFamily="50" charset="-127"/>
              <a:cs typeface="ヒラギノ角ゴ ProN W3"/>
            </a:endParaRPr>
          </a:p>
          <a:p>
            <a:pPr marL="285750" indent="-285750">
              <a:lnSpc>
                <a:spcPct val="130000"/>
              </a:lnSpc>
              <a:spcBef>
                <a:spcPct val="20000"/>
              </a:spcBef>
              <a:buSzPct val="100000"/>
              <a:buFont typeface="Wingdings" panose="05000000000000000000" pitchFamily="2" charset="2"/>
              <a:buChar char="l"/>
            </a:pPr>
            <a:r>
              <a:rPr lang="en-US" altLang="ko-KR" sz="1200" smtClean="0">
                <a:latin typeface="KB금융 본문체 Light" panose="020B0303000000000000" pitchFamily="50" charset="-127"/>
                <a:ea typeface="KB금융 본문체 Light" panose="020B0303000000000000" pitchFamily="50" charset="-127"/>
                <a:cs typeface="ヒラギノ角ゴ ProN W3"/>
              </a:rPr>
              <a:t>Agent ID : </a:t>
            </a:r>
            <a:r>
              <a:rPr lang="ko-KR" altLang="en-US" sz="1200" smtClean="0">
                <a:latin typeface="KB금융 본문체 Light" panose="020B0303000000000000" pitchFamily="50" charset="-127"/>
                <a:ea typeface="KB금융 본문체 Light" panose="020B0303000000000000" pitchFamily="50" charset="-127"/>
                <a:cs typeface="ヒラギノ角ゴ ProN W3"/>
              </a:rPr>
              <a:t>해당 업무 코드 </a:t>
            </a:r>
            <a:r>
              <a:rPr lang="en-US" altLang="ko-KR" sz="1200" smtClean="0">
                <a:latin typeface="KB금융 본문체 Light" panose="020B0303000000000000" pitchFamily="50" charset="-127"/>
                <a:ea typeface="KB금융 본문체 Light" panose="020B0303000000000000" pitchFamily="50" charset="-127"/>
                <a:cs typeface="ヒラギノ角ゴ ProN W3"/>
              </a:rPr>
              <a:t>3</a:t>
            </a:r>
            <a:r>
              <a:rPr lang="ko-KR" altLang="en-US" sz="1200" smtClean="0">
                <a:latin typeface="KB금융 본문체 Light" panose="020B0303000000000000" pitchFamily="50" charset="-127"/>
                <a:ea typeface="KB금융 본문체 Light" panose="020B0303000000000000" pitchFamily="50" charset="-127"/>
                <a:cs typeface="ヒラギノ角ゴ ProN W3"/>
              </a:rPr>
              <a:t>자리 </a:t>
            </a:r>
            <a:r>
              <a:rPr lang="en-US" altLang="ko-KR" sz="1200" smtClean="0">
                <a:latin typeface="KB금융 본문체 Light" panose="020B0303000000000000" pitchFamily="50" charset="-127"/>
                <a:ea typeface="KB금융 본문체 Light" panose="020B0303000000000000" pitchFamily="50" charset="-127"/>
                <a:cs typeface="ヒラギノ角ゴ ProN W3"/>
              </a:rPr>
              <a:t>+ “000X“ </a:t>
            </a:r>
            <a:r>
              <a:rPr lang="ko-KR" altLang="en-US" sz="1200" smtClean="0">
                <a:latin typeface="KB금융 본문체 Light" panose="020B0303000000000000" pitchFamily="50" charset="-127"/>
                <a:ea typeface="KB금융 본문체 Light" panose="020B0303000000000000" pitchFamily="50" charset="-127"/>
                <a:cs typeface="ヒラギノ角ゴ ProN W3"/>
              </a:rPr>
              <a:t>로 설정된다</a:t>
            </a:r>
            <a:endParaRPr lang="en-US" altLang="ko-KR" sz="1200" dirty="0" smtClean="0">
              <a:latin typeface="KB금융 본문체 Light" panose="020B0303000000000000" pitchFamily="50" charset="-127"/>
              <a:ea typeface="KB금융 본문체 Light" panose="020B0303000000000000" pitchFamily="50" charset="-127"/>
              <a:cs typeface="ヒラギノ角ゴ ProN W3"/>
            </a:endParaRPr>
          </a:p>
        </p:txBody>
      </p:sp>
    </p:spTree>
    <p:extLst>
      <p:ext uri="{BB962C8B-B14F-4D97-AF65-F5344CB8AC3E}">
        <p14:creationId xmlns:p14="http://schemas.microsoft.com/office/powerpoint/2010/main" val="32222030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ko-KR" altLang="en-US" smtClean="0"/>
              <a:t>첨부</a:t>
            </a:r>
            <a:r>
              <a:rPr lang="en-US" altLang="ko-KR" smtClean="0"/>
              <a:t>1. </a:t>
            </a:r>
            <a:r>
              <a:rPr lang="ko-KR" altLang="en-US" smtClean="0"/>
              <a:t>암호키 신청방법</a:t>
            </a:r>
            <a:r>
              <a:rPr lang="en-US" altLang="ko-KR" smtClean="0"/>
              <a:t>(4/4)</a:t>
            </a:r>
            <a:endParaRPr lang="ko-KR" altLang="en-US" dirty="0"/>
          </a:p>
        </p:txBody>
      </p:sp>
      <p:sp>
        <p:nvSpPr>
          <p:cNvPr id="4" name="Rectangle 3"/>
          <p:cNvSpPr>
            <a:spLocks noChangeArrowheads="1"/>
          </p:cNvSpPr>
          <p:nvPr/>
        </p:nvSpPr>
        <p:spPr bwMode="auto">
          <a:xfrm>
            <a:off x="308484" y="764704"/>
            <a:ext cx="9144000" cy="372410"/>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ko-KR" altLang="en-US" sz="1400" b="1" smtClean="0">
                <a:latin typeface="KB금융 본문체 Light" panose="020B0303000000000000" pitchFamily="50" charset="-127"/>
                <a:ea typeface="KB금융 본문체 Light" panose="020B0303000000000000" pitchFamily="50" charset="-127"/>
                <a:cs typeface="ヒラギノ角ゴ ProN W3"/>
              </a:rPr>
              <a:t>암호화 적용 신청서 샘플</a:t>
            </a:r>
            <a:endParaRPr lang="en-US" altLang="ko-KR" sz="1400" b="1"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5" name="Rectangle 3"/>
          <p:cNvSpPr>
            <a:spLocks noChangeArrowheads="1"/>
          </p:cNvSpPr>
          <p:nvPr/>
        </p:nvSpPr>
        <p:spPr bwMode="auto">
          <a:xfrm>
            <a:off x="411961" y="1142438"/>
            <a:ext cx="8753507" cy="314189"/>
          </a:xfrm>
          <a:prstGeom prst="rect">
            <a:avLst/>
          </a:prstGeom>
          <a:noFill/>
          <a:ln w="9525" algn="ctr">
            <a:noFill/>
            <a:miter lim="800000"/>
            <a:headEnd/>
            <a:tailEnd/>
          </a:ln>
          <a:effectLst/>
        </p:spPr>
        <p:txBody>
          <a:bodyPr>
            <a:spAutoFit/>
          </a:bodyPr>
          <a:lstStyle/>
          <a:p>
            <a:pPr>
              <a:lnSpc>
                <a:spcPct val="130000"/>
              </a:lnSpc>
              <a:spcBef>
                <a:spcPct val="20000"/>
              </a:spcBef>
              <a:buSzPct val="100000"/>
            </a:pPr>
            <a:r>
              <a:rPr lang="en-US" altLang="ko-KR" sz="1200">
                <a:latin typeface="KB금융 본문체 Light" panose="020B0303000000000000" pitchFamily="50" charset="-127"/>
                <a:ea typeface="KB금융 본문체 Light" panose="020B0303000000000000" pitchFamily="50" charset="-127"/>
                <a:cs typeface="ヒラギノ角ゴ ProN W3"/>
              </a:rPr>
              <a:t>000</a:t>
            </a:r>
            <a:r>
              <a:rPr lang="ko-KR" altLang="en-US" sz="1200">
                <a:latin typeface="KB금융 본문체 Light" panose="020B0303000000000000" pitchFamily="50" charset="-127"/>
                <a:ea typeface="KB금융 본문체 Light" panose="020B0303000000000000" pitchFamily="50" charset="-127"/>
                <a:cs typeface="ヒラギノ角ゴ ProN W3"/>
              </a:rPr>
              <a:t>업무의 데이터암호화를 위하여 아래와 같이 신청하오니 협조하여 주시기 바랍니다</a:t>
            </a:r>
            <a:endParaRPr lang="en-US" altLang="ko-KR" sz="1200" dirty="0" smtClean="0">
              <a:latin typeface="KB금융 본문체 Light" panose="020B0303000000000000" pitchFamily="50" charset="-127"/>
              <a:ea typeface="KB금융 본문체 Light" panose="020B0303000000000000" pitchFamily="50" charset="-127"/>
              <a:cs typeface="ヒラギノ角ゴ ProN W3"/>
            </a:endParaRPr>
          </a:p>
        </p:txBody>
      </p:sp>
      <p:graphicFrame>
        <p:nvGraphicFramePr>
          <p:cNvPr id="6" name="표 5"/>
          <p:cNvGraphicFramePr>
            <a:graphicFrameLocks noGrp="1"/>
          </p:cNvGraphicFramePr>
          <p:nvPr>
            <p:extLst>
              <p:ext uri="{D42A27DB-BD31-4B8C-83A1-F6EECF244321}">
                <p14:modId xmlns:p14="http://schemas.microsoft.com/office/powerpoint/2010/main" val="1803229789"/>
              </p:ext>
            </p:extLst>
          </p:nvPr>
        </p:nvGraphicFramePr>
        <p:xfrm>
          <a:off x="381882" y="1451369"/>
          <a:ext cx="9138356" cy="1323532"/>
        </p:xfrm>
        <a:graphic>
          <a:graphicData uri="http://schemas.openxmlformats.org/drawingml/2006/table">
            <a:tbl>
              <a:tblPr firstRow="1" firstCol="1" bandRow="1">
                <a:tableStyleId>{5C22544A-7EE6-4342-B048-85BDC9FD1C3A}</a:tableStyleId>
              </a:tblPr>
              <a:tblGrid>
                <a:gridCol w="1141598">
                  <a:extLst>
                    <a:ext uri="{9D8B030D-6E8A-4147-A177-3AD203B41FA5}">
                      <a16:colId xmlns:a16="http://schemas.microsoft.com/office/drawing/2014/main" val="1818201611"/>
                    </a:ext>
                  </a:extLst>
                </a:gridCol>
                <a:gridCol w="1697761">
                  <a:extLst>
                    <a:ext uri="{9D8B030D-6E8A-4147-A177-3AD203B41FA5}">
                      <a16:colId xmlns:a16="http://schemas.microsoft.com/office/drawing/2014/main" val="1245325862"/>
                    </a:ext>
                  </a:extLst>
                </a:gridCol>
                <a:gridCol w="2559851">
                  <a:extLst>
                    <a:ext uri="{9D8B030D-6E8A-4147-A177-3AD203B41FA5}">
                      <a16:colId xmlns:a16="http://schemas.microsoft.com/office/drawing/2014/main" val="2186939996"/>
                    </a:ext>
                  </a:extLst>
                </a:gridCol>
                <a:gridCol w="1908212">
                  <a:extLst>
                    <a:ext uri="{9D8B030D-6E8A-4147-A177-3AD203B41FA5}">
                      <a16:colId xmlns:a16="http://schemas.microsoft.com/office/drawing/2014/main" val="4139764438"/>
                    </a:ext>
                  </a:extLst>
                </a:gridCol>
                <a:gridCol w="1830934">
                  <a:extLst>
                    <a:ext uri="{9D8B030D-6E8A-4147-A177-3AD203B41FA5}">
                      <a16:colId xmlns:a16="http://schemas.microsoft.com/office/drawing/2014/main" val="4270475140"/>
                    </a:ext>
                  </a:extLst>
                </a:gridCol>
              </a:tblGrid>
              <a:tr h="199566">
                <a:tc gridSpan="5">
                  <a:txBody>
                    <a:bodyPr/>
                    <a:lstStyle/>
                    <a:p>
                      <a:pPr algn="ctr" latinLnBrk="1">
                        <a:spcAft>
                          <a:spcPts val="0"/>
                        </a:spcAft>
                      </a:pPr>
                      <a:r>
                        <a:rPr lang="ko-KR" sz="1000" kern="100">
                          <a:solidFill>
                            <a:schemeClr val="tx1"/>
                          </a:solidFill>
                          <a:effectLst/>
                          <a:latin typeface="+mn-ea"/>
                          <a:ea typeface="+mn-ea"/>
                        </a:rPr>
                        <a:t>데이터 암호화 키 관리 적용신청서</a:t>
                      </a:r>
                      <a:endParaRPr lang="ko-KR" sz="1000" kern="100">
                        <a:solidFill>
                          <a:schemeClr val="tx1"/>
                        </a:solidFill>
                        <a:effectLst/>
                        <a:latin typeface="+mn-ea"/>
                        <a:ea typeface="+mn-ea"/>
                        <a:cs typeface="Times New Roman" panose="02020603050405020304" pitchFamily="18" charset="0"/>
                      </a:endParaRPr>
                    </a:p>
                  </a:txBody>
                  <a:tcPr marL="20881" marR="2088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654179999"/>
                  </a:ext>
                </a:extLst>
              </a:tr>
              <a:tr h="166993">
                <a:tc rowSpan="2">
                  <a:txBody>
                    <a:bodyPr/>
                    <a:lstStyle/>
                    <a:p>
                      <a:pPr algn="ctr" latinLnBrk="0">
                        <a:spcAft>
                          <a:spcPts val="0"/>
                        </a:spcAft>
                      </a:pPr>
                      <a:r>
                        <a:rPr lang="ko-KR" sz="1000" kern="100">
                          <a:solidFill>
                            <a:schemeClr val="tx1"/>
                          </a:solidFill>
                          <a:effectLst/>
                          <a:latin typeface="+mn-ea"/>
                          <a:ea typeface="+mn-ea"/>
                        </a:rPr>
                        <a:t>신청자</a:t>
                      </a:r>
                      <a:endParaRPr lang="ko-KR" sz="1000" kern="100">
                        <a:solidFill>
                          <a:schemeClr val="tx1"/>
                        </a:solidFill>
                        <a:effectLst/>
                        <a:latin typeface="+mn-ea"/>
                        <a:ea typeface="+mn-ea"/>
                        <a:cs typeface="Times New Roman" panose="02020603050405020304" pitchFamily="18" charset="0"/>
                      </a:endParaRPr>
                    </a:p>
                  </a:txBody>
                  <a:tcPr marL="20881" marR="2088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spcAft>
                          <a:spcPts val="0"/>
                        </a:spcAft>
                      </a:pPr>
                      <a:r>
                        <a:rPr lang="ko-KR" sz="1000" kern="100">
                          <a:solidFill>
                            <a:schemeClr val="tx1"/>
                          </a:solidFill>
                          <a:effectLst/>
                          <a:latin typeface="+mn-ea"/>
                          <a:ea typeface="+mn-ea"/>
                        </a:rPr>
                        <a:t>성명</a:t>
                      </a:r>
                      <a:endParaRPr lang="ko-KR" sz="1000" kern="100">
                        <a:solidFill>
                          <a:schemeClr val="tx1"/>
                        </a:solidFill>
                        <a:effectLst/>
                        <a:latin typeface="+mn-ea"/>
                        <a:ea typeface="+mn-ea"/>
                        <a:cs typeface="Times New Roman" panose="02020603050405020304" pitchFamily="18" charset="0"/>
                      </a:endParaRPr>
                    </a:p>
                  </a:txBody>
                  <a:tcPr marL="20881" marR="2088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spcAft>
                          <a:spcPts val="0"/>
                        </a:spcAft>
                      </a:pPr>
                      <a:r>
                        <a:rPr lang="ko-KR" sz="1000" kern="100">
                          <a:solidFill>
                            <a:schemeClr val="tx1"/>
                          </a:solidFill>
                          <a:effectLst/>
                          <a:latin typeface="+mn-ea"/>
                          <a:ea typeface="+mn-ea"/>
                        </a:rPr>
                        <a:t>홍길동</a:t>
                      </a:r>
                      <a:endParaRPr lang="ko-KR" sz="1000" kern="100">
                        <a:solidFill>
                          <a:schemeClr val="tx1"/>
                        </a:solidFill>
                        <a:effectLst/>
                        <a:latin typeface="+mn-ea"/>
                        <a:ea typeface="+mn-ea"/>
                        <a:cs typeface="Times New Roman" panose="02020603050405020304" pitchFamily="18" charset="0"/>
                      </a:endParaRPr>
                    </a:p>
                  </a:txBody>
                  <a:tcPr marL="20881" marR="2088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spcAft>
                          <a:spcPts val="0"/>
                        </a:spcAft>
                      </a:pPr>
                      <a:r>
                        <a:rPr lang="ko-KR" sz="1000" kern="100">
                          <a:solidFill>
                            <a:schemeClr val="tx1"/>
                          </a:solidFill>
                          <a:effectLst/>
                          <a:latin typeface="+mn-ea"/>
                          <a:ea typeface="+mn-ea"/>
                        </a:rPr>
                        <a:t>부서명</a:t>
                      </a:r>
                      <a:endParaRPr lang="ko-KR" sz="1000" kern="100">
                        <a:solidFill>
                          <a:schemeClr val="tx1"/>
                        </a:solidFill>
                        <a:effectLst/>
                        <a:latin typeface="+mn-ea"/>
                        <a:ea typeface="+mn-ea"/>
                        <a:cs typeface="Times New Roman" panose="02020603050405020304" pitchFamily="18" charset="0"/>
                      </a:endParaRPr>
                    </a:p>
                  </a:txBody>
                  <a:tcPr marL="20881" marR="2088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20881" marR="2088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1626476"/>
                  </a:ext>
                </a:extLst>
              </a:tr>
              <a:tr h="166993">
                <a:tc vMerge="1">
                  <a:txBody>
                    <a:bodyPr/>
                    <a:lstStyle/>
                    <a:p>
                      <a:pPr latinLnBrk="1"/>
                      <a:endParaRPr lang="ko-KR" altLang="en-US"/>
                    </a:p>
                  </a:txBody>
                  <a:tcPr/>
                </a:tc>
                <a:tc>
                  <a:txBody>
                    <a:bodyPr/>
                    <a:lstStyle/>
                    <a:p>
                      <a:pPr algn="ctr" latinLnBrk="0">
                        <a:spcAft>
                          <a:spcPts val="0"/>
                        </a:spcAft>
                      </a:pPr>
                      <a:r>
                        <a:rPr lang="ko-KR" sz="1000" kern="100">
                          <a:solidFill>
                            <a:schemeClr val="tx1"/>
                          </a:solidFill>
                          <a:effectLst/>
                          <a:latin typeface="+mn-ea"/>
                          <a:ea typeface="+mn-ea"/>
                        </a:rPr>
                        <a:t>내선번호</a:t>
                      </a:r>
                      <a:endParaRPr lang="ko-KR" sz="1000" kern="100">
                        <a:solidFill>
                          <a:schemeClr val="tx1"/>
                        </a:solidFill>
                        <a:effectLst/>
                        <a:latin typeface="+mn-ea"/>
                        <a:ea typeface="+mn-ea"/>
                        <a:cs typeface="Times New Roman" panose="02020603050405020304" pitchFamily="18" charset="0"/>
                      </a:endParaRPr>
                    </a:p>
                  </a:txBody>
                  <a:tcPr marL="20881" marR="2088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spcAft>
                          <a:spcPts val="0"/>
                        </a:spcAft>
                      </a:pPr>
                      <a:r>
                        <a:rPr lang="en-US" sz="1000" kern="100">
                          <a:solidFill>
                            <a:schemeClr val="tx1"/>
                          </a:solidFill>
                          <a:effectLst/>
                          <a:latin typeface="+mn-ea"/>
                          <a:ea typeface="+mn-ea"/>
                        </a:rPr>
                        <a:t>1234</a:t>
                      </a:r>
                      <a:endParaRPr lang="ko-KR" sz="1000" kern="100">
                        <a:solidFill>
                          <a:schemeClr val="tx1"/>
                        </a:solidFill>
                        <a:effectLst/>
                        <a:latin typeface="+mn-ea"/>
                        <a:ea typeface="+mn-ea"/>
                        <a:cs typeface="Times New Roman" panose="02020603050405020304" pitchFamily="18" charset="0"/>
                      </a:endParaRPr>
                    </a:p>
                  </a:txBody>
                  <a:tcPr marL="20881" marR="2088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spcAft>
                          <a:spcPts val="0"/>
                        </a:spcAft>
                      </a:pPr>
                      <a:r>
                        <a:rPr lang="ko-KR" sz="1000" kern="100">
                          <a:solidFill>
                            <a:schemeClr val="tx1"/>
                          </a:solidFill>
                          <a:effectLst/>
                          <a:latin typeface="+mn-ea"/>
                          <a:ea typeface="+mn-ea"/>
                        </a:rPr>
                        <a:t>작업희망일</a:t>
                      </a:r>
                      <a:endParaRPr lang="ko-KR" sz="1000" kern="100">
                        <a:solidFill>
                          <a:schemeClr val="tx1"/>
                        </a:solidFill>
                        <a:effectLst/>
                        <a:latin typeface="+mn-ea"/>
                        <a:ea typeface="+mn-ea"/>
                        <a:cs typeface="Times New Roman" panose="02020603050405020304" pitchFamily="18" charset="0"/>
                      </a:endParaRPr>
                    </a:p>
                  </a:txBody>
                  <a:tcPr marL="20881" marR="2088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20881" marR="2088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1390557"/>
                  </a:ext>
                </a:extLst>
              </a:tr>
              <a:tr h="166993">
                <a:tc rowSpan="2">
                  <a:txBody>
                    <a:bodyPr/>
                    <a:lstStyle/>
                    <a:p>
                      <a:pPr algn="ctr" latinLnBrk="0">
                        <a:lnSpc>
                          <a:spcPts val="1200"/>
                        </a:lnSpc>
                        <a:spcAft>
                          <a:spcPts val="0"/>
                        </a:spcAft>
                      </a:pPr>
                      <a:r>
                        <a:rPr lang="ko-KR" sz="1000" kern="100">
                          <a:solidFill>
                            <a:schemeClr val="tx1"/>
                          </a:solidFill>
                          <a:effectLst/>
                          <a:latin typeface="+mn-ea"/>
                          <a:ea typeface="+mn-ea"/>
                        </a:rPr>
                        <a:t>적용업무 및</a:t>
                      </a:r>
                    </a:p>
                    <a:p>
                      <a:pPr algn="ctr" latinLnBrk="0">
                        <a:lnSpc>
                          <a:spcPts val="1200"/>
                        </a:lnSpc>
                        <a:spcAft>
                          <a:spcPts val="0"/>
                        </a:spcAft>
                      </a:pPr>
                      <a:r>
                        <a:rPr lang="ko-KR" sz="1000" kern="100">
                          <a:solidFill>
                            <a:schemeClr val="tx1"/>
                          </a:solidFill>
                          <a:effectLst/>
                          <a:latin typeface="+mn-ea"/>
                          <a:ea typeface="+mn-ea"/>
                        </a:rPr>
                        <a:t>사전안내</a:t>
                      </a:r>
                      <a:endParaRPr lang="ko-KR" sz="1000" kern="100">
                        <a:solidFill>
                          <a:schemeClr val="tx1"/>
                        </a:solidFill>
                        <a:effectLst/>
                        <a:latin typeface="+mn-ea"/>
                        <a:ea typeface="+mn-ea"/>
                        <a:cs typeface="Times New Roman" panose="02020603050405020304" pitchFamily="18" charset="0"/>
                      </a:endParaRPr>
                    </a:p>
                  </a:txBody>
                  <a:tcPr marL="20881" marR="2088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spcAft>
                          <a:spcPts val="0"/>
                        </a:spcAft>
                      </a:pPr>
                      <a:r>
                        <a:rPr lang="ko-KR" sz="1000" kern="100">
                          <a:solidFill>
                            <a:schemeClr val="tx1"/>
                          </a:solidFill>
                          <a:effectLst/>
                          <a:latin typeface="+mn-ea"/>
                          <a:ea typeface="+mn-ea"/>
                        </a:rPr>
                        <a:t>업무코드</a:t>
                      </a:r>
                      <a:endParaRPr lang="ko-KR" sz="1000" kern="100">
                        <a:solidFill>
                          <a:schemeClr val="tx1"/>
                        </a:solidFill>
                        <a:effectLst/>
                        <a:latin typeface="+mn-ea"/>
                        <a:ea typeface="+mn-ea"/>
                        <a:cs typeface="Times New Roman" panose="02020603050405020304" pitchFamily="18" charset="0"/>
                      </a:endParaRPr>
                    </a:p>
                  </a:txBody>
                  <a:tcPr marL="20881" marR="2088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20881" marR="2088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spcAft>
                          <a:spcPts val="0"/>
                        </a:spcAft>
                      </a:pPr>
                      <a:r>
                        <a:rPr lang="ko-KR" sz="1000" kern="100">
                          <a:solidFill>
                            <a:schemeClr val="tx1"/>
                          </a:solidFill>
                          <a:effectLst/>
                          <a:latin typeface="+mn-ea"/>
                          <a:ea typeface="+mn-ea"/>
                        </a:rPr>
                        <a:t>업무명</a:t>
                      </a:r>
                      <a:endParaRPr lang="ko-KR" sz="1000" kern="100">
                        <a:solidFill>
                          <a:schemeClr val="tx1"/>
                        </a:solidFill>
                        <a:effectLst/>
                        <a:latin typeface="+mn-ea"/>
                        <a:ea typeface="+mn-ea"/>
                        <a:cs typeface="Times New Roman" panose="02020603050405020304" pitchFamily="18" charset="0"/>
                      </a:endParaRPr>
                    </a:p>
                  </a:txBody>
                  <a:tcPr marL="20881" marR="2088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20881" marR="2088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8716836"/>
                  </a:ext>
                </a:extLst>
              </a:tr>
              <a:tr h="622987">
                <a:tc vMerge="1">
                  <a:txBody>
                    <a:bodyPr/>
                    <a:lstStyle/>
                    <a:p>
                      <a:pPr latinLnBrk="1"/>
                      <a:endParaRPr lang="ko-KR" altLang="en-US"/>
                    </a:p>
                  </a:txBody>
                  <a:tcPr/>
                </a:tc>
                <a:tc>
                  <a:txBody>
                    <a:bodyPr/>
                    <a:lstStyle/>
                    <a:p>
                      <a:pPr algn="ctr" latinLnBrk="0">
                        <a:lnSpc>
                          <a:spcPts val="1200"/>
                        </a:lnSpc>
                        <a:spcAft>
                          <a:spcPts val="0"/>
                        </a:spcAft>
                      </a:pPr>
                      <a:r>
                        <a:rPr lang="ko-KR" sz="1000" kern="100">
                          <a:solidFill>
                            <a:schemeClr val="tx1"/>
                          </a:solidFill>
                          <a:effectLst/>
                          <a:latin typeface="+mn-ea"/>
                          <a:ea typeface="+mn-ea"/>
                        </a:rPr>
                        <a:t>신청자</a:t>
                      </a:r>
                    </a:p>
                    <a:p>
                      <a:pPr algn="ctr" latinLnBrk="0">
                        <a:lnSpc>
                          <a:spcPts val="1200"/>
                        </a:lnSpc>
                        <a:spcAft>
                          <a:spcPts val="0"/>
                        </a:spcAft>
                      </a:pPr>
                      <a:r>
                        <a:rPr lang="ko-KR" sz="1000" kern="100">
                          <a:solidFill>
                            <a:schemeClr val="tx1"/>
                          </a:solidFill>
                          <a:effectLst/>
                          <a:latin typeface="+mn-ea"/>
                          <a:ea typeface="+mn-ea"/>
                        </a:rPr>
                        <a:t>사전작업안내</a:t>
                      </a:r>
                      <a:endParaRPr lang="ko-KR" sz="1000" kern="100">
                        <a:solidFill>
                          <a:schemeClr val="tx1"/>
                        </a:solidFill>
                        <a:effectLst/>
                        <a:latin typeface="+mn-ea"/>
                        <a:ea typeface="+mn-ea"/>
                        <a:cs typeface="Times New Roman" panose="02020603050405020304" pitchFamily="18" charset="0"/>
                      </a:endParaRPr>
                    </a:p>
                  </a:txBody>
                  <a:tcPr marL="20881" marR="2088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just" latinLnBrk="0">
                        <a:lnSpc>
                          <a:spcPts val="1200"/>
                        </a:lnSpc>
                        <a:spcAft>
                          <a:spcPts val="0"/>
                        </a:spcAft>
                      </a:pPr>
                      <a:r>
                        <a:rPr lang="ko-KR" sz="1000" kern="100">
                          <a:solidFill>
                            <a:schemeClr val="tx1"/>
                          </a:solidFill>
                          <a:effectLst/>
                          <a:latin typeface="+mn-ea"/>
                          <a:ea typeface="+mn-ea"/>
                        </a:rPr>
                        <a:t>※ 해당서버내</a:t>
                      </a:r>
                      <a:r>
                        <a:rPr lang="en-US" sz="1000" kern="100">
                          <a:solidFill>
                            <a:schemeClr val="tx1"/>
                          </a:solidFill>
                          <a:effectLst/>
                          <a:latin typeface="+mn-ea"/>
                          <a:ea typeface="+mn-ea"/>
                        </a:rPr>
                        <a:t> /fsscp/pav </a:t>
                      </a:r>
                      <a:r>
                        <a:rPr lang="ko-KR" sz="1000" kern="100">
                          <a:solidFill>
                            <a:schemeClr val="tx1"/>
                          </a:solidFill>
                          <a:effectLst/>
                          <a:latin typeface="+mn-ea"/>
                          <a:ea typeface="+mn-ea"/>
                        </a:rPr>
                        <a:t>파일시스템 구성</a:t>
                      </a:r>
                      <a:r>
                        <a:rPr lang="en-US" sz="1000" kern="100">
                          <a:solidFill>
                            <a:schemeClr val="tx1"/>
                          </a:solidFill>
                          <a:effectLst/>
                          <a:latin typeface="+mn-ea"/>
                          <a:ea typeface="+mn-ea"/>
                        </a:rPr>
                        <a:t>(</a:t>
                      </a:r>
                      <a:r>
                        <a:rPr lang="ko-KR" sz="1000" kern="100">
                          <a:solidFill>
                            <a:schemeClr val="tx1"/>
                          </a:solidFill>
                          <a:effectLst/>
                          <a:latin typeface="+mn-ea"/>
                          <a:ea typeface="+mn-ea"/>
                        </a:rPr>
                        <a:t>용량</a:t>
                      </a:r>
                      <a:r>
                        <a:rPr lang="en-US" sz="1000" kern="100">
                          <a:solidFill>
                            <a:schemeClr val="tx1"/>
                          </a:solidFill>
                          <a:effectLst/>
                          <a:latin typeface="+mn-ea"/>
                          <a:ea typeface="+mn-ea"/>
                        </a:rPr>
                        <a:t>:2GB </a:t>
                      </a:r>
                      <a:r>
                        <a:rPr lang="ko-KR" sz="1000" kern="100">
                          <a:solidFill>
                            <a:schemeClr val="tx1"/>
                          </a:solidFill>
                          <a:effectLst/>
                          <a:latin typeface="+mn-ea"/>
                          <a:ea typeface="+mn-ea"/>
                        </a:rPr>
                        <a:t>필요</a:t>
                      </a:r>
                      <a:r>
                        <a:rPr lang="en-US" sz="1000" kern="100">
                          <a:solidFill>
                            <a:schemeClr val="tx1"/>
                          </a:solidFill>
                          <a:effectLst/>
                          <a:latin typeface="+mn-ea"/>
                          <a:ea typeface="+mn-ea"/>
                        </a:rPr>
                        <a:t>)</a:t>
                      </a:r>
                      <a:endParaRPr lang="ko-KR" sz="1000" kern="100">
                        <a:solidFill>
                          <a:schemeClr val="tx1"/>
                        </a:solidFill>
                        <a:effectLst/>
                        <a:latin typeface="+mn-ea"/>
                        <a:ea typeface="+mn-ea"/>
                      </a:endParaRPr>
                    </a:p>
                    <a:p>
                      <a:pPr indent="123190" algn="just" latinLnBrk="0">
                        <a:lnSpc>
                          <a:spcPts val="1200"/>
                        </a:lnSpc>
                        <a:spcAft>
                          <a:spcPts val="0"/>
                        </a:spcAft>
                      </a:pPr>
                      <a:r>
                        <a:rPr lang="en-US" sz="1000" kern="100">
                          <a:solidFill>
                            <a:schemeClr val="tx1"/>
                          </a:solidFill>
                          <a:effectLst/>
                          <a:latin typeface="+mn-ea"/>
                          <a:ea typeface="+mn-ea"/>
                          <a:sym typeface="Wingdings 2" panose="05020102010507070707" pitchFamily="18" charset="2"/>
                        </a:rPr>
                        <a:t></a:t>
                      </a:r>
                      <a:r>
                        <a:rPr lang="en-US" sz="1000" kern="100">
                          <a:solidFill>
                            <a:schemeClr val="tx1"/>
                          </a:solidFill>
                          <a:effectLst/>
                          <a:latin typeface="+mn-ea"/>
                          <a:ea typeface="+mn-ea"/>
                        </a:rPr>
                        <a:t> </a:t>
                      </a:r>
                      <a:r>
                        <a:rPr lang="ko-KR" sz="1000" kern="100">
                          <a:solidFill>
                            <a:schemeClr val="tx1"/>
                          </a:solidFill>
                          <a:effectLst/>
                          <a:latin typeface="+mn-ea"/>
                          <a:ea typeface="+mn-ea"/>
                        </a:rPr>
                        <a:t>소유자 </a:t>
                      </a:r>
                      <a:r>
                        <a:rPr lang="en-US" sz="1000" kern="100">
                          <a:solidFill>
                            <a:schemeClr val="tx1"/>
                          </a:solidFill>
                          <a:effectLst/>
                          <a:latin typeface="+mn-ea"/>
                          <a:ea typeface="+mn-ea"/>
                        </a:rPr>
                        <a:t>pav000-</a:t>
                      </a:r>
                      <a:r>
                        <a:rPr lang="ko-KR" sz="1000" kern="100">
                          <a:solidFill>
                            <a:schemeClr val="tx1"/>
                          </a:solidFill>
                          <a:effectLst/>
                          <a:latin typeface="+mn-ea"/>
                          <a:ea typeface="+mn-ea"/>
                        </a:rPr>
                        <a:t>그룹 </a:t>
                      </a:r>
                      <a:r>
                        <a:rPr lang="en-US" sz="1000" kern="100">
                          <a:solidFill>
                            <a:schemeClr val="tx1"/>
                          </a:solidFill>
                          <a:effectLst/>
                          <a:latin typeface="+mn-ea"/>
                          <a:ea typeface="+mn-ea"/>
                        </a:rPr>
                        <a:t>grpav-</a:t>
                      </a:r>
                      <a:r>
                        <a:rPr lang="ko-KR" sz="1000" kern="100">
                          <a:solidFill>
                            <a:schemeClr val="tx1"/>
                          </a:solidFill>
                          <a:effectLst/>
                          <a:latin typeface="+mn-ea"/>
                          <a:ea typeface="+mn-ea"/>
                        </a:rPr>
                        <a:t>권한 </a:t>
                      </a:r>
                      <a:r>
                        <a:rPr lang="en-US" sz="1000" kern="100">
                          <a:solidFill>
                            <a:schemeClr val="tx1"/>
                          </a:solidFill>
                          <a:effectLst/>
                          <a:latin typeface="+mn-ea"/>
                          <a:ea typeface="+mn-ea"/>
                        </a:rPr>
                        <a:t>755</a:t>
                      </a:r>
                      <a:endParaRPr lang="ko-KR" sz="1000" kern="100">
                        <a:solidFill>
                          <a:schemeClr val="tx1"/>
                        </a:solidFill>
                        <a:effectLst/>
                        <a:latin typeface="+mn-ea"/>
                        <a:ea typeface="+mn-ea"/>
                        <a:cs typeface="Times New Roman" panose="02020603050405020304" pitchFamily="18" charset="0"/>
                      </a:endParaRPr>
                    </a:p>
                  </a:txBody>
                  <a:tcPr marL="20881" marR="2088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897312556"/>
                  </a:ext>
                </a:extLst>
              </a:tr>
            </a:tbl>
          </a:graphicData>
        </a:graphic>
      </p:graphicFrame>
      <p:graphicFrame>
        <p:nvGraphicFramePr>
          <p:cNvPr id="11" name="표 10"/>
          <p:cNvGraphicFramePr>
            <a:graphicFrameLocks noGrp="1"/>
          </p:cNvGraphicFramePr>
          <p:nvPr>
            <p:extLst>
              <p:ext uri="{D42A27DB-BD31-4B8C-83A1-F6EECF244321}">
                <p14:modId xmlns:p14="http://schemas.microsoft.com/office/powerpoint/2010/main" val="1658316769"/>
              </p:ext>
            </p:extLst>
          </p:nvPr>
        </p:nvGraphicFramePr>
        <p:xfrm>
          <a:off x="381884" y="2774901"/>
          <a:ext cx="9138354" cy="3642432"/>
        </p:xfrm>
        <a:graphic>
          <a:graphicData uri="http://schemas.openxmlformats.org/drawingml/2006/table">
            <a:tbl>
              <a:tblPr firstRow="1" firstCol="1" bandRow="1">
                <a:tableStyleId>{5C22544A-7EE6-4342-B048-85BDC9FD1C3A}</a:tableStyleId>
              </a:tblPr>
              <a:tblGrid>
                <a:gridCol w="1150736">
                  <a:extLst>
                    <a:ext uri="{9D8B030D-6E8A-4147-A177-3AD203B41FA5}">
                      <a16:colId xmlns:a16="http://schemas.microsoft.com/office/drawing/2014/main" val="3074051921"/>
                    </a:ext>
                  </a:extLst>
                </a:gridCol>
                <a:gridCol w="1692188">
                  <a:extLst>
                    <a:ext uri="{9D8B030D-6E8A-4147-A177-3AD203B41FA5}">
                      <a16:colId xmlns:a16="http://schemas.microsoft.com/office/drawing/2014/main" val="3010385100"/>
                    </a:ext>
                  </a:extLst>
                </a:gridCol>
                <a:gridCol w="2556284">
                  <a:extLst>
                    <a:ext uri="{9D8B030D-6E8A-4147-A177-3AD203B41FA5}">
                      <a16:colId xmlns:a16="http://schemas.microsoft.com/office/drawing/2014/main" val="2734420985"/>
                    </a:ext>
                  </a:extLst>
                </a:gridCol>
                <a:gridCol w="1897746">
                  <a:extLst>
                    <a:ext uri="{9D8B030D-6E8A-4147-A177-3AD203B41FA5}">
                      <a16:colId xmlns:a16="http://schemas.microsoft.com/office/drawing/2014/main" val="2510797554"/>
                    </a:ext>
                  </a:extLst>
                </a:gridCol>
                <a:gridCol w="1841400">
                  <a:extLst>
                    <a:ext uri="{9D8B030D-6E8A-4147-A177-3AD203B41FA5}">
                      <a16:colId xmlns:a16="http://schemas.microsoft.com/office/drawing/2014/main" val="1439063584"/>
                    </a:ext>
                  </a:extLst>
                </a:gridCol>
              </a:tblGrid>
              <a:tr h="302779">
                <a:tc rowSpan="6">
                  <a:txBody>
                    <a:bodyPr/>
                    <a:lstStyle/>
                    <a:p>
                      <a:pPr marR="139700" algn="ctr" latinLnBrk="0">
                        <a:lnSpc>
                          <a:spcPts val="1200"/>
                        </a:lnSpc>
                        <a:spcAft>
                          <a:spcPts val="0"/>
                        </a:spcAft>
                      </a:pPr>
                      <a:r>
                        <a:rPr lang="ko-KR" sz="1000" kern="100">
                          <a:solidFill>
                            <a:schemeClr val="tx1"/>
                          </a:solidFill>
                          <a:effectLst/>
                          <a:latin typeface="+mn-ea"/>
                          <a:ea typeface="+mn-ea"/>
                        </a:rPr>
                        <a:t>시스템</a:t>
                      </a:r>
                    </a:p>
                    <a:p>
                      <a:pPr marR="139700" algn="ctr" latinLnBrk="0">
                        <a:lnSpc>
                          <a:spcPts val="1200"/>
                        </a:lnSpc>
                        <a:spcAft>
                          <a:spcPts val="0"/>
                        </a:spcAft>
                      </a:pPr>
                      <a:r>
                        <a:rPr lang="ko-KR" sz="1000" kern="100">
                          <a:solidFill>
                            <a:schemeClr val="tx1"/>
                          </a:solidFill>
                          <a:effectLst/>
                          <a:latin typeface="+mn-ea"/>
                          <a:ea typeface="+mn-ea"/>
                        </a:rPr>
                        <a:t>정보</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ctr" latinLnBrk="1">
                        <a:lnSpc>
                          <a:spcPts val="1200"/>
                        </a:lnSpc>
                        <a:spcAft>
                          <a:spcPts val="0"/>
                        </a:spcAft>
                      </a:pPr>
                      <a:r>
                        <a:rPr lang="ko-KR" sz="1000" kern="100">
                          <a:solidFill>
                            <a:schemeClr val="tx1"/>
                          </a:solidFill>
                          <a:effectLst/>
                          <a:latin typeface="+mn-ea"/>
                          <a:ea typeface="+mn-ea"/>
                        </a:rPr>
                        <a:t>운영</a:t>
                      </a:r>
                      <a:r>
                        <a:rPr lang="en-US" sz="1000" kern="100">
                          <a:solidFill>
                            <a:schemeClr val="tx1"/>
                          </a:solidFill>
                          <a:effectLst/>
                          <a:latin typeface="+mn-ea"/>
                          <a:ea typeface="+mn-ea"/>
                        </a:rPr>
                        <a:t>/</a:t>
                      </a:r>
                      <a:r>
                        <a:rPr lang="ko-KR" sz="1000" kern="100">
                          <a:solidFill>
                            <a:schemeClr val="tx1"/>
                          </a:solidFill>
                          <a:effectLst/>
                          <a:latin typeface="+mn-ea"/>
                          <a:ea typeface="+mn-ea"/>
                        </a:rPr>
                        <a:t>테스트 구분</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139700" algn="ctr" defTabSz="914400" rtl="0" eaLnBrk="1" latinLnBrk="1" hangingPunct="1">
                        <a:spcAft>
                          <a:spcPts val="0"/>
                        </a:spcAft>
                      </a:pPr>
                      <a:r>
                        <a:rPr lang="en-US" sz="1000" kern="100">
                          <a:solidFill>
                            <a:schemeClr val="tx1"/>
                          </a:solidFill>
                          <a:effectLst/>
                          <a:latin typeface="+mn-ea"/>
                          <a:ea typeface="+mn-ea"/>
                          <a:cs typeface="+mn-cs"/>
                        </a:rPr>
                        <a:t> </a:t>
                      </a:r>
                      <a:endParaRPr lang="ko-KR" sz="1000" kern="100">
                        <a:solidFill>
                          <a:schemeClr val="tx1"/>
                        </a:solidFill>
                        <a:effectLst/>
                        <a:latin typeface="+mn-ea"/>
                        <a:ea typeface="+mn-ea"/>
                        <a:cs typeface="+mn-cs"/>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139700" algn="ctr" defTabSz="914400" rtl="0" eaLnBrk="1" latinLnBrk="1" hangingPunct="1">
                        <a:spcAft>
                          <a:spcPts val="0"/>
                        </a:spcAft>
                      </a:pPr>
                      <a:r>
                        <a:rPr lang="en-US" sz="1000" kern="100">
                          <a:solidFill>
                            <a:schemeClr val="tx1"/>
                          </a:solidFill>
                          <a:effectLst/>
                          <a:latin typeface="+mn-ea"/>
                          <a:ea typeface="+mn-ea"/>
                          <a:cs typeface="+mn-cs"/>
                        </a:rPr>
                        <a:t> </a:t>
                      </a:r>
                      <a:endParaRPr lang="ko-KR" sz="1000" kern="100">
                        <a:solidFill>
                          <a:schemeClr val="tx1"/>
                        </a:solidFill>
                        <a:effectLst/>
                        <a:latin typeface="+mn-ea"/>
                        <a:ea typeface="+mn-ea"/>
                        <a:cs typeface="+mn-cs"/>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139700" algn="ctr" defTabSz="914400" rtl="0" eaLnBrk="1" latinLnBrk="1" hangingPunct="1">
                        <a:spcAft>
                          <a:spcPts val="0"/>
                        </a:spcAft>
                      </a:pPr>
                      <a:r>
                        <a:rPr lang="en-US" sz="1000" kern="100">
                          <a:solidFill>
                            <a:schemeClr val="tx1"/>
                          </a:solidFill>
                          <a:effectLst/>
                          <a:latin typeface="+mn-ea"/>
                          <a:ea typeface="+mn-ea"/>
                          <a:cs typeface="+mn-cs"/>
                        </a:rPr>
                        <a:t> </a:t>
                      </a:r>
                      <a:endParaRPr lang="ko-KR" sz="1000" kern="100">
                        <a:solidFill>
                          <a:schemeClr val="tx1"/>
                        </a:solidFill>
                        <a:effectLst/>
                        <a:latin typeface="+mn-ea"/>
                        <a:ea typeface="+mn-ea"/>
                        <a:cs typeface="+mn-cs"/>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1601186"/>
                  </a:ext>
                </a:extLst>
              </a:tr>
              <a:tr h="167282">
                <a:tc vMerge="1">
                  <a:txBody>
                    <a:bodyPr/>
                    <a:lstStyle/>
                    <a:p>
                      <a:pPr latinLnBrk="1"/>
                      <a:endParaRPr lang="ko-KR" altLang="en-US"/>
                    </a:p>
                  </a:txBody>
                  <a:tcPr/>
                </a:tc>
                <a:tc>
                  <a:txBody>
                    <a:bodyPr/>
                    <a:lstStyle/>
                    <a:p>
                      <a:pPr marR="139700" algn="ctr" latinLnBrk="1">
                        <a:lnSpc>
                          <a:spcPts val="1200"/>
                        </a:lnSpc>
                        <a:spcAft>
                          <a:spcPts val="0"/>
                        </a:spcAft>
                      </a:pPr>
                      <a:r>
                        <a:rPr lang="en-US" sz="1000" kern="100">
                          <a:solidFill>
                            <a:schemeClr val="tx1"/>
                          </a:solidFill>
                          <a:effectLst/>
                          <a:latin typeface="+mn-ea"/>
                          <a:ea typeface="+mn-ea"/>
                        </a:rPr>
                        <a:t>HOST</a:t>
                      </a:r>
                      <a:r>
                        <a:rPr lang="ko-KR" sz="1000" kern="100">
                          <a:solidFill>
                            <a:schemeClr val="tx1"/>
                          </a:solidFill>
                          <a:effectLst/>
                          <a:latin typeface="+mn-ea"/>
                          <a:ea typeface="+mn-ea"/>
                        </a:rPr>
                        <a:t>명</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ctr" latinLnBrk="1">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ctr" latinLnBrk="1">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ctr" latinLnBrk="1">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1340064"/>
                  </a:ext>
                </a:extLst>
              </a:tr>
              <a:tr h="167282">
                <a:tc vMerge="1">
                  <a:txBody>
                    <a:bodyPr/>
                    <a:lstStyle/>
                    <a:p>
                      <a:pPr latinLnBrk="1"/>
                      <a:endParaRPr lang="ko-KR" altLang="en-US"/>
                    </a:p>
                  </a:txBody>
                  <a:tcPr/>
                </a:tc>
                <a:tc>
                  <a:txBody>
                    <a:bodyPr/>
                    <a:lstStyle/>
                    <a:p>
                      <a:pPr marR="139700" algn="ctr" latinLnBrk="1">
                        <a:lnSpc>
                          <a:spcPts val="1200"/>
                        </a:lnSpc>
                        <a:spcAft>
                          <a:spcPts val="0"/>
                        </a:spcAft>
                      </a:pPr>
                      <a:r>
                        <a:rPr lang="en-US" sz="1000" kern="100">
                          <a:solidFill>
                            <a:schemeClr val="tx1"/>
                          </a:solidFill>
                          <a:effectLst/>
                          <a:latin typeface="+mn-ea"/>
                          <a:ea typeface="+mn-ea"/>
                        </a:rPr>
                        <a:t>IP</a:t>
                      </a:r>
                      <a:r>
                        <a:rPr lang="ko-KR" sz="1000" kern="100">
                          <a:solidFill>
                            <a:schemeClr val="tx1"/>
                          </a:solidFill>
                          <a:effectLst/>
                          <a:latin typeface="+mn-ea"/>
                          <a:ea typeface="+mn-ea"/>
                        </a:rPr>
                        <a:t>주소</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ctr" latinLnBrk="1">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ctr" latinLnBrk="1">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ctr" latinLnBrk="1">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378816"/>
                  </a:ext>
                </a:extLst>
              </a:tr>
              <a:tr h="167282">
                <a:tc vMerge="1">
                  <a:txBody>
                    <a:bodyPr/>
                    <a:lstStyle/>
                    <a:p>
                      <a:pPr latinLnBrk="1"/>
                      <a:endParaRPr lang="ko-KR" altLang="en-US"/>
                    </a:p>
                  </a:txBody>
                  <a:tcPr/>
                </a:tc>
                <a:tc>
                  <a:txBody>
                    <a:bodyPr/>
                    <a:lstStyle/>
                    <a:p>
                      <a:pPr marR="139700" algn="ctr" latinLnBrk="1">
                        <a:lnSpc>
                          <a:spcPts val="1200"/>
                        </a:lnSpc>
                        <a:spcAft>
                          <a:spcPts val="0"/>
                        </a:spcAft>
                      </a:pPr>
                      <a:r>
                        <a:rPr lang="en-US" sz="1000" kern="100">
                          <a:solidFill>
                            <a:schemeClr val="tx1"/>
                          </a:solidFill>
                          <a:effectLst/>
                          <a:latin typeface="+mn-ea"/>
                          <a:ea typeface="+mn-ea"/>
                        </a:rPr>
                        <a:t>OS</a:t>
                      </a:r>
                      <a:r>
                        <a:rPr lang="ko-KR" sz="1000" kern="100">
                          <a:solidFill>
                            <a:schemeClr val="tx1"/>
                          </a:solidFill>
                          <a:effectLst/>
                          <a:latin typeface="+mn-ea"/>
                          <a:ea typeface="+mn-ea"/>
                        </a:rPr>
                        <a:t>정보</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ctr" latinLnBrk="1">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ctr" latinLnBrk="1">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ctr" latinLnBrk="1">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2373096"/>
                  </a:ext>
                </a:extLst>
              </a:tr>
              <a:tr h="334563">
                <a:tc vMerge="1">
                  <a:txBody>
                    <a:bodyPr/>
                    <a:lstStyle/>
                    <a:p>
                      <a:pPr latinLnBrk="1"/>
                      <a:endParaRPr lang="ko-KR" altLang="en-US"/>
                    </a:p>
                  </a:txBody>
                  <a:tcPr/>
                </a:tc>
                <a:tc>
                  <a:txBody>
                    <a:bodyPr/>
                    <a:lstStyle/>
                    <a:p>
                      <a:pPr marR="139700" algn="ctr" latinLnBrk="0">
                        <a:lnSpc>
                          <a:spcPts val="1200"/>
                        </a:lnSpc>
                        <a:spcAft>
                          <a:spcPts val="0"/>
                        </a:spcAft>
                      </a:pPr>
                      <a:r>
                        <a:rPr lang="ko-KR" sz="1000" kern="100">
                          <a:solidFill>
                            <a:schemeClr val="tx1"/>
                          </a:solidFill>
                          <a:effectLst/>
                          <a:latin typeface="+mn-ea"/>
                          <a:ea typeface="+mn-ea"/>
                        </a:rPr>
                        <a:t>개발언어</a:t>
                      </a:r>
                    </a:p>
                    <a:p>
                      <a:pPr marR="139700" algn="ctr" latinLnBrk="1">
                        <a:lnSpc>
                          <a:spcPts val="1200"/>
                        </a:lnSpc>
                        <a:spcAft>
                          <a:spcPts val="0"/>
                        </a:spcAft>
                      </a:pPr>
                      <a:r>
                        <a:rPr lang="en-US" sz="1000" kern="100">
                          <a:solidFill>
                            <a:schemeClr val="tx1"/>
                          </a:solidFill>
                          <a:effectLst/>
                          <a:latin typeface="+mn-ea"/>
                          <a:ea typeface="+mn-ea"/>
                        </a:rPr>
                        <a:t>(C, JAVA </a:t>
                      </a:r>
                      <a:r>
                        <a:rPr lang="ko-KR" sz="1000" kern="100">
                          <a:solidFill>
                            <a:schemeClr val="tx1"/>
                          </a:solidFill>
                          <a:effectLst/>
                          <a:latin typeface="+mn-ea"/>
                          <a:ea typeface="+mn-ea"/>
                        </a:rPr>
                        <a:t>등</a:t>
                      </a:r>
                      <a:r>
                        <a:rPr lang="en-US" sz="1000" kern="100">
                          <a:solidFill>
                            <a:schemeClr val="tx1"/>
                          </a:solidFill>
                          <a:effectLst/>
                          <a:latin typeface="+mn-ea"/>
                          <a:ea typeface="+mn-ea"/>
                        </a:rPr>
                        <a:t>)</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ctr" latinLnBrk="1">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ctr" latinLnBrk="1">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ctr" latinLnBrk="1">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8041930"/>
                  </a:ext>
                </a:extLst>
              </a:tr>
              <a:tr h="167282">
                <a:tc vMerge="1">
                  <a:txBody>
                    <a:bodyPr/>
                    <a:lstStyle/>
                    <a:p>
                      <a:pPr latinLnBrk="1"/>
                      <a:endParaRPr lang="ko-KR" altLang="en-US"/>
                    </a:p>
                  </a:txBody>
                  <a:tcPr/>
                </a:tc>
                <a:tc>
                  <a:txBody>
                    <a:bodyPr/>
                    <a:lstStyle/>
                    <a:p>
                      <a:pPr marR="139700" algn="ctr" latinLnBrk="1">
                        <a:lnSpc>
                          <a:spcPts val="1200"/>
                        </a:lnSpc>
                        <a:spcAft>
                          <a:spcPts val="0"/>
                        </a:spcAft>
                      </a:pPr>
                      <a:r>
                        <a:rPr lang="en-US" sz="1000" kern="100">
                          <a:solidFill>
                            <a:schemeClr val="tx1"/>
                          </a:solidFill>
                          <a:effectLst/>
                          <a:latin typeface="+mn-ea"/>
                          <a:ea typeface="+mn-ea"/>
                        </a:rPr>
                        <a:t>CPU </a:t>
                      </a:r>
                      <a:r>
                        <a:rPr lang="ko-KR" sz="1000" kern="100">
                          <a:solidFill>
                            <a:schemeClr val="tx1"/>
                          </a:solidFill>
                          <a:effectLst/>
                          <a:latin typeface="+mn-ea"/>
                          <a:ea typeface="+mn-ea"/>
                        </a:rPr>
                        <a:t>칩셋</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l" latinLnBrk="1">
                        <a:spcAft>
                          <a:spcPts val="0"/>
                        </a:spcAft>
                      </a:pPr>
                      <a:r>
                        <a:rPr lang="en-US" sz="1000" kern="100">
                          <a:solidFill>
                            <a:schemeClr val="tx1"/>
                          </a:solidFill>
                          <a:effectLst/>
                          <a:latin typeface="+mn-ea"/>
                          <a:ea typeface="+mn-ea"/>
                        </a:rPr>
                        <a:t>*HP </a:t>
                      </a:r>
                      <a:r>
                        <a:rPr lang="ko-KR" sz="1000" kern="100">
                          <a:solidFill>
                            <a:schemeClr val="tx1"/>
                          </a:solidFill>
                          <a:effectLst/>
                          <a:latin typeface="+mn-ea"/>
                          <a:ea typeface="+mn-ea"/>
                        </a:rPr>
                        <a:t>서버인 경우 기재</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l" latinLnBrk="1">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l" latinLnBrk="1">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557094"/>
                  </a:ext>
                </a:extLst>
              </a:tr>
              <a:tr h="334563">
                <a:tc gridSpan="2">
                  <a:txBody>
                    <a:bodyPr/>
                    <a:lstStyle/>
                    <a:p>
                      <a:pPr marR="139700" algn="ctr" latinLnBrk="0">
                        <a:lnSpc>
                          <a:spcPts val="1200"/>
                        </a:lnSpc>
                        <a:spcAft>
                          <a:spcPts val="0"/>
                        </a:spcAft>
                      </a:pPr>
                      <a:r>
                        <a:rPr lang="ko-KR" sz="1000" kern="100">
                          <a:solidFill>
                            <a:schemeClr val="tx1"/>
                          </a:solidFill>
                          <a:effectLst/>
                          <a:latin typeface="+mn-ea"/>
                          <a:ea typeface="+mn-ea"/>
                        </a:rPr>
                        <a:t>신청 구분</a:t>
                      </a:r>
                    </a:p>
                    <a:p>
                      <a:pPr marR="139700" algn="ctr" latinLnBrk="0">
                        <a:lnSpc>
                          <a:spcPts val="1200"/>
                        </a:lnSpc>
                        <a:spcAft>
                          <a:spcPts val="0"/>
                        </a:spcAft>
                      </a:pPr>
                      <a:r>
                        <a:rPr lang="en-US" sz="1000" kern="100">
                          <a:solidFill>
                            <a:schemeClr val="tx1"/>
                          </a:solidFill>
                          <a:effectLst/>
                          <a:latin typeface="+mn-ea"/>
                          <a:ea typeface="+mn-ea"/>
                        </a:rPr>
                        <a:t>(</a:t>
                      </a:r>
                      <a:r>
                        <a:rPr lang="ko-KR" sz="1000" kern="100">
                          <a:solidFill>
                            <a:schemeClr val="tx1"/>
                          </a:solidFill>
                          <a:effectLst/>
                          <a:latin typeface="+mn-ea"/>
                          <a:ea typeface="+mn-ea"/>
                        </a:rPr>
                        <a:t>신규</a:t>
                      </a:r>
                      <a:r>
                        <a:rPr lang="en-US" sz="1000" kern="100">
                          <a:solidFill>
                            <a:schemeClr val="tx1"/>
                          </a:solidFill>
                          <a:effectLst/>
                          <a:latin typeface="+mn-ea"/>
                          <a:ea typeface="+mn-ea"/>
                        </a:rPr>
                        <a:t>,</a:t>
                      </a:r>
                      <a:r>
                        <a:rPr lang="ko-KR" sz="1000" kern="100">
                          <a:solidFill>
                            <a:schemeClr val="tx1"/>
                          </a:solidFill>
                          <a:effectLst/>
                          <a:latin typeface="+mn-ea"/>
                          <a:ea typeface="+mn-ea"/>
                        </a:rPr>
                        <a:t>추가</a:t>
                      </a:r>
                      <a:r>
                        <a:rPr lang="en-US" sz="1000" kern="100">
                          <a:solidFill>
                            <a:schemeClr val="tx1"/>
                          </a:solidFill>
                          <a:effectLst/>
                          <a:latin typeface="+mn-ea"/>
                          <a:ea typeface="+mn-ea"/>
                        </a:rPr>
                        <a:t>,</a:t>
                      </a:r>
                      <a:r>
                        <a:rPr lang="ko-KR" sz="1000" kern="100">
                          <a:solidFill>
                            <a:schemeClr val="tx1"/>
                          </a:solidFill>
                          <a:effectLst/>
                          <a:latin typeface="+mn-ea"/>
                          <a:ea typeface="+mn-ea"/>
                        </a:rPr>
                        <a:t>변경</a:t>
                      </a:r>
                      <a:r>
                        <a:rPr lang="en-US" sz="1000" kern="100">
                          <a:solidFill>
                            <a:schemeClr val="tx1"/>
                          </a:solidFill>
                          <a:effectLst/>
                          <a:latin typeface="+mn-ea"/>
                          <a:ea typeface="+mn-ea"/>
                        </a:rPr>
                        <a:t>,</a:t>
                      </a:r>
                      <a:r>
                        <a:rPr lang="ko-KR" sz="1000" kern="100">
                          <a:solidFill>
                            <a:schemeClr val="tx1"/>
                          </a:solidFill>
                          <a:effectLst/>
                          <a:latin typeface="+mn-ea"/>
                          <a:ea typeface="+mn-ea"/>
                        </a:rPr>
                        <a:t>삭제</a:t>
                      </a:r>
                      <a:r>
                        <a:rPr lang="en-US" sz="1000" kern="100">
                          <a:solidFill>
                            <a:schemeClr val="tx1"/>
                          </a:solidFill>
                          <a:effectLst/>
                          <a:latin typeface="+mn-ea"/>
                          <a:ea typeface="+mn-ea"/>
                        </a:rPr>
                        <a:t>)</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latinLnBrk="1"/>
                      <a:endParaRPr lang="ko-KR" altLang="en-US"/>
                    </a:p>
                  </a:txBody>
                  <a:tcPr/>
                </a:tc>
                <a:tc>
                  <a:txBody>
                    <a:bodyPr/>
                    <a:lstStyle/>
                    <a:p>
                      <a:pPr marR="140335" indent="100330" algn="l" latinLnBrk="1">
                        <a:lnSpc>
                          <a:spcPts val="1200"/>
                        </a:lnSpc>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l" latinLnBrk="1">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l" latinLnBrk="1">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419612"/>
                  </a:ext>
                </a:extLst>
              </a:tr>
              <a:tr h="334563">
                <a:tc gridSpan="2">
                  <a:txBody>
                    <a:bodyPr/>
                    <a:lstStyle/>
                    <a:p>
                      <a:pPr marR="139700" algn="ctr" latinLnBrk="0">
                        <a:lnSpc>
                          <a:spcPts val="1200"/>
                        </a:lnSpc>
                        <a:spcAft>
                          <a:spcPts val="0"/>
                        </a:spcAft>
                      </a:pPr>
                      <a:r>
                        <a:rPr lang="ko-KR" sz="1000" kern="100">
                          <a:solidFill>
                            <a:schemeClr val="tx1"/>
                          </a:solidFill>
                          <a:effectLst/>
                          <a:latin typeface="+mn-ea"/>
                          <a:ea typeface="+mn-ea"/>
                        </a:rPr>
                        <a:t>암호화 대상</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latinLnBrk="1"/>
                      <a:endParaRPr lang="ko-KR" altLang="en-US"/>
                    </a:p>
                  </a:txBody>
                  <a:tcPr/>
                </a:tc>
                <a:tc>
                  <a:txBody>
                    <a:bodyPr/>
                    <a:lstStyle/>
                    <a:p>
                      <a:pPr marR="140335" algn="l" latinLnBrk="1">
                        <a:lnSpc>
                          <a:spcPts val="1200"/>
                        </a:lnSpc>
                        <a:spcAft>
                          <a:spcPts val="0"/>
                        </a:spcAft>
                      </a:pPr>
                      <a:r>
                        <a:rPr lang="en-US" sz="1000" kern="100">
                          <a:solidFill>
                            <a:schemeClr val="tx1"/>
                          </a:solidFill>
                          <a:effectLst/>
                          <a:latin typeface="+mn-ea"/>
                          <a:ea typeface="+mn-ea"/>
                        </a:rPr>
                        <a:t>* </a:t>
                      </a:r>
                      <a:r>
                        <a:rPr lang="ko-KR" sz="1000" kern="100">
                          <a:solidFill>
                            <a:schemeClr val="tx1"/>
                          </a:solidFill>
                          <a:effectLst/>
                          <a:latin typeface="+mn-ea"/>
                          <a:ea typeface="+mn-ea"/>
                        </a:rPr>
                        <a:t>어떤 데이터를 암호화할것</a:t>
                      </a:r>
                    </a:p>
                    <a:p>
                      <a:pPr marR="140335" indent="89535" algn="l" latinLnBrk="1">
                        <a:lnSpc>
                          <a:spcPts val="1200"/>
                        </a:lnSpc>
                        <a:spcAft>
                          <a:spcPts val="0"/>
                        </a:spcAft>
                      </a:pPr>
                      <a:r>
                        <a:rPr lang="ko-KR" sz="1000" kern="100">
                          <a:solidFill>
                            <a:schemeClr val="tx1"/>
                          </a:solidFill>
                          <a:effectLst/>
                          <a:latin typeface="+mn-ea"/>
                          <a:ea typeface="+mn-ea"/>
                        </a:rPr>
                        <a:t>인지 기재</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l" latinLnBrk="1">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l" latinLnBrk="1">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3666024"/>
                  </a:ext>
                </a:extLst>
              </a:tr>
              <a:tr h="167282">
                <a:tc gridSpan="2">
                  <a:txBody>
                    <a:bodyPr/>
                    <a:lstStyle/>
                    <a:p>
                      <a:pPr marR="139700" algn="ctr" latinLnBrk="0">
                        <a:lnSpc>
                          <a:spcPts val="1200"/>
                        </a:lnSpc>
                        <a:spcAft>
                          <a:spcPts val="0"/>
                        </a:spcAft>
                      </a:pPr>
                      <a:r>
                        <a:rPr lang="ko-KR" sz="1000" kern="100">
                          <a:solidFill>
                            <a:schemeClr val="tx1"/>
                          </a:solidFill>
                          <a:effectLst/>
                          <a:latin typeface="+mn-ea"/>
                          <a:ea typeface="+mn-ea"/>
                        </a:rPr>
                        <a:t>암복호화 계정</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latinLnBrk="1"/>
                      <a:endParaRPr lang="ko-KR" altLang="en-US"/>
                    </a:p>
                  </a:txBody>
                  <a:tcPr/>
                </a:tc>
                <a:tc>
                  <a:txBody>
                    <a:bodyPr/>
                    <a:lstStyle/>
                    <a:p>
                      <a:pPr marR="139700" algn="l" latinLnBrk="1">
                        <a:spcAft>
                          <a:spcPts val="0"/>
                        </a:spcAft>
                      </a:pPr>
                      <a:r>
                        <a:rPr lang="ko-KR" sz="1000" kern="100">
                          <a:solidFill>
                            <a:schemeClr val="tx1"/>
                          </a:solidFill>
                          <a:effectLst/>
                          <a:latin typeface="+mn-ea"/>
                          <a:ea typeface="+mn-ea"/>
                        </a:rPr>
                        <a:t>예</a:t>
                      </a:r>
                      <a:r>
                        <a:rPr lang="en-US" sz="1000" kern="100">
                          <a:solidFill>
                            <a:schemeClr val="tx1"/>
                          </a:solidFill>
                          <a:effectLst/>
                          <a:latin typeface="+mn-ea"/>
                          <a:ea typeface="+mn-ea"/>
                        </a:rPr>
                        <a:t>) pdb000</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l" latinLnBrk="1">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l" latinLnBrk="1">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094233"/>
                  </a:ext>
                </a:extLst>
              </a:tr>
              <a:tr h="328583">
                <a:tc gridSpan="2">
                  <a:txBody>
                    <a:bodyPr/>
                    <a:lstStyle/>
                    <a:p>
                      <a:pPr marR="139700" algn="ctr" latinLnBrk="0">
                        <a:lnSpc>
                          <a:spcPts val="1200"/>
                        </a:lnSpc>
                        <a:spcAft>
                          <a:spcPts val="0"/>
                        </a:spcAft>
                      </a:pPr>
                      <a:r>
                        <a:rPr lang="ko-KR" sz="1000" kern="100" smtClean="0">
                          <a:solidFill>
                            <a:schemeClr val="tx1"/>
                          </a:solidFill>
                          <a:effectLst/>
                          <a:latin typeface="+mn-ea"/>
                          <a:ea typeface="+mn-ea"/>
                        </a:rPr>
                        <a:t>알고리즘</a:t>
                      </a:r>
                      <a:r>
                        <a:rPr lang="en-US" altLang="ko-KR" sz="1000" kern="100" smtClean="0">
                          <a:solidFill>
                            <a:schemeClr val="tx1"/>
                          </a:solidFill>
                          <a:effectLst/>
                          <a:latin typeface="+mn-ea"/>
                          <a:ea typeface="+mn-ea"/>
                        </a:rPr>
                        <a:t> </a:t>
                      </a:r>
                      <a:r>
                        <a:rPr lang="en-US" sz="1000" kern="100" smtClean="0">
                          <a:solidFill>
                            <a:schemeClr val="tx1"/>
                          </a:solidFill>
                          <a:effectLst/>
                          <a:latin typeface="+mn-ea"/>
                          <a:ea typeface="+mn-ea"/>
                        </a:rPr>
                        <a:t>/ </a:t>
                      </a:r>
                      <a:r>
                        <a:rPr lang="ko-KR" sz="1000" kern="100" smtClean="0">
                          <a:solidFill>
                            <a:schemeClr val="tx1"/>
                          </a:solidFill>
                          <a:effectLst/>
                          <a:latin typeface="+mn-ea"/>
                          <a:ea typeface="+mn-ea"/>
                        </a:rPr>
                        <a:t>솔트포함 </a:t>
                      </a:r>
                      <a:r>
                        <a:rPr lang="ko-KR" sz="1000" kern="100">
                          <a:solidFill>
                            <a:schemeClr val="tx1"/>
                          </a:solidFill>
                          <a:effectLst/>
                          <a:latin typeface="+mn-ea"/>
                          <a:ea typeface="+mn-ea"/>
                        </a:rPr>
                        <a:t>여부</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latinLnBrk="1"/>
                      <a:endParaRPr lang="ko-KR" altLang="en-US"/>
                    </a:p>
                  </a:txBody>
                  <a:tcPr/>
                </a:tc>
                <a:tc>
                  <a:txBody>
                    <a:bodyPr/>
                    <a:lstStyle/>
                    <a:p>
                      <a:pPr algn="just" latinLnBrk="0">
                        <a:spcAft>
                          <a:spcPts val="0"/>
                        </a:spcAft>
                      </a:pPr>
                      <a:r>
                        <a:rPr lang="ko-KR" sz="1000" kern="100">
                          <a:solidFill>
                            <a:schemeClr val="tx1"/>
                          </a:solidFill>
                          <a:effectLst/>
                          <a:latin typeface="+mn-ea"/>
                          <a:ea typeface="+mn-ea"/>
                        </a:rPr>
                        <a:t>예</a:t>
                      </a:r>
                      <a:r>
                        <a:rPr lang="en-US" sz="1000" kern="100">
                          <a:solidFill>
                            <a:schemeClr val="tx1"/>
                          </a:solidFill>
                          <a:effectLst/>
                          <a:latin typeface="+mn-ea"/>
                          <a:ea typeface="+mn-ea"/>
                        </a:rPr>
                        <a:t>) </a:t>
                      </a:r>
                      <a:r>
                        <a:rPr lang="ko-KR" altLang="en-US" sz="1000" kern="100" smtClean="0">
                          <a:solidFill>
                            <a:schemeClr val="tx1"/>
                          </a:solidFill>
                          <a:effectLst/>
                          <a:latin typeface="+mn-ea"/>
                          <a:ea typeface="+mn-ea"/>
                        </a:rPr>
                        <a:t>기본 </a:t>
                      </a:r>
                      <a:r>
                        <a:rPr lang="en-US" sz="1000" kern="100" smtClean="0">
                          <a:solidFill>
                            <a:schemeClr val="tx1"/>
                          </a:solidFill>
                          <a:effectLst/>
                          <a:latin typeface="+mn-ea"/>
                          <a:ea typeface="+mn-ea"/>
                        </a:rPr>
                        <a:t>AES256(</a:t>
                      </a:r>
                      <a:r>
                        <a:rPr lang="ko-KR" sz="1000" kern="100" smtClean="0">
                          <a:solidFill>
                            <a:schemeClr val="tx1"/>
                          </a:solidFill>
                          <a:effectLst/>
                          <a:latin typeface="+mn-ea"/>
                          <a:ea typeface="+mn-ea"/>
                        </a:rPr>
                        <a:t>솔트포함</a:t>
                      </a:r>
                      <a:r>
                        <a:rPr lang="en-US" altLang="ko-KR" sz="1000" kern="100" smtClean="0">
                          <a:solidFill>
                            <a:schemeClr val="tx1"/>
                          </a:solidFill>
                          <a:effectLst/>
                          <a:latin typeface="+mn-ea"/>
                          <a:ea typeface="+mn-ea"/>
                        </a:rPr>
                        <a:t>) </a:t>
                      </a:r>
                      <a:r>
                        <a:rPr lang="ko-KR" altLang="en-US" sz="1000" kern="100" smtClean="0">
                          <a:solidFill>
                            <a:schemeClr val="tx1"/>
                          </a:solidFill>
                          <a:effectLst/>
                          <a:latin typeface="+mn-ea"/>
                          <a:ea typeface="+mn-ea"/>
                        </a:rPr>
                        <a:t>적용</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l" latinLnBrk="1">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l" latinLnBrk="1">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156621"/>
                  </a:ext>
                </a:extLst>
              </a:tr>
              <a:tr h="334563">
                <a:tc gridSpan="2">
                  <a:txBody>
                    <a:bodyPr/>
                    <a:lstStyle/>
                    <a:p>
                      <a:pPr algn="ctr" latinLnBrk="0">
                        <a:lnSpc>
                          <a:spcPts val="1200"/>
                        </a:lnSpc>
                        <a:spcAft>
                          <a:spcPts val="0"/>
                        </a:spcAft>
                      </a:pPr>
                      <a:r>
                        <a:rPr lang="ko-KR" sz="1000" kern="100">
                          <a:solidFill>
                            <a:schemeClr val="tx1"/>
                          </a:solidFill>
                          <a:effectLst/>
                          <a:latin typeface="+mn-ea"/>
                          <a:ea typeface="+mn-ea"/>
                        </a:rPr>
                        <a:t>운영모드</a:t>
                      </a:r>
                    </a:p>
                    <a:p>
                      <a:pPr algn="ctr" latinLnBrk="0">
                        <a:lnSpc>
                          <a:spcPts val="1200"/>
                        </a:lnSpc>
                        <a:spcAft>
                          <a:spcPts val="0"/>
                        </a:spcAft>
                      </a:pPr>
                      <a:r>
                        <a:rPr lang="en-US" sz="1000" kern="100">
                          <a:solidFill>
                            <a:schemeClr val="tx1"/>
                          </a:solidFill>
                          <a:effectLst/>
                          <a:latin typeface="+mn-ea"/>
                          <a:ea typeface="+mn-ea"/>
                        </a:rPr>
                        <a:t>(</a:t>
                      </a:r>
                      <a:r>
                        <a:rPr lang="ko-KR" sz="1000" kern="100">
                          <a:solidFill>
                            <a:schemeClr val="tx1"/>
                          </a:solidFill>
                          <a:effectLst/>
                          <a:latin typeface="+mn-ea"/>
                          <a:ea typeface="+mn-ea"/>
                        </a:rPr>
                        <a:t>양방향 암호화시 작성</a:t>
                      </a:r>
                      <a:r>
                        <a:rPr lang="en-US" sz="1000" kern="100">
                          <a:solidFill>
                            <a:schemeClr val="tx1"/>
                          </a:solidFill>
                          <a:effectLst/>
                          <a:latin typeface="+mn-ea"/>
                          <a:ea typeface="+mn-ea"/>
                        </a:rPr>
                        <a:t>)</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latinLnBrk="1"/>
                      <a:endParaRPr lang="ko-KR" altLang="en-US"/>
                    </a:p>
                  </a:txBody>
                  <a:tcPr/>
                </a:tc>
                <a:tc>
                  <a:txBody>
                    <a:bodyPr/>
                    <a:lstStyle/>
                    <a:p>
                      <a:pPr marR="139700" algn="l" latinLnBrk="1">
                        <a:spcAft>
                          <a:spcPts val="0"/>
                        </a:spcAft>
                      </a:pPr>
                      <a:r>
                        <a:rPr lang="ko-KR" sz="1000" kern="100">
                          <a:solidFill>
                            <a:schemeClr val="tx1"/>
                          </a:solidFill>
                          <a:effectLst/>
                          <a:latin typeface="+mn-ea"/>
                          <a:ea typeface="+mn-ea"/>
                        </a:rPr>
                        <a:t>예</a:t>
                      </a:r>
                      <a:r>
                        <a:rPr lang="en-US" sz="1000" kern="100">
                          <a:solidFill>
                            <a:schemeClr val="tx1"/>
                          </a:solidFill>
                          <a:effectLst/>
                          <a:latin typeface="+mn-ea"/>
                          <a:ea typeface="+mn-ea"/>
                        </a:rPr>
                        <a:t>) </a:t>
                      </a:r>
                      <a:r>
                        <a:rPr lang="ko-KR" altLang="en-US" sz="1000" kern="100" smtClean="0">
                          <a:solidFill>
                            <a:schemeClr val="tx1"/>
                          </a:solidFill>
                          <a:effectLst/>
                          <a:latin typeface="+mn-ea"/>
                          <a:ea typeface="+mn-ea"/>
                        </a:rPr>
                        <a:t>기본 </a:t>
                      </a:r>
                      <a:r>
                        <a:rPr lang="en-US" altLang="ko-KR" sz="1000" kern="100" smtClean="0">
                          <a:solidFill>
                            <a:schemeClr val="tx1"/>
                          </a:solidFill>
                          <a:effectLst/>
                          <a:latin typeface="+mn-ea"/>
                          <a:ea typeface="+mn-ea"/>
                        </a:rPr>
                        <a:t>CBC </a:t>
                      </a:r>
                      <a:r>
                        <a:rPr lang="ko-KR" altLang="en-US" sz="1000" kern="100" smtClean="0">
                          <a:solidFill>
                            <a:schemeClr val="tx1"/>
                          </a:solidFill>
                          <a:effectLst/>
                          <a:latin typeface="+mn-ea"/>
                          <a:ea typeface="+mn-ea"/>
                        </a:rPr>
                        <a:t>적용</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l" latinLnBrk="1">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l" latinLnBrk="1">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1403760"/>
                  </a:ext>
                </a:extLst>
              </a:tr>
              <a:tr h="334563">
                <a:tc gridSpan="2">
                  <a:txBody>
                    <a:bodyPr/>
                    <a:lstStyle/>
                    <a:p>
                      <a:pPr algn="ctr" latinLnBrk="0">
                        <a:lnSpc>
                          <a:spcPts val="1200"/>
                        </a:lnSpc>
                        <a:spcAft>
                          <a:spcPts val="0"/>
                        </a:spcAft>
                      </a:pPr>
                      <a:r>
                        <a:rPr lang="ko-KR" sz="1000" kern="100">
                          <a:solidFill>
                            <a:schemeClr val="tx1"/>
                          </a:solidFill>
                          <a:effectLst/>
                          <a:latin typeface="+mn-ea"/>
                          <a:ea typeface="+mn-ea"/>
                        </a:rPr>
                        <a:t>인코딩 타입</a:t>
                      </a:r>
                    </a:p>
                    <a:p>
                      <a:pPr algn="ctr" latinLnBrk="0">
                        <a:lnSpc>
                          <a:spcPts val="1200"/>
                        </a:lnSpc>
                        <a:spcAft>
                          <a:spcPts val="0"/>
                        </a:spcAft>
                      </a:pPr>
                      <a:r>
                        <a:rPr lang="en-US" sz="1000" kern="100">
                          <a:solidFill>
                            <a:schemeClr val="tx1"/>
                          </a:solidFill>
                          <a:effectLst/>
                          <a:latin typeface="+mn-ea"/>
                          <a:ea typeface="+mn-ea"/>
                        </a:rPr>
                        <a:t>(</a:t>
                      </a:r>
                      <a:r>
                        <a:rPr lang="ko-KR" sz="1000" kern="100">
                          <a:solidFill>
                            <a:schemeClr val="tx1"/>
                          </a:solidFill>
                          <a:effectLst/>
                          <a:latin typeface="+mn-ea"/>
                          <a:ea typeface="+mn-ea"/>
                        </a:rPr>
                        <a:t>양방향 암호화시 작성</a:t>
                      </a:r>
                      <a:r>
                        <a:rPr lang="en-US" sz="1000" kern="100">
                          <a:solidFill>
                            <a:schemeClr val="tx1"/>
                          </a:solidFill>
                          <a:effectLst/>
                          <a:latin typeface="+mn-ea"/>
                          <a:ea typeface="+mn-ea"/>
                        </a:rPr>
                        <a:t>)</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latinLnBrk="1"/>
                      <a:endParaRPr lang="ko-KR" altLang="en-US"/>
                    </a:p>
                  </a:txBody>
                  <a:tcPr/>
                </a:tc>
                <a:tc>
                  <a:txBody>
                    <a:bodyPr/>
                    <a:lstStyle/>
                    <a:p>
                      <a:pPr marR="139700" algn="l" latinLnBrk="1">
                        <a:spcAft>
                          <a:spcPts val="0"/>
                        </a:spcAft>
                      </a:pPr>
                      <a:r>
                        <a:rPr lang="ko-KR" sz="1000" kern="100">
                          <a:solidFill>
                            <a:schemeClr val="tx1"/>
                          </a:solidFill>
                          <a:effectLst/>
                          <a:latin typeface="+mn-ea"/>
                          <a:ea typeface="+mn-ea"/>
                        </a:rPr>
                        <a:t>예</a:t>
                      </a:r>
                      <a:r>
                        <a:rPr lang="en-US" sz="1000" kern="100">
                          <a:solidFill>
                            <a:schemeClr val="tx1"/>
                          </a:solidFill>
                          <a:effectLst/>
                          <a:latin typeface="+mn-ea"/>
                          <a:ea typeface="+mn-ea"/>
                        </a:rPr>
                        <a:t>) </a:t>
                      </a:r>
                      <a:r>
                        <a:rPr lang="ko-KR" altLang="en-US" sz="1000" kern="100" smtClean="0">
                          <a:solidFill>
                            <a:schemeClr val="tx1"/>
                          </a:solidFill>
                          <a:effectLst/>
                          <a:latin typeface="+mn-ea"/>
                          <a:ea typeface="+mn-ea"/>
                        </a:rPr>
                        <a:t>기본 </a:t>
                      </a:r>
                      <a:r>
                        <a:rPr lang="en-US" altLang="ko-KR" sz="1000" kern="100" smtClean="0">
                          <a:solidFill>
                            <a:schemeClr val="tx1"/>
                          </a:solidFill>
                          <a:effectLst/>
                          <a:latin typeface="+mn-ea"/>
                          <a:ea typeface="+mn-ea"/>
                        </a:rPr>
                        <a:t>B64</a:t>
                      </a:r>
                      <a:r>
                        <a:rPr lang="en-US" altLang="ko-KR" sz="1000" kern="100" baseline="0" smtClean="0">
                          <a:solidFill>
                            <a:schemeClr val="tx1"/>
                          </a:solidFill>
                          <a:effectLst/>
                          <a:latin typeface="+mn-ea"/>
                          <a:ea typeface="+mn-ea"/>
                        </a:rPr>
                        <a:t> </a:t>
                      </a:r>
                      <a:r>
                        <a:rPr lang="ko-KR" altLang="en-US" sz="1000" kern="100" baseline="0" smtClean="0">
                          <a:solidFill>
                            <a:schemeClr val="tx1"/>
                          </a:solidFill>
                          <a:effectLst/>
                          <a:latin typeface="+mn-ea"/>
                          <a:ea typeface="+mn-ea"/>
                        </a:rPr>
                        <a:t>적용</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l" latinLnBrk="1">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l" latinLnBrk="1">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6519993"/>
                  </a:ext>
                </a:extLst>
              </a:tr>
              <a:tr h="501845">
                <a:tc gridSpan="2">
                  <a:txBody>
                    <a:bodyPr/>
                    <a:lstStyle/>
                    <a:p>
                      <a:pPr algn="ctr" latinLnBrk="0">
                        <a:lnSpc>
                          <a:spcPts val="1200"/>
                        </a:lnSpc>
                        <a:spcAft>
                          <a:spcPts val="0"/>
                        </a:spcAft>
                      </a:pPr>
                      <a:r>
                        <a:rPr lang="ko-KR" sz="1000" kern="100">
                          <a:solidFill>
                            <a:schemeClr val="tx1"/>
                          </a:solidFill>
                          <a:effectLst/>
                          <a:latin typeface="+mn-ea"/>
                          <a:ea typeface="+mn-ea"/>
                        </a:rPr>
                        <a:t>기 타</a:t>
                      </a:r>
                    </a:p>
                    <a:p>
                      <a:pPr algn="ctr" latinLnBrk="0">
                        <a:lnSpc>
                          <a:spcPts val="1200"/>
                        </a:lnSpc>
                        <a:spcAft>
                          <a:spcPts val="0"/>
                        </a:spcAft>
                      </a:pPr>
                      <a:r>
                        <a:rPr lang="en-US" sz="1000" kern="100">
                          <a:solidFill>
                            <a:schemeClr val="tx1"/>
                          </a:solidFill>
                          <a:effectLst/>
                          <a:latin typeface="+mn-ea"/>
                          <a:ea typeface="+mn-ea"/>
                        </a:rPr>
                        <a:t>(</a:t>
                      </a:r>
                      <a:r>
                        <a:rPr lang="ko-KR" sz="1000" kern="100">
                          <a:solidFill>
                            <a:schemeClr val="tx1"/>
                          </a:solidFill>
                          <a:effectLst/>
                          <a:latin typeface="+mn-ea"/>
                          <a:ea typeface="+mn-ea"/>
                        </a:rPr>
                        <a:t>기존 사용키 등록이 필요한 경우</a:t>
                      </a:r>
                    </a:p>
                    <a:p>
                      <a:pPr algn="ctr" latinLnBrk="0">
                        <a:lnSpc>
                          <a:spcPts val="1200"/>
                        </a:lnSpc>
                        <a:spcAft>
                          <a:spcPts val="0"/>
                        </a:spcAft>
                      </a:pPr>
                      <a:r>
                        <a:rPr lang="ko-KR" sz="1000" kern="100">
                          <a:solidFill>
                            <a:schemeClr val="tx1"/>
                          </a:solidFill>
                          <a:effectLst/>
                          <a:latin typeface="+mn-ea"/>
                          <a:ea typeface="+mn-ea"/>
                        </a:rPr>
                        <a:t>기존키</a:t>
                      </a:r>
                      <a:r>
                        <a:rPr lang="en-US" sz="1000" kern="100">
                          <a:solidFill>
                            <a:schemeClr val="tx1"/>
                          </a:solidFill>
                          <a:effectLst/>
                          <a:latin typeface="+mn-ea"/>
                          <a:ea typeface="+mn-ea"/>
                        </a:rPr>
                        <a:t> HEXA </a:t>
                      </a:r>
                      <a:r>
                        <a:rPr lang="ko-KR" sz="1000" kern="100">
                          <a:solidFill>
                            <a:schemeClr val="tx1"/>
                          </a:solidFill>
                          <a:effectLst/>
                          <a:latin typeface="+mn-ea"/>
                          <a:ea typeface="+mn-ea"/>
                        </a:rPr>
                        <a:t>값으로 변경하여 기재</a:t>
                      </a:r>
                      <a:r>
                        <a:rPr lang="en-US" sz="1000" kern="100">
                          <a:solidFill>
                            <a:schemeClr val="tx1"/>
                          </a:solidFill>
                          <a:effectLst/>
                          <a:latin typeface="+mn-ea"/>
                          <a:ea typeface="+mn-ea"/>
                        </a:rPr>
                        <a:t>)</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latinLnBrk="1"/>
                      <a:endParaRPr lang="ko-KR" altLang="en-US"/>
                    </a:p>
                  </a:txBody>
                  <a:tcPr/>
                </a:tc>
                <a:tc>
                  <a:txBody>
                    <a:bodyPr/>
                    <a:lstStyle/>
                    <a:p>
                      <a:pPr marR="139700" algn="l" latinLnBrk="1">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l" latinLnBrk="1">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139700" algn="l" latinLnBrk="1">
                        <a:spcAft>
                          <a:spcPts val="0"/>
                        </a:spcAft>
                      </a:pPr>
                      <a:r>
                        <a:rPr lang="en-US" sz="1000" kern="100">
                          <a:solidFill>
                            <a:schemeClr val="tx1"/>
                          </a:solidFill>
                          <a:effectLst/>
                          <a:latin typeface="+mn-ea"/>
                          <a:ea typeface="+mn-ea"/>
                        </a:rPr>
                        <a:t> </a:t>
                      </a:r>
                      <a:endParaRPr lang="ko-KR" sz="1000" kern="100">
                        <a:solidFill>
                          <a:schemeClr val="tx1"/>
                        </a:solidFill>
                        <a:effectLst/>
                        <a:latin typeface="+mn-ea"/>
                        <a:ea typeface="+mn-ea"/>
                        <a:cs typeface="Times New Roman" panose="02020603050405020304" pitchFamily="18" charset="0"/>
                      </a:endParaRPr>
                    </a:p>
                  </a:txBody>
                  <a:tcPr marL="6712" marR="67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6144504"/>
                  </a:ext>
                </a:extLst>
              </a:tr>
            </a:tbl>
          </a:graphicData>
        </a:graphic>
      </p:graphicFrame>
    </p:spTree>
    <p:extLst>
      <p:ext uri="{BB962C8B-B14F-4D97-AF65-F5344CB8AC3E}">
        <p14:creationId xmlns:p14="http://schemas.microsoft.com/office/powerpoint/2010/main" val="26309479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ko-KR" altLang="en-US" smtClean="0"/>
              <a:t>첨부</a:t>
            </a:r>
            <a:r>
              <a:rPr lang="en-US" altLang="ko-KR" smtClean="0"/>
              <a:t>2. </a:t>
            </a:r>
            <a:r>
              <a:rPr lang="ko-KR" altLang="en-US" smtClean="0"/>
              <a:t>개발자 환경설정</a:t>
            </a:r>
            <a:r>
              <a:rPr lang="en-US" altLang="ko-KR" smtClean="0"/>
              <a:t>(1/9)</a:t>
            </a:r>
            <a:endParaRPr lang="ko-KR" altLang="en-US" dirty="0"/>
          </a:p>
        </p:txBody>
      </p:sp>
      <p:sp>
        <p:nvSpPr>
          <p:cNvPr id="80" name="Rectangle 3"/>
          <p:cNvSpPr>
            <a:spLocks noChangeArrowheads="1"/>
          </p:cNvSpPr>
          <p:nvPr/>
        </p:nvSpPr>
        <p:spPr bwMode="auto">
          <a:xfrm>
            <a:off x="308484" y="764704"/>
            <a:ext cx="9144000" cy="351186"/>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ko-KR" altLang="en-US" sz="1400" b="1" smtClean="0">
                <a:latin typeface="KB금융 본문체 Light" panose="020B0303000000000000" pitchFamily="50" charset="-127"/>
                <a:ea typeface="KB금융 본문체 Light" panose="020B0303000000000000" pitchFamily="50" charset="-127"/>
                <a:cs typeface="ヒラギノ角ゴ ProN W3"/>
              </a:rPr>
              <a:t>구성 절차</a:t>
            </a:r>
            <a:endParaRPr lang="en-US" altLang="ko-KR" sz="1400" b="1"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81" name="Rectangle 3"/>
          <p:cNvSpPr>
            <a:spLocks noChangeArrowheads="1"/>
          </p:cNvSpPr>
          <p:nvPr/>
        </p:nvSpPr>
        <p:spPr bwMode="auto">
          <a:xfrm>
            <a:off x="699993" y="1142438"/>
            <a:ext cx="8753507" cy="332399"/>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ko-KR" altLang="en-US" sz="1200" smtClean="0">
                <a:latin typeface="KB금융 본문체 Light" panose="020B0303000000000000" pitchFamily="50" charset="-127"/>
                <a:ea typeface="KB금융 본문체 Light" panose="020B0303000000000000" pitchFamily="50" charset="-127"/>
                <a:cs typeface="ヒラギノ角ゴ ProN W3"/>
              </a:rPr>
              <a:t>암호화 개발 환경 구성 가이드를 제공한다</a:t>
            </a:r>
            <a:endParaRPr lang="en-US" altLang="ko-KR" sz="1200"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86" name="직사각형 85"/>
          <p:cNvSpPr/>
          <p:nvPr/>
        </p:nvSpPr>
        <p:spPr bwMode="auto">
          <a:xfrm>
            <a:off x="2696630" y="2000165"/>
            <a:ext cx="1008000"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ko-KR" sz="1200" smtClean="0">
                <a:solidFill>
                  <a:srgbClr val="000000"/>
                </a:solidFill>
                <a:latin typeface="+mn-ea"/>
              </a:rPr>
              <a:t>JDK </a:t>
            </a:r>
            <a:r>
              <a:rPr lang="ko-KR" altLang="en-US" sz="1200" smtClean="0">
                <a:solidFill>
                  <a:srgbClr val="000000"/>
                </a:solidFill>
                <a:latin typeface="+mn-ea"/>
              </a:rPr>
              <a:t>및 </a:t>
            </a:r>
            <a:endParaRPr lang="en-US" altLang="ko-KR" sz="1200" smtClean="0">
              <a:solidFill>
                <a:srgbClr val="000000"/>
              </a:solidFill>
              <a:latin typeface="+mn-ea"/>
            </a:endParaRPr>
          </a:p>
          <a:p>
            <a:pPr algn="ctr">
              <a:defRPr/>
            </a:pPr>
            <a:r>
              <a:rPr lang="ko-KR" altLang="en-US" sz="1200" smtClean="0">
                <a:solidFill>
                  <a:srgbClr val="000000"/>
                </a:solidFill>
                <a:latin typeface="+mn-ea"/>
              </a:rPr>
              <a:t>이클립스 </a:t>
            </a:r>
            <a:endParaRPr lang="en-US" altLang="ko-KR" sz="1200" smtClean="0">
              <a:solidFill>
                <a:srgbClr val="000000"/>
              </a:solidFill>
              <a:latin typeface="+mn-ea"/>
            </a:endParaRPr>
          </a:p>
          <a:p>
            <a:pPr algn="ctr">
              <a:defRPr/>
            </a:pPr>
            <a:r>
              <a:rPr lang="ko-KR" altLang="en-US" sz="1200" smtClean="0">
                <a:solidFill>
                  <a:srgbClr val="000000"/>
                </a:solidFill>
                <a:latin typeface="+mn-ea"/>
              </a:rPr>
              <a:t>설치</a:t>
            </a:r>
            <a:endParaRPr lang="ko-KR" altLang="en-US" sz="1200" dirty="0">
              <a:solidFill>
                <a:srgbClr val="000000"/>
              </a:solidFill>
              <a:latin typeface="+mn-ea"/>
            </a:endParaRPr>
          </a:p>
        </p:txBody>
      </p:sp>
      <p:sp>
        <p:nvSpPr>
          <p:cNvPr id="87" name="TextBox 80"/>
          <p:cNvSpPr txBox="1">
            <a:spLocks noChangeArrowheads="1"/>
          </p:cNvSpPr>
          <p:nvPr/>
        </p:nvSpPr>
        <p:spPr bwMode="auto">
          <a:xfrm>
            <a:off x="1592335" y="2180185"/>
            <a:ext cx="105640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헤움네모고딕152" pitchFamily="18" charset="-127"/>
                <a:ea typeface="헤움네모고딕152" pitchFamily="18" charset="-127"/>
              </a:defRPr>
            </a:lvl1pPr>
            <a:lvl2pPr marL="742950" indent="-285750">
              <a:defRPr sz="1300">
                <a:solidFill>
                  <a:schemeClr val="tx1"/>
                </a:solidFill>
                <a:latin typeface="헤움네모고딕152" pitchFamily="18" charset="-127"/>
                <a:ea typeface="헤움네모고딕152" pitchFamily="18" charset="-127"/>
              </a:defRPr>
            </a:lvl2pPr>
            <a:lvl3pPr marL="1143000" indent="-228600">
              <a:defRPr sz="1300">
                <a:solidFill>
                  <a:schemeClr val="tx1"/>
                </a:solidFill>
                <a:latin typeface="헤움네모고딕152" pitchFamily="18" charset="-127"/>
                <a:ea typeface="헤움네모고딕152" pitchFamily="18" charset="-127"/>
              </a:defRPr>
            </a:lvl3pPr>
            <a:lvl4pPr marL="1600200" indent="-228600">
              <a:defRPr sz="1300">
                <a:solidFill>
                  <a:schemeClr val="tx1"/>
                </a:solidFill>
                <a:latin typeface="헤움네모고딕152" pitchFamily="18" charset="-127"/>
                <a:ea typeface="헤움네모고딕152" pitchFamily="18" charset="-127"/>
              </a:defRPr>
            </a:lvl4pPr>
            <a:lvl5pPr marL="2057400" indent="-228600">
              <a:defRPr sz="1300">
                <a:solidFill>
                  <a:schemeClr val="tx1"/>
                </a:solidFill>
                <a:latin typeface="헤움네모고딕152" pitchFamily="18" charset="-127"/>
                <a:ea typeface="헤움네모고딕152" pitchFamily="18" charset="-127"/>
              </a:defRPr>
            </a:lvl5pPr>
            <a:lvl6pPr marL="25146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6pPr>
            <a:lvl7pPr marL="29718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7pPr>
            <a:lvl8pPr marL="34290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8pPr>
            <a:lvl9pPr marL="38862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9pPr>
          </a:lstStyle>
          <a:p>
            <a:pPr eaLnBrk="1" hangingPunct="1"/>
            <a:r>
              <a:rPr kumimoji="1" lang="ko-KR" altLang="en-US" sz="1200" b="1" smtClean="0">
                <a:solidFill>
                  <a:srgbClr val="000000"/>
                </a:solidFill>
                <a:latin typeface="+mn-ea"/>
                <a:ea typeface="+mn-ea"/>
              </a:rPr>
              <a:t>개발자</a:t>
            </a:r>
            <a:endParaRPr kumimoji="1" lang="ko-KR" altLang="en-US" sz="1200" b="1">
              <a:solidFill>
                <a:srgbClr val="000000"/>
              </a:solidFill>
              <a:latin typeface="+mn-ea"/>
              <a:ea typeface="+mn-ea"/>
            </a:endParaRPr>
          </a:p>
        </p:txBody>
      </p:sp>
      <p:sp>
        <p:nvSpPr>
          <p:cNvPr id="89" name="직사각형 88"/>
          <p:cNvSpPr/>
          <p:nvPr/>
        </p:nvSpPr>
        <p:spPr bwMode="auto">
          <a:xfrm>
            <a:off x="2696630" y="4188096"/>
            <a:ext cx="1008000" cy="828000"/>
          </a:xfrm>
          <a:prstGeom prst="rect">
            <a:avLst/>
          </a:prstGeom>
          <a:solidFill>
            <a:srgbClr val="2159B7"/>
          </a:solidFill>
          <a:ln w="6350">
            <a:solidFill>
              <a:srgbClr val="999999"/>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ko-KR" altLang="en-US" sz="1200">
                <a:solidFill>
                  <a:schemeClr val="bg1"/>
                </a:solidFill>
                <a:latin typeface="+mn-ea"/>
                <a:cs typeface="Arial" pitchFamily="34" charset="0"/>
              </a:rPr>
              <a:t>개발자용 </a:t>
            </a:r>
            <a:r>
              <a:rPr lang="ko-KR" altLang="en-US" sz="1200" smtClean="0">
                <a:solidFill>
                  <a:schemeClr val="bg1"/>
                </a:solidFill>
                <a:latin typeface="+mn-ea"/>
                <a:cs typeface="Arial" pitchFamily="34" charset="0"/>
              </a:rPr>
              <a:t>패키지</a:t>
            </a:r>
            <a:endParaRPr lang="en-US" altLang="ko-KR" sz="1200" smtClean="0">
              <a:solidFill>
                <a:schemeClr val="bg1"/>
              </a:solidFill>
              <a:latin typeface="+mn-ea"/>
              <a:cs typeface="Arial" pitchFamily="34" charset="0"/>
            </a:endParaRPr>
          </a:p>
          <a:p>
            <a:pPr algn="ctr"/>
            <a:r>
              <a:rPr lang="en-US" altLang="ko-KR" sz="1200" smtClean="0">
                <a:solidFill>
                  <a:schemeClr val="bg1"/>
                </a:solidFill>
                <a:latin typeface="+mn-ea"/>
                <a:cs typeface="Arial" pitchFamily="34" charset="0"/>
              </a:rPr>
              <a:t>(</a:t>
            </a:r>
            <a:r>
              <a:rPr lang="en-US" altLang="ko-KR" sz="1200">
                <a:solidFill>
                  <a:schemeClr val="bg1"/>
                </a:solidFill>
                <a:latin typeface="+mn-ea"/>
                <a:cs typeface="Arial" pitchFamily="34" charset="0"/>
              </a:rPr>
              <a:t>BASCP.zip) </a:t>
            </a:r>
            <a:endParaRPr lang="en-US" altLang="ko-KR" sz="1200" smtClean="0">
              <a:solidFill>
                <a:schemeClr val="bg1"/>
              </a:solidFill>
              <a:latin typeface="+mn-ea"/>
              <a:cs typeface="Arial" pitchFamily="34" charset="0"/>
            </a:endParaRPr>
          </a:p>
          <a:p>
            <a:pPr algn="ctr"/>
            <a:r>
              <a:rPr lang="ko-KR" altLang="en-US" sz="1200" smtClean="0">
                <a:solidFill>
                  <a:schemeClr val="bg1"/>
                </a:solidFill>
                <a:latin typeface="+mn-ea"/>
                <a:cs typeface="Arial" pitchFamily="34" charset="0"/>
              </a:rPr>
              <a:t>제공</a:t>
            </a:r>
            <a:endParaRPr lang="ko-KR" altLang="en-US" sz="1200" dirty="0">
              <a:solidFill>
                <a:schemeClr val="bg1"/>
              </a:solidFill>
              <a:latin typeface="+mn-ea"/>
              <a:cs typeface="Arial" pitchFamily="34" charset="0"/>
            </a:endParaRPr>
          </a:p>
        </p:txBody>
      </p:sp>
      <p:sp>
        <p:nvSpPr>
          <p:cNvPr id="92" name="직사각형 91"/>
          <p:cNvSpPr/>
          <p:nvPr/>
        </p:nvSpPr>
        <p:spPr bwMode="auto">
          <a:xfrm>
            <a:off x="4016834" y="2000165"/>
            <a:ext cx="1008000" cy="828000"/>
          </a:xfrm>
          <a:prstGeom prst="rect">
            <a:avLst/>
          </a:prstGeom>
          <a:solidFill>
            <a:srgbClr val="DFDFDF"/>
          </a:solidFill>
          <a:ln w="6350">
            <a:solidFill>
              <a:srgbClr val="999999"/>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ko-KR" altLang="en-US" sz="1200" smtClean="0">
                <a:solidFill>
                  <a:srgbClr val="000000"/>
                </a:solidFill>
                <a:latin typeface="+mn-ea"/>
                <a:cs typeface="Arial" pitchFamily="34" charset="0"/>
              </a:rPr>
              <a:t>개발자용</a:t>
            </a:r>
            <a:endParaRPr lang="en-US" altLang="ko-KR" sz="1200" smtClean="0">
              <a:solidFill>
                <a:srgbClr val="000000"/>
              </a:solidFill>
              <a:latin typeface="+mn-ea"/>
              <a:cs typeface="Arial" pitchFamily="34" charset="0"/>
            </a:endParaRPr>
          </a:p>
          <a:p>
            <a:pPr algn="ctr">
              <a:defRPr/>
            </a:pPr>
            <a:r>
              <a:rPr lang="ko-KR" altLang="en-US" sz="1200" smtClean="0">
                <a:solidFill>
                  <a:srgbClr val="000000"/>
                </a:solidFill>
                <a:latin typeface="+mn-ea"/>
                <a:cs typeface="Arial" pitchFamily="34" charset="0"/>
              </a:rPr>
              <a:t>패키지</a:t>
            </a:r>
            <a:endParaRPr lang="en-US" altLang="ko-KR" sz="1200" smtClean="0">
              <a:solidFill>
                <a:srgbClr val="000000"/>
              </a:solidFill>
              <a:latin typeface="+mn-ea"/>
              <a:cs typeface="Arial" pitchFamily="34" charset="0"/>
            </a:endParaRPr>
          </a:p>
          <a:p>
            <a:pPr algn="ctr">
              <a:defRPr/>
            </a:pPr>
            <a:r>
              <a:rPr lang="ko-KR" altLang="en-US" sz="1200" smtClean="0">
                <a:solidFill>
                  <a:srgbClr val="000000"/>
                </a:solidFill>
                <a:latin typeface="+mn-ea"/>
                <a:cs typeface="Arial" pitchFamily="34" charset="0"/>
              </a:rPr>
              <a:t>설치</a:t>
            </a:r>
            <a:endParaRPr lang="ko-KR" altLang="en-US" sz="1200" dirty="0">
              <a:solidFill>
                <a:srgbClr val="000000"/>
              </a:solidFill>
              <a:latin typeface="+mn-ea"/>
              <a:cs typeface="Arial" pitchFamily="34" charset="0"/>
            </a:endParaRPr>
          </a:p>
        </p:txBody>
      </p:sp>
      <p:sp>
        <p:nvSpPr>
          <p:cNvPr id="94" name="직사각형 93"/>
          <p:cNvSpPr/>
          <p:nvPr/>
        </p:nvSpPr>
        <p:spPr bwMode="auto">
          <a:xfrm>
            <a:off x="5337039" y="2000165"/>
            <a:ext cx="1008000" cy="828000"/>
          </a:xfrm>
          <a:prstGeom prst="rect">
            <a:avLst/>
          </a:prstGeom>
          <a:solidFill>
            <a:srgbClr val="DFDFDF"/>
          </a:solidFill>
          <a:ln w="6350">
            <a:solidFill>
              <a:srgbClr val="999999"/>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ko-KR" altLang="en-US" sz="1200" smtClean="0">
                <a:solidFill>
                  <a:srgbClr val="000000"/>
                </a:solidFill>
                <a:latin typeface="+mn-ea"/>
                <a:cs typeface="Arial" pitchFamily="34" charset="0"/>
              </a:rPr>
              <a:t>개발자 </a:t>
            </a:r>
            <a:r>
              <a:rPr lang="en-US" altLang="ko-KR" sz="1200" smtClean="0">
                <a:solidFill>
                  <a:srgbClr val="000000"/>
                </a:solidFill>
                <a:latin typeface="+mn-ea"/>
                <a:cs typeface="Arial" pitchFamily="34" charset="0"/>
              </a:rPr>
              <a:t>PC</a:t>
            </a:r>
          </a:p>
          <a:p>
            <a:pPr algn="ctr">
              <a:defRPr/>
            </a:pPr>
            <a:r>
              <a:rPr lang="ko-KR" altLang="en-US" sz="1200" smtClean="0">
                <a:solidFill>
                  <a:srgbClr val="000000"/>
                </a:solidFill>
                <a:latin typeface="+mn-ea"/>
                <a:cs typeface="Arial" pitchFamily="34" charset="0"/>
              </a:rPr>
              <a:t>환경변수</a:t>
            </a:r>
            <a:endParaRPr lang="en-US" altLang="ko-KR" sz="1200" smtClean="0">
              <a:solidFill>
                <a:srgbClr val="000000"/>
              </a:solidFill>
              <a:latin typeface="+mn-ea"/>
              <a:cs typeface="Arial" pitchFamily="34" charset="0"/>
            </a:endParaRPr>
          </a:p>
          <a:p>
            <a:pPr algn="ctr">
              <a:defRPr/>
            </a:pPr>
            <a:r>
              <a:rPr lang="ko-KR" altLang="en-US" sz="1200" smtClean="0">
                <a:solidFill>
                  <a:srgbClr val="000000"/>
                </a:solidFill>
                <a:latin typeface="+mn-ea"/>
                <a:cs typeface="Arial" pitchFamily="34" charset="0"/>
              </a:rPr>
              <a:t>설정</a:t>
            </a:r>
            <a:endParaRPr lang="ko-KR" altLang="en-US" sz="1200" dirty="0">
              <a:solidFill>
                <a:srgbClr val="000000"/>
              </a:solidFill>
              <a:latin typeface="+mn-ea"/>
              <a:cs typeface="Arial" pitchFamily="34" charset="0"/>
            </a:endParaRPr>
          </a:p>
        </p:txBody>
      </p:sp>
      <p:sp>
        <p:nvSpPr>
          <p:cNvPr id="96" name="직사각형 95"/>
          <p:cNvSpPr/>
          <p:nvPr/>
        </p:nvSpPr>
        <p:spPr bwMode="auto">
          <a:xfrm>
            <a:off x="6657244" y="2000165"/>
            <a:ext cx="1008000" cy="828000"/>
          </a:xfrm>
          <a:prstGeom prst="rect">
            <a:avLst/>
          </a:prstGeom>
          <a:solidFill>
            <a:srgbClr val="DFDFDF"/>
          </a:solidFill>
          <a:ln w="6350">
            <a:solidFill>
              <a:srgbClr val="999999"/>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ko-KR" altLang="en-US" sz="1200" smtClean="0">
                <a:solidFill>
                  <a:srgbClr val="000000"/>
                </a:solidFill>
                <a:latin typeface="+mn-ea"/>
                <a:cs typeface="Arial" pitchFamily="34" charset="0"/>
              </a:rPr>
              <a:t>개발자용</a:t>
            </a:r>
            <a:endParaRPr lang="en-US" altLang="ko-KR" sz="1200" smtClean="0">
              <a:solidFill>
                <a:srgbClr val="000000"/>
              </a:solidFill>
              <a:latin typeface="+mn-ea"/>
              <a:cs typeface="Arial" pitchFamily="34" charset="0"/>
            </a:endParaRPr>
          </a:p>
          <a:p>
            <a:pPr algn="ctr">
              <a:defRPr/>
            </a:pPr>
            <a:r>
              <a:rPr lang="ko-KR" altLang="en-US" sz="1200" smtClean="0">
                <a:solidFill>
                  <a:srgbClr val="000000"/>
                </a:solidFill>
                <a:latin typeface="+mn-ea"/>
                <a:cs typeface="Arial" pitchFamily="34" charset="0"/>
              </a:rPr>
              <a:t>패키지</a:t>
            </a:r>
            <a:endParaRPr lang="en-US" altLang="ko-KR" sz="1200" smtClean="0">
              <a:solidFill>
                <a:srgbClr val="000000"/>
              </a:solidFill>
              <a:latin typeface="+mn-ea"/>
              <a:cs typeface="Arial" pitchFamily="34" charset="0"/>
            </a:endParaRPr>
          </a:p>
          <a:p>
            <a:pPr algn="ctr">
              <a:defRPr/>
            </a:pPr>
            <a:r>
              <a:rPr lang="ko-KR" altLang="en-US" sz="1200" smtClean="0">
                <a:solidFill>
                  <a:srgbClr val="000000"/>
                </a:solidFill>
                <a:latin typeface="+mn-ea"/>
                <a:cs typeface="Arial" pitchFamily="34" charset="0"/>
              </a:rPr>
              <a:t>테스트</a:t>
            </a:r>
            <a:endParaRPr lang="en-US" altLang="ko-KR" sz="1200" smtClean="0">
              <a:solidFill>
                <a:srgbClr val="000000"/>
              </a:solidFill>
              <a:latin typeface="+mn-ea"/>
              <a:cs typeface="Arial" pitchFamily="34" charset="0"/>
            </a:endParaRPr>
          </a:p>
        </p:txBody>
      </p:sp>
      <p:sp>
        <p:nvSpPr>
          <p:cNvPr id="97" name="직사각형 96"/>
          <p:cNvSpPr/>
          <p:nvPr/>
        </p:nvSpPr>
        <p:spPr bwMode="auto">
          <a:xfrm>
            <a:off x="7977448" y="4188096"/>
            <a:ext cx="1008000" cy="828000"/>
          </a:xfrm>
          <a:prstGeom prst="rect">
            <a:avLst/>
          </a:prstGeom>
          <a:solidFill>
            <a:srgbClr val="2159B7"/>
          </a:solidFill>
          <a:ln w="6350">
            <a:solidFill>
              <a:srgbClr val="999999"/>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en-US" altLang="ko-KR" sz="1200" smtClean="0">
                <a:solidFill>
                  <a:schemeClr val="bg1"/>
                </a:solidFill>
                <a:latin typeface="+mn-ea"/>
                <a:cs typeface="Arial" pitchFamily="34" charset="0"/>
              </a:rPr>
              <a:t>KMS</a:t>
            </a:r>
          </a:p>
          <a:p>
            <a:pPr algn="ctr">
              <a:defRPr/>
            </a:pPr>
            <a:r>
              <a:rPr lang="ko-KR" altLang="en-US" sz="1200" smtClean="0">
                <a:solidFill>
                  <a:schemeClr val="bg1"/>
                </a:solidFill>
                <a:latin typeface="+mn-ea"/>
                <a:cs typeface="Arial" pitchFamily="34" charset="0"/>
              </a:rPr>
              <a:t>접속 로그</a:t>
            </a:r>
            <a:endParaRPr lang="en-US" altLang="ko-KR" sz="1200" smtClean="0">
              <a:solidFill>
                <a:schemeClr val="bg1"/>
              </a:solidFill>
              <a:latin typeface="+mn-ea"/>
              <a:cs typeface="Arial" pitchFamily="34" charset="0"/>
            </a:endParaRPr>
          </a:p>
          <a:p>
            <a:pPr algn="ctr">
              <a:defRPr/>
            </a:pPr>
            <a:r>
              <a:rPr lang="ko-KR" altLang="en-US" sz="1200" smtClean="0">
                <a:solidFill>
                  <a:schemeClr val="bg1"/>
                </a:solidFill>
                <a:latin typeface="+mn-ea"/>
                <a:cs typeface="Arial" pitchFamily="34" charset="0"/>
              </a:rPr>
              <a:t>확인</a:t>
            </a:r>
            <a:endParaRPr lang="en-US" altLang="ko-KR" sz="1200" dirty="0">
              <a:solidFill>
                <a:schemeClr val="bg1"/>
              </a:solidFill>
              <a:latin typeface="+mn-ea"/>
              <a:cs typeface="Arial" pitchFamily="34" charset="0"/>
            </a:endParaRPr>
          </a:p>
        </p:txBody>
      </p:sp>
      <p:sp>
        <p:nvSpPr>
          <p:cNvPr id="98" name="TextBox 82"/>
          <p:cNvSpPr txBox="1">
            <a:spLocks noChangeArrowheads="1"/>
          </p:cNvSpPr>
          <p:nvPr/>
        </p:nvSpPr>
        <p:spPr bwMode="auto">
          <a:xfrm>
            <a:off x="1592335" y="4415153"/>
            <a:ext cx="862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헤움네모고딕152" pitchFamily="18" charset="-127"/>
                <a:ea typeface="헤움네모고딕152" pitchFamily="18" charset="-127"/>
              </a:defRPr>
            </a:lvl1pPr>
            <a:lvl2pPr marL="742950" indent="-285750">
              <a:defRPr sz="1300">
                <a:solidFill>
                  <a:schemeClr val="tx1"/>
                </a:solidFill>
                <a:latin typeface="헤움네모고딕152" pitchFamily="18" charset="-127"/>
                <a:ea typeface="헤움네모고딕152" pitchFamily="18" charset="-127"/>
              </a:defRPr>
            </a:lvl2pPr>
            <a:lvl3pPr marL="1143000" indent="-228600">
              <a:defRPr sz="1300">
                <a:solidFill>
                  <a:schemeClr val="tx1"/>
                </a:solidFill>
                <a:latin typeface="헤움네모고딕152" pitchFamily="18" charset="-127"/>
                <a:ea typeface="헤움네모고딕152" pitchFamily="18" charset="-127"/>
              </a:defRPr>
            </a:lvl3pPr>
            <a:lvl4pPr marL="1600200" indent="-228600">
              <a:defRPr sz="1300">
                <a:solidFill>
                  <a:schemeClr val="tx1"/>
                </a:solidFill>
                <a:latin typeface="헤움네모고딕152" pitchFamily="18" charset="-127"/>
                <a:ea typeface="헤움네모고딕152" pitchFamily="18" charset="-127"/>
              </a:defRPr>
            </a:lvl4pPr>
            <a:lvl5pPr marL="2057400" indent="-228600">
              <a:defRPr sz="1300">
                <a:solidFill>
                  <a:schemeClr val="tx1"/>
                </a:solidFill>
                <a:latin typeface="헤움네모고딕152" pitchFamily="18" charset="-127"/>
                <a:ea typeface="헤움네모고딕152" pitchFamily="18" charset="-127"/>
              </a:defRPr>
            </a:lvl5pPr>
            <a:lvl6pPr marL="25146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6pPr>
            <a:lvl7pPr marL="29718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7pPr>
            <a:lvl8pPr marL="34290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8pPr>
            <a:lvl9pPr marL="38862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9pPr>
          </a:lstStyle>
          <a:p>
            <a:pPr eaLnBrk="1" hangingPunct="1"/>
            <a:r>
              <a:rPr kumimoji="1" lang="ko-KR" altLang="en-US" sz="1200" b="1" smtClean="0">
                <a:solidFill>
                  <a:srgbClr val="000000"/>
                </a:solidFill>
                <a:latin typeface="+mn-ea"/>
                <a:ea typeface="+mn-ea"/>
              </a:rPr>
              <a:t>정보보호부</a:t>
            </a:r>
            <a:endParaRPr kumimoji="1" lang="ko-KR" altLang="en-US" sz="1200" b="1">
              <a:solidFill>
                <a:srgbClr val="000000"/>
              </a:solidFill>
              <a:latin typeface="+mn-ea"/>
              <a:ea typeface="+mn-ea"/>
            </a:endParaRPr>
          </a:p>
        </p:txBody>
      </p:sp>
      <p:sp>
        <p:nvSpPr>
          <p:cNvPr id="99" name="직사각형 98"/>
          <p:cNvSpPr/>
          <p:nvPr/>
        </p:nvSpPr>
        <p:spPr bwMode="auto">
          <a:xfrm>
            <a:off x="7977448" y="2000165"/>
            <a:ext cx="1008000" cy="828000"/>
          </a:xfrm>
          <a:prstGeom prst="rect">
            <a:avLst/>
          </a:prstGeom>
          <a:solidFill>
            <a:srgbClr val="DFDFDF"/>
          </a:solidFill>
          <a:ln w="6350">
            <a:solidFill>
              <a:srgbClr val="999999"/>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ko-KR" altLang="en-US" sz="1200" smtClean="0">
                <a:solidFill>
                  <a:srgbClr val="000000"/>
                </a:solidFill>
                <a:latin typeface="+mn-ea"/>
                <a:cs typeface="Arial" pitchFamily="34" charset="0"/>
              </a:rPr>
              <a:t>이클립스</a:t>
            </a:r>
            <a:endParaRPr lang="en-US" altLang="ko-KR" sz="1200" smtClean="0">
              <a:solidFill>
                <a:srgbClr val="000000"/>
              </a:solidFill>
              <a:latin typeface="+mn-ea"/>
              <a:cs typeface="Arial" pitchFamily="34" charset="0"/>
            </a:endParaRPr>
          </a:p>
          <a:p>
            <a:pPr algn="ctr">
              <a:defRPr/>
            </a:pPr>
            <a:r>
              <a:rPr lang="ko-KR" altLang="en-US" sz="1200" smtClean="0">
                <a:solidFill>
                  <a:srgbClr val="000000"/>
                </a:solidFill>
                <a:latin typeface="+mn-ea"/>
                <a:cs typeface="Arial" pitchFamily="34" charset="0"/>
              </a:rPr>
              <a:t>설정 및</a:t>
            </a:r>
            <a:endParaRPr lang="en-US" altLang="ko-KR" sz="1200" smtClean="0">
              <a:solidFill>
                <a:srgbClr val="000000"/>
              </a:solidFill>
              <a:latin typeface="+mn-ea"/>
              <a:cs typeface="Arial" pitchFamily="34" charset="0"/>
            </a:endParaRPr>
          </a:p>
          <a:p>
            <a:pPr algn="ctr">
              <a:defRPr/>
            </a:pPr>
            <a:r>
              <a:rPr lang="ko-KR" altLang="en-US" sz="1200" smtClean="0">
                <a:solidFill>
                  <a:srgbClr val="000000"/>
                </a:solidFill>
                <a:latin typeface="+mn-ea"/>
                <a:cs typeface="Arial" pitchFamily="34" charset="0"/>
              </a:rPr>
              <a:t>테스트</a:t>
            </a:r>
            <a:endParaRPr lang="ko-KR" altLang="en-US" sz="1200" dirty="0">
              <a:solidFill>
                <a:srgbClr val="000000"/>
              </a:solidFill>
              <a:latin typeface="+mn-ea"/>
              <a:cs typeface="Arial" pitchFamily="34" charset="0"/>
            </a:endParaRPr>
          </a:p>
        </p:txBody>
      </p:sp>
      <p:cxnSp>
        <p:nvCxnSpPr>
          <p:cNvPr id="100" name="직선 화살표 연결선 99"/>
          <p:cNvCxnSpPr>
            <a:stCxn id="86" idx="2"/>
            <a:endCxn id="110" idx="0"/>
          </p:cNvCxnSpPr>
          <p:nvPr/>
        </p:nvCxnSpPr>
        <p:spPr bwMode="auto">
          <a:xfrm>
            <a:off x="3200630" y="2828165"/>
            <a:ext cx="0" cy="224429"/>
          </a:xfrm>
          <a:prstGeom prst="straightConnector1">
            <a:avLst/>
          </a:prstGeom>
          <a:ln w="19050">
            <a:solidFill>
              <a:srgbClr val="626262"/>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bwMode="auto">
          <a:xfrm>
            <a:off x="1379606" y="4013491"/>
            <a:ext cx="7749858" cy="0"/>
          </a:xfrm>
          <a:prstGeom prst="line">
            <a:avLst/>
          </a:prstGeom>
          <a:ln w="19050">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 name="꺾인 연결선 8"/>
          <p:cNvCxnSpPr>
            <a:stCxn id="89" idx="3"/>
            <a:endCxn id="92" idx="1"/>
          </p:cNvCxnSpPr>
          <p:nvPr/>
        </p:nvCxnSpPr>
        <p:spPr>
          <a:xfrm flipV="1">
            <a:off x="3704630" y="2414165"/>
            <a:ext cx="312204" cy="2448272"/>
          </a:xfrm>
          <a:prstGeom prst="bentConnector3">
            <a:avLst/>
          </a:prstGeom>
          <a:ln w="19050">
            <a:solidFill>
              <a:srgbClr val="626262"/>
            </a:solidFill>
            <a:tailEnd type="triangle"/>
          </a:ln>
        </p:spPr>
        <p:style>
          <a:lnRef idx="1">
            <a:schemeClr val="accent1"/>
          </a:lnRef>
          <a:fillRef idx="0">
            <a:schemeClr val="accent1"/>
          </a:fillRef>
          <a:effectRef idx="0">
            <a:schemeClr val="accent1"/>
          </a:effectRef>
          <a:fontRef idx="minor">
            <a:schemeClr val="tx1"/>
          </a:fontRef>
        </p:style>
      </p:cxnSp>
      <p:sp>
        <p:nvSpPr>
          <p:cNvPr id="110" name="직사각형 109"/>
          <p:cNvSpPr/>
          <p:nvPr/>
        </p:nvSpPr>
        <p:spPr bwMode="auto">
          <a:xfrm>
            <a:off x="2696630" y="3052594"/>
            <a:ext cx="1008000"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ko-KR" altLang="en-US" sz="1200">
                <a:solidFill>
                  <a:srgbClr val="000000"/>
                </a:solidFill>
                <a:latin typeface="+mn-ea"/>
              </a:rPr>
              <a:t>개발자용</a:t>
            </a:r>
            <a:endParaRPr lang="en-US" altLang="ko-KR" sz="1200">
              <a:solidFill>
                <a:srgbClr val="000000"/>
              </a:solidFill>
              <a:latin typeface="+mn-ea"/>
            </a:endParaRPr>
          </a:p>
          <a:p>
            <a:pPr algn="ctr"/>
            <a:r>
              <a:rPr lang="ko-KR" altLang="en-US" sz="1200">
                <a:solidFill>
                  <a:srgbClr val="000000"/>
                </a:solidFill>
                <a:latin typeface="+mn-ea"/>
              </a:rPr>
              <a:t>패키지</a:t>
            </a:r>
            <a:endParaRPr lang="en-US" altLang="ko-KR" sz="1200">
              <a:solidFill>
                <a:srgbClr val="000000"/>
              </a:solidFill>
              <a:latin typeface="+mn-ea"/>
            </a:endParaRPr>
          </a:p>
          <a:p>
            <a:pPr algn="ctr"/>
            <a:r>
              <a:rPr lang="ko-KR" altLang="en-US" sz="1200">
                <a:solidFill>
                  <a:srgbClr val="000000"/>
                </a:solidFill>
                <a:latin typeface="+mn-ea"/>
              </a:rPr>
              <a:t>요청</a:t>
            </a:r>
            <a:endParaRPr lang="ko-KR" altLang="en-US" sz="1200" dirty="0">
              <a:solidFill>
                <a:srgbClr val="000000"/>
              </a:solidFill>
              <a:latin typeface="+mn-ea"/>
            </a:endParaRPr>
          </a:p>
        </p:txBody>
      </p:sp>
      <p:cxnSp>
        <p:nvCxnSpPr>
          <p:cNvPr id="113" name="직선 화살표 연결선 112"/>
          <p:cNvCxnSpPr>
            <a:stCxn id="110" idx="2"/>
            <a:endCxn id="89" idx="0"/>
          </p:cNvCxnSpPr>
          <p:nvPr/>
        </p:nvCxnSpPr>
        <p:spPr bwMode="auto">
          <a:xfrm>
            <a:off x="3200630" y="3880594"/>
            <a:ext cx="0" cy="307502"/>
          </a:xfrm>
          <a:prstGeom prst="straightConnector1">
            <a:avLst/>
          </a:prstGeom>
          <a:ln w="19050">
            <a:solidFill>
              <a:srgbClr val="626262"/>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직선 화살표 연결선 120"/>
          <p:cNvCxnSpPr>
            <a:stCxn id="92" idx="3"/>
            <a:endCxn id="94" idx="1"/>
          </p:cNvCxnSpPr>
          <p:nvPr/>
        </p:nvCxnSpPr>
        <p:spPr bwMode="auto">
          <a:xfrm>
            <a:off x="5024834" y="2414165"/>
            <a:ext cx="312205" cy="0"/>
          </a:xfrm>
          <a:prstGeom prst="straightConnector1">
            <a:avLst/>
          </a:prstGeom>
          <a:ln w="19050">
            <a:solidFill>
              <a:srgbClr val="626262"/>
            </a:solidFill>
            <a:tailEnd type="triangle"/>
          </a:ln>
        </p:spPr>
        <p:style>
          <a:lnRef idx="1">
            <a:schemeClr val="accent1"/>
          </a:lnRef>
          <a:fillRef idx="0">
            <a:schemeClr val="accent1"/>
          </a:fillRef>
          <a:effectRef idx="0">
            <a:schemeClr val="accent1"/>
          </a:effectRef>
          <a:fontRef idx="minor">
            <a:schemeClr val="tx1"/>
          </a:fontRef>
        </p:style>
      </p:cxnSp>
      <p:sp>
        <p:nvSpPr>
          <p:cNvPr id="122" name="TextBox 121"/>
          <p:cNvSpPr txBox="1"/>
          <p:nvPr/>
        </p:nvSpPr>
        <p:spPr>
          <a:xfrm>
            <a:off x="1712640" y="5129615"/>
            <a:ext cx="6784225" cy="276999"/>
          </a:xfrm>
          <a:prstGeom prst="rect">
            <a:avLst/>
          </a:prstGeom>
          <a:noFill/>
          <a:ln w="6350" cap="flat">
            <a:noFill/>
            <a:miter lim="800000"/>
          </a:ln>
        </p:spPr>
        <p:txBody>
          <a:bodyPr wrap="square" lIns="0" tIns="0" rIns="0" bIns="0" rtlCol="0" anchor="t" anchorCtr="0">
            <a:spAutoFit/>
          </a:bodyPr>
          <a:lstStyle/>
          <a:p>
            <a:pPr>
              <a:lnSpc>
                <a:spcPct val="150000"/>
              </a:lnSpc>
            </a:pPr>
            <a:r>
              <a:rPr lang="ko-KR" altLang="en-US" sz="1200" smtClean="0">
                <a:latin typeface="KB금융 본문체 Medium" panose="020B0603000000000000" pitchFamily="50" charset="-127"/>
                <a:ea typeface="KB금융 본문체 Medium" panose="020B0603000000000000" pitchFamily="50" charset="-127"/>
                <a:cs typeface="Arial" pitchFamily="34" charset="0"/>
              </a:rPr>
              <a:t>④ 제공 </a:t>
            </a:r>
            <a:r>
              <a:rPr lang="ko-KR" altLang="en-US" sz="1200" dirty="0" smtClean="0">
                <a:latin typeface="KB금융 본문체 Medium" panose="020B0603000000000000" pitchFamily="50" charset="-127"/>
                <a:ea typeface="KB금융 본문체 Medium" panose="020B0603000000000000" pitchFamily="50" charset="-127"/>
                <a:cs typeface="Arial" pitchFamily="34" charset="0"/>
              </a:rPr>
              <a:t>된 </a:t>
            </a:r>
            <a:r>
              <a:rPr lang="en-US" altLang="ko-KR" sz="1200" dirty="0" smtClean="0">
                <a:latin typeface="KB금융 본문체 Medium" panose="020B0603000000000000" pitchFamily="50" charset="-127"/>
                <a:ea typeface="KB금융 본문체 Medium" panose="020B0603000000000000" pitchFamily="50" charset="-127"/>
                <a:cs typeface="Arial" pitchFamily="34" charset="0"/>
              </a:rPr>
              <a:t>BASCP.zip </a:t>
            </a:r>
            <a:r>
              <a:rPr lang="ko-KR" altLang="en-US" sz="1200" dirty="0" smtClean="0">
                <a:latin typeface="KB금융 본문체 Medium" panose="020B0603000000000000" pitchFamily="50" charset="-127"/>
                <a:ea typeface="KB금융 본문체 Medium" panose="020B0603000000000000" pitchFamily="50" charset="-127"/>
                <a:cs typeface="Arial" pitchFamily="34" charset="0"/>
              </a:rPr>
              <a:t>파일 압축 해제 하여 「</a:t>
            </a:r>
            <a:r>
              <a:rPr lang="en-US" altLang="ko-KR" sz="1200" dirty="0" smtClean="0">
                <a:latin typeface="KB금융 본문체 Medium" panose="020B0603000000000000" pitchFamily="50" charset="-127"/>
                <a:ea typeface="KB금융 본문체 Medium" panose="020B0603000000000000" pitchFamily="50" charset="-127"/>
                <a:cs typeface="Arial" pitchFamily="34" charset="0"/>
              </a:rPr>
              <a:t>C:\BASCP</a:t>
            </a:r>
            <a:r>
              <a:rPr lang="ko-KR" altLang="en-US" sz="1200" dirty="0" smtClean="0">
                <a:latin typeface="KB금융 본문체 Medium" panose="020B0603000000000000" pitchFamily="50" charset="-127"/>
                <a:ea typeface="KB금융 본문체 Medium" panose="020B0603000000000000" pitchFamily="50" charset="-127"/>
                <a:cs typeface="Arial" pitchFamily="34" charset="0"/>
              </a:rPr>
              <a:t>」 경로에 복사 </a:t>
            </a:r>
            <a:r>
              <a:rPr lang="en-US" altLang="ko-KR" sz="1200" dirty="0" smtClean="0">
                <a:latin typeface="KB금융 본문체 Medium" panose="020B0603000000000000" pitchFamily="50" charset="-127"/>
                <a:ea typeface="KB금융 본문체 Medium" panose="020B0603000000000000" pitchFamily="50" charset="-127"/>
                <a:cs typeface="Arial" pitchFamily="34" charset="0"/>
              </a:rPr>
              <a:t>(</a:t>
            </a:r>
            <a:r>
              <a:rPr lang="ko-KR" altLang="en-US" sz="1200" dirty="0" smtClean="0">
                <a:latin typeface="KB금융 본문체 Medium" panose="020B0603000000000000" pitchFamily="50" charset="-127"/>
                <a:ea typeface="KB금융 본문체 Medium" panose="020B0603000000000000" pitchFamily="50" charset="-127"/>
                <a:cs typeface="Arial" pitchFamily="34" charset="0"/>
              </a:rPr>
              <a:t>경로 반드시 준수</a:t>
            </a:r>
            <a:r>
              <a:rPr lang="en-US" altLang="ko-KR" sz="1200" dirty="0" smtClean="0">
                <a:latin typeface="KB금융 본문체 Medium" panose="020B0603000000000000" pitchFamily="50" charset="-127"/>
                <a:ea typeface="KB금융 본문체 Medium" panose="020B0603000000000000" pitchFamily="50" charset="-127"/>
                <a:cs typeface="Arial" pitchFamily="34" charset="0"/>
              </a:rPr>
              <a:t>)</a:t>
            </a:r>
            <a:endParaRPr lang="ko-KR" altLang="en-US" sz="1200" dirty="0">
              <a:latin typeface="KB금융 본문체 Medium" panose="020B0603000000000000" pitchFamily="50" charset="-127"/>
              <a:ea typeface="KB금융 본문체 Medium" panose="020B0603000000000000" pitchFamily="50" charset="-127"/>
              <a:cs typeface="Arial" pitchFamily="34" charset="0"/>
            </a:endParaRPr>
          </a:p>
        </p:txBody>
      </p:sp>
      <p:sp>
        <p:nvSpPr>
          <p:cNvPr id="123" name="TextBox 122"/>
          <p:cNvSpPr txBox="1"/>
          <p:nvPr/>
        </p:nvSpPr>
        <p:spPr>
          <a:xfrm>
            <a:off x="2489332" y="2000165"/>
            <a:ext cx="196268" cy="218900"/>
          </a:xfrm>
          <a:prstGeom prst="rect">
            <a:avLst/>
          </a:prstGeom>
          <a:noFill/>
          <a:ln w="6350" cap="flat">
            <a:noFill/>
            <a:miter lim="800000"/>
          </a:ln>
        </p:spPr>
        <p:txBody>
          <a:bodyPr wrap="none" lIns="72000" tIns="36000" rIns="72000" bIns="36000" rtlCol="0" anchor="t" anchorCtr="0">
            <a:noAutofit/>
          </a:bodyPr>
          <a:lstStyle/>
          <a:p>
            <a:pPr algn="ctr">
              <a:lnSpc>
                <a:spcPct val="90000"/>
              </a:lnSpc>
            </a:pPr>
            <a:r>
              <a:rPr lang="ko-KR" altLang="en-US" sz="1200" smtClean="0">
                <a:solidFill>
                  <a:srgbClr val="FF0000"/>
                </a:solidFill>
                <a:cs typeface="Arial" pitchFamily="34" charset="0"/>
              </a:rPr>
              <a:t>①</a:t>
            </a:r>
          </a:p>
        </p:txBody>
      </p:sp>
      <p:sp>
        <p:nvSpPr>
          <p:cNvPr id="124" name="TextBox 123"/>
          <p:cNvSpPr txBox="1"/>
          <p:nvPr/>
        </p:nvSpPr>
        <p:spPr>
          <a:xfrm>
            <a:off x="2478254" y="3052594"/>
            <a:ext cx="190614" cy="218900"/>
          </a:xfrm>
          <a:prstGeom prst="rect">
            <a:avLst/>
          </a:prstGeom>
          <a:noFill/>
          <a:ln w="6350" cap="flat">
            <a:noFill/>
            <a:miter lim="800000"/>
          </a:ln>
        </p:spPr>
        <p:txBody>
          <a:bodyPr wrap="none" lIns="72000" tIns="36000" rIns="72000" bIns="36000" rtlCol="0" anchor="t" anchorCtr="0">
            <a:noAutofit/>
          </a:bodyPr>
          <a:lstStyle/>
          <a:p>
            <a:pPr algn="ctr">
              <a:lnSpc>
                <a:spcPct val="90000"/>
              </a:lnSpc>
            </a:pPr>
            <a:r>
              <a:rPr lang="ko-KR" altLang="en-US" sz="1200" smtClean="0">
                <a:solidFill>
                  <a:srgbClr val="FF0000"/>
                </a:solidFill>
                <a:cs typeface="Arial" pitchFamily="34" charset="0"/>
              </a:rPr>
              <a:t>②</a:t>
            </a:r>
          </a:p>
        </p:txBody>
      </p:sp>
      <p:sp>
        <p:nvSpPr>
          <p:cNvPr id="125" name="TextBox 124"/>
          <p:cNvSpPr txBox="1"/>
          <p:nvPr/>
        </p:nvSpPr>
        <p:spPr>
          <a:xfrm>
            <a:off x="2478255" y="4188096"/>
            <a:ext cx="190613" cy="218900"/>
          </a:xfrm>
          <a:prstGeom prst="rect">
            <a:avLst/>
          </a:prstGeom>
          <a:noFill/>
          <a:ln w="6350" cap="flat">
            <a:noFill/>
            <a:miter lim="800000"/>
          </a:ln>
        </p:spPr>
        <p:txBody>
          <a:bodyPr wrap="none" lIns="72000" tIns="36000" rIns="72000" bIns="36000" rtlCol="0" anchor="t" anchorCtr="0">
            <a:noAutofit/>
          </a:bodyPr>
          <a:lstStyle/>
          <a:p>
            <a:pPr algn="ctr">
              <a:lnSpc>
                <a:spcPct val="90000"/>
              </a:lnSpc>
            </a:pPr>
            <a:r>
              <a:rPr lang="ko-KR" altLang="en-US" sz="1200" smtClean="0">
                <a:solidFill>
                  <a:srgbClr val="FF0000"/>
                </a:solidFill>
                <a:cs typeface="Arial" pitchFamily="34" charset="0"/>
              </a:rPr>
              <a:t>③</a:t>
            </a:r>
          </a:p>
        </p:txBody>
      </p:sp>
      <p:sp>
        <p:nvSpPr>
          <p:cNvPr id="126" name="TextBox 125"/>
          <p:cNvSpPr txBox="1"/>
          <p:nvPr/>
        </p:nvSpPr>
        <p:spPr>
          <a:xfrm>
            <a:off x="7762662" y="2000165"/>
            <a:ext cx="190613" cy="218900"/>
          </a:xfrm>
          <a:prstGeom prst="rect">
            <a:avLst/>
          </a:prstGeom>
          <a:noFill/>
          <a:ln w="6350" cap="flat">
            <a:noFill/>
            <a:miter lim="800000"/>
          </a:ln>
        </p:spPr>
        <p:txBody>
          <a:bodyPr wrap="none" lIns="72000" tIns="36000" rIns="72000" bIns="36000" rtlCol="0" anchor="t" anchorCtr="0">
            <a:noAutofit/>
          </a:bodyPr>
          <a:lstStyle/>
          <a:p>
            <a:pPr algn="ctr">
              <a:lnSpc>
                <a:spcPct val="90000"/>
              </a:lnSpc>
            </a:pPr>
            <a:r>
              <a:rPr lang="ko-KR" altLang="en-US" sz="1200" smtClean="0">
                <a:solidFill>
                  <a:srgbClr val="FF0000"/>
                </a:solidFill>
                <a:cs typeface="Arial" pitchFamily="34" charset="0"/>
              </a:rPr>
              <a:t>⑦</a:t>
            </a:r>
          </a:p>
        </p:txBody>
      </p:sp>
      <p:sp>
        <p:nvSpPr>
          <p:cNvPr id="127" name="TextBox 126"/>
          <p:cNvSpPr txBox="1"/>
          <p:nvPr/>
        </p:nvSpPr>
        <p:spPr>
          <a:xfrm>
            <a:off x="5102255" y="2000165"/>
            <a:ext cx="190613" cy="218900"/>
          </a:xfrm>
          <a:prstGeom prst="rect">
            <a:avLst/>
          </a:prstGeom>
          <a:noFill/>
          <a:ln w="6350" cap="flat">
            <a:noFill/>
            <a:miter lim="800000"/>
          </a:ln>
        </p:spPr>
        <p:txBody>
          <a:bodyPr wrap="none" lIns="72000" tIns="36000" rIns="72000" bIns="36000" rtlCol="0" anchor="t" anchorCtr="0">
            <a:noAutofit/>
          </a:bodyPr>
          <a:lstStyle/>
          <a:p>
            <a:pPr algn="ctr">
              <a:lnSpc>
                <a:spcPct val="90000"/>
              </a:lnSpc>
            </a:pPr>
            <a:r>
              <a:rPr lang="ko-KR" altLang="en-US" sz="1200" smtClean="0">
                <a:solidFill>
                  <a:srgbClr val="FF0000"/>
                </a:solidFill>
                <a:cs typeface="Arial" pitchFamily="34" charset="0"/>
              </a:rPr>
              <a:t>⑤</a:t>
            </a:r>
          </a:p>
        </p:txBody>
      </p:sp>
      <p:sp>
        <p:nvSpPr>
          <p:cNvPr id="128" name="TextBox 127"/>
          <p:cNvSpPr txBox="1"/>
          <p:nvPr/>
        </p:nvSpPr>
        <p:spPr>
          <a:xfrm>
            <a:off x="3794699" y="2000165"/>
            <a:ext cx="190613" cy="218900"/>
          </a:xfrm>
          <a:prstGeom prst="rect">
            <a:avLst/>
          </a:prstGeom>
          <a:noFill/>
          <a:ln w="6350" cap="flat">
            <a:noFill/>
            <a:miter lim="800000"/>
          </a:ln>
        </p:spPr>
        <p:txBody>
          <a:bodyPr wrap="none" lIns="72000" tIns="36000" rIns="72000" bIns="36000" rtlCol="0" anchor="t" anchorCtr="0">
            <a:noAutofit/>
          </a:bodyPr>
          <a:lstStyle/>
          <a:p>
            <a:pPr algn="ctr">
              <a:lnSpc>
                <a:spcPct val="90000"/>
              </a:lnSpc>
            </a:pPr>
            <a:r>
              <a:rPr lang="ko-KR" altLang="en-US" sz="1200" smtClean="0">
                <a:solidFill>
                  <a:srgbClr val="FF0000"/>
                </a:solidFill>
                <a:cs typeface="Arial" pitchFamily="34" charset="0"/>
              </a:rPr>
              <a:t>④</a:t>
            </a:r>
          </a:p>
        </p:txBody>
      </p:sp>
      <p:sp>
        <p:nvSpPr>
          <p:cNvPr id="129" name="TextBox 128"/>
          <p:cNvSpPr txBox="1"/>
          <p:nvPr/>
        </p:nvSpPr>
        <p:spPr>
          <a:xfrm>
            <a:off x="6426884" y="2000165"/>
            <a:ext cx="190613" cy="218900"/>
          </a:xfrm>
          <a:prstGeom prst="rect">
            <a:avLst/>
          </a:prstGeom>
          <a:noFill/>
          <a:ln w="6350" cap="flat">
            <a:noFill/>
            <a:miter lim="800000"/>
          </a:ln>
        </p:spPr>
        <p:txBody>
          <a:bodyPr wrap="none" lIns="72000" tIns="36000" rIns="72000" bIns="36000" rtlCol="0" anchor="t" anchorCtr="0">
            <a:noAutofit/>
          </a:bodyPr>
          <a:lstStyle/>
          <a:p>
            <a:pPr algn="ctr">
              <a:lnSpc>
                <a:spcPct val="90000"/>
              </a:lnSpc>
            </a:pPr>
            <a:r>
              <a:rPr lang="ko-KR" altLang="en-US" sz="1200" smtClean="0">
                <a:solidFill>
                  <a:srgbClr val="FF0000"/>
                </a:solidFill>
                <a:cs typeface="Arial" pitchFamily="34" charset="0"/>
              </a:rPr>
              <a:t>⑥</a:t>
            </a:r>
          </a:p>
        </p:txBody>
      </p:sp>
      <p:cxnSp>
        <p:nvCxnSpPr>
          <p:cNvPr id="131" name="직선 화살표 연결선 130"/>
          <p:cNvCxnSpPr>
            <a:stCxn id="94" idx="3"/>
            <a:endCxn id="96" idx="1"/>
          </p:cNvCxnSpPr>
          <p:nvPr/>
        </p:nvCxnSpPr>
        <p:spPr bwMode="auto">
          <a:xfrm>
            <a:off x="6345039" y="2414165"/>
            <a:ext cx="312205" cy="0"/>
          </a:xfrm>
          <a:prstGeom prst="straightConnector1">
            <a:avLst/>
          </a:prstGeom>
          <a:ln w="19050">
            <a:solidFill>
              <a:srgbClr val="626262"/>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직선 화살표 연결선 133"/>
          <p:cNvCxnSpPr>
            <a:stCxn id="96" idx="3"/>
            <a:endCxn id="99" idx="1"/>
          </p:cNvCxnSpPr>
          <p:nvPr/>
        </p:nvCxnSpPr>
        <p:spPr bwMode="auto">
          <a:xfrm>
            <a:off x="7665244" y="2414165"/>
            <a:ext cx="312204" cy="0"/>
          </a:xfrm>
          <a:prstGeom prst="straightConnector1">
            <a:avLst/>
          </a:prstGeom>
          <a:ln w="19050">
            <a:solidFill>
              <a:srgbClr val="626262"/>
            </a:solidFill>
            <a:tailEnd type="triangle"/>
          </a:ln>
        </p:spPr>
        <p:style>
          <a:lnRef idx="1">
            <a:schemeClr val="accent1"/>
          </a:lnRef>
          <a:fillRef idx="0">
            <a:schemeClr val="accent1"/>
          </a:fillRef>
          <a:effectRef idx="0">
            <a:schemeClr val="accent1"/>
          </a:effectRef>
          <a:fontRef idx="minor">
            <a:schemeClr val="tx1"/>
          </a:fontRef>
        </p:style>
      </p:cxnSp>
      <p:sp>
        <p:nvSpPr>
          <p:cNvPr id="144" name="TextBox 143"/>
          <p:cNvSpPr txBox="1"/>
          <p:nvPr/>
        </p:nvSpPr>
        <p:spPr>
          <a:xfrm>
            <a:off x="1712640" y="5403741"/>
            <a:ext cx="6784225" cy="249555"/>
          </a:xfrm>
          <a:prstGeom prst="rect">
            <a:avLst/>
          </a:prstGeom>
          <a:noFill/>
          <a:ln w="6350" cap="flat">
            <a:noFill/>
            <a:miter lim="800000"/>
          </a:ln>
        </p:spPr>
        <p:txBody>
          <a:bodyPr wrap="square" lIns="0" tIns="0" rIns="0" bIns="0" rtlCol="0" anchor="t" anchorCtr="0">
            <a:spAutoFit/>
          </a:bodyPr>
          <a:lstStyle/>
          <a:p>
            <a:pPr>
              <a:lnSpc>
                <a:spcPct val="150000"/>
              </a:lnSpc>
            </a:pPr>
            <a:r>
              <a:rPr lang="ko-KR" altLang="en-US" sz="1200" smtClean="0">
                <a:latin typeface="KB금융 본문체 Medium" panose="020B0603000000000000" pitchFamily="50" charset="-127"/>
                <a:ea typeface="KB금융 본문체 Medium" panose="020B0603000000000000" pitchFamily="50" charset="-127"/>
                <a:cs typeface="Arial" pitchFamily="34" charset="0"/>
              </a:rPr>
              <a:t>⑤ 윈도우 환경변수 </a:t>
            </a:r>
            <a:r>
              <a:rPr lang="ko-KR" altLang="en-US" sz="1200">
                <a:latin typeface="KB금융 본문체 Medium" panose="020B0603000000000000" pitchFamily="50" charset="-127"/>
                <a:ea typeface="KB금융 본문체 Medium" panose="020B0603000000000000" pitchFamily="50" charset="-127"/>
                <a:cs typeface="Arial" pitchFamily="34" charset="0"/>
              </a:rPr>
              <a:t>설정 완료 후 프로그램 </a:t>
            </a:r>
            <a:r>
              <a:rPr lang="en-US" altLang="ko-KR" sz="1200">
                <a:latin typeface="KB금융 본문체 Medium" panose="020B0603000000000000" pitchFamily="50" charset="-127"/>
                <a:ea typeface="KB금융 본문체 Medium" panose="020B0603000000000000" pitchFamily="50" charset="-127"/>
                <a:cs typeface="Arial" pitchFamily="34" charset="0"/>
              </a:rPr>
              <a:t>(CMD, Eclipse, WAS </a:t>
            </a:r>
            <a:r>
              <a:rPr lang="ko-KR" altLang="en-US" sz="1200">
                <a:latin typeface="KB금융 본문체 Medium" panose="020B0603000000000000" pitchFamily="50" charset="-127"/>
                <a:ea typeface="KB금융 본문체 Medium" panose="020B0603000000000000" pitchFamily="50" charset="-127"/>
                <a:cs typeface="Arial" pitchFamily="34" charset="0"/>
              </a:rPr>
              <a:t>등</a:t>
            </a:r>
            <a:r>
              <a:rPr lang="en-US" altLang="ko-KR" sz="1200">
                <a:latin typeface="KB금융 본문체 Medium" panose="020B0603000000000000" pitchFamily="50" charset="-127"/>
                <a:ea typeface="KB금융 본문체 Medium" panose="020B0603000000000000" pitchFamily="50" charset="-127"/>
                <a:cs typeface="Arial" pitchFamily="34" charset="0"/>
              </a:rPr>
              <a:t>) </a:t>
            </a:r>
            <a:r>
              <a:rPr lang="ko-KR" altLang="en-US" sz="1200">
                <a:latin typeface="KB금융 본문체 Medium" panose="020B0603000000000000" pitchFamily="50" charset="-127"/>
                <a:ea typeface="KB금융 본문체 Medium" panose="020B0603000000000000" pitchFamily="50" charset="-127"/>
                <a:cs typeface="Arial" pitchFamily="34" charset="0"/>
              </a:rPr>
              <a:t>재기동 필요</a:t>
            </a:r>
            <a:endParaRPr lang="ko-KR" altLang="en-US" sz="1200" dirty="0">
              <a:latin typeface="KB금융 본문체 Medium" panose="020B0603000000000000" pitchFamily="50" charset="-127"/>
              <a:ea typeface="KB금융 본문체 Medium" panose="020B0603000000000000" pitchFamily="50" charset="-127"/>
              <a:cs typeface="Arial" pitchFamily="34" charset="0"/>
            </a:endParaRPr>
          </a:p>
        </p:txBody>
      </p:sp>
      <p:sp>
        <p:nvSpPr>
          <p:cNvPr id="164" name="TextBox 163"/>
          <p:cNvSpPr txBox="1"/>
          <p:nvPr/>
        </p:nvSpPr>
        <p:spPr>
          <a:xfrm>
            <a:off x="1712640" y="5680461"/>
            <a:ext cx="6784225" cy="249555"/>
          </a:xfrm>
          <a:prstGeom prst="rect">
            <a:avLst/>
          </a:prstGeom>
          <a:noFill/>
          <a:ln w="6350" cap="flat">
            <a:noFill/>
            <a:miter lim="800000"/>
          </a:ln>
        </p:spPr>
        <p:txBody>
          <a:bodyPr wrap="square" lIns="0" tIns="0" rIns="0" bIns="0" rtlCol="0" anchor="t" anchorCtr="0">
            <a:spAutoFit/>
          </a:bodyPr>
          <a:lstStyle/>
          <a:p>
            <a:pPr>
              <a:lnSpc>
                <a:spcPct val="150000"/>
              </a:lnSpc>
            </a:pPr>
            <a:r>
              <a:rPr lang="ko-KR" altLang="en-US" sz="1200">
                <a:latin typeface="KB금융 본문체 Medium" panose="020B0603000000000000" pitchFamily="50" charset="-127"/>
                <a:ea typeface="KB금융 본문체 Medium" panose="020B0603000000000000" pitchFamily="50" charset="-127"/>
                <a:cs typeface="Arial" pitchFamily="34" charset="0"/>
              </a:rPr>
              <a:t>⑥</a:t>
            </a:r>
            <a:r>
              <a:rPr lang="ko-KR" altLang="en-US" sz="1200" smtClean="0">
                <a:latin typeface="KB금융 본문체 Medium" panose="020B0603000000000000" pitchFamily="50" charset="-127"/>
                <a:ea typeface="KB금융 본문체 Medium" panose="020B0603000000000000" pitchFamily="50" charset="-127"/>
                <a:cs typeface="Arial" pitchFamily="34" charset="0"/>
              </a:rPr>
              <a:t> 제공된 </a:t>
            </a:r>
            <a:r>
              <a:rPr lang="en-US" altLang="ko-KR" sz="1200">
                <a:latin typeface="KB금융 본문체 Medium" panose="020B0603000000000000" pitchFamily="50" charset="-127"/>
                <a:ea typeface="KB금융 본문체 Medium" panose="020B0603000000000000" pitchFamily="50" charset="-127"/>
                <a:cs typeface="Arial" pitchFamily="34" charset="0"/>
              </a:rPr>
              <a:t>Sample</a:t>
            </a:r>
            <a:r>
              <a:rPr lang="ko-KR" altLang="en-US" sz="1200">
                <a:latin typeface="KB금융 본문체 Medium" panose="020B0603000000000000" pitchFamily="50" charset="-127"/>
                <a:ea typeface="KB금융 본문체 Medium" panose="020B0603000000000000" pitchFamily="50" charset="-127"/>
                <a:cs typeface="Arial" pitchFamily="34" charset="0"/>
              </a:rPr>
              <a:t> </a:t>
            </a:r>
            <a:r>
              <a:rPr lang="en-US" altLang="ko-KR" sz="1200">
                <a:latin typeface="KB금융 본문체 Medium" panose="020B0603000000000000" pitchFamily="50" charset="-127"/>
                <a:ea typeface="KB금융 본문체 Medium" panose="020B0603000000000000" pitchFamily="50" charset="-127"/>
                <a:cs typeface="Arial" pitchFamily="34" charset="0"/>
              </a:rPr>
              <a:t>(C:\BASCP\SampleJAVA\ScpDbSampleCode.java) </a:t>
            </a:r>
            <a:r>
              <a:rPr lang="ko-KR" altLang="en-US" sz="1200">
                <a:latin typeface="KB금융 본문체 Medium" panose="020B0603000000000000" pitchFamily="50" charset="-127"/>
                <a:ea typeface="KB금융 본문체 Medium" panose="020B0603000000000000" pitchFamily="50" charset="-127"/>
                <a:cs typeface="Arial" pitchFamily="34" charset="0"/>
              </a:rPr>
              <a:t>프로그램</a:t>
            </a:r>
            <a:r>
              <a:rPr lang="en-US" altLang="ko-KR" sz="1200">
                <a:latin typeface="KB금융 본문체 Medium" panose="020B0603000000000000" pitchFamily="50" charset="-127"/>
                <a:ea typeface="KB금융 본문체 Medium" panose="020B0603000000000000" pitchFamily="50" charset="-127"/>
                <a:cs typeface="Arial" pitchFamily="34" charset="0"/>
              </a:rPr>
              <a:t> </a:t>
            </a:r>
            <a:r>
              <a:rPr lang="ko-KR" altLang="en-US" sz="1200">
                <a:latin typeface="KB금융 본문체 Medium" panose="020B0603000000000000" pitchFamily="50" charset="-127"/>
                <a:ea typeface="KB금융 본문체 Medium" panose="020B0603000000000000" pitchFamily="50" charset="-127"/>
                <a:cs typeface="Arial" pitchFamily="34" charset="0"/>
              </a:rPr>
              <a:t>컴파일 및 실행</a:t>
            </a:r>
            <a:endParaRPr lang="ko-KR" altLang="en-US" sz="1200" dirty="0">
              <a:latin typeface="KB금융 본문체 Medium" panose="020B0603000000000000" pitchFamily="50" charset="-127"/>
              <a:ea typeface="KB금융 본문체 Medium" panose="020B0603000000000000" pitchFamily="50" charset="-127"/>
              <a:cs typeface="Arial" pitchFamily="34" charset="0"/>
            </a:endParaRPr>
          </a:p>
        </p:txBody>
      </p:sp>
      <p:cxnSp>
        <p:nvCxnSpPr>
          <p:cNvPr id="165" name="직선 화살표 연결선 164"/>
          <p:cNvCxnSpPr>
            <a:stCxn id="99" idx="2"/>
            <a:endCxn id="97" idx="0"/>
          </p:cNvCxnSpPr>
          <p:nvPr/>
        </p:nvCxnSpPr>
        <p:spPr bwMode="auto">
          <a:xfrm>
            <a:off x="8481448" y="2828165"/>
            <a:ext cx="0" cy="1359931"/>
          </a:xfrm>
          <a:prstGeom prst="straightConnector1">
            <a:avLst/>
          </a:prstGeom>
          <a:ln w="19050">
            <a:solidFill>
              <a:srgbClr val="626262"/>
            </a:solidFill>
            <a:tailEnd type="triangle"/>
          </a:ln>
        </p:spPr>
        <p:style>
          <a:lnRef idx="1">
            <a:schemeClr val="accent1"/>
          </a:lnRef>
          <a:fillRef idx="0">
            <a:schemeClr val="accent1"/>
          </a:fillRef>
          <a:effectRef idx="0">
            <a:schemeClr val="accent1"/>
          </a:effectRef>
          <a:fontRef idx="minor">
            <a:schemeClr val="tx1"/>
          </a:fontRef>
        </p:style>
      </p:cxnSp>
      <p:sp>
        <p:nvSpPr>
          <p:cNvPr id="166" name="TextBox 165"/>
          <p:cNvSpPr txBox="1"/>
          <p:nvPr/>
        </p:nvSpPr>
        <p:spPr>
          <a:xfrm>
            <a:off x="7770097" y="4188096"/>
            <a:ext cx="190613" cy="218900"/>
          </a:xfrm>
          <a:prstGeom prst="rect">
            <a:avLst/>
          </a:prstGeom>
          <a:noFill/>
          <a:ln w="6350" cap="flat">
            <a:noFill/>
            <a:miter lim="800000"/>
          </a:ln>
        </p:spPr>
        <p:txBody>
          <a:bodyPr wrap="none" lIns="72000" tIns="36000" rIns="72000" bIns="36000" rtlCol="0" anchor="t" anchorCtr="0">
            <a:noAutofit/>
          </a:bodyPr>
          <a:lstStyle/>
          <a:p>
            <a:pPr algn="ctr">
              <a:lnSpc>
                <a:spcPct val="90000"/>
              </a:lnSpc>
            </a:pPr>
            <a:r>
              <a:rPr lang="ko-KR" altLang="en-US" sz="1200" smtClean="0">
                <a:solidFill>
                  <a:srgbClr val="FF0000"/>
                </a:solidFill>
                <a:cs typeface="Arial" pitchFamily="34" charset="0"/>
              </a:rPr>
              <a:t>⑧</a:t>
            </a:r>
          </a:p>
        </p:txBody>
      </p:sp>
      <p:sp>
        <p:nvSpPr>
          <p:cNvPr id="167" name="직사각형 166"/>
          <p:cNvSpPr/>
          <p:nvPr/>
        </p:nvSpPr>
        <p:spPr>
          <a:xfrm>
            <a:off x="1064568" y="1775713"/>
            <a:ext cx="8172908" cy="4425595"/>
          </a:xfrm>
          <a:prstGeom prst="rect">
            <a:avLst/>
          </a:prstGeom>
          <a:noFill/>
          <a:ln w="12700">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1200">
              <a:latin typeface="+mn-ea"/>
            </a:endParaRPr>
          </a:p>
        </p:txBody>
      </p:sp>
      <p:grpSp>
        <p:nvGrpSpPr>
          <p:cNvPr id="168" name="그룹 96"/>
          <p:cNvGrpSpPr>
            <a:grpSpLocks/>
          </p:cNvGrpSpPr>
          <p:nvPr/>
        </p:nvGrpSpPr>
        <p:grpSpPr bwMode="auto">
          <a:xfrm>
            <a:off x="507468" y="3346204"/>
            <a:ext cx="1117600" cy="1116013"/>
            <a:chOff x="8191486" y="1773117"/>
            <a:chExt cx="1116227" cy="1116227"/>
          </a:xfrm>
        </p:grpSpPr>
        <p:sp>
          <p:nvSpPr>
            <p:cNvPr id="169" name="타원 168"/>
            <p:cNvSpPr/>
            <p:nvPr/>
          </p:nvSpPr>
          <p:spPr>
            <a:xfrm>
              <a:off x="8191486" y="1773117"/>
              <a:ext cx="1116227" cy="1116227"/>
            </a:xfrm>
            <a:prstGeom prst="ellipse">
              <a:avLst/>
            </a:prstGeom>
            <a:solidFill>
              <a:schemeClr val="bg1"/>
            </a:solidFill>
            <a:ln w="19050">
              <a:solidFill>
                <a:srgbClr val="CCCCCC"/>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ko-KR"/>
              </a:defPPr>
              <a:lvl1pPr algn="l" rtl="0" fontAlgn="base" latinLnBrk="1">
                <a:spcBef>
                  <a:spcPct val="0"/>
                </a:spcBef>
                <a:spcAft>
                  <a:spcPct val="0"/>
                </a:spcAft>
                <a:defRPr kumimoji="1" sz="2400" kern="1200">
                  <a:solidFill>
                    <a:schemeClr val="lt1"/>
                  </a:solidFill>
                  <a:latin typeface="+mn-lt"/>
                  <a:ea typeface="+mn-ea"/>
                  <a:cs typeface="+mn-cs"/>
                </a:defRPr>
              </a:lvl1pPr>
              <a:lvl2pPr marL="457200" algn="l" rtl="0" fontAlgn="base" latinLnBrk="1">
                <a:spcBef>
                  <a:spcPct val="0"/>
                </a:spcBef>
                <a:spcAft>
                  <a:spcPct val="0"/>
                </a:spcAft>
                <a:defRPr kumimoji="1" sz="2400" kern="1200">
                  <a:solidFill>
                    <a:schemeClr val="lt1"/>
                  </a:solidFill>
                  <a:latin typeface="+mn-lt"/>
                  <a:ea typeface="+mn-ea"/>
                  <a:cs typeface="+mn-cs"/>
                </a:defRPr>
              </a:lvl2pPr>
              <a:lvl3pPr marL="914400" algn="l" rtl="0" fontAlgn="base" latinLnBrk="1">
                <a:spcBef>
                  <a:spcPct val="0"/>
                </a:spcBef>
                <a:spcAft>
                  <a:spcPct val="0"/>
                </a:spcAft>
                <a:defRPr kumimoji="1" sz="2400" kern="1200">
                  <a:solidFill>
                    <a:schemeClr val="lt1"/>
                  </a:solidFill>
                  <a:latin typeface="+mn-lt"/>
                  <a:ea typeface="+mn-ea"/>
                  <a:cs typeface="+mn-cs"/>
                </a:defRPr>
              </a:lvl3pPr>
              <a:lvl4pPr marL="1371600" algn="l" rtl="0" fontAlgn="base" latinLnBrk="1">
                <a:spcBef>
                  <a:spcPct val="0"/>
                </a:spcBef>
                <a:spcAft>
                  <a:spcPct val="0"/>
                </a:spcAft>
                <a:defRPr kumimoji="1" sz="2400" kern="1200">
                  <a:solidFill>
                    <a:schemeClr val="lt1"/>
                  </a:solidFill>
                  <a:latin typeface="+mn-lt"/>
                  <a:ea typeface="+mn-ea"/>
                  <a:cs typeface="+mn-cs"/>
                </a:defRPr>
              </a:lvl4pPr>
              <a:lvl5pPr marL="1828800" algn="l" rtl="0" fontAlgn="base" latinLnBrk="1">
                <a:spcBef>
                  <a:spcPct val="0"/>
                </a:spcBef>
                <a:spcAft>
                  <a:spcPct val="0"/>
                </a:spcAft>
                <a:defRPr kumimoji="1" sz="2400" kern="1200">
                  <a:solidFill>
                    <a:schemeClr val="lt1"/>
                  </a:solidFill>
                  <a:latin typeface="+mn-lt"/>
                  <a:ea typeface="+mn-ea"/>
                  <a:cs typeface="+mn-cs"/>
                </a:defRPr>
              </a:lvl5pPr>
              <a:lvl6pPr marL="2286000" algn="l" defTabSz="914400" rtl="0" eaLnBrk="1" latinLnBrk="1" hangingPunct="1">
                <a:defRPr kumimoji="1" sz="2400" kern="1200">
                  <a:solidFill>
                    <a:schemeClr val="lt1"/>
                  </a:solidFill>
                  <a:latin typeface="+mn-lt"/>
                  <a:ea typeface="+mn-ea"/>
                  <a:cs typeface="+mn-cs"/>
                </a:defRPr>
              </a:lvl6pPr>
              <a:lvl7pPr marL="2743200" algn="l" defTabSz="914400" rtl="0" eaLnBrk="1" latinLnBrk="1" hangingPunct="1">
                <a:defRPr kumimoji="1" sz="2400" kern="1200">
                  <a:solidFill>
                    <a:schemeClr val="lt1"/>
                  </a:solidFill>
                  <a:latin typeface="+mn-lt"/>
                  <a:ea typeface="+mn-ea"/>
                  <a:cs typeface="+mn-cs"/>
                </a:defRPr>
              </a:lvl7pPr>
              <a:lvl8pPr marL="3200400" algn="l" defTabSz="914400" rtl="0" eaLnBrk="1" latinLnBrk="1" hangingPunct="1">
                <a:defRPr kumimoji="1" sz="2400" kern="1200">
                  <a:solidFill>
                    <a:schemeClr val="lt1"/>
                  </a:solidFill>
                  <a:latin typeface="+mn-lt"/>
                  <a:ea typeface="+mn-ea"/>
                  <a:cs typeface="+mn-cs"/>
                </a:defRPr>
              </a:lvl8pPr>
              <a:lvl9pPr marL="3657600" algn="l" defTabSz="914400" rtl="0" eaLnBrk="1" latinLnBrk="1" hangingPunct="1">
                <a:defRPr kumimoji="1" sz="2400" kern="1200">
                  <a:solidFill>
                    <a:schemeClr val="lt1"/>
                  </a:solidFill>
                  <a:latin typeface="+mn-lt"/>
                  <a:ea typeface="+mn-ea"/>
                  <a:cs typeface="+mn-cs"/>
                </a:defRPr>
              </a:lvl9pPr>
            </a:lstStyle>
            <a:p>
              <a:pPr algn="ctr">
                <a:defRPr/>
              </a:pPr>
              <a:endParaRPr lang="ko-KR" altLang="en-US">
                <a:latin typeface="+mn-ea"/>
              </a:endParaRPr>
            </a:p>
          </p:txBody>
        </p:sp>
        <p:sp>
          <p:nvSpPr>
            <p:cNvPr id="170" name="타원 169"/>
            <p:cNvSpPr/>
            <p:nvPr/>
          </p:nvSpPr>
          <p:spPr>
            <a:xfrm>
              <a:off x="8264421" y="1846156"/>
              <a:ext cx="970356" cy="970149"/>
            </a:xfrm>
            <a:prstGeom prst="ellipse">
              <a:avLst/>
            </a:prstGeom>
            <a:gradFill flip="none" rotWithShape="1">
              <a:gsLst>
                <a:gs pos="50000">
                  <a:srgbClr val="626262"/>
                </a:gs>
                <a:gs pos="90000">
                  <a:srgbClr val="999999"/>
                </a:gs>
              </a:gsLst>
              <a:lin ang="16200000" scaled="1"/>
              <a:tileRect/>
            </a:gradFill>
            <a:ln w="38100">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ko-KR"/>
              </a:defPPr>
              <a:lvl1pPr algn="l" rtl="0" fontAlgn="base" latinLnBrk="1">
                <a:spcBef>
                  <a:spcPct val="0"/>
                </a:spcBef>
                <a:spcAft>
                  <a:spcPct val="0"/>
                </a:spcAft>
                <a:defRPr kumimoji="1" sz="2400" kern="1200">
                  <a:solidFill>
                    <a:schemeClr val="lt1"/>
                  </a:solidFill>
                  <a:latin typeface="+mn-lt"/>
                  <a:ea typeface="+mn-ea"/>
                  <a:cs typeface="+mn-cs"/>
                </a:defRPr>
              </a:lvl1pPr>
              <a:lvl2pPr marL="457200" algn="l" rtl="0" fontAlgn="base" latinLnBrk="1">
                <a:spcBef>
                  <a:spcPct val="0"/>
                </a:spcBef>
                <a:spcAft>
                  <a:spcPct val="0"/>
                </a:spcAft>
                <a:defRPr kumimoji="1" sz="2400" kern="1200">
                  <a:solidFill>
                    <a:schemeClr val="lt1"/>
                  </a:solidFill>
                  <a:latin typeface="+mn-lt"/>
                  <a:ea typeface="+mn-ea"/>
                  <a:cs typeface="+mn-cs"/>
                </a:defRPr>
              </a:lvl2pPr>
              <a:lvl3pPr marL="914400" algn="l" rtl="0" fontAlgn="base" latinLnBrk="1">
                <a:spcBef>
                  <a:spcPct val="0"/>
                </a:spcBef>
                <a:spcAft>
                  <a:spcPct val="0"/>
                </a:spcAft>
                <a:defRPr kumimoji="1" sz="2400" kern="1200">
                  <a:solidFill>
                    <a:schemeClr val="lt1"/>
                  </a:solidFill>
                  <a:latin typeface="+mn-lt"/>
                  <a:ea typeface="+mn-ea"/>
                  <a:cs typeface="+mn-cs"/>
                </a:defRPr>
              </a:lvl3pPr>
              <a:lvl4pPr marL="1371600" algn="l" rtl="0" fontAlgn="base" latinLnBrk="1">
                <a:spcBef>
                  <a:spcPct val="0"/>
                </a:spcBef>
                <a:spcAft>
                  <a:spcPct val="0"/>
                </a:spcAft>
                <a:defRPr kumimoji="1" sz="2400" kern="1200">
                  <a:solidFill>
                    <a:schemeClr val="lt1"/>
                  </a:solidFill>
                  <a:latin typeface="+mn-lt"/>
                  <a:ea typeface="+mn-ea"/>
                  <a:cs typeface="+mn-cs"/>
                </a:defRPr>
              </a:lvl4pPr>
              <a:lvl5pPr marL="1828800" algn="l" rtl="0" fontAlgn="base" latinLnBrk="1">
                <a:spcBef>
                  <a:spcPct val="0"/>
                </a:spcBef>
                <a:spcAft>
                  <a:spcPct val="0"/>
                </a:spcAft>
                <a:defRPr kumimoji="1" sz="2400" kern="1200">
                  <a:solidFill>
                    <a:schemeClr val="lt1"/>
                  </a:solidFill>
                  <a:latin typeface="+mn-lt"/>
                  <a:ea typeface="+mn-ea"/>
                  <a:cs typeface="+mn-cs"/>
                </a:defRPr>
              </a:lvl5pPr>
              <a:lvl6pPr marL="2286000" algn="l" defTabSz="914400" rtl="0" eaLnBrk="1" latinLnBrk="1" hangingPunct="1">
                <a:defRPr kumimoji="1" sz="2400" kern="1200">
                  <a:solidFill>
                    <a:schemeClr val="lt1"/>
                  </a:solidFill>
                  <a:latin typeface="+mn-lt"/>
                  <a:ea typeface="+mn-ea"/>
                  <a:cs typeface="+mn-cs"/>
                </a:defRPr>
              </a:lvl6pPr>
              <a:lvl7pPr marL="2743200" algn="l" defTabSz="914400" rtl="0" eaLnBrk="1" latinLnBrk="1" hangingPunct="1">
                <a:defRPr kumimoji="1" sz="2400" kern="1200">
                  <a:solidFill>
                    <a:schemeClr val="lt1"/>
                  </a:solidFill>
                  <a:latin typeface="+mn-lt"/>
                  <a:ea typeface="+mn-ea"/>
                  <a:cs typeface="+mn-cs"/>
                </a:defRPr>
              </a:lvl7pPr>
              <a:lvl8pPr marL="3200400" algn="l" defTabSz="914400" rtl="0" eaLnBrk="1" latinLnBrk="1" hangingPunct="1">
                <a:defRPr kumimoji="1" sz="2400" kern="1200">
                  <a:solidFill>
                    <a:schemeClr val="lt1"/>
                  </a:solidFill>
                  <a:latin typeface="+mn-lt"/>
                  <a:ea typeface="+mn-ea"/>
                  <a:cs typeface="+mn-cs"/>
                </a:defRPr>
              </a:lvl8pPr>
              <a:lvl9pPr marL="3657600" algn="l" defTabSz="914400" rtl="0" eaLnBrk="1" latinLnBrk="1" hangingPunct="1">
                <a:defRPr kumimoji="1" sz="2400" kern="1200">
                  <a:solidFill>
                    <a:schemeClr val="lt1"/>
                  </a:solidFill>
                  <a:latin typeface="+mn-lt"/>
                  <a:ea typeface="+mn-ea"/>
                  <a:cs typeface="+mn-cs"/>
                </a:defRPr>
              </a:lvl9pPr>
            </a:lstStyle>
            <a:p>
              <a:pPr algn="ctr">
                <a:defRPr/>
              </a:pPr>
              <a:endParaRPr lang="ko-KR" altLang="en-US" sz="1800">
                <a:latin typeface="+mn-ea"/>
              </a:endParaRPr>
            </a:p>
          </p:txBody>
        </p:sp>
        <p:sp>
          <p:nvSpPr>
            <p:cNvPr id="171" name="타원 170"/>
            <p:cNvSpPr/>
            <p:nvPr/>
          </p:nvSpPr>
          <p:spPr>
            <a:xfrm>
              <a:off x="8318330" y="1900141"/>
              <a:ext cx="862539" cy="862178"/>
            </a:xfrm>
            <a:prstGeom prst="ellipse">
              <a:avLst/>
            </a:prstGeom>
            <a:noFill/>
            <a:ln>
              <a:solidFill>
                <a:srgbClr val="99999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ko-KR"/>
              </a:defPPr>
              <a:lvl1pPr algn="l" rtl="0" fontAlgn="base" latinLnBrk="1">
                <a:spcBef>
                  <a:spcPct val="0"/>
                </a:spcBef>
                <a:spcAft>
                  <a:spcPct val="0"/>
                </a:spcAft>
                <a:defRPr kumimoji="1" sz="2400" kern="1200">
                  <a:solidFill>
                    <a:schemeClr val="lt1"/>
                  </a:solidFill>
                  <a:latin typeface="+mn-lt"/>
                  <a:ea typeface="+mn-ea"/>
                  <a:cs typeface="+mn-cs"/>
                </a:defRPr>
              </a:lvl1pPr>
              <a:lvl2pPr marL="457200" algn="l" rtl="0" fontAlgn="base" latinLnBrk="1">
                <a:spcBef>
                  <a:spcPct val="0"/>
                </a:spcBef>
                <a:spcAft>
                  <a:spcPct val="0"/>
                </a:spcAft>
                <a:defRPr kumimoji="1" sz="2400" kern="1200">
                  <a:solidFill>
                    <a:schemeClr val="lt1"/>
                  </a:solidFill>
                  <a:latin typeface="+mn-lt"/>
                  <a:ea typeface="+mn-ea"/>
                  <a:cs typeface="+mn-cs"/>
                </a:defRPr>
              </a:lvl2pPr>
              <a:lvl3pPr marL="914400" algn="l" rtl="0" fontAlgn="base" latinLnBrk="1">
                <a:spcBef>
                  <a:spcPct val="0"/>
                </a:spcBef>
                <a:spcAft>
                  <a:spcPct val="0"/>
                </a:spcAft>
                <a:defRPr kumimoji="1" sz="2400" kern="1200">
                  <a:solidFill>
                    <a:schemeClr val="lt1"/>
                  </a:solidFill>
                  <a:latin typeface="+mn-lt"/>
                  <a:ea typeface="+mn-ea"/>
                  <a:cs typeface="+mn-cs"/>
                </a:defRPr>
              </a:lvl3pPr>
              <a:lvl4pPr marL="1371600" algn="l" rtl="0" fontAlgn="base" latinLnBrk="1">
                <a:spcBef>
                  <a:spcPct val="0"/>
                </a:spcBef>
                <a:spcAft>
                  <a:spcPct val="0"/>
                </a:spcAft>
                <a:defRPr kumimoji="1" sz="2400" kern="1200">
                  <a:solidFill>
                    <a:schemeClr val="lt1"/>
                  </a:solidFill>
                  <a:latin typeface="+mn-lt"/>
                  <a:ea typeface="+mn-ea"/>
                  <a:cs typeface="+mn-cs"/>
                </a:defRPr>
              </a:lvl4pPr>
              <a:lvl5pPr marL="1828800" algn="l" rtl="0" fontAlgn="base" latinLnBrk="1">
                <a:spcBef>
                  <a:spcPct val="0"/>
                </a:spcBef>
                <a:spcAft>
                  <a:spcPct val="0"/>
                </a:spcAft>
                <a:defRPr kumimoji="1" sz="2400" kern="1200">
                  <a:solidFill>
                    <a:schemeClr val="lt1"/>
                  </a:solidFill>
                  <a:latin typeface="+mn-lt"/>
                  <a:ea typeface="+mn-ea"/>
                  <a:cs typeface="+mn-cs"/>
                </a:defRPr>
              </a:lvl5pPr>
              <a:lvl6pPr marL="2286000" algn="l" defTabSz="914400" rtl="0" eaLnBrk="1" latinLnBrk="1" hangingPunct="1">
                <a:defRPr kumimoji="1" sz="2400" kern="1200">
                  <a:solidFill>
                    <a:schemeClr val="lt1"/>
                  </a:solidFill>
                  <a:latin typeface="+mn-lt"/>
                  <a:ea typeface="+mn-ea"/>
                  <a:cs typeface="+mn-cs"/>
                </a:defRPr>
              </a:lvl6pPr>
              <a:lvl7pPr marL="2743200" algn="l" defTabSz="914400" rtl="0" eaLnBrk="1" latinLnBrk="1" hangingPunct="1">
                <a:defRPr kumimoji="1" sz="2400" kern="1200">
                  <a:solidFill>
                    <a:schemeClr val="lt1"/>
                  </a:solidFill>
                  <a:latin typeface="+mn-lt"/>
                  <a:ea typeface="+mn-ea"/>
                  <a:cs typeface="+mn-cs"/>
                </a:defRPr>
              </a:lvl7pPr>
              <a:lvl8pPr marL="3200400" algn="l" defTabSz="914400" rtl="0" eaLnBrk="1" latinLnBrk="1" hangingPunct="1">
                <a:defRPr kumimoji="1" sz="2400" kern="1200">
                  <a:solidFill>
                    <a:schemeClr val="lt1"/>
                  </a:solidFill>
                  <a:latin typeface="+mn-lt"/>
                  <a:ea typeface="+mn-ea"/>
                  <a:cs typeface="+mn-cs"/>
                </a:defRPr>
              </a:lvl8pPr>
              <a:lvl9pPr marL="3657600" algn="l" defTabSz="914400" rtl="0" eaLnBrk="1" latinLnBrk="1" hangingPunct="1">
                <a:defRPr kumimoji="1" sz="2400" kern="1200">
                  <a:solidFill>
                    <a:schemeClr val="lt1"/>
                  </a:solidFill>
                  <a:latin typeface="+mn-lt"/>
                  <a:ea typeface="+mn-ea"/>
                  <a:cs typeface="+mn-cs"/>
                </a:defRPr>
              </a:lvl9pPr>
            </a:lstStyle>
            <a:p>
              <a:pPr algn="ctr">
                <a:defRPr/>
              </a:pPr>
              <a:endParaRPr lang="ko-KR" altLang="en-US">
                <a:latin typeface="+mn-ea"/>
              </a:endParaRPr>
            </a:p>
          </p:txBody>
        </p:sp>
        <p:sp>
          <p:nvSpPr>
            <p:cNvPr id="208" name="TextBox 17"/>
            <p:cNvSpPr txBox="1">
              <a:spLocks noChangeArrowheads="1"/>
            </p:cNvSpPr>
            <p:nvPr/>
          </p:nvSpPr>
          <p:spPr bwMode="auto">
            <a:xfrm>
              <a:off x="8343986" y="2145903"/>
              <a:ext cx="811227" cy="369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300">
                  <a:solidFill>
                    <a:schemeClr val="tx1"/>
                  </a:solidFill>
                  <a:latin typeface="헤움네모고딕152" pitchFamily="18" charset="-127"/>
                  <a:ea typeface="헤움네모고딕152" pitchFamily="18" charset="-127"/>
                </a:defRPr>
              </a:lvl1pPr>
              <a:lvl2pPr marL="742950" indent="-285750">
                <a:defRPr sz="1300">
                  <a:solidFill>
                    <a:schemeClr val="tx1"/>
                  </a:solidFill>
                  <a:latin typeface="헤움네모고딕152" pitchFamily="18" charset="-127"/>
                  <a:ea typeface="헤움네모고딕152" pitchFamily="18" charset="-127"/>
                </a:defRPr>
              </a:lvl2pPr>
              <a:lvl3pPr marL="1143000" indent="-228600">
                <a:defRPr sz="1300">
                  <a:solidFill>
                    <a:schemeClr val="tx1"/>
                  </a:solidFill>
                  <a:latin typeface="헤움네모고딕152" pitchFamily="18" charset="-127"/>
                  <a:ea typeface="헤움네모고딕152" pitchFamily="18" charset="-127"/>
                </a:defRPr>
              </a:lvl3pPr>
              <a:lvl4pPr marL="1600200" indent="-228600">
                <a:defRPr sz="1300">
                  <a:solidFill>
                    <a:schemeClr val="tx1"/>
                  </a:solidFill>
                  <a:latin typeface="헤움네모고딕152" pitchFamily="18" charset="-127"/>
                  <a:ea typeface="헤움네모고딕152" pitchFamily="18" charset="-127"/>
                </a:defRPr>
              </a:lvl4pPr>
              <a:lvl5pPr marL="2057400" indent="-228600">
                <a:defRPr sz="1300">
                  <a:solidFill>
                    <a:schemeClr val="tx1"/>
                  </a:solidFill>
                  <a:latin typeface="헤움네모고딕152" pitchFamily="18" charset="-127"/>
                  <a:ea typeface="헤움네모고딕152" pitchFamily="18" charset="-127"/>
                </a:defRPr>
              </a:lvl5pPr>
              <a:lvl6pPr marL="25146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6pPr>
              <a:lvl7pPr marL="29718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7pPr>
              <a:lvl8pPr marL="34290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8pPr>
              <a:lvl9pPr marL="3886200" indent="-228600" eaLnBrk="0" fontAlgn="base" hangingPunct="0">
                <a:spcBef>
                  <a:spcPct val="0"/>
                </a:spcBef>
                <a:spcAft>
                  <a:spcPct val="0"/>
                </a:spcAft>
                <a:defRPr sz="1300">
                  <a:solidFill>
                    <a:schemeClr val="tx1"/>
                  </a:solidFill>
                  <a:latin typeface="헤움네모고딕152" pitchFamily="18" charset="-127"/>
                  <a:ea typeface="헤움네모고딕152" pitchFamily="18" charset="-127"/>
                </a:defRPr>
              </a:lvl9pPr>
            </a:lstStyle>
            <a:p>
              <a:pPr algn="ctr" latinLnBrk="1"/>
              <a:r>
                <a:rPr kumimoji="1" lang="ko-KR" altLang="en-US" sz="1200" b="1" smtClean="0">
                  <a:solidFill>
                    <a:schemeClr val="bg1"/>
                  </a:solidFill>
                  <a:latin typeface="+mn-ea"/>
                  <a:ea typeface="+mn-ea"/>
                </a:rPr>
                <a:t>적용</a:t>
              </a:r>
              <a:endParaRPr kumimoji="1" lang="en-US" altLang="ko-KR" sz="1200" b="1" smtClean="0">
                <a:solidFill>
                  <a:schemeClr val="bg1"/>
                </a:solidFill>
                <a:latin typeface="+mn-ea"/>
                <a:ea typeface="+mn-ea"/>
              </a:endParaRPr>
            </a:p>
            <a:p>
              <a:pPr algn="ctr" latinLnBrk="1"/>
              <a:r>
                <a:rPr kumimoji="1" lang="ko-KR" altLang="en-US" sz="1200" b="1" smtClean="0">
                  <a:solidFill>
                    <a:schemeClr val="bg1"/>
                  </a:solidFill>
                  <a:latin typeface="+mn-ea"/>
                  <a:ea typeface="+mn-ea"/>
                </a:rPr>
                <a:t>순서</a:t>
              </a:r>
              <a:endParaRPr kumimoji="1" lang="en-US" altLang="ko-KR" sz="1200" b="1" smtClean="0">
                <a:solidFill>
                  <a:schemeClr val="bg1"/>
                </a:solidFill>
                <a:latin typeface="+mn-ea"/>
                <a:ea typeface="+mn-ea"/>
              </a:endParaRPr>
            </a:p>
          </p:txBody>
        </p:sp>
      </p:grpSp>
    </p:spTree>
    <p:extLst>
      <p:ext uri="{BB962C8B-B14F-4D97-AF65-F5344CB8AC3E}">
        <p14:creationId xmlns:p14="http://schemas.microsoft.com/office/powerpoint/2010/main" val="13208680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ko-KR" altLang="en-US" smtClean="0"/>
              <a:t>첨부</a:t>
            </a:r>
            <a:r>
              <a:rPr lang="en-US" altLang="ko-KR" smtClean="0"/>
              <a:t>2. </a:t>
            </a:r>
            <a:r>
              <a:rPr lang="ko-KR" altLang="en-US" smtClean="0"/>
              <a:t>개발자 환경설정</a:t>
            </a:r>
            <a:r>
              <a:rPr lang="en-US" altLang="ko-KR" smtClean="0"/>
              <a:t>(2/9)</a:t>
            </a:r>
            <a:endParaRPr lang="ko-KR" altLang="en-US" dirty="0"/>
          </a:p>
        </p:txBody>
      </p:sp>
      <p:sp>
        <p:nvSpPr>
          <p:cNvPr id="41" name="Rectangle 3"/>
          <p:cNvSpPr>
            <a:spLocks noChangeArrowheads="1"/>
          </p:cNvSpPr>
          <p:nvPr/>
        </p:nvSpPr>
        <p:spPr bwMode="auto">
          <a:xfrm>
            <a:off x="308484" y="764704"/>
            <a:ext cx="9144000" cy="351186"/>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en-US" altLang="ko-KR" sz="1400" b="1" smtClean="0">
                <a:latin typeface="KB금융 본문체 Light" panose="020B0303000000000000" pitchFamily="50" charset="-127"/>
                <a:ea typeface="KB금융 본문체 Light" panose="020B0303000000000000" pitchFamily="50" charset="-127"/>
                <a:cs typeface="ヒラギノ角ゴ ProN W3"/>
              </a:rPr>
              <a:t>PC </a:t>
            </a:r>
            <a:r>
              <a:rPr lang="ko-KR" altLang="en-US" sz="1400" b="1" smtClean="0">
                <a:latin typeface="KB금융 본문체 Light" panose="020B0303000000000000" pitchFamily="50" charset="-127"/>
                <a:ea typeface="KB금융 본문체 Light" panose="020B0303000000000000" pitchFamily="50" charset="-127"/>
                <a:cs typeface="ヒラギノ角ゴ ProN W3"/>
              </a:rPr>
              <a:t>설정</a:t>
            </a:r>
            <a:endParaRPr lang="en-US" altLang="ko-KR" sz="1400" b="1"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42" name="Rectangle 3"/>
          <p:cNvSpPr>
            <a:spLocks noChangeArrowheads="1"/>
          </p:cNvSpPr>
          <p:nvPr/>
        </p:nvSpPr>
        <p:spPr bwMode="auto">
          <a:xfrm>
            <a:off x="699993" y="1142438"/>
            <a:ext cx="8753507" cy="332399"/>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ko-KR" altLang="en-US" sz="1200" smtClean="0">
                <a:latin typeface="KB금융 본문체 Medium" panose="020B0603000000000000" pitchFamily="50" charset="-127"/>
                <a:ea typeface="KB금융 본문체 Medium" panose="020B0603000000000000" pitchFamily="50" charset="-127"/>
                <a:cs typeface="Arial" pitchFamily="34" charset="0"/>
              </a:rPr>
              <a:t>제공된 </a:t>
            </a:r>
            <a:r>
              <a:rPr lang="en-US" altLang="ko-KR" sz="1200">
                <a:latin typeface="KB금융 본문체 Medium" panose="020B0603000000000000" pitchFamily="50" charset="-127"/>
                <a:ea typeface="KB금융 본문체 Medium" panose="020B0603000000000000" pitchFamily="50" charset="-127"/>
                <a:cs typeface="Arial" pitchFamily="34" charset="0"/>
              </a:rPr>
              <a:t>BASCP.zip </a:t>
            </a:r>
            <a:r>
              <a:rPr lang="ko-KR" altLang="en-US" sz="1200">
                <a:latin typeface="KB금융 본문체 Medium" panose="020B0603000000000000" pitchFamily="50" charset="-127"/>
                <a:ea typeface="KB금융 본문체 Medium" panose="020B0603000000000000" pitchFamily="50" charset="-127"/>
                <a:cs typeface="Arial" pitchFamily="34" charset="0"/>
              </a:rPr>
              <a:t>파일 압축 해제 하여 「</a:t>
            </a:r>
            <a:r>
              <a:rPr lang="en-US" altLang="ko-KR" sz="1200">
                <a:latin typeface="KB금융 본문체 Medium" panose="020B0603000000000000" pitchFamily="50" charset="-127"/>
                <a:ea typeface="KB금융 본문체 Medium" panose="020B0603000000000000" pitchFamily="50" charset="-127"/>
                <a:cs typeface="Arial" pitchFamily="34" charset="0"/>
              </a:rPr>
              <a:t>C:\BASCP</a:t>
            </a:r>
            <a:r>
              <a:rPr lang="ko-KR" altLang="en-US" sz="1200">
                <a:latin typeface="KB금융 본문체 Medium" panose="020B0603000000000000" pitchFamily="50" charset="-127"/>
                <a:ea typeface="KB금융 본문체 Medium" panose="020B0603000000000000" pitchFamily="50" charset="-127"/>
                <a:cs typeface="Arial" pitchFamily="34" charset="0"/>
              </a:rPr>
              <a:t>」 경로에 복사 </a:t>
            </a:r>
            <a:r>
              <a:rPr lang="en-US" altLang="ko-KR" sz="1200">
                <a:latin typeface="KB금융 본문체 Medium" panose="020B0603000000000000" pitchFamily="50" charset="-127"/>
                <a:ea typeface="KB금융 본문체 Medium" panose="020B0603000000000000" pitchFamily="50" charset="-127"/>
                <a:cs typeface="Arial" pitchFamily="34" charset="0"/>
              </a:rPr>
              <a:t>(</a:t>
            </a:r>
            <a:r>
              <a:rPr lang="ko-KR" altLang="en-US" sz="1200">
                <a:latin typeface="KB금융 본문체 Medium" panose="020B0603000000000000" pitchFamily="50" charset="-127"/>
                <a:ea typeface="KB금융 본문체 Medium" panose="020B0603000000000000" pitchFamily="50" charset="-127"/>
                <a:cs typeface="Arial" pitchFamily="34" charset="0"/>
              </a:rPr>
              <a:t>경로 반드시 준수</a:t>
            </a:r>
            <a:r>
              <a:rPr lang="en-US" altLang="ko-KR" sz="1200">
                <a:latin typeface="KB금융 본문체 Medium" panose="020B0603000000000000" pitchFamily="50" charset="-127"/>
                <a:ea typeface="KB금융 본문체 Medium" panose="020B0603000000000000" pitchFamily="50" charset="-127"/>
                <a:cs typeface="Arial" pitchFamily="34" charset="0"/>
              </a:rPr>
              <a:t>)</a:t>
            </a:r>
            <a:endParaRPr lang="en-US" altLang="ko-KR" sz="1200" dirty="0" smtClean="0">
              <a:latin typeface="KB금융 본문체 Light" panose="020B0303000000000000" pitchFamily="50" charset="-127"/>
              <a:ea typeface="KB금융 본문체 Light" panose="020B0303000000000000" pitchFamily="50" charset="-127"/>
              <a:cs typeface="ヒラギノ角ゴ ProN W3"/>
            </a:endParaRPr>
          </a:p>
        </p:txBody>
      </p:sp>
      <p:pic>
        <p:nvPicPr>
          <p:cNvPr id="4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5813" y="2060848"/>
            <a:ext cx="3755457" cy="1701190"/>
          </a:xfrm>
          <a:prstGeom prst="rect">
            <a:avLst/>
          </a:prstGeom>
          <a:noFill/>
          <a:ln w="38100">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sp>
        <p:nvSpPr>
          <p:cNvPr id="44" name="직사각형 43"/>
          <p:cNvSpPr/>
          <p:nvPr/>
        </p:nvSpPr>
        <p:spPr>
          <a:xfrm>
            <a:off x="2458851" y="3842131"/>
            <a:ext cx="1349379" cy="276225"/>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b="1" dirty="0" smtClean="0">
                <a:solidFill>
                  <a:schemeClr val="tx1"/>
                </a:solidFill>
              </a:rPr>
              <a:t>압축해제 예제 화면</a:t>
            </a:r>
            <a:endParaRPr lang="en-US" altLang="ko-KR" sz="1000" b="1" dirty="0">
              <a:solidFill>
                <a:schemeClr val="tx1"/>
              </a:solidFill>
            </a:endParaRPr>
          </a:p>
        </p:txBody>
      </p:sp>
    </p:spTree>
    <p:extLst>
      <p:ext uri="{BB962C8B-B14F-4D97-AF65-F5344CB8AC3E}">
        <p14:creationId xmlns:p14="http://schemas.microsoft.com/office/powerpoint/2010/main" val="33066185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ko-KR" altLang="en-US" smtClean="0"/>
              <a:t>첨부</a:t>
            </a:r>
            <a:r>
              <a:rPr lang="en-US" altLang="ko-KR" smtClean="0"/>
              <a:t>2. </a:t>
            </a:r>
            <a:r>
              <a:rPr lang="ko-KR" altLang="en-US" smtClean="0"/>
              <a:t>개발자 환경설정</a:t>
            </a:r>
            <a:r>
              <a:rPr lang="en-US" altLang="ko-KR" smtClean="0"/>
              <a:t>(3/9)</a:t>
            </a:r>
            <a:endParaRPr lang="ko-KR" altLang="en-US" dirty="0"/>
          </a:p>
        </p:txBody>
      </p:sp>
      <p:sp>
        <p:nvSpPr>
          <p:cNvPr id="43" name="Rectangle 3"/>
          <p:cNvSpPr>
            <a:spLocks noChangeArrowheads="1"/>
          </p:cNvSpPr>
          <p:nvPr/>
        </p:nvSpPr>
        <p:spPr bwMode="auto">
          <a:xfrm>
            <a:off x="308484" y="764704"/>
            <a:ext cx="9144000" cy="351186"/>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en-US" altLang="ko-KR" sz="1400" b="1" smtClean="0">
                <a:latin typeface="KB금융 본문체 Light" panose="020B0303000000000000" pitchFamily="50" charset="-127"/>
                <a:ea typeface="KB금융 본문체 Light" panose="020B0303000000000000" pitchFamily="50" charset="-127"/>
                <a:cs typeface="ヒラギノ角ゴ ProN W3"/>
              </a:rPr>
              <a:t>PC </a:t>
            </a:r>
            <a:r>
              <a:rPr lang="ko-KR" altLang="en-US" sz="1400" b="1" smtClean="0">
                <a:latin typeface="KB금융 본문체 Light" panose="020B0303000000000000" pitchFamily="50" charset="-127"/>
                <a:ea typeface="KB금융 본문체 Light" panose="020B0303000000000000" pitchFamily="50" charset="-127"/>
                <a:cs typeface="ヒラギノ角ゴ ProN W3"/>
              </a:rPr>
              <a:t>설정</a:t>
            </a:r>
            <a:endParaRPr lang="en-US" altLang="ko-KR" sz="1400" b="1"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44" name="Rectangle 3"/>
          <p:cNvSpPr>
            <a:spLocks noChangeArrowheads="1"/>
          </p:cNvSpPr>
          <p:nvPr/>
        </p:nvSpPr>
        <p:spPr bwMode="auto">
          <a:xfrm>
            <a:off x="699993" y="1142438"/>
            <a:ext cx="8753507" cy="314189"/>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en-US" altLang="ko-KR" sz="1200">
                <a:latin typeface="KB금융 본문체 Medium" panose="020B0603000000000000" pitchFamily="50" charset="-127"/>
                <a:ea typeface="KB금융 본문체 Medium" panose="020B0603000000000000" pitchFamily="50" charset="-127"/>
                <a:cs typeface="Arial" pitchFamily="34" charset="0"/>
              </a:rPr>
              <a:t>C:\BASCP\scpdb_agent.ini </a:t>
            </a:r>
            <a:r>
              <a:rPr lang="ko-KR" altLang="en-US" sz="1200">
                <a:latin typeface="KB금융 본문체 Medium" panose="020B0603000000000000" pitchFamily="50" charset="-127"/>
                <a:ea typeface="KB금융 본문체 Medium" panose="020B0603000000000000" pitchFamily="50" charset="-127"/>
                <a:cs typeface="Arial" pitchFamily="34" charset="0"/>
              </a:rPr>
              <a:t>파일 수정</a:t>
            </a:r>
            <a:endParaRPr lang="en-US" altLang="ko-KR" sz="1200"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45" name="직사각형 44"/>
          <p:cNvSpPr/>
          <p:nvPr/>
        </p:nvSpPr>
        <p:spPr>
          <a:xfrm>
            <a:off x="1186681" y="1962151"/>
            <a:ext cx="7671569" cy="396239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100" b="1" dirty="0" smtClean="0">
                <a:solidFill>
                  <a:schemeClr val="tx1"/>
                </a:solidFill>
              </a:rPr>
              <a:t>&lt;scpdb_agent.ini </a:t>
            </a:r>
            <a:r>
              <a:rPr lang="ko-KR" altLang="en-US" sz="1100" b="1" dirty="0" smtClean="0">
                <a:solidFill>
                  <a:schemeClr val="tx1"/>
                </a:solidFill>
              </a:rPr>
              <a:t>예제</a:t>
            </a:r>
            <a:r>
              <a:rPr lang="en-US" altLang="ko-KR" sz="1100" b="1" dirty="0" smtClean="0">
                <a:solidFill>
                  <a:schemeClr val="tx1"/>
                </a:solidFill>
              </a:rPr>
              <a:t>&gt;</a:t>
            </a:r>
          </a:p>
          <a:p>
            <a:r>
              <a:rPr lang="en-US" altLang="ko-KR" sz="1000" dirty="0" smtClean="0">
                <a:solidFill>
                  <a:schemeClr val="tx1"/>
                </a:solidFill>
              </a:rPr>
              <a:t>[</a:t>
            </a:r>
            <a:r>
              <a:rPr lang="en-US" altLang="ko-KR" sz="1000" dirty="0">
                <a:solidFill>
                  <a:schemeClr val="tx1"/>
                </a:solidFill>
              </a:rPr>
              <a:t>KEYINFO]</a:t>
            </a:r>
          </a:p>
          <a:p>
            <a:r>
              <a:rPr lang="en-US" altLang="ko-KR" sz="1000" smtClean="0">
                <a:solidFill>
                  <a:schemeClr val="tx1"/>
                </a:solidFill>
              </a:rPr>
              <a:t>SEC=C</a:t>
            </a:r>
            <a:r>
              <a:rPr lang="en-US" altLang="ko-KR" sz="1000" dirty="0">
                <a:solidFill>
                  <a:schemeClr val="tx1"/>
                </a:solidFill>
              </a:rPr>
              <a:t>:\BASCP\xxxxxxxxxxxx.scps </a:t>
            </a:r>
          </a:p>
          <a:p>
            <a:r>
              <a:rPr lang="en-US" altLang="ko-KR" sz="1000" dirty="0" smtClean="0">
                <a:solidFill>
                  <a:schemeClr val="tx1"/>
                </a:solidFill>
              </a:rPr>
              <a:t>[</a:t>
            </a:r>
            <a:r>
              <a:rPr lang="en-US" altLang="ko-KR" sz="1000" dirty="0">
                <a:solidFill>
                  <a:schemeClr val="tx1"/>
                </a:solidFill>
              </a:rPr>
              <a:t>SERVER]</a:t>
            </a:r>
          </a:p>
          <a:p>
            <a:r>
              <a:rPr lang="en-US" altLang="ko-KR" sz="1000" dirty="0">
                <a:solidFill>
                  <a:schemeClr val="tx1"/>
                </a:solidFill>
              </a:rPr>
              <a:t>ServerIP=</a:t>
            </a:r>
          </a:p>
          <a:p>
            <a:r>
              <a:rPr lang="en-US" altLang="ko-KR" sz="1000" dirty="0">
                <a:solidFill>
                  <a:schemeClr val="tx1"/>
                </a:solidFill>
              </a:rPr>
              <a:t>ServerPort=</a:t>
            </a:r>
          </a:p>
          <a:p>
            <a:r>
              <a:rPr lang="en-US" altLang="ko-KR" sz="1000" dirty="0">
                <a:solidFill>
                  <a:schemeClr val="tx1"/>
                </a:solidFill>
              </a:rPr>
              <a:t>[SERVER2]</a:t>
            </a:r>
          </a:p>
          <a:p>
            <a:r>
              <a:rPr lang="en-US" altLang="ko-KR" sz="1000" dirty="0">
                <a:solidFill>
                  <a:schemeClr val="tx1"/>
                </a:solidFill>
              </a:rPr>
              <a:t>ServerIP=</a:t>
            </a:r>
          </a:p>
          <a:p>
            <a:r>
              <a:rPr lang="en-US" altLang="ko-KR" sz="1000" dirty="0">
                <a:solidFill>
                  <a:schemeClr val="tx1"/>
                </a:solidFill>
              </a:rPr>
              <a:t>ServerPort=</a:t>
            </a:r>
          </a:p>
          <a:p>
            <a:r>
              <a:rPr lang="en-US" altLang="ko-KR" sz="1000" dirty="0">
                <a:solidFill>
                  <a:schemeClr val="tx1"/>
                </a:solidFill>
              </a:rPr>
              <a:t>[AGENT]</a:t>
            </a:r>
          </a:p>
          <a:p>
            <a:r>
              <a:rPr lang="en-US" altLang="ko-KR" sz="1000" dirty="0">
                <a:solidFill>
                  <a:schemeClr val="tx1"/>
                </a:solidFill>
              </a:rPr>
              <a:t>AgentID=</a:t>
            </a:r>
          </a:p>
          <a:p>
            <a:r>
              <a:rPr lang="en-US" altLang="ko-KR" sz="1000" dirty="0">
                <a:solidFill>
                  <a:schemeClr val="tx1"/>
                </a:solidFill>
              </a:rPr>
              <a:t>LicenseFilePath=C:\BASCP\scpdb_license.cer</a:t>
            </a:r>
          </a:p>
          <a:p>
            <a:r>
              <a:rPr lang="en-US" altLang="ko-KR" sz="1000" dirty="0">
                <a:solidFill>
                  <a:schemeClr val="tx1"/>
                </a:solidFill>
              </a:rPr>
              <a:t>LogDir=C:\BASCP\log</a:t>
            </a:r>
          </a:p>
          <a:p>
            <a:r>
              <a:rPr lang="en-US" altLang="ko-KR" sz="1000" dirty="0">
                <a:solidFill>
                  <a:schemeClr val="tx1"/>
                </a:solidFill>
              </a:rPr>
              <a:t>#LogLevel=0.NO / 2.LEVEL2_ALERT / 4.LEVEL4_ERROR / 6.LEVEL6_NOTICE / 8.LEVEL8_DEBUG</a:t>
            </a:r>
          </a:p>
          <a:p>
            <a:r>
              <a:rPr lang="en-US" altLang="ko-KR" sz="1000" dirty="0">
                <a:solidFill>
                  <a:schemeClr val="tx1"/>
                </a:solidFill>
              </a:rPr>
              <a:t>LogLevel=6</a:t>
            </a:r>
          </a:p>
          <a:p>
            <a:r>
              <a:rPr lang="en-US" altLang="ko-KR" sz="1000" dirty="0">
                <a:solidFill>
                  <a:schemeClr val="tx1"/>
                </a:solidFill>
              </a:rPr>
              <a:t>LogCountType=1</a:t>
            </a:r>
          </a:p>
          <a:p>
            <a:r>
              <a:rPr lang="en-US" altLang="ko-KR" sz="1000" dirty="0">
                <a:solidFill>
                  <a:schemeClr val="tx1"/>
                </a:solidFill>
              </a:rPr>
              <a:t>SiteCertFilePath=</a:t>
            </a:r>
          </a:p>
          <a:p>
            <a:r>
              <a:rPr lang="en-US" altLang="ko-KR" sz="1000" dirty="0">
                <a:solidFill>
                  <a:schemeClr val="tx1"/>
                </a:solidFill>
              </a:rPr>
              <a:t>CertFilePath=</a:t>
            </a:r>
          </a:p>
          <a:p>
            <a:r>
              <a:rPr lang="en-US" altLang="ko-KR" sz="1000" dirty="0">
                <a:solidFill>
                  <a:schemeClr val="tx1"/>
                </a:solidFill>
              </a:rPr>
              <a:t>KeyFilePath=</a:t>
            </a:r>
          </a:p>
          <a:p>
            <a:r>
              <a:rPr lang="en-US" altLang="ko-KR" sz="1000" dirty="0">
                <a:solidFill>
                  <a:schemeClr val="tx1"/>
                </a:solidFill>
              </a:rPr>
              <a:t>SPIN=</a:t>
            </a:r>
          </a:p>
          <a:p>
            <a:r>
              <a:rPr lang="en-US" altLang="ko-KR" sz="1000" dirty="0">
                <a:solidFill>
                  <a:schemeClr val="tx1"/>
                </a:solidFill>
              </a:rPr>
              <a:t>#Partial Encryption CharSet=0.NO / 1.EUC-KR / 2.UTF-8</a:t>
            </a:r>
          </a:p>
          <a:p>
            <a:r>
              <a:rPr lang="en-US" altLang="ko-KR" sz="1000" dirty="0">
                <a:solidFill>
                  <a:schemeClr val="tx1"/>
                </a:solidFill>
              </a:rPr>
              <a:t>CharSet=0</a:t>
            </a:r>
          </a:p>
          <a:p>
            <a:endParaRPr lang="en-US" altLang="ko-KR" sz="1000" dirty="0">
              <a:solidFill>
                <a:schemeClr val="tx1"/>
              </a:solidFill>
            </a:endParaRPr>
          </a:p>
          <a:p>
            <a:r>
              <a:rPr lang="en-US" altLang="ko-KR" sz="1000" dirty="0">
                <a:solidFill>
                  <a:schemeClr val="tx1"/>
                </a:solidFill>
              </a:rPr>
              <a:t>PKP=202</a:t>
            </a:r>
          </a:p>
          <a:p>
            <a:r>
              <a:rPr lang="en-US" altLang="ko-KR" sz="1000" dirty="0" smtClean="0">
                <a:solidFill>
                  <a:schemeClr val="tx1"/>
                </a:solidFill>
              </a:rPr>
              <a:t>AclPKP=202</a:t>
            </a:r>
            <a:endParaRPr lang="en-US" altLang="ko-KR" sz="1000" dirty="0">
              <a:solidFill>
                <a:schemeClr val="tx1"/>
              </a:solidFill>
            </a:endParaRPr>
          </a:p>
        </p:txBody>
      </p:sp>
      <p:sp>
        <p:nvSpPr>
          <p:cNvPr id="46" name="설명선 1 45"/>
          <p:cNvSpPr/>
          <p:nvPr/>
        </p:nvSpPr>
        <p:spPr>
          <a:xfrm>
            <a:off x="5198403" y="1892800"/>
            <a:ext cx="3946633" cy="1248168"/>
          </a:xfrm>
          <a:prstGeom prst="borderCallout1">
            <a:avLst>
              <a:gd name="adj1" fmla="val 51114"/>
              <a:gd name="adj2" fmla="val -700"/>
              <a:gd name="adj3" fmla="val 44654"/>
              <a:gd name="adj4" fmla="val -44114"/>
            </a:avLst>
          </a:prstGeom>
          <a:solidFill>
            <a:schemeClr val="bg1"/>
          </a:solidFill>
          <a:ln w="12700" cap="flat">
            <a:solidFill>
              <a:srgbClr val="FF0000"/>
            </a:solidFill>
            <a:miter lim="800000"/>
            <a:headEnd type="triangl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marL="171450" indent="-171450">
              <a:lnSpc>
                <a:spcPct val="150000"/>
              </a:lnSpc>
              <a:buFont typeface="Wingdings" panose="05000000000000000000" pitchFamily="2" charset="2"/>
              <a:buChar char="Ø"/>
            </a:pPr>
            <a:r>
              <a:rPr lang="ko-KR" altLang="en-US" sz="900" dirty="0" smtClean="0">
                <a:solidFill>
                  <a:schemeClr val="tx1"/>
                </a:solidFill>
                <a:latin typeface="KB금융 본문체 Light" panose="020B0303000000000000" pitchFamily="50" charset="-127"/>
                <a:ea typeface="KB금융 본문체 Light" panose="020B0303000000000000" pitchFamily="50" charset="-127"/>
              </a:rPr>
              <a:t>기본제공되는 </a:t>
            </a:r>
            <a:r>
              <a:rPr lang="en-US" altLang="ko-KR" sz="900" dirty="0">
                <a:solidFill>
                  <a:schemeClr val="tx1"/>
                </a:solidFill>
                <a:latin typeface="KB금융 본문체 Light" panose="020B0303000000000000" pitchFamily="50" charset="-127"/>
                <a:ea typeface="KB금융 본문체 Light" panose="020B0303000000000000" pitchFamily="50" charset="-127"/>
              </a:rPr>
              <a:t>KEY</a:t>
            </a:r>
            <a:r>
              <a:rPr lang="ko-KR" altLang="en-US" sz="900" dirty="0">
                <a:solidFill>
                  <a:schemeClr val="tx1"/>
                </a:solidFill>
                <a:latin typeface="KB금융 본문체 Light" panose="020B0303000000000000" pitchFamily="50" charset="-127"/>
                <a:ea typeface="KB금융 본문체 Light" panose="020B0303000000000000" pitchFamily="50" charset="-127"/>
              </a:rPr>
              <a:t>정보 </a:t>
            </a:r>
            <a:r>
              <a:rPr lang="en-US" altLang="ko-KR" sz="900" dirty="0">
                <a:solidFill>
                  <a:schemeClr val="tx1"/>
                </a:solidFill>
                <a:latin typeface="KB금융 본문체 Light" panose="020B0303000000000000" pitchFamily="50" charset="-127"/>
                <a:ea typeface="KB금융 본문체 Light" panose="020B0303000000000000" pitchFamily="50" charset="-127"/>
              </a:rPr>
              <a:t>: </a:t>
            </a:r>
            <a:r>
              <a:rPr lang="en-US" altLang="ko-KR" sz="900" b="1" dirty="0" smtClean="0">
                <a:solidFill>
                  <a:schemeClr val="tx1"/>
                </a:solidFill>
                <a:latin typeface="KB금융 본문체 Light" panose="020B0303000000000000" pitchFamily="50" charset="-127"/>
                <a:ea typeface="KB금융 본문체 Light" panose="020B0303000000000000" pitchFamily="50" charset="-127"/>
              </a:rPr>
              <a:t>SEC</a:t>
            </a:r>
            <a:r>
              <a:rPr lang="en-US" altLang="ko-KR" sz="900" dirty="0" smtClean="0">
                <a:solidFill>
                  <a:schemeClr val="tx1"/>
                </a:solidFill>
                <a:latin typeface="KB금융 본문체 Light" panose="020B0303000000000000" pitchFamily="50" charset="-127"/>
                <a:ea typeface="KB금융 본문체 Light" panose="020B0303000000000000" pitchFamily="50" charset="-127"/>
              </a:rPr>
              <a:t>=</a:t>
            </a:r>
            <a:r>
              <a:rPr lang="en-US" altLang="ko-KR" sz="900" b="1" dirty="0" smtClean="0">
                <a:solidFill>
                  <a:schemeClr val="tx1"/>
                </a:solidFill>
                <a:latin typeface="KB금융 본문체 Light" panose="020B0303000000000000" pitchFamily="50" charset="-127"/>
                <a:ea typeface="KB금융 본문체 Light" panose="020B0303000000000000" pitchFamily="50" charset="-127"/>
              </a:rPr>
              <a:t>C</a:t>
            </a:r>
            <a:r>
              <a:rPr lang="en-US" altLang="ko-KR" sz="900" b="1" dirty="0">
                <a:solidFill>
                  <a:schemeClr val="tx1"/>
                </a:solidFill>
                <a:latin typeface="KB금융 본문체 Light" panose="020B0303000000000000" pitchFamily="50" charset="-127"/>
                <a:ea typeface="KB금융 본문체 Light" panose="020B0303000000000000" pitchFamily="50" charset="-127"/>
              </a:rPr>
              <a:t>:\BASCP\KB0SEC000110.scps</a:t>
            </a:r>
          </a:p>
          <a:p>
            <a:pPr marL="171450" indent="171450">
              <a:lnSpc>
                <a:spcPct val="150000"/>
              </a:lnSpc>
              <a:buFont typeface="KB금융 본문체 Light" panose="020B0303000000000000" pitchFamily="50" charset="-127"/>
              <a:buChar char="☞"/>
            </a:pPr>
            <a:r>
              <a:rPr lang="en-US" altLang="ko-KR" sz="900" b="1" dirty="0" smtClean="0">
                <a:solidFill>
                  <a:schemeClr val="tx1"/>
                </a:solidFill>
                <a:latin typeface="KB금융 본문체 Light" panose="020B0303000000000000" pitchFamily="50" charset="-127"/>
                <a:ea typeface="KB금융 본문체 Light" panose="020B0303000000000000" pitchFamily="50" charset="-127"/>
              </a:rPr>
              <a:t>SEC</a:t>
            </a:r>
            <a:r>
              <a:rPr lang="en-US" altLang="ko-KR" sz="900" dirty="0" smtClean="0">
                <a:solidFill>
                  <a:schemeClr val="tx1"/>
                </a:solidFill>
                <a:latin typeface="KB금융 본문체 Light" panose="020B0303000000000000" pitchFamily="50" charset="-127"/>
                <a:ea typeface="KB금융 본문체 Light" panose="020B0303000000000000" pitchFamily="50" charset="-127"/>
              </a:rPr>
              <a:t> </a:t>
            </a:r>
            <a:r>
              <a:rPr lang="en-US" altLang="ko-KR" sz="900" dirty="0">
                <a:solidFill>
                  <a:schemeClr val="tx1"/>
                </a:solidFill>
                <a:latin typeface="KB금융 본문체 Light" panose="020B0303000000000000" pitchFamily="50" charset="-127"/>
                <a:ea typeface="KB금융 본문체 Light" panose="020B0303000000000000" pitchFamily="50" charset="-127"/>
              </a:rPr>
              <a:t>:</a:t>
            </a:r>
            <a:r>
              <a:rPr lang="ko-KR" altLang="en-US" sz="900" dirty="0">
                <a:solidFill>
                  <a:schemeClr val="tx1"/>
                </a:solidFill>
                <a:latin typeface="KB금융 본문체 Light" panose="020B0303000000000000" pitchFamily="50" charset="-127"/>
                <a:ea typeface="KB금융 본문체 Light" panose="020B0303000000000000" pitchFamily="50" charset="-127"/>
              </a:rPr>
              <a:t> </a:t>
            </a:r>
            <a:r>
              <a:rPr lang="en-US" altLang="ko-KR" sz="900" dirty="0">
                <a:solidFill>
                  <a:schemeClr val="tx1"/>
                </a:solidFill>
                <a:latin typeface="KB금융 본문체 Light" panose="020B0303000000000000" pitchFamily="50" charset="-127"/>
                <a:ea typeface="KB금융 본문체 Light" panose="020B0303000000000000" pitchFamily="50" charset="-127"/>
              </a:rPr>
              <a:t>source code</a:t>
            </a:r>
            <a:r>
              <a:rPr lang="ko-KR" altLang="en-US" sz="900" dirty="0">
                <a:solidFill>
                  <a:schemeClr val="tx1"/>
                </a:solidFill>
                <a:latin typeface="KB금융 본문체 Light" panose="020B0303000000000000" pitchFamily="50" charset="-127"/>
                <a:ea typeface="KB금융 본문체 Light" panose="020B0303000000000000" pitchFamily="50" charset="-127"/>
              </a:rPr>
              <a:t>에서 호출하는 </a:t>
            </a:r>
            <a:r>
              <a:rPr lang="en-US" altLang="ko-KR" sz="900" dirty="0" smtClean="0">
                <a:solidFill>
                  <a:schemeClr val="tx1"/>
                </a:solidFill>
                <a:latin typeface="KB금융 본문체 Light" panose="020B0303000000000000" pitchFamily="50" charset="-127"/>
                <a:ea typeface="KB금융 본문체 Light" panose="020B0303000000000000" pitchFamily="50" charset="-127"/>
              </a:rPr>
              <a:t>KEYNAME</a:t>
            </a:r>
          </a:p>
          <a:p>
            <a:pPr marL="171450" indent="171450">
              <a:lnSpc>
                <a:spcPct val="150000"/>
              </a:lnSpc>
              <a:spcAft>
                <a:spcPts val="700"/>
              </a:spcAft>
              <a:buFont typeface="KB금융 본문체 Light" panose="020B0303000000000000" pitchFamily="50" charset="-127"/>
              <a:buChar char="☞"/>
            </a:pPr>
            <a:r>
              <a:rPr lang="en-US" altLang="ko-KR" sz="900" b="1" dirty="0" smtClean="0">
                <a:solidFill>
                  <a:schemeClr val="tx1"/>
                </a:solidFill>
                <a:latin typeface="KB금융 본문체 Light" panose="020B0303000000000000" pitchFamily="50" charset="-127"/>
                <a:ea typeface="KB금융 본문체 Light" panose="020B0303000000000000" pitchFamily="50" charset="-127"/>
              </a:rPr>
              <a:t>C</a:t>
            </a:r>
            <a:r>
              <a:rPr lang="en-US" altLang="ko-KR" sz="900" b="1" dirty="0">
                <a:solidFill>
                  <a:schemeClr val="tx1"/>
                </a:solidFill>
                <a:latin typeface="KB금융 본문체 Light" panose="020B0303000000000000" pitchFamily="50" charset="-127"/>
                <a:ea typeface="KB금융 본문체 Light" panose="020B0303000000000000" pitchFamily="50" charset="-127"/>
              </a:rPr>
              <a:t>:\BASCP\KB0SEC000110.scps </a:t>
            </a:r>
            <a:r>
              <a:rPr lang="en-US" altLang="ko-KR" sz="900" dirty="0">
                <a:solidFill>
                  <a:schemeClr val="tx1"/>
                </a:solidFill>
                <a:latin typeface="KB금융 본문체 Light" panose="020B0303000000000000" pitchFamily="50" charset="-127"/>
                <a:ea typeface="KB금융 본문체 Light" panose="020B0303000000000000" pitchFamily="50" charset="-127"/>
              </a:rPr>
              <a:t>:</a:t>
            </a:r>
            <a:r>
              <a:rPr lang="ko-KR" altLang="en-US" sz="900" dirty="0">
                <a:solidFill>
                  <a:schemeClr val="tx1"/>
                </a:solidFill>
                <a:latin typeface="KB금융 본문체 Light" panose="020B0303000000000000" pitchFamily="50" charset="-127"/>
                <a:ea typeface="KB금융 본문체 Light" panose="020B0303000000000000" pitchFamily="50" charset="-127"/>
              </a:rPr>
              <a:t> 물리적으로 존재하는 키 파일명</a:t>
            </a:r>
            <a:endParaRPr lang="en-US" altLang="ko-KR" sz="900" dirty="0">
              <a:solidFill>
                <a:schemeClr val="tx1"/>
              </a:solidFill>
              <a:latin typeface="KB금융 본문체 Light" panose="020B0303000000000000" pitchFamily="50" charset="-127"/>
              <a:ea typeface="KB금융 본문체 Light" panose="020B0303000000000000" pitchFamily="50" charset="-127"/>
            </a:endParaRPr>
          </a:p>
          <a:p>
            <a:pPr marL="171450" indent="-171450">
              <a:lnSpc>
                <a:spcPct val="150000"/>
              </a:lnSpc>
              <a:buFont typeface="Wingdings" panose="05000000000000000000" pitchFamily="2" charset="2"/>
              <a:buChar char="Ø"/>
            </a:pPr>
            <a:r>
              <a:rPr lang="ko-KR" altLang="en-US" sz="900" dirty="0" smtClean="0">
                <a:solidFill>
                  <a:schemeClr val="tx1"/>
                </a:solidFill>
                <a:latin typeface="KB금융 본문체 Light" panose="020B0303000000000000" pitchFamily="50" charset="-127"/>
                <a:ea typeface="KB금융 본문체 Light" panose="020B0303000000000000" pitchFamily="50" charset="-127"/>
              </a:rPr>
              <a:t>개발용 암복호화 키를 </a:t>
            </a:r>
            <a:r>
              <a:rPr lang="ko-KR" altLang="en-US" sz="900" dirty="0">
                <a:solidFill>
                  <a:schemeClr val="tx1"/>
                </a:solidFill>
                <a:latin typeface="KB금융 본문체 Light" panose="020B0303000000000000" pitchFamily="50" charset="-127"/>
                <a:ea typeface="KB금융 본문체 Light" panose="020B0303000000000000" pitchFamily="50" charset="-127"/>
              </a:rPr>
              <a:t>파일형태로 </a:t>
            </a:r>
            <a:r>
              <a:rPr lang="ko-KR" altLang="en-US" sz="900" dirty="0" smtClean="0">
                <a:solidFill>
                  <a:schemeClr val="tx1"/>
                </a:solidFill>
                <a:latin typeface="KB금융 본문체 Light" panose="020B0303000000000000" pitchFamily="50" charset="-127"/>
                <a:ea typeface="KB금융 본문체 Light" panose="020B0303000000000000" pitchFamily="50" charset="-127"/>
              </a:rPr>
              <a:t>제공하기 때문에 </a:t>
            </a:r>
            <a:r>
              <a:rPr lang="ko-KR" altLang="en-US" sz="900" dirty="0">
                <a:solidFill>
                  <a:schemeClr val="tx1"/>
                </a:solidFill>
                <a:latin typeface="KB금융 본문체 Light" panose="020B0303000000000000" pitchFamily="50" charset="-127"/>
                <a:ea typeface="KB금융 본문체 Light" panose="020B0303000000000000" pitchFamily="50" charset="-127"/>
              </a:rPr>
              <a:t>별도의 설정이 필요하지 </a:t>
            </a:r>
            <a:r>
              <a:rPr lang="ko-KR" altLang="en-US" sz="900" dirty="0" smtClean="0">
                <a:solidFill>
                  <a:schemeClr val="tx1"/>
                </a:solidFill>
                <a:latin typeface="KB금융 본문체 Light" panose="020B0303000000000000" pitchFamily="50" charset="-127"/>
                <a:ea typeface="KB금융 본문체 Light" panose="020B0303000000000000" pitchFamily="50" charset="-127"/>
              </a:rPr>
              <a:t>않음</a:t>
            </a:r>
            <a:r>
              <a:rPr lang="en-US" altLang="ko-KR" sz="900" dirty="0" smtClean="0">
                <a:solidFill>
                  <a:schemeClr val="tx1"/>
                </a:solidFill>
                <a:latin typeface="KB금융 본문체 Light" panose="020B0303000000000000" pitchFamily="50" charset="-127"/>
                <a:ea typeface="KB금융 본문체 Light" panose="020B0303000000000000" pitchFamily="50" charset="-127"/>
              </a:rPr>
              <a:t>. </a:t>
            </a:r>
            <a:r>
              <a:rPr lang="en-US" altLang="ko-KR" sz="800" u="sng" dirty="0" smtClean="0">
                <a:solidFill>
                  <a:schemeClr val="tx1"/>
                </a:solidFill>
                <a:latin typeface="KB금융 본문체 Light" panose="020B0303000000000000" pitchFamily="50" charset="-127"/>
                <a:ea typeface="KB금융 본문체 Light" panose="020B0303000000000000" pitchFamily="50" charset="-127"/>
              </a:rPr>
              <a:t>(</a:t>
            </a:r>
            <a:r>
              <a:rPr lang="ko-KR" altLang="en-US" sz="800" u="sng" dirty="0" smtClean="0">
                <a:solidFill>
                  <a:schemeClr val="tx1"/>
                </a:solidFill>
                <a:latin typeface="KB금융 본문체 Light" panose="020B0303000000000000" pitchFamily="50" charset="-127"/>
                <a:ea typeface="KB금융 본문체 Light" panose="020B0303000000000000" pitchFamily="50" charset="-127"/>
              </a:rPr>
              <a:t>별도 </a:t>
            </a:r>
            <a:r>
              <a:rPr lang="ko-KR" altLang="en-US" sz="800" u="sng" dirty="0">
                <a:solidFill>
                  <a:schemeClr val="tx1"/>
                </a:solidFill>
                <a:latin typeface="KB금융 본문체 Light" panose="020B0303000000000000" pitchFamily="50" charset="-127"/>
                <a:ea typeface="KB금융 본문체 Light" panose="020B0303000000000000" pitchFamily="50" charset="-127"/>
              </a:rPr>
              <a:t>키를 배포받는 경우 수정 </a:t>
            </a:r>
            <a:r>
              <a:rPr lang="ko-KR" altLang="en-US" sz="800" u="sng" dirty="0" smtClean="0">
                <a:solidFill>
                  <a:schemeClr val="tx1"/>
                </a:solidFill>
                <a:latin typeface="KB금융 본문체 Light" panose="020B0303000000000000" pitchFamily="50" charset="-127"/>
                <a:ea typeface="KB금융 본문체 Light" panose="020B0303000000000000" pitchFamily="50" charset="-127"/>
              </a:rPr>
              <a:t>필요</a:t>
            </a:r>
            <a:r>
              <a:rPr lang="en-US" altLang="ko-KR" sz="800" u="sng" dirty="0" smtClean="0">
                <a:solidFill>
                  <a:schemeClr val="tx1"/>
                </a:solidFill>
                <a:latin typeface="KB금융 본문체 Light" panose="020B0303000000000000" pitchFamily="50" charset="-127"/>
                <a:ea typeface="KB금융 본문체 Light" panose="020B0303000000000000" pitchFamily="50" charset="-127"/>
              </a:rPr>
              <a:t>)</a:t>
            </a:r>
            <a:endParaRPr lang="ko-KR" altLang="en-US" sz="900" u="sng" dirty="0">
              <a:solidFill>
                <a:schemeClr val="tx1"/>
              </a:solidFill>
              <a:latin typeface="KB금융 본문체 Light" panose="020B0303000000000000" pitchFamily="50" charset="-127"/>
              <a:ea typeface="KB금융 본문체 Light" panose="020B0303000000000000" pitchFamily="50" charset="-127"/>
            </a:endParaRPr>
          </a:p>
        </p:txBody>
      </p:sp>
      <p:sp>
        <p:nvSpPr>
          <p:cNvPr id="47" name="직사각형 46"/>
          <p:cNvSpPr/>
          <p:nvPr/>
        </p:nvSpPr>
        <p:spPr>
          <a:xfrm>
            <a:off x="1237150" y="2318326"/>
            <a:ext cx="2297762" cy="254088"/>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spTree>
    <p:extLst>
      <p:ext uri="{BB962C8B-B14F-4D97-AF65-F5344CB8AC3E}">
        <p14:creationId xmlns:p14="http://schemas.microsoft.com/office/powerpoint/2010/main" val="38621155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ko-KR" altLang="en-US" smtClean="0"/>
              <a:t>첨부</a:t>
            </a:r>
            <a:r>
              <a:rPr lang="en-US" altLang="ko-KR" smtClean="0"/>
              <a:t>2. </a:t>
            </a:r>
            <a:r>
              <a:rPr lang="ko-KR" altLang="en-US" smtClean="0"/>
              <a:t>개발자 환경설정</a:t>
            </a:r>
            <a:r>
              <a:rPr lang="en-US" altLang="ko-KR" smtClean="0"/>
              <a:t>(4/9)</a:t>
            </a:r>
            <a:endParaRPr lang="ko-KR" altLang="en-US" dirty="0"/>
          </a:p>
        </p:txBody>
      </p:sp>
      <p:sp>
        <p:nvSpPr>
          <p:cNvPr id="41" name="Rectangle 3"/>
          <p:cNvSpPr>
            <a:spLocks noChangeArrowheads="1"/>
          </p:cNvSpPr>
          <p:nvPr/>
        </p:nvSpPr>
        <p:spPr bwMode="auto">
          <a:xfrm>
            <a:off x="308484" y="764704"/>
            <a:ext cx="9144000" cy="351186"/>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en-US" altLang="ko-KR" sz="1400" b="1" smtClean="0">
                <a:latin typeface="KB금융 본문체 Light" panose="020B0303000000000000" pitchFamily="50" charset="-127"/>
                <a:ea typeface="KB금융 본문체 Light" panose="020B0303000000000000" pitchFamily="50" charset="-127"/>
                <a:cs typeface="ヒラギノ角ゴ ProN W3"/>
              </a:rPr>
              <a:t>PC </a:t>
            </a:r>
            <a:r>
              <a:rPr lang="ko-KR" altLang="en-US" sz="1400" b="1" smtClean="0">
                <a:latin typeface="KB금융 본문체 Light" panose="020B0303000000000000" pitchFamily="50" charset="-127"/>
                <a:ea typeface="KB금융 본문체 Light" panose="020B0303000000000000" pitchFamily="50" charset="-127"/>
                <a:cs typeface="ヒラギノ角ゴ ProN W3"/>
              </a:rPr>
              <a:t>설정</a:t>
            </a:r>
            <a:endParaRPr lang="en-US" altLang="ko-KR" sz="1400" b="1"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42" name="Rectangle 3"/>
          <p:cNvSpPr>
            <a:spLocks noChangeArrowheads="1"/>
          </p:cNvSpPr>
          <p:nvPr/>
        </p:nvSpPr>
        <p:spPr bwMode="auto">
          <a:xfrm>
            <a:off x="699993" y="1142438"/>
            <a:ext cx="8753507" cy="591187"/>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ko-KR" altLang="en-US" sz="1200">
                <a:latin typeface="KB금융 본문체 Medium" panose="020B0603000000000000" pitchFamily="50" charset="-127"/>
                <a:ea typeface="KB금융 본문체 Medium" panose="020B0603000000000000" pitchFamily="50" charset="-127"/>
                <a:cs typeface="Arial" pitchFamily="34" charset="0"/>
              </a:rPr>
              <a:t>윈도우 환경변수 설정</a:t>
            </a:r>
          </a:p>
          <a:p>
            <a:pPr marL="285750" indent="-285750">
              <a:lnSpc>
                <a:spcPct val="130000"/>
              </a:lnSpc>
              <a:spcBef>
                <a:spcPct val="20000"/>
              </a:spcBef>
              <a:buSzPct val="100000"/>
              <a:buFont typeface="Wingdings" panose="05000000000000000000" pitchFamily="2" charset="2"/>
              <a:buChar char="l"/>
            </a:pPr>
            <a:r>
              <a:rPr lang="ko-KR" altLang="en-US" sz="1200">
                <a:latin typeface="KB금융 본문체 Medium" panose="020B0603000000000000" pitchFamily="50" charset="-127"/>
                <a:ea typeface="KB금융 본문체 Medium" panose="020B0603000000000000" pitchFamily="50" charset="-127"/>
                <a:cs typeface="Arial" pitchFamily="34" charset="0"/>
              </a:rPr>
              <a:t>환경변수 설정 완료 후 프로그램 </a:t>
            </a:r>
            <a:r>
              <a:rPr lang="en-US" altLang="ko-KR" sz="1200">
                <a:latin typeface="KB금융 본문체 Medium" panose="020B0603000000000000" pitchFamily="50" charset="-127"/>
                <a:ea typeface="KB금융 본문체 Medium" panose="020B0603000000000000" pitchFamily="50" charset="-127"/>
                <a:cs typeface="Arial" pitchFamily="34" charset="0"/>
              </a:rPr>
              <a:t>(CMD, Eclipse, WAS </a:t>
            </a:r>
            <a:r>
              <a:rPr lang="ko-KR" altLang="en-US" sz="1200">
                <a:latin typeface="KB금융 본문체 Medium" panose="020B0603000000000000" pitchFamily="50" charset="-127"/>
                <a:ea typeface="KB금융 본문체 Medium" panose="020B0603000000000000" pitchFamily="50" charset="-127"/>
                <a:cs typeface="Arial" pitchFamily="34" charset="0"/>
              </a:rPr>
              <a:t>등</a:t>
            </a:r>
            <a:r>
              <a:rPr lang="en-US" altLang="ko-KR" sz="1200">
                <a:latin typeface="KB금융 본문체 Medium" panose="020B0603000000000000" pitchFamily="50" charset="-127"/>
                <a:ea typeface="KB금융 본문체 Medium" panose="020B0603000000000000" pitchFamily="50" charset="-127"/>
                <a:cs typeface="Arial" pitchFamily="34" charset="0"/>
              </a:rPr>
              <a:t>) </a:t>
            </a:r>
            <a:r>
              <a:rPr lang="ko-KR" altLang="en-US" sz="1200">
                <a:latin typeface="KB금융 본문체 Medium" panose="020B0603000000000000" pitchFamily="50" charset="-127"/>
                <a:ea typeface="KB금융 본문체 Medium" panose="020B0603000000000000" pitchFamily="50" charset="-127"/>
                <a:cs typeface="Arial" pitchFamily="34" charset="0"/>
              </a:rPr>
              <a:t>재기동 필요</a:t>
            </a:r>
            <a:endParaRPr lang="en-US" altLang="ko-KR" sz="1200" dirty="0" smtClean="0">
              <a:latin typeface="KB금융 본문체 Light" panose="020B0303000000000000" pitchFamily="50" charset="-127"/>
              <a:ea typeface="KB금융 본문체 Light" panose="020B0303000000000000" pitchFamily="50" charset="-127"/>
              <a:cs typeface="ヒラギノ角ゴ ProN W3"/>
            </a:endParaRPr>
          </a:p>
        </p:txBody>
      </p:sp>
      <p:grpSp>
        <p:nvGrpSpPr>
          <p:cNvPr id="43" name="그룹 42"/>
          <p:cNvGrpSpPr/>
          <p:nvPr/>
        </p:nvGrpSpPr>
        <p:grpSpPr>
          <a:xfrm>
            <a:off x="272480" y="1789770"/>
            <a:ext cx="9063377" cy="4566000"/>
            <a:chOff x="272480" y="1916832"/>
            <a:chExt cx="9063377" cy="4566000"/>
          </a:xfrm>
        </p:grpSpPr>
        <p:pic>
          <p:nvPicPr>
            <p:cNvPr id="4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454" y="1916832"/>
              <a:ext cx="2089360" cy="3569108"/>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46" name="직사각형 45"/>
            <p:cNvSpPr/>
            <p:nvPr/>
          </p:nvSpPr>
          <p:spPr>
            <a:xfrm>
              <a:off x="423489" y="5211270"/>
              <a:ext cx="272074" cy="256740"/>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sp>
          <p:nvSpPr>
            <p:cNvPr id="47" name="직사각형 46"/>
            <p:cNvSpPr/>
            <p:nvPr/>
          </p:nvSpPr>
          <p:spPr>
            <a:xfrm>
              <a:off x="1784648" y="2870866"/>
              <a:ext cx="360040" cy="128370"/>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sp>
          <p:nvSpPr>
            <p:cNvPr id="48" name="타원 47"/>
            <p:cNvSpPr/>
            <p:nvPr/>
          </p:nvSpPr>
          <p:spPr>
            <a:xfrm>
              <a:off x="272480" y="5022054"/>
              <a:ext cx="177707" cy="207146"/>
            </a:xfrm>
            <a:prstGeom prst="ellipse">
              <a:avLst/>
            </a:prstGeom>
            <a:solidFill>
              <a:srgbClr val="FF8264"/>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r>
                <a:rPr lang="en-US" altLang="ko-KR" sz="1100" b="1" dirty="0" smtClean="0">
                  <a:solidFill>
                    <a:schemeClr val="bg1"/>
                  </a:solidFill>
                  <a:latin typeface="-2002" panose="02030504000101010101" pitchFamily="18" charset="-127"/>
                  <a:ea typeface="-2002" panose="02030504000101010101" pitchFamily="18" charset="-127"/>
                  <a:cs typeface="Arial" pitchFamily="34" charset="0"/>
                </a:rPr>
                <a:t>1</a:t>
              </a:r>
              <a:endParaRPr lang="ko-KR" altLang="en-US" sz="1600" b="1" dirty="0" smtClean="0">
                <a:solidFill>
                  <a:schemeClr val="bg1"/>
                </a:solidFill>
                <a:latin typeface="-2002" panose="02030504000101010101" pitchFamily="18" charset="-127"/>
                <a:ea typeface="-2002" panose="02030504000101010101" pitchFamily="18" charset="-127"/>
                <a:cs typeface="Arial" pitchFamily="34" charset="0"/>
              </a:endParaRPr>
            </a:p>
          </p:txBody>
        </p:sp>
        <p:sp>
          <p:nvSpPr>
            <p:cNvPr id="49" name="타원 48"/>
            <p:cNvSpPr/>
            <p:nvPr/>
          </p:nvSpPr>
          <p:spPr>
            <a:xfrm>
              <a:off x="1606941" y="2715376"/>
              <a:ext cx="177707" cy="207146"/>
            </a:xfrm>
            <a:prstGeom prst="ellipse">
              <a:avLst/>
            </a:prstGeom>
            <a:solidFill>
              <a:srgbClr val="FF8264"/>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r>
                <a:rPr lang="en-US" altLang="ko-KR" sz="1100" b="1" dirty="0" smtClean="0">
                  <a:solidFill>
                    <a:schemeClr val="bg1"/>
                  </a:solidFill>
                  <a:latin typeface="-2002" panose="02030504000101010101" pitchFamily="18" charset="-127"/>
                  <a:ea typeface="-2002" panose="02030504000101010101" pitchFamily="18" charset="-127"/>
                  <a:cs typeface="Arial" pitchFamily="34" charset="0"/>
                </a:rPr>
                <a:t>2</a:t>
              </a:r>
              <a:endParaRPr lang="ko-KR" altLang="en-US" sz="1600" b="1" dirty="0" smtClean="0">
                <a:solidFill>
                  <a:schemeClr val="bg1"/>
                </a:solidFill>
                <a:latin typeface="-2002" panose="02030504000101010101" pitchFamily="18" charset="-127"/>
                <a:ea typeface="-2002" panose="02030504000101010101" pitchFamily="18" charset="-127"/>
                <a:cs typeface="Arial" pitchFamily="34" charset="0"/>
              </a:endParaRPr>
            </a:p>
          </p:txBody>
        </p:sp>
        <p:sp>
          <p:nvSpPr>
            <p:cNvPr id="50" name="설명선 1 49"/>
            <p:cNvSpPr/>
            <p:nvPr/>
          </p:nvSpPr>
          <p:spPr>
            <a:xfrm>
              <a:off x="1494646" y="1988840"/>
              <a:ext cx="978733" cy="312064"/>
            </a:xfrm>
            <a:prstGeom prst="borderCallout1">
              <a:avLst>
                <a:gd name="adj1" fmla="val 99950"/>
                <a:gd name="adj2" fmla="val 54257"/>
                <a:gd name="adj3" fmla="val 280217"/>
                <a:gd name="adj4" fmla="val 50229"/>
              </a:avLst>
            </a:prstGeom>
            <a:solidFill>
              <a:schemeClr val="bg1"/>
            </a:solidFill>
            <a:ln w="12700" cap="flat">
              <a:solidFill>
                <a:srgbClr val="FF0000"/>
              </a:solidFill>
              <a:miter lim="800000"/>
              <a:headEnd type="triangl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nSpc>
                  <a:spcPct val="150000"/>
                </a:lnSpc>
              </a:pPr>
              <a:r>
                <a:rPr lang="ko-KR" altLang="en-US" sz="900" dirty="0" smtClean="0">
                  <a:solidFill>
                    <a:schemeClr val="tx1"/>
                  </a:solidFill>
                  <a:latin typeface="KB금융 본문체 Light" panose="020B0303000000000000" pitchFamily="50" charset="-127"/>
                  <a:ea typeface="KB금융 본문체 Light" panose="020B0303000000000000" pitchFamily="50" charset="-127"/>
                </a:rPr>
                <a:t>마우스 우 클릭</a:t>
              </a:r>
              <a:endParaRPr lang="ko-KR" altLang="en-US" sz="900" dirty="0">
                <a:solidFill>
                  <a:schemeClr val="tx1"/>
                </a:solidFill>
                <a:latin typeface="KB금융 본문체 Light" panose="020B0303000000000000" pitchFamily="50" charset="-127"/>
                <a:ea typeface="KB금융 본문체 Light" panose="020B0303000000000000" pitchFamily="50" charset="-127"/>
              </a:endParaRPr>
            </a:p>
          </p:txBody>
        </p:sp>
        <p:pic>
          <p:nvPicPr>
            <p:cNvPr id="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0752" y="1995609"/>
              <a:ext cx="1584300" cy="1082403"/>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52" name="직사각형 51"/>
            <p:cNvSpPr/>
            <p:nvPr/>
          </p:nvSpPr>
          <p:spPr>
            <a:xfrm>
              <a:off x="2828620" y="2944016"/>
              <a:ext cx="360040" cy="128370"/>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sp>
          <p:nvSpPr>
            <p:cNvPr id="53" name="타원 52"/>
            <p:cNvSpPr/>
            <p:nvPr/>
          </p:nvSpPr>
          <p:spPr>
            <a:xfrm>
              <a:off x="2720752" y="2767293"/>
              <a:ext cx="177707" cy="207146"/>
            </a:xfrm>
            <a:prstGeom prst="ellipse">
              <a:avLst/>
            </a:prstGeom>
            <a:solidFill>
              <a:srgbClr val="FF8264"/>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r>
                <a:rPr lang="en-US" altLang="ko-KR" sz="1100" b="1" dirty="0" smtClean="0">
                  <a:solidFill>
                    <a:schemeClr val="bg1"/>
                  </a:solidFill>
                  <a:latin typeface="-2002" panose="02030504000101010101" pitchFamily="18" charset="-127"/>
                  <a:ea typeface="-2002" panose="02030504000101010101" pitchFamily="18" charset="-127"/>
                  <a:cs typeface="Arial" pitchFamily="34" charset="0"/>
                </a:rPr>
                <a:t>3</a:t>
              </a:r>
              <a:endParaRPr lang="ko-KR" altLang="en-US" sz="1600" b="1" dirty="0" smtClean="0">
                <a:solidFill>
                  <a:schemeClr val="bg1"/>
                </a:solidFill>
                <a:latin typeface="-2002" panose="02030504000101010101" pitchFamily="18" charset="-127"/>
                <a:ea typeface="-2002" panose="02030504000101010101" pitchFamily="18" charset="-127"/>
                <a:cs typeface="Arial" pitchFamily="34" charset="0"/>
              </a:endParaRPr>
            </a:p>
          </p:txBody>
        </p:sp>
        <p:cxnSp>
          <p:nvCxnSpPr>
            <p:cNvPr id="54" name="직선 화살표 연결선 53"/>
            <p:cNvCxnSpPr>
              <a:stCxn id="46" idx="0"/>
              <a:endCxn id="47" idx="2"/>
            </p:cNvCxnSpPr>
            <p:nvPr/>
          </p:nvCxnSpPr>
          <p:spPr>
            <a:xfrm flipV="1">
              <a:off x="559526" y="2999236"/>
              <a:ext cx="1405142" cy="2212034"/>
            </a:xfrm>
            <a:prstGeom prst="straightConnector1">
              <a:avLst/>
            </a:prstGeom>
            <a:ln w="254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55" name="직선 화살표 연결선 54"/>
            <p:cNvCxnSpPr>
              <a:stCxn id="47" idx="3"/>
              <a:endCxn id="51" idx="1"/>
            </p:cNvCxnSpPr>
            <p:nvPr/>
          </p:nvCxnSpPr>
          <p:spPr>
            <a:xfrm flipV="1">
              <a:off x="2144688" y="2536811"/>
              <a:ext cx="576064" cy="398240"/>
            </a:xfrm>
            <a:prstGeom prst="straightConnector1">
              <a:avLst/>
            </a:prstGeom>
            <a:ln w="254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pic>
          <p:nvPicPr>
            <p:cNvPr id="5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48944" y="1916832"/>
              <a:ext cx="4233431" cy="292633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57"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39996" y="2636912"/>
              <a:ext cx="2995861" cy="2685944"/>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58"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44888" y="3799681"/>
              <a:ext cx="2905943" cy="2581647"/>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59"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82150" y="5575281"/>
              <a:ext cx="2756018" cy="907551"/>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60" name="직사각형 59"/>
            <p:cNvSpPr/>
            <p:nvPr/>
          </p:nvSpPr>
          <p:spPr>
            <a:xfrm>
              <a:off x="4448944" y="3078012"/>
              <a:ext cx="948915" cy="206972"/>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sp>
          <p:nvSpPr>
            <p:cNvPr id="61" name="직사각형 60"/>
            <p:cNvSpPr/>
            <p:nvPr/>
          </p:nvSpPr>
          <p:spPr>
            <a:xfrm>
              <a:off x="8111945" y="4815082"/>
              <a:ext cx="1068952" cy="206972"/>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sp>
          <p:nvSpPr>
            <p:cNvPr id="62" name="직사각형 61"/>
            <p:cNvSpPr/>
            <p:nvPr/>
          </p:nvSpPr>
          <p:spPr>
            <a:xfrm>
              <a:off x="4475839" y="4815082"/>
              <a:ext cx="1656184" cy="206972"/>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sp>
          <p:nvSpPr>
            <p:cNvPr id="63" name="직사각형 62"/>
            <p:cNvSpPr/>
            <p:nvPr/>
          </p:nvSpPr>
          <p:spPr>
            <a:xfrm>
              <a:off x="2144688" y="5877272"/>
              <a:ext cx="1008112" cy="288032"/>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sp>
          <p:nvSpPr>
            <p:cNvPr id="64" name="직사각형 63"/>
            <p:cNvSpPr/>
            <p:nvPr/>
          </p:nvSpPr>
          <p:spPr>
            <a:xfrm>
              <a:off x="2621849" y="6183234"/>
              <a:ext cx="720080" cy="216024"/>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cxnSp>
          <p:nvCxnSpPr>
            <p:cNvPr id="65" name="직선 화살표 연결선 64"/>
            <p:cNvCxnSpPr>
              <a:stCxn id="52" idx="3"/>
            </p:cNvCxnSpPr>
            <p:nvPr/>
          </p:nvCxnSpPr>
          <p:spPr>
            <a:xfrm flipV="1">
              <a:off x="3188660" y="2870866"/>
              <a:ext cx="1260284" cy="137335"/>
            </a:xfrm>
            <a:prstGeom prst="straightConnector1">
              <a:avLst/>
            </a:prstGeom>
            <a:ln w="254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66" name="직선 화살표 연결선 65"/>
            <p:cNvCxnSpPr>
              <a:stCxn id="60" idx="3"/>
            </p:cNvCxnSpPr>
            <p:nvPr/>
          </p:nvCxnSpPr>
          <p:spPr>
            <a:xfrm>
              <a:off x="5397859" y="3181498"/>
              <a:ext cx="942137" cy="247502"/>
            </a:xfrm>
            <a:prstGeom prst="straightConnector1">
              <a:avLst/>
            </a:prstGeom>
            <a:ln w="254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67" name="직선 화살표 연결선 66"/>
            <p:cNvCxnSpPr>
              <a:stCxn id="61" idx="1"/>
            </p:cNvCxnSpPr>
            <p:nvPr/>
          </p:nvCxnSpPr>
          <p:spPr>
            <a:xfrm flipH="1">
              <a:off x="6850831" y="4918568"/>
              <a:ext cx="1261114" cy="0"/>
            </a:xfrm>
            <a:prstGeom prst="straightConnector1">
              <a:avLst/>
            </a:prstGeom>
            <a:ln w="254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68" name="직선 화살표 연결선 67"/>
            <p:cNvCxnSpPr>
              <a:stCxn id="62" idx="1"/>
            </p:cNvCxnSpPr>
            <p:nvPr/>
          </p:nvCxnSpPr>
          <p:spPr>
            <a:xfrm flipH="1">
              <a:off x="3152800" y="4918568"/>
              <a:ext cx="1323039" cy="656713"/>
            </a:xfrm>
            <a:prstGeom prst="straightConnector1">
              <a:avLst/>
            </a:prstGeom>
            <a:ln w="254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69" name="설명선 1 68"/>
            <p:cNvSpPr/>
            <p:nvPr/>
          </p:nvSpPr>
          <p:spPr>
            <a:xfrm>
              <a:off x="5372931" y="5706199"/>
              <a:ext cx="2285877" cy="459105"/>
            </a:xfrm>
            <a:prstGeom prst="borderCallout1">
              <a:avLst>
                <a:gd name="adj1" fmla="val -482"/>
                <a:gd name="adj2" fmla="val 33518"/>
                <a:gd name="adj3" fmla="val -151180"/>
                <a:gd name="adj4" fmla="val 17159"/>
              </a:avLst>
            </a:prstGeom>
            <a:solidFill>
              <a:schemeClr val="bg1"/>
            </a:solidFill>
            <a:ln w="12700" cap="flat">
              <a:solidFill>
                <a:srgbClr val="FF0000"/>
              </a:solidFill>
              <a:miter lim="800000"/>
              <a:headEnd type="triangl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latinLnBrk="0">
                <a:lnSpc>
                  <a:spcPct val="150000"/>
                </a:lnSpc>
              </a:pPr>
              <a:r>
                <a:rPr lang="ko-KR" altLang="en-US" sz="900" dirty="0" smtClean="0">
                  <a:solidFill>
                    <a:schemeClr val="tx1"/>
                  </a:solidFill>
                  <a:latin typeface="KB금융 본문체 Light" panose="020B0303000000000000" pitchFamily="50" charset="-127"/>
                  <a:ea typeface="KB금융 본문체 Light" panose="020B0303000000000000" pitchFamily="50" charset="-127"/>
                </a:rPr>
                <a:t>사용자 변수에 </a:t>
              </a:r>
              <a:r>
                <a:rPr lang="en-US" altLang="ko-KR" sz="900" dirty="0" smtClean="0">
                  <a:solidFill>
                    <a:schemeClr val="tx1"/>
                  </a:solidFill>
                  <a:latin typeface="KB금융 본문체 Light" panose="020B0303000000000000" pitchFamily="50" charset="-127"/>
                  <a:ea typeface="KB금융 본문체 Light" panose="020B0303000000000000" pitchFamily="50" charset="-127"/>
                </a:rPr>
                <a:t>PATH(path) </a:t>
              </a:r>
              <a:r>
                <a:rPr lang="ko-KR" altLang="en-US" sz="900" dirty="0" smtClean="0">
                  <a:solidFill>
                    <a:schemeClr val="tx1"/>
                  </a:solidFill>
                  <a:latin typeface="KB금융 본문체 Light" panose="020B0303000000000000" pitchFamily="50" charset="-127"/>
                  <a:ea typeface="KB금융 본문체 Light" panose="020B0303000000000000" pitchFamily="50" charset="-127"/>
                </a:rPr>
                <a:t>가 존재 하면 선택 후 </a:t>
              </a:r>
              <a:r>
                <a:rPr lang="en-US" altLang="ko-KR" sz="900" dirty="0" smtClean="0">
                  <a:solidFill>
                    <a:schemeClr val="tx1"/>
                  </a:solidFill>
                  <a:latin typeface="KB금융 본문체 Light" panose="020B0303000000000000" pitchFamily="50" charset="-127"/>
                  <a:ea typeface="KB금융 본문체 Light" panose="020B0303000000000000" pitchFamily="50" charset="-127"/>
                </a:rPr>
                <a:t>‘</a:t>
              </a:r>
              <a:r>
                <a:rPr lang="ko-KR" altLang="en-US" sz="900" dirty="0" smtClean="0">
                  <a:solidFill>
                    <a:schemeClr val="tx1"/>
                  </a:solidFill>
                  <a:latin typeface="KB금융 본문체 Light" panose="020B0303000000000000" pitchFamily="50" charset="-127"/>
                  <a:ea typeface="KB금융 본문체 Light" panose="020B0303000000000000" pitchFamily="50" charset="-127"/>
                </a:rPr>
                <a:t>편집</a:t>
              </a:r>
              <a:r>
                <a:rPr lang="en-US" altLang="ko-KR" sz="900" dirty="0" smtClean="0">
                  <a:solidFill>
                    <a:schemeClr val="tx1"/>
                  </a:solidFill>
                  <a:latin typeface="KB금융 본문체 Light" panose="020B0303000000000000" pitchFamily="50" charset="-127"/>
                  <a:ea typeface="KB금융 본문체 Light" panose="020B0303000000000000" pitchFamily="50" charset="-127"/>
                </a:rPr>
                <a:t>’, </a:t>
              </a:r>
              <a:r>
                <a:rPr lang="ko-KR" altLang="en-US" sz="900" dirty="0" smtClean="0">
                  <a:solidFill>
                    <a:schemeClr val="tx1"/>
                  </a:solidFill>
                  <a:latin typeface="KB금융 본문체 Light" panose="020B0303000000000000" pitchFamily="50" charset="-127"/>
                  <a:ea typeface="KB금융 본문체 Light" panose="020B0303000000000000" pitchFamily="50" charset="-127"/>
                </a:rPr>
                <a:t>없으면 </a:t>
              </a:r>
              <a:r>
                <a:rPr lang="en-US" altLang="ko-KR" sz="900" dirty="0" smtClean="0">
                  <a:solidFill>
                    <a:schemeClr val="tx1"/>
                  </a:solidFill>
                  <a:latin typeface="KB금융 본문체 Light" panose="020B0303000000000000" pitchFamily="50" charset="-127"/>
                  <a:ea typeface="KB금융 본문체 Light" panose="020B0303000000000000" pitchFamily="50" charset="-127"/>
                </a:rPr>
                <a:t>‘</a:t>
              </a:r>
              <a:r>
                <a:rPr lang="ko-KR" altLang="en-US" sz="900" dirty="0" smtClean="0">
                  <a:solidFill>
                    <a:schemeClr val="tx1"/>
                  </a:solidFill>
                  <a:latin typeface="KB금융 본문체 Light" panose="020B0303000000000000" pitchFamily="50" charset="-127"/>
                  <a:ea typeface="KB금융 본문체 Light" panose="020B0303000000000000" pitchFamily="50" charset="-127"/>
                </a:rPr>
                <a:t>새로 만들기</a:t>
              </a:r>
              <a:r>
                <a:rPr lang="en-US" altLang="ko-KR" sz="900" dirty="0" smtClean="0">
                  <a:solidFill>
                    <a:schemeClr val="tx1"/>
                  </a:solidFill>
                  <a:latin typeface="KB금융 본문체 Light" panose="020B0303000000000000" pitchFamily="50" charset="-127"/>
                  <a:ea typeface="KB금융 본문체 Light" panose="020B0303000000000000" pitchFamily="50" charset="-127"/>
                </a:rPr>
                <a:t>’ </a:t>
              </a:r>
              <a:r>
                <a:rPr lang="ko-KR" altLang="en-US" sz="900" dirty="0" smtClean="0">
                  <a:solidFill>
                    <a:schemeClr val="tx1"/>
                  </a:solidFill>
                  <a:latin typeface="KB금융 본문체 Light" panose="020B0303000000000000" pitchFamily="50" charset="-127"/>
                  <a:ea typeface="KB금융 본문체 Light" panose="020B0303000000000000" pitchFamily="50" charset="-127"/>
                </a:rPr>
                <a:t>버튼 클릭</a:t>
              </a:r>
              <a:endParaRPr lang="ko-KR" altLang="en-US" sz="900" dirty="0">
                <a:solidFill>
                  <a:schemeClr val="tx1"/>
                </a:solidFill>
                <a:latin typeface="KB금융 본문체 Light" panose="020B0303000000000000" pitchFamily="50" charset="-127"/>
                <a:ea typeface="KB금융 본문체 Light" panose="020B0303000000000000" pitchFamily="50" charset="-127"/>
              </a:endParaRPr>
            </a:p>
          </p:txBody>
        </p:sp>
        <p:sp>
          <p:nvSpPr>
            <p:cNvPr id="70" name="직사각형 69"/>
            <p:cNvSpPr/>
            <p:nvPr/>
          </p:nvSpPr>
          <p:spPr>
            <a:xfrm>
              <a:off x="4160912" y="4346886"/>
              <a:ext cx="2404747" cy="432048"/>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sp>
          <p:nvSpPr>
            <p:cNvPr id="71" name="타원 70"/>
            <p:cNvSpPr/>
            <p:nvPr/>
          </p:nvSpPr>
          <p:spPr>
            <a:xfrm>
              <a:off x="4305052" y="2922522"/>
              <a:ext cx="177707" cy="207146"/>
            </a:xfrm>
            <a:prstGeom prst="ellipse">
              <a:avLst/>
            </a:prstGeom>
            <a:solidFill>
              <a:srgbClr val="FF8264"/>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r>
                <a:rPr lang="en-US" altLang="ko-KR" sz="1100" b="1" dirty="0" smtClean="0">
                  <a:solidFill>
                    <a:schemeClr val="bg1"/>
                  </a:solidFill>
                  <a:latin typeface="-2002" panose="02030504000101010101" pitchFamily="18" charset="-127"/>
                  <a:ea typeface="-2002" panose="02030504000101010101" pitchFamily="18" charset="-127"/>
                  <a:cs typeface="Arial" pitchFamily="34" charset="0"/>
                </a:rPr>
                <a:t>4</a:t>
              </a:r>
              <a:endParaRPr lang="ko-KR" altLang="en-US" sz="1600" b="1" dirty="0" smtClean="0">
                <a:solidFill>
                  <a:schemeClr val="bg1"/>
                </a:solidFill>
                <a:latin typeface="-2002" panose="02030504000101010101" pitchFamily="18" charset="-127"/>
                <a:ea typeface="-2002" panose="02030504000101010101" pitchFamily="18" charset="-127"/>
                <a:cs typeface="Arial" pitchFamily="34" charset="0"/>
              </a:endParaRPr>
            </a:p>
          </p:txBody>
        </p:sp>
        <p:sp>
          <p:nvSpPr>
            <p:cNvPr id="72" name="타원 71"/>
            <p:cNvSpPr/>
            <p:nvPr/>
          </p:nvSpPr>
          <p:spPr>
            <a:xfrm>
              <a:off x="7993497" y="4636021"/>
              <a:ext cx="177707" cy="207146"/>
            </a:xfrm>
            <a:prstGeom prst="ellipse">
              <a:avLst/>
            </a:prstGeom>
            <a:solidFill>
              <a:srgbClr val="FF8264"/>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r>
                <a:rPr lang="en-US" altLang="ko-KR" sz="1100" b="1" dirty="0" smtClean="0">
                  <a:solidFill>
                    <a:schemeClr val="bg1"/>
                  </a:solidFill>
                  <a:latin typeface="-2002" panose="02030504000101010101" pitchFamily="18" charset="-127"/>
                  <a:ea typeface="-2002" panose="02030504000101010101" pitchFamily="18" charset="-127"/>
                  <a:cs typeface="Arial" pitchFamily="34" charset="0"/>
                </a:rPr>
                <a:t>5</a:t>
              </a:r>
              <a:endParaRPr lang="ko-KR" altLang="en-US" sz="1600" b="1" dirty="0" smtClean="0">
                <a:solidFill>
                  <a:schemeClr val="bg1"/>
                </a:solidFill>
                <a:latin typeface="-2002" panose="02030504000101010101" pitchFamily="18" charset="-127"/>
                <a:ea typeface="-2002" panose="02030504000101010101" pitchFamily="18" charset="-127"/>
                <a:cs typeface="Arial" pitchFamily="34" charset="0"/>
              </a:endParaRPr>
            </a:p>
          </p:txBody>
        </p:sp>
        <p:sp>
          <p:nvSpPr>
            <p:cNvPr id="73" name="타원 72"/>
            <p:cNvSpPr/>
            <p:nvPr/>
          </p:nvSpPr>
          <p:spPr>
            <a:xfrm>
              <a:off x="4216198" y="4754266"/>
              <a:ext cx="177707" cy="207146"/>
            </a:xfrm>
            <a:prstGeom prst="ellipse">
              <a:avLst/>
            </a:prstGeom>
            <a:solidFill>
              <a:srgbClr val="FF8264"/>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r>
                <a:rPr lang="en-US" altLang="ko-KR" sz="1100" b="1" dirty="0" smtClean="0">
                  <a:solidFill>
                    <a:schemeClr val="bg1"/>
                  </a:solidFill>
                  <a:latin typeface="-2002" panose="02030504000101010101" pitchFamily="18" charset="-127"/>
                  <a:ea typeface="-2002" panose="02030504000101010101" pitchFamily="18" charset="-127"/>
                  <a:cs typeface="Arial" pitchFamily="34" charset="0"/>
                </a:rPr>
                <a:t>6</a:t>
              </a:r>
              <a:endParaRPr lang="ko-KR" altLang="en-US" sz="1600" b="1" dirty="0" smtClean="0">
                <a:solidFill>
                  <a:schemeClr val="bg1"/>
                </a:solidFill>
                <a:latin typeface="-2002" panose="02030504000101010101" pitchFamily="18" charset="-127"/>
                <a:ea typeface="-2002" panose="02030504000101010101" pitchFamily="18" charset="-127"/>
                <a:cs typeface="Arial" pitchFamily="34" charset="0"/>
              </a:endParaRPr>
            </a:p>
          </p:txBody>
        </p:sp>
        <p:sp>
          <p:nvSpPr>
            <p:cNvPr id="74" name="타원 73"/>
            <p:cNvSpPr/>
            <p:nvPr/>
          </p:nvSpPr>
          <p:spPr>
            <a:xfrm>
              <a:off x="1966981" y="5706199"/>
              <a:ext cx="177707" cy="207146"/>
            </a:xfrm>
            <a:prstGeom prst="ellipse">
              <a:avLst/>
            </a:prstGeom>
            <a:solidFill>
              <a:srgbClr val="FF8264"/>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r>
                <a:rPr lang="en-US" altLang="ko-KR" sz="1100" b="1" dirty="0" smtClean="0">
                  <a:solidFill>
                    <a:schemeClr val="bg1"/>
                  </a:solidFill>
                  <a:latin typeface="-2002" panose="02030504000101010101" pitchFamily="18" charset="-127"/>
                  <a:ea typeface="-2002" panose="02030504000101010101" pitchFamily="18" charset="-127"/>
                  <a:cs typeface="Arial" pitchFamily="34" charset="0"/>
                </a:rPr>
                <a:t>7</a:t>
              </a:r>
              <a:endParaRPr lang="ko-KR" altLang="en-US" sz="1600" b="1" dirty="0" smtClean="0">
                <a:solidFill>
                  <a:schemeClr val="bg1"/>
                </a:solidFill>
                <a:latin typeface="-2002" panose="02030504000101010101" pitchFamily="18" charset="-127"/>
                <a:ea typeface="-2002" panose="02030504000101010101" pitchFamily="18" charset="-127"/>
                <a:cs typeface="Arial" pitchFamily="34" charset="0"/>
              </a:endParaRPr>
            </a:p>
          </p:txBody>
        </p:sp>
      </p:grpSp>
    </p:spTree>
    <p:extLst>
      <p:ext uri="{BB962C8B-B14F-4D97-AF65-F5344CB8AC3E}">
        <p14:creationId xmlns:p14="http://schemas.microsoft.com/office/powerpoint/2010/main" val="26033403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ko-KR" altLang="en-US" smtClean="0"/>
              <a:t>첨부</a:t>
            </a:r>
            <a:r>
              <a:rPr lang="en-US" altLang="ko-KR" smtClean="0"/>
              <a:t>2. </a:t>
            </a:r>
            <a:r>
              <a:rPr lang="ko-KR" altLang="en-US" smtClean="0"/>
              <a:t>개발자 환경설정</a:t>
            </a:r>
            <a:r>
              <a:rPr lang="en-US" altLang="ko-KR" smtClean="0"/>
              <a:t>(5/9)</a:t>
            </a:r>
            <a:endParaRPr lang="ko-KR" altLang="en-US" dirty="0"/>
          </a:p>
        </p:txBody>
      </p:sp>
      <p:sp>
        <p:nvSpPr>
          <p:cNvPr id="44" name="Rectangle 3"/>
          <p:cNvSpPr>
            <a:spLocks noChangeArrowheads="1"/>
          </p:cNvSpPr>
          <p:nvPr/>
        </p:nvSpPr>
        <p:spPr bwMode="auto">
          <a:xfrm>
            <a:off x="308484" y="764704"/>
            <a:ext cx="9144000" cy="351186"/>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en-US" altLang="ko-KR" sz="1400" b="1" smtClean="0">
                <a:latin typeface="KB금융 본문체 Light" panose="020B0303000000000000" pitchFamily="50" charset="-127"/>
                <a:ea typeface="KB금융 본문체 Light" panose="020B0303000000000000" pitchFamily="50" charset="-127"/>
                <a:cs typeface="ヒラギノ角ゴ ProN W3"/>
              </a:rPr>
              <a:t>PC </a:t>
            </a:r>
            <a:r>
              <a:rPr lang="ko-KR" altLang="en-US" sz="1400" b="1" smtClean="0">
                <a:latin typeface="KB금융 본문체 Light" panose="020B0303000000000000" pitchFamily="50" charset="-127"/>
                <a:ea typeface="KB금융 본문체 Light" panose="020B0303000000000000" pitchFamily="50" charset="-127"/>
                <a:cs typeface="ヒラギノ角ゴ ProN W3"/>
              </a:rPr>
              <a:t>설정</a:t>
            </a:r>
            <a:endParaRPr lang="en-US" altLang="ko-KR" sz="1400" b="1"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45" name="Rectangle 3"/>
          <p:cNvSpPr>
            <a:spLocks noChangeArrowheads="1"/>
          </p:cNvSpPr>
          <p:nvPr/>
        </p:nvSpPr>
        <p:spPr bwMode="auto">
          <a:xfrm>
            <a:off x="699993" y="1142438"/>
            <a:ext cx="8753507" cy="609398"/>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ko-KR" altLang="en-US" sz="1200" smtClean="0">
                <a:latin typeface="KB금융 본문체 Medium" panose="020B0603000000000000" pitchFamily="50" charset="-127"/>
                <a:ea typeface="KB금융 본문체 Medium" panose="020B0603000000000000" pitchFamily="50" charset="-127"/>
                <a:cs typeface="Arial" pitchFamily="34" charset="0"/>
              </a:rPr>
              <a:t>암</a:t>
            </a:r>
            <a:r>
              <a:rPr lang="en-US" altLang="ko-KR" sz="1200" smtClean="0">
                <a:latin typeface="KB금융 본문체 Medium" panose="020B0603000000000000" pitchFamily="50" charset="-127"/>
                <a:ea typeface="KB금융 본문체 Medium" panose="020B0603000000000000" pitchFamily="50" charset="-127"/>
                <a:cs typeface="Arial" pitchFamily="34" charset="0"/>
              </a:rPr>
              <a:t>·</a:t>
            </a:r>
            <a:r>
              <a:rPr lang="ko-KR" altLang="en-US" sz="1200" smtClean="0">
                <a:latin typeface="KB금융 본문체 Medium" panose="020B0603000000000000" pitchFamily="50" charset="-127"/>
                <a:ea typeface="KB금융 본문체 Medium" panose="020B0603000000000000" pitchFamily="50" charset="-127"/>
                <a:cs typeface="Arial" pitchFamily="34" charset="0"/>
              </a:rPr>
              <a:t>복호 테스트</a:t>
            </a:r>
            <a:endParaRPr lang="en-US" altLang="ko-KR" sz="1200" smtClean="0">
              <a:latin typeface="KB금융 본문체 Medium" panose="020B0603000000000000" pitchFamily="50" charset="-127"/>
              <a:ea typeface="KB금융 본문체 Medium" panose="020B0603000000000000" pitchFamily="50" charset="-127"/>
              <a:cs typeface="Arial" pitchFamily="34" charset="0"/>
            </a:endParaRPr>
          </a:p>
          <a:p>
            <a:pPr marL="285750" indent="-285750">
              <a:lnSpc>
                <a:spcPct val="130000"/>
              </a:lnSpc>
              <a:spcBef>
                <a:spcPct val="20000"/>
              </a:spcBef>
              <a:buSzPct val="100000"/>
              <a:buFont typeface="Wingdings" panose="05000000000000000000" pitchFamily="2" charset="2"/>
              <a:buChar char="l"/>
            </a:pPr>
            <a:r>
              <a:rPr lang="ko-KR" altLang="en-US" sz="1200" smtClean="0">
                <a:latin typeface="KB금융 본문체 Medium" panose="020B0603000000000000" pitchFamily="50" charset="-127"/>
                <a:ea typeface="KB금융 본문체 Medium" panose="020B0603000000000000" pitchFamily="50" charset="-127"/>
                <a:cs typeface="Arial" pitchFamily="34" charset="0"/>
              </a:rPr>
              <a:t>제공된 </a:t>
            </a:r>
            <a:r>
              <a:rPr lang="en-US" altLang="ko-KR" sz="1200">
                <a:latin typeface="KB금융 본문체 Medium" panose="020B0603000000000000" pitchFamily="50" charset="-127"/>
                <a:ea typeface="KB금융 본문체 Medium" panose="020B0603000000000000" pitchFamily="50" charset="-127"/>
                <a:cs typeface="Arial" pitchFamily="34" charset="0"/>
              </a:rPr>
              <a:t>Sample</a:t>
            </a:r>
            <a:r>
              <a:rPr lang="ko-KR" altLang="en-US" sz="1200">
                <a:latin typeface="KB금융 본문체 Medium" panose="020B0603000000000000" pitchFamily="50" charset="-127"/>
                <a:ea typeface="KB금융 본문체 Medium" panose="020B0603000000000000" pitchFamily="50" charset="-127"/>
                <a:cs typeface="Arial" pitchFamily="34" charset="0"/>
              </a:rPr>
              <a:t> </a:t>
            </a:r>
            <a:r>
              <a:rPr lang="en-US" altLang="ko-KR" sz="1200">
                <a:latin typeface="KB금융 본문체 Medium" panose="020B0603000000000000" pitchFamily="50" charset="-127"/>
                <a:ea typeface="KB금융 본문체 Medium" panose="020B0603000000000000" pitchFamily="50" charset="-127"/>
                <a:cs typeface="Arial" pitchFamily="34" charset="0"/>
              </a:rPr>
              <a:t>(C:\BASCP\SampleJAVA\ScpDbSampleCode.java) </a:t>
            </a:r>
            <a:r>
              <a:rPr lang="ko-KR" altLang="en-US" sz="1200">
                <a:latin typeface="KB금융 본문체 Medium" panose="020B0603000000000000" pitchFamily="50" charset="-127"/>
                <a:ea typeface="KB금융 본문체 Medium" panose="020B0603000000000000" pitchFamily="50" charset="-127"/>
                <a:cs typeface="Arial" pitchFamily="34" charset="0"/>
              </a:rPr>
              <a:t>프로그램</a:t>
            </a:r>
            <a:r>
              <a:rPr lang="en-US" altLang="ko-KR" sz="1200">
                <a:latin typeface="KB금융 본문체 Medium" panose="020B0603000000000000" pitchFamily="50" charset="-127"/>
                <a:ea typeface="KB금융 본문체 Medium" panose="020B0603000000000000" pitchFamily="50" charset="-127"/>
                <a:cs typeface="Arial" pitchFamily="34" charset="0"/>
              </a:rPr>
              <a:t> </a:t>
            </a:r>
            <a:r>
              <a:rPr lang="ko-KR" altLang="en-US" sz="1200">
                <a:latin typeface="KB금융 본문체 Medium" panose="020B0603000000000000" pitchFamily="50" charset="-127"/>
                <a:ea typeface="KB금융 본문체 Medium" panose="020B0603000000000000" pitchFamily="50" charset="-127"/>
                <a:cs typeface="Arial" pitchFamily="34" charset="0"/>
              </a:rPr>
              <a:t>컴파일 및 실행</a:t>
            </a:r>
            <a:endParaRPr lang="en-US" altLang="ko-KR" sz="1200" dirty="0" smtClean="0">
              <a:latin typeface="KB금융 본문체 Light" panose="020B0303000000000000" pitchFamily="50" charset="-127"/>
              <a:ea typeface="KB금융 본문체 Light" panose="020B0303000000000000" pitchFamily="50" charset="-127"/>
              <a:cs typeface="ヒラギノ角ゴ ProN W3"/>
            </a:endParaRPr>
          </a:p>
        </p:txBody>
      </p:sp>
      <p:pic>
        <p:nvPicPr>
          <p:cNvPr id="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6109" y="1988840"/>
            <a:ext cx="6362700" cy="258127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47" name="직사각형 46"/>
          <p:cNvSpPr/>
          <p:nvPr/>
        </p:nvSpPr>
        <p:spPr>
          <a:xfrm>
            <a:off x="2720752" y="2204864"/>
            <a:ext cx="3960440" cy="216024"/>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sp>
        <p:nvSpPr>
          <p:cNvPr id="48" name="직사각형 47"/>
          <p:cNvSpPr/>
          <p:nvPr/>
        </p:nvSpPr>
        <p:spPr>
          <a:xfrm>
            <a:off x="1296109" y="2492896"/>
            <a:ext cx="6033155" cy="1656184"/>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sp>
        <p:nvSpPr>
          <p:cNvPr id="49" name="설명선 1 48"/>
          <p:cNvSpPr/>
          <p:nvPr/>
        </p:nvSpPr>
        <p:spPr>
          <a:xfrm>
            <a:off x="7329264" y="1892800"/>
            <a:ext cx="1656184" cy="312064"/>
          </a:xfrm>
          <a:prstGeom prst="borderCallout1">
            <a:avLst>
              <a:gd name="adj1" fmla="val 59732"/>
              <a:gd name="adj2" fmla="val 670"/>
              <a:gd name="adj3" fmla="val 139454"/>
              <a:gd name="adj4" fmla="val -40166"/>
            </a:avLst>
          </a:prstGeom>
          <a:solidFill>
            <a:schemeClr val="bg1"/>
          </a:solidFill>
          <a:ln w="12700" cap="flat">
            <a:solidFill>
              <a:srgbClr val="FF0000"/>
            </a:solidFill>
            <a:miter lim="800000"/>
            <a:headEnd type="triangl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nSpc>
                <a:spcPct val="150000"/>
              </a:lnSpc>
            </a:pPr>
            <a:r>
              <a:rPr lang="en-US" altLang="ko-KR" sz="900" dirty="0" smtClean="0">
                <a:solidFill>
                  <a:schemeClr val="tx1"/>
                </a:solidFill>
                <a:latin typeface="KB금융 본문체 Light" panose="020B0303000000000000" pitchFamily="50" charset="-127"/>
                <a:ea typeface="KB금융 본문체 Light" panose="020B0303000000000000" pitchFamily="50" charset="-127"/>
              </a:rPr>
              <a:t>Sample </a:t>
            </a:r>
            <a:r>
              <a:rPr lang="ko-KR" altLang="en-US" sz="900" dirty="0" smtClean="0">
                <a:solidFill>
                  <a:schemeClr val="tx1"/>
                </a:solidFill>
                <a:latin typeface="KB금융 본문체 Light" panose="020B0303000000000000" pitchFamily="50" charset="-127"/>
                <a:ea typeface="KB금융 본문체 Light" panose="020B0303000000000000" pitchFamily="50" charset="-127"/>
              </a:rPr>
              <a:t>프로그램 컴파일</a:t>
            </a:r>
            <a:endParaRPr lang="ko-KR" altLang="en-US" sz="900" dirty="0">
              <a:solidFill>
                <a:schemeClr val="tx1"/>
              </a:solidFill>
              <a:latin typeface="KB금융 본문체 Light" panose="020B0303000000000000" pitchFamily="50" charset="-127"/>
              <a:ea typeface="KB금융 본문체 Light" panose="020B0303000000000000" pitchFamily="50" charset="-127"/>
            </a:endParaRPr>
          </a:p>
        </p:txBody>
      </p:sp>
      <p:sp>
        <p:nvSpPr>
          <p:cNvPr id="50" name="설명선 1 49"/>
          <p:cNvSpPr/>
          <p:nvPr/>
        </p:nvSpPr>
        <p:spPr>
          <a:xfrm>
            <a:off x="7745917" y="3356992"/>
            <a:ext cx="1482920" cy="576064"/>
          </a:xfrm>
          <a:prstGeom prst="borderCallout1">
            <a:avLst>
              <a:gd name="adj1" fmla="val 59732"/>
              <a:gd name="adj2" fmla="val 670"/>
              <a:gd name="adj3" fmla="val 63200"/>
              <a:gd name="adj4" fmla="val -26997"/>
            </a:avLst>
          </a:prstGeom>
          <a:solidFill>
            <a:schemeClr val="bg1"/>
          </a:solidFill>
          <a:ln w="12700" cap="flat">
            <a:solidFill>
              <a:srgbClr val="FF0000"/>
            </a:solidFill>
            <a:miter lim="800000"/>
            <a:headEnd type="triangl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nSpc>
                <a:spcPct val="150000"/>
              </a:lnSpc>
            </a:pPr>
            <a:r>
              <a:rPr lang="en-US" altLang="ko-KR" sz="900" dirty="0" smtClean="0">
                <a:solidFill>
                  <a:schemeClr val="tx1"/>
                </a:solidFill>
                <a:latin typeface="KB금융 본문체 Light" panose="020B0303000000000000" pitchFamily="50" charset="-127"/>
                <a:ea typeface="KB금융 본문체 Light" panose="020B0303000000000000" pitchFamily="50" charset="-127"/>
              </a:rPr>
              <a:t>Sample </a:t>
            </a:r>
            <a:r>
              <a:rPr lang="ko-KR" altLang="en-US" sz="900" dirty="0" smtClean="0">
                <a:solidFill>
                  <a:schemeClr val="tx1"/>
                </a:solidFill>
                <a:latin typeface="KB금융 본문체 Light" panose="020B0303000000000000" pitchFamily="50" charset="-127"/>
                <a:ea typeface="KB금융 본문체 Light" panose="020B0303000000000000" pitchFamily="50" charset="-127"/>
              </a:rPr>
              <a:t>프로그램 실행 하여 결과 확인</a:t>
            </a:r>
            <a:endParaRPr lang="ko-KR" altLang="en-US" sz="900" dirty="0">
              <a:solidFill>
                <a:schemeClr val="tx1"/>
              </a:solidFill>
              <a:latin typeface="KB금융 본문체 Light" panose="020B0303000000000000" pitchFamily="50" charset="-127"/>
              <a:ea typeface="KB금융 본문체 Light" panose="020B0303000000000000" pitchFamily="50" charset="-127"/>
            </a:endParaRPr>
          </a:p>
        </p:txBody>
      </p:sp>
    </p:spTree>
    <p:extLst>
      <p:ext uri="{BB962C8B-B14F-4D97-AF65-F5344CB8AC3E}">
        <p14:creationId xmlns:p14="http://schemas.microsoft.com/office/powerpoint/2010/main" val="25907953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ko-KR" altLang="en-US" smtClean="0"/>
              <a:t>첨부</a:t>
            </a:r>
            <a:r>
              <a:rPr lang="en-US" altLang="ko-KR" smtClean="0"/>
              <a:t>2. </a:t>
            </a:r>
            <a:r>
              <a:rPr lang="ko-KR" altLang="en-US" smtClean="0"/>
              <a:t>개발자 환경설정</a:t>
            </a:r>
            <a:r>
              <a:rPr lang="en-US" altLang="ko-KR" smtClean="0"/>
              <a:t>(6/9)</a:t>
            </a:r>
            <a:endParaRPr lang="ko-KR" altLang="en-US" dirty="0"/>
          </a:p>
        </p:txBody>
      </p:sp>
      <p:sp>
        <p:nvSpPr>
          <p:cNvPr id="44" name="Rectangle 3"/>
          <p:cNvSpPr>
            <a:spLocks noChangeArrowheads="1"/>
          </p:cNvSpPr>
          <p:nvPr/>
        </p:nvSpPr>
        <p:spPr bwMode="auto">
          <a:xfrm>
            <a:off x="308484" y="764704"/>
            <a:ext cx="9144000" cy="351186"/>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ko-KR" altLang="en-US" sz="1400" b="1" smtClean="0">
                <a:latin typeface="KB금융 본문체 Light" panose="020B0303000000000000" pitchFamily="50" charset="-127"/>
                <a:ea typeface="KB금융 본문체 Light" panose="020B0303000000000000" pitchFamily="50" charset="-127"/>
                <a:cs typeface="ヒラギノ角ゴ ProN W3"/>
              </a:rPr>
              <a:t>이클립스 설정</a:t>
            </a:r>
            <a:endParaRPr lang="en-US" altLang="ko-KR" sz="1400" b="1"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45" name="Rectangle 3"/>
          <p:cNvSpPr>
            <a:spLocks noChangeArrowheads="1"/>
          </p:cNvSpPr>
          <p:nvPr/>
        </p:nvSpPr>
        <p:spPr bwMode="auto">
          <a:xfrm>
            <a:off x="699993" y="1142438"/>
            <a:ext cx="8753507" cy="609398"/>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ko-KR" altLang="en-US" sz="1200">
                <a:latin typeface="KB금융 본문체 Medium" panose="020B0603000000000000" pitchFamily="50" charset="-127"/>
                <a:ea typeface="KB금융 본문체 Medium" panose="020B0603000000000000" pitchFamily="50" charset="-127"/>
                <a:cs typeface="Arial" pitchFamily="34" charset="0"/>
              </a:rPr>
              <a:t>암호화 라이브러리</a:t>
            </a:r>
            <a:r>
              <a:rPr lang="en-US" altLang="ko-KR" sz="1200">
                <a:latin typeface="KB금융 본문체 Medium" panose="020B0603000000000000" pitchFamily="50" charset="-127"/>
                <a:ea typeface="KB금융 본문체 Medium" panose="020B0603000000000000" pitchFamily="50" charset="-127"/>
                <a:cs typeface="Arial" pitchFamily="34" charset="0"/>
              </a:rPr>
              <a:t>(*.dll) </a:t>
            </a:r>
            <a:r>
              <a:rPr lang="ko-KR" altLang="en-US" sz="1200">
                <a:latin typeface="KB금융 본문체 Medium" panose="020B0603000000000000" pitchFamily="50" charset="-127"/>
                <a:ea typeface="KB금융 본문체 Medium" panose="020B0603000000000000" pitchFamily="50" charset="-127"/>
                <a:cs typeface="Arial" pitchFamily="34" charset="0"/>
              </a:rPr>
              <a:t>복사</a:t>
            </a:r>
          </a:p>
          <a:p>
            <a:pPr marL="285750" indent="-285750">
              <a:lnSpc>
                <a:spcPct val="130000"/>
              </a:lnSpc>
              <a:spcBef>
                <a:spcPct val="20000"/>
              </a:spcBef>
              <a:buSzPct val="100000"/>
              <a:buFont typeface="Wingdings" panose="05000000000000000000" pitchFamily="2" charset="2"/>
              <a:buChar char="l"/>
            </a:pPr>
            <a:r>
              <a:rPr lang="en-US" altLang="ko-KR" sz="1200" smtClean="0">
                <a:latin typeface="KB금융 본문체 Medium" panose="020B0603000000000000" pitchFamily="50" charset="-127"/>
                <a:ea typeface="KB금융 본문체 Medium" panose="020B0603000000000000" pitchFamily="50" charset="-127"/>
                <a:cs typeface="Arial" pitchFamily="34" charset="0"/>
              </a:rPr>
              <a:t>[</a:t>
            </a:r>
            <a:r>
              <a:rPr lang="ko-KR" altLang="en-US" sz="1200" smtClean="0">
                <a:latin typeface="KB금융 본문체 Medium" panose="020B0603000000000000" pitchFamily="50" charset="-127"/>
                <a:ea typeface="KB금융 본문체 Medium" panose="020B0603000000000000" pitchFamily="50" charset="-127"/>
                <a:cs typeface="Arial" pitchFamily="34" charset="0"/>
              </a:rPr>
              <a:t>별첨</a:t>
            </a:r>
            <a:r>
              <a:rPr lang="en-US" altLang="ko-KR" sz="1200" smtClean="0">
                <a:latin typeface="KB금융 본문체 Medium" panose="020B0603000000000000" pitchFamily="50" charset="-127"/>
                <a:ea typeface="KB금융 본문체 Medium" panose="020B0603000000000000" pitchFamily="50" charset="-127"/>
                <a:cs typeface="Arial" pitchFamily="34" charset="0"/>
              </a:rPr>
              <a:t>2.</a:t>
            </a:r>
            <a:r>
              <a:rPr lang="ko-KR" altLang="en-US" sz="1200" smtClean="0">
                <a:latin typeface="KB금융 본문체 Medium" panose="020B0603000000000000" pitchFamily="50" charset="-127"/>
                <a:ea typeface="KB금융 본문체 Medium" panose="020B0603000000000000" pitchFamily="50" charset="-127"/>
                <a:cs typeface="Arial" pitchFamily="34" charset="0"/>
              </a:rPr>
              <a:t>개발자 환경설정</a:t>
            </a:r>
            <a:r>
              <a:rPr lang="en-US" altLang="ko-KR" sz="1200" smtClean="0">
                <a:latin typeface="KB금융 본문체 Medium" panose="020B0603000000000000" pitchFamily="50" charset="-127"/>
                <a:ea typeface="KB금융 본문체 Medium" panose="020B0603000000000000" pitchFamily="50" charset="-127"/>
                <a:cs typeface="Arial" pitchFamily="34" charset="0"/>
              </a:rPr>
              <a:t>(4/9)</a:t>
            </a:r>
            <a:r>
              <a:rPr lang="ko-KR" altLang="en-US" sz="1200" smtClean="0">
                <a:latin typeface="KB금융 본문체 Medium" panose="020B0603000000000000" pitchFamily="50" charset="-127"/>
                <a:ea typeface="KB금융 본문체 Medium" panose="020B0603000000000000" pitchFamily="50" charset="-127"/>
                <a:cs typeface="Arial" pitchFamily="34" charset="0"/>
              </a:rPr>
              <a:t>」 </a:t>
            </a:r>
            <a:r>
              <a:rPr lang="ko-KR" altLang="en-US" sz="1200">
                <a:latin typeface="KB금융 본문체 Medium" panose="020B0603000000000000" pitchFamily="50" charset="-127"/>
                <a:ea typeface="KB금융 본문체 Medium" panose="020B0603000000000000" pitchFamily="50" charset="-127"/>
                <a:cs typeface="Arial" pitchFamily="34" charset="0"/>
              </a:rPr>
              <a:t>에서 사용자 변수 등록 완료 시 본 과정 </a:t>
            </a:r>
            <a:r>
              <a:rPr lang="ko-KR" altLang="en-US" sz="1200" smtClean="0">
                <a:latin typeface="KB금융 본문체 Medium" panose="020B0603000000000000" pitchFamily="50" charset="-127"/>
                <a:ea typeface="KB금융 본문체 Medium" panose="020B0603000000000000" pitchFamily="50" charset="-127"/>
                <a:cs typeface="Arial" pitchFamily="34" charset="0"/>
              </a:rPr>
              <a:t>생략함</a:t>
            </a:r>
            <a:endParaRPr lang="en-US" altLang="ko-KR" sz="1200" dirty="0" smtClean="0">
              <a:latin typeface="KB금융 본문체 Light" panose="020B0303000000000000" pitchFamily="50" charset="-127"/>
              <a:ea typeface="KB금융 본문체 Light" panose="020B0303000000000000" pitchFamily="50" charset="-127"/>
              <a:cs typeface="ヒラギノ角ゴ ProN W3"/>
            </a:endParaRPr>
          </a:p>
        </p:txBody>
      </p:sp>
      <p:pic>
        <p:nvPicPr>
          <p:cNvPr id="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653" y="1880828"/>
            <a:ext cx="4181475" cy="362902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73425" y="2480902"/>
            <a:ext cx="4524375" cy="242887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48" name="직사각형 47"/>
          <p:cNvSpPr/>
          <p:nvPr/>
        </p:nvSpPr>
        <p:spPr>
          <a:xfrm>
            <a:off x="4448944" y="2687228"/>
            <a:ext cx="1584176" cy="2110677"/>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sp>
        <p:nvSpPr>
          <p:cNvPr id="49" name="직사각형 48"/>
          <p:cNvSpPr/>
          <p:nvPr/>
        </p:nvSpPr>
        <p:spPr>
          <a:xfrm>
            <a:off x="742845" y="3039843"/>
            <a:ext cx="864096" cy="223450"/>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pic>
        <p:nvPicPr>
          <p:cNvPr id="5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2869" y="4765984"/>
            <a:ext cx="2435357" cy="133436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51" name="직사각형 50"/>
          <p:cNvSpPr/>
          <p:nvPr/>
        </p:nvSpPr>
        <p:spPr>
          <a:xfrm>
            <a:off x="2963383" y="5765355"/>
            <a:ext cx="638924" cy="288032"/>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cxnSp>
        <p:nvCxnSpPr>
          <p:cNvPr id="52" name="직선 화살표 연결선 51"/>
          <p:cNvCxnSpPr>
            <a:stCxn id="48" idx="1"/>
            <a:endCxn id="49" idx="3"/>
          </p:cNvCxnSpPr>
          <p:nvPr/>
        </p:nvCxnSpPr>
        <p:spPr>
          <a:xfrm flipH="1" flipV="1">
            <a:off x="1606941" y="3151568"/>
            <a:ext cx="2842003" cy="590999"/>
          </a:xfrm>
          <a:prstGeom prst="straightConnector1">
            <a:avLst/>
          </a:prstGeom>
          <a:ln w="254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53" name="직선 화살표 연결선 52"/>
          <p:cNvCxnSpPr>
            <a:stCxn id="49" idx="2"/>
          </p:cNvCxnSpPr>
          <p:nvPr/>
        </p:nvCxnSpPr>
        <p:spPr>
          <a:xfrm>
            <a:off x="1174893" y="3263293"/>
            <a:ext cx="1162576" cy="1431040"/>
          </a:xfrm>
          <a:prstGeom prst="straightConnector1">
            <a:avLst/>
          </a:prstGeom>
          <a:ln w="254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54" name="타원 53"/>
          <p:cNvSpPr/>
          <p:nvPr/>
        </p:nvSpPr>
        <p:spPr>
          <a:xfrm>
            <a:off x="4284572" y="2531767"/>
            <a:ext cx="177707" cy="207146"/>
          </a:xfrm>
          <a:prstGeom prst="ellipse">
            <a:avLst/>
          </a:prstGeom>
          <a:solidFill>
            <a:srgbClr val="FF8264"/>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r>
              <a:rPr lang="en-US" altLang="ko-KR" sz="1100" b="1" dirty="0" smtClean="0">
                <a:solidFill>
                  <a:schemeClr val="bg1"/>
                </a:solidFill>
                <a:latin typeface="-2002" panose="02030504000101010101" pitchFamily="18" charset="-127"/>
                <a:ea typeface="-2002" panose="02030504000101010101" pitchFamily="18" charset="-127"/>
                <a:cs typeface="Arial" pitchFamily="34" charset="0"/>
              </a:rPr>
              <a:t>1</a:t>
            </a:r>
            <a:endParaRPr lang="ko-KR" altLang="en-US" sz="1600" b="1" dirty="0" smtClean="0">
              <a:solidFill>
                <a:schemeClr val="bg1"/>
              </a:solidFill>
              <a:latin typeface="-2002" panose="02030504000101010101" pitchFamily="18" charset="-127"/>
              <a:ea typeface="-2002" panose="02030504000101010101" pitchFamily="18" charset="-127"/>
              <a:cs typeface="Arial" pitchFamily="34" charset="0"/>
            </a:endParaRPr>
          </a:p>
        </p:txBody>
      </p:sp>
      <p:sp>
        <p:nvSpPr>
          <p:cNvPr id="55" name="타원 54"/>
          <p:cNvSpPr/>
          <p:nvPr/>
        </p:nvSpPr>
        <p:spPr>
          <a:xfrm>
            <a:off x="589864" y="2894288"/>
            <a:ext cx="177707" cy="207146"/>
          </a:xfrm>
          <a:prstGeom prst="ellipse">
            <a:avLst/>
          </a:prstGeom>
          <a:solidFill>
            <a:srgbClr val="FF8264"/>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r>
              <a:rPr lang="en-US" altLang="ko-KR" sz="1100" b="1" dirty="0" smtClean="0">
                <a:solidFill>
                  <a:schemeClr val="bg1"/>
                </a:solidFill>
                <a:latin typeface="-2002" panose="02030504000101010101" pitchFamily="18" charset="-127"/>
                <a:ea typeface="-2002" panose="02030504000101010101" pitchFamily="18" charset="-127"/>
                <a:cs typeface="Arial" pitchFamily="34" charset="0"/>
              </a:rPr>
              <a:t>2</a:t>
            </a:r>
            <a:endParaRPr lang="ko-KR" altLang="en-US" sz="1600" b="1" dirty="0" smtClean="0">
              <a:solidFill>
                <a:schemeClr val="bg1"/>
              </a:solidFill>
              <a:latin typeface="-2002" panose="02030504000101010101" pitchFamily="18" charset="-127"/>
              <a:ea typeface="-2002" panose="02030504000101010101" pitchFamily="18" charset="-127"/>
              <a:cs typeface="Arial" pitchFamily="34" charset="0"/>
            </a:endParaRPr>
          </a:p>
        </p:txBody>
      </p:sp>
      <p:sp>
        <p:nvSpPr>
          <p:cNvPr id="56" name="타원 55"/>
          <p:cNvSpPr/>
          <p:nvPr/>
        </p:nvSpPr>
        <p:spPr>
          <a:xfrm>
            <a:off x="1606941" y="4590760"/>
            <a:ext cx="177707" cy="207146"/>
          </a:xfrm>
          <a:prstGeom prst="ellipse">
            <a:avLst/>
          </a:prstGeom>
          <a:solidFill>
            <a:srgbClr val="FF8264"/>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r>
              <a:rPr lang="en-US" altLang="ko-KR" sz="1100" b="1" dirty="0" smtClean="0">
                <a:solidFill>
                  <a:schemeClr val="bg1"/>
                </a:solidFill>
                <a:latin typeface="-2002" panose="02030504000101010101" pitchFamily="18" charset="-127"/>
                <a:ea typeface="-2002" panose="02030504000101010101" pitchFamily="18" charset="-127"/>
                <a:cs typeface="Arial" pitchFamily="34" charset="0"/>
              </a:rPr>
              <a:t>3</a:t>
            </a:r>
            <a:endParaRPr lang="ko-KR" altLang="en-US" sz="1600" b="1" dirty="0" smtClean="0">
              <a:solidFill>
                <a:schemeClr val="bg1"/>
              </a:solidFill>
              <a:latin typeface="-2002" panose="02030504000101010101" pitchFamily="18" charset="-127"/>
              <a:ea typeface="-2002" panose="02030504000101010101" pitchFamily="18" charset="-127"/>
              <a:cs typeface="Arial" pitchFamily="34" charset="0"/>
            </a:endParaRPr>
          </a:p>
        </p:txBody>
      </p:sp>
      <p:sp>
        <p:nvSpPr>
          <p:cNvPr id="57" name="설명선 1 56"/>
          <p:cNvSpPr/>
          <p:nvPr/>
        </p:nvSpPr>
        <p:spPr>
          <a:xfrm>
            <a:off x="2274714" y="2236984"/>
            <a:ext cx="1167679" cy="439174"/>
          </a:xfrm>
          <a:prstGeom prst="borderCallout1">
            <a:avLst>
              <a:gd name="adj1" fmla="val 99950"/>
              <a:gd name="adj2" fmla="val 54257"/>
              <a:gd name="adj3" fmla="val 247557"/>
              <a:gd name="adj4" fmla="val 55603"/>
            </a:avLst>
          </a:prstGeom>
          <a:solidFill>
            <a:schemeClr val="bg1"/>
          </a:solidFill>
          <a:ln w="12700" cap="flat">
            <a:solidFill>
              <a:srgbClr val="FF0000"/>
            </a:solidFill>
            <a:miter lim="800000"/>
            <a:headEnd type="triangl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nSpc>
                <a:spcPct val="150000"/>
              </a:lnSpc>
            </a:pPr>
            <a:r>
              <a:rPr lang="ko-KR" altLang="en-US" sz="900" dirty="0" smtClean="0">
                <a:solidFill>
                  <a:schemeClr val="tx1"/>
                </a:solidFill>
                <a:latin typeface="KB금융 본문체 Light" panose="020B0303000000000000" pitchFamily="50" charset="-127"/>
                <a:ea typeface="KB금융 본문체 Light" panose="020B0303000000000000" pitchFamily="50" charset="-127"/>
              </a:rPr>
              <a:t>프로젝트로 파일 복사</a:t>
            </a:r>
            <a:endParaRPr lang="ko-KR" altLang="en-US" sz="900" dirty="0">
              <a:solidFill>
                <a:schemeClr val="tx1"/>
              </a:solidFill>
              <a:latin typeface="KB금융 본문체 Light" panose="020B0303000000000000" pitchFamily="50" charset="-127"/>
              <a:ea typeface="KB금융 본문체 Light" panose="020B0303000000000000" pitchFamily="50" charset="-127"/>
            </a:endParaRPr>
          </a:p>
        </p:txBody>
      </p:sp>
      <p:sp>
        <p:nvSpPr>
          <p:cNvPr id="58" name="설명선 1 57"/>
          <p:cNvSpPr/>
          <p:nvPr/>
        </p:nvSpPr>
        <p:spPr>
          <a:xfrm>
            <a:off x="5961112" y="2024905"/>
            <a:ext cx="1584176" cy="439174"/>
          </a:xfrm>
          <a:prstGeom prst="borderCallout1">
            <a:avLst>
              <a:gd name="adj1" fmla="val 99950"/>
              <a:gd name="adj2" fmla="val 54257"/>
              <a:gd name="adj3" fmla="val 247557"/>
              <a:gd name="adj4" fmla="val 55603"/>
            </a:avLst>
          </a:prstGeom>
          <a:solidFill>
            <a:schemeClr val="bg1"/>
          </a:solidFill>
          <a:ln w="12700" cap="flat">
            <a:solidFill>
              <a:srgbClr val="FF0000"/>
            </a:solidFill>
            <a:miter lim="800000"/>
            <a:headEnd type="triangl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nSpc>
                <a:spcPct val="150000"/>
              </a:lnSpc>
            </a:pPr>
            <a:r>
              <a:rPr lang="ko-KR" altLang="en-US" sz="900" dirty="0">
                <a:solidFill>
                  <a:schemeClr val="tx1"/>
                </a:solidFill>
                <a:latin typeface="KB금융 본문체 Light" panose="020B0303000000000000" pitchFamily="50" charset="-127"/>
                <a:ea typeface="KB금융 본문체 Light" panose="020B0303000000000000" pitchFamily="50" charset="-127"/>
              </a:rPr>
              <a:t>「</a:t>
            </a:r>
            <a:r>
              <a:rPr lang="en-US" altLang="ko-KR" sz="900" dirty="0" smtClean="0">
                <a:solidFill>
                  <a:schemeClr val="tx1"/>
                </a:solidFill>
                <a:latin typeface="KB금융 본문체 Light" panose="020B0303000000000000" pitchFamily="50" charset="-127"/>
                <a:ea typeface="KB금융 본문체 Light" panose="020B0303000000000000" pitchFamily="50" charset="-127"/>
              </a:rPr>
              <a:t>C:\BASCP\lib</a:t>
            </a:r>
            <a:r>
              <a:rPr lang="ko-KR" altLang="en-US" sz="900" dirty="0" smtClean="0">
                <a:solidFill>
                  <a:schemeClr val="tx1"/>
                </a:solidFill>
                <a:latin typeface="KB금융 본문체 Light" panose="020B0303000000000000" pitchFamily="50" charset="-127"/>
                <a:ea typeface="KB금융 본문체 Light" panose="020B0303000000000000" pitchFamily="50" charset="-127"/>
              </a:rPr>
              <a:t>」 에 위치</a:t>
            </a:r>
            <a:endParaRPr lang="ko-KR" altLang="en-US" sz="900" dirty="0">
              <a:solidFill>
                <a:schemeClr val="tx1"/>
              </a:solidFill>
              <a:latin typeface="KB금융 본문체 Light" panose="020B0303000000000000" pitchFamily="50" charset="-127"/>
              <a:ea typeface="KB금융 본문체 Light" panose="020B0303000000000000" pitchFamily="50" charset="-127"/>
            </a:endParaRPr>
          </a:p>
        </p:txBody>
      </p:sp>
    </p:spTree>
    <p:extLst>
      <p:ext uri="{BB962C8B-B14F-4D97-AF65-F5344CB8AC3E}">
        <p14:creationId xmlns:p14="http://schemas.microsoft.com/office/powerpoint/2010/main" val="15656115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ko-KR" altLang="en-US" smtClean="0"/>
              <a:t>첨부</a:t>
            </a:r>
            <a:r>
              <a:rPr lang="en-US" altLang="ko-KR" smtClean="0"/>
              <a:t>2. </a:t>
            </a:r>
            <a:r>
              <a:rPr lang="ko-KR" altLang="en-US" smtClean="0"/>
              <a:t>개발자 환경설정</a:t>
            </a:r>
            <a:r>
              <a:rPr lang="en-US" altLang="ko-KR" smtClean="0"/>
              <a:t>(7/9)</a:t>
            </a:r>
            <a:endParaRPr lang="ko-KR" altLang="en-US" dirty="0"/>
          </a:p>
        </p:txBody>
      </p:sp>
      <p:sp>
        <p:nvSpPr>
          <p:cNvPr id="44" name="Rectangle 3"/>
          <p:cNvSpPr>
            <a:spLocks noChangeArrowheads="1"/>
          </p:cNvSpPr>
          <p:nvPr/>
        </p:nvSpPr>
        <p:spPr bwMode="auto">
          <a:xfrm>
            <a:off x="308484" y="764704"/>
            <a:ext cx="9144000" cy="351186"/>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ko-KR" altLang="en-US" sz="1400" b="1" smtClean="0">
                <a:latin typeface="KB금융 본문체 Light" panose="020B0303000000000000" pitchFamily="50" charset="-127"/>
                <a:ea typeface="KB금융 본문체 Light" panose="020B0303000000000000" pitchFamily="50" charset="-127"/>
                <a:cs typeface="ヒラギノ角ゴ ProN W3"/>
              </a:rPr>
              <a:t>이클립스 설정</a:t>
            </a:r>
            <a:endParaRPr lang="en-US" altLang="ko-KR" sz="1400" b="1"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45" name="Rectangle 3"/>
          <p:cNvSpPr>
            <a:spLocks noChangeArrowheads="1"/>
          </p:cNvSpPr>
          <p:nvPr/>
        </p:nvSpPr>
        <p:spPr bwMode="auto">
          <a:xfrm>
            <a:off x="699993" y="1142438"/>
            <a:ext cx="8753507" cy="332399"/>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ko-KR" altLang="en-US" sz="1200" smtClean="0">
                <a:latin typeface="KB금융 본문체 Medium" panose="020B0603000000000000" pitchFamily="50" charset="-127"/>
                <a:ea typeface="KB금융 본문체 Medium" panose="020B0603000000000000" pitchFamily="50" charset="-127"/>
                <a:cs typeface="Arial" pitchFamily="34" charset="0"/>
              </a:rPr>
              <a:t>환경설정 파일</a:t>
            </a:r>
            <a:r>
              <a:rPr lang="en-US" altLang="ko-KR" sz="1200" smtClean="0">
                <a:latin typeface="KB금융 본문체 Medium" panose="020B0603000000000000" pitchFamily="50" charset="-127"/>
                <a:ea typeface="KB금융 본문체 Medium" panose="020B0603000000000000" pitchFamily="50" charset="-127"/>
                <a:cs typeface="Arial" pitchFamily="34" charset="0"/>
              </a:rPr>
              <a:t>(scpdb_agent.ini) </a:t>
            </a:r>
            <a:r>
              <a:rPr lang="ko-KR" altLang="en-US" sz="1200" smtClean="0">
                <a:latin typeface="KB금융 본문체 Medium" panose="020B0603000000000000" pitchFamily="50" charset="-127"/>
                <a:ea typeface="KB금융 본문체 Medium" panose="020B0603000000000000" pitchFamily="50" charset="-127"/>
                <a:cs typeface="Arial" pitchFamily="34" charset="0"/>
              </a:rPr>
              <a:t>복사</a:t>
            </a:r>
            <a:endParaRPr lang="en-US" altLang="ko-KR" sz="1200" dirty="0" smtClean="0">
              <a:latin typeface="KB금융 본문체 Light" panose="020B0303000000000000" pitchFamily="50" charset="-127"/>
              <a:ea typeface="KB금융 본문체 Light" panose="020B0303000000000000" pitchFamily="50" charset="-127"/>
              <a:cs typeface="ヒラギノ角ゴ ProN W3"/>
            </a:endParaRPr>
          </a:p>
        </p:txBody>
      </p:sp>
      <p:grpSp>
        <p:nvGrpSpPr>
          <p:cNvPr id="46" name="그룹 45"/>
          <p:cNvGrpSpPr/>
          <p:nvPr/>
        </p:nvGrpSpPr>
        <p:grpSpPr>
          <a:xfrm>
            <a:off x="389035" y="1772816"/>
            <a:ext cx="8416393" cy="4581628"/>
            <a:chOff x="353031" y="1753123"/>
            <a:chExt cx="8416393" cy="4581628"/>
          </a:xfrm>
        </p:grpSpPr>
        <p:pic>
          <p:nvPicPr>
            <p:cNvPr id="4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031" y="1753123"/>
              <a:ext cx="4276725" cy="403860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48"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7424" y="3167284"/>
              <a:ext cx="4572000" cy="59055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49" name="그림 48"/>
            <p:cNvPicPr>
              <a:picLocks noChangeAspect="1"/>
            </p:cNvPicPr>
            <p:nvPr/>
          </p:nvPicPr>
          <p:blipFill>
            <a:blip r:embed="rId5"/>
            <a:stretch>
              <a:fillRect/>
            </a:stretch>
          </p:blipFill>
          <p:spPr>
            <a:xfrm>
              <a:off x="1784648" y="4957479"/>
              <a:ext cx="2466569" cy="1377272"/>
            </a:xfrm>
            <a:prstGeom prst="rect">
              <a:avLst/>
            </a:prstGeom>
            <a:ln>
              <a:solidFill>
                <a:schemeClr val="tx1"/>
              </a:solidFill>
            </a:ln>
          </p:spPr>
        </p:pic>
        <p:sp>
          <p:nvSpPr>
            <p:cNvPr id="50" name="직사각형 49"/>
            <p:cNvSpPr/>
            <p:nvPr/>
          </p:nvSpPr>
          <p:spPr>
            <a:xfrm>
              <a:off x="4251217" y="3377105"/>
              <a:ext cx="3494700" cy="303492"/>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sp>
          <p:nvSpPr>
            <p:cNvPr id="51" name="직사각형 50"/>
            <p:cNvSpPr/>
            <p:nvPr/>
          </p:nvSpPr>
          <p:spPr>
            <a:xfrm>
              <a:off x="762060" y="3065541"/>
              <a:ext cx="590540" cy="223450"/>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sp>
          <p:nvSpPr>
            <p:cNvPr id="52" name="직사각형 51"/>
            <p:cNvSpPr/>
            <p:nvPr/>
          </p:nvSpPr>
          <p:spPr>
            <a:xfrm>
              <a:off x="3035862" y="6038642"/>
              <a:ext cx="638924" cy="288032"/>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cxnSp>
          <p:nvCxnSpPr>
            <p:cNvPr id="53" name="직선 화살표 연결선 52"/>
            <p:cNvCxnSpPr>
              <a:stCxn id="50" idx="1"/>
              <a:endCxn id="51" idx="3"/>
            </p:cNvCxnSpPr>
            <p:nvPr/>
          </p:nvCxnSpPr>
          <p:spPr>
            <a:xfrm flipH="1" flipV="1">
              <a:off x="1352600" y="3177266"/>
              <a:ext cx="2898617" cy="351585"/>
            </a:xfrm>
            <a:prstGeom prst="straightConnector1">
              <a:avLst/>
            </a:prstGeom>
            <a:ln w="254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54" name="직선 화살표 연결선 53"/>
            <p:cNvCxnSpPr>
              <a:stCxn id="51" idx="2"/>
            </p:cNvCxnSpPr>
            <p:nvPr/>
          </p:nvCxnSpPr>
          <p:spPr>
            <a:xfrm>
              <a:off x="1057330" y="3288991"/>
              <a:ext cx="1182653" cy="1678629"/>
            </a:xfrm>
            <a:prstGeom prst="straightConnector1">
              <a:avLst/>
            </a:prstGeom>
            <a:ln w="254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55" name="타원 54"/>
            <p:cNvSpPr/>
            <p:nvPr/>
          </p:nvSpPr>
          <p:spPr>
            <a:xfrm>
              <a:off x="4088904" y="3185418"/>
              <a:ext cx="177707" cy="207146"/>
            </a:xfrm>
            <a:prstGeom prst="ellipse">
              <a:avLst/>
            </a:prstGeom>
            <a:solidFill>
              <a:srgbClr val="FF8264"/>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r>
                <a:rPr lang="en-US" altLang="ko-KR" sz="1100" b="1" dirty="0" smtClean="0">
                  <a:solidFill>
                    <a:schemeClr val="bg1"/>
                  </a:solidFill>
                  <a:latin typeface="-2002" panose="02030504000101010101" pitchFamily="18" charset="-127"/>
                  <a:ea typeface="-2002" panose="02030504000101010101" pitchFamily="18" charset="-127"/>
                  <a:cs typeface="Arial" pitchFamily="34" charset="0"/>
                </a:rPr>
                <a:t>1</a:t>
              </a:r>
              <a:endParaRPr lang="ko-KR" altLang="en-US" sz="1600" b="1" dirty="0" smtClean="0">
                <a:solidFill>
                  <a:schemeClr val="bg1"/>
                </a:solidFill>
                <a:latin typeface="-2002" panose="02030504000101010101" pitchFamily="18" charset="-127"/>
                <a:ea typeface="-2002" panose="02030504000101010101" pitchFamily="18" charset="-127"/>
                <a:cs typeface="Arial" pitchFamily="34" charset="0"/>
              </a:endParaRPr>
            </a:p>
          </p:txBody>
        </p:sp>
        <p:sp>
          <p:nvSpPr>
            <p:cNvPr id="56" name="타원 55"/>
            <p:cNvSpPr/>
            <p:nvPr/>
          </p:nvSpPr>
          <p:spPr>
            <a:xfrm>
              <a:off x="526821" y="2897386"/>
              <a:ext cx="177707" cy="207146"/>
            </a:xfrm>
            <a:prstGeom prst="ellipse">
              <a:avLst/>
            </a:prstGeom>
            <a:solidFill>
              <a:srgbClr val="FF8264"/>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r>
                <a:rPr lang="en-US" altLang="ko-KR" sz="1100" b="1" dirty="0" smtClean="0">
                  <a:solidFill>
                    <a:schemeClr val="bg1"/>
                  </a:solidFill>
                  <a:latin typeface="-2002" panose="02030504000101010101" pitchFamily="18" charset="-127"/>
                  <a:ea typeface="-2002" panose="02030504000101010101" pitchFamily="18" charset="-127"/>
                  <a:cs typeface="Arial" pitchFamily="34" charset="0"/>
                </a:rPr>
                <a:t>2</a:t>
              </a:r>
              <a:endParaRPr lang="ko-KR" altLang="en-US" sz="1600" b="1" dirty="0" smtClean="0">
                <a:solidFill>
                  <a:schemeClr val="bg1"/>
                </a:solidFill>
                <a:latin typeface="-2002" panose="02030504000101010101" pitchFamily="18" charset="-127"/>
                <a:ea typeface="-2002" panose="02030504000101010101" pitchFamily="18" charset="-127"/>
                <a:cs typeface="Arial" pitchFamily="34" charset="0"/>
              </a:endParaRPr>
            </a:p>
          </p:txBody>
        </p:sp>
        <p:sp>
          <p:nvSpPr>
            <p:cNvPr id="57" name="타원 56"/>
            <p:cNvSpPr/>
            <p:nvPr/>
          </p:nvSpPr>
          <p:spPr>
            <a:xfrm>
              <a:off x="1606941" y="4864047"/>
              <a:ext cx="177707" cy="207146"/>
            </a:xfrm>
            <a:prstGeom prst="ellipse">
              <a:avLst/>
            </a:prstGeom>
            <a:solidFill>
              <a:srgbClr val="FF8264"/>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r>
                <a:rPr lang="en-US" altLang="ko-KR" sz="1100" b="1" dirty="0" smtClean="0">
                  <a:solidFill>
                    <a:schemeClr val="bg1"/>
                  </a:solidFill>
                  <a:latin typeface="-2002" panose="02030504000101010101" pitchFamily="18" charset="-127"/>
                  <a:ea typeface="-2002" panose="02030504000101010101" pitchFamily="18" charset="-127"/>
                  <a:cs typeface="Arial" pitchFamily="34" charset="0"/>
                </a:rPr>
                <a:t>3</a:t>
              </a:r>
              <a:endParaRPr lang="ko-KR" altLang="en-US" sz="1600" b="1" dirty="0" smtClean="0">
                <a:solidFill>
                  <a:schemeClr val="bg1"/>
                </a:solidFill>
                <a:latin typeface="-2002" panose="02030504000101010101" pitchFamily="18" charset="-127"/>
                <a:ea typeface="-2002" panose="02030504000101010101" pitchFamily="18" charset="-127"/>
                <a:cs typeface="Arial" pitchFamily="34" charset="0"/>
              </a:endParaRPr>
            </a:p>
          </p:txBody>
        </p:sp>
        <p:sp>
          <p:nvSpPr>
            <p:cNvPr id="58" name="설명선 1 57"/>
            <p:cNvSpPr/>
            <p:nvPr/>
          </p:nvSpPr>
          <p:spPr>
            <a:xfrm>
              <a:off x="2507107" y="2420312"/>
              <a:ext cx="1293765" cy="439174"/>
            </a:xfrm>
            <a:prstGeom prst="borderCallout1">
              <a:avLst>
                <a:gd name="adj1" fmla="val 99950"/>
                <a:gd name="adj2" fmla="val 54257"/>
                <a:gd name="adj3" fmla="val 218979"/>
                <a:gd name="adj4" fmla="val 54835"/>
              </a:avLst>
            </a:prstGeom>
            <a:solidFill>
              <a:schemeClr val="bg1"/>
            </a:solidFill>
            <a:ln w="12700" cap="flat">
              <a:solidFill>
                <a:srgbClr val="FF0000"/>
              </a:solidFill>
              <a:miter lim="800000"/>
              <a:headEnd type="triangl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nSpc>
                  <a:spcPct val="150000"/>
                </a:lnSpc>
              </a:pPr>
              <a:r>
                <a:rPr lang="ko-KR" altLang="en-US" sz="900" dirty="0" smtClean="0">
                  <a:solidFill>
                    <a:schemeClr val="tx1"/>
                  </a:solidFill>
                  <a:latin typeface="KB금융 본문체 Light" panose="020B0303000000000000" pitchFamily="50" charset="-127"/>
                  <a:ea typeface="KB금융 본문체 Light" panose="020B0303000000000000" pitchFamily="50" charset="-127"/>
                </a:rPr>
                <a:t>프로젝트내</a:t>
              </a:r>
              <a:r>
                <a:rPr lang="en-US" altLang="ko-KR" sz="900" dirty="0" smtClean="0">
                  <a:solidFill>
                    <a:schemeClr val="tx1"/>
                  </a:solidFill>
                  <a:latin typeface="KB금융 본문체 Light" panose="020B0303000000000000" pitchFamily="50" charset="-127"/>
                  <a:ea typeface="KB금융 본문체 Light" panose="020B0303000000000000" pitchFamily="50" charset="-127"/>
                </a:rPr>
                <a:t> </a:t>
              </a:r>
              <a:r>
                <a:rPr lang="ko-KR" altLang="en-US" sz="900" dirty="0" smtClean="0">
                  <a:solidFill>
                    <a:schemeClr val="tx1"/>
                  </a:solidFill>
                  <a:latin typeface="KB금융 본문체 Light" panose="020B0303000000000000" pitchFamily="50" charset="-127"/>
                  <a:ea typeface="KB금융 본문체 Light" panose="020B0303000000000000" pitchFamily="50" charset="-127"/>
                </a:rPr>
                <a:t>소스 위치에 파일 복사</a:t>
              </a:r>
              <a:endParaRPr lang="ko-KR" altLang="en-US" sz="900" dirty="0">
                <a:solidFill>
                  <a:schemeClr val="tx1"/>
                </a:solidFill>
                <a:latin typeface="KB금융 본문체 Light" panose="020B0303000000000000" pitchFamily="50" charset="-127"/>
                <a:ea typeface="KB금융 본문체 Light" panose="020B0303000000000000" pitchFamily="50" charset="-127"/>
              </a:endParaRPr>
            </a:p>
          </p:txBody>
        </p:sp>
        <p:sp>
          <p:nvSpPr>
            <p:cNvPr id="59" name="설명선 1 58"/>
            <p:cNvSpPr/>
            <p:nvPr/>
          </p:nvSpPr>
          <p:spPr>
            <a:xfrm>
              <a:off x="5961112" y="2298192"/>
              <a:ext cx="1584176" cy="439174"/>
            </a:xfrm>
            <a:prstGeom prst="borderCallout1">
              <a:avLst>
                <a:gd name="adj1" fmla="val 99950"/>
                <a:gd name="adj2" fmla="val 54257"/>
                <a:gd name="adj3" fmla="val 247557"/>
                <a:gd name="adj4" fmla="val 55603"/>
              </a:avLst>
            </a:prstGeom>
            <a:solidFill>
              <a:schemeClr val="bg1"/>
            </a:solidFill>
            <a:ln w="12700" cap="flat">
              <a:solidFill>
                <a:srgbClr val="FF0000"/>
              </a:solidFill>
              <a:miter lim="800000"/>
              <a:headEnd type="triangl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nSpc>
                  <a:spcPct val="150000"/>
                </a:lnSpc>
              </a:pPr>
              <a:r>
                <a:rPr lang="ko-KR" altLang="en-US" sz="900" dirty="0">
                  <a:solidFill>
                    <a:schemeClr val="tx1"/>
                  </a:solidFill>
                  <a:latin typeface="KB금융 본문체 Light" panose="020B0303000000000000" pitchFamily="50" charset="-127"/>
                  <a:ea typeface="KB금융 본문체 Light" panose="020B0303000000000000" pitchFamily="50" charset="-127"/>
                </a:rPr>
                <a:t>「</a:t>
              </a:r>
              <a:r>
                <a:rPr lang="en-US" altLang="ko-KR" sz="900" dirty="0" smtClean="0">
                  <a:solidFill>
                    <a:schemeClr val="tx1"/>
                  </a:solidFill>
                  <a:latin typeface="KB금융 본문체 Light" panose="020B0303000000000000" pitchFamily="50" charset="-127"/>
                  <a:ea typeface="KB금융 본문체 Light" panose="020B0303000000000000" pitchFamily="50" charset="-127"/>
                </a:rPr>
                <a:t>C:\BASCP</a:t>
              </a:r>
              <a:r>
                <a:rPr lang="ko-KR" altLang="en-US" sz="900" dirty="0" smtClean="0">
                  <a:solidFill>
                    <a:schemeClr val="tx1"/>
                  </a:solidFill>
                  <a:latin typeface="KB금융 본문체 Light" panose="020B0303000000000000" pitchFamily="50" charset="-127"/>
                  <a:ea typeface="KB금융 본문체 Light" panose="020B0303000000000000" pitchFamily="50" charset="-127"/>
                </a:rPr>
                <a:t>」 에 위치</a:t>
              </a:r>
              <a:endParaRPr lang="ko-KR" altLang="en-US" sz="900" dirty="0">
                <a:solidFill>
                  <a:schemeClr val="tx1"/>
                </a:solidFill>
                <a:latin typeface="KB금융 본문체 Light" panose="020B0303000000000000" pitchFamily="50" charset="-127"/>
                <a:ea typeface="KB금융 본문체 Light" panose="020B0303000000000000" pitchFamily="50" charset="-127"/>
              </a:endParaRPr>
            </a:p>
          </p:txBody>
        </p:sp>
      </p:grpSp>
    </p:spTree>
    <p:extLst>
      <p:ext uri="{BB962C8B-B14F-4D97-AF65-F5344CB8AC3E}">
        <p14:creationId xmlns:p14="http://schemas.microsoft.com/office/powerpoint/2010/main" val="38501082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ko-KR" altLang="en-US" smtClean="0"/>
              <a:t>첨부</a:t>
            </a:r>
            <a:r>
              <a:rPr lang="en-US" altLang="ko-KR" smtClean="0"/>
              <a:t>2. </a:t>
            </a:r>
            <a:r>
              <a:rPr lang="ko-KR" altLang="en-US" smtClean="0"/>
              <a:t>개발자 환경설정</a:t>
            </a:r>
            <a:r>
              <a:rPr lang="en-US" altLang="ko-KR" smtClean="0"/>
              <a:t>(8/9)</a:t>
            </a:r>
            <a:endParaRPr lang="ko-KR" altLang="en-US" dirty="0"/>
          </a:p>
        </p:txBody>
      </p:sp>
      <p:sp>
        <p:nvSpPr>
          <p:cNvPr id="44" name="Rectangle 3"/>
          <p:cNvSpPr>
            <a:spLocks noChangeArrowheads="1"/>
          </p:cNvSpPr>
          <p:nvPr/>
        </p:nvSpPr>
        <p:spPr bwMode="auto">
          <a:xfrm>
            <a:off x="308484" y="764704"/>
            <a:ext cx="9144000" cy="351186"/>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ko-KR" altLang="en-US" sz="1400" b="1" smtClean="0">
                <a:latin typeface="KB금융 본문체 Light" panose="020B0303000000000000" pitchFamily="50" charset="-127"/>
                <a:ea typeface="KB금융 본문체 Light" panose="020B0303000000000000" pitchFamily="50" charset="-127"/>
                <a:cs typeface="ヒラギノ角ゴ ProN W3"/>
              </a:rPr>
              <a:t>이클립스 설정</a:t>
            </a:r>
            <a:endParaRPr lang="en-US" altLang="ko-KR" sz="1400" b="1"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45" name="Rectangle 3"/>
          <p:cNvSpPr>
            <a:spLocks noChangeArrowheads="1"/>
          </p:cNvSpPr>
          <p:nvPr/>
        </p:nvSpPr>
        <p:spPr bwMode="auto">
          <a:xfrm>
            <a:off x="699993" y="1142438"/>
            <a:ext cx="8753507" cy="314189"/>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ko-KR" altLang="en-US" sz="1200">
                <a:latin typeface="KB금융 본문체 Medium" panose="020B0603000000000000" pitchFamily="50" charset="-127"/>
                <a:ea typeface="KB금융 본문체 Medium" panose="020B0603000000000000" pitchFamily="50" charset="-127"/>
                <a:cs typeface="Arial" pitchFamily="34" charset="0"/>
              </a:rPr>
              <a:t>암호화 라이브러리</a:t>
            </a:r>
            <a:r>
              <a:rPr lang="en-US" altLang="ko-KR" sz="1200">
                <a:latin typeface="KB금융 본문체 Medium" panose="020B0603000000000000" pitchFamily="50" charset="-127"/>
                <a:ea typeface="KB금융 본문체 Medium" panose="020B0603000000000000" pitchFamily="50" charset="-127"/>
                <a:cs typeface="Arial" pitchFamily="34" charset="0"/>
              </a:rPr>
              <a:t>(Scpdb.jar) Build Path </a:t>
            </a:r>
            <a:r>
              <a:rPr lang="ko-KR" altLang="en-US" sz="1200">
                <a:latin typeface="KB금융 본문체 Medium" panose="020B0603000000000000" pitchFamily="50" charset="-127"/>
                <a:ea typeface="KB금융 본문체 Medium" panose="020B0603000000000000" pitchFamily="50" charset="-127"/>
                <a:cs typeface="Arial" pitchFamily="34" charset="0"/>
              </a:rPr>
              <a:t>설정</a:t>
            </a:r>
            <a:endParaRPr lang="en-US" altLang="ko-KR" sz="1200" dirty="0" smtClean="0">
              <a:latin typeface="KB금융 본문체 Light" panose="020B0303000000000000" pitchFamily="50" charset="-127"/>
              <a:ea typeface="KB금융 본문체 Light" panose="020B0303000000000000" pitchFamily="50" charset="-127"/>
              <a:cs typeface="ヒラギノ角ゴ ProN W3"/>
            </a:endParaRPr>
          </a:p>
        </p:txBody>
      </p:sp>
      <p:grpSp>
        <p:nvGrpSpPr>
          <p:cNvPr id="46" name="그룹 45"/>
          <p:cNvGrpSpPr/>
          <p:nvPr/>
        </p:nvGrpSpPr>
        <p:grpSpPr>
          <a:xfrm>
            <a:off x="1015598" y="1808820"/>
            <a:ext cx="7740454" cy="4214062"/>
            <a:chOff x="202851" y="1263026"/>
            <a:chExt cx="9365949" cy="5099015"/>
          </a:xfrm>
        </p:grpSpPr>
        <p:pic>
          <p:nvPicPr>
            <p:cNvPr id="4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166" y="1439874"/>
              <a:ext cx="2734861" cy="2781214"/>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48"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6616" y="1700808"/>
              <a:ext cx="3128193" cy="129442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49"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6141" y="1263026"/>
              <a:ext cx="4172696" cy="3147243"/>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5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6616" y="3501008"/>
              <a:ext cx="3793232" cy="2861033"/>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51"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65364" y="3747172"/>
              <a:ext cx="3702450" cy="2570981"/>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52" name="직사각형 51"/>
            <p:cNvSpPr/>
            <p:nvPr/>
          </p:nvSpPr>
          <p:spPr>
            <a:xfrm>
              <a:off x="416496" y="2222794"/>
              <a:ext cx="720080" cy="216024"/>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sp>
          <p:nvSpPr>
            <p:cNvPr id="53" name="직사각형 52"/>
            <p:cNvSpPr/>
            <p:nvPr/>
          </p:nvSpPr>
          <p:spPr>
            <a:xfrm>
              <a:off x="1496616" y="2060848"/>
              <a:ext cx="576064" cy="161946"/>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sp>
          <p:nvSpPr>
            <p:cNvPr id="54" name="직사각형 53"/>
            <p:cNvSpPr/>
            <p:nvPr/>
          </p:nvSpPr>
          <p:spPr>
            <a:xfrm>
              <a:off x="3393232" y="2803586"/>
              <a:ext cx="1231577" cy="164752"/>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sp>
          <p:nvSpPr>
            <p:cNvPr id="55" name="직사각형 54"/>
            <p:cNvSpPr/>
            <p:nvPr/>
          </p:nvSpPr>
          <p:spPr>
            <a:xfrm>
              <a:off x="8143111" y="2060848"/>
              <a:ext cx="1001926" cy="269958"/>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sp>
          <p:nvSpPr>
            <p:cNvPr id="56" name="직사각형 55"/>
            <p:cNvSpPr/>
            <p:nvPr/>
          </p:nvSpPr>
          <p:spPr>
            <a:xfrm>
              <a:off x="6708087" y="4446417"/>
              <a:ext cx="576064" cy="242867"/>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sp>
          <p:nvSpPr>
            <p:cNvPr id="57" name="직사각형 56"/>
            <p:cNvSpPr/>
            <p:nvPr/>
          </p:nvSpPr>
          <p:spPr>
            <a:xfrm>
              <a:off x="8067274" y="5985428"/>
              <a:ext cx="594730" cy="296865"/>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sp>
          <p:nvSpPr>
            <p:cNvPr id="58" name="직사각형 57"/>
            <p:cNvSpPr/>
            <p:nvPr/>
          </p:nvSpPr>
          <p:spPr>
            <a:xfrm>
              <a:off x="2576736" y="4077072"/>
              <a:ext cx="1432284" cy="369345"/>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sp>
          <p:nvSpPr>
            <p:cNvPr id="59" name="직사각형 58"/>
            <p:cNvSpPr/>
            <p:nvPr/>
          </p:nvSpPr>
          <p:spPr>
            <a:xfrm>
              <a:off x="4125052" y="6098000"/>
              <a:ext cx="648072" cy="184293"/>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sp>
          <p:nvSpPr>
            <p:cNvPr id="60" name="타원 59"/>
            <p:cNvSpPr/>
            <p:nvPr/>
          </p:nvSpPr>
          <p:spPr>
            <a:xfrm>
              <a:off x="269589" y="2015648"/>
              <a:ext cx="177707" cy="207146"/>
            </a:xfrm>
            <a:prstGeom prst="ellipse">
              <a:avLst/>
            </a:prstGeom>
            <a:solidFill>
              <a:srgbClr val="FF8264"/>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r>
                <a:rPr lang="en-US" altLang="ko-KR" sz="1100" b="1" dirty="0" smtClean="0">
                  <a:solidFill>
                    <a:schemeClr val="bg1"/>
                  </a:solidFill>
                  <a:latin typeface="-2002" panose="02030504000101010101" pitchFamily="18" charset="-127"/>
                  <a:ea typeface="-2002" panose="02030504000101010101" pitchFamily="18" charset="-127"/>
                  <a:cs typeface="Arial" pitchFamily="34" charset="0"/>
                </a:rPr>
                <a:t>1</a:t>
              </a:r>
              <a:endParaRPr lang="ko-KR" altLang="en-US" sz="1600" b="1" dirty="0" smtClean="0">
                <a:solidFill>
                  <a:schemeClr val="bg1"/>
                </a:solidFill>
                <a:latin typeface="-2002" panose="02030504000101010101" pitchFamily="18" charset="-127"/>
                <a:ea typeface="-2002" panose="02030504000101010101" pitchFamily="18" charset="-127"/>
                <a:cs typeface="Arial" pitchFamily="34" charset="0"/>
              </a:endParaRPr>
            </a:p>
          </p:txBody>
        </p:sp>
        <p:sp>
          <p:nvSpPr>
            <p:cNvPr id="61" name="타원 60"/>
            <p:cNvSpPr/>
            <p:nvPr/>
          </p:nvSpPr>
          <p:spPr>
            <a:xfrm>
              <a:off x="1318909" y="1912075"/>
              <a:ext cx="177707" cy="207146"/>
            </a:xfrm>
            <a:prstGeom prst="ellipse">
              <a:avLst/>
            </a:prstGeom>
            <a:solidFill>
              <a:srgbClr val="FF8264"/>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r>
                <a:rPr lang="en-US" altLang="ko-KR" sz="1100" b="1" dirty="0" smtClean="0">
                  <a:solidFill>
                    <a:schemeClr val="bg1"/>
                  </a:solidFill>
                  <a:latin typeface="-2002" panose="02030504000101010101" pitchFamily="18" charset="-127"/>
                  <a:ea typeface="-2002" panose="02030504000101010101" pitchFamily="18" charset="-127"/>
                  <a:cs typeface="Arial" pitchFamily="34" charset="0"/>
                </a:rPr>
                <a:t>2</a:t>
              </a:r>
              <a:endParaRPr lang="ko-KR" altLang="en-US" sz="1600" b="1" dirty="0" smtClean="0">
                <a:solidFill>
                  <a:schemeClr val="bg1"/>
                </a:solidFill>
                <a:latin typeface="-2002" panose="02030504000101010101" pitchFamily="18" charset="-127"/>
                <a:ea typeface="-2002" panose="02030504000101010101" pitchFamily="18" charset="-127"/>
                <a:cs typeface="Arial" pitchFamily="34" charset="0"/>
              </a:endParaRPr>
            </a:p>
          </p:txBody>
        </p:sp>
        <p:sp>
          <p:nvSpPr>
            <p:cNvPr id="62" name="타원 61"/>
            <p:cNvSpPr/>
            <p:nvPr/>
          </p:nvSpPr>
          <p:spPr>
            <a:xfrm>
              <a:off x="3137384" y="2526406"/>
              <a:ext cx="177707" cy="207146"/>
            </a:xfrm>
            <a:prstGeom prst="ellipse">
              <a:avLst/>
            </a:prstGeom>
            <a:solidFill>
              <a:srgbClr val="FF8264"/>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r>
                <a:rPr lang="en-US" altLang="ko-KR" sz="1100" b="1" dirty="0" smtClean="0">
                  <a:solidFill>
                    <a:schemeClr val="bg1"/>
                  </a:solidFill>
                  <a:latin typeface="-2002" panose="02030504000101010101" pitchFamily="18" charset="-127"/>
                  <a:ea typeface="-2002" panose="02030504000101010101" pitchFamily="18" charset="-127"/>
                  <a:cs typeface="Arial" pitchFamily="34" charset="0"/>
                </a:rPr>
                <a:t>3</a:t>
              </a:r>
              <a:endParaRPr lang="ko-KR" altLang="en-US" sz="1600" b="1" dirty="0" smtClean="0">
                <a:solidFill>
                  <a:schemeClr val="bg1"/>
                </a:solidFill>
                <a:latin typeface="-2002" panose="02030504000101010101" pitchFamily="18" charset="-127"/>
                <a:ea typeface="-2002" panose="02030504000101010101" pitchFamily="18" charset="-127"/>
                <a:cs typeface="Arial" pitchFamily="34" charset="0"/>
              </a:endParaRPr>
            </a:p>
          </p:txBody>
        </p:sp>
        <p:sp>
          <p:nvSpPr>
            <p:cNvPr id="63" name="타원 62"/>
            <p:cNvSpPr/>
            <p:nvPr/>
          </p:nvSpPr>
          <p:spPr>
            <a:xfrm>
              <a:off x="7965404" y="1912075"/>
              <a:ext cx="177707" cy="207146"/>
            </a:xfrm>
            <a:prstGeom prst="ellipse">
              <a:avLst/>
            </a:prstGeom>
            <a:solidFill>
              <a:srgbClr val="FF8264"/>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r>
                <a:rPr lang="en-US" altLang="ko-KR" sz="1100" b="1" dirty="0" smtClean="0">
                  <a:solidFill>
                    <a:schemeClr val="bg1"/>
                  </a:solidFill>
                  <a:latin typeface="-2002" panose="02030504000101010101" pitchFamily="18" charset="-127"/>
                  <a:ea typeface="-2002" panose="02030504000101010101" pitchFamily="18" charset="-127"/>
                  <a:cs typeface="Arial" pitchFamily="34" charset="0"/>
                </a:rPr>
                <a:t>4</a:t>
              </a:r>
              <a:endParaRPr lang="ko-KR" altLang="en-US" sz="1600" b="1" dirty="0" smtClean="0">
                <a:solidFill>
                  <a:schemeClr val="bg1"/>
                </a:solidFill>
                <a:latin typeface="-2002" panose="02030504000101010101" pitchFamily="18" charset="-127"/>
                <a:ea typeface="-2002" panose="02030504000101010101" pitchFamily="18" charset="-127"/>
                <a:cs typeface="Arial" pitchFamily="34" charset="0"/>
              </a:endParaRPr>
            </a:p>
          </p:txBody>
        </p:sp>
        <p:sp>
          <p:nvSpPr>
            <p:cNvPr id="64" name="타원 63"/>
            <p:cNvSpPr/>
            <p:nvPr/>
          </p:nvSpPr>
          <p:spPr>
            <a:xfrm>
              <a:off x="6530380" y="4306696"/>
              <a:ext cx="177707" cy="207146"/>
            </a:xfrm>
            <a:prstGeom prst="ellipse">
              <a:avLst/>
            </a:prstGeom>
            <a:solidFill>
              <a:srgbClr val="FF8264"/>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r>
                <a:rPr lang="en-US" altLang="ko-KR" sz="1100" b="1" dirty="0" smtClean="0">
                  <a:solidFill>
                    <a:schemeClr val="bg1"/>
                  </a:solidFill>
                  <a:latin typeface="-2002" panose="02030504000101010101" pitchFamily="18" charset="-127"/>
                  <a:ea typeface="-2002" panose="02030504000101010101" pitchFamily="18" charset="-127"/>
                  <a:cs typeface="Arial" pitchFamily="34" charset="0"/>
                </a:rPr>
                <a:t>5</a:t>
              </a:r>
              <a:endParaRPr lang="ko-KR" altLang="en-US" sz="1600" b="1" dirty="0" smtClean="0">
                <a:solidFill>
                  <a:schemeClr val="bg1"/>
                </a:solidFill>
                <a:latin typeface="-2002" panose="02030504000101010101" pitchFamily="18" charset="-127"/>
                <a:ea typeface="-2002" panose="02030504000101010101" pitchFamily="18" charset="-127"/>
                <a:cs typeface="Arial" pitchFamily="34" charset="0"/>
              </a:endParaRPr>
            </a:p>
          </p:txBody>
        </p:sp>
        <p:sp>
          <p:nvSpPr>
            <p:cNvPr id="65" name="타원 64"/>
            <p:cNvSpPr/>
            <p:nvPr/>
          </p:nvSpPr>
          <p:spPr>
            <a:xfrm>
              <a:off x="7889567" y="5782877"/>
              <a:ext cx="177707" cy="207146"/>
            </a:xfrm>
            <a:prstGeom prst="ellipse">
              <a:avLst/>
            </a:prstGeom>
            <a:solidFill>
              <a:srgbClr val="FF8264"/>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r>
                <a:rPr lang="en-US" altLang="ko-KR" sz="1100" b="1" dirty="0" smtClean="0">
                  <a:solidFill>
                    <a:schemeClr val="bg1"/>
                  </a:solidFill>
                  <a:latin typeface="-2002" panose="02030504000101010101" pitchFamily="18" charset="-127"/>
                  <a:ea typeface="-2002" panose="02030504000101010101" pitchFamily="18" charset="-127"/>
                  <a:cs typeface="Arial" pitchFamily="34" charset="0"/>
                </a:rPr>
                <a:t>6</a:t>
              </a:r>
              <a:endParaRPr lang="ko-KR" altLang="en-US" sz="1600" b="1" dirty="0" smtClean="0">
                <a:solidFill>
                  <a:schemeClr val="bg1"/>
                </a:solidFill>
                <a:latin typeface="-2002" panose="02030504000101010101" pitchFamily="18" charset="-127"/>
                <a:ea typeface="-2002" panose="02030504000101010101" pitchFamily="18" charset="-127"/>
                <a:cs typeface="Arial" pitchFamily="34" charset="0"/>
              </a:endParaRPr>
            </a:p>
          </p:txBody>
        </p:sp>
        <p:sp>
          <p:nvSpPr>
            <p:cNvPr id="66" name="타원 65"/>
            <p:cNvSpPr/>
            <p:nvPr/>
          </p:nvSpPr>
          <p:spPr>
            <a:xfrm>
              <a:off x="4009020" y="5881855"/>
              <a:ext cx="177707" cy="207146"/>
            </a:xfrm>
            <a:prstGeom prst="ellipse">
              <a:avLst/>
            </a:prstGeom>
            <a:solidFill>
              <a:srgbClr val="FF8264"/>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r>
                <a:rPr lang="en-US" altLang="ko-KR" sz="1100" b="1" dirty="0" smtClean="0">
                  <a:solidFill>
                    <a:schemeClr val="bg1"/>
                  </a:solidFill>
                  <a:latin typeface="-2002" panose="02030504000101010101" pitchFamily="18" charset="-127"/>
                  <a:ea typeface="-2002" panose="02030504000101010101" pitchFamily="18" charset="-127"/>
                  <a:cs typeface="Arial" pitchFamily="34" charset="0"/>
                </a:rPr>
                <a:t>7</a:t>
              </a:r>
              <a:endParaRPr lang="ko-KR" altLang="en-US" sz="1600" b="1" dirty="0" smtClean="0">
                <a:solidFill>
                  <a:schemeClr val="bg1"/>
                </a:solidFill>
                <a:latin typeface="-2002" panose="02030504000101010101" pitchFamily="18" charset="-127"/>
                <a:ea typeface="-2002" panose="02030504000101010101" pitchFamily="18" charset="-127"/>
                <a:cs typeface="Arial" pitchFamily="34" charset="0"/>
              </a:endParaRPr>
            </a:p>
          </p:txBody>
        </p:sp>
        <p:sp>
          <p:nvSpPr>
            <p:cNvPr id="67" name="설명선 1 66"/>
            <p:cNvSpPr/>
            <p:nvPr/>
          </p:nvSpPr>
          <p:spPr>
            <a:xfrm>
              <a:off x="202851" y="2995233"/>
              <a:ext cx="861717" cy="219587"/>
            </a:xfrm>
            <a:prstGeom prst="borderCallout1">
              <a:avLst>
                <a:gd name="adj1" fmla="val -72"/>
                <a:gd name="adj2" fmla="val 63620"/>
                <a:gd name="adj3" fmla="val -242347"/>
                <a:gd name="adj4" fmla="val 65239"/>
              </a:avLst>
            </a:prstGeom>
            <a:solidFill>
              <a:schemeClr val="bg1"/>
            </a:solidFill>
            <a:ln w="12700" cap="flat">
              <a:solidFill>
                <a:srgbClr val="FF0000"/>
              </a:solidFill>
              <a:miter lim="800000"/>
              <a:headEnd type="triangl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nSpc>
                  <a:spcPct val="150000"/>
                </a:lnSpc>
              </a:pPr>
              <a:r>
                <a:rPr lang="ko-KR" altLang="en-US" sz="900" smtClean="0">
                  <a:solidFill>
                    <a:schemeClr val="tx1"/>
                  </a:solidFill>
                  <a:latin typeface="KB금융 본문체 Light" panose="020B0303000000000000" pitchFamily="50" charset="-127"/>
                  <a:ea typeface="KB금융 본문체 Light" panose="020B0303000000000000" pitchFamily="50" charset="-127"/>
                </a:rPr>
                <a:t>마우스 우클릭</a:t>
              </a:r>
              <a:endParaRPr lang="ko-KR" altLang="en-US" sz="900" dirty="0">
                <a:solidFill>
                  <a:schemeClr val="tx1"/>
                </a:solidFill>
                <a:latin typeface="KB금융 본문체 Light" panose="020B0303000000000000" pitchFamily="50" charset="-127"/>
                <a:ea typeface="KB금융 본문체 Light" panose="020B0303000000000000" pitchFamily="50" charset="-127"/>
              </a:endParaRPr>
            </a:p>
          </p:txBody>
        </p:sp>
        <p:cxnSp>
          <p:nvCxnSpPr>
            <p:cNvPr id="68" name="직선 화살표 연결선 67"/>
            <p:cNvCxnSpPr>
              <a:stCxn id="52" idx="3"/>
            </p:cNvCxnSpPr>
            <p:nvPr/>
          </p:nvCxnSpPr>
          <p:spPr>
            <a:xfrm>
              <a:off x="1136576" y="2330806"/>
              <a:ext cx="360040" cy="17214"/>
            </a:xfrm>
            <a:prstGeom prst="straightConnector1">
              <a:avLst/>
            </a:prstGeom>
            <a:ln w="254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69" name="직선 화살표 연결선 68"/>
            <p:cNvCxnSpPr>
              <a:stCxn id="53" idx="3"/>
              <a:endCxn id="54" idx="1"/>
            </p:cNvCxnSpPr>
            <p:nvPr/>
          </p:nvCxnSpPr>
          <p:spPr>
            <a:xfrm>
              <a:off x="2072680" y="2141821"/>
              <a:ext cx="1320552" cy="744141"/>
            </a:xfrm>
            <a:prstGeom prst="straightConnector1">
              <a:avLst/>
            </a:prstGeom>
            <a:ln w="254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70" name="직선 화살표 연결선 69"/>
            <p:cNvCxnSpPr>
              <a:stCxn id="54" idx="3"/>
            </p:cNvCxnSpPr>
            <p:nvPr/>
          </p:nvCxnSpPr>
          <p:spPr>
            <a:xfrm flipV="1">
              <a:off x="4624809" y="2733074"/>
              <a:ext cx="431332" cy="152888"/>
            </a:xfrm>
            <a:prstGeom prst="straightConnector1">
              <a:avLst/>
            </a:prstGeom>
            <a:ln w="254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71" name="직선 화살표 연결선 70"/>
            <p:cNvCxnSpPr>
              <a:stCxn id="55" idx="2"/>
            </p:cNvCxnSpPr>
            <p:nvPr/>
          </p:nvCxnSpPr>
          <p:spPr>
            <a:xfrm flipH="1">
              <a:off x="8265368" y="2330806"/>
              <a:ext cx="378706" cy="1416366"/>
            </a:xfrm>
            <a:prstGeom prst="straightConnector1">
              <a:avLst/>
            </a:prstGeom>
            <a:ln w="254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72" name="직선 화살표 연결선 71"/>
            <p:cNvCxnSpPr>
              <a:endCxn id="57" idx="0"/>
            </p:cNvCxnSpPr>
            <p:nvPr/>
          </p:nvCxnSpPr>
          <p:spPr>
            <a:xfrm>
              <a:off x="7142489" y="4689284"/>
              <a:ext cx="1222150" cy="1296144"/>
            </a:xfrm>
            <a:prstGeom prst="straightConnector1">
              <a:avLst/>
            </a:prstGeom>
            <a:ln w="254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73" name="직선 화살표 연결선 72"/>
            <p:cNvCxnSpPr>
              <a:stCxn id="57" idx="1"/>
            </p:cNvCxnSpPr>
            <p:nvPr/>
          </p:nvCxnSpPr>
          <p:spPr>
            <a:xfrm flipH="1" flipV="1">
              <a:off x="5289848" y="5085184"/>
              <a:ext cx="2777426" cy="1048677"/>
            </a:xfrm>
            <a:prstGeom prst="straightConnector1">
              <a:avLst/>
            </a:prstGeom>
            <a:ln w="254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74" name="설명선 1 73"/>
            <p:cNvSpPr/>
            <p:nvPr/>
          </p:nvSpPr>
          <p:spPr>
            <a:xfrm>
              <a:off x="2337469" y="1439875"/>
              <a:ext cx="2111619" cy="563300"/>
            </a:xfrm>
            <a:prstGeom prst="borderCallout1">
              <a:avLst>
                <a:gd name="adj1" fmla="val 106074"/>
                <a:gd name="adj2" fmla="val 51136"/>
                <a:gd name="adj3" fmla="val 202513"/>
                <a:gd name="adj4" fmla="val 24364"/>
              </a:avLst>
            </a:prstGeom>
            <a:solidFill>
              <a:schemeClr val="bg1"/>
            </a:solidFill>
            <a:ln w="12700" cap="flat">
              <a:solidFill>
                <a:srgbClr val="FF0000"/>
              </a:solidFill>
              <a:miter lim="800000"/>
              <a:headEnd type="triangl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nSpc>
                  <a:spcPct val="150000"/>
                </a:lnSpc>
              </a:pPr>
              <a:r>
                <a:rPr lang="en-US" altLang="ko-KR" sz="900" dirty="0" smtClean="0">
                  <a:solidFill>
                    <a:schemeClr val="tx1"/>
                  </a:solidFill>
                  <a:latin typeface="KB금융 본문체 Light" panose="020B0303000000000000" pitchFamily="50" charset="-127"/>
                  <a:ea typeface="KB금융 본문체 Light" panose="020B0303000000000000" pitchFamily="50" charset="-127"/>
                </a:rPr>
                <a:t>‘Build Path’ </a:t>
              </a:r>
              <a:r>
                <a:rPr lang="en-US" altLang="ko-KR" sz="900" dirty="0" smtClean="0">
                  <a:solidFill>
                    <a:schemeClr val="tx1"/>
                  </a:solidFill>
                  <a:latin typeface="KB금융 본문체 Light" panose="020B0303000000000000" pitchFamily="50" charset="-127"/>
                  <a:ea typeface="KB금융 본문체 Light" panose="020B0303000000000000" pitchFamily="50" charset="-127"/>
                  <a:sym typeface="Wingdings" panose="05000000000000000000" pitchFamily="2" charset="2"/>
                </a:rPr>
                <a:t> ‘Configure Build Path’ </a:t>
              </a:r>
              <a:r>
                <a:rPr lang="ko-KR" altLang="en-US" sz="900" dirty="0" smtClean="0">
                  <a:solidFill>
                    <a:schemeClr val="tx1"/>
                  </a:solidFill>
                  <a:latin typeface="KB금융 본문체 Light" panose="020B0303000000000000" pitchFamily="50" charset="-127"/>
                  <a:ea typeface="KB금융 본문체 Light" panose="020B0303000000000000" pitchFamily="50" charset="-127"/>
                  <a:sym typeface="Wingdings" panose="05000000000000000000" pitchFamily="2" charset="2"/>
                </a:rPr>
                <a:t>클릭</a:t>
              </a:r>
              <a:endParaRPr lang="ko-KR" altLang="en-US" sz="900" dirty="0">
                <a:solidFill>
                  <a:schemeClr val="tx1"/>
                </a:solidFill>
                <a:latin typeface="KB금융 본문체 Light" panose="020B0303000000000000" pitchFamily="50" charset="-127"/>
                <a:ea typeface="KB금융 본문체 Light" panose="020B0303000000000000" pitchFamily="50" charset="-127"/>
              </a:endParaRPr>
            </a:p>
          </p:txBody>
        </p:sp>
        <p:sp>
          <p:nvSpPr>
            <p:cNvPr id="75" name="설명선 1 74"/>
            <p:cNvSpPr/>
            <p:nvPr/>
          </p:nvSpPr>
          <p:spPr>
            <a:xfrm>
              <a:off x="5889104" y="2513891"/>
              <a:ext cx="1463403" cy="454447"/>
            </a:xfrm>
            <a:prstGeom prst="borderCallout1">
              <a:avLst>
                <a:gd name="adj1" fmla="val 23318"/>
                <a:gd name="adj2" fmla="val 100102"/>
                <a:gd name="adj3" fmla="val -115779"/>
                <a:gd name="adj4" fmla="val 155187"/>
              </a:avLst>
            </a:prstGeom>
            <a:solidFill>
              <a:schemeClr val="bg1"/>
            </a:solidFill>
            <a:ln w="12700" cap="flat">
              <a:solidFill>
                <a:srgbClr val="FF0000"/>
              </a:solidFill>
              <a:miter lim="800000"/>
              <a:headEnd type="triangl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nSpc>
                  <a:spcPct val="150000"/>
                </a:lnSpc>
              </a:pPr>
              <a:r>
                <a:rPr lang="en-US" altLang="ko-KR" sz="900" dirty="0" smtClean="0">
                  <a:solidFill>
                    <a:schemeClr val="tx1"/>
                  </a:solidFill>
                  <a:latin typeface="KB금융 본문체 Light" panose="020B0303000000000000" pitchFamily="50" charset="-127"/>
                  <a:ea typeface="KB금융 본문체 Light" panose="020B0303000000000000" pitchFamily="50" charset="-127"/>
                </a:rPr>
                <a:t>‘Add External JARs’ </a:t>
              </a:r>
              <a:r>
                <a:rPr lang="ko-KR" altLang="en-US" sz="900" dirty="0" smtClean="0">
                  <a:solidFill>
                    <a:schemeClr val="tx1"/>
                  </a:solidFill>
                  <a:latin typeface="KB금융 본문체 Light" panose="020B0303000000000000" pitchFamily="50" charset="-127"/>
                  <a:ea typeface="KB금융 본문체 Light" panose="020B0303000000000000" pitchFamily="50" charset="-127"/>
                </a:rPr>
                <a:t>클릭</a:t>
              </a:r>
              <a:endParaRPr lang="ko-KR" altLang="en-US" sz="900" dirty="0">
                <a:solidFill>
                  <a:schemeClr val="tx1"/>
                </a:solidFill>
                <a:latin typeface="KB금융 본문체 Light" panose="020B0303000000000000" pitchFamily="50" charset="-127"/>
                <a:ea typeface="KB금융 본문체 Light" panose="020B0303000000000000" pitchFamily="50" charset="-127"/>
              </a:endParaRPr>
            </a:p>
          </p:txBody>
        </p:sp>
        <p:sp>
          <p:nvSpPr>
            <p:cNvPr id="76" name="설명선 1 75"/>
            <p:cNvSpPr/>
            <p:nvPr/>
          </p:nvSpPr>
          <p:spPr>
            <a:xfrm>
              <a:off x="7473280" y="4221088"/>
              <a:ext cx="2095520" cy="468196"/>
            </a:xfrm>
            <a:prstGeom prst="borderCallout1">
              <a:avLst>
                <a:gd name="adj1" fmla="val 106074"/>
                <a:gd name="adj2" fmla="val 68860"/>
                <a:gd name="adj3" fmla="val 377176"/>
                <a:gd name="adj4" fmla="val 54861"/>
              </a:avLst>
            </a:prstGeom>
            <a:solidFill>
              <a:schemeClr val="bg1"/>
            </a:solidFill>
            <a:ln w="12700" cap="flat">
              <a:solidFill>
                <a:srgbClr val="FF0000"/>
              </a:solidFill>
              <a:miter lim="800000"/>
              <a:headEnd type="triangl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nSpc>
                  <a:spcPct val="150000"/>
                </a:lnSpc>
              </a:pPr>
              <a:r>
                <a:rPr lang="en-US" altLang="ko-KR" sz="900" dirty="0" smtClean="0">
                  <a:solidFill>
                    <a:schemeClr val="tx1"/>
                  </a:solidFill>
                  <a:latin typeface="KB금융 본문체 Light" panose="020B0303000000000000" pitchFamily="50" charset="-127"/>
                  <a:ea typeface="KB금융 본문체 Light" panose="020B0303000000000000" pitchFamily="50" charset="-127"/>
                </a:rPr>
                <a:t>C:\BASCP\SmapleCode\scpdb.jar </a:t>
              </a:r>
              <a:r>
                <a:rPr lang="ko-KR" altLang="en-US" sz="900" dirty="0" smtClean="0">
                  <a:solidFill>
                    <a:schemeClr val="tx1"/>
                  </a:solidFill>
                  <a:latin typeface="KB금융 본문체 Light" panose="020B0303000000000000" pitchFamily="50" charset="-127"/>
                  <a:ea typeface="KB금융 본문체 Light" panose="020B0303000000000000" pitchFamily="50" charset="-127"/>
                </a:rPr>
                <a:t>파일 선택 후 </a:t>
              </a:r>
              <a:r>
                <a:rPr lang="en-US" altLang="ko-KR" sz="900" dirty="0" smtClean="0">
                  <a:solidFill>
                    <a:schemeClr val="tx1"/>
                  </a:solidFill>
                  <a:latin typeface="KB금융 본문체 Light" panose="020B0303000000000000" pitchFamily="50" charset="-127"/>
                  <a:ea typeface="KB금융 본문체 Light" panose="020B0303000000000000" pitchFamily="50" charset="-127"/>
                </a:rPr>
                <a:t>‘</a:t>
              </a:r>
              <a:r>
                <a:rPr lang="ko-KR" altLang="en-US" sz="900" dirty="0" smtClean="0">
                  <a:solidFill>
                    <a:schemeClr val="tx1"/>
                  </a:solidFill>
                  <a:latin typeface="KB금융 본문체 Light" panose="020B0303000000000000" pitchFamily="50" charset="-127"/>
                  <a:ea typeface="KB금융 본문체 Light" panose="020B0303000000000000" pitchFamily="50" charset="-127"/>
                </a:rPr>
                <a:t>열기</a:t>
              </a:r>
              <a:r>
                <a:rPr lang="en-US" altLang="ko-KR" sz="900" dirty="0" smtClean="0">
                  <a:solidFill>
                    <a:schemeClr val="tx1"/>
                  </a:solidFill>
                  <a:latin typeface="KB금융 본문체 Light" panose="020B0303000000000000" pitchFamily="50" charset="-127"/>
                  <a:ea typeface="KB금융 본문체 Light" panose="020B0303000000000000" pitchFamily="50" charset="-127"/>
                </a:rPr>
                <a:t>’</a:t>
              </a:r>
              <a:r>
                <a:rPr lang="ko-KR" altLang="en-US" sz="900" dirty="0" smtClean="0">
                  <a:solidFill>
                    <a:schemeClr val="tx1"/>
                  </a:solidFill>
                  <a:latin typeface="KB금융 본문체 Light" panose="020B0303000000000000" pitchFamily="50" charset="-127"/>
                  <a:ea typeface="KB금융 본문체 Light" panose="020B0303000000000000" pitchFamily="50" charset="-127"/>
                </a:rPr>
                <a:t> 클릭</a:t>
              </a:r>
              <a:endParaRPr lang="ko-KR" altLang="en-US" sz="900" dirty="0">
                <a:solidFill>
                  <a:schemeClr val="tx1"/>
                </a:solidFill>
                <a:latin typeface="KB금융 본문체 Light" panose="020B0303000000000000" pitchFamily="50" charset="-127"/>
                <a:ea typeface="KB금융 본문체 Light" panose="020B0303000000000000" pitchFamily="50" charset="-127"/>
              </a:endParaRPr>
            </a:p>
          </p:txBody>
        </p:sp>
        <p:sp>
          <p:nvSpPr>
            <p:cNvPr id="77" name="설명선 1 76"/>
            <p:cNvSpPr/>
            <p:nvPr/>
          </p:nvSpPr>
          <p:spPr>
            <a:xfrm>
              <a:off x="2671136" y="4550663"/>
              <a:ext cx="2095520" cy="716147"/>
            </a:xfrm>
            <a:prstGeom prst="borderCallout1">
              <a:avLst>
                <a:gd name="adj1" fmla="val 106074"/>
                <a:gd name="adj2" fmla="val 68860"/>
                <a:gd name="adj3" fmla="val 212223"/>
                <a:gd name="adj4" fmla="val 83691"/>
              </a:avLst>
            </a:prstGeom>
            <a:solidFill>
              <a:schemeClr val="bg1"/>
            </a:solidFill>
            <a:ln w="12700" cap="flat">
              <a:solidFill>
                <a:srgbClr val="FF0000"/>
              </a:solidFill>
              <a:miter lim="800000"/>
              <a:headEnd type="triangl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nSpc>
                  <a:spcPct val="150000"/>
                </a:lnSpc>
              </a:pPr>
              <a:r>
                <a:rPr lang="en-US" altLang="ko-KR" sz="900" dirty="0" smtClean="0">
                  <a:solidFill>
                    <a:schemeClr val="tx1"/>
                  </a:solidFill>
                  <a:latin typeface="KB금융 본문체 Light" panose="020B0303000000000000" pitchFamily="50" charset="-127"/>
                  <a:ea typeface="KB금융 본문체 Light" panose="020B0303000000000000" pitchFamily="50" charset="-127"/>
                </a:rPr>
                <a:t>C:\BASCP\SmapleCode\scpdb.jar Build Path </a:t>
              </a:r>
              <a:r>
                <a:rPr lang="ko-KR" altLang="en-US" sz="900" dirty="0" smtClean="0">
                  <a:solidFill>
                    <a:schemeClr val="tx1"/>
                  </a:solidFill>
                  <a:latin typeface="KB금융 본문체 Light" panose="020B0303000000000000" pitchFamily="50" charset="-127"/>
                  <a:ea typeface="KB금융 본문체 Light" panose="020B0303000000000000" pitchFamily="50" charset="-127"/>
                </a:rPr>
                <a:t>추가 확인 후 </a:t>
              </a:r>
              <a:r>
                <a:rPr lang="en-US" altLang="ko-KR" sz="900" dirty="0" smtClean="0">
                  <a:solidFill>
                    <a:schemeClr val="tx1"/>
                  </a:solidFill>
                  <a:latin typeface="KB금융 본문체 Light" panose="020B0303000000000000" pitchFamily="50" charset="-127"/>
                  <a:ea typeface="KB금융 본문체 Light" panose="020B0303000000000000" pitchFamily="50" charset="-127"/>
                </a:rPr>
                <a:t>‘OK’ </a:t>
              </a:r>
              <a:r>
                <a:rPr lang="ko-KR" altLang="en-US" sz="900" dirty="0" smtClean="0">
                  <a:solidFill>
                    <a:schemeClr val="tx1"/>
                  </a:solidFill>
                  <a:latin typeface="KB금융 본문체 Light" panose="020B0303000000000000" pitchFamily="50" charset="-127"/>
                  <a:ea typeface="KB금융 본문체 Light" panose="020B0303000000000000" pitchFamily="50" charset="-127"/>
                </a:rPr>
                <a:t>클릭</a:t>
              </a:r>
              <a:endParaRPr lang="ko-KR" altLang="en-US" sz="900" dirty="0">
                <a:solidFill>
                  <a:schemeClr val="tx1"/>
                </a:solidFill>
                <a:latin typeface="KB금융 본문체 Light" panose="020B0303000000000000" pitchFamily="50" charset="-127"/>
                <a:ea typeface="KB금융 본문체 Light" panose="020B0303000000000000" pitchFamily="50" charset="-127"/>
              </a:endParaRPr>
            </a:p>
          </p:txBody>
        </p:sp>
      </p:grpSp>
    </p:spTree>
    <p:extLst>
      <p:ext uri="{BB962C8B-B14F-4D97-AF65-F5344CB8AC3E}">
        <p14:creationId xmlns:p14="http://schemas.microsoft.com/office/powerpoint/2010/main" val="28735746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ko-KR" altLang="en-US" smtClean="0"/>
              <a:t>첨부</a:t>
            </a:r>
            <a:r>
              <a:rPr lang="en-US" altLang="ko-KR" smtClean="0"/>
              <a:t>2. </a:t>
            </a:r>
            <a:r>
              <a:rPr lang="ko-KR" altLang="en-US" smtClean="0"/>
              <a:t>개발자 환경설정</a:t>
            </a:r>
            <a:r>
              <a:rPr lang="en-US" altLang="ko-KR" smtClean="0"/>
              <a:t>(9/9)</a:t>
            </a:r>
            <a:endParaRPr lang="ko-KR" altLang="en-US" dirty="0"/>
          </a:p>
        </p:txBody>
      </p:sp>
      <p:sp>
        <p:nvSpPr>
          <p:cNvPr id="44" name="Rectangle 3"/>
          <p:cNvSpPr>
            <a:spLocks noChangeArrowheads="1"/>
          </p:cNvSpPr>
          <p:nvPr/>
        </p:nvSpPr>
        <p:spPr bwMode="auto">
          <a:xfrm>
            <a:off x="308484" y="764704"/>
            <a:ext cx="9144000" cy="351186"/>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ko-KR" altLang="en-US" sz="1400" b="1" smtClean="0">
                <a:latin typeface="KB금융 본문체 Light" panose="020B0303000000000000" pitchFamily="50" charset="-127"/>
                <a:ea typeface="KB금융 본문체 Light" panose="020B0303000000000000" pitchFamily="50" charset="-127"/>
                <a:cs typeface="ヒラギノ角ゴ ProN W3"/>
              </a:rPr>
              <a:t>이클립스 설정</a:t>
            </a:r>
            <a:endParaRPr lang="en-US" altLang="ko-KR" sz="1400" b="1"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45" name="Rectangle 3"/>
          <p:cNvSpPr>
            <a:spLocks noChangeArrowheads="1"/>
          </p:cNvSpPr>
          <p:nvPr/>
        </p:nvSpPr>
        <p:spPr bwMode="auto">
          <a:xfrm>
            <a:off x="699993" y="1142438"/>
            <a:ext cx="8753507" cy="609398"/>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ko-KR" altLang="en-US" sz="1200" smtClean="0">
                <a:latin typeface="KB금융 본문체 Medium" panose="020B0603000000000000" pitchFamily="50" charset="-127"/>
                <a:ea typeface="KB금융 본문체 Medium" panose="020B0603000000000000" pitchFamily="50" charset="-127"/>
                <a:cs typeface="Arial" pitchFamily="34" charset="0"/>
              </a:rPr>
              <a:t>암</a:t>
            </a:r>
            <a:r>
              <a:rPr lang="en-US" altLang="ko-KR" sz="1200" smtClean="0">
                <a:latin typeface="KB금융 본문체 Medium" panose="020B0603000000000000" pitchFamily="50" charset="-127"/>
                <a:ea typeface="KB금융 본문체 Medium" panose="020B0603000000000000" pitchFamily="50" charset="-127"/>
                <a:cs typeface="Arial" pitchFamily="34" charset="0"/>
              </a:rPr>
              <a:t>·</a:t>
            </a:r>
            <a:r>
              <a:rPr lang="ko-KR" altLang="en-US" sz="1200" smtClean="0">
                <a:latin typeface="KB금융 본문체 Medium" panose="020B0603000000000000" pitchFamily="50" charset="-127"/>
                <a:ea typeface="KB금융 본문체 Medium" panose="020B0603000000000000" pitchFamily="50" charset="-127"/>
                <a:cs typeface="Arial" pitchFamily="34" charset="0"/>
              </a:rPr>
              <a:t>복호 테스트</a:t>
            </a:r>
            <a:endParaRPr lang="en-US" altLang="ko-KR" sz="1200" smtClean="0">
              <a:latin typeface="KB금융 본문체 Medium" panose="020B0603000000000000" pitchFamily="50" charset="-127"/>
              <a:ea typeface="KB금융 본문체 Medium" panose="020B0603000000000000" pitchFamily="50" charset="-127"/>
              <a:cs typeface="Arial" pitchFamily="34" charset="0"/>
            </a:endParaRPr>
          </a:p>
          <a:p>
            <a:pPr marL="285750" indent="-285750">
              <a:lnSpc>
                <a:spcPct val="130000"/>
              </a:lnSpc>
              <a:spcBef>
                <a:spcPct val="20000"/>
              </a:spcBef>
              <a:buSzPct val="100000"/>
              <a:buFont typeface="Wingdings" panose="05000000000000000000" pitchFamily="2" charset="2"/>
              <a:buChar char="l"/>
            </a:pPr>
            <a:r>
              <a:rPr lang="ko-KR" altLang="en-US" sz="1200">
                <a:latin typeface="KB금융 본문체 Medium" panose="020B0603000000000000" pitchFamily="50" charset="-127"/>
                <a:ea typeface="KB금융 본문체 Medium" panose="020B0603000000000000" pitchFamily="50" charset="-127"/>
                <a:cs typeface="Arial" pitchFamily="34" charset="0"/>
              </a:rPr>
              <a:t>제공된 </a:t>
            </a:r>
            <a:r>
              <a:rPr lang="en-US" altLang="ko-KR" sz="1200">
                <a:latin typeface="KB금융 본문체 Medium" panose="020B0603000000000000" pitchFamily="50" charset="-127"/>
                <a:ea typeface="KB금융 본문체 Medium" panose="020B0603000000000000" pitchFamily="50" charset="-127"/>
                <a:cs typeface="Arial" pitchFamily="34" charset="0"/>
              </a:rPr>
              <a:t>Sample</a:t>
            </a:r>
            <a:r>
              <a:rPr lang="ko-KR" altLang="en-US" sz="1200">
                <a:latin typeface="KB금융 본문체 Medium" panose="020B0603000000000000" pitchFamily="50" charset="-127"/>
                <a:ea typeface="KB금융 본문체 Medium" panose="020B0603000000000000" pitchFamily="50" charset="-127"/>
                <a:cs typeface="Arial" pitchFamily="34" charset="0"/>
              </a:rPr>
              <a:t> </a:t>
            </a:r>
            <a:r>
              <a:rPr lang="en-US" altLang="ko-KR" sz="1200">
                <a:latin typeface="KB금융 본문체 Medium" panose="020B0603000000000000" pitchFamily="50" charset="-127"/>
                <a:ea typeface="KB금융 본문체 Medium" panose="020B0603000000000000" pitchFamily="50" charset="-127"/>
                <a:cs typeface="Arial" pitchFamily="34" charset="0"/>
              </a:rPr>
              <a:t>(C:\BASCP\SampleJAVA\ScpDbSampleCode.java) </a:t>
            </a:r>
            <a:r>
              <a:rPr lang="ko-KR" altLang="en-US" sz="1200">
                <a:latin typeface="KB금융 본문체 Medium" panose="020B0603000000000000" pitchFamily="50" charset="-127"/>
                <a:ea typeface="KB금융 본문체 Medium" panose="020B0603000000000000" pitchFamily="50" charset="-127"/>
                <a:cs typeface="Arial" pitchFamily="34" charset="0"/>
              </a:rPr>
              <a:t>프로그램</a:t>
            </a:r>
            <a:r>
              <a:rPr lang="en-US" altLang="ko-KR" sz="1200">
                <a:latin typeface="KB금융 본문체 Medium" panose="020B0603000000000000" pitchFamily="50" charset="-127"/>
                <a:ea typeface="KB금융 본문체 Medium" panose="020B0603000000000000" pitchFamily="50" charset="-127"/>
                <a:cs typeface="Arial" pitchFamily="34" charset="0"/>
              </a:rPr>
              <a:t> </a:t>
            </a:r>
            <a:r>
              <a:rPr lang="ko-KR" altLang="en-US" sz="1200">
                <a:latin typeface="KB금융 본문체 Medium" panose="020B0603000000000000" pitchFamily="50" charset="-127"/>
                <a:ea typeface="KB금융 본문체 Medium" panose="020B0603000000000000" pitchFamily="50" charset="-127"/>
                <a:cs typeface="Arial" pitchFamily="34" charset="0"/>
              </a:rPr>
              <a:t>컴파일 및 실행</a:t>
            </a:r>
            <a:endParaRPr lang="en-US" altLang="ko-KR" sz="1200" dirty="0" smtClean="0">
              <a:latin typeface="KB금융 본문체 Light" panose="020B0303000000000000" pitchFamily="50" charset="-127"/>
              <a:ea typeface="KB금융 본문체 Light" panose="020B0303000000000000" pitchFamily="50" charset="-127"/>
              <a:cs typeface="ヒラギノ角ゴ ProN W3"/>
            </a:endParaRPr>
          </a:p>
        </p:txBody>
      </p:sp>
      <p:pic>
        <p:nvPicPr>
          <p:cNvPr id="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492" y="1916831"/>
            <a:ext cx="3600398" cy="3608637"/>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2780" y="4062820"/>
            <a:ext cx="3280395" cy="6390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8" name="그림 47"/>
          <p:cNvPicPr>
            <a:picLocks noChangeAspect="1"/>
          </p:cNvPicPr>
          <p:nvPr/>
        </p:nvPicPr>
        <p:blipFill>
          <a:blip r:embed="rId5"/>
          <a:stretch>
            <a:fillRect/>
          </a:stretch>
        </p:blipFill>
        <p:spPr>
          <a:xfrm>
            <a:off x="414183" y="4860040"/>
            <a:ext cx="2466569" cy="1377272"/>
          </a:xfrm>
          <a:prstGeom prst="rect">
            <a:avLst/>
          </a:prstGeom>
          <a:ln>
            <a:solidFill>
              <a:schemeClr val="tx1"/>
            </a:solidFill>
          </a:ln>
        </p:spPr>
      </p:pic>
      <p:sp>
        <p:nvSpPr>
          <p:cNvPr id="49" name="직사각형 48"/>
          <p:cNvSpPr/>
          <p:nvPr/>
        </p:nvSpPr>
        <p:spPr>
          <a:xfrm>
            <a:off x="1665397" y="5931062"/>
            <a:ext cx="638924" cy="288032"/>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sp>
        <p:nvSpPr>
          <p:cNvPr id="50" name="타원 49"/>
          <p:cNvSpPr/>
          <p:nvPr/>
        </p:nvSpPr>
        <p:spPr>
          <a:xfrm>
            <a:off x="236476" y="4756467"/>
            <a:ext cx="177707" cy="207146"/>
          </a:xfrm>
          <a:prstGeom prst="ellipse">
            <a:avLst/>
          </a:prstGeom>
          <a:solidFill>
            <a:srgbClr val="FF8264"/>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r>
              <a:rPr lang="en-US" altLang="ko-KR" sz="1100" b="1" dirty="0" smtClean="0">
                <a:solidFill>
                  <a:schemeClr val="bg1"/>
                </a:solidFill>
                <a:latin typeface="-2002" panose="02030504000101010101" pitchFamily="18" charset="-127"/>
                <a:ea typeface="-2002" panose="02030504000101010101" pitchFamily="18" charset="-127"/>
                <a:cs typeface="Arial" pitchFamily="34" charset="0"/>
              </a:rPr>
              <a:t>3</a:t>
            </a:r>
            <a:endParaRPr lang="ko-KR" altLang="en-US" sz="1600" b="1" dirty="0" smtClean="0">
              <a:solidFill>
                <a:schemeClr val="bg1"/>
              </a:solidFill>
              <a:latin typeface="-2002" panose="02030504000101010101" pitchFamily="18" charset="-127"/>
              <a:ea typeface="-2002" panose="02030504000101010101" pitchFamily="18" charset="-127"/>
              <a:cs typeface="Arial" pitchFamily="34" charset="0"/>
            </a:endParaRPr>
          </a:p>
        </p:txBody>
      </p:sp>
      <p:sp>
        <p:nvSpPr>
          <p:cNvPr id="51" name="직사각형 50"/>
          <p:cNvSpPr/>
          <p:nvPr/>
        </p:nvSpPr>
        <p:spPr>
          <a:xfrm>
            <a:off x="3116798" y="4382338"/>
            <a:ext cx="1496179" cy="199997"/>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sp>
        <p:nvSpPr>
          <p:cNvPr id="52" name="직사각형 51"/>
          <p:cNvSpPr/>
          <p:nvPr/>
        </p:nvSpPr>
        <p:spPr>
          <a:xfrm>
            <a:off x="678774" y="3044221"/>
            <a:ext cx="590540" cy="223450"/>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cxnSp>
        <p:nvCxnSpPr>
          <p:cNvPr id="53" name="직선 화살표 연결선 52"/>
          <p:cNvCxnSpPr>
            <a:stCxn id="51" idx="1"/>
            <a:endCxn id="52" idx="3"/>
          </p:cNvCxnSpPr>
          <p:nvPr/>
        </p:nvCxnSpPr>
        <p:spPr>
          <a:xfrm flipH="1" flipV="1">
            <a:off x="1269314" y="3155946"/>
            <a:ext cx="1847484" cy="1326391"/>
          </a:xfrm>
          <a:prstGeom prst="straightConnector1">
            <a:avLst/>
          </a:prstGeom>
          <a:ln w="254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54" name="직선 화살표 연결선 53"/>
          <p:cNvCxnSpPr>
            <a:stCxn id="52" idx="2"/>
          </p:cNvCxnSpPr>
          <p:nvPr/>
        </p:nvCxnSpPr>
        <p:spPr>
          <a:xfrm>
            <a:off x="974044" y="3267671"/>
            <a:ext cx="126528" cy="1592369"/>
          </a:xfrm>
          <a:prstGeom prst="straightConnector1">
            <a:avLst/>
          </a:prstGeom>
          <a:ln w="254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55" name="타원 54"/>
          <p:cNvSpPr/>
          <p:nvPr/>
        </p:nvSpPr>
        <p:spPr>
          <a:xfrm>
            <a:off x="2997508" y="4662014"/>
            <a:ext cx="177707" cy="207146"/>
          </a:xfrm>
          <a:prstGeom prst="ellipse">
            <a:avLst/>
          </a:prstGeom>
          <a:solidFill>
            <a:srgbClr val="FF8264"/>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r>
              <a:rPr lang="en-US" altLang="ko-KR" sz="1100" b="1" dirty="0" smtClean="0">
                <a:solidFill>
                  <a:schemeClr val="bg1"/>
                </a:solidFill>
                <a:latin typeface="-2002" panose="02030504000101010101" pitchFamily="18" charset="-127"/>
                <a:ea typeface="-2002" panose="02030504000101010101" pitchFamily="18" charset="-127"/>
                <a:cs typeface="Arial" pitchFamily="34" charset="0"/>
              </a:rPr>
              <a:t>1</a:t>
            </a:r>
            <a:endParaRPr lang="ko-KR" altLang="en-US" sz="1600" b="1" dirty="0" smtClean="0">
              <a:solidFill>
                <a:schemeClr val="bg1"/>
              </a:solidFill>
              <a:latin typeface="-2002" panose="02030504000101010101" pitchFamily="18" charset="-127"/>
              <a:ea typeface="-2002" panose="02030504000101010101" pitchFamily="18" charset="-127"/>
              <a:cs typeface="Arial" pitchFamily="34" charset="0"/>
            </a:endParaRPr>
          </a:p>
        </p:txBody>
      </p:sp>
      <p:sp>
        <p:nvSpPr>
          <p:cNvPr id="56" name="타원 55"/>
          <p:cNvSpPr/>
          <p:nvPr/>
        </p:nvSpPr>
        <p:spPr>
          <a:xfrm>
            <a:off x="443535" y="2876066"/>
            <a:ext cx="177707" cy="207146"/>
          </a:xfrm>
          <a:prstGeom prst="ellipse">
            <a:avLst/>
          </a:prstGeom>
          <a:solidFill>
            <a:srgbClr val="FF8264"/>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r>
              <a:rPr lang="en-US" altLang="ko-KR" sz="1100" b="1" dirty="0" smtClean="0">
                <a:solidFill>
                  <a:schemeClr val="bg1"/>
                </a:solidFill>
                <a:latin typeface="-2002" panose="02030504000101010101" pitchFamily="18" charset="-127"/>
                <a:ea typeface="-2002" panose="02030504000101010101" pitchFamily="18" charset="-127"/>
                <a:cs typeface="Arial" pitchFamily="34" charset="0"/>
              </a:rPr>
              <a:t>2</a:t>
            </a:r>
            <a:endParaRPr lang="ko-KR" altLang="en-US" sz="1600" b="1" dirty="0" smtClean="0">
              <a:solidFill>
                <a:schemeClr val="bg1"/>
              </a:solidFill>
              <a:latin typeface="-2002" panose="02030504000101010101" pitchFamily="18" charset="-127"/>
              <a:ea typeface="-2002" panose="02030504000101010101" pitchFamily="18" charset="-127"/>
              <a:cs typeface="Arial" pitchFamily="34" charset="0"/>
            </a:endParaRPr>
          </a:p>
        </p:txBody>
      </p:sp>
      <p:sp>
        <p:nvSpPr>
          <p:cNvPr id="57" name="설명선 1 56"/>
          <p:cNvSpPr/>
          <p:nvPr/>
        </p:nvSpPr>
        <p:spPr>
          <a:xfrm>
            <a:off x="812540" y="2053722"/>
            <a:ext cx="1293765" cy="439174"/>
          </a:xfrm>
          <a:prstGeom prst="borderCallout1">
            <a:avLst>
              <a:gd name="adj1" fmla="val 99950"/>
              <a:gd name="adj2" fmla="val 54257"/>
              <a:gd name="adj3" fmla="val 290424"/>
              <a:gd name="adj4" fmla="val 54835"/>
            </a:avLst>
          </a:prstGeom>
          <a:solidFill>
            <a:schemeClr val="bg1"/>
          </a:solidFill>
          <a:ln w="12700" cap="flat">
            <a:solidFill>
              <a:srgbClr val="FF0000"/>
            </a:solidFill>
            <a:miter lim="800000"/>
            <a:headEnd type="triangl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nSpc>
                <a:spcPct val="150000"/>
              </a:lnSpc>
            </a:pPr>
            <a:r>
              <a:rPr lang="ko-KR" altLang="en-US" sz="900" dirty="0" smtClean="0">
                <a:solidFill>
                  <a:schemeClr val="tx1"/>
                </a:solidFill>
                <a:latin typeface="KB금융 본문체 Light" panose="020B0303000000000000" pitchFamily="50" charset="-127"/>
                <a:ea typeface="KB금융 본문체 Light" panose="020B0303000000000000" pitchFamily="50" charset="-127"/>
              </a:rPr>
              <a:t>프로젝트내</a:t>
            </a:r>
            <a:r>
              <a:rPr lang="en-US" altLang="ko-KR" sz="900" dirty="0" smtClean="0">
                <a:solidFill>
                  <a:schemeClr val="tx1"/>
                </a:solidFill>
                <a:latin typeface="KB금융 본문체 Light" panose="020B0303000000000000" pitchFamily="50" charset="-127"/>
                <a:ea typeface="KB금융 본문체 Light" panose="020B0303000000000000" pitchFamily="50" charset="-127"/>
              </a:rPr>
              <a:t> </a:t>
            </a:r>
            <a:r>
              <a:rPr lang="ko-KR" altLang="en-US" sz="900" dirty="0" smtClean="0">
                <a:solidFill>
                  <a:schemeClr val="tx1"/>
                </a:solidFill>
                <a:latin typeface="KB금융 본문체 Light" panose="020B0303000000000000" pitchFamily="50" charset="-127"/>
                <a:ea typeface="KB금융 본문체 Light" panose="020B0303000000000000" pitchFamily="50" charset="-127"/>
              </a:rPr>
              <a:t>소스 위치에 파일 복사</a:t>
            </a:r>
            <a:endParaRPr lang="ko-KR" altLang="en-US" sz="900" dirty="0">
              <a:solidFill>
                <a:schemeClr val="tx1"/>
              </a:solidFill>
              <a:latin typeface="KB금융 본문체 Light" panose="020B0303000000000000" pitchFamily="50" charset="-127"/>
              <a:ea typeface="KB금융 본문체 Light" panose="020B0303000000000000" pitchFamily="50" charset="-127"/>
            </a:endParaRPr>
          </a:p>
        </p:txBody>
      </p:sp>
      <p:sp>
        <p:nvSpPr>
          <p:cNvPr id="58" name="설명선 1 57"/>
          <p:cNvSpPr/>
          <p:nvPr/>
        </p:nvSpPr>
        <p:spPr>
          <a:xfrm>
            <a:off x="3404828" y="3486756"/>
            <a:ext cx="2088233" cy="439174"/>
          </a:xfrm>
          <a:prstGeom prst="borderCallout1">
            <a:avLst>
              <a:gd name="adj1" fmla="val 99950"/>
              <a:gd name="adj2" fmla="val 14332"/>
              <a:gd name="adj3" fmla="val 202650"/>
              <a:gd name="adj4" fmla="val 16967"/>
            </a:avLst>
          </a:prstGeom>
          <a:solidFill>
            <a:schemeClr val="bg1"/>
          </a:solidFill>
          <a:ln w="12700" cap="flat">
            <a:solidFill>
              <a:srgbClr val="FF0000"/>
            </a:solidFill>
            <a:miter lim="800000"/>
            <a:headEnd type="triangl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nSpc>
                <a:spcPct val="150000"/>
              </a:lnSpc>
            </a:pPr>
            <a:r>
              <a:rPr lang="ko-KR" altLang="en-US" sz="900" dirty="0">
                <a:solidFill>
                  <a:schemeClr val="tx1"/>
                </a:solidFill>
                <a:latin typeface="KB금융 본문체 Light" panose="020B0303000000000000" pitchFamily="50" charset="-127"/>
                <a:ea typeface="KB금융 본문체 Light" panose="020B0303000000000000" pitchFamily="50" charset="-127"/>
              </a:rPr>
              <a:t>「</a:t>
            </a:r>
            <a:r>
              <a:rPr lang="en-US" altLang="ko-KR" sz="900" dirty="0" smtClean="0">
                <a:solidFill>
                  <a:schemeClr val="tx1"/>
                </a:solidFill>
                <a:latin typeface="KB금융 본문체 Light" panose="020B0303000000000000" pitchFamily="50" charset="-127"/>
                <a:ea typeface="KB금융 본문체 Light" panose="020B0303000000000000" pitchFamily="50" charset="-127"/>
              </a:rPr>
              <a:t>C:\BASCP\SampleCode</a:t>
            </a:r>
            <a:r>
              <a:rPr lang="ko-KR" altLang="en-US" sz="900" dirty="0" smtClean="0">
                <a:solidFill>
                  <a:schemeClr val="tx1"/>
                </a:solidFill>
                <a:latin typeface="KB금융 본문체 Light" panose="020B0303000000000000" pitchFamily="50" charset="-127"/>
                <a:ea typeface="KB금융 본문체 Light" panose="020B0303000000000000" pitchFamily="50" charset="-127"/>
              </a:rPr>
              <a:t>」 에 위치</a:t>
            </a:r>
            <a:endParaRPr lang="ko-KR" altLang="en-US" sz="900" dirty="0">
              <a:solidFill>
                <a:schemeClr val="tx1"/>
              </a:solidFill>
              <a:latin typeface="KB금융 본문체 Light" panose="020B0303000000000000" pitchFamily="50" charset="-127"/>
              <a:ea typeface="KB금융 본문체 Light" panose="020B0303000000000000" pitchFamily="50" charset="-127"/>
            </a:endParaRPr>
          </a:p>
        </p:txBody>
      </p:sp>
      <p:pic>
        <p:nvPicPr>
          <p:cNvPr id="59"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08594" y="1808112"/>
            <a:ext cx="4536727" cy="1656892"/>
          </a:xfrm>
          <a:prstGeom prst="rect">
            <a:avLst/>
          </a:prstGeom>
          <a:noFill/>
          <a:ln w="12700">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60" name="직사각형 59"/>
          <p:cNvSpPr/>
          <p:nvPr/>
        </p:nvSpPr>
        <p:spPr>
          <a:xfrm>
            <a:off x="2675783" y="2264344"/>
            <a:ext cx="312760" cy="291595"/>
          </a:xfrm>
          <a:prstGeom prst="rect">
            <a:avLst/>
          </a:prstGeom>
          <a:noFill/>
          <a:ln w="25400" cap="flat">
            <a:solidFill>
              <a:srgbClr val="FF826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a:lnSpc>
                <a:spcPct val="90000"/>
              </a:lnSpc>
              <a:spcBef>
                <a:spcPts val="600"/>
              </a:spcBef>
              <a:buClr>
                <a:schemeClr val="bg2"/>
              </a:buClr>
            </a:pPr>
            <a:endParaRPr lang="ko-KR" altLang="en-US" sz="1200" smtClean="0">
              <a:solidFill>
                <a:schemeClr val="tx1"/>
              </a:solidFill>
              <a:latin typeface="KB금융 본문체 Light" panose="020B0303000000000000" pitchFamily="50" charset="-127"/>
              <a:ea typeface="KB금융 본문체 Light" panose="020B0303000000000000" pitchFamily="50" charset="-127"/>
              <a:cs typeface="Arial" pitchFamily="34" charset="0"/>
            </a:endParaRPr>
          </a:p>
        </p:txBody>
      </p:sp>
      <p:cxnSp>
        <p:nvCxnSpPr>
          <p:cNvPr id="61" name="직선 화살표 연결선 60"/>
          <p:cNvCxnSpPr/>
          <p:nvPr/>
        </p:nvCxnSpPr>
        <p:spPr>
          <a:xfrm>
            <a:off x="2997508" y="2410141"/>
            <a:ext cx="1911086" cy="0"/>
          </a:xfrm>
          <a:prstGeom prst="straightConnector1">
            <a:avLst/>
          </a:prstGeom>
          <a:ln w="254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62" name="설명선 1 61"/>
          <p:cNvSpPr/>
          <p:nvPr/>
        </p:nvSpPr>
        <p:spPr>
          <a:xfrm>
            <a:off x="3153320" y="1943928"/>
            <a:ext cx="433236" cy="219587"/>
          </a:xfrm>
          <a:prstGeom prst="borderCallout1">
            <a:avLst>
              <a:gd name="adj1" fmla="val 71372"/>
              <a:gd name="adj2" fmla="val -3682"/>
              <a:gd name="adj3" fmla="val 145494"/>
              <a:gd name="adj4" fmla="val -43112"/>
            </a:avLst>
          </a:prstGeom>
          <a:solidFill>
            <a:schemeClr val="bg1"/>
          </a:solidFill>
          <a:ln w="12700" cap="flat">
            <a:solidFill>
              <a:srgbClr val="FF0000"/>
            </a:solidFill>
            <a:miter lim="800000"/>
            <a:headEnd type="triangl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nSpc>
                <a:spcPct val="150000"/>
              </a:lnSpc>
            </a:pPr>
            <a:r>
              <a:rPr lang="ko-KR" altLang="en-US" sz="900" smtClean="0">
                <a:solidFill>
                  <a:schemeClr val="tx1"/>
                </a:solidFill>
                <a:latin typeface="KB금융 본문체 Light" panose="020B0303000000000000" pitchFamily="50" charset="-127"/>
                <a:ea typeface="KB금융 본문체 Light" panose="020B0303000000000000" pitchFamily="50" charset="-127"/>
              </a:rPr>
              <a:t>실행</a:t>
            </a:r>
            <a:endParaRPr lang="ko-KR" altLang="en-US" sz="900" dirty="0">
              <a:solidFill>
                <a:schemeClr val="tx1"/>
              </a:solidFill>
              <a:latin typeface="KB금융 본문체 Light" panose="020B0303000000000000" pitchFamily="50" charset="-127"/>
              <a:ea typeface="KB금융 본문체 Light" panose="020B0303000000000000" pitchFamily="50" charset="-127"/>
            </a:endParaRPr>
          </a:p>
        </p:txBody>
      </p:sp>
    </p:spTree>
    <p:extLst>
      <p:ext uri="{BB962C8B-B14F-4D97-AF65-F5344CB8AC3E}">
        <p14:creationId xmlns:p14="http://schemas.microsoft.com/office/powerpoint/2010/main" val="42131162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ko-KR" altLang="en-US" smtClean="0"/>
              <a:t>첨부</a:t>
            </a:r>
            <a:r>
              <a:rPr lang="en-US" altLang="ko-KR" smtClean="0"/>
              <a:t>3. </a:t>
            </a:r>
            <a:r>
              <a:rPr lang="ko-KR" altLang="en-US" smtClean="0"/>
              <a:t>암</a:t>
            </a:r>
            <a:r>
              <a:rPr lang="en-US" altLang="ko-KR" smtClean="0"/>
              <a:t>·</a:t>
            </a:r>
            <a:r>
              <a:rPr lang="ko-KR" altLang="en-US" smtClean="0"/>
              <a:t>복호함수 적용가이드</a:t>
            </a:r>
            <a:r>
              <a:rPr lang="en-US" altLang="ko-KR" smtClean="0"/>
              <a:t>(1/8)</a:t>
            </a:r>
            <a:endParaRPr lang="ko-KR" altLang="en-US" dirty="0"/>
          </a:p>
        </p:txBody>
      </p:sp>
      <p:sp>
        <p:nvSpPr>
          <p:cNvPr id="96" name="Rectangle 3"/>
          <p:cNvSpPr>
            <a:spLocks noChangeArrowheads="1"/>
          </p:cNvSpPr>
          <p:nvPr/>
        </p:nvSpPr>
        <p:spPr bwMode="auto">
          <a:xfrm>
            <a:off x="308484" y="764704"/>
            <a:ext cx="9144000" cy="351186"/>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ko-KR" altLang="en-US" sz="1400" b="1" smtClean="0">
                <a:latin typeface="KB금융 본문체 Light" panose="020B0303000000000000" pitchFamily="50" charset="-127"/>
                <a:ea typeface="KB금융 본문체 Light" panose="020B0303000000000000" pitchFamily="50" charset="-127"/>
                <a:cs typeface="ヒラギノ角ゴ ProN W3"/>
              </a:rPr>
              <a:t>데이터 암호화</a:t>
            </a:r>
            <a:endParaRPr lang="en-US" altLang="ko-KR" sz="1400" b="1"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97" name="Rectangle 3"/>
          <p:cNvSpPr>
            <a:spLocks noChangeArrowheads="1"/>
          </p:cNvSpPr>
          <p:nvPr/>
        </p:nvSpPr>
        <p:spPr bwMode="auto">
          <a:xfrm>
            <a:off x="699993" y="1142438"/>
            <a:ext cx="8753507" cy="314189"/>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ko-KR" altLang="en-US" sz="1200" smtClean="0">
                <a:latin typeface="KB금융 본문체 Light" panose="020B0303000000000000" pitchFamily="50" charset="-127"/>
                <a:ea typeface="KB금융 본문체 Light" panose="020B0303000000000000" pitchFamily="50" charset="-127"/>
                <a:cs typeface="ヒラギノ角ゴ ProN W3"/>
              </a:rPr>
              <a:t>데이터베이스</a:t>
            </a:r>
            <a:r>
              <a:rPr lang="en-US" altLang="ko-KR" sz="1200" smtClean="0">
                <a:latin typeface="KB금융 본문체 Light" panose="020B0303000000000000" pitchFamily="50" charset="-127"/>
                <a:ea typeface="KB금융 본문체 Light" panose="020B0303000000000000" pitchFamily="50" charset="-127"/>
                <a:cs typeface="ヒラギノ角ゴ ProN W3"/>
              </a:rPr>
              <a:t>(DB)</a:t>
            </a:r>
            <a:r>
              <a:rPr lang="ko-KR" altLang="en-US" sz="1200" smtClean="0">
                <a:latin typeface="KB금융 본문체 Light" panose="020B0303000000000000" pitchFamily="50" charset="-127"/>
                <a:ea typeface="KB금융 본문체 Light" panose="020B0303000000000000" pitchFamily="50" charset="-127"/>
                <a:cs typeface="ヒラギノ角ゴ ProN W3"/>
              </a:rPr>
              <a:t>에 저장되는 데이터를 암호화하는 유형으로 반드시 적용할 </a:t>
            </a:r>
            <a:r>
              <a:rPr lang="ko-KR" altLang="en-US" sz="1200" b="1" u="sng" smtClean="0">
                <a:solidFill>
                  <a:srgbClr val="FF0000"/>
                </a:solidFill>
                <a:latin typeface="KB금융 본문체 Light" panose="020B0303000000000000" pitchFamily="50" charset="-127"/>
                <a:ea typeface="KB금융 본문체 Light" panose="020B0303000000000000" pitchFamily="50" charset="-127"/>
                <a:cs typeface="ヒラギノ角ゴ ProN W3"/>
              </a:rPr>
              <a:t>테이블의 컬럼길이를 사전에 늘려줘야 한다</a:t>
            </a:r>
            <a:endParaRPr lang="en-US" altLang="ko-KR" sz="1200" b="1" u="sng" smtClean="0">
              <a:solidFill>
                <a:srgbClr val="FF0000"/>
              </a:solidFill>
              <a:latin typeface="KB금융 본문체 Light" panose="020B0303000000000000" pitchFamily="50" charset="-127"/>
              <a:ea typeface="KB금융 본문체 Light" panose="020B0303000000000000" pitchFamily="50" charset="-127"/>
              <a:cs typeface="ヒラギノ角ゴ ProN W3"/>
            </a:endParaRPr>
          </a:p>
        </p:txBody>
      </p:sp>
      <p:sp>
        <p:nvSpPr>
          <p:cNvPr id="98" name="Rectangle 3"/>
          <p:cNvSpPr>
            <a:spLocks noChangeArrowheads="1"/>
          </p:cNvSpPr>
          <p:nvPr/>
        </p:nvSpPr>
        <p:spPr bwMode="auto">
          <a:xfrm>
            <a:off x="308484" y="1520788"/>
            <a:ext cx="9144000" cy="351186"/>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ko-KR" altLang="en-US" sz="1400" b="1" smtClean="0">
                <a:latin typeface="KB금융 본문체 Light" panose="020B0303000000000000" pitchFamily="50" charset="-127"/>
                <a:ea typeface="KB금융 본문체 Light" panose="020B0303000000000000" pitchFamily="50" charset="-127"/>
                <a:cs typeface="ヒラギノ角ゴ ProN W3"/>
              </a:rPr>
              <a:t>코딩 가이드</a:t>
            </a:r>
            <a:endParaRPr lang="en-US" altLang="ko-KR" sz="1400" b="1"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100" name="TextBox 99"/>
          <p:cNvSpPr txBox="1"/>
          <p:nvPr/>
        </p:nvSpPr>
        <p:spPr>
          <a:xfrm>
            <a:off x="1078873" y="2253063"/>
            <a:ext cx="7637921" cy="3693319"/>
          </a:xfrm>
          <a:prstGeom prst="rect">
            <a:avLst/>
          </a:prstGeom>
          <a:noFill/>
        </p:spPr>
        <p:txBody>
          <a:bodyPr wrap="square" rtlCol="0">
            <a:spAutoFit/>
          </a:bodyPr>
          <a:lstStyle/>
          <a:p>
            <a:pPr>
              <a:lnSpc>
                <a:spcPct val="150000"/>
              </a:lnSpc>
            </a:pPr>
            <a:r>
              <a:rPr lang="ko-KR" altLang="en-US" sz="1200" dirty="0">
                <a:latin typeface="+mn-ea"/>
              </a:rPr>
              <a:t>① </a:t>
            </a:r>
            <a:r>
              <a:rPr lang="en-US" altLang="ko-KR" sz="1200" dirty="0" smtClean="0">
                <a:latin typeface="+mn-ea"/>
              </a:rPr>
              <a:t>API</a:t>
            </a:r>
            <a:r>
              <a:rPr lang="ko-KR" altLang="en-US" sz="1200" dirty="0" smtClean="0">
                <a:latin typeface="+mn-ea"/>
              </a:rPr>
              <a:t> </a:t>
            </a:r>
            <a:r>
              <a:rPr lang="en-US" altLang="ko-KR" sz="1200" dirty="0" smtClean="0">
                <a:latin typeface="+mn-ea"/>
              </a:rPr>
              <a:t>import </a:t>
            </a:r>
            <a:r>
              <a:rPr lang="ko-KR" altLang="en-US" sz="1200" dirty="0" smtClean="0">
                <a:latin typeface="+mn-ea"/>
              </a:rPr>
              <a:t>한다</a:t>
            </a:r>
            <a:endParaRPr lang="en-US" altLang="ko-KR" sz="1200" dirty="0">
              <a:latin typeface="+mn-ea"/>
            </a:endParaRPr>
          </a:p>
          <a:p>
            <a:pPr>
              <a:lnSpc>
                <a:spcPct val="150000"/>
              </a:lnSpc>
            </a:pPr>
            <a:r>
              <a:rPr lang="en-US" altLang="ko-KR" sz="1200" dirty="0" smtClean="0"/>
              <a:t>     import </a:t>
            </a:r>
            <a:r>
              <a:rPr lang="en-US" altLang="ko-KR" sz="1200" dirty="0" err="1"/>
              <a:t>com.penta.scpdb</a:t>
            </a:r>
            <a:r>
              <a:rPr lang="en-US" altLang="ko-KR" sz="1200" dirty="0"/>
              <a:t>.*; </a:t>
            </a:r>
          </a:p>
          <a:p>
            <a:pPr>
              <a:lnSpc>
                <a:spcPct val="150000"/>
              </a:lnSpc>
            </a:pPr>
            <a:endParaRPr lang="en-US" altLang="ko-KR" sz="1200" dirty="0" smtClean="0">
              <a:latin typeface="+mn-ea"/>
            </a:endParaRPr>
          </a:p>
          <a:p>
            <a:pPr>
              <a:lnSpc>
                <a:spcPct val="150000"/>
              </a:lnSpc>
            </a:pPr>
            <a:r>
              <a:rPr lang="ko-KR" altLang="en-US" sz="1200" dirty="0" smtClean="0">
                <a:latin typeface="+mn-ea"/>
              </a:rPr>
              <a:t>② </a:t>
            </a:r>
            <a:r>
              <a:rPr lang="ko-KR" altLang="en-US" sz="1200" dirty="0">
                <a:latin typeface="+mn-ea"/>
              </a:rPr>
              <a:t>함수 호출에 필요한 변수를 설정한다</a:t>
            </a:r>
            <a:r>
              <a:rPr lang="en-US" altLang="ko-KR" sz="1200" dirty="0">
                <a:latin typeface="+mn-ea"/>
              </a:rPr>
              <a:t>.</a:t>
            </a:r>
          </a:p>
          <a:p>
            <a:pPr>
              <a:lnSpc>
                <a:spcPct val="150000"/>
              </a:lnSpc>
            </a:pPr>
            <a:r>
              <a:rPr lang="en-US" altLang="ko-KR" sz="1200" dirty="0" smtClean="0"/>
              <a:t>     </a:t>
            </a:r>
            <a:r>
              <a:rPr lang="en-US" altLang="ko-KR" sz="1200" dirty="0"/>
              <a:t>String </a:t>
            </a:r>
            <a:r>
              <a:rPr lang="en-US" altLang="ko-KR" sz="1200" dirty="0" err="1"/>
              <a:t>strEnc</a:t>
            </a:r>
            <a:r>
              <a:rPr lang="en-US" altLang="ko-KR" sz="1200" dirty="0"/>
              <a:t>, </a:t>
            </a:r>
            <a:r>
              <a:rPr lang="en-US" altLang="ko-KR" sz="1200" dirty="0" err="1"/>
              <a:t>strDec</a:t>
            </a:r>
            <a:r>
              <a:rPr lang="en-US" altLang="ko-KR" sz="1200" dirty="0" smtClean="0"/>
              <a:t>;  </a:t>
            </a:r>
            <a:r>
              <a:rPr lang="en-US" altLang="ko-KR" sz="1200" dirty="0" err="1"/>
              <a:t>Int</a:t>
            </a:r>
            <a:r>
              <a:rPr lang="en-US" altLang="ko-KR" sz="1200" dirty="0"/>
              <a:t> ret = 0;</a:t>
            </a:r>
          </a:p>
          <a:p>
            <a:pPr>
              <a:lnSpc>
                <a:spcPct val="150000"/>
              </a:lnSpc>
            </a:pPr>
            <a:endParaRPr lang="en-US" altLang="ko-KR" sz="1200" dirty="0" smtClean="0">
              <a:latin typeface="+mn-ea"/>
            </a:endParaRPr>
          </a:p>
          <a:p>
            <a:pPr>
              <a:lnSpc>
                <a:spcPct val="150000"/>
              </a:lnSpc>
            </a:pPr>
            <a:r>
              <a:rPr lang="ko-KR" altLang="en-US" sz="1200" dirty="0" smtClean="0">
                <a:latin typeface="+mn-ea"/>
              </a:rPr>
              <a:t>③ </a:t>
            </a:r>
            <a:r>
              <a:rPr lang="ko-KR" altLang="en-US" sz="1200" dirty="0" err="1">
                <a:latin typeface="+mn-ea"/>
              </a:rPr>
              <a:t>설정파일의</a:t>
            </a:r>
            <a:r>
              <a:rPr lang="ko-KR" altLang="en-US" sz="1200" dirty="0">
                <a:latin typeface="+mn-ea"/>
              </a:rPr>
              <a:t> 경로를 지정한다</a:t>
            </a:r>
            <a:r>
              <a:rPr lang="en-US" altLang="ko-KR" sz="1200" dirty="0">
                <a:latin typeface="+mn-ea"/>
              </a:rPr>
              <a:t>.</a:t>
            </a:r>
          </a:p>
          <a:p>
            <a:pPr>
              <a:lnSpc>
                <a:spcPct val="150000"/>
              </a:lnSpc>
            </a:pPr>
            <a:r>
              <a:rPr lang="en-US" altLang="ko-KR" sz="1200" dirty="0" smtClean="0"/>
              <a:t>     /* </a:t>
            </a:r>
            <a:r>
              <a:rPr lang="en-US" altLang="ko-KR" sz="1200" dirty="0"/>
              <a:t>DAMO SCP API </a:t>
            </a:r>
            <a:r>
              <a:rPr lang="ko-KR" altLang="en-US" sz="1200" dirty="0"/>
              <a:t>설정 파일과 키 파일의 풀 패스 *</a:t>
            </a:r>
            <a:r>
              <a:rPr lang="en-US" altLang="ko-KR" sz="1200" dirty="0" smtClean="0"/>
              <a:t>/</a:t>
            </a:r>
          </a:p>
          <a:p>
            <a:pPr>
              <a:lnSpc>
                <a:spcPct val="150000"/>
              </a:lnSpc>
            </a:pPr>
            <a:r>
              <a:rPr lang="en-US" altLang="ko-KR" sz="1200" dirty="0" smtClean="0"/>
              <a:t>     </a:t>
            </a:r>
            <a:r>
              <a:rPr lang="en-US" altLang="ko-KR" sz="1200" dirty="0"/>
              <a:t>String </a:t>
            </a:r>
            <a:r>
              <a:rPr lang="en-US" altLang="ko-KR" sz="1200" dirty="0" err="1"/>
              <a:t>iniFilePath</a:t>
            </a:r>
            <a:r>
              <a:rPr lang="en-US" altLang="ko-KR" sz="1200" dirty="0"/>
              <a:t> = </a:t>
            </a:r>
            <a:r>
              <a:rPr lang="en-US" altLang="ko-KR" sz="1200" dirty="0" smtClean="0"/>
              <a:t>“C:/BASCP/scpdb_agent.ini</a:t>
            </a:r>
            <a:r>
              <a:rPr lang="en-US" altLang="ko-KR" sz="1200" dirty="0"/>
              <a:t>"; </a:t>
            </a:r>
            <a:r>
              <a:rPr lang="en-US" altLang="ko-KR" sz="1200" dirty="0" smtClean="0"/>
              <a:t>//</a:t>
            </a:r>
            <a:r>
              <a:rPr lang="ko-KR" altLang="en-US" sz="1200" dirty="0" smtClean="0"/>
              <a:t>개발자</a:t>
            </a:r>
            <a:r>
              <a:rPr lang="en-US" altLang="ko-KR" sz="1200" dirty="0" smtClean="0"/>
              <a:t>PC</a:t>
            </a:r>
            <a:endParaRPr lang="en-US" altLang="ko-KR" sz="1200" dirty="0"/>
          </a:p>
          <a:p>
            <a:pPr>
              <a:lnSpc>
                <a:spcPct val="150000"/>
              </a:lnSpc>
            </a:pPr>
            <a:r>
              <a:rPr lang="en-US" altLang="ko-KR" sz="1200" dirty="0" smtClean="0"/>
              <a:t>     String </a:t>
            </a:r>
            <a:r>
              <a:rPr lang="en-US" altLang="ko-KR" sz="1200" dirty="0" err="1"/>
              <a:t>iniFilePath</a:t>
            </a:r>
            <a:r>
              <a:rPr lang="en-US" altLang="ko-KR" sz="1200" dirty="0"/>
              <a:t> = "/</a:t>
            </a:r>
            <a:r>
              <a:rPr lang="en-US" altLang="ko-KR" sz="1200" dirty="0" err="1" smtClean="0"/>
              <a:t>fsscp</a:t>
            </a:r>
            <a:r>
              <a:rPr lang="en-US" altLang="ko-KR" sz="1200" dirty="0" smtClean="0"/>
              <a:t>/</a:t>
            </a:r>
            <a:r>
              <a:rPr lang="en-US" altLang="ko-KR" sz="1200" dirty="0" err="1" smtClean="0"/>
              <a:t>pav</a:t>
            </a:r>
            <a:r>
              <a:rPr lang="en-US" altLang="ko-KR" sz="1200" dirty="0" smtClean="0"/>
              <a:t>/agent/scpdb_agent_unix.ini"; //</a:t>
            </a:r>
            <a:r>
              <a:rPr lang="ko-KR" altLang="en-US" sz="1200" dirty="0" smtClean="0"/>
              <a:t>서버</a:t>
            </a:r>
            <a:endParaRPr lang="en-US" altLang="ko-KR" sz="1200" dirty="0"/>
          </a:p>
          <a:p>
            <a:pPr>
              <a:lnSpc>
                <a:spcPct val="150000"/>
              </a:lnSpc>
            </a:pPr>
            <a:endParaRPr lang="en-US" altLang="ko-KR" sz="1200" dirty="0" smtClean="0"/>
          </a:p>
          <a:p>
            <a:pPr>
              <a:lnSpc>
                <a:spcPct val="150000"/>
              </a:lnSpc>
            </a:pPr>
            <a:r>
              <a:rPr lang="ko-KR" altLang="en-US" sz="1200" dirty="0"/>
              <a:t>④ </a:t>
            </a:r>
            <a:r>
              <a:rPr lang="en-US" altLang="ko-KR" sz="1200" dirty="0" err="1" smtClean="0"/>
              <a:t>ScpDbAgent</a:t>
            </a:r>
            <a:r>
              <a:rPr lang="en-US" altLang="ko-KR" sz="1200" dirty="0" smtClean="0"/>
              <a:t> </a:t>
            </a:r>
            <a:r>
              <a:rPr lang="ko-KR" altLang="en-US" sz="1200" dirty="0"/>
              <a:t>객체를 </a:t>
            </a:r>
            <a:r>
              <a:rPr lang="ko-KR" altLang="en-US" sz="1200" dirty="0" smtClean="0"/>
              <a:t>생성한다</a:t>
            </a:r>
            <a:r>
              <a:rPr lang="en-US" altLang="ko-KR" sz="1200" dirty="0" smtClean="0"/>
              <a:t>.</a:t>
            </a:r>
            <a:endParaRPr lang="en-US" altLang="ko-KR" sz="1200" dirty="0"/>
          </a:p>
          <a:p>
            <a:pPr>
              <a:lnSpc>
                <a:spcPct val="150000"/>
              </a:lnSpc>
            </a:pPr>
            <a:r>
              <a:rPr lang="en-US" altLang="ko-KR" sz="1200" dirty="0" smtClean="0"/>
              <a:t>     </a:t>
            </a:r>
            <a:r>
              <a:rPr lang="en-US" altLang="ko-KR" sz="1200" dirty="0" err="1" smtClean="0"/>
              <a:t>ScpDbAgent</a:t>
            </a:r>
            <a:r>
              <a:rPr lang="en-US" altLang="ko-KR" sz="1200" dirty="0" smtClean="0"/>
              <a:t> </a:t>
            </a:r>
            <a:r>
              <a:rPr lang="en-US" altLang="ko-KR" sz="1200" dirty="0" err="1"/>
              <a:t>agt</a:t>
            </a:r>
            <a:r>
              <a:rPr lang="en-US" altLang="ko-KR" sz="1200" dirty="0"/>
              <a:t> = new </a:t>
            </a:r>
            <a:r>
              <a:rPr lang="en-US" altLang="ko-KR" sz="1200" dirty="0" err="1"/>
              <a:t>ScpDbAgent</a:t>
            </a:r>
            <a:r>
              <a:rPr lang="en-US" altLang="ko-KR" sz="1200" dirty="0" smtClean="0"/>
              <a:t>();</a:t>
            </a:r>
            <a:endParaRPr lang="en-US" altLang="ko-KR" sz="1200" dirty="0"/>
          </a:p>
        </p:txBody>
      </p:sp>
      <p:sp>
        <p:nvSpPr>
          <p:cNvPr id="101" name="Rectangle 3"/>
          <p:cNvSpPr>
            <a:spLocks noChangeArrowheads="1"/>
          </p:cNvSpPr>
          <p:nvPr/>
        </p:nvSpPr>
        <p:spPr bwMode="auto">
          <a:xfrm>
            <a:off x="699993" y="1854671"/>
            <a:ext cx="8753507" cy="314189"/>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en-US" altLang="ko-KR" sz="1200" smtClean="0">
                <a:latin typeface="KB금융 본문체 Light" panose="020B0303000000000000" pitchFamily="50" charset="-127"/>
                <a:ea typeface="KB금융 본문체 Light" panose="020B0303000000000000" pitchFamily="50" charset="-127"/>
                <a:cs typeface="ヒラギノ角ゴ ProN W3"/>
              </a:rPr>
              <a:t>JAVA/JSP</a:t>
            </a:r>
          </a:p>
        </p:txBody>
      </p:sp>
      <p:sp>
        <p:nvSpPr>
          <p:cNvPr id="13" name="Rectangle 3"/>
          <p:cNvSpPr>
            <a:spLocks noChangeArrowheads="1"/>
          </p:cNvSpPr>
          <p:nvPr/>
        </p:nvSpPr>
        <p:spPr bwMode="auto">
          <a:xfrm>
            <a:off x="1090436" y="6089568"/>
            <a:ext cx="8183044" cy="272382"/>
          </a:xfrm>
          <a:prstGeom prst="rect">
            <a:avLst/>
          </a:prstGeom>
          <a:noFill/>
          <a:ln w="9525" algn="ctr">
            <a:noFill/>
            <a:miter lim="800000"/>
            <a:headEnd/>
            <a:tailEnd/>
          </a:ln>
          <a:effectLst/>
        </p:spPr>
        <p:txBody>
          <a:bodyPr wrap="square">
            <a:spAutoFit/>
          </a:bodyPr>
          <a:lstStyle/>
          <a:p>
            <a:pPr>
              <a:lnSpc>
                <a:spcPct val="130000"/>
              </a:lnSpc>
              <a:spcBef>
                <a:spcPct val="20000"/>
              </a:spcBef>
              <a:buSzPct val="100000"/>
            </a:pPr>
            <a:r>
              <a:rPr lang="en-US" altLang="ko-KR" sz="900" smtClean="0">
                <a:latin typeface="KB금융 본문체 Light" panose="020B0303000000000000" pitchFamily="50" charset="-127"/>
                <a:ea typeface="KB금융 본문체 Light" panose="020B0303000000000000" pitchFamily="50" charset="-127"/>
                <a:cs typeface="ヒラギノ角ゴ ProN W3"/>
              </a:rPr>
              <a:t>* </a:t>
            </a:r>
            <a:r>
              <a:rPr lang="ko-KR" altLang="en-US" sz="900" smtClean="0">
                <a:latin typeface="KB금융 본문체 Light" panose="020B0303000000000000" pitchFamily="50" charset="-127"/>
                <a:ea typeface="KB금융 본문체 Light" panose="020B0303000000000000" pitchFamily="50" charset="-127"/>
                <a:cs typeface="ヒラギノ角ゴ ProN W3"/>
              </a:rPr>
              <a:t>컬럼길이 계산은 </a:t>
            </a:r>
            <a:r>
              <a:rPr lang="en-US" altLang="ko-KR" sz="900" smtClean="0">
                <a:latin typeface="KB금융 본문체 Light" panose="020B0303000000000000" pitchFamily="50" charset="-127"/>
                <a:ea typeface="KB금융 본문체 Light" panose="020B0303000000000000" pitchFamily="50" charset="-127"/>
                <a:cs typeface="ヒラギノ角ゴ ProN W3"/>
              </a:rPr>
              <a:t>“</a:t>
            </a:r>
            <a:r>
              <a:rPr lang="ko-KR" altLang="en-US" sz="900" smtClean="0">
                <a:latin typeface="KB금융 본문체 Light" panose="020B0303000000000000" pitchFamily="50" charset="-127"/>
                <a:ea typeface="KB금융 본문체 Light" panose="020B0303000000000000" pitchFamily="50" charset="-127"/>
                <a:cs typeface="ヒラギノ角ゴ ProN W3"/>
              </a:rPr>
              <a:t>암호화 컬럼 길이 계산 공식</a:t>
            </a:r>
            <a:r>
              <a:rPr lang="en-US" altLang="ko-KR" sz="900" smtClean="0">
                <a:latin typeface="KB금융 본문체 Light" panose="020B0303000000000000" pitchFamily="50" charset="-127"/>
                <a:ea typeface="KB금융 본문체 Light" panose="020B0303000000000000" pitchFamily="50" charset="-127"/>
                <a:cs typeface="ヒラギノ角ゴ ProN W3"/>
              </a:rPr>
              <a:t>.xlsx” </a:t>
            </a:r>
            <a:r>
              <a:rPr lang="ko-KR" altLang="en-US" sz="900" smtClean="0">
                <a:latin typeface="KB금융 본문체 Light" panose="020B0303000000000000" pitchFamily="50" charset="-127"/>
                <a:ea typeface="KB금융 본문체 Light" panose="020B0303000000000000" pitchFamily="50" charset="-127"/>
                <a:cs typeface="ヒラギノ角ゴ ProN W3"/>
              </a:rPr>
              <a:t>파일 참조</a:t>
            </a:r>
            <a:endParaRPr lang="en-US" altLang="ko-KR" sz="900" smtClean="0">
              <a:latin typeface="KB금융 본문체 Light" panose="020B0303000000000000" pitchFamily="50" charset="-127"/>
              <a:ea typeface="KB금융 본문체 Light" panose="020B0303000000000000" pitchFamily="50" charset="-127"/>
              <a:cs typeface="ヒラギノ角ゴ ProN W3"/>
            </a:endParaRPr>
          </a:p>
        </p:txBody>
      </p:sp>
    </p:spTree>
    <p:extLst>
      <p:ext uri="{BB962C8B-B14F-4D97-AF65-F5344CB8AC3E}">
        <p14:creationId xmlns:p14="http://schemas.microsoft.com/office/powerpoint/2010/main" val="40569156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ko-KR" altLang="en-US" smtClean="0"/>
              <a:t>첨부</a:t>
            </a:r>
            <a:r>
              <a:rPr lang="en-US" altLang="ko-KR" smtClean="0"/>
              <a:t>3</a:t>
            </a:r>
            <a:r>
              <a:rPr lang="en-US" altLang="ko-KR"/>
              <a:t>. </a:t>
            </a:r>
            <a:r>
              <a:rPr lang="ko-KR" altLang="en-US"/>
              <a:t>암</a:t>
            </a:r>
            <a:r>
              <a:rPr lang="en-US" altLang="ko-KR"/>
              <a:t>·</a:t>
            </a:r>
            <a:r>
              <a:rPr lang="ko-KR" altLang="en-US"/>
              <a:t>복호함수 </a:t>
            </a:r>
            <a:r>
              <a:rPr lang="ko-KR" altLang="en-US" smtClean="0"/>
              <a:t>적용가이드</a:t>
            </a:r>
            <a:r>
              <a:rPr lang="en-US" altLang="ko-KR" smtClean="0"/>
              <a:t>(2/8)</a:t>
            </a:r>
            <a:endParaRPr lang="ko-KR" altLang="en-US" dirty="0"/>
          </a:p>
        </p:txBody>
      </p:sp>
      <p:sp>
        <p:nvSpPr>
          <p:cNvPr id="96" name="Rectangle 3"/>
          <p:cNvSpPr>
            <a:spLocks noChangeArrowheads="1"/>
          </p:cNvSpPr>
          <p:nvPr/>
        </p:nvSpPr>
        <p:spPr bwMode="auto">
          <a:xfrm>
            <a:off x="308484" y="764704"/>
            <a:ext cx="9144000" cy="351186"/>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ko-KR" altLang="en-US" sz="1400" b="1" smtClean="0">
                <a:latin typeface="KB금융 본문체 Light" panose="020B0303000000000000" pitchFamily="50" charset="-127"/>
                <a:ea typeface="KB금융 본문체 Light" panose="020B0303000000000000" pitchFamily="50" charset="-127"/>
                <a:cs typeface="ヒラギノ角ゴ ProN W3"/>
              </a:rPr>
              <a:t>코딩 가이드</a:t>
            </a:r>
            <a:endParaRPr lang="en-US" altLang="ko-KR" sz="1400" b="1"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97" name="Rectangle 3"/>
          <p:cNvSpPr>
            <a:spLocks noChangeArrowheads="1"/>
          </p:cNvSpPr>
          <p:nvPr/>
        </p:nvSpPr>
        <p:spPr bwMode="auto">
          <a:xfrm>
            <a:off x="699993" y="1142438"/>
            <a:ext cx="8753507" cy="314189"/>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en-US" altLang="ko-KR" sz="1200" smtClean="0">
                <a:latin typeface="KB금융 본문체 Light" panose="020B0303000000000000" pitchFamily="50" charset="-127"/>
                <a:ea typeface="KB금융 본문체 Light" panose="020B0303000000000000" pitchFamily="50" charset="-127"/>
                <a:cs typeface="ヒラギノ角ゴ ProN W3"/>
              </a:rPr>
              <a:t>JAVA/JSP</a:t>
            </a:r>
          </a:p>
        </p:txBody>
      </p:sp>
      <p:sp>
        <p:nvSpPr>
          <p:cNvPr id="100" name="TextBox 99"/>
          <p:cNvSpPr txBox="1"/>
          <p:nvPr/>
        </p:nvSpPr>
        <p:spPr>
          <a:xfrm>
            <a:off x="1084434" y="1462597"/>
            <a:ext cx="7637921" cy="1200329"/>
          </a:xfrm>
          <a:prstGeom prst="rect">
            <a:avLst/>
          </a:prstGeom>
          <a:noFill/>
        </p:spPr>
        <p:txBody>
          <a:bodyPr wrap="square" rtlCol="0">
            <a:spAutoFit/>
          </a:bodyPr>
          <a:lstStyle/>
          <a:p>
            <a:pPr>
              <a:lnSpc>
                <a:spcPct val="150000"/>
              </a:lnSpc>
            </a:pPr>
            <a:r>
              <a:rPr lang="en-US" altLang="ko-KR" sz="1200" smtClean="0">
                <a:latin typeface="+mn-ea"/>
              </a:rPr>
              <a:t> </a:t>
            </a:r>
            <a:r>
              <a:rPr lang="ko-KR" altLang="en-US" sz="1200" smtClean="0">
                <a:latin typeface="+mn-ea"/>
                <a:cs typeface="Arial" pitchFamily="34" charset="0"/>
              </a:rPr>
              <a:t>⑤ </a:t>
            </a:r>
            <a:r>
              <a:rPr lang="ko-KR" altLang="en-US" sz="1200" smtClean="0">
                <a:latin typeface="+mn-ea"/>
              </a:rPr>
              <a:t>암</a:t>
            </a:r>
            <a:r>
              <a:rPr lang="en-US" altLang="ko-KR" sz="1200">
                <a:latin typeface="+mn-ea"/>
              </a:rPr>
              <a:t>·</a:t>
            </a:r>
            <a:r>
              <a:rPr lang="ko-KR" altLang="en-US" sz="1200">
                <a:latin typeface="+mn-ea"/>
              </a:rPr>
              <a:t>복호화 함수를 호출한다</a:t>
            </a:r>
            <a:r>
              <a:rPr lang="en-US" altLang="ko-KR" sz="1200">
                <a:latin typeface="+mn-ea"/>
              </a:rPr>
              <a:t>.</a:t>
            </a:r>
          </a:p>
          <a:p>
            <a:pPr>
              <a:lnSpc>
                <a:spcPct val="150000"/>
              </a:lnSpc>
            </a:pPr>
            <a:r>
              <a:rPr lang="en-US" altLang="ko-KR" sz="1200" smtClean="0">
                <a:latin typeface="+mn-ea"/>
              </a:rPr>
              <a:t>     </a:t>
            </a:r>
            <a:r>
              <a:rPr lang="en-US" altLang="ko-KR" sz="1200" smtClean="0">
                <a:solidFill>
                  <a:srgbClr val="FF0000"/>
                </a:solidFill>
                <a:latin typeface="+mn-ea"/>
              </a:rPr>
              <a:t>/* </a:t>
            </a:r>
            <a:r>
              <a:rPr lang="ko-KR" altLang="en-US" sz="1200" dirty="0">
                <a:solidFill>
                  <a:srgbClr val="FF0000"/>
                </a:solidFill>
                <a:latin typeface="+mn-ea"/>
              </a:rPr>
              <a:t>기본 </a:t>
            </a:r>
            <a:r>
              <a:rPr lang="ko-KR" altLang="en-US" sz="1200" dirty="0" err="1">
                <a:solidFill>
                  <a:srgbClr val="FF0000"/>
                </a:solidFill>
                <a:latin typeface="+mn-ea"/>
              </a:rPr>
              <a:t>캐릭터셋은</a:t>
            </a:r>
            <a:r>
              <a:rPr lang="ko-KR" altLang="en-US" sz="1200" dirty="0">
                <a:solidFill>
                  <a:srgbClr val="FF0000"/>
                </a:solidFill>
                <a:latin typeface="+mn-ea"/>
              </a:rPr>
              <a:t> 서버의 </a:t>
            </a:r>
            <a:r>
              <a:rPr lang="ko-KR" altLang="en-US" sz="1200" dirty="0" err="1">
                <a:solidFill>
                  <a:srgbClr val="FF0000"/>
                </a:solidFill>
                <a:latin typeface="+mn-ea"/>
              </a:rPr>
              <a:t>캐릭터셋을</a:t>
            </a:r>
            <a:r>
              <a:rPr lang="ko-KR" altLang="en-US" sz="1200" dirty="0">
                <a:solidFill>
                  <a:srgbClr val="FF0000"/>
                </a:solidFill>
                <a:latin typeface="+mn-ea"/>
              </a:rPr>
              <a:t> 준용하며</a:t>
            </a:r>
            <a:r>
              <a:rPr lang="en-US" altLang="ko-KR" sz="1200" dirty="0">
                <a:solidFill>
                  <a:srgbClr val="FF0000"/>
                </a:solidFill>
                <a:latin typeface="+mn-ea"/>
              </a:rPr>
              <a:t>, </a:t>
            </a:r>
            <a:r>
              <a:rPr lang="ko-KR" altLang="en-US" sz="1200" dirty="0" err="1">
                <a:solidFill>
                  <a:srgbClr val="FF0000"/>
                </a:solidFill>
                <a:latin typeface="+mn-ea"/>
              </a:rPr>
              <a:t>사용가능한</a:t>
            </a:r>
            <a:r>
              <a:rPr lang="ko-KR" altLang="en-US" sz="1200" dirty="0">
                <a:solidFill>
                  <a:srgbClr val="FF0000"/>
                </a:solidFill>
                <a:latin typeface="+mn-ea"/>
              </a:rPr>
              <a:t> </a:t>
            </a:r>
            <a:r>
              <a:rPr lang="ko-KR" altLang="en-US" sz="1200" dirty="0" err="1">
                <a:solidFill>
                  <a:srgbClr val="FF0000"/>
                </a:solidFill>
                <a:latin typeface="+mn-ea"/>
              </a:rPr>
              <a:t>캐릭터셋은</a:t>
            </a:r>
            <a:r>
              <a:rPr lang="ko-KR" altLang="en-US" sz="1200" dirty="0">
                <a:solidFill>
                  <a:srgbClr val="FF0000"/>
                </a:solidFill>
                <a:latin typeface="+mn-ea"/>
              </a:rPr>
              <a:t> </a:t>
            </a:r>
            <a:r>
              <a:rPr lang="en-US" altLang="ko-KR" sz="1200" dirty="0">
                <a:solidFill>
                  <a:srgbClr val="FF0000"/>
                </a:solidFill>
                <a:latin typeface="+mn-ea"/>
              </a:rPr>
              <a:t>“UTF-8”</a:t>
            </a:r>
            <a:r>
              <a:rPr lang="ko-KR" altLang="en-US" sz="1200" dirty="0">
                <a:solidFill>
                  <a:srgbClr val="FF0000"/>
                </a:solidFill>
                <a:latin typeface="+mn-ea"/>
              </a:rPr>
              <a:t>과 </a:t>
            </a:r>
            <a:r>
              <a:rPr lang="en-US" altLang="ko-KR" sz="1200" dirty="0">
                <a:solidFill>
                  <a:srgbClr val="FF0000"/>
                </a:solidFill>
                <a:latin typeface="+mn-ea"/>
              </a:rPr>
              <a:t>“EUC-KR”</a:t>
            </a:r>
            <a:r>
              <a:rPr lang="ko-KR" altLang="en-US" sz="1200" dirty="0">
                <a:solidFill>
                  <a:srgbClr val="FF0000"/>
                </a:solidFill>
                <a:latin typeface="+mn-ea"/>
              </a:rPr>
              <a:t>가 있음</a:t>
            </a:r>
            <a:r>
              <a:rPr lang="en-US" altLang="ko-KR" sz="1200" dirty="0">
                <a:solidFill>
                  <a:srgbClr val="FF0000"/>
                </a:solidFill>
                <a:latin typeface="+mn-ea"/>
              </a:rPr>
              <a:t> */</a:t>
            </a:r>
          </a:p>
          <a:p>
            <a:pPr>
              <a:lnSpc>
                <a:spcPct val="150000"/>
              </a:lnSpc>
            </a:pPr>
            <a:r>
              <a:rPr lang="en-US" altLang="ko-KR" sz="1200" smtClean="0">
                <a:latin typeface="+mn-ea"/>
              </a:rPr>
              <a:t>     strEnc </a:t>
            </a:r>
            <a:r>
              <a:rPr lang="en-US" altLang="ko-KR" sz="1200" dirty="0">
                <a:latin typeface="+mn-ea"/>
              </a:rPr>
              <a:t>= agt.ScpEncB64( </a:t>
            </a:r>
            <a:r>
              <a:rPr lang="en-US" altLang="ko-KR" sz="1200" dirty="0" err="1">
                <a:latin typeface="+mn-ea"/>
              </a:rPr>
              <a:t>iniFilePath</a:t>
            </a:r>
            <a:r>
              <a:rPr lang="en-US" altLang="ko-KR" sz="1200" dirty="0">
                <a:latin typeface="+mn-ea"/>
              </a:rPr>
              <a:t>, </a:t>
            </a:r>
            <a:r>
              <a:rPr lang="en-US" altLang="ko-KR" sz="1200" dirty="0" smtClean="0">
                <a:latin typeface="+mn-ea"/>
              </a:rPr>
              <a:t>“SEC", </a:t>
            </a:r>
            <a:r>
              <a:rPr lang="en-US" altLang="ko-KR" sz="1200" dirty="0" err="1">
                <a:latin typeface="+mn-ea"/>
              </a:rPr>
              <a:t>strInputPlain</a:t>
            </a:r>
            <a:r>
              <a:rPr lang="en-US" altLang="ko-KR" sz="1200" dirty="0">
                <a:latin typeface="+mn-ea"/>
              </a:rPr>
              <a:t>, “</a:t>
            </a:r>
            <a:r>
              <a:rPr lang="ko-KR" altLang="en-US" sz="1200" dirty="0" err="1">
                <a:latin typeface="+mn-ea"/>
              </a:rPr>
              <a:t>캐릭터셋</a:t>
            </a:r>
            <a:r>
              <a:rPr lang="en-US" altLang="ko-KR" sz="1200" dirty="0">
                <a:latin typeface="+mn-ea"/>
              </a:rPr>
              <a:t> </a:t>
            </a:r>
            <a:r>
              <a:rPr lang="ko-KR" altLang="en-US" sz="1200" dirty="0">
                <a:latin typeface="+mn-ea"/>
              </a:rPr>
              <a:t>지정가능</a:t>
            </a:r>
            <a:r>
              <a:rPr lang="en-US" altLang="ko-KR" sz="1200" dirty="0">
                <a:latin typeface="+mn-ea"/>
              </a:rPr>
              <a:t>” ); // </a:t>
            </a:r>
            <a:r>
              <a:rPr lang="ko-KR" altLang="en-US" sz="1200" dirty="0">
                <a:latin typeface="+mn-ea"/>
              </a:rPr>
              <a:t>암호화</a:t>
            </a:r>
            <a:endParaRPr lang="en-US" altLang="ko-KR" sz="1200" dirty="0">
              <a:latin typeface="+mn-ea"/>
            </a:endParaRPr>
          </a:p>
          <a:p>
            <a:pPr>
              <a:lnSpc>
                <a:spcPct val="150000"/>
              </a:lnSpc>
            </a:pPr>
            <a:r>
              <a:rPr lang="en-US" altLang="ko-KR" sz="1200" smtClean="0">
                <a:latin typeface="+mn-ea"/>
              </a:rPr>
              <a:t>     strDec </a:t>
            </a:r>
            <a:r>
              <a:rPr lang="en-US" altLang="ko-KR" sz="1200" dirty="0">
                <a:latin typeface="+mn-ea"/>
              </a:rPr>
              <a:t>= agt.ScpDecB64( </a:t>
            </a:r>
            <a:r>
              <a:rPr lang="en-US" altLang="ko-KR" sz="1200" dirty="0" err="1">
                <a:latin typeface="+mn-ea"/>
              </a:rPr>
              <a:t>iniFilePath</a:t>
            </a:r>
            <a:r>
              <a:rPr lang="en-US" altLang="ko-KR" sz="1200" dirty="0">
                <a:latin typeface="+mn-ea"/>
              </a:rPr>
              <a:t>, </a:t>
            </a:r>
            <a:r>
              <a:rPr lang="en-US" altLang="ko-KR" sz="1200" dirty="0" smtClean="0">
                <a:latin typeface="+mn-ea"/>
              </a:rPr>
              <a:t>“SEC", </a:t>
            </a:r>
            <a:r>
              <a:rPr lang="en-US" altLang="ko-KR" sz="1200" dirty="0" err="1">
                <a:latin typeface="+mn-ea"/>
              </a:rPr>
              <a:t>strEnc</a:t>
            </a:r>
            <a:r>
              <a:rPr lang="en-US" altLang="ko-KR" sz="1200" dirty="0">
                <a:latin typeface="+mn-ea"/>
              </a:rPr>
              <a:t> , “</a:t>
            </a:r>
            <a:r>
              <a:rPr lang="ko-KR" altLang="en-US" sz="1200" dirty="0" err="1">
                <a:latin typeface="+mn-ea"/>
              </a:rPr>
              <a:t>캐릭터셋</a:t>
            </a:r>
            <a:r>
              <a:rPr lang="en-US" altLang="ko-KR" sz="1200" dirty="0">
                <a:latin typeface="+mn-ea"/>
              </a:rPr>
              <a:t> </a:t>
            </a:r>
            <a:r>
              <a:rPr lang="ko-KR" altLang="en-US" sz="1200" dirty="0">
                <a:latin typeface="+mn-ea"/>
              </a:rPr>
              <a:t>지정가능</a:t>
            </a:r>
            <a:r>
              <a:rPr lang="en-US" altLang="ko-KR" sz="1200" dirty="0">
                <a:latin typeface="+mn-ea"/>
              </a:rPr>
              <a:t>”);         // </a:t>
            </a:r>
            <a:r>
              <a:rPr lang="ko-KR" altLang="en-US" sz="1200" dirty="0" err="1" smtClean="0">
                <a:latin typeface="+mn-ea"/>
              </a:rPr>
              <a:t>복호화</a:t>
            </a:r>
            <a:endParaRPr lang="en-US" altLang="ko-KR" sz="1200" dirty="0">
              <a:latin typeface="+mn-ea"/>
            </a:endParaRPr>
          </a:p>
        </p:txBody>
      </p:sp>
    </p:spTree>
    <p:extLst>
      <p:ext uri="{BB962C8B-B14F-4D97-AF65-F5344CB8AC3E}">
        <p14:creationId xmlns:p14="http://schemas.microsoft.com/office/powerpoint/2010/main" val="21469683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ko-KR" altLang="en-US" smtClean="0"/>
              <a:t>첨부</a:t>
            </a:r>
            <a:r>
              <a:rPr lang="en-US" altLang="ko-KR" smtClean="0"/>
              <a:t>3</a:t>
            </a:r>
            <a:r>
              <a:rPr lang="en-US" altLang="ko-KR"/>
              <a:t>. </a:t>
            </a:r>
            <a:r>
              <a:rPr lang="ko-KR" altLang="en-US"/>
              <a:t>암</a:t>
            </a:r>
            <a:r>
              <a:rPr lang="en-US" altLang="ko-KR"/>
              <a:t>·</a:t>
            </a:r>
            <a:r>
              <a:rPr lang="ko-KR" altLang="en-US"/>
              <a:t>복호함수 </a:t>
            </a:r>
            <a:r>
              <a:rPr lang="ko-KR" altLang="en-US" smtClean="0"/>
              <a:t>적용가이드</a:t>
            </a:r>
            <a:r>
              <a:rPr lang="en-US" altLang="ko-KR" smtClean="0"/>
              <a:t>(3/8)</a:t>
            </a:r>
            <a:endParaRPr lang="ko-KR" altLang="en-US" dirty="0"/>
          </a:p>
        </p:txBody>
      </p:sp>
      <p:sp>
        <p:nvSpPr>
          <p:cNvPr id="96" name="Rectangle 3"/>
          <p:cNvSpPr>
            <a:spLocks noChangeArrowheads="1"/>
          </p:cNvSpPr>
          <p:nvPr/>
        </p:nvSpPr>
        <p:spPr bwMode="auto">
          <a:xfrm>
            <a:off x="308484" y="764704"/>
            <a:ext cx="9144000" cy="351186"/>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ko-KR" altLang="en-US" sz="1400" b="1" smtClean="0">
                <a:latin typeface="KB금융 본문체 Light" panose="020B0303000000000000" pitchFamily="50" charset="-127"/>
                <a:ea typeface="KB금융 본문체 Light" panose="020B0303000000000000" pitchFamily="50" charset="-127"/>
                <a:cs typeface="ヒラギノ角ゴ ProN W3"/>
              </a:rPr>
              <a:t>코딩 가이드</a:t>
            </a:r>
            <a:endParaRPr lang="en-US" altLang="ko-KR" sz="1400" b="1"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97" name="Rectangle 3"/>
          <p:cNvSpPr>
            <a:spLocks noChangeArrowheads="1"/>
          </p:cNvSpPr>
          <p:nvPr/>
        </p:nvSpPr>
        <p:spPr bwMode="auto">
          <a:xfrm>
            <a:off x="699993" y="1142438"/>
            <a:ext cx="8753507" cy="314189"/>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en-US" altLang="ko-KR" sz="1200" smtClean="0">
                <a:latin typeface="KB금융 본문체 Light" panose="020B0303000000000000" pitchFamily="50" charset="-127"/>
                <a:ea typeface="KB금융 본문체 Light" panose="020B0303000000000000" pitchFamily="50" charset="-127"/>
                <a:cs typeface="ヒラギノ角ゴ ProN W3"/>
              </a:rPr>
              <a:t>C</a:t>
            </a:r>
          </a:p>
        </p:txBody>
      </p:sp>
      <p:sp>
        <p:nvSpPr>
          <p:cNvPr id="9" name="TextBox 8"/>
          <p:cNvSpPr txBox="1"/>
          <p:nvPr/>
        </p:nvSpPr>
        <p:spPr>
          <a:xfrm>
            <a:off x="1080167" y="1460683"/>
            <a:ext cx="8068675" cy="646331"/>
          </a:xfrm>
          <a:prstGeom prst="rect">
            <a:avLst/>
          </a:prstGeom>
          <a:noFill/>
        </p:spPr>
        <p:txBody>
          <a:bodyPr wrap="square" rtlCol="0">
            <a:spAutoFit/>
          </a:bodyPr>
          <a:lstStyle/>
          <a:p>
            <a:pPr>
              <a:lnSpc>
                <a:spcPct val="150000"/>
              </a:lnSpc>
            </a:pPr>
            <a:r>
              <a:rPr lang="ko-KR" altLang="en-US" sz="1200" dirty="0" smtClean="0">
                <a:latin typeface="+mn-ea"/>
              </a:rPr>
              <a:t>① 헤더 파일을 삽입한다</a:t>
            </a:r>
            <a:r>
              <a:rPr lang="en-US" altLang="ko-KR" sz="1200" dirty="0" smtClean="0">
                <a:latin typeface="+mn-ea"/>
              </a:rPr>
              <a:t>.</a:t>
            </a:r>
          </a:p>
          <a:p>
            <a:pPr>
              <a:lnSpc>
                <a:spcPct val="150000"/>
              </a:lnSpc>
            </a:pPr>
            <a:r>
              <a:rPr lang="en-US" altLang="ko-KR" sz="1200" smtClean="0">
                <a:latin typeface="+mn-ea"/>
              </a:rPr>
              <a:t>    #</a:t>
            </a:r>
            <a:r>
              <a:rPr lang="en-US" altLang="ko-KR" sz="1200" dirty="0" smtClean="0">
                <a:latin typeface="+mn-ea"/>
              </a:rPr>
              <a:t>include </a:t>
            </a:r>
            <a:r>
              <a:rPr lang="en-US" altLang="ko-KR" sz="1200" dirty="0">
                <a:latin typeface="+mn-ea"/>
              </a:rPr>
              <a:t>"</a:t>
            </a:r>
            <a:r>
              <a:rPr lang="en-US" altLang="ko-KR" sz="1200" err="1" smtClean="0">
                <a:latin typeface="+mn-ea"/>
              </a:rPr>
              <a:t>ScpAgentApi.h</a:t>
            </a:r>
            <a:r>
              <a:rPr lang="en-US" altLang="ko-KR" sz="1200" smtClean="0">
                <a:latin typeface="+mn-ea"/>
              </a:rPr>
              <a:t>“</a:t>
            </a:r>
            <a:endParaRPr lang="en-US" altLang="ko-KR" sz="1200" dirty="0" smtClean="0">
              <a:latin typeface="+mn-ea"/>
            </a:endParaRPr>
          </a:p>
        </p:txBody>
      </p:sp>
      <p:sp>
        <p:nvSpPr>
          <p:cNvPr id="10" name="TextBox 9"/>
          <p:cNvSpPr txBox="1"/>
          <p:nvPr/>
        </p:nvSpPr>
        <p:spPr>
          <a:xfrm>
            <a:off x="1080166" y="2312876"/>
            <a:ext cx="8068675" cy="2031325"/>
          </a:xfrm>
          <a:prstGeom prst="rect">
            <a:avLst/>
          </a:prstGeom>
          <a:noFill/>
        </p:spPr>
        <p:txBody>
          <a:bodyPr wrap="square" rtlCol="0">
            <a:spAutoFit/>
          </a:bodyPr>
          <a:lstStyle/>
          <a:p>
            <a:pPr>
              <a:lnSpc>
                <a:spcPct val="150000"/>
              </a:lnSpc>
            </a:pPr>
            <a:r>
              <a:rPr lang="ko-KR" altLang="en-US" sz="1200" dirty="0" smtClean="0">
                <a:latin typeface="+mn-ea"/>
              </a:rPr>
              <a:t>② 함수 호출에 필요한 변수를 설정한다</a:t>
            </a:r>
            <a:r>
              <a:rPr lang="en-US" altLang="ko-KR" sz="1200" dirty="0" smtClean="0">
                <a:latin typeface="+mn-ea"/>
              </a:rPr>
              <a:t>.</a:t>
            </a:r>
          </a:p>
          <a:p>
            <a:pPr>
              <a:lnSpc>
                <a:spcPct val="150000"/>
              </a:lnSpc>
            </a:pPr>
            <a:r>
              <a:rPr lang="en-US" altLang="ko-KR" sz="1200" dirty="0" smtClean="0">
                <a:latin typeface="+mn-ea"/>
              </a:rPr>
              <a:t>    </a:t>
            </a:r>
            <a:r>
              <a:rPr lang="en-US" altLang="ko-KR" sz="1200" dirty="0" err="1" smtClean="0">
                <a:latin typeface="+mn-ea"/>
              </a:rPr>
              <a:t>int</a:t>
            </a:r>
            <a:r>
              <a:rPr lang="en-US" altLang="ko-KR" sz="1200" dirty="0" smtClean="0">
                <a:latin typeface="+mn-ea"/>
              </a:rPr>
              <a:t> </a:t>
            </a:r>
            <a:r>
              <a:rPr lang="en-US" altLang="ko-KR" sz="1200" dirty="0">
                <a:latin typeface="+mn-ea"/>
              </a:rPr>
              <a:t>ret=0;  </a:t>
            </a:r>
          </a:p>
          <a:p>
            <a:pPr>
              <a:lnSpc>
                <a:spcPct val="150000"/>
              </a:lnSpc>
            </a:pPr>
            <a:r>
              <a:rPr lang="en-US" altLang="ko-KR" sz="1200" dirty="0" smtClean="0">
                <a:latin typeface="+mn-ea"/>
              </a:rPr>
              <a:t>    </a:t>
            </a:r>
            <a:r>
              <a:rPr lang="en-US" altLang="ko-KR" sz="1200" dirty="0">
                <a:latin typeface="+mn-ea"/>
              </a:rPr>
              <a:t>unsigned </a:t>
            </a:r>
            <a:r>
              <a:rPr lang="en-US" altLang="ko-KR" sz="1200">
                <a:latin typeface="+mn-ea"/>
              </a:rPr>
              <a:t>char </a:t>
            </a:r>
            <a:r>
              <a:rPr lang="en-US" altLang="ko-KR" sz="1200" smtClean="0">
                <a:solidFill>
                  <a:srgbClr val="FF0000"/>
                </a:solidFill>
                <a:latin typeface="+mn-ea"/>
              </a:rPr>
              <a:t>enc[2048]={</a:t>
            </a:r>
            <a:r>
              <a:rPr lang="en-US" altLang="ko-KR" sz="1200" dirty="0">
                <a:solidFill>
                  <a:srgbClr val="FF0000"/>
                </a:solidFill>
                <a:latin typeface="+mn-ea"/>
              </a:rPr>
              <a:t>0,}</a:t>
            </a:r>
            <a:r>
              <a:rPr lang="en-US" altLang="ko-KR" sz="1200" dirty="0">
                <a:latin typeface="+mn-ea"/>
              </a:rPr>
              <a:t>, </a:t>
            </a:r>
            <a:r>
              <a:rPr lang="en-US" altLang="ko-KR" sz="1200" dirty="0" err="1">
                <a:latin typeface="+mn-ea"/>
              </a:rPr>
              <a:t>dec</a:t>
            </a:r>
            <a:r>
              <a:rPr lang="en-US" altLang="ko-KR" sz="1200" dirty="0">
                <a:latin typeface="+mn-ea"/>
              </a:rPr>
              <a:t>[1024]={0,}, plain[1024]={</a:t>
            </a:r>
            <a:r>
              <a:rPr lang="en-US" altLang="ko-KR" sz="1200">
                <a:latin typeface="+mn-ea"/>
              </a:rPr>
              <a:t>0</a:t>
            </a:r>
            <a:r>
              <a:rPr lang="en-US" altLang="ko-KR" sz="1200" smtClean="0">
                <a:latin typeface="+mn-ea"/>
              </a:rPr>
              <a:t>,};</a:t>
            </a:r>
          </a:p>
          <a:p>
            <a:pPr>
              <a:lnSpc>
                <a:spcPct val="150000"/>
              </a:lnSpc>
            </a:pPr>
            <a:r>
              <a:rPr lang="en-US" altLang="ko-KR" sz="1200">
                <a:latin typeface="+mn-ea"/>
              </a:rPr>
              <a:t> </a:t>
            </a:r>
            <a:r>
              <a:rPr lang="en-US" altLang="ko-KR" sz="1200" smtClean="0">
                <a:latin typeface="+mn-ea"/>
              </a:rPr>
              <a:t>  </a:t>
            </a:r>
            <a:r>
              <a:rPr lang="en-US" altLang="ko-KR" sz="1200" smtClean="0">
                <a:solidFill>
                  <a:srgbClr val="FF0000"/>
                </a:solidFill>
                <a:latin typeface="+mn-ea"/>
              </a:rPr>
              <a:t>/* </a:t>
            </a:r>
            <a:r>
              <a:rPr lang="ko-KR" altLang="en-US" sz="1200" smtClean="0">
                <a:solidFill>
                  <a:srgbClr val="FF0000"/>
                </a:solidFill>
                <a:latin typeface="+mn-ea"/>
              </a:rPr>
              <a:t>입력되는 평문보다 암호화되는 문자열이 크므로 자리수를 반드시 확인해야 함</a:t>
            </a:r>
            <a:r>
              <a:rPr lang="en-US" altLang="ko-KR" sz="1200" smtClean="0">
                <a:solidFill>
                  <a:srgbClr val="FF0000"/>
                </a:solidFill>
                <a:latin typeface="+mn-ea"/>
              </a:rPr>
              <a:t>. </a:t>
            </a:r>
            <a:r>
              <a:rPr lang="ko-KR" altLang="en-US" sz="1200" smtClean="0">
                <a:solidFill>
                  <a:srgbClr val="FF0000"/>
                </a:solidFill>
                <a:latin typeface="+mn-ea"/>
              </a:rPr>
              <a:t>그렇지 않을 경우 </a:t>
            </a:r>
            <a:r>
              <a:rPr lang="en-US" altLang="ko-KR" sz="1200" smtClean="0">
                <a:solidFill>
                  <a:srgbClr val="FF0000"/>
                </a:solidFill>
                <a:latin typeface="+mn-ea"/>
              </a:rPr>
              <a:t>“201” </a:t>
            </a:r>
            <a:r>
              <a:rPr lang="ko-KR" altLang="en-US" sz="1200" smtClean="0">
                <a:solidFill>
                  <a:srgbClr val="FF0000"/>
                </a:solidFill>
                <a:latin typeface="+mn-ea"/>
              </a:rPr>
              <a:t>에러 발생 </a:t>
            </a:r>
            <a:r>
              <a:rPr lang="en-US" altLang="ko-KR" sz="1200" smtClean="0">
                <a:solidFill>
                  <a:srgbClr val="FF0000"/>
                </a:solidFill>
                <a:latin typeface="+mn-ea"/>
              </a:rPr>
              <a:t>*/</a:t>
            </a:r>
            <a:endParaRPr lang="en-US" altLang="ko-KR" sz="1200" dirty="0">
              <a:solidFill>
                <a:srgbClr val="FF0000"/>
              </a:solidFill>
              <a:latin typeface="+mn-ea"/>
            </a:endParaRPr>
          </a:p>
          <a:p>
            <a:pPr>
              <a:lnSpc>
                <a:spcPct val="150000"/>
              </a:lnSpc>
            </a:pPr>
            <a:r>
              <a:rPr lang="en-US" altLang="ko-KR" sz="1200" dirty="0" smtClean="0">
                <a:latin typeface="+mn-ea"/>
              </a:rPr>
              <a:t>    </a:t>
            </a:r>
            <a:r>
              <a:rPr lang="en-US" altLang="ko-KR" sz="1200" dirty="0">
                <a:latin typeface="+mn-ea"/>
              </a:rPr>
              <a:t>unsigned </a:t>
            </a:r>
            <a:r>
              <a:rPr lang="en-US" altLang="ko-KR" sz="1200" dirty="0" err="1">
                <a:latin typeface="+mn-ea"/>
              </a:rPr>
              <a:t>int</a:t>
            </a:r>
            <a:r>
              <a:rPr lang="en-US" altLang="ko-KR" sz="1200" dirty="0">
                <a:latin typeface="+mn-ea"/>
              </a:rPr>
              <a:t> </a:t>
            </a:r>
            <a:r>
              <a:rPr lang="en-US" altLang="ko-KR" sz="1200" dirty="0" err="1">
                <a:latin typeface="+mn-ea"/>
              </a:rPr>
              <a:t>encLen</a:t>
            </a:r>
            <a:r>
              <a:rPr lang="en-US" altLang="ko-KR" sz="1200" dirty="0">
                <a:latin typeface="+mn-ea"/>
              </a:rPr>
              <a:t>=0, </a:t>
            </a:r>
            <a:r>
              <a:rPr lang="en-US" altLang="ko-KR" sz="1200" dirty="0" err="1">
                <a:latin typeface="+mn-ea"/>
              </a:rPr>
              <a:t>decLen</a:t>
            </a:r>
            <a:r>
              <a:rPr lang="en-US" altLang="ko-KR" sz="1200" dirty="0">
                <a:latin typeface="+mn-ea"/>
              </a:rPr>
              <a:t>=0, </a:t>
            </a:r>
            <a:r>
              <a:rPr lang="en-US" altLang="ko-KR" sz="1200" dirty="0" err="1">
                <a:latin typeface="+mn-ea"/>
              </a:rPr>
              <a:t>plainLen</a:t>
            </a:r>
            <a:r>
              <a:rPr lang="en-US" altLang="ko-KR" sz="1200" dirty="0">
                <a:latin typeface="+mn-ea"/>
              </a:rPr>
              <a:t>=0;</a:t>
            </a:r>
          </a:p>
          <a:p>
            <a:pPr>
              <a:lnSpc>
                <a:spcPct val="150000"/>
              </a:lnSpc>
            </a:pPr>
            <a:r>
              <a:rPr lang="en-US" altLang="ko-KR" sz="1200" dirty="0" smtClean="0">
                <a:latin typeface="+mn-ea"/>
              </a:rPr>
              <a:t>    </a:t>
            </a:r>
            <a:r>
              <a:rPr lang="en-US" altLang="ko-KR" sz="1200" dirty="0">
                <a:latin typeface="+mn-ea"/>
              </a:rPr>
              <a:t>char </a:t>
            </a:r>
            <a:r>
              <a:rPr lang="en-US" altLang="ko-KR" sz="1200" dirty="0" err="1">
                <a:latin typeface="+mn-ea"/>
              </a:rPr>
              <a:t>outContextStr</a:t>
            </a:r>
            <a:r>
              <a:rPr lang="en-US" altLang="ko-KR" sz="1200" dirty="0">
                <a:latin typeface="+mn-ea"/>
              </a:rPr>
              <a:t>[256]={0};</a:t>
            </a:r>
          </a:p>
          <a:p>
            <a:pPr>
              <a:lnSpc>
                <a:spcPct val="150000"/>
              </a:lnSpc>
            </a:pPr>
            <a:r>
              <a:rPr lang="en-US" altLang="ko-KR" sz="1200" dirty="0" smtClean="0">
                <a:latin typeface="+mn-ea"/>
              </a:rPr>
              <a:t>    </a:t>
            </a:r>
            <a:r>
              <a:rPr lang="en-US" altLang="ko-KR" sz="1200" dirty="0">
                <a:latin typeface="+mn-ea"/>
              </a:rPr>
              <a:t>unsigned </a:t>
            </a:r>
            <a:r>
              <a:rPr lang="en-US" altLang="ko-KR" sz="1200" dirty="0" err="1">
                <a:latin typeface="+mn-ea"/>
              </a:rPr>
              <a:t>int</a:t>
            </a:r>
            <a:r>
              <a:rPr lang="en-US" altLang="ko-KR" sz="1200" dirty="0">
                <a:latin typeface="+mn-ea"/>
              </a:rPr>
              <a:t> </a:t>
            </a:r>
            <a:r>
              <a:rPr lang="en-US" altLang="ko-KR" sz="1200" dirty="0" err="1">
                <a:latin typeface="+mn-ea"/>
              </a:rPr>
              <a:t>outContextStrLen</a:t>
            </a:r>
            <a:r>
              <a:rPr lang="en-US" altLang="ko-KR" sz="1200" dirty="0">
                <a:latin typeface="+mn-ea"/>
              </a:rPr>
              <a:t>;</a:t>
            </a:r>
            <a:endParaRPr lang="en-US" altLang="ko-KR" sz="1200" dirty="0" smtClean="0">
              <a:latin typeface="+mn-ea"/>
            </a:endParaRPr>
          </a:p>
        </p:txBody>
      </p:sp>
      <p:sp>
        <p:nvSpPr>
          <p:cNvPr id="11" name="TextBox 10"/>
          <p:cNvSpPr txBox="1"/>
          <p:nvPr/>
        </p:nvSpPr>
        <p:spPr>
          <a:xfrm>
            <a:off x="1080167" y="4557898"/>
            <a:ext cx="5509009" cy="1200329"/>
          </a:xfrm>
          <a:prstGeom prst="rect">
            <a:avLst/>
          </a:prstGeom>
          <a:noFill/>
        </p:spPr>
        <p:txBody>
          <a:bodyPr wrap="none" rtlCol="0">
            <a:spAutoFit/>
          </a:bodyPr>
          <a:lstStyle/>
          <a:p>
            <a:pPr>
              <a:lnSpc>
                <a:spcPct val="150000"/>
              </a:lnSpc>
            </a:pPr>
            <a:r>
              <a:rPr lang="ko-KR" altLang="en-US" sz="1200" dirty="0" smtClean="0">
                <a:latin typeface="+mn-ea"/>
              </a:rPr>
              <a:t>③ 설정파일의 경로를 지정한다</a:t>
            </a:r>
            <a:r>
              <a:rPr lang="en-US" altLang="ko-KR" sz="1200" dirty="0" smtClean="0">
                <a:latin typeface="+mn-ea"/>
              </a:rPr>
              <a:t>.</a:t>
            </a:r>
          </a:p>
          <a:p>
            <a:pPr>
              <a:lnSpc>
                <a:spcPct val="150000"/>
              </a:lnSpc>
            </a:pPr>
            <a:r>
              <a:rPr lang="en-US" altLang="ko-KR" sz="1200" dirty="0" smtClean="0">
                <a:latin typeface="+mn-ea"/>
              </a:rPr>
              <a:t>    </a:t>
            </a:r>
            <a:r>
              <a:rPr lang="en-US" altLang="ko-KR" sz="1200" dirty="0">
                <a:latin typeface="+mn-ea"/>
              </a:rPr>
              <a:t>/* DAMO SCP </a:t>
            </a:r>
            <a:r>
              <a:rPr lang="en-US" altLang="ko-KR" sz="1200" dirty="0" smtClean="0">
                <a:latin typeface="+mn-ea"/>
              </a:rPr>
              <a:t>API </a:t>
            </a:r>
            <a:r>
              <a:rPr lang="ko-KR" altLang="en-US" sz="1200" dirty="0" smtClean="0">
                <a:latin typeface="+mn-ea"/>
              </a:rPr>
              <a:t>설정 </a:t>
            </a:r>
            <a:r>
              <a:rPr lang="ko-KR" altLang="en-US" sz="1200" dirty="0">
                <a:latin typeface="+mn-ea"/>
              </a:rPr>
              <a:t>파일과 </a:t>
            </a:r>
            <a:r>
              <a:rPr lang="ko-KR" altLang="en-US" sz="1200" dirty="0" smtClean="0">
                <a:latin typeface="+mn-ea"/>
              </a:rPr>
              <a:t>키 파일의 </a:t>
            </a:r>
            <a:r>
              <a:rPr lang="ko-KR" altLang="en-US" sz="1200" dirty="0">
                <a:latin typeface="+mn-ea"/>
              </a:rPr>
              <a:t>풀 패스 </a:t>
            </a:r>
            <a:r>
              <a:rPr lang="ko-KR" altLang="en-US" sz="1200" dirty="0" smtClean="0">
                <a:latin typeface="+mn-ea"/>
              </a:rPr>
              <a:t>*</a:t>
            </a:r>
            <a:r>
              <a:rPr lang="en-US" altLang="ko-KR" sz="1200" dirty="0" smtClean="0">
                <a:latin typeface="+mn-ea"/>
              </a:rPr>
              <a:t>/</a:t>
            </a:r>
          </a:p>
          <a:p>
            <a:pPr>
              <a:lnSpc>
                <a:spcPct val="150000"/>
              </a:lnSpc>
            </a:pPr>
            <a:r>
              <a:rPr lang="en-US" altLang="ko-KR" sz="1200" dirty="0" smtClean="0"/>
              <a:t>    char *</a:t>
            </a:r>
            <a:r>
              <a:rPr lang="en-US" altLang="ko-KR" sz="1200" dirty="0" err="1" smtClean="0"/>
              <a:t>iniFilePath</a:t>
            </a:r>
            <a:r>
              <a:rPr lang="en-US" altLang="ko-KR" sz="1200" dirty="0" smtClean="0"/>
              <a:t> </a:t>
            </a:r>
            <a:r>
              <a:rPr lang="en-US" altLang="ko-KR" sz="1200" dirty="0"/>
              <a:t>= “C:/BASCP/scpdb_agent.ini"; //</a:t>
            </a:r>
            <a:r>
              <a:rPr lang="ko-KR" altLang="en-US" sz="1200" dirty="0"/>
              <a:t>개발자</a:t>
            </a:r>
            <a:r>
              <a:rPr lang="en-US" altLang="ko-KR" sz="1200" dirty="0" smtClean="0"/>
              <a:t>PC</a:t>
            </a:r>
            <a:r>
              <a:rPr lang="ko-KR" altLang="en-US" sz="1200" dirty="0" smtClean="0"/>
              <a:t>일 경우</a:t>
            </a:r>
            <a:endParaRPr lang="en-US" altLang="ko-KR" sz="1200" dirty="0">
              <a:latin typeface="+mn-ea"/>
            </a:endParaRPr>
          </a:p>
          <a:p>
            <a:pPr>
              <a:lnSpc>
                <a:spcPct val="150000"/>
              </a:lnSpc>
            </a:pPr>
            <a:r>
              <a:rPr lang="en-US" altLang="ko-KR" sz="1200" dirty="0" smtClean="0">
                <a:latin typeface="+mn-ea"/>
              </a:rPr>
              <a:t>    </a:t>
            </a:r>
            <a:r>
              <a:rPr lang="en-US" altLang="ko-KR" sz="1200" dirty="0">
                <a:latin typeface="+mn-ea"/>
              </a:rPr>
              <a:t>char *</a:t>
            </a:r>
            <a:r>
              <a:rPr lang="en-US" altLang="ko-KR" sz="1200" dirty="0" err="1">
                <a:latin typeface="+mn-ea"/>
              </a:rPr>
              <a:t>iniFilePath</a:t>
            </a:r>
            <a:r>
              <a:rPr lang="en-US" altLang="ko-KR" sz="1200" dirty="0">
                <a:latin typeface="+mn-ea"/>
              </a:rPr>
              <a:t> = </a:t>
            </a:r>
            <a:r>
              <a:rPr lang="en-US" altLang="ko-KR" sz="1200" dirty="0" smtClean="0">
                <a:latin typeface="+mn-ea"/>
              </a:rPr>
              <a:t>"</a:t>
            </a:r>
            <a:r>
              <a:rPr lang="en-US" altLang="ko-KR" sz="1200" dirty="0"/>
              <a:t>/</a:t>
            </a:r>
            <a:r>
              <a:rPr lang="en-US" altLang="ko-KR" sz="1200" dirty="0" err="1" smtClean="0"/>
              <a:t>fsscp</a:t>
            </a:r>
            <a:r>
              <a:rPr lang="en-US" altLang="ko-KR" sz="1200" dirty="0" smtClean="0"/>
              <a:t>/</a:t>
            </a:r>
            <a:r>
              <a:rPr lang="en-US" altLang="ko-KR" sz="1200" dirty="0" err="1" smtClean="0"/>
              <a:t>pav</a:t>
            </a:r>
            <a:r>
              <a:rPr lang="en-US" altLang="ko-KR" sz="1200" dirty="0" smtClean="0"/>
              <a:t>/agent/scpdb_agent_unix.ini</a:t>
            </a:r>
            <a:r>
              <a:rPr lang="en-US" altLang="ko-KR" sz="1200" dirty="0" smtClean="0">
                <a:latin typeface="+mn-ea"/>
              </a:rPr>
              <a:t>"; //</a:t>
            </a:r>
            <a:r>
              <a:rPr lang="ko-KR" altLang="en-US" sz="1200" dirty="0" smtClean="0">
                <a:latin typeface="+mn-ea"/>
              </a:rPr>
              <a:t>서버일 경우</a:t>
            </a:r>
            <a:endParaRPr lang="en-US" altLang="ko-KR" sz="1200" dirty="0" smtClean="0">
              <a:latin typeface="+mn-ea"/>
            </a:endParaRPr>
          </a:p>
        </p:txBody>
      </p:sp>
    </p:spTree>
    <p:extLst>
      <p:ext uri="{BB962C8B-B14F-4D97-AF65-F5344CB8AC3E}">
        <p14:creationId xmlns:p14="http://schemas.microsoft.com/office/powerpoint/2010/main" val="15254790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ko-KR" altLang="en-US" smtClean="0"/>
              <a:t>첨부</a:t>
            </a:r>
            <a:r>
              <a:rPr lang="en-US" altLang="ko-KR" smtClean="0"/>
              <a:t>3</a:t>
            </a:r>
            <a:r>
              <a:rPr lang="en-US" altLang="ko-KR"/>
              <a:t>. </a:t>
            </a:r>
            <a:r>
              <a:rPr lang="ko-KR" altLang="en-US"/>
              <a:t>암</a:t>
            </a:r>
            <a:r>
              <a:rPr lang="en-US" altLang="ko-KR"/>
              <a:t>·</a:t>
            </a:r>
            <a:r>
              <a:rPr lang="ko-KR" altLang="en-US"/>
              <a:t>복호함수 </a:t>
            </a:r>
            <a:r>
              <a:rPr lang="ko-KR" altLang="en-US" smtClean="0"/>
              <a:t>적용가이드</a:t>
            </a:r>
            <a:r>
              <a:rPr lang="en-US" altLang="ko-KR" smtClean="0"/>
              <a:t>(4/8)</a:t>
            </a:r>
            <a:endParaRPr lang="ko-KR" altLang="en-US" dirty="0"/>
          </a:p>
        </p:txBody>
      </p:sp>
      <p:sp>
        <p:nvSpPr>
          <p:cNvPr id="96" name="Rectangle 3"/>
          <p:cNvSpPr>
            <a:spLocks noChangeArrowheads="1"/>
          </p:cNvSpPr>
          <p:nvPr/>
        </p:nvSpPr>
        <p:spPr bwMode="auto">
          <a:xfrm>
            <a:off x="308484" y="764704"/>
            <a:ext cx="9144000" cy="351186"/>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ko-KR" altLang="en-US" sz="1400" b="1" smtClean="0">
                <a:latin typeface="KB금융 본문체 Light" panose="020B0303000000000000" pitchFamily="50" charset="-127"/>
                <a:ea typeface="KB금융 본문체 Light" panose="020B0303000000000000" pitchFamily="50" charset="-127"/>
                <a:cs typeface="ヒラギノ角ゴ ProN W3"/>
              </a:rPr>
              <a:t>코딩 가이드</a:t>
            </a:r>
            <a:endParaRPr lang="en-US" altLang="ko-KR" sz="1400" b="1"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97" name="Rectangle 3"/>
          <p:cNvSpPr>
            <a:spLocks noChangeArrowheads="1"/>
          </p:cNvSpPr>
          <p:nvPr/>
        </p:nvSpPr>
        <p:spPr bwMode="auto">
          <a:xfrm>
            <a:off x="699993" y="1142438"/>
            <a:ext cx="8753507" cy="314189"/>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en-US" altLang="ko-KR" sz="1200" smtClean="0">
                <a:latin typeface="KB금융 본문체 Light" panose="020B0303000000000000" pitchFamily="50" charset="-127"/>
                <a:ea typeface="KB금융 본문체 Light" panose="020B0303000000000000" pitchFamily="50" charset="-127"/>
                <a:cs typeface="ヒラギノ角ゴ ProN W3"/>
              </a:rPr>
              <a:t>C</a:t>
            </a:r>
          </a:p>
        </p:txBody>
      </p:sp>
      <p:sp>
        <p:nvSpPr>
          <p:cNvPr id="12" name="TextBox 11"/>
          <p:cNvSpPr txBox="1"/>
          <p:nvPr/>
        </p:nvSpPr>
        <p:spPr>
          <a:xfrm>
            <a:off x="1081327" y="1460683"/>
            <a:ext cx="8244783" cy="2308324"/>
          </a:xfrm>
          <a:prstGeom prst="rect">
            <a:avLst/>
          </a:prstGeom>
          <a:noFill/>
        </p:spPr>
        <p:txBody>
          <a:bodyPr wrap="square" rtlCol="0">
            <a:spAutoFit/>
          </a:bodyPr>
          <a:lstStyle/>
          <a:p>
            <a:pPr>
              <a:lnSpc>
                <a:spcPct val="150000"/>
              </a:lnSpc>
            </a:pPr>
            <a:r>
              <a:rPr lang="ko-KR" altLang="en-US" sz="1200" dirty="0" smtClean="0"/>
              <a:t>④</a:t>
            </a:r>
            <a:r>
              <a:rPr lang="en-US" altLang="ko-KR" sz="1200" dirty="0" smtClean="0"/>
              <a:t> </a:t>
            </a:r>
            <a:r>
              <a:rPr lang="ko-KR" altLang="en-US" sz="1200" dirty="0" smtClean="0"/>
              <a:t>암</a:t>
            </a:r>
            <a:r>
              <a:rPr lang="en-US" altLang="ko-KR" sz="1200" dirty="0" smtClean="0"/>
              <a:t>·</a:t>
            </a:r>
            <a:r>
              <a:rPr lang="ko-KR" altLang="en-US" sz="1200" dirty="0" err="1" smtClean="0"/>
              <a:t>복호화</a:t>
            </a:r>
            <a:r>
              <a:rPr lang="ko-KR" altLang="en-US" sz="1200" dirty="0" smtClean="0"/>
              <a:t> 함수를 호출한다</a:t>
            </a:r>
            <a:r>
              <a:rPr lang="en-US" altLang="ko-KR" sz="1200" dirty="0" smtClean="0"/>
              <a:t>.</a:t>
            </a:r>
          </a:p>
          <a:p>
            <a:pPr>
              <a:lnSpc>
                <a:spcPct val="150000"/>
              </a:lnSpc>
            </a:pPr>
            <a:r>
              <a:rPr lang="en-US" altLang="ko-KR" sz="1200" dirty="0" smtClean="0"/>
              <a:t>    </a:t>
            </a:r>
            <a:r>
              <a:rPr lang="en-US" altLang="ko-KR" sz="1200" dirty="0" err="1"/>
              <a:t>memset</a:t>
            </a:r>
            <a:r>
              <a:rPr lang="en-US" altLang="ko-KR" sz="1200" dirty="0"/>
              <a:t>(</a:t>
            </a:r>
            <a:r>
              <a:rPr lang="en-US" altLang="ko-KR" sz="1200" dirty="0" err="1"/>
              <a:t>enc</a:t>
            </a:r>
            <a:r>
              <a:rPr lang="en-US" altLang="ko-KR" sz="1200" dirty="0"/>
              <a:t>, 0x00, </a:t>
            </a:r>
            <a:r>
              <a:rPr lang="en-US" altLang="ko-KR" sz="1200" dirty="0" err="1"/>
              <a:t>sizeof</a:t>
            </a:r>
            <a:r>
              <a:rPr lang="en-US" altLang="ko-KR" sz="1200" dirty="0"/>
              <a:t>(</a:t>
            </a:r>
            <a:r>
              <a:rPr lang="en-US" altLang="ko-KR" sz="1200" dirty="0" err="1"/>
              <a:t>enc</a:t>
            </a:r>
            <a:r>
              <a:rPr lang="en-US" altLang="ko-KR" sz="1200" dirty="0"/>
              <a:t>));</a:t>
            </a:r>
          </a:p>
          <a:p>
            <a:pPr>
              <a:lnSpc>
                <a:spcPct val="150000"/>
              </a:lnSpc>
            </a:pPr>
            <a:r>
              <a:rPr lang="en-US" altLang="ko-KR" sz="1200" dirty="0" smtClean="0"/>
              <a:t>    </a:t>
            </a:r>
            <a:r>
              <a:rPr lang="en-US" altLang="ko-KR" sz="1200" dirty="0"/>
              <a:t>ret = SCP_EncB64( </a:t>
            </a:r>
            <a:r>
              <a:rPr lang="en-US" altLang="ko-KR" sz="1200" dirty="0" err="1"/>
              <a:t>iniFilePath</a:t>
            </a:r>
            <a:r>
              <a:rPr lang="en-US" altLang="ko-KR" sz="1200" dirty="0"/>
              <a:t>, </a:t>
            </a:r>
            <a:r>
              <a:rPr lang="en-US" altLang="ko-KR" sz="1200" dirty="0" smtClean="0"/>
              <a:t>“SEC", </a:t>
            </a:r>
            <a:r>
              <a:rPr lang="en-US" altLang="ko-KR" sz="1200" dirty="0"/>
              <a:t>(char*)plain, </a:t>
            </a:r>
            <a:r>
              <a:rPr lang="en-US" altLang="ko-KR" sz="1200" dirty="0" err="1"/>
              <a:t>plainLen</a:t>
            </a:r>
            <a:r>
              <a:rPr lang="en-US" altLang="ko-KR" sz="1200" dirty="0"/>
              <a:t>, (char*)</a:t>
            </a:r>
            <a:r>
              <a:rPr lang="en-US" altLang="ko-KR" sz="1200" dirty="0" err="1"/>
              <a:t>enc</a:t>
            </a:r>
            <a:r>
              <a:rPr lang="en-US" altLang="ko-KR" sz="1200" dirty="0"/>
              <a:t>, &amp;</a:t>
            </a:r>
            <a:r>
              <a:rPr lang="en-US" altLang="ko-KR" sz="1200" dirty="0" err="1"/>
              <a:t>encLen</a:t>
            </a:r>
            <a:r>
              <a:rPr lang="en-US" altLang="ko-KR" sz="1200" dirty="0"/>
              <a:t>, (</a:t>
            </a:r>
            <a:r>
              <a:rPr lang="en-US" altLang="ko-KR" sz="1200" dirty="0" err="1"/>
              <a:t>int</a:t>
            </a:r>
            <a:r>
              <a:rPr lang="en-US" altLang="ko-KR" sz="1200" dirty="0"/>
              <a:t>)</a:t>
            </a:r>
            <a:r>
              <a:rPr lang="en-US" altLang="ko-KR" sz="1200" dirty="0" err="1"/>
              <a:t>sizeof</a:t>
            </a:r>
            <a:r>
              <a:rPr lang="en-US" altLang="ko-KR" sz="1200" dirty="0"/>
              <a:t>(</a:t>
            </a:r>
            <a:r>
              <a:rPr lang="en-US" altLang="ko-KR" sz="1200" dirty="0" err="1"/>
              <a:t>enc</a:t>
            </a:r>
            <a:r>
              <a:rPr lang="en-US" altLang="ko-KR" sz="1200" dirty="0"/>
              <a:t>) ); </a:t>
            </a:r>
            <a:r>
              <a:rPr lang="en-US" altLang="ko-KR" sz="1200" dirty="0" smtClean="0"/>
              <a:t>  // </a:t>
            </a:r>
            <a:r>
              <a:rPr lang="ko-KR" altLang="en-US" sz="1200" dirty="0" smtClean="0"/>
              <a:t>암호화</a:t>
            </a:r>
            <a:endParaRPr lang="en-US" altLang="ko-KR" sz="1200" dirty="0"/>
          </a:p>
          <a:p>
            <a:pPr>
              <a:lnSpc>
                <a:spcPct val="150000"/>
              </a:lnSpc>
            </a:pPr>
            <a:r>
              <a:rPr lang="en-US" altLang="ko-KR" sz="1200" dirty="0" smtClean="0"/>
              <a:t>    </a:t>
            </a:r>
            <a:r>
              <a:rPr lang="en-US" altLang="ko-KR" sz="1200" dirty="0" err="1" smtClean="0"/>
              <a:t>printf</a:t>
            </a:r>
            <a:r>
              <a:rPr lang="en-US" altLang="ko-KR" sz="1200" dirty="0"/>
              <a:t>("SCP_EncB64(%d) : %s \n", </a:t>
            </a:r>
            <a:r>
              <a:rPr lang="en-US" altLang="ko-KR" sz="1200" dirty="0" err="1"/>
              <a:t>encLen</a:t>
            </a:r>
            <a:r>
              <a:rPr lang="en-US" altLang="ko-KR" sz="1200" dirty="0"/>
              <a:t>, </a:t>
            </a:r>
            <a:r>
              <a:rPr lang="en-US" altLang="ko-KR" sz="1200" dirty="0" err="1"/>
              <a:t>enc</a:t>
            </a:r>
            <a:r>
              <a:rPr lang="en-US" altLang="ko-KR" sz="1200" dirty="0"/>
              <a:t>);</a:t>
            </a:r>
          </a:p>
          <a:p>
            <a:pPr>
              <a:lnSpc>
                <a:spcPct val="150000"/>
              </a:lnSpc>
            </a:pPr>
            <a:endParaRPr lang="en-US" altLang="ko-KR" sz="1200" dirty="0" smtClean="0"/>
          </a:p>
          <a:p>
            <a:pPr>
              <a:lnSpc>
                <a:spcPct val="150000"/>
              </a:lnSpc>
            </a:pPr>
            <a:r>
              <a:rPr lang="en-US" altLang="ko-KR" sz="1200" dirty="0"/>
              <a:t> </a:t>
            </a:r>
            <a:r>
              <a:rPr lang="en-US" altLang="ko-KR" sz="1200" dirty="0" smtClean="0"/>
              <a:t>   </a:t>
            </a:r>
            <a:r>
              <a:rPr lang="en-US" altLang="ko-KR" sz="1200" dirty="0" err="1" smtClean="0"/>
              <a:t>memset</a:t>
            </a:r>
            <a:r>
              <a:rPr lang="en-US" altLang="ko-KR" sz="1200" dirty="0" smtClean="0"/>
              <a:t>(</a:t>
            </a:r>
            <a:r>
              <a:rPr lang="en-US" altLang="ko-KR" sz="1200" dirty="0" err="1" smtClean="0"/>
              <a:t>dec</a:t>
            </a:r>
            <a:r>
              <a:rPr lang="en-US" altLang="ko-KR" sz="1200" dirty="0"/>
              <a:t>, 0x00, </a:t>
            </a:r>
            <a:r>
              <a:rPr lang="en-US" altLang="ko-KR" sz="1200" dirty="0" err="1"/>
              <a:t>sizeof</a:t>
            </a:r>
            <a:r>
              <a:rPr lang="en-US" altLang="ko-KR" sz="1200" dirty="0"/>
              <a:t>(</a:t>
            </a:r>
            <a:r>
              <a:rPr lang="en-US" altLang="ko-KR" sz="1200" dirty="0" err="1"/>
              <a:t>dec</a:t>
            </a:r>
            <a:r>
              <a:rPr lang="en-US" altLang="ko-KR" sz="1200" dirty="0"/>
              <a:t>));</a:t>
            </a:r>
          </a:p>
          <a:p>
            <a:pPr>
              <a:lnSpc>
                <a:spcPct val="150000"/>
              </a:lnSpc>
            </a:pPr>
            <a:r>
              <a:rPr lang="en-US" altLang="ko-KR" sz="1200" dirty="0" smtClean="0"/>
              <a:t>    </a:t>
            </a:r>
            <a:r>
              <a:rPr lang="en-US" altLang="ko-KR" sz="1200" dirty="0"/>
              <a:t>ret = SCP_DecB64( </a:t>
            </a:r>
            <a:r>
              <a:rPr lang="en-US" altLang="ko-KR" sz="1200" dirty="0" err="1"/>
              <a:t>iniFilePath</a:t>
            </a:r>
            <a:r>
              <a:rPr lang="en-US" altLang="ko-KR" sz="1200" dirty="0"/>
              <a:t>, </a:t>
            </a:r>
            <a:r>
              <a:rPr lang="en-US" altLang="ko-KR" sz="1200" dirty="0" smtClean="0"/>
              <a:t>“SEC", </a:t>
            </a:r>
            <a:r>
              <a:rPr lang="en-US" altLang="ko-KR" sz="1200" dirty="0"/>
              <a:t>(char*)</a:t>
            </a:r>
            <a:r>
              <a:rPr lang="en-US" altLang="ko-KR" sz="1200" dirty="0" err="1"/>
              <a:t>enc</a:t>
            </a:r>
            <a:r>
              <a:rPr lang="en-US" altLang="ko-KR" sz="1200" dirty="0"/>
              <a:t>, </a:t>
            </a:r>
            <a:r>
              <a:rPr lang="en-US" altLang="ko-KR" sz="1200" dirty="0" err="1"/>
              <a:t>encLen</a:t>
            </a:r>
            <a:r>
              <a:rPr lang="en-US" altLang="ko-KR" sz="1200" dirty="0"/>
              <a:t>, (char*)</a:t>
            </a:r>
            <a:r>
              <a:rPr lang="en-US" altLang="ko-KR" sz="1200" dirty="0" err="1"/>
              <a:t>dec</a:t>
            </a:r>
            <a:r>
              <a:rPr lang="en-US" altLang="ko-KR" sz="1200" dirty="0"/>
              <a:t>, &amp;</a:t>
            </a:r>
            <a:r>
              <a:rPr lang="en-US" altLang="ko-KR" sz="1200" dirty="0" err="1"/>
              <a:t>decLen</a:t>
            </a:r>
            <a:r>
              <a:rPr lang="en-US" altLang="ko-KR" sz="1200" dirty="0"/>
              <a:t>, </a:t>
            </a:r>
            <a:r>
              <a:rPr lang="en-US" altLang="ko-KR" sz="1200" dirty="0" err="1"/>
              <a:t>sizeof</a:t>
            </a:r>
            <a:r>
              <a:rPr lang="en-US" altLang="ko-KR" sz="1200" dirty="0"/>
              <a:t>(</a:t>
            </a:r>
            <a:r>
              <a:rPr lang="en-US" altLang="ko-KR" sz="1200" dirty="0" err="1"/>
              <a:t>dec</a:t>
            </a:r>
            <a:r>
              <a:rPr lang="en-US" altLang="ko-KR" sz="1200" dirty="0"/>
              <a:t>) </a:t>
            </a:r>
            <a:r>
              <a:rPr lang="en-US" altLang="ko-KR" sz="1200" dirty="0" smtClean="0"/>
              <a:t>);  // </a:t>
            </a:r>
            <a:r>
              <a:rPr lang="ko-KR" altLang="en-US" sz="1200" dirty="0" err="1" smtClean="0"/>
              <a:t>복호화</a:t>
            </a:r>
            <a:endParaRPr lang="en-US" altLang="ko-KR" sz="1200" dirty="0"/>
          </a:p>
          <a:p>
            <a:pPr>
              <a:lnSpc>
                <a:spcPct val="150000"/>
              </a:lnSpc>
            </a:pPr>
            <a:r>
              <a:rPr lang="en-US" altLang="ko-KR" sz="1200" dirty="0" smtClean="0"/>
              <a:t>    </a:t>
            </a:r>
            <a:r>
              <a:rPr lang="en-US" altLang="ko-KR" sz="1200" dirty="0" err="1" smtClean="0"/>
              <a:t>printf</a:t>
            </a:r>
            <a:r>
              <a:rPr lang="en-US" altLang="ko-KR" sz="1200" dirty="0"/>
              <a:t>("SCP_DecB64(%d) : %s \n", </a:t>
            </a:r>
            <a:r>
              <a:rPr lang="en-US" altLang="ko-KR" sz="1200" dirty="0" err="1"/>
              <a:t>decLen</a:t>
            </a:r>
            <a:r>
              <a:rPr lang="en-US" altLang="ko-KR" sz="1200" dirty="0"/>
              <a:t>, </a:t>
            </a:r>
            <a:r>
              <a:rPr lang="en-US" altLang="ko-KR" sz="1200" dirty="0" err="1"/>
              <a:t>dec</a:t>
            </a:r>
            <a:r>
              <a:rPr lang="en-US" altLang="ko-KR" sz="1200" dirty="0"/>
              <a:t>);</a:t>
            </a:r>
            <a:endParaRPr lang="en-US" altLang="ko-KR" sz="1200" dirty="0" smtClean="0"/>
          </a:p>
        </p:txBody>
      </p:sp>
    </p:spTree>
    <p:extLst>
      <p:ext uri="{BB962C8B-B14F-4D97-AF65-F5344CB8AC3E}">
        <p14:creationId xmlns:p14="http://schemas.microsoft.com/office/powerpoint/2010/main" val="29202070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ko-KR" altLang="en-US" smtClean="0"/>
              <a:t>첨부</a:t>
            </a:r>
            <a:r>
              <a:rPr lang="en-US" altLang="ko-KR" smtClean="0"/>
              <a:t>3</a:t>
            </a:r>
            <a:r>
              <a:rPr lang="en-US" altLang="ko-KR"/>
              <a:t>. </a:t>
            </a:r>
            <a:r>
              <a:rPr lang="ko-KR" altLang="en-US"/>
              <a:t>암</a:t>
            </a:r>
            <a:r>
              <a:rPr lang="en-US" altLang="ko-KR"/>
              <a:t>·</a:t>
            </a:r>
            <a:r>
              <a:rPr lang="ko-KR" altLang="en-US"/>
              <a:t>복호함수 </a:t>
            </a:r>
            <a:r>
              <a:rPr lang="ko-KR" altLang="en-US" smtClean="0"/>
              <a:t>적용가이드</a:t>
            </a:r>
            <a:r>
              <a:rPr lang="en-US" altLang="ko-KR" smtClean="0"/>
              <a:t>(5/8)</a:t>
            </a:r>
            <a:endParaRPr lang="ko-KR" altLang="en-US" dirty="0"/>
          </a:p>
        </p:txBody>
      </p:sp>
      <p:sp>
        <p:nvSpPr>
          <p:cNvPr id="96" name="Rectangle 3"/>
          <p:cNvSpPr>
            <a:spLocks noChangeArrowheads="1"/>
          </p:cNvSpPr>
          <p:nvPr/>
        </p:nvSpPr>
        <p:spPr bwMode="auto">
          <a:xfrm>
            <a:off x="308484" y="764704"/>
            <a:ext cx="9144000" cy="372410"/>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ko-KR" altLang="en-US" sz="1400" b="1" smtClean="0">
                <a:latin typeface="KB금융 본문체 Light" panose="020B0303000000000000" pitchFamily="50" charset="-127"/>
                <a:ea typeface="KB금융 본문체 Light" panose="020B0303000000000000" pitchFamily="50" charset="-127"/>
                <a:cs typeface="ヒラギノ角ゴ ProN W3"/>
              </a:rPr>
              <a:t>파일 암호화</a:t>
            </a:r>
            <a:endParaRPr lang="en-US" altLang="ko-KR" sz="1400" b="1"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97" name="Rectangle 3"/>
          <p:cNvSpPr>
            <a:spLocks noChangeArrowheads="1"/>
          </p:cNvSpPr>
          <p:nvPr/>
        </p:nvSpPr>
        <p:spPr bwMode="auto">
          <a:xfrm>
            <a:off x="699993" y="1142438"/>
            <a:ext cx="8753507" cy="332399"/>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ko-KR" altLang="en-US" sz="1200">
                <a:latin typeface="KB금융 본문체 Light" panose="020B0303000000000000" pitchFamily="50" charset="-127"/>
                <a:ea typeface="KB금융 본문체 Light" panose="020B0303000000000000" pitchFamily="50" charset="-127"/>
                <a:cs typeface="ヒラギノ角ゴ ProN W3"/>
              </a:rPr>
              <a:t>개인정보가 들어 있는 </a:t>
            </a:r>
            <a:r>
              <a:rPr lang="ko-KR" altLang="en-US" sz="1200" b="1" u="sng">
                <a:solidFill>
                  <a:srgbClr val="FF0000"/>
                </a:solidFill>
                <a:latin typeface="KB금융 본문체 Light" panose="020B0303000000000000" pitchFamily="50" charset="-127"/>
                <a:ea typeface="KB금융 본문체 Light" panose="020B0303000000000000" pitchFamily="50" charset="-127"/>
                <a:cs typeface="ヒラギノ角ゴ ProN W3"/>
              </a:rPr>
              <a:t>파일 전체를 암호화</a:t>
            </a:r>
            <a:r>
              <a:rPr lang="ko-KR" altLang="en-US" sz="1200">
                <a:latin typeface="KB금융 본문체 Light" panose="020B0303000000000000" pitchFamily="50" charset="-127"/>
                <a:ea typeface="KB금융 본문체 Light" panose="020B0303000000000000" pitchFamily="50" charset="-127"/>
                <a:cs typeface="ヒラギノ角ゴ ProN W3"/>
              </a:rPr>
              <a:t>하는 유형으로 파일의 종류</a:t>
            </a:r>
            <a:r>
              <a:rPr lang="en-US" altLang="ko-KR" sz="1200">
                <a:latin typeface="KB금융 본문체 Light" panose="020B0303000000000000" pitchFamily="50" charset="-127"/>
                <a:ea typeface="KB금융 본문체 Light" panose="020B0303000000000000" pitchFamily="50" charset="-127"/>
                <a:cs typeface="ヒラギノ角ゴ ProN W3"/>
              </a:rPr>
              <a:t>, </a:t>
            </a:r>
            <a:r>
              <a:rPr lang="ko-KR" altLang="en-US" sz="1200">
                <a:latin typeface="KB금융 본문체 Light" panose="020B0303000000000000" pitchFamily="50" charset="-127"/>
                <a:ea typeface="KB금융 본문체 Light" panose="020B0303000000000000" pitchFamily="50" charset="-127"/>
                <a:cs typeface="ヒラギノ角ゴ ProN W3"/>
              </a:rPr>
              <a:t>크기 등에 무관하게 사용가능하다</a:t>
            </a:r>
            <a:endParaRPr lang="en-US" altLang="ko-KR" sz="120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7" name="Rectangle 3"/>
          <p:cNvSpPr>
            <a:spLocks noChangeArrowheads="1"/>
          </p:cNvSpPr>
          <p:nvPr/>
        </p:nvSpPr>
        <p:spPr bwMode="auto">
          <a:xfrm>
            <a:off x="308484" y="1520788"/>
            <a:ext cx="9144000" cy="351186"/>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ko-KR" altLang="en-US" sz="1400" b="1" smtClean="0">
                <a:latin typeface="KB금융 본문체 Light" panose="020B0303000000000000" pitchFamily="50" charset="-127"/>
                <a:ea typeface="KB금융 본문체 Light" panose="020B0303000000000000" pitchFamily="50" charset="-127"/>
                <a:cs typeface="ヒラギノ角ゴ ProN W3"/>
              </a:rPr>
              <a:t>코딩 가이드</a:t>
            </a:r>
            <a:endParaRPr lang="en-US" altLang="ko-KR" sz="1400" b="1"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8" name="TextBox 7"/>
          <p:cNvSpPr txBox="1"/>
          <p:nvPr/>
        </p:nvSpPr>
        <p:spPr>
          <a:xfrm>
            <a:off x="1084434" y="2253063"/>
            <a:ext cx="7637921" cy="3970318"/>
          </a:xfrm>
          <a:prstGeom prst="rect">
            <a:avLst/>
          </a:prstGeom>
          <a:noFill/>
        </p:spPr>
        <p:txBody>
          <a:bodyPr wrap="square" rtlCol="0">
            <a:spAutoFit/>
          </a:bodyPr>
          <a:lstStyle/>
          <a:p>
            <a:pPr>
              <a:lnSpc>
                <a:spcPct val="150000"/>
              </a:lnSpc>
            </a:pPr>
            <a:r>
              <a:rPr lang="ko-KR" altLang="en-US" sz="1200" dirty="0">
                <a:latin typeface="+mn-ea"/>
              </a:rPr>
              <a:t>① </a:t>
            </a:r>
            <a:r>
              <a:rPr lang="en-US" altLang="ko-KR" sz="1200" dirty="0" smtClean="0">
                <a:latin typeface="+mn-ea"/>
              </a:rPr>
              <a:t>API</a:t>
            </a:r>
            <a:r>
              <a:rPr lang="ko-KR" altLang="en-US" sz="1200" dirty="0" smtClean="0">
                <a:latin typeface="+mn-ea"/>
              </a:rPr>
              <a:t> </a:t>
            </a:r>
            <a:r>
              <a:rPr lang="en-US" altLang="ko-KR" sz="1200" dirty="0" smtClean="0">
                <a:latin typeface="+mn-ea"/>
              </a:rPr>
              <a:t>import </a:t>
            </a:r>
            <a:r>
              <a:rPr lang="ko-KR" altLang="en-US" sz="1200" dirty="0" smtClean="0">
                <a:latin typeface="+mn-ea"/>
              </a:rPr>
              <a:t>한다</a:t>
            </a:r>
            <a:endParaRPr lang="en-US" altLang="ko-KR" sz="1200" dirty="0">
              <a:latin typeface="+mn-ea"/>
            </a:endParaRPr>
          </a:p>
          <a:p>
            <a:pPr>
              <a:lnSpc>
                <a:spcPct val="150000"/>
              </a:lnSpc>
            </a:pPr>
            <a:r>
              <a:rPr lang="en-US" altLang="ko-KR" sz="1200" dirty="0" smtClean="0"/>
              <a:t>     import </a:t>
            </a:r>
            <a:r>
              <a:rPr lang="en-US" altLang="ko-KR" sz="1200" dirty="0" err="1"/>
              <a:t>com.penta.scpdb</a:t>
            </a:r>
            <a:r>
              <a:rPr lang="en-US" altLang="ko-KR" sz="1200" dirty="0"/>
              <a:t>.*; </a:t>
            </a:r>
          </a:p>
          <a:p>
            <a:pPr>
              <a:lnSpc>
                <a:spcPct val="150000"/>
              </a:lnSpc>
            </a:pPr>
            <a:endParaRPr lang="en-US" altLang="ko-KR" sz="1200" dirty="0" smtClean="0">
              <a:latin typeface="+mn-ea"/>
            </a:endParaRPr>
          </a:p>
          <a:p>
            <a:pPr>
              <a:lnSpc>
                <a:spcPct val="150000"/>
              </a:lnSpc>
            </a:pPr>
            <a:r>
              <a:rPr lang="ko-KR" altLang="en-US" sz="1200" dirty="0" smtClean="0">
                <a:latin typeface="+mn-ea"/>
              </a:rPr>
              <a:t>② </a:t>
            </a:r>
            <a:r>
              <a:rPr lang="ko-KR" altLang="en-US" sz="1200" dirty="0">
                <a:latin typeface="+mn-ea"/>
              </a:rPr>
              <a:t>함수 호출에 필요한 변수를 설정한다</a:t>
            </a:r>
            <a:r>
              <a:rPr lang="en-US" altLang="ko-KR" sz="1200" dirty="0">
                <a:latin typeface="+mn-ea"/>
              </a:rPr>
              <a:t>.</a:t>
            </a:r>
          </a:p>
          <a:p>
            <a:pPr>
              <a:lnSpc>
                <a:spcPct val="150000"/>
              </a:lnSpc>
            </a:pPr>
            <a:r>
              <a:rPr lang="en-US" altLang="ko-KR" sz="1200" dirty="0" smtClean="0"/>
              <a:t>     </a:t>
            </a:r>
            <a:r>
              <a:rPr lang="en-US" altLang="ko-KR" sz="1200" dirty="0"/>
              <a:t>String </a:t>
            </a:r>
            <a:r>
              <a:rPr lang="en-US" altLang="ko-KR" sz="1200" dirty="0" err="1"/>
              <a:t>strEnc</a:t>
            </a:r>
            <a:r>
              <a:rPr lang="en-US" altLang="ko-KR" sz="1200" dirty="0"/>
              <a:t>, </a:t>
            </a:r>
            <a:r>
              <a:rPr lang="en-US" altLang="ko-KR" sz="1200" dirty="0" err="1"/>
              <a:t>strDec</a:t>
            </a:r>
            <a:r>
              <a:rPr lang="en-US" altLang="ko-KR" sz="1200" dirty="0"/>
              <a:t>;</a:t>
            </a:r>
          </a:p>
          <a:p>
            <a:pPr>
              <a:lnSpc>
                <a:spcPct val="150000"/>
              </a:lnSpc>
            </a:pPr>
            <a:r>
              <a:rPr lang="en-US" altLang="ko-KR" sz="1200" dirty="0"/>
              <a:t>     </a:t>
            </a:r>
            <a:r>
              <a:rPr lang="en-US" altLang="ko-KR" sz="1200" dirty="0" err="1"/>
              <a:t>Int</a:t>
            </a:r>
            <a:r>
              <a:rPr lang="en-US" altLang="ko-KR" sz="1200" dirty="0"/>
              <a:t> ret = 0;</a:t>
            </a:r>
          </a:p>
          <a:p>
            <a:pPr>
              <a:lnSpc>
                <a:spcPct val="150000"/>
              </a:lnSpc>
            </a:pPr>
            <a:endParaRPr lang="en-US" altLang="ko-KR" sz="1200" dirty="0" smtClean="0">
              <a:latin typeface="+mn-ea"/>
            </a:endParaRPr>
          </a:p>
          <a:p>
            <a:pPr>
              <a:lnSpc>
                <a:spcPct val="150000"/>
              </a:lnSpc>
            </a:pPr>
            <a:r>
              <a:rPr lang="ko-KR" altLang="en-US" sz="1200" dirty="0" smtClean="0">
                <a:latin typeface="+mn-ea"/>
              </a:rPr>
              <a:t>③ </a:t>
            </a:r>
            <a:r>
              <a:rPr lang="ko-KR" altLang="en-US" sz="1200" dirty="0" err="1">
                <a:latin typeface="+mn-ea"/>
              </a:rPr>
              <a:t>설정파일의</a:t>
            </a:r>
            <a:r>
              <a:rPr lang="ko-KR" altLang="en-US" sz="1200" dirty="0">
                <a:latin typeface="+mn-ea"/>
              </a:rPr>
              <a:t> 경로를 지정한다</a:t>
            </a:r>
            <a:r>
              <a:rPr lang="en-US" altLang="ko-KR" sz="1200" dirty="0">
                <a:latin typeface="+mn-ea"/>
              </a:rPr>
              <a:t>.</a:t>
            </a:r>
          </a:p>
          <a:p>
            <a:pPr>
              <a:lnSpc>
                <a:spcPct val="150000"/>
              </a:lnSpc>
            </a:pPr>
            <a:r>
              <a:rPr lang="en-US" altLang="ko-KR" sz="1200" dirty="0" smtClean="0"/>
              <a:t>     /* </a:t>
            </a:r>
            <a:r>
              <a:rPr lang="en-US" altLang="ko-KR" sz="1200" dirty="0"/>
              <a:t>DAMO SCP API </a:t>
            </a:r>
            <a:r>
              <a:rPr lang="ko-KR" altLang="en-US" sz="1200" dirty="0"/>
              <a:t>설정 파일과 키 파일의 풀 패스 *</a:t>
            </a:r>
            <a:r>
              <a:rPr lang="en-US" altLang="ko-KR" sz="1200" dirty="0" smtClean="0"/>
              <a:t>/</a:t>
            </a:r>
          </a:p>
          <a:p>
            <a:pPr>
              <a:lnSpc>
                <a:spcPct val="150000"/>
              </a:lnSpc>
            </a:pPr>
            <a:r>
              <a:rPr lang="en-US" altLang="ko-KR" sz="1200" dirty="0" smtClean="0"/>
              <a:t>     </a:t>
            </a:r>
            <a:r>
              <a:rPr lang="en-US" altLang="ko-KR" sz="1200" dirty="0"/>
              <a:t>String </a:t>
            </a:r>
            <a:r>
              <a:rPr lang="en-US" altLang="ko-KR" sz="1200" dirty="0" err="1"/>
              <a:t>iniFilePath</a:t>
            </a:r>
            <a:r>
              <a:rPr lang="en-US" altLang="ko-KR" sz="1200" dirty="0"/>
              <a:t> = </a:t>
            </a:r>
            <a:r>
              <a:rPr lang="en-US" altLang="ko-KR" sz="1200" dirty="0" smtClean="0"/>
              <a:t>“C:/BASCP/scpdb_agent.ini</a:t>
            </a:r>
            <a:r>
              <a:rPr lang="en-US" altLang="ko-KR" sz="1200" dirty="0"/>
              <a:t>"; </a:t>
            </a:r>
            <a:r>
              <a:rPr lang="en-US" altLang="ko-KR" sz="1200" dirty="0" smtClean="0"/>
              <a:t>//</a:t>
            </a:r>
            <a:r>
              <a:rPr lang="ko-KR" altLang="en-US" sz="1200" dirty="0" smtClean="0"/>
              <a:t>개발자</a:t>
            </a:r>
            <a:r>
              <a:rPr lang="en-US" altLang="ko-KR" sz="1200" dirty="0" smtClean="0"/>
              <a:t>PC</a:t>
            </a:r>
            <a:r>
              <a:rPr lang="ko-KR" altLang="en-US" sz="1200" dirty="0" smtClean="0"/>
              <a:t>일 경우</a:t>
            </a:r>
            <a:endParaRPr lang="en-US" altLang="ko-KR" sz="1200" dirty="0"/>
          </a:p>
          <a:p>
            <a:pPr>
              <a:lnSpc>
                <a:spcPct val="150000"/>
              </a:lnSpc>
            </a:pPr>
            <a:r>
              <a:rPr lang="en-US" altLang="ko-KR" sz="1200" dirty="0" smtClean="0"/>
              <a:t>     String </a:t>
            </a:r>
            <a:r>
              <a:rPr lang="en-US" altLang="ko-KR" sz="1200" dirty="0" err="1"/>
              <a:t>iniFilePath</a:t>
            </a:r>
            <a:r>
              <a:rPr lang="en-US" altLang="ko-KR" sz="1200" dirty="0"/>
              <a:t> = </a:t>
            </a:r>
            <a:r>
              <a:rPr lang="en-US" altLang="ko-KR" sz="1200" dirty="0" smtClean="0"/>
              <a:t>"/</a:t>
            </a:r>
            <a:r>
              <a:rPr lang="en-US" altLang="ko-KR" sz="1200" dirty="0" err="1" smtClean="0"/>
              <a:t>fsscp</a:t>
            </a:r>
            <a:r>
              <a:rPr lang="en-US" altLang="ko-KR" sz="1200" dirty="0" smtClean="0"/>
              <a:t>/</a:t>
            </a:r>
            <a:r>
              <a:rPr lang="en-US" altLang="ko-KR" sz="1200" dirty="0" err="1" smtClean="0"/>
              <a:t>pav</a:t>
            </a:r>
            <a:r>
              <a:rPr lang="en-US" altLang="ko-KR" sz="1200" dirty="0" smtClean="0"/>
              <a:t>/agent/scpdb_agent_unix.ini"; //</a:t>
            </a:r>
            <a:r>
              <a:rPr lang="ko-KR" altLang="en-US" sz="1200" dirty="0" smtClean="0"/>
              <a:t>서버일 경우</a:t>
            </a:r>
            <a:endParaRPr lang="en-US" altLang="ko-KR" sz="1200" dirty="0"/>
          </a:p>
          <a:p>
            <a:pPr>
              <a:lnSpc>
                <a:spcPct val="150000"/>
              </a:lnSpc>
            </a:pPr>
            <a:endParaRPr lang="en-US" altLang="ko-KR" sz="1200" dirty="0" smtClean="0"/>
          </a:p>
          <a:p>
            <a:pPr>
              <a:lnSpc>
                <a:spcPct val="150000"/>
              </a:lnSpc>
            </a:pPr>
            <a:r>
              <a:rPr lang="ko-KR" altLang="en-US" sz="1200" dirty="0"/>
              <a:t>④ </a:t>
            </a:r>
            <a:r>
              <a:rPr lang="en-US" altLang="ko-KR" sz="1200" dirty="0" err="1" smtClean="0"/>
              <a:t>ScpDbAgent</a:t>
            </a:r>
            <a:r>
              <a:rPr lang="en-US" altLang="ko-KR" sz="1200" dirty="0" smtClean="0"/>
              <a:t> </a:t>
            </a:r>
            <a:r>
              <a:rPr lang="ko-KR" altLang="en-US" sz="1200" dirty="0"/>
              <a:t>객체를 </a:t>
            </a:r>
            <a:r>
              <a:rPr lang="ko-KR" altLang="en-US" sz="1200" dirty="0" smtClean="0"/>
              <a:t>생성한다</a:t>
            </a:r>
            <a:r>
              <a:rPr lang="en-US" altLang="ko-KR" sz="1200" dirty="0" smtClean="0"/>
              <a:t>.</a:t>
            </a:r>
            <a:endParaRPr lang="en-US" altLang="ko-KR" sz="1200" dirty="0"/>
          </a:p>
          <a:p>
            <a:pPr>
              <a:lnSpc>
                <a:spcPct val="150000"/>
              </a:lnSpc>
            </a:pPr>
            <a:r>
              <a:rPr lang="en-US" altLang="ko-KR" sz="1200" dirty="0" smtClean="0"/>
              <a:t>     </a:t>
            </a:r>
            <a:r>
              <a:rPr lang="en-US" altLang="ko-KR" sz="1200" dirty="0" err="1" smtClean="0"/>
              <a:t>ScpDbAgent</a:t>
            </a:r>
            <a:r>
              <a:rPr lang="en-US" altLang="ko-KR" sz="1200" dirty="0" smtClean="0"/>
              <a:t> </a:t>
            </a:r>
            <a:r>
              <a:rPr lang="en-US" altLang="ko-KR" sz="1200" dirty="0" err="1"/>
              <a:t>agt</a:t>
            </a:r>
            <a:r>
              <a:rPr lang="en-US" altLang="ko-KR" sz="1200" dirty="0"/>
              <a:t> = new </a:t>
            </a:r>
            <a:r>
              <a:rPr lang="en-US" altLang="ko-KR" sz="1200" dirty="0" err="1"/>
              <a:t>ScpDbAgent</a:t>
            </a:r>
            <a:r>
              <a:rPr lang="en-US" altLang="ko-KR" sz="1200" dirty="0" smtClean="0"/>
              <a:t>();</a:t>
            </a:r>
            <a:endParaRPr lang="en-US" altLang="ko-KR" sz="1200" dirty="0"/>
          </a:p>
        </p:txBody>
      </p:sp>
      <p:sp>
        <p:nvSpPr>
          <p:cNvPr id="9" name="Rectangle 3"/>
          <p:cNvSpPr>
            <a:spLocks noChangeArrowheads="1"/>
          </p:cNvSpPr>
          <p:nvPr/>
        </p:nvSpPr>
        <p:spPr bwMode="auto">
          <a:xfrm>
            <a:off x="699993" y="1854671"/>
            <a:ext cx="8753507" cy="314189"/>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en-US" altLang="ko-KR" sz="1200" smtClean="0">
                <a:latin typeface="KB금융 본문체 Light" panose="020B0303000000000000" pitchFamily="50" charset="-127"/>
                <a:ea typeface="KB금융 본문체 Light" panose="020B0303000000000000" pitchFamily="50" charset="-127"/>
                <a:cs typeface="ヒラギノ角ゴ ProN W3"/>
              </a:rPr>
              <a:t>JAVA/JSP</a:t>
            </a:r>
          </a:p>
        </p:txBody>
      </p:sp>
    </p:spTree>
    <p:extLst>
      <p:ext uri="{BB962C8B-B14F-4D97-AF65-F5344CB8AC3E}">
        <p14:creationId xmlns:p14="http://schemas.microsoft.com/office/powerpoint/2010/main" val="36539292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ko-KR" altLang="en-US" smtClean="0"/>
              <a:t>첨부</a:t>
            </a:r>
            <a:r>
              <a:rPr lang="en-US" altLang="ko-KR" smtClean="0"/>
              <a:t>3</a:t>
            </a:r>
            <a:r>
              <a:rPr lang="en-US" altLang="ko-KR"/>
              <a:t>. </a:t>
            </a:r>
            <a:r>
              <a:rPr lang="ko-KR" altLang="en-US"/>
              <a:t>암</a:t>
            </a:r>
            <a:r>
              <a:rPr lang="en-US" altLang="ko-KR"/>
              <a:t>·</a:t>
            </a:r>
            <a:r>
              <a:rPr lang="ko-KR" altLang="en-US"/>
              <a:t>복호함수 </a:t>
            </a:r>
            <a:r>
              <a:rPr lang="ko-KR" altLang="en-US" smtClean="0"/>
              <a:t>적용가이드</a:t>
            </a:r>
            <a:r>
              <a:rPr lang="en-US" altLang="ko-KR" smtClean="0"/>
              <a:t>(6/8)</a:t>
            </a:r>
            <a:endParaRPr lang="ko-KR" altLang="en-US" dirty="0"/>
          </a:p>
        </p:txBody>
      </p:sp>
      <p:sp>
        <p:nvSpPr>
          <p:cNvPr id="3" name="Rectangle 3"/>
          <p:cNvSpPr>
            <a:spLocks noChangeArrowheads="1"/>
          </p:cNvSpPr>
          <p:nvPr/>
        </p:nvSpPr>
        <p:spPr bwMode="auto">
          <a:xfrm>
            <a:off x="308484" y="764704"/>
            <a:ext cx="9144000" cy="351186"/>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ko-KR" altLang="en-US" sz="1400" b="1" smtClean="0">
                <a:latin typeface="KB금융 본문체 Light" panose="020B0303000000000000" pitchFamily="50" charset="-127"/>
                <a:ea typeface="KB금융 본문체 Light" panose="020B0303000000000000" pitchFamily="50" charset="-127"/>
                <a:cs typeface="ヒラギノ角ゴ ProN W3"/>
              </a:rPr>
              <a:t>코딩 가이드</a:t>
            </a:r>
            <a:endParaRPr lang="en-US" altLang="ko-KR" sz="1400" b="1"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5" name="Rectangle 3"/>
          <p:cNvSpPr>
            <a:spLocks noChangeArrowheads="1"/>
          </p:cNvSpPr>
          <p:nvPr/>
        </p:nvSpPr>
        <p:spPr bwMode="auto">
          <a:xfrm>
            <a:off x="699993" y="1142438"/>
            <a:ext cx="8753507" cy="314189"/>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en-US" altLang="ko-KR" sz="1200" smtClean="0">
                <a:latin typeface="KB금융 본문체 Light" panose="020B0303000000000000" pitchFamily="50" charset="-127"/>
                <a:ea typeface="KB금융 본문체 Light" panose="020B0303000000000000" pitchFamily="50" charset="-127"/>
                <a:cs typeface="ヒラギノ角ゴ ProN W3"/>
              </a:rPr>
              <a:t>JAVA/JSP</a:t>
            </a:r>
          </a:p>
        </p:txBody>
      </p:sp>
      <p:sp>
        <p:nvSpPr>
          <p:cNvPr id="6" name="TextBox 5"/>
          <p:cNvSpPr txBox="1"/>
          <p:nvPr/>
        </p:nvSpPr>
        <p:spPr>
          <a:xfrm>
            <a:off x="1078873" y="1465406"/>
            <a:ext cx="7637921" cy="2862322"/>
          </a:xfrm>
          <a:prstGeom prst="rect">
            <a:avLst/>
          </a:prstGeom>
          <a:noFill/>
        </p:spPr>
        <p:txBody>
          <a:bodyPr wrap="square" rtlCol="0">
            <a:spAutoFit/>
          </a:bodyPr>
          <a:lstStyle>
            <a:defPPr>
              <a:defRPr lang="ko-KR"/>
            </a:defPPr>
            <a:lvl1pPr>
              <a:lnSpc>
                <a:spcPct val="150000"/>
              </a:lnSpc>
              <a:defRPr sz="1000"/>
            </a:lvl1pPr>
          </a:lstStyle>
          <a:p>
            <a:r>
              <a:rPr lang="en-US" altLang="ko-KR" sz="1200">
                <a:latin typeface="+mn-ea"/>
              </a:rPr>
              <a:t> </a:t>
            </a:r>
            <a:r>
              <a:rPr lang="ko-KR" altLang="en-US" sz="1200">
                <a:latin typeface="+mn-ea"/>
                <a:cs typeface="Arial" pitchFamily="34" charset="0"/>
              </a:rPr>
              <a:t>⑤ </a:t>
            </a:r>
            <a:r>
              <a:rPr lang="ko-KR" altLang="en-US" sz="1200">
                <a:latin typeface="+mn-ea"/>
              </a:rPr>
              <a:t>암</a:t>
            </a:r>
            <a:r>
              <a:rPr lang="en-US" altLang="ko-KR" sz="1200">
                <a:latin typeface="+mn-ea"/>
              </a:rPr>
              <a:t>·</a:t>
            </a:r>
            <a:r>
              <a:rPr lang="ko-KR" altLang="en-US" sz="1200">
                <a:latin typeface="+mn-ea"/>
              </a:rPr>
              <a:t>복호화 함수를 호출한다</a:t>
            </a:r>
            <a:r>
              <a:rPr lang="en-US" altLang="ko-KR" sz="1200">
                <a:latin typeface="+mn-ea"/>
              </a:rPr>
              <a:t>.</a:t>
            </a:r>
          </a:p>
          <a:p>
            <a:r>
              <a:rPr lang="en-US" altLang="ko-KR" sz="1200" smtClean="0">
                <a:latin typeface="+mn-ea"/>
              </a:rPr>
              <a:t>     </a:t>
            </a:r>
            <a:r>
              <a:rPr lang="en-US" altLang="ko-KR" sz="1200" smtClean="0">
                <a:solidFill>
                  <a:srgbClr val="FF0000"/>
                </a:solidFill>
                <a:latin typeface="+mn-ea"/>
              </a:rPr>
              <a:t>/* </a:t>
            </a:r>
            <a:r>
              <a:rPr lang="ko-KR" altLang="en-US" sz="1200" dirty="0">
                <a:solidFill>
                  <a:srgbClr val="FF0000"/>
                </a:solidFill>
                <a:latin typeface="+mn-ea"/>
              </a:rPr>
              <a:t>암호화 파일과 복호화 파일명은 서로 달라야 함 </a:t>
            </a:r>
            <a:r>
              <a:rPr lang="en-US" altLang="ko-KR" sz="1200" dirty="0" smtClean="0">
                <a:solidFill>
                  <a:srgbClr val="FF0000"/>
                </a:solidFill>
                <a:latin typeface="+mn-ea"/>
              </a:rPr>
              <a:t>*/</a:t>
            </a:r>
          </a:p>
          <a:p>
            <a:r>
              <a:rPr lang="en-US" altLang="ko-KR" sz="1200" smtClean="0">
                <a:latin typeface="+mn-ea"/>
              </a:rPr>
              <a:t>     ret </a:t>
            </a:r>
            <a:r>
              <a:rPr lang="en-US" altLang="ko-KR" sz="1200" dirty="0">
                <a:latin typeface="+mn-ea"/>
              </a:rPr>
              <a:t>= agt.ScpEncFile(iniFilePath, </a:t>
            </a:r>
            <a:r>
              <a:rPr lang="en-US" altLang="ko-KR" sz="1200" dirty="0" smtClean="0">
                <a:latin typeface="+mn-ea"/>
              </a:rPr>
              <a:t>“SEC", </a:t>
            </a:r>
            <a:r>
              <a:rPr lang="en-US" altLang="ko-KR" sz="1200" dirty="0">
                <a:latin typeface="+mn-ea"/>
              </a:rPr>
              <a:t>“</a:t>
            </a:r>
            <a:r>
              <a:rPr lang="ko-KR" altLang="en-US" sz="1200" dirty="0">
                <a:latin typeface="+mn-ea"/>
              </a:rPr>
              <a:t>암호화 대상 파일명</a:t>
            </a:r>
            <a:r>
              <a:rPr lang="en-US" altLang="ko-KR" sz="1200" dirty="0">
                <a:latin typeface="+mn-ea"/>
              </a:rPr>
              <a:t>”, “</a:t>
            </a:r>
            <a:r>
              <a:rPr lang="ko-KR" altLang="en-US" sz="1200" dirty="0">
                <a:latin typeface="+mn-ea"/>
              </a:rPr>
              <a:t>암호화 파일명</a:t>
            </a:r>
            <a:r>
              <a:rPr lang="en-US" altLang="ko-KR" sz="1200" dirty="0">
                <a:latin typeface="+mn-ea"/>
              </a:rPr>
              <a:t>”);  // </a:t>
            </a:r>
            <a:r>
              <a:rPr lang="ko-KR" altLang="en-US" sz="1200" dirty="0">
                <a:latin typeface="+mn-ea"/>
              </a:rPr>
              <a:t>암호화</a:t>
            </a:r>
            <a:endParaRPr lang="en-US" altLang="ko-KR" sz="1200" dirty="0">
              <a:latin typeface="+mn-ea"/>
            </a:endParaRPr>
          </a:p>
          <a:p>
            <a:r>
              <a:rPr lang="en-US" altLang="ko-KR" sz="1200" smtClean="0">
                <a:latin typeface="+mn-ea"/>
              </a:rPr>
              <a:t>     ret </a:t>
            </a:r>
            <a:r>
              <a:rPr lang="en-US" altLang="ko-KR" sz="1200" dirty="0">
                <a:latin typeface="+mn-ea"/>
              </a:rPr>
              <a:t>= </a:t>
            </a:r>
            <a:r>
              <a:rPr lang="en-US" altLang="ko-KR" sz="1200" dirty="0" err="1">
                <a:latin typeface="+mn-ea"/>
              </a:rPr>
              <a:t>agt.ScpDecFile</a:t>
            </a:r>
            <a:r>
              <a:rPr lang="en-US" altLang="ko-KR" sz="1200" dirty="0">
                <a:latin typeface="+mn-ea"/>
              </a:rPr>
              <a:t>(</a:t>
            </a:r>
            <a:r>
              <a:rPr lang="en-US" altLang="ko-KR" sz="1200" dirty="0" err="1">
                <a:latin typeface="+mn-ea"/>
              </a:rPr>
              <a:t>iniFilePath</a:t>
            </a:r>
            <a:r>
              <a:rPr lang="en-US" altLang="ko-KR" sz="1200" dirty="0">
                <a:latin typeface="+mn-ea"/>
              </a:rPr>
              <a:t>, </a:t>
            </a:r>
            <a:r>
              <a:rPr lang="en-US" altLang="ko-KR" sz="1200" dirty="0" smtClean="0">
                <a:latin typeface="+mn-ea"/>
              </a:rPr>
              <a:t>“SEC”, </a:t>
            </a:r>
            <a:r>
              <a:rPr lang="en-US" altLang="ko-KR" sz="1200" dirty="0">
                <a:latin typeface="+mn-ea"/>
              </a:rPr>
              <a:t>“</a:t>
            </a:r>
            <a:r>
              <a:rPr lang="ko-KR" altLang="en-US" sz="1200" dirty="0">
                <a:latin typeface="+mn-ea"/>
              </a:rPr>
              <a:t>암호화 파일명</a:t>
            </a:r>
            <a:r>
              <a:rPr lang="en-US" altLang="ko-KR" sz="1200" dirty="0">
                <a:latin typeface="+mn-ea"/>
              </a:rPr>
              <a:t>”, “</a:t>
            </a:r>
            <a:r>
              <a:rPr lang="ko-KR" altLang="en-US" sz="1200" dirty="0" err="1">
                <a:latin typeface="+mn-ea"/>
              </a:rPr>
              <a:t>복호화</a:t>
            </a:r>
            <a:r>
              <a:rPr lang="ko-KR" altLang="en-US" sz="1200" dirty="0">
                <a:latin typeface="+mn-ea"/>
              </a:rPr>
              <a:t> 파일명</a:t>
            </a:r>
            <a:r>
              <a:rPr lang="en-US" altLang="ko-KR" sz="1200" dirty="0">
                <a:latin typeface="+mn-ea"/>
              </a:rPr>
              <a:t>");        // </a:t>
            </a:r>
            <a:r>
              <a:rPr lang="ko-KR" altLang="en-US" sz="1200" dirty="0" err="1">
                <a:latin typeface="+mn-ea"/>
              </a:rPr>
              <a:t>복호화</a:t>
            </a:r>
            <a:endParaRPr lang="en-US" altLang="ko-KR" sz="1200" dirty="0">
              <a:latin typeface="+mn-ea"/>
            </a:endParaRPr>
          </a:p>
          <a:p>
            <a:endParaRPr lang="en-US" altLang="ko-KR" sz="1200" dirty="0">
              <a:latin typeface="+mn-ea"/>
            </a:endParaRPr>
          </a:p>
          <a:p>
            <a:r>
              <a:rPr lang="en-US" altLang="ko-KR" sz="1200" smtClean="0">
                <a:latin typeface="+mn-ea"/>
              </a:rPr>
              <a:t>     /* </a:t>
            </a:r>
            <a:r>
              <a:rPr lang="en-US" altLang="ko-KR" sz="1200" dirty="0">
                <a:latin typeface="+mn-ea"/>
              </a:rPr>
              <a:t>DAMO </a:t>
            </a:r>
            <a:r>
              <a:rPr lang="ko-KR" altLang="en-US" sz="1200" dirty="0" err="1">
                <a:latin typeface="+mn-ea"/>
              </a:rPr>
              <a:t>일방향</a:t>
            </a:r>
            <a:r>
              <a:rPr lang="ko-KR" altLang="en-US" sz="1200" dirty="0">
                <a:latin typeface="+mn-ea"/>
              </a:rPr>
              <a:t> </a:t>
            </a:r>
            <a:r>
              <a:rPr lang="ko-KR" altLang="en-US" sz="1200" dirty="0" smtClean="0">
                <a:latin typeface="+mn-ea"/>
              </a:rPr>
              <a:t>암호화 </a:t>
            </a:r>
            <a:r>
              <a:rPr lang="ko-KR" altLang="en-US" sz="1200" dirty="0">
                <a:latin typeface="+mn-ea"/>
              </a:rPr>
              <a:t>함수 </a:t>
            </a:r>
            <a:r>
              <a:rPr lang="en-US" altLang="ko-KR" sz="1200" dirty="0" smtClean="0">
                <a:latin typeface="+mn-ea"/>
                <a:sym typeface="Wingdings" pitchFamily="2" charset="2"/>
              </a:rPr>
              <a:t> </a:t>
            </a:r>
            <a:r>
              <a:rPr lang="ko-KR" altLang="en-US" sz="1200" dirty="0" smtClean="0">
                <a:latin typeface="+mn-ea"/>
                <a:sym typeface="Wingdings" pitchFamily="2" charset="2"/>
              </a:rPr>
              <a:t>해시함수는 </a:t>
            </a:r>
            <a:r>
              <a:rPr lang="ko-KR" altLang="en-US" sz="1200" dirty="0" err="1" smtClean="0">
                <a:latin typeface="+mn-ea"/>
                <a:sym typeface="Wingdings" pitchFamily="2" charset="2"/>
              </a:rPr>
              <a:t>복호화</a:t>
            </a:r>
            <a:r>
              <a:rPr lang="ko-KR" altLang="en-US" sz="1200" dirty="0" smtClean="0">
                <a:latin typeface="+mn-ea"/>
                <a:sym typeface="Wingdings" pitchFamily="2" charset="2"/>
              </a:rPr>
              <a:t> 불가능 </a:t>
            </a:r>
            <a:r>
              <a:rPr lang="ko-KR" altLang="en-US" sz="1200" dirty="0" smtClean="0">
                <a:latin typeface="+mn-ea"/>
              </a:rPr>
              <a:t>*</a:t>
            </a:r>
            <a:r>
              <a:rPr lang="en-US" altLang="ko-KR" sz="1200" dirty="0">
                <a:latin typeface="+mn-ea"/>
              </a:rPr>
              <a:t>/</a:t>
            </a:r>
          </a:p>
          <a:p>
            <a:r>
              <a:rPr lang="en-US" altLang="ko-KR" sz="1200" smtClean="0">
                <a:latin typeface="+mn-ea"/>
              </a:rPr>
              <a:t>     /* </a:t>
            </a:r>
            <a:r>
              <a:rPr lang="ko-KR" altLang="en-US" sz="1200" dirty="0">
                <a:latin typeface="+mn-ea"/>
              </a:rPr>
              <a:t>단 </a:t>
            </a:r>
            <a:r>
              <a:rPr lang="ko-KR" altLang="en-US" sz="1200" dirty="0" err="1">
                <a:latin typeface="+mn-ea"/>
              </a:rPr>
              <a:t>일방향</a:t>
            </a:r>
            <a:r>
              <a:rPr lang="ko-KR" altLang="en-US" sz="1200" dirty="0">
                <a:latin typeface="+mn-ea"/>
              </a:rPr>
              <a:t> 해시함수 단독 사용시 초기화 필요 </a:t>
            </a:r>
            <a:r>
              <a:rPr lang="en-US" altLang="ko-KR" sz="1200" dirty="0" smtClean="0">
                <a:latin typeface="+mn-ea"/>
              </a:rPr>
              <a:t>*/</a:t>
            </a:r>
            <a:endParaRPr lang="en-US" altLang="ko-KR" sz="1200" dirty="0">
              <a:latin typeface="+mn-ea"/>
            </a:endParaRPr>
          </a:p>
          <a:p>
            <a:r>
              <a:rPr lang="en-US" altLang="ko-KR" sz="1200" smtClean="0">
                <a:solidFill>
                  <a:srgbClr val="FF0000"/>
                </a:solidFill>
                <a:latin typeface="+mn-ea"/>
              </a:rPr>
              <a:t>     /* </a:t>
            </a:r>
            <a:r>
              <a:rPr lang="ko-KR" altLang="en-US" sz="1200" dirty="0">
                <a:solidFill>
                  <a:srgbClr val="FF0000"/>
                </a:solidFill>
                <a:latin typeface="+mn-ea"/>
              </a:rPr>
              <a:t>따라서 </a:t>
            </a:r>
            <a:r>
              <a:rPr lang="ko-KR" altLang="en-US" sz="1200" dirty="0" err="1">
                <a:solidFill>
                  <a:srgbClr val="FF0000"/>
                </a:solidFill>
                <a:latin typeface="+mn-ea"/>
              </a:rPr>
              <a:t>암복호화</a:t>
            </a:r>
            <a:r>
              <a:rPr lang="ko-KR" altLang="en-US" sz="1200" dirty="0">
                <a:solidFill>
                  <a:srgbClr val="FF0000"/>
                </a:solidFill>
                <a:latin typeface="+mn-ea"/>
              </a:rPr>
              <a:t> 함수 호출 전 반드시 초기화 함수 </a:t>
            </a:r>
            <a:r>
              <a:rPr lang="en-US" altLang="ko-KR" sz="1200" dirty="0">
                <a:solidFill>
                  <a:srgbClr val="FF0000"/>
                </a:solidFill>
                <a:latin typeface="+mn-ea"/>
              </a:rPr>
              <a:t>(</a:t>
            </a:r>
            <a:r>
              <a:rPr lang="en-US" altLang="ko-KR" sz="1200" dirty="0" err="1">
                <a:solidFill>
                  <a:srgbClr val="FF0000"/>
                </a:solidFill>
                <a:latin typeface="+mn-ea"/>
              </a:rPr>
              <a:t>agt.AgentInit</a:t>
            </a:r>
            <a:r>
              <a:rPr lang="en-US" altLang="ko-KR" sz="1200" dirty="0">
                <a:solidFill>
                  <a:srgbClr val="FF0000"/>
                </a:solidFill>
                <a:latin typeface="+mn-ea"/>
              </a:rPr>
              <a:t>(</a:t>
            </a:r>
            <a:r>
              <a:rPr lang="en-US" altLang="ko-KR" sz="1200" dirty="0" err="1">
                <a:solidFill>
                  <a:srgbClr val="FF0000"/>
                </a:solidFill>
                <a:latin typeface="+mn-ea"/>
              </a:rPr>
              <a:t>iniFilePath</a:t>
            </a:r>
            <a:r>
              <a:rPr lang="en-US" altLang="ko-KR" sz="1200" dirty="0">
                <a:solidFill>
                  <a:srgbClr val="FF0000"/>
                </a:solidFill>
                <a:latin typeface="+mn-ea"/>
              </a:rPr>
              <a:t>) </a:t>
            </a:r>
            <a:r>
              <a:rPr lang="ko-KR" altLang="en-US" sz="1200" dirty="0">
                <a:solidFill>
                  <a:srgbClr val="FF0000"/>
                </a:solidFill>
                <a:latin typeface="+mn-ea"/>
              </a:rPr>
              <a:t>를 호출하여야 함 </a:t>
            </a:r>
            <a:r>
              <a:rPr lang="en-US" altLang="ko-KR" sz="1200" dirty="0">
                <a:solidFill>
                  <a:srgbClr val="FF0000"/>
                </a:solidFill>
                <a:latin typeface="+mn-ea"/>
              </a:rPr>
              <a:t>*/</a:t>
            </a:r>
          </a:p>
          <a:p>
            <a:r>
              <a:rPr lang="en-US" altLang="ko-KR" sz="1200" smtClean="0">
                <a:latin typeface="+mn-ea"/>
              </a:rPr>
              <a:t>     String </a:t>
            </a:r>
            <a:r>
              <a:rPr lang="en-US" altLang="ko-KR" sz="1200" dirty="0" err="1">
                <a:latin typeface="+mn-ea"/>
              </a:rPr>
              <a:t>strHash</a:t>
            </a:r>
            <a:r>
              <a:rPr lang="en-US" altLang="ko-KR" sz="1200" dirty="0">
                <a:latin typeface="+mn-ea"/>
              </a:rPr>
              <a:t> = agt.AgentCipherHashStringB64(71, </a:t>
            </a:r>
            <a:r>
              <a:rPr lang="en-US" altLang="ko-KR" sz="1200" dirty="0" err="1">
                <a:latin typeface="+mn-ea"/>
              </a:rPr>
              <a:t>strEnc</a:t>
            </a:r>
            <a:r>
              <a:rPr lang="en-US" altLang="ko-KR" sz="1200" dirty="0">
                <a:latin typeface="+mn-ea"/>
              </a:rPr>
              <a:t>); // </a:t>
            </a:r>
            <a:r>
              <a:rPr lang="ko-KR" altLang="en-US" sz="1200" dirty="0" smtClean="0">
                <a:latin typeface="+mn-ea"/>
              </a:rPr>
              <a:t>암호화</a:t>
            </a:r>
            <a:endParaRPr lang="en-US" altLang="ko-KR" sz="1200" dirty="0">
              <a:latin typeface="+mn-ea"/>
            </a:endParaRPr>
          </a:p>
          <a:p>
            <a:r>
              <a:rPr lang="en-US" altLang="ko-KR" sz="1200" smtClean="0">
                <a:latin typeface="+mn-ea"/>
              </a:rPr>
              <a:t>     System.out.println("[java] </a:t>
            </a:r>
            <a:r>
              <a:rPr lang="en-US" altLang="ko-KR" sz="1200" dirty="0">
                <a:latin typeface="+mn-ea"/>
              </a:rPr>
              <a:t>AgentCipherHashStringB64 : " + </a:t>
            </a:r>
            <a:r>
              <a:rPr lang="en-US" altLang="ko-KR" sz="1200" err="1">
                <a:latin typeface="+mn-ea"/>
              </a:rPr>
              <a:t>strHash</a:t>
            </a:r>
            <a:r>
              <a:rPr lang="en-US" altLang="ko-KR" sz="1200" smtClean="0">
                <a:latin typeface="+mn-ea"/>
              </a:rPr>
              <a:t>);</a:t>
            </a:r>
          </a:p>
        </p:txBody>
      </p:sp>
    </p:spTree>
    <p:extLst>
      <p:ext uri="{BB962C8B-B14F-4D97-AF65-F5344CB8AC3E}">
        <p14:creationId xmlns:p14="http://schemas.microsoft.com/office/powerpoint/2010/main" val="29474765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ko-KR" altLang="en-US" smtClean="0"/>
              <a:t>첨부</a:t>
            </a:r>
            <a:r>
              <a:rPr lang="en-US" altLang="ko-KR" smtClean="0"/>
              <a:t>3</a:t>
            </a:r>
            <a:r>
              <a:rPr lang="en-US" altLang="ko-KR"/>
              <a:t>. </a:t>
            </a:r>
            <a:r>
              <a:rPr lang="ko-KR" altLang="en-US"/>
              <a:t>암</a:t>
            </a:r>
            <a:r>
              <a:rPr lang="en-US" altLang="ko-KR"/>
              <a:t>·</a:t>
            </a:r>
            <a:r>
              <a:rPr lang="ko-KR" altLang="en-US"/>
              <a:t>복호함수 </a:t>
            </a:r>
            <a:r>
              <a:rPr lang="ko-KR" altLang="en-US" smtClean="0"/>
              <a:t>적용가이드</a:t>
            </a:r>
            <a:r>
              <a:rPr lang="en-US" altLang="ko-KR" smtClean="0"/>
              <a:t>(7/8)</a:t>
            </a:r>
            <a:endParaRPr lang="ko-KR" altLang="en-US" dirty="0"/>
          </a:p>
        </p:txBody>
      </p:sp>
      <p:sp>
        <p:nvSpPr>
          <p:cNvPr id="96" name="Rectangle 3"/>
          <p:cNvSpPr>
            <a:spLocks noChangeArrowheads="1"/>
          </p:cNvSpPr>
          <p:nvPr/>
        </p:nvSpPr>
        <p:spPr bwMode="auto">
          <a:xfrm>
            <a:off x="308484" y="764704"/>
            <a:ext cx="9144000" cy="351186"/>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ko-KR" altLang="en-US" sz="1400" b="1" smtClean="0">
                <a:latin typeface="KB금융 본문체 Light" panose="020B0303000000000000" pitchFamily="50" charset="-127"/>
                <a:ea typeface="KB금융 본문체 Light" panose="020B0303000000000000" pitchFamily="50" charset="-127"/>
                <a:cs typeface="ヒラギノ角ゴ ProN W3"/>
              </a:rPr>
              <a:t>코딩 가이드</a:t>
            </a:r>
            <a:endParaRPr lang="en-US" altLang="ko-KR" sz="1400" b="1"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97" name="Rectangle 3"/>
          <p:cNvSpPr>
            <a:spLocks noChangeArrowheads="1"/>
          </p:cNvSpPr>
          <p:nvPr/>
        </p:nvSpPr>
        <p:spPr bwMode="auto">
          <a:xfrm>
            <a:off x="699993" y="1142438"/>
            <a:ext cx="8753507" cy="314189"/>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en-US" altLang="ko-KR" sz="1200" smtClean="0">
                <a:latin typeface="KB금융 본문체 Light" panose="020B0303000000000000" pitchFamily="50" charset="-127"/>
                <a:ea typeface="KB금융 본문체 Light" panose="020B0303000000000000" pitchFamily="50" charset="-127"/>
                <a:cs typeface="ヒラギノ角ゴ ProN W3"/>
              </a:rPr>
              <a:t>C</a:t>
            </a:r>
          </a:p>
        </p:txBody>
      </p:sp>
      <p:sp>
        <p:nvSpPr>
          <p:cNvPr id="9" name="TextBox 8"/>
          <p:cNvSpPr txBox="1"/>
          <p:nvPr/>
        </p:nvSpPr>
        <p:spPr>
          <a:xfrm>
            <a:off x="1080167" y="1460683"/>
            <a:ext cx="8068675" cy="646331"/>
          </a:xfrm>
          <a:prstGeom prst="rect">
            <a:avLst/>
          </a:prstGeom>
          <a:noFill/>
        </p:spPr>
        <p:txBody>
          <a:bodyPr wrap="square" rtlCol="0">
            <a:spAutoFit/>
          </a:bodyPr>
          <a:lstStyle/>
          <a:p>
            <a:pPr>
              <a:lnSpc>
                <a:spcPct val="150000"/>
              </a:lnSpc>
            </a:pPr>
            <a:r>
              <a:rPr lang="ko-KR" altLang="en-US" sz="1200" dirty="0" smtClean="0">
                <a:latin typeface="+mn-ea"/>
              </a:rPr>
              <a:t>① 헤더 파일을 삽입한다</a:t>
            </a:r>
            <a:r>
              <a:rPr lang="en-US" altLang="ko-KR" sz="1200" dirty="0" smtClean="0">
                <a:latin typeface="+mn-ea"/>
              </a:rPr>
              <a:t>.</a:t>
            </a:r>
          </a:p>
          <a:p>
            <a:pPr>
              <a:lnSpc>
                <a:spcPct val="150000"/>
              </a:lnSpc>
            </a:pPr>
            <a:r>
              <a:rPr lang="en-US" altLang="ko-KR" sz="1200" smtClean="0">
                <a:latin typeface="+mn-ea"/>
              </a:rPr>
              <a:t>    #</a:t>
            </a:r>
            <a:r>
              <a:rPr lang="en-US" altLang="ko-KR" sz="1200" dirty="0" smtClean="0">
                <a:latin typeface="+mn-ea"/>
              </a:rPr>
              <a:t>include </a:t>
            </a:r>
            <a:r>
              <a:rPr lang="en-US" altLang="ko-KR" sz="1200" dirty="0">
                <a:latin typeface="+mn-ea"/>
              </a:rPr>
              <a:t>"</a:t>
            </a:r>
            <a:r>
              <a:rPr lang="en-US" altLang="ko-KR" sz="1200" err="1" smtClean="0">
                <a:latin typeface="+mn-ea"/>
              </a:rPr>
              <a:t>ScpAgentApi.h</a:t>
            </a:r>
            <a:r>
              <a:rPr lang="en-US" altLang="ko-KR" sz="1200" smtClean="0">
                <a:latin typeface="+mn-ea"/>
              </a:rPr>
              <a:t>“</a:t>
            </a:r>
            <a:endParaRPr lang="en-US" altLang="ko-KR" sz="1200" dirty="0" smtClean="0">
              <a:latin typeface="+mn-ea"/>
            </a:endParaRPr>
          </a:p>
        </p:txBody>
      </p:sp>
      <p:sp>
        <p:nvSpPr>
          <p:cNvPr id="10" name="TextBox 9"/>
          <p:cNvSpPr txBox="1"/>
          <p:nvPr/>
        </p:nvSpPr>
        <p:spPr>
          <a:xfrm>
            <a:off x="1080166" y="2312876"/>
            <a:ext cx="8068675" cy="2031325"/>
          </a:xfrm>
          <a:prstGeom prst="rect">
            <a:avLst/>
          </a:prstGeom>
          <a:noFill/>
        </p:spPr>
        <p:txBody>
          <a:bodyPr wrap="square" rtlCol="0">
            <a:spAutoFit/>
          </a:bodyPr>
          <a:lstStyle/>
          <a:p>
            <a:pPr>
              <a:lnSpc>
                <a:spcPct val="150000"/>
              </a:lnSpc>
            </a:pPr>
            <a:r>
              <a:rPr lang="ko-KR" altLang="en-US" sz="1200" dirty="0" smtClean="0">
                <a:latin typeface="+mn-ea"/>
              </a:rPr>
              <a:t>② 함수 호출에 필요한 변수를 설정한다</a:t>
            </a:r>
            <a:r>
              <a:rPr lang="en-US" altLang="ko-KR" sz="1200" dirty="0" smtClean="0">
                <a:latin typeface="+mn-ea"/>
              </a:rPr>
              <a:t>.</a:t>
            </a:r>
          </a:p>
          <a:p>
            <a:pPr>
              <a:lnSpc>
                <a:spcPct val="150000"/>
              </a:lnSpc>
            </a:pPr>
            <a:r>
              <a:rPr lang="en-US" altLang="ko-KR" sz="1200" dirty="0" smtClean="0">
                <a:latin typeface="+mn-ea"/>
              </a:rPr>
              <a:t>    </a:t>
            </a:r>
            <a:r>
              <a:rPr lang="en-US" altLang="ko-KR" sz="1200" dirty="0" err="1" smtClean="0">
                <a:latin typeface="+mn-ea"/>
              </a:rPr>
              <a:t>int</a:t>
            </a:r>
            <a:r>
              <a:rPr lang="en-US" altLang="ko-KR" sz="1200" dirty="0" smtClean="0">
                <a:latin typeface="+mn-ea"/>
              </a:rPr>
              <a:t> </a:t>
            </a:r>
            <a:r>
              <a:rPr lang="en-US" altLang="ko-KR" sz="1200" dirty="0">
                <a:latin typeface="+mn-ea"/>
              </a:rPr>
              <a:t>ret=0;  </a:t>
            </a:r>
          </a:p>
          <a:p>
            <a:pPr>
              <a:lnSpc>
                <a:spcPct val="150000"/>
              </a:lnSpc>
            </a:pPr>
            <a:r>
              <a:rPr lang="en-US" altLang="ko-KR" sz="1200" dirty="0" smtClean="0">
                <a:latin typeface="+mn-ea"/>
              </a:rPr>
              <a:t>    </a:t>
            </a:r>
            <a:r>
              <a:rPr lang="en-US" altLang="ko-KR" sz="1200" dirty="0">
                <a:latin typeface="+mn-ea"/>
              </a:rPr>
              <a:t>unsigned </a:t>
            </a:r>
            <a:r>
              <a:rPr lang="en-US" altLang="ko-KR" sz="1200">
                <a:latin typeface="+mn-ea"/>
              </a:rPr>
              <a:t>char </a:t>
            </a:r>
            <a:r>
              <a:rPr lang="en-US" altLang="ko-KR" sz="1200" smtClean="0">
                <a:solidFill>
                  <a:srgbClr val="FF0000"/>
                </a:solidFill>
                <a:latin typeface="+mn-ea"/>
              </a:rPr>
              <a:t>enc[2048]={</a:t>
            </a:r>
            <a:r>
              <a:rPr lang="en-US" altLang="ko-KR" sz="1200" dirty="0">
                <a:solidFill>
                  <a:srgbClr val="FF0000"/>
                </a:solidFill>
                <a:latin typeface="+mn-ea"/>
              </a:rPr>
              <a:t>0,}</a:t>
            </a:r>
            <a:r>
              <a:rPr lang="en-US" altLang="ko-KR" sz="1200" dirty="0">
                <a:latin typeface="+mn-ea"/>
              </a:rPr>
              <a:t>, </a:t>
            </a:r>
            <a:r>
              <a:rPr lang="en-US" altLang="ko-KR" sz="1200" dirty="0" err="1">
                <a:latin typeface="+mn-ea"/>
              </a:rPr>
              <a:t>dec</a:t>
            </a:r>
            <a:r>
              <a:rPr lang="en-US" altLang="ko-KR" sz="1200" dirty="0">
                <a:latin typeface="+mn-ea"/>
              </a:rPr>
              <a:t>[1024]={0,}, plain[1024]={</a:t>
            </a:r>
            <a:r>
              <a:rPr lang="en-US" altLang="ko-KR" sz="1200">
                <a:latin typeface="+mn-ea"/>
              </a:rPr>
              <a:t>0</a:t>
            </a:r>
            <a:r>
              <a:rPr lang="en-US" altLang="ko-KR" sz="1200" smtClean="0">
                <a:latin typeface="+mn-ea"/>
              </a:rPr>
              <a:t>,};</a:t>
            </a:r>
          </a:p>
          <a:p>
            <a:pPr>
              <a:lnSpc>
                <a:spcPct val="150000"/>
              </a:lnSpc>
            </a:pPr>
            <a:r>
              <a:rPr lang="en-US" altLang="ko-KR" sz="1200">
                <a:latin typeface="+mn-ea"/>
              </a:rPr>
              <a:t> </a:t>
            </a:r>
            <a:r>
              <a:rPr lang="en-US" altLang="ko-KR" sz="1200" smtClean="0">
                <a:latin typeface="+mn-ea"/>
              </a:rPr>
              <a:t>  </a:t>
            </a:r>
            <a:r>
              <a:rPr lang="en-US" altLang="ko-KR" sz="1200" smtClean="0">
                <a:solidFill>
                  <a:srgbClr val="FF0000"/>
                </a:solidFill>
                <a:latin typeface="+mn-ea"/>
              </a:rPr>
              <a:t>/* </a:t>
            </a:r>
            <a:r>
              <a:rPr lang="ko-KR" altLang="en-US" sz="1200" smtClean="0">
                <a:solidFill>
                  <a:srgbClr val="FF0000"/>
                </a:solidFill>
                <a:latin typeface="+mn-ea"/>
              </a:rPr>
              <a:t>입력되는 평문보다 암호화되는 문자열이 크므로 자리수를 반드시 확인해야 함</a:t>
            </a:r>
            <a:r>
              <a:rPr lang="en-US" altLang="ko-KR" sz="1200" smtClean="0">
                <a:solidFill>
                  <a:srgbClr val="FF0000"/>
                </a:solidFill>
                <a:latin typeface="+mn-ea"/>
              </a:rPr>
              <a:t>. </a:t>
            </a:r>
            <a:r>
              <a:rPr lang="ko-KR" altLang="en-US" sz="1200" smtClean="0">
                <a:solidFill>
                  <a:srgbClr val="FF0000"/>
                </a:solidFill>
                <a:latin typeface="+mn-ea"/>
              </a:rPr>
              <a:t>그렇지 않을 경우 </a:t>
            </a:r>
            <a:r>
              <a:rPr lang="en-US" altLang="ko-KR" sz="1200" smtClean="0">
                <a:solidFill>
                  <a:srgbClr val="FF0000"/>
                </a:solidFill>
                <a:latin typeface="+mn-ea"/>
              </a:rPr>
              <a:t>“201” </a:t>
            </a:r>
            <a:r>
              <a:rPr lang="ko-KR" altLang="en-US" sz="1200" smtClean="0">
                <a:solidFill>
                  <a:srgbClr val="FF0000"/>
                </a:solidFill>
                <a:latin typeface="+mn-ea"/>
              </a:rPr>
              <a:t>에러 발생 </a:t>
            </a:r>
            <a:r>
              <a:rPr lang="en-US" altLang="ko-KR" sz="1200" smtClean="0">
                <a:solidFill>
                  <a:srgbClr val="FF0000"/>
                </a:solidFill>
                <a:latin typeface="+mn-ea"/>
              </a:rPr>
              <a:t>*/</a:t>
            </a:r>
            <a:endParaRPr lang="en-US" altLang="ko-KR" sz="1200" dirty="0">
              <a:solidFill>
                <a:srgbClr val="FF0000"/>
              </a:solidFill>
              <a:latin typeface="+mn-ea"/>
            </a:endParaRPr>
          </a:p>
          <a:p>
            <a:pPr>
              <a:lnSpc>
                <a:spcPct val="150000"/>
              </a:lnSpc>
            </a:pPr>
            <a:r>
              <a:rPr lang="en-US" altLang="ko-KR" sz="1200" dirty="0" smtClean="0">
                <a:latin typeface="+mn-ea"/>
              </a:rPr>
              <a:t>    </a:t>
            </a:r>
            <a:r>
              <a:rPr lang="en-US" altLang="ko-KR" sz="1200" dirty="0">
                <a:latin typeface="+mn-ea"/>
              </a:rPr>
              <a:t>unsigned </a:t>
            </a:r>
            <a:r>
              <a:rPr lang="en-US" altLang="ko-KR" sz="1200" dirty="0" err="1">
                <a:latin typeface="+mn-ea"/>
              </a:rPr>
              <a:t>int</a:t>
            </a:r>
            <a:r>
              <a:rPr lang="en-US" altLang="ko-KR" sz="1200" dirty="0">
                <a:latin typeface="+mn-ea"/>
              </a:rPr>
              <a:t> </a:t>
            </a:r>
            <a:r>
              <a:rPr lang="en-US" altLang="ko-KR" sz="1200" dirty="0" err="1">
                <a:latin typeface="+mn-ea"/>
              </a:rPr>
              <a:t>encLen</a:t>
            </a:r>
            <a:r>
              <a:rPr lang="en-US" altLang="ko-KR" sz="1200" dirty="0">
                <a:latin typeface="+mn-ea"/>
              </a:rPr>
              <a:t>=0, </a:t>
            </a:r>
            <a:r>
              <a:rPr lang="en-US" altLang="ko-KR" sz="1200" dirty="0" err="1">
                <a:latin typeface="+mn-ea"/>
              </a:rPr>
              <a:t>decLen</a:t>
            </a:r>
            <a:r>
              <a:rPr lang="en-US" altLang="ko-KR" sz="1200" dirty="0">
                <a:latin typeface="+mn-ea"/>
              </a:rPr>
              <a:t>=0, </a:t>
            </a:r>
            <a:r>
              <a:rPr lang="en-US" altLang="ko-KR" sz="1200" dirty="0" err="1">
                <a:latin typeface="+mn-ea"/>
              </a:rPr>
              <a:t>plainLen</a:t>
            </a:r>
            <a:r>
              <a:rPr lang="en-US" altLang="ko-KR" sz="1200" dirty="0">
                <a:latin typeface="+mn-ea"/>
              </a:rPr>
              <a:t>=0;</a:t>
            </a:r>
          </a:p>
          <a:p>
            <a:pPr>
              <a:lnSpc>
                <a:spcPct val="150000"/>
              </a:lnSpc>
            </a:pPr>
            <a:r>
              <a:rPr lang="en-US" altLang="ko-KR" sz="1200" dirty="0" smtClean="0">
                <a:latin typeface="+mn-ea"/>
              </a:rPr>
              <a:t>    </a:t>
            </a:r>
            <a:r>
              <a:rPr lang="en-US" altLang="ko-KR" sz="1200" dirty="0">
                <a:latin typeface="+mn-ea"/>
              </a:rPr>
              <a:t>char </a:t>
            </a:r>
            <a:r>
              <a:rPr lang="en-US" altLang="ko-KR" sz="1200" dirty="0" err="1">
                <a:latin typeface="+mn-ea"/>
              </a:rPr>
              <a:t>outContextStr</a:t>
            </a:r>
            <a:r>
              <a:rPr lang="en-US" altLang="ko-KR" sz="1200" dirty="0">
                <a:latin typeface="+mn-ea"/>
              </a:rPr>
              <a:t>[256]={0};</a:t>
            </a:r>
          </a:p>
          <a:p>
            <a:pPr>
              <a:lnSpc>
                <a:spcPct val="150000"/>
              </a:lnSpc>
            </a:pPr>
            <a:r>
              <a:rPr lang="en-US" altLang="ko-KR" sz="1200" dirty="0" smtClean="0">
                <a:latin typeface="+mn-ea"/>
              </a:rPr>
              <a:t>    </a:t>
            </a:r>
            <a:r>
              <a:rPr lang="en-US" altLang="ko-KR" sz="1200" dirty="0">
                <a:latin typeface="+mn-ea"/>
              </a:rPr>
              <a:t>unsigned </a:t>
            </a:r>
            <a:r>
              <a:rPr lang="en-US" altLang="ko-KR" sz="1200" dirty="0" err="1">
                <a:latin typeface="+mn-ea"/>
              </a:rPr>
              <a:t>int</a:t>
            </a:r>
            <a:r>
              <a:rPr lang="en-US" altLang="ko-KR" sz="1200" dirty="0">
                <a:latin typeface="+mn-ea"/>
              </a:rPr>
              <a:t> </a:t>
            </a:r>
            <a:r>
              <a:rPr lang="en-US" altLang="ko-KR" sz="1200" dirty="0" err="1">
                <a:latin typeface="+mn-ea"/>
              </a:rPr>
              <a:t>outContextStrLen</a:t>
            </a:r>
            <a:r>
              <a:rPr lang="en-US" altLang="ko-KR" sz="1200" dirty="0">
                <a:latin typeface="+mn-ea"/>
              </a:rPr>
              <a:t>;</a:t>
            </a:r>
            <a:endParaRPr lang="en-US" altLang="ko-KR" sz="1200" dirty="0" smtClean="0">
              <a:latin typeface="+mn-ea"/>
            </a:endParaRPr>
          </a:p>
        </p:txBody>
      </p:sp>
      <p:sp>
        <p:nvSpPr>
          <p:cNvPr id="11" name="TextBox 10"/>
          <p:cNvSpPr txBox="1"/>
          <p:nvPr/>
        </p:nvSpPr>
        <p:spPr>
          <a:xfrm>
            <a:off x="1080167" y="4557898"/>
            <a:ext cx="5760680" cy="1200329"/>
          </a:xfrm>
          <a:prstGeom prst="rect">
            <a:avLst/>
          </a:prstGeom>
          <a:noFill/>
        </p:spPr>
        <p:txBody>
          <a:bodyPr wrap="none" rtlCol="0">
            <a:spAutoFit/>
          </a:bodyPr>
          <a:lstStyle/>
          <a:p>
            <a:pPr>
              <a:lnSpc>
                <a:spcPct val="150000"/>
              </a:lnSpc>
            </a:pPr>
            <a:r>
              <a:rPr lang="ko-KR" altLang="en-US" sz="1200" dirty="0" smtClean="0">
                <a:latin typeface="+mn-ea"/>
              </a:rPr>
              <a:t>③ 설정파일의 경로를 지정한다</a:t>
            </a:r>
            <a:r>
              <a:rPr lang="en-US" altLang="ko-KR" sz="1200" dirty="0" smtClean="0">
                <a:latin typeface="+mn-ea"/>
              </a:rPr>
              <a:t>.</a:t>
            </a:r>
          </a:p>
          <a:p>
            <a:pPr>
              <a:lnSpc>
                <a:spcPct val="150000"/>
              </a:lnSpc>
            </a:pPr>
            <a:r>
              <a:rPr lang="en-US" altLang="ko-KR" sz="1200" dirty="0" smtClean="0">
                <a:latin typeface="+mn-ea"/>
              </a:rPr>
              <a:t>    </a:t>
            </a:r>
            <a:r>
              <a:rPr lang="en-US" altLang="ko-KR" sz="1200" dirty="0">
                <a:latin typeface="+mn-ea"/>
              </a:rPr>
              <a:t>/* DAMO SCP </a:t>
            </a:r>
            <a:r>
              <a:rPr lang="en-US" altLang="ko-KR" sz="1200" dirty="0" smtClean="0">
                <a:latin typeface="+mn-ea"/>
              </a:rPr>
              <a:t>API </a:t>
            </a:r>
            <a:r>
              <a:rPr lang="ko-KR" altLang="en-US" sz="1200" dirty="0" smtClean="0">
                <a:latin typeface="+mn-ea"/>
              </a:rPr>
              <a:t>설정 </a:t>
            </a:r>
            <a:r>
              <a:rPr lang="ko-KR" altLang="en-US" sz="1200" dirty="0">
                <a:latin typeface="+mn-ea"/>
              </a:rPr>
              <a:t>파일과 </a:t>
            </a:r>
            <a:r>
              <a:rPr lang="ko-KR" altLang="en-US" sz="1200" dirty="0" smtClean="0">
                <a:latin typeface="+mn-ea"/>
              </a:rPr>
              <a:t>키 파일의 </a:t>
            </a:r>
            <a:r>
              <a:rPr lang="ko-KR" altLang="en-US" sz="1200" dirty="0">
                <a:latin typeface="+mn-ea"/>
              </a:rPr>
              <a:t>풀 패스 </a:t>
            </a:r>
            <a:r>
              <a:rPr lang="ko-KR" altLang="en-US" sz="1200" dirty="0" smtClean="0">
                <a:latin typeface="+mn-ea"/>
              </a:rPr>
              <a:t>*</a:t>
            </a:r>
            <a:r>
              <a:rPr lang="en-US" altLang="ko-KR" sz="1200" dirty="0" smtClean="0">
                <a:latin typeface="+mn-ea"/>
              </a:rPr>
              <a:t>/</a:t>
            </a:r>
          </a:p>
          <a:p>
            <a:pPr>
              <a:lnSpc>
                <a:spcPct val="150000"/>
              </a:lnSpc>
            </a:pPr>
            <a:r>
              <a:rPr lang="en-US" altLang="ko-KR" sz="1200" dirty="0" smtClean="0"/>
              <a:t>    char *</a:t>
            </a:r>
            <a:r>
              <a:rPr lang="en-US" altLang="ko-KR" sz="1200" dirty="0" err="1" smtClean="0"/>
              <a:t>iniFilePath</a:t>
            </a:r>
            <a:r>
              <a:rPr lang="en-US" altLang="ko-KR" sz="1200" dirty="0" smtClean="0"/>
              <a:t> </a:t>
            </a:r>
            <a:r>
              <a:rPr lang="en-US" altLang="ko-KR" sz="1200" dirty="0"/>
              <a:t>= “C:/BASCP/scpdb_agent.ini"; </a:t>
            </a:r>
            <a:r>
              <a:rPr lang="en-US" altLang="ko-KR" sz="1200" dirty="0" smtClean="0"/>
              <a:t>//</a:t>
            </a:r>
            <a:r>
              <a:rPr lang="ko-KR" altLang="en-US" sz="1200" dirty="0"/>
              <a:t> </a:t>
            </a:r>
            <a:r>
              <a:rPr lang="ko-KR" altLang="en-US" sz="1200" dirty="0" smtClean="0"/>
              <a:t>개발자</a:t>
            </a:r>
            <a:r>
              <a:rPr lang="en-US" altLang="ko-KR" sz="1200" dirty="0" smtClean="0"/>
              <a:t>PC </a:t>
            </a:r>
            <a:r>
              <a:rPr lang="ko-KR" altLang="en-US" sz="1200" dirty="0" smtClean="0"/>
              <a:t>일 경우</a:t>
            </a:r>
            <a:endParaRPr lang="en-US" altLang="ko-KR" sz="1200" dirty="0">
              <a:latin typeface="+mn-ea"/>
            </a:endParaRPr>
          </a:p>
          <a:p>
            <a:pPr>
              <a:lnSpc>
                <a:spcPct val="150000"/>
              </a:lnSpc>
            </a:pPr>
            <a:r>
              <a:rPr lang="en-US" altLang="ko-KR" sz="1200" dirty="0" smtClean="0">
                <a:latin typeface="+mn-ea"/>
              </a:rPr>
              <a:t>    </a:t>
            </a:r>
            <a:r>
              <a:rPr lang="en-US" altLang="ko-KR" sz="1200" dirty="0">
                <a:latin typeface="+mn-ea"/>
              </a:rPr>
              <a:t>char *</a:t>
            </a:r>
            <a:r>
              <a:rPr lang="en-US" altLang="ko-KR" sz="1200" dirty="0" err="1">
                <a:latin typeface="+mn-ea"/>
              </a:rPr>
              <a:t>iniFilePath</a:t>
            </a:r>
            <a:r>
              <a:rPr lang="en-US" altLang="ko-KR" sz="1200" dirty="0">
                <a:latin typeface="+mn-ea"/>
              </a:rPr>
              <a:t> = </a:t>
            </a:r>
            <a:r>
              <a:rPr lang="en-US" altLang="ko-KR" sz="1200" dirty="0" smtClean="0">
                <a:latin typeface="+mn-ea"/>
              </a:rPr>
              <a:t>＂</a:t>
            </a:r>
            <a:r>
              <a:rPr lang="en-US" altLang="ko-KR" sz="1200" dirty="0" smtClean="0"/>
              <a:t>/</a:t>
            </a:r>
            <a:r>
              <a:rPr lang="en-US" altLang="ko-KR" sz="1200" dirty="0" err="1" smtClean="0"/>
              <a:t>fsscp</a:t>
            </a:r>
            <a:r>
              <a:rPr lang="en-US" altLang="ko-KR" sz="1200" dirty="0" smtClean="0"/>
              <a:t>/</a:t>
            </a:r>
            <a:r>
              <a:rPr lang="en-US" altLang="ko-KR" sz="1200" dirty="0" err="1" smtClean="0"/>
              <a:t>pav</a:t>
            </a:r>
            <a:r>
              <a:rPr lang="en-US" altLang="ko-KR" sz="1200" dirty="0" smtClean="0"/>
              <a:t>/agent/scpdb_agent_unix.ini</a:t>
            </a:r>
            <a:r>
              <a:rPr lang="en-US" altLang="ko-KR" sz="1200" dirty="0" smtClean="0">
                <a:latin typeface="+mn-ea"/>
              </a:rPr>
              <a:t>＂; //</a:t>
            </a:r>
            <a:r>
              <a:rPr lang="ko-KR" altLang="en-US" sz="1200" dirty="0" smtClean="0">
                <a:latin typeface="+mn-ea"/>
              </a:rPr>
              <a:t>서버일 경우</a:t>
            </a:r>
            <a:endParaRPr lang="en-US" altLang="ko-KR" sz="1200" dirty="0" smtClean="0">
              <a:latin typeface="+mn-ea"/>
            </a:endParaRPr>
          </a:p>
        </p:txBody>
      </p:sp>
    </p:spTree>
    <p:extLst>
      <p:ext uri="{BB962C8B-B14F-4D97-AF65-F5344CB8AC3E}">
        <p14:creationId xmlns:p14="http://schemas.microsoft.com/office/powerpoint/2010/main" val="21267501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ko-KR" altLang="en-US" smtClean="0"/>
              <a:t>첨부</a:t>
            </a:r>
            <a:r>
              <a:rPr lang="en-US" altLang="ko-KR" smtClean="0"/>
              <a:t>3</a:t>
            </a:r>
            <a:r>
              <a:rPr lang="en-US" altLang="ko-KR"/>
              <a:t>. </a:t>
            </a:r>
            <a:r>
              <a:rPr lang="ko-KR" altLang="en-US"/>
              <a:t>암</a:t>
            </a:r>
            <a:r>
              <a:rPr lang="en-US" altLang="ko-KR"/>
              <a:t>·</a:t>
            </a:r>
            <a:r>
              <a:rPr lang="ko-KR" altLang="en-US"/>
              <a:t>복호함수 </a:t>
            </a:r>
            <a:r>
              <a:rPr lang="ko-KR" altLang="en-US" smtClean="0"/>
              <a:t>적용가이드</a:t>
            </a:r>
            <a:r>
              <a:rPr lang="en-US" altLang="ko-KR" smtClean="0"/>
              <a:t>(8/8)</a:t>
            </a:r>
            <a:endParaRPr lang="ko-KR" altLang="en-US" dirty="0"/>
          </a:p>
        </p:txBody>
      </p:sp>
      <p:sp>
        <p:nvSpPr>
          <p:cNvPr id="96" name="Rectangle 3"/>
          <p:cNvSpPr>
            <a:spLocks noChangeArrowheads="1"/>
          </p:cNvSpPr>
          <p:nvPr/>
        </p:nvSpPr>
        <p:spPr bwMode="auto">
          <a:xfrm>
            <a:off x="308484" y="764704"/>
            <a:ext cx="9144000" cy="351186"/>
          </a:xfrm>
          <a:prstGeom prst="rect">
            <a:avLst/>
          </a:prstGeom>
          <a:noFill/>
          <a:ln w="9525" algn="ctr">
            <a:noFill/>
            <a:miter lim="800000"/>
            <a:headEnd/>
            <a:tailEnd/>
          </a:ln>
          <a:effectLst/>
        </p:spPr>
        <p:txBody>
          <a:bodyPr>
            <a:spAutoFit/>
          </a:bodyPr>
          <a:lstStyle/>
          <a:p>
            <a:pPr marL="269875" indent="-269875">
              <a:lnSpc>
                <a:spcPct val="130000"/>
              </a:lnSpc>
              <a:spcBef>
                <a:spcPct val="20000"/>
              </a:spcBef>
              <a:buSzPct val="100000"/>
              <a:buFont typeface="Wingdings" pitchFamily="2" charset="2"/>
              <a:buChar char="q"/>
            </a:pPr>
            <a:r>
              <a:rPr lang="ko-KR" altLang="en-US" sz="1400" b="1" smtClean="0">
                <a:latin typeface="KB금융 본문체 Light" panose="020B0303000000000000" pitchFamily="50" charset="-127"/>
                <a:ea typeface="KB금융 본문체 Light" panose="020B0303000000000000" pitchFamily="50" charset="-127"/>
                <a:cs typeface="ヒラギノ角ゴ ProN W3"/>
              </a:rPr>
              <a:t>코딩 가이드</a:t>
            </a:r>
            <a:endParaRPr lang="en-US" altLang="ko-KR" sz="1400" b="1" dirty="0" smtClean="0">
              <a:latin typeface="KB금융 본문체 Light" panose="020B0303000000000000" pitchFamily="50" charset="-127"/>
              <a:ea typeface="KB금융 본문체 Light" panose="020B0303000000000000" pitchFamily="50" charset="-127"/>
              <a:cs typeface="ヒラギノ角ゴ ProN W3"/>
            </a:endParaRPr>
          </a:p>
        </p:txBody>
      </p:sp>
      <p:sp>
        <p:nvSpPr>
          <p:cNvPr id="97" name="Rectangle 3"/>
          <p:cNvSpPr>
            <a:spLocks noChangeArrowheads="1"/>
          </p:cNvSpPr>
          <p:nvPr/>
        </p:nvSpPr>
        <p:spPr bwMode="auto">
          <a:xfrm>
            <a:off x="699993" y="1142438"/>
            <a:ext cx="8753507" cy="314189"/>
          </a:xfrm>
          <a:prstGeom prst="rect">
            <a:avLst/>
          </a:prstGeom>
          <a:noFill/>
          <a:ln w="9525" algn="ctr">
            <a:noFill/>
            <a:miter lim="800000"/>
            <a:headEnd/>
            <a:tailEnd/>
          </a:ln>
          <a:effectLst/>
        </p:spPr>
        <p:txBody>
          <a:bodyPr>
            <a:spAutoFit/>
          </a:bodyPr>
          <a:lstStyle/>
          <a:p>
            <a:pPr marL="285750" indent="-285750">
              <a:lnSpc>
                <a:spcPct val="130000"/>
              </a:lnSpc>
              <a:spcBef>
                <a:spcPct val="20000"/>
              </a:spcBef>
              <a:buSzPct val="100000"/>
              <a:buFont typeface="Wingdings" panose="05000000000000000000" pitchFamily="2" charset="2"/>
              <a:buChar char="l"/>
            </a:pPr>
            <a:r>
              <a:rPr lang="en-US" altLang="ko-KR" sz="1200" smtClean="0">
                <a:latin typeface="KB금융 본문체 Light" panose="020B0303000000000000" pitchFamily="50" charset="-127"/>
                <a:ea typeface="KB금융 본문체 Light" panose="020B0303000000000000" pitchFamily="50" charset="-127"/>
                <a:cs typeface="ヒラギノ角ゴ ProN W3"/>
              </a:rPr>
              <a:t>C</a:t>
            </a:r>
          </a:p>
        </p:txBody>
      </p:sp>
      <p:cxnSp>
        <p:nvCxnSpPr>
          <p:cNvPr id="102" name="직선 연결선 101"/>
          <p:cNvCxnSpPr/>
          <p:nvPr/>
        </p:nvCxnSpPr>
        <p:spPr>
          <a:xfrm>
            <a:off x="452500" y="6361950"/>
            <a:ext cx="1366760" cy="0"/>
          </a:xfrm>
          <a:prstGeom prst="line">
            <a:avLst/>
          </a:prstGeom>
          <a:ln w="6350" cap="flat">
            <a:solidFill>
              <a:schemeClr val="bg1">
                <a:lumMod val="5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084079" y="1465406"/>
            <a:ext cx="8244783" cy="1477328"/>
          </a:xfrm>
          <a:prstGeom prst="rect">
            <a:avLst/>
          </a:prstGeom>
          <a:noFill/>
        </p:spPr>
        <p:txBody>
          <a:bodyPr wrap="square" rtlCol="0">
            <a:spAutoFit/>
          </a:bodyPr>
          <a:lstStyle/>
          <a:p>
            <a:pPr>
              <a:lnSpc>
                <a:spcPct val="150000"/>
              </a:lnSpc>
            </a:pPr>
            <a:r>
              <a:rPr lang="ko-KR" altLang="en-US" sz="1200" dirty="0"/>
              <a:t>⑤</a:t>
            </a:r>
            <a:r>
              <a:rPr lang="ko-KR" altLang="en-US" sz="1200" dirty="0" smtClean="0"/>
              <a:t> 파일 암</a:t>
            </a:r>
            <a:r>
              <a:rPr lang="en-US" altLang="ko-KR" sz="1200" dirty="0" smtClean="0"/>
              <a:t> </a:t>
            </a:r>
            <a:r>
              <a:rPr lang="en-US" altLang="ko-KR" sz="1200" dirty="0"/>
              <a:t>· </a:t>
            </a:r>
            <a:r>
              <a:rPr lang="ko-KR" altLang="en-US" sz="1200" dirty="0" err="1" smtClean="0"/>
              <a:t>복호화</a:t>
            </a:r>
            <a:r>
              <a:rPr lang="ko-KR" altLang="en-US" sz="1200" dirty="0" smtClean="0"/>
              <a:t> 함수를 호출한다</a:t>
            </a:r>
            <a:r>
              <a:rPr lang="en-US" altLang="ko-KR" sz="1200" dirty="0" smtClean="0"/>
              <a:t>.</a:t>
            </a:r>
          </a:p>
          <a:p>
            <a:pPr>
              <a:lnSpc>
                <a:spcPct val="150000"/>
              </a:lnSpc>
            </a:pPr>
            <a:r>
              <a:rPr lang="en-US" altLang="ko-KR" sz="1200" dirty="0" smtClean="0">
                <a:solidFill>
                  <a:srgbClr val="FF0000"/>
                </a:solidFill>
              </a:rPr>
              <a:t>   /* </a:t>
            </a:r>
            <a:r>
              <a:rPr lang="ko-KR" altLang="en-US" sz="1200" dirty="0">
                <a:solidFill>
                  <a:srgbClr val="FF0000"/>
                </a:solidFill>
              </a:rPr>
              <a:t>암호화 파일과 </a:t>
            </a:r>
            <a:r>
              <a:rPr lang="ko-KR" altLang="en-US" sz="1200" dirty="0" err="1">
                <a:solidFill>
                  <a:srgbClr val="FF0000"/>
                </a:solidFill>
              </a:rPr>
              <a:t>복호화</a:t>
            </a:r>
            <a:r>
              <a:rPr lang="ko-KR" altLang="en-US" sz="1200" dirty="0">
                <a:solidFill>
                  <a:srgbClr val="FF0000"/>
                </a:solidFill>
              </a:rPr>
              <a:t> 파일명은 서로 달라야 함 </a:t>
            </a:r>
            <a:r>
              <a:rPr lang="en-US" altLang="ko-KR" sz="1200" dirty="0" smtClean="0">
                <a:solidFill>
                  <a:srgbClr val="FF0000"/>
                </a:solidFill>
              </a:rPr>
              <a:t>*/</a:t>
            </a:r>
          </a:p>
          <a:p>
            <a:pPr>
              <a:lnSpc>
                <a:spcPct val="150000"/>
              </a:lnSpc>
            </a:pPr>
            <a:r>
              <a:rPr lang="en-US" altLang="ko-KR" sz="1200" dirty="0">
                <a:solidFill>
                  <a:srgbClr val="FF0000"/>
                </a:solidFill>
              </a:rPr>
              <a:t> </a:t>
            </a:r>
            <a:r>
              <a:rPr lang="en-US" altLang="ko-KR" sz="1200" dirty="0" smtClean="0">
                <a:solidFill>
                  <a:srgbClr val="FF0000"/>
                </a:solidFill>
              </a:rPr>
              <a:t>  /* </a:t>
            </a:r>
            <a:r>
              <a:rPr lang="ko-KR" altLang="en-US" sz="1200" dirty="0" smtClean="0">
                <a:solidFill>
                  <a:srgbClr val="FF0000"/>
                </a:solidFill>
              </a:rPr>
              <a:t>암호화할 대상 파일</a:t>
            </a:r>
            <a:r>
              <a:rPr lang="en-US" altLang="ko-KR" sz="1200" dirty="0" smtClean="0">
                <a:solidFill>
                  <a:srgbClr val="FF0000"/>
                </a:solidFill>
              </a:rPr>
              <a:t>(</a:t>
            </a:r>
            <a:r>
              <a:rPr lang="ko-KR" altLang="en-US" sz="1200" dirty="0" smtClean="0">
                <a:solidFill>
                  <a:srgbClr val="FF0000"/>
                </a:solidFill>
              </a:rPr>
              <a:t>원본파일</a:t>
            </a:r>
            <a:r>
              <a:rPr lang="en-US" altLang="ko-KR" sz="1200" dirty="0" smtClean="0">
                <a:solidFill>
                  <a:srgbClr val="FF0000"/>
                </a:solidFill>
              </a:rPr>
              <a:t>)</a:t>
            </a:r>
            <a:r>
              <a:rPr lang="ko-KR" altLang="en-US" sz="1200" dirty="0" smtClean="0">
                <a:solidFill>
                  <a:srgbClr val="FF0000"/>
                </a:solidFill>
              </a:rPr>
              <a:t>은 </a:t>
            </a:r>
            <a:r>
              <a:rPr lang="en-US" altLang="ko-KR" sz="1200" dirty="0" smtClean="0">
                <a:solidFill>
                  <a:srgbClr val="FF0000"/>
                </a:solidFill>
              </a:rPr>
              <a:t>KB</a:t>
            </a:r>
            <a:r>
              <a:rPr lang="ko-KR" altLang="en-US" sz="1200" dirty="0" smtClean="0">
                <a:solidFill>
                  <a:srgbClr val="FF0000"/>
                </a:solidFill>
              </a:rPr>
              <a:t>에서 사용하는 </a:t>
            </a:r>
            <a:r>
              <a:rPr lang="en-US" altLang="ko-KR" sz="1200" dirty="0" smtClean="0">
                <a:solidFill>
                  <a:srgbClr val="FF0000"/>
                </a:solidFill>
              </a:rPr>
              <a:t>DRM </a:t>
            </a:r>
            <a:r>
              <a:rPr lang="ko-KR" altLang="en-US" sz="1200" dirty="0" smtClean="0">
                <a:solidFill>
                  <a:srgbClr val="FF0000"/>
                </a:solidFill>
              </a:rPr>
              <a:t>이 걸려있지 않은 상태이어야 한다 </a:t>
            </a:r>
            <a:r>
              <a:rPr lang="en-US" altLang="ko-KR" sz="1200" dirty="0" smtClean="0">
                <a:solidFill>
                  <a:srgbClr val="FF0000"/>
                </a:solidFill>
              </a:rPr>
              <a:t>*/</a:t>
            </a:r>
            <a:endParaRPr lang="en-US" altLang="ko-KR" sz="1200" dirty="0">
              <a:solidFill>
                <a:srgbClr val="FF0000"/>
              </a:solidFill>
            </a:endParaRPr>
          </a:p>
          <a:p>
            <a:pPr>
              <a:lnSpc>
                <a:spcPct val="150000"/>
              </a:lnSpc>
            </a:pPr>
            <a:r>
              <a:rPr lang="en-US" altLang="ko-KR" sz="1200" dirty="0" smtClean="0"/>
              <a:t>    </a:t>
            </a:r>
            <a:r>
              <a:rPr lang="en-US" altLang="ko-KR" sz="1200" dirty="0"/>
              <a:t>ret = </a:t>
            </a:r>
            <a:r>
              <a:rPr lang="en-US" altLang="ko-KR" sz="1200" dirty="0" err="1"/>
              <a:t>SCP_EncFile</a:t>
            </a:r>
            <a:r>
              <a:rPr lang="en-US" altLang="ko-KR" sz="1200" dirty="0"/>
              <a:t>( </a:t>
            </a:r>
            <a:r>
              <a:rPr lang="en-US" altLang="ko-KR" sz="1200" dirty="0" err="1"/>
              <a:t>iniFilePath</a:t>
            </a:r>
            <a:r>
              <a:rPr lang="en-US" altLang="ko-KR" sz="1200" dirty="0"/>
              <a:t>, </a:t>
            </a:r>
            <a:r>
              <a:rPr lang="en-US" altLang="ko-KR" sz="1200" dirty="0" smtClean="0"/>
              <a:t>“SEC", </a:t>
            </a:r>
            <a:r>
              <a:rPr lang="ko-KR" altLang="en-US" sz="1200" dirty="0"/>
              <a:t>“암호화 대상 파일명”</a:t>
            </a:r>
            <a:r>
              <a:rPr lang="en-US" altLang="ko-KR" sz="1200" dirty="0"/>
              <a:t>, “</a:t>
            </a:r>
            <a:r>
              <a:rPr lang="ko-KR" altLang="en-US" sz="1200" dirty="0"/>
              <a:t>암호화 파일명”</a:t>
            </a:r>
            <a:r>
              <a:rPr lang="en-US" altLang="ko-KR" sz="1200" dirty="0" smtClean="0"/>
              <a:t>);  // </a:t>
            </a:r>
            <a:r>
              <a:rPr lang="ko-KR" altLang="en-US" sz="1200" dirty="0" smtClean="0"/>
              <a:t>암호화</a:t>
            </a:r>
            <a:endParaRPr lang="en-US" altLang="ko-KR" sz="1200" dirty="0"/>
          </a:p>
          <a:p>
            <a:pPr>
              <a:lnSpc>
                <a:spcPct val="150000"/>
              </a:lnSpc>
            </a:pPr>
            <a:r>
              <a:rPr lang="en-US" altLang="ko-KR" sz="1200" dirty="0" smtClean="0"/>
              <a:t>    ret </a:t>
            </a:r>
            <a:r>
              <a:rPr lang="en-US" altLang="ko-KR" sz="1200" dirty="0"/>
              <a:t>= </a:t>
            </a:r>
            <a:r>
              <a:rPr lang="en-US" altLang="ko-KR" sz="1200" dirty="0" err="1"/>
              <a:t>SCP_DecFile</a:t>
            </a:r>
            <a:r>
              <a:rPr lang="en-US" altLang="ko-KR" sz="1200" dirty="0"/>
              <a:t>( </a:t>
            </a:r>
            <a:r>
              <a:rPr lang="en-US" altLang="ko-KR" sz="1200" dirty="0" err="1"/>
              <a:t>iniFilePath</a:t>
            </a:r>
            <a:r>
              <a:rPr lang="en-US" altLang="ko-KR" sz="1200" dirty="0"/>
              <a:t>, </a:t>
            </a:r>
            <a:r>
              <a:rPr lang="en-US" altLang="ko-KR" sz="1200" dirty="0" smtClean="0"/>
              <a:t>“SEC", </a:t>
            </a:r>
            <a:r>
              <a:rPr lang="ko-KR" altLang="en-US" sz="1200" dirty="0"/>
              <a:t>“암호화 파일명”</a:t>
            </a:r>
            <a:r>
              <a:rPr lang="en-US" altLang="ko-KR" sz="1200" dirty="0"/>
              <a:t>, “</a:t>
            </a:r>
            <a:r>
              <a:rPr lang="ko-KR" altLang="en-US" sz="1200" dirty="0" err="1"/>
              <a:t>복호화</a:t>
            </a:r>
            <a:r>
              <a:rPr lang="ko-KR" altLang="en-US" sz="1200" dirty="0"/>
              <a:t> 파일명</a:t>
            </a:r>
            <a:r>
              <a:rPr lang="en-US" altLang="ko-KR" sz="1200" dirty="0"/>
              <a:t>");  </a:t>
            </a:r>
            <a:r>
              <a:rPr lang="en-US" altLang="ko-KR" sz="1200" dirty="0" smtClean="0"/>
              <a:t>// </a:t>
            </a:r>
            <a:r>
              <a:rPr lang="ko-KR" altLang="en-US" sz="1200" dirty="0" err="1" smtClean="0"/>
              <a:t>복호화</a:t>
            </a:r>
            <a:endParaRPr lang="en-US" altLang="ko-KR" sz="1200" dirty="0"/>
          </a:p>
        </p:txBody>
      </p:sp>
    </p:spTree>
    <p:extLst>
      <p:ext uri="{BB962C8B-B14F-4D97-AF65-F5344CB8AC3E}">
        <p14:creationId xmlns:p14="http://schemas.microsoft.com/office/powerpoint/2010/main" val="34310505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ko-KR" altLang="en-US" smtClean="0"/>
              <a:t>첨부</a:t>
            </a:r>
            <a:r>
              <a:rPr lang="en-US" altLang="ko-KR" smtClean="0"/>
              <a:t>4. </a:t>
            </a:r>
            <a:r>
              <a:rPr lang="ko-KR" altLang="en-US"/>
              <a:t>암</a:t>
            </a:r>
            <a:r>
              <a:rPr lang="en-US" altLang="ko-KR"/>
              <a:t>·</a:t>
            </a:r>
            <a:r>
              <a:rPr lang="ko-KR" altLang="en-US"/>
              <a:t>복호함수 </a:t>
            </a:r>
            <a:r>
              <a:rPr lang="ko-KR" altLang="en-US" smtClean="0"/>
              <a:t>에러코드</a:t>
            </a:r>
            <a:r>
              <a:rPr lang="en-US" altLang="ko-KR" smtClean="0"/>
              <a:t>(1/4)</a:t>
            </a:r>
            <a:endParaRPr lang="ko-KR" altLang="en-US" dirty="0"/>
          </a:p>
        </p:txBody>
      </p:sp>
      <p:cxnSp>
        <p:nvCxnSpPr>
          <p:cNvPr id="102" name="직선 연결선 101"/>
          <p:cNvCxnSpPr/>
          <p:nvPr/>
        </p:nvCxnSpPr>
        <p:spPr>
          <a:xfrm>
            <a:off x="452500" y="6361950"/>
            <a:ext cx="1366760" cy="0"/>
          </a:xfrm>
          <a:prstGeom prst="line">
            <a:avLst/>
          </a:prstGeom>
          <a:ln w="6350" cap="flat">
            <a:solidFill>
              <a:schemeClr val="bg1">
                <a:lumMod val="5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7" name="표 6"/>
          <p:cNvGraphicFramePr>
            <a:graphicFrameLocks noGrp="1"/>
          </p:cNvGraphicFramePr>
          <p:nvPr>
            <p:extLst>
              <p:ext uri="{D42A27DB-BD31-4B8C-83A1-F6EECF244321}">
                <p14:modId xmlns:p14="http://schemas.microsoft.com/office/powerpoint/2010/main" val="4276357291"/>
              </p:ext>
            </p:extLst>
          </p:nvPr>
        </p:nvGraphicFramePr>
        <p:xfrm>
          <a:off x="1138722" y="1213192"/>
          <a:ext cx="7558694" cy="5024120"/>
        </p:xfrm>
        <a:graphic>
          <a:graphicData uri="http://schemas.openxmlformats.org/drawingml/2006/table">
            <a:tbl>
              <a:tblPr>
                <a:tableStyleId>{073A0DAA-6AF3-43AB-8588-CEC1D06C72B9}</a:tableStyleId>
              </a:tblPr>
              <a:tblGrid>
                <a:gridCol w="1600808">
                  <a:extLst>
                    <a:ext uri="{9D8B030D-6E8A-4147-A177-3AD203B41FA5}">
                      <a16:colId xmlns:a16="http://schemas.microsoft.com/office/drawing/2014/main" val="20000"/>
                    </a:ext>
                  </a:extLst>
                </a:gridCol>
                <a:gridCol w="2978943">
                  <a:extLst>
                    <a:ext uri="{9D8B030D-6E8A-4147-A177-3AD203B41FA5}">
                      <a16:colId xmlns:a16="http://schemas.microsoft.com/office/drawing/2014/main" val="20001"/>
                    </a:ext>
                  </a:extLst>
                </a:gridCol>
                <a:gridCol w="2978943">
                  <a:extLst>
                    <a:ext uri="{9D8B030D-6E8A-4147-A177-3AD203B41FA5}">
                      <a16:colId xmlns:a16="http://schemas.microsoft.com/office/drawing/2014/main" val="20002"/>
                    </a:ext>
                  </a:extLst>
                </a:gridCol>
              </a:tblGrid>
              <a:tr h="0">
                <a:tc>
                  <a:txBody>
                    <a:bodyPr/>
                    <a:lstStyle/>
                    <a:p>
                      <a:pPr marL="63500" marR="63500" algn="ctr" defTabSz="914400" rtl="0" eaLnBrk="1" latinLnBrk="1" hangingPunct="1">
                        <a:lnSpc>
                          <a:spcPct val="115000"/>
                        </a:lnSpc>
                        <a:spcBef>
                          <a:spcPts val="300"/>
                        </a:spcBef>
                        <a:spcAft>
                          <a:spcPts val="300"/>
                        </a:spcAft>
                      </a:pPr>
                      <a:r>
                        <a:rPr lang="ko-KR" sz="1000" kern="1200" dirty="0">
                          <a:effectLst/>
                        </a:rPr>
                        <a:t>값</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ctr" defTabSz="914400" rtl="0" eaLnBrk="1" latinLnBrk="1" hangingPunct="1">
                        <a:lnSpc>
                          <a:spcPct val="115000"/>
                        </a:lnSpc>
                        <a:spcBef>
                          <a:spcPts val="300"/>
                        </a:spcBef>
                        <a:spcAft>
                          <a:spcPts val="300"/>
                        </a:spcAft>
                      </a:pPr>
                      <a:r>
                        <a:rPr lang="en-US" sz="1000" kern="1200" dirty="0">
                          <a:effectLst/>
                        </a:rPr>
                        <a:t>Error Code</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ctr" defTabSz="914400" rtl="0" eaLnBrk="1" latinLnBrk="1" hangingPunct="1">
                        <a:lnSpc>
                          <a:spcPct val="115000"/>
                        </a:lnSpc>
                        <a:spcBef>
                          <a:spcPts val="300"/>
                        </a:spcBef>
                        <a:spcAft>
                          <a:spcPts val="300"/>
                        </a:spcAft>
                      </a:pPr>
                      <a:r>
                        <a:rPr lang="ko-KR" sz="1000" kern="1200" dirty="0">
                          <a:effectLst/>
                        </a:rPr>
                        <a:t>설명</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0"/>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0</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a:effectLst/>
                        </a:rPr>
                        <a:t>SCPDB_SUCCESS</a:t>
                      </a:r>
                      <a:endParaRPr lang="ko-KR" sz="1000" kern="120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a:effectLst/>
                        </a:rPr>
                        <a:t>성공</a:t>
                      </a:r>
                      <a:endParaRPr lang="ko-KR" sz="1000" kern="120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1"/>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-1</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SCPDB_FAIL</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a:effectLst/>
                        </a:rPr>
                        <a:t>실패</a:t>
                      </a:r>
                      <a:endParaRPr lang="ko-KR" sz="1000" kern="120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2"/>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101</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SCPDB_ERR_NOT_INITIALIZED</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dirty="0">
                          <a:effectLst/>
                        </a:rPr>
                        <a:t>초기화 되지 않았다</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3"/>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104</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SCPDB_ERR_CONFIG_READ</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a:effectLst/>
                        </a:rPr>
                        <a:t>설정 파일에 필요 필드값이 없음</a:t>
                      </a:r>
                      <a:endParaRPr lang="ko-KR" sz="1000" kern="120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4"/>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105</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SCPDB_ERR_CONFIG</a:t>
                      </a:r>
                      <a:endParaRPr lang="ko-KR" sz="1000" kern="1200" dirty="0">
                        <a:effectLst/>
                      </a:endParaRPr>
                    </a:p>
                    <a:p>
                      <a:pPr marL="63500" marR="63500" algn="l" defTabSz="914400" rtl="0" eaLnBrk="1" latinLnBrk="1" hangingPunct="1">
                        <a:lnSpc>
                          <a:spcPct val="115000"/>
                        </a:lnSpc>
                        <a:spcBef>
                          <a:spcPts val="300"/>
                        </a:spcBef>
                        <a:spcAft>
                          <a:spcPts val="300"/>
                        </a:spcAft>
                      </a:pPr>
                      <a:r>
                        <a:rPr lang="en-US" sz="1000" kern="1200" dirty="0">
                          <a:effectLst/>
                        </a:rPr>
                        <a:t>_INVALID_SERVER_IP</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a:effectLst/>
                        </a:rPr>
                        <a:t>설정 파일에 잘못된 설정</a:t>
                      </a:r>
                      <a:endParaRPr lang="ko-KR" sz="1000" kern="120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5"/>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106</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SCPDB_ERR_CONFIG</a:t>
                      </a:r>
                      <a:endParaRPr lang="ko-KR" sz="1000" kern="1200" dirty="0">
                        <a:effectLst/>
                      </a:endParaRPr>
                    </a:p>
                    <a:p>
                      <a:pPr marL="63500" marR="63500" algn="l" defTabSz="914400" rtl="0" eaLnBrk="1" latinLnBrk="1" hangingPunct="1">
                        <a:lnSpc>
                          <a:spcPct val="115000"/>
                        </a:lnSpc>
                        <a:spcBef>
                          <a:spcPts val="300"/>
                        </a:spcBef>
                        <a:spcAft>
                          <a:spcPts val="300"/>
                        </a:spcAft>
                      </a:pPr>
                      <a:r>
                        <a:rPr lang="en-US" sz="1000" kern="1200" dirty="0">
                          <a:effectLst/>
                        </a:rPr>
                        <a:t>_INVALID_SERVER_PORT</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a:effectLst/>
                        </a:rPr>
                        <a:t>설정 파일에 잘못된 설정</a:t>
                      </a:r>
                      <a:endParaRPr lang="ko-KR" sz="1000" kern="120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6"/>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107</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SCPDB_ERR_CONFIG</a:t>
                      </a:r>
                      <a:endParaRPr lang="ko-KR" sz="1000" kern="1200" dirty="0">
                        <a:effectLst/>
                      </a:endParaRPr>
                    </a:p>
                    <a:p>
                      <a:pPr marL="63500" marR="63500" algn="l" defTabSz="914400" rtl="0" eaLnBrk="1" latinLnBrk="1" hangingPunct="1">
                        <a:lnSpc>
                          <a:spcPct val="115000"/>
                        </a:lnSpc>
                        <a:spcBef>
                          <a:spcPts val="300"/>
                        </a:spcBef>
                        <a:spcAft>
                          <a:spcPts val="300"/>
                        </a:spcAft>
                      </a:pPr>
                      <a:r>
                        <a:rPr lang="en-US" sz="1000" kern="1200" dirty="0">
                          <a:effectLst/>
                        </a:rPr>
                        <a:t>_INVALID_LICENSE_FILE_PATH</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a:effectLst/>
                        </a:rPr>
                        <a:t>설정 파일에 잘못된 설정</a:t>
                      </a:r>
                      <a:endParaRPr lang="ko-KR" sz="1000" kern="120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7"/>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108</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SCPDB_ERR_CONFIG</a:t>
                      </a:r>
                      <a:endParaRPr lang="ko-KR" sz="1000" kern="1200" dirty="0">
                        <a:effectLst/>
                      </a:endParaRPr>
                    </a:p>
                    <a:p>
                      <a:pPr marL="63500" marR="63500" algn="l" defTabSz="914400" rtl="0" eaLnBrk="1" latinLnBrk="1" hangingPunct="1">
                        <a:lnSpc>
                          <a:spcPct val="115000"/>
                        </a:lnSpc>
                        <a:spcBef>
                          <a:spcPts val="300"/>
                        </a:spcBef>
                        <a:spcAft>
                          <a:spcPts val="300"/>
                        </a:spcAft>
                      </a:pPr>
                      <a:r>
                        <a:rPr lang="en-US" sz="1000" kern="1200" dirty="0">
                          <a:effectLst/>
                        </a:rPr>
                        <a:t>_INVALID_LOG_DIR</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dirty="0">
                          <a:effectLst/>
                        </a:rPr>
                        <a:t>설정 파일에 잘못된 설정</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8"/>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109</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SCPDB_ERR_CONFIG</a:t>
                      </a:r>
                      <a:endParaRPr lang="ko-KR" sz="1000" kern="1200" dirty="0">
                        <a:effectLst/>
                      </a:endParaRPr>
                    </a:p>
                    <a:p>
                      <a:pPr marL="63500" marR="63500" algn="l" defTabSz="914400" rtl="0" eaLnBrk="1" latinLnBrk="1" hangingPunct="1">
                        <a:lnSpc>
                          <a:spcPct val="115000"/>
                        </a:lnSpc>
                        <a:spcBef>
                          <a:spcPts val="300"/>
                        </a:spcBef>
                        <a:spcAft>
                          <a:spcPts val="300"/>
                        </a:spcAft>
                      </a:pPr>
                      <a:r>
                        <a:rPr lang="en-US" sz="1000" kern="1200" dirty="0">
                          <a:effectLst/>
                        </a:rPr>
                        <a:t>_INVALID_LOG_LEVEL</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dirty="0">
                          <a:effectLst/>
                        </a:rPr>
                        <a:t>설정 파일에 잘못된 설정</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9"/>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110</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SCPDB_ERR_CONFIG</a:t>
                      </a:r>
                      <a:endParaRPr lang="ko-KR" sz="1000" kern="1200" dirty="0">
                        <a:effectLst/>
                      </a:endParaRPr>
                    </a:p>
                    <a:p>
                      <a:pPr marL="63500" marR="63500" algn="l" defTabSz="914400" rtl="0" eaLnBrk="1" latinLnBrk="1" hangingPunct="1">
                        <a:lnSpc>
                          <a:spcPct val="115000"/>
                        </a:lnSpc>
                        <a:spcBef>
                          <a:spcPts val="300"/>
                        </a:spcBef>
                        <a:spcAft>
                          <a:spcPts val="300"/>
                        </a:spcAft>
                      </a:pPr>
                      <a:r>
                        <a:rPr lang="en-US" sz="1000" kern="1200" dirty="0">
                          <a:effectLst/>
                        </a:rPr>
                        <a:t>_INVALID_KEYCACHE_MAX</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dirty="0">
                          <a:effectLst/>
                        </a:rPr>
                        <a:t>설정 파일에 잘못된 설정</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10"/>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111</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SCPDB_ERR_CONFIG</a:t>
                      </a:r>
                      <a:endParaRPr lang="ko-KR" sz="1000" kern="1200" dirty="0">
                        <a:effectLst/>
                      </a:endParaRPr>
                    </a:p>
                    <a:p>
                      <a:pPr marL="63500" marR="63500" algn="l" defTabSz="914400" rtl="0" eaLnBrk="1" latinLnBrk="1" hangingPunct="1">
                        <a:lnSpc>
                          <a:spcPct val="115000"/>
                        </a:lnSpc>
                        <a:spcBef>
                          <a:spcPts val="300"/>
                        </a:spcBef>
                        <a:spcAft>
                          <a:spcPts val="300"/>
                        </a:spcAft>
                      </a:pPr>
                      <a:r>
                        <a:rPr lang="en-US" sz="1000" kern="1200" dirty="0">
                          <a:effectLst/>
                        </a:rPr>
                        <a:t>_INVALID_AGENTID_CERT_FILE_PATH</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dirty="0">
                          <a:effectLst/>
                        </a:rPr>
                        <a:t>설정 파일에 잘못된 설정</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11"/>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112</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a:effectLst/>
                        </a:rPr>
                        <a:t>SCPDB_ERR_CONFIG</a:t>
                      </a:r>
                      <a:endParaRPr lang="ko-KR" sz="1000" kern="1200">
                        <a:effectLst/>
                      </a:endParaRPr>
                    </a:p>
                    <a:p>
                      <a:pPr marL="63500" marR="63500" algn="l" defTabSz="914400" rtl="0" eaLnBrk="1" latinLnBrk="1" hangingPunct="1">
                        <a:lnSpc>
                          <a:spcPct val="115000"/>
                        </a:lnSpc>
                        <a:spcBef>
                          <a:spcPts val="300"/>
                        </a:spcBef>
                        <a:spcAft>
                          <a:spcPts val="300"/>
                        </a:spcAft>
                      </a:pPr>
                      <a:r>
                        <a:rPr lang="en-US" sz="1000" kern="1200">
                          <a:effectLst/>
                        </a:rPr>
                        <a:t>_INVALID_AGENTID_KEY_FILE_PATH</a:t>
                      </a:r>
                      <a:endParaRPr lang="ko-KR" sz="1000" kern="120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dirty="0">
                          <a:effectLst/>
                        </a:rPr>
                        <a:t>설정 파일에 잘못된 설정</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12"/>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113</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a:effectLst/>
                        </a:rPr>
                        <a:t>SCPDB_ERR_CONFIG</a:t>
                      </a:r>
                      <a:endParaRPr lang="ko-KR" sz="1000" kern="1200">
                        <a:effectLst/>
                      </a:endParaRPr>
                    </a:p>
                    <a:p>
                      <a:pPr marL="63500" marR="63500" algn="l" defTabSz="914400" rtl="0" eaLnBrk="1" latinLnBrk="1" hangingPunct="1">
                        <a:lnSpc>
                          <a:spcPct val="115000"/>
                        </a:lnSpc>
                        <a:spcBef>
                          <a:spcPts val="300"/>
                        </a:spcBef>
                        <a:spcAft>
                          <a:spcPts val="300"/>
                        </a:spcAft>
                      </a:pPr>
                      <a:r>
                        <a:rPr lang="en-US" sz="1000" kern="1200">
                          <a:effectLst/>
                        </a:rPr>
                        <a:t>_INVALID_AGENTID_PIN_FILE_PATH</a:t>
                      </a:r>
                      <a:endParaRPr lang="ko-KR" sz="1000" kern="120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dirty="0">
                          <a:effectLst/>
                        </a:rPr>
                        <a:t>설정 파일에 잘못된 설정</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3612931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ko-KR" altLang="en-US" smtClean="0"/>
              <a:t>첨부</a:t>
            </a:r>
            <a:r>
              <a:rPr lang="en-US" altLang="ko-KR" smtClean="0"/>
              <a:t>4. </a:t>
            </a:r>
            <a:r>
              <a:rPr lang="ko-KR" altLang="en-US"/>
              <a:t>암</a:t>
            </a:r>
            <a:r>
              <a:rPr lang="en-US" altLang="ko-KR"/>
              <a:t>·</a:t>
            </a:r>
            <a:r>
              <a:rPr lang="ko-KR" altLang="en-US"/>
              <a:t>복호함수 </a:t>
            </a:r>
            <a:r>
              <a:rPr lang="ko-KR" altLang="en-US" smtClean="0"/>
              <a:t>에러코드</a:t>
            </a:r>
            <a:r>
              <a:rPr lang="en-US" altLang="ko-KR" smtClean="0"/>
              <a:t>(2/4)</a:t>
            </a:r>
            <a:endParaRPr lang="ko-KR" altLang="en-US" dirty="0"/>
          </a:p>
        </p:txBody>
      </p:sp>
      <p:cxnSp>
        <p:nvCxnSpPr>
          <p:cNvPr id="102" name="직선 연결선 101"/>
          <p:cNvCxnSpPr/>
          <p:nvPr/>
        </p:nvCxnSpPr>
        <p:spPr>
          <a:xfrm>
            <a:off x="452500" y="6361950"/>
            <a:ext cx="1366760" cy="0"/>
          </a:xfrm>
          <a:prstGeom prst="line">
            <a:avLst/>
          </a:prstGeom>
          <a:ln w="6350" cap="flat">
            <a:solidFill>
              <a:schemeClr val="bg1">
                <a:lumMod val="5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5" name="표 4"/>
          <p:cNvGraphicFramePr>
            <a:graphicFrameLocks noGrp="1"/>
          </p:cNvGraphicFramePr>
          <p:nvPr>
            <p:extLst>
              <p:ext uri="{D42A27DB-BD31-4B8C-83A1-F6EECF244321}">
                <p14:modId xmlns:p14="http://schemas.microsoft.com/office/powerpoint/2010/main" val="3059865481"/>
              </p:ext>
            </p:extLst>
          </p:nvPr>
        </p:nvGraphicFramePr>
        <p:xfrm>
          <a:off x="1137600" y="1213200"/>
          <a:ext cx="7558694" cy="4965065"/>
        </p:xfrm>
        <a:graphic>
          <a:graphicData uri="http://schemas.openxmlformats.org/drawingml/2006/table">
            <a:tbl>
              <a:tblPr>
                <a:tableStyleId>{073A0DAA-6AF3-43AB-8588-CEC1D06C72B9}</a:tableStyleId>
              </a:tblPr>
              <a:tblGrid>
                <a:gridCol w="1600808">
                  <a:extLst>
                    <a:ext uri="{9D8B030D-6E8A-4147-A177-3AD203B41FA5}">
                      <a16:colId xmlns:a16="http://schemas.microsoft.com/office/drawing/2014/main" val="20000"/>
                    </a:ext>
                  </a:extLst>
                </a:gridCol>
                <a:gridCol w="2978943">
                  <a:extLst>
                    <a:ext uri="{9D8B030D-6E8A-4147-A177-3AD203B41FA5}">
                      <a16:colId xmlns:a16="http://schemas.microsoft.com/office/drawing/2014/main" val="20001"/>
                    </a:ext>
                  </a:extLst>
                </a:gridCol>
                <a:gridCol w="2978943">
                  <a:extLst>
                    <a:ext uri="{9D8B030D-6E8A-4147-A177-3AD203B41FA5}">
                      <a16:colId xmlns:a16="http://schemas.microsoft.com/office/drawing/2014/main" val="20002"/>
                    </a:ext>
                  </a:extLst>
                </a:gridCol>
              </a:tblGrid>
              <a:tr h="0">
                <a:tc>
                  <a:txBody>
                    <a:bodyPr/>
                    <a:lstStyle/>
                    <a:p>
                      <a:pPr marL="63500" marR="63500" algn="ctr" defTabSz="914400" rtl="0" eaLnBrk="1" latinLnBrk="1" hangingPunct="1">
                        <a:lnSpc>
                          <a:spcPct val="115000"/>
                        </a:lnSpc>
                        <a:spcBef>
                          <a:spcPts val="300"/>
                        </a:spcBef>
                        <a:spcAft>
                          <a:spcPts val="300"/>
                        </a:spcAft>
                      </a:pPr>
                      <a:r>
                        <a:rPr lang="ko-KR" sz="1000" kern="1200" dirty="0">
                          <a:effectLst/>
                        </a:rPr>
                        <a:t>값</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ctr" defTabSz="914400" rtl="0" eaLnBrk="1" latinLnBrk="1" hangingPunct="1">
                        <a:lnSpc>
                          <a:spcPct val="115000"/>
                        </a:lnSpc>
                        <a:spcBef>
                          <a:spcPts val="300"/>
                        </a:spcBef>
                        <a:spcAft>
                          <a:spcPts val="300"/>
                        </a:spcAft>
                      </a:pPr>
                      <a:r>
                        <a:rPr lang="en-US" sz="1000" kern="1200" dirty="0">
                          <a:effectLst/>
                        </a:rPr>
                        <a:t>Error Code</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ctr" defTabSz="914400" rtl="0" eaLnBrk="1" latinLnBrk="1" hangingPunct="1">
                        <a:lnSpc>
                          <a:spcPct val="115000"/>
                        </a:lnSpc>
                        <a:spcBef>
                          <a:spcPts val="300"/>
                        </a:spcBef>
                        <a:spcAft>
                          <a:spcPts val="300"/>
                        </a:spcAft>
                      </a:pPr>
                      <a:r>
                        <a:rPr lang="ko-KR" sz="1000" kern="1200" dirty="0">
                          <a:effectLst/>
                        </a:rPr>
                        <a:t>설명</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0"/>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118</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a:effectLst/>
                        </a:rPr>
                        <a:t>SCPDB_ERR_ALREADY_INITIALIZED</a:t>
                      </a:r>
                      <a:endParaRPr lang="ko-KR" sz="1000" kern="120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dirty="0">
                          <a:effectLst/>
                        </a:rPr>
                        <a:t>이미 초기화 되어있다</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1"/>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121</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SCPDB_ERR_LICENSE_FILE_NOT_FOUND</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dirty="0">
                          <a:effectLst/>
                        </a:rPr>
                        <a:t>라이선스 파일을 찾을 수 없음</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2"/>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122</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SCPDB_ERR_LICENSE_INVALID_DATE</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dirty="0">
                          <a:effectLst/>
                        </a:rPr>
                        <a:t>라이선스 기간 오류</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3"/>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123</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SCPDB_ERR_LICENSE_INVALID_NAME</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dirty="0">
                          <a:effectLst/>
                        </a:rPr>
                        <a:t>라이선스 제품명 오류</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4"/>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124</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SCPDB_ERR_LICENSE_INVALID_HOST</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dirty="0">
                          <a:effectLst/>
                        </a:rPr>
                        <a:t>라이선스 호스트</a:t>
                      </a:r>
                      <a:r>
                        <a:rPr lang="en-US" sz="1000" kern="1200" dirty="0">
                          <a:effectLst/>
                        </a:rPr>
                        <a:t>(IP) </a:t>
                      </a:r>
                      <a:r>
                        <a:rPr lang="ko-KR" sz="1000" kern="1200" dirty="0">
                          <a:effectLst/>
                        </a:rPr>
                        <a:t>오류</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5"/>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125</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SCPDB_ERR_LICENSE_INVALID_CPU_COUNT</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a:effectLst/>
                        </a:rPr>
                        <a:t>라이선스 코어개수 오류</a:t>
                      </a:r>
                      <a:endParaRPr lang="ko-KR" sz="1000" kern="120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6"/>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126</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SCPDB_ERR_LICENSE_BUNDLE</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a:effectLst/>
                        </a:rPr>
                        <a:t>번들 라이선스 기능 제약</a:t>
                      </a:r>
                      <a:endParaRPr lang="ko-KR" sz="1000" kern="120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7"/>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130</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SCPDB_ERR_CIS_INIT</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a:effectLst/>
                        </a:rPr>
                        <a:t>CIS_CC</a:t>
                      </a:r>
                      <a:r>
                        <a:rPr lang="ko-KR" sz="1000" kern="1200">
                          <a:effectLst/>
                        </a:rPr>
                        <a:t>가 초기화 에러</a:t>
                      </a:r>
                      <a:endParaRPr lang="ko-KR" sz="1000" kern="120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8"/>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134</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SCPDB_ERR_AGENT_KEYPAIR_INIT</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a:effectLst/>
                        </a:rPr>
                        <a:t>Agent </a:t>
                      </a:r>
                      <a:r>
                        <a:rPr lang="ko-KR" sz="1000" kern="1200">
                          <a:effectLst/>
                        </a:rPr>
                        <a:t>키쌍 초기화 에러</a:t>
                      </a:r>
                      <a:endParaRPr lang="ko-KR" sz="1000" kern="120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9"/>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201</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fr-FR" sz="1000" kern="1200" dirty="0">
                          <a:effectLst/>
                        </a:rPr>
                        <a:t>SCPDB_ERR_INSUFFICIENT_ALLOC_LEN</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a:effectLst/>
                        </a:rPr>
                        <a:t>할당된 메모리 길이 부족</a:t>
                      </a:r>
                      <a:endParaRPr lang="ko-KR" sz="1000" kern="120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10"/>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202</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SCPDB_ERR_INVALID_INPUT</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a:effectLst/>
                        </a:rPr>
                        <a:t>잘못된 입력</a:t>
                      </a:r>
                      <a:endParaRPr lang="ko-KR" sz="1000" kern="120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11"/>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203</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SCPDB_ERR_INVALID_INPUT_LEN</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a:effectLst/>
                        </a:rPr>
                        <a:t>잘못된 입력길이</a:t>
                      </a:r>
                      <a:endParaRPr lang="ko-KR" sz="1000" kern="120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12"/>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204</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SCPDB_ERR_NULLPOINT_INPUT</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dirty="0">
                          <a:effectLst/>
                        </a:rPr>
                        <a:t>잘못된 입력</a:t>
                      </a:r>
                      <a:r>
                        <a:rPr lang="en-US" sz="1000" kern="1200" dirty="0">
                          <a:effectLst/>
                        </a:rPr>
                        <a:t>(</a:t>
                      </a:r>
                      <a:r>
                        <a:rPr lang="ko-KR" sz="1000" kern="1200" dirty="0" err="1">
                          <a:effectLst/>
                        </a:rPr>
                        <a:t>널포인트</a:t>
                      </a:r>
                      <a:r>
                        <a:rPr lang="en-US" sz="1000" kern="1200" dirty="0">
                          <a:effectLst/>
                        </a:rPr>
                        <a:t>)</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13"/>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205</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SCPDB_ERR_FILE_NOT_FOUND</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dirty="0">
                          <a:effectLst/>
                        </a:rPr>
                        <a:t>파일을 찾을 수 없음</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14"/>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206</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a:effectLst/>
                        </a:rPr>
                        <a:t>SCPDB_ERR_FILE_OPEN</a:t>
                      </a:r>
                      <a:endParaRPr lang="ko-KR" sz="1000" kern="120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dirty="0">
                          <a:effectLst/>
                        </a:rPr>
                        <a:t>파일을 찾을 수 없음</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15"/>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211</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SCPDB_ERR_CONFIG_FILE_NOT_FOUND</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dirty="0">
                          <a:effectLst/>
                        </a:rPr>
                        <a:t>파일을 찾을 수 없음</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16"/>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212</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SCPDB_ERR_AGENT_CERT_FILE_NOT_FOUND</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dirty="0">
                          <a:effectLst/>
                        </a:rPr>
                        <a:t>파일을 찾을 수 없음</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17"/>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213</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SCPDB_ERR_AGENT_KEY_FILE_NOT_FOUND</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dirty="0">
                          <a:effectLst/>
                        </a:rPr>
                        <a:t>파일을 찾을 수 없음</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18"/>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214</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a:effectLst/>
                        </a:rPr>
                        <a:t>SCPDB_ERR_AGENT_PIN_FILE_NOT_FOUND</a:t>
                      </a:r>
                      <a:endParaRPr lang="ko-KR" sz="1000" kern="120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dirty="0">
                          <a:effectLst/>
                        </a:rPr>
                        <a:t>파일을 찾을 수 없음</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19"/>
                  </a:ext>
                </a:extLst>
              </a:tr>
            </a:tbl>
          </a:graphicData>
        </a:graphic>
      </p:graphicFrame>
    </p:spTree>
    <p:extLst>
      <p:ext uri="{BB962C8B-B14F-4D97-AF65-F5344CB8AC3E}">
        <p14:creationId xmlns:p14="http://schemas.microsoft.com/office/powerpoint/2010/main" val="41255747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ko-KR" altLang="en-US" smtClean="0"/>
              <a:t>첨부</a:t>
            </a:r>
            <a:r>
              <a:rPr lang="en-US" altLang="ko-KR" smtClean="0"/>
              <a:t>4. </a:t>
            </a:r>
            <a:r>
              <a:rPr lang="ko-KR" altLang="en-US"/>
              <a:t>암</a:t>
            </a:r>
            <a:r>
              <a:rPr lang="en-US" altLang="ko-KR"/>
              <a:t>·</a:t>
            </a:r>
            <a:r>
              <a:rPr lang="ko-KR" altLang="en-US"/>
              <a:t>복호함수 </a:t>
            </a:r>
            <a:r>
              <a:rPr lang="ko-KR" altLang="en-US" smtClean="0"/>
              <a:t>에러코드</a:t>
            </a:r>
            <a:r>
              <a:rPr lang="en-US" altLang="ko-KR" smtClean="0"/>
              <a:t>(3/4)</a:t>
            </a:r>
            <a:endParaRPr lang="ko-KR" altLang="en-US" dirty="0"/>
          </a:p>
        </p:txBody>
      </p:sp>
      <p:cxnSp>
        <p:nvCxnSpPr>
          <p:cNvPr id="102" name="직선 연결선 101"/>
          <p:cNvCxnSpPr/>
          <p:nvPr/>
        </p:nvCxnSpPr>
        <p:spPr>
          <a:xfrm>
            <a:off x="452500" y="6361950"/>
            <a:ext cx="1366760" cy="0"/>
          </a:xfrm>
          <a:prstGeom prst="line">
            <a:avLst/>
          </a:prstGeom>
          <a:ln w="6350" cap="flat">
            <a:solidFill>
              <a:schemeClr val="bg1">
                <a:lumMod val="5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5" name="표 4"/>
          <p:cNvGraphicFramePr>
            <a:graphicFrameLocks noGrp="1"/>
          </p:cNvGraphicFramePr>
          <p:nvPr>
            <p:extLst>
              <p:ext uri="{D42A27DB-BD31-4B8C-83A1-F6EECF244321}">
                <p14:modId xmlns:p14="http://schemas.microsoft.com/office/powerpoint/2010/main" val="245758781"/>
              </p:ext>
            </p:extLst>
          </p:nvPr>
        </p:nvGraphicFramePr>
        <p:xfrm>
          <a:off x="1137600" y="1213200"/>
          <a:ext cx="7558694" cy="4965065"/>
        </p:xfrm>
        <a:graphic>
          <a:graphicData uri="http://schemas.openxmlformats.org/drawingml/2006/table">
            <a:tbl>
              <a:tblPr>
                <a:tableStyleId>{073A0DAA-6AF3-43AB-8588-CEC1D06C72B9}</a:tableStyleId>
              </a:tblPr>
              <a:tblGrid>
                <a:gridCol w="1600808">
                  <a:extLst>
                    <a:ext uri="{9D8B030D-6E8A-4147-A177-3AD203B41FA5}">
                      <a16:colId xmlns:a16="http://schemas.microsoft.com/office/drawing/2014/main" val="20000"/>
                    </a:ext>
                  </a:extLst>
                </a:gridCol>
                <a:gridCol w="2978943">
                  <a:extLst>
                    <a:ext uri="{9D8B030D-6E8A-4147-A177-3AD203B41FA5}">
                      <a16:colId xmlns:a16="http://schemas.microsoft.com/office/drawing/2014/main" val="20001"/>
                    </a:ext>
                  </a:extLst>
                </a:gridCol>
                <a:gridCol w="2978943">
                  <a:extLst>
                    <a:ext uri="{9D8B030D-6E8A-4147-A177-3AD203B41FA5}">
                      <a16:colId xmlns:a16="http://schemas.microsoft.com/office/drawing/2014/main" val="20002"/>
                    </a:ext>
                  </a:extLst>
                </a:gridCol>
              </a:tblGrid>
              <a:tr h="0">
                <a:tc>
                  <a:txBody>
                    <a:bodyPr/>
                    <a:lstStyle/>
                    <a:p>
                      <a:pPr marL="63500" marR="63500" algn="ctr" defTabSz="914400" rtl="0" eaLnBrk="1" latinLnBrk="1" hangingPunct="1">
                        <a:lnSpc>
                          <a:spcPct val="115000"/>
                        </a:lnSpc>
                        <a:spcBef>
                          <a:spcPts val="300"/>
                        </a:spcBef>
                        <a:spcAft>
                          <a:spcPts val="300"/>
                        </a:spcAft>
                      </a:pPr>
                      <a:r>
                        <a:rPr lang="ko-KR" sz="1000" kern="1200" dirty="0">
                          <a:effectLst/>
                        </a:rPr>
                        <a:t>값</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ctr" defTabSz="914400" rtl="0" eaLnBrk="1" latinLnBrk="1" hangingPunct="1">
                        <a:lnSpc>
                          <a:spcPct val="115000"/>
                        </a:lnSpc>
                        <a:spcBef>
                          <a:spcPts val="300"/>
                        </a:spcBef>
                        <a:spcAft>
                          <a:spcPts val="300"/>
                        </a:spcAft>
                      </a:pPr>
                      <a:r>
                        <a:rPr lang="en-US" sz="1000" kern="1200" dirty="0">
                          <a:effectLst/>
                        </a:rPr>
                        <a:t>Error Code</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ctr" defTabSz="914400" rtl="0" eaLnBrk="1" latinLnBrk="1" hangingPunct="1">
                        <a:lnSpc>
                          <a:spcPct val="115000"/>
                        </a:lnSpc>
                        <a:spcBef>
                          <a:spcPts val="300"/>
                        </a:spcBef>
                        <a:spcAft>
                          <a:spcPts val="300"/>
                        </a:spcAft>
                      </a:pPr>
                      <a:r>
                        <a:rPr lang="ko-KR" sz="1000" kern="1200" dirty="0">
                          <a:effectLst/>
                        </a:rPr>
                        <a:t>설명</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0"/>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215</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SCPDB_ERR_SCP_FILE_NOT_FOUND</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a:effectLst/>
                        </a:rPr>
                        <a:t>SCP </a:t>
                      </a:r>
                      <a:r>
                        <a:rPr lang="ko-KR" sz="1000" kern="1200">
                          <a:effectLst/>
                        </a:rPr>
                        <a:t>파일을 찾을 수 없음</a:t>
                      </a:r>
                      <a:endParaRPr lang="ko-KR" sz="1000" kern="120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1"/>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216</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a:effectLst/>
                        </a:rPr>
                        <a:t>SCPDB_ERR_INVALID_SCP_FILE</a:t>
                      </a:r>
                      <a:endParaRPr lang="ko-KR" sz="1000" kern="120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a:effectLst/>
                        </a:rPr>
                        <a:t>잘못된 형식의 </a:t>
                      </a:r>
                      <a:r>
                        <a:rPr lang="en-US" sz="1000" kern="1200">
                          <a:effectLst/>
                        </a:rPr>
                        <a:t>SCP </a:t>
                      </a:r>
                      <a:r>
                        <a:rPr lang="ko-KR" sz="1000" kern="1200">
                          <a:effectLst/>
                        </a:rPr>
                        <a:t>파일</a:t>
                      </a:r>
                      <a:endParaRPr lang="ko-KR" sz="1000" kern="120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2"/>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300</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SCPDB_ERR_INVALID_ALGORITHM</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a:effectLst/>
                        </a:rPr>
                        <a:t>잘못된</a:t>
                      </a:r>
                      <a:r>
                        <a:rPr lang="en-US" sz="1000" kern="1200">
                          <a:effectLst/>
                        </a:rPr>
                        <a:t> HASH </a:t>
                      </a:r>
                      <a:r>
                        <a:rPr lang="ko-KR" sz="1000" kern="1200">
                          <a:effectLst/>
                        </a:rPr>
                        <a:t>알고리즘 입력</a:t>
                      </a:r>
                      <a:endParaRPr lang="ko-KR" sz="1000" kern="120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3"/>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302</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SCPDB_ERR_INVALID_IVTYPE</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a:effectLst/>
                        </a:rPr>
                        <a:t>암호화 실패</a:t>
                      </a:r>
                      <a:r>
                        <a:rPr lang="en-US" sz="1000" kern="1200">
                          <a:effectLst/>
                        </a:rPr>
                        <a:t> - </a:t>
                      </a:r>
                      <a:r>
                        <a:rPr lang="ko-KR" sz="1000" kern="1200">
                          <a:effectLst/>
                        </a:rPr>
                        <a:t>허용 불가능한</a:t>
                      </a:r>
                      <a:r>
                        <a:rPr lang="en-US" sz="1000" kern="1200">
                          <a:effectLst/>
                        </a:rPr>
                        <a:t> IV</a:t>
                      </a:r>
                      <a:r>
                        <a:rPr lang="ko-KR" sz="1000" kern="1200">
                          <a:effectLst/>
                        </a:rPr>
                        <a:t>타입</a:t>
                      </a:r>
                      <a:endParaRPr lang="ko-KR" sz="1000" kern="120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4"/>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305</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SCPDB_ERR_ENCRYPT</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dirty="0">
                          <a:effectLst/>
                        </a:rPr>
                        <a:t>암호화 실패</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5"/>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a:effectLst/>
                        </a:rPr>
                        <a:t>306</a:t>
                      </a:r>
                      <a:endParaRPr lang="ko-KR" sz="1000" kern="120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SCPDB_ERR_DECRYPT</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a:effectLst/>
                        </a:rPr>
                        <a:t>복호화 실패</a:t>
                      </a:r>
                      <a:endParaRPr lang="ko-KR" sz="1000" kern="120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6"/>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308</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SCPDB_ERR_B64_DECODE</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a:effectLst/>
                        </a:rPr>
                        <a:t>복호화 실패</a:t>
                      </a:r>
                      <a:endParaRPr lang="ko-KR" sz="1000" kern="120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7"/>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333</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SCPDB_ERR_WRONG_KEY</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a:effectLst/>
                        </a:rPr>
                        <a:t>잘못된</a:t>
                      </a:r>
                      <a:r>
                        <a:rPr lang="en-US" sz="1000" kern="1200">
                          <a:effectLst/>
                        </a:rPr>
                        <a:t> Agent </a:t>
                      </a:r>
                      <a:r>
                        <a:rPr lang="ko-KR" sz="1000" kern="1200">
                          <a:effectLst/>
                        </a:rPr>
                        <a:t>키쌍 입력</a:t>
                      </a:r>
                      <a:endParaRPr lang="ko-KR" sz="1000" kern="120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8"/>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a:effectLst/>
                        </a:rPr>
                        <a:t>334</a:t>
                      </a:r>
                      <a:endParaRPr lang="ko-KR" sz="1000" kern="120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SCPDB_ERR_ENCRYPT_FPE</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a:effectLst/>
                        </a:rPr>
                        <a:t>FPE </a:t>
                      </a:r>
                      <a:r>
                        <a:rPr lang="ko-KR" sz="1000" kern="1200">
                          <a:effectLst/>
                        </a:rPr>
                        <a:t>암호화 실패</a:t>
                      </a:r>
                      <a:endParaRPr lang="ko-KR" sz="1000" kern="120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9"/>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335</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SCPDB_ERR_DECRYPT_FPE</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FPE </a:t>
                      </a:r>
                      <a:r>
                        <a:rPr lang="ko-KR" sz="1000" kern="1200" dirty="0" err="1">
                          <a:effectLst/>
                        </a:rPr>
                        <a:t>복호화</a:t>
                      </a:r>
                      <a:r>
                        <a:rPr lang="ko-KR" sz="1000" kern="1200" dirty="0">
                          <a:effectLst/>
                        </a:rPr>
                        <a:t> 실패</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10"/>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339</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SCPDB_ERR_PARTIAL_ENCRYPTION_CONTEXT</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dirty="0">
                          <a:effectLst/>
                        </a:rPr>
                        <a:t>부분 암호화 에러</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11"/>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340</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SCPDB_ERR_ACCESS_PROCESS_NAME</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dirty="0">
                          <a:effectLst/>
                        </a:rPr>
                        <a:t>접근제어 에러</a:t>
                      </a:r>
                      <a:r>
                        <a:rPr lang="en-US" sz="1000" kern="1200" dirty="0">
                          <a:effectLst/>
                        </a:rPr>
                        <a:t> - </a:t>
                      </a:r>
                      <a:r>
                        <a:rPr lang="ko-KR" sz="1000" kern="1200" dirty="0">
                          <a:effectLst/>
                        </a:rPr>
                        <a:t>설치 경로 </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12"/>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341</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SCPDB_ERR_ACCESS_ACCOUNT</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dirty="0">
                          <a:effectLst/>
                        </a:rPr>
                        <a:t>접근제어 에러</a:t>
                      </a:r>
                      <a:r>
                        <a:rPr lang="en-US" sz="1000" kern="1200" dirty="0">
                          <a:effectLst/>
                        </a:rPr>
                        <a:t> - </a:t>
                      </a:r>
                      <a:r>
                        <a:rPr lang="ko-KR" sz="1000" kern="1200" dirty="0">
                          <a:effectLst/>
                        </a:rPr>
                        <a:t>계정</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13"/>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342</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SCPDB_ERR_ACCESS_DATE</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dirty="0">
                          <a:effectLst/>
                        </a:rPr>
                        <a:t>접근제어 에러</a:t>
                      </a:r>
                      <a:r>
                        <a:rPr lang="en-US" sz="1000" kern="1200" dirty="0">
                          <a:effectLst/>
                        </a:rPr>
                        <a:t> - </a:t>
                      </a:r>
                      <a:r>
                        <a:rPr lang="ko-KR" sz="1000" kern="1200" dirty="0">
                          <a:effectLst/>
                        </a:rPr>
                        <a:t>기간</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14"/>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343</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SCPDB_ERR_ACCESS_TIME</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dirty="0">
                          <a:effectLst/>
                        </a:rPr>
                        <a:t>접근제어 에러</a:t>
                      </a:r>
                      <a:r>
                        <a:rPr lang="en-US" sz="1000" kern="1200" dirty="0">
                          <a:effectLst/>
                        </a:rPr>
                        <a:t> - </a:t>
                      </a:r>
                      <a:r>
                        <a:rPr lang="ko-KR" sz="1000" kern="1200" dirty="0">
                          <a:effectLst/>
                        </a:rPr>
                        <a:t>시간</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15"/>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344</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SCPDB_ERR_ACCESS_DAY_OF_WEEK</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dirty="0">
                          <a:effectLst/>
                        </a:rPr>
                        <a:t>접근제어 에러</a:t>
                      </a:r>
                      <a:r>
                        <a:rPr lang="en-US" sz="1000" kern="1200" dirty="0">
                          <a:effectLst/>
                        </a:rPr>
                        <a:t> - </a:t>
                      </a:r>
                      <a:r>
                        <a:rPr lang="ko-KR" sz="1000" kern="1200" dirty="0">
                          <a:effectLst/>
                        </a:rPr>
                        <a:t>요일</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16"/>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346</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a:effectLst/>
                        </a:rPr>
                        <a:t>SCPDB_ERR_DECRYPT_SESSION_KEY</a:t>
                      </a:r>
                      <a:endParaRPr lang="ko-KR" sz="1000" kern="120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a:t>
                      </a:r>
                      <a:r>
                        <a:rPr lang="ko-KR" sz="1000" kern="1200" dirty="0">
                          <a:effectLst/>
                        </a:rPr>
                        <a:t>파일 </a:t>
                      </a:r>
                      <a:r>
                        <a:rPr lang="ko-KR" sz="1000" kern="1200" dirty="0" err="1">
                          <a:effectLst/>
                        </a:rPr>
                        <a:t>복호화</a:t>
                      </a:r>
                      <a:r>
                        <a:rPr lang="ko-KR" sz="1000" kern="1200" dirty="0">
                          <a:effectLst/>
                        </a:rPr>
                        <a:t> 실패</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17"/>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351</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a:effectLst/>
                        </a:rPr>
                        <a:t>SCPDB_ERR_FPE_ENCRYPT</a:t>
                      </a:r>
                      <a:endParaRPr lang="ko-KR" sz="1000" kern="120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NIST FPE </a:t>
                      </a:r>
                      <a:r>
                        <a:rPr lang="ko-KR" sz="1000" kern="1200" dirty="0">
                          <a:effectLst/>
                        </a:rPr>
                        <a:t>암호화 실패</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18"/>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352</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a:effectLst/>
                        </a:rPr>
                        <a:t>SCPDB_ERR_FPE_DECRYPT</a:t>
                      </a:r>
                      <a:endParaRPr lang="ko-KR" sz="1000" kern="120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NIST FPE </a:t>
                      </a:r>
                      <a:r>
                        <a:rPr lang="ko-KR" sz="1000" kern="1200" dirty="0" err="1">
                          <a:effectLst/>
                        </a:rPr>
                        <a:t>복호화</a:t>
                      </a:r>
                      <a:r>
                        <a:rPr lang="ko-KR" sz="1000" kern="1200" dirty="0">
                          <a:effectLst/>
                        </a:rPr>
                        <a:t> 실패</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19"/>
                  </a:ext>
                </a:extLst>
              </a:tr>
            </a:tbl>
          </a:graphicData>
        </a:graphic>
      </p:graphicFrame>
    </p:spTree>
    <p:extLst>
      <p:ext uri="{BB962C8B-B14F-4D97-AF65-F5344CB8AC3E}">
        <p14:creationId xmlns:p14="http://schemas.microsoft.com/office/powerpoint/2010/main" val="32386937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381884" y="299381"/>
            <a:ext cx="6804000" cy="279757"/>
          </a:xfrm>
          <a:prstGeom prst="rect">
            <a:avLst/>
          </a:prstGeom>
          <a:noFill/>
          <a:ln w="6350">
            <a:noFill/>
            <a:miter lim="800000"/>
          </a:ln>
        </p:spPr>
        <p:txBody>
          <a:bodyPr vert="horz" wrap="square" lIns="0" tIns="0" rIns="0" bIns="0" rtlCol="0" anchor="t" anchorCtr="0">
            <a:spAutoFit/>
          </a:bodyPr>
          <a:lstStyle>
            <a:defPPr>
              <a:defRPr lang="de-DE"/>
            </a:defPPr>
            <a:lvl1pPr indent="0">
              <a:lnSpc>
                <a:spcPct val="90000"/>
              </a:lnSpc>
              <a:spcBef>
                <a:spcPct val="0"/>
              </a:spcBef>
              <a:buNone/>
              <a:defRPr sz="2000" b="0" baseline="0">
                <a:solidFill>
                  <a:schemeClr val="accent5"/>
                </a:solidFill>
                <a:latin typeface="+mj-lt"/>
                <a:ea typeface="+mj-ea"/>
                <a:cs typeface="Arial" pitchFamily="34" charset="0"/>
              </a:defRPr>
            </a:lvl1pPr>
          </a:lstStyle>
          <a:p>
            <a:r>
              <a:rPr lang="ko-KR" altLang="en-US" smtClean="0"/>
              <a:t>첨부</a:t>
            </a:r>
            <a:r>
              <a:rPr lang="en-US" altLang="ko-KR" smtClean="0"/>
              <a:t>4. </a:t>
            </a:r>
            <a:r>
              <a:rPr lang="ko-KR" altLang="en-US"/>
              <a:t>암</a:t>
            </a:r>
            <a:r>
              <a:rPr lang="en-US" altLang="ko-KR"/>
              <a:t>·</a:t>
            </a:r>
            <a:r>
              <a:rPr lang="ko-KR" altLang="en-US"/>
              <a:t>복호함수 </a:t>
            </a:r>
            <a:r>
              <a:rPr lang="ko-KR" altLang="en-US" smtClean="0"/>
              <a:t>에러코드</a:t>
            </a:r>
            <a:r>
              <a:rPr lang="en-US" altLang="ko-KR" smtClean="0"/>
              <a:t>(4/4)</a:t>
            </a:r>
            <a:endParaRPr lang="ko-KR" altLang="en-US" dirty="0"/>
          </a:p>
        </p:txBody>
      </p:sp>
      <p:cxnSp>
        <p:nvCxnSpPr>
          <p:cNvPr id="102" name="직선 연결선 101"/>
          <p:cNvCxnSpPr/>
          <p:nvPr/>
        </p:nvCxnSpPr>
        <p:spPr>
          <a:xfrm>
            <a:off x="452500" y="6361950"/>
            <a:ext cx="1366760" cy="0"/>
          </a:xfrm>
          <a:prstGeom prst="line">
            <a:avLst/>
          </a:prstGeom>
          <a:ln w="6350" cap="flat">
            <a:solidFill>
              <a:schemeClr val="bg1">
                <a:lumMod val="50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5" name="표 4"/>
          <p:cNvGraphicFramePr>
            <a:graphicFrameLocks noGrp="1"/>
          </p:cNvGraphicFramePr>
          <p:nvPr>
            <p:extLst>
              <p:ext uri="{D42A27DB-BD31-4B8C-83A1-F6EECF244321}">
                <p14:modId xmlns:p14="http://schemas.microsoft.com/office/powerpoint/2010/main" val="4153965345"/>
              </p:ext>
            </p:extLst>
          </p:nvPr>
        </p:nvGraphicFramePr>
        <p:xfrm>
          <a:off x="1137600" y="1213200"/>
          <a:ext cx="7558694" cy="2192020"/>
        </p:xfrm>
        <a:graphic>
          <a:graphicData uri="http://schemas.openxmlformats.org/drawingml/2006/table">
            <a:tbl>
              <a:tblPr>
                <a:tableStyleId>{073A0DAA-6AF3-43AB-8588-CEC1D06C72B9}</a:tableStyleId>
              </a:tblPr>
              <a:tblGrid>
                <a:gridCol w="1600808">
                  <a:extLst>
                    <a:ext uri="{9D8B030D-6E8A-4147-A177-3AD203B41FA5}">
                      <a16:colId xmlns:a16="http://schemas.microsoft.com/office/drawing/2014/main" val="20000"/>
                    </a:ext>
                  </a:extLst>
                </a:gridCol>
                <a:gridCol w="2978943">
                  <a:extLst>
                    <a:ext uri="{9D8B030D-6E8A-4147-A177-3AD203B41FA5}">
                      <a16:colId xmlns:a16="http://schemas.microsoft.com/office/drawing/2014/main" val="20001"/>
                    </a:ext>
                  </a:extLst>
                </a:gridCol>
                <a:gridCol w="2978943">
                  <a:extLst>
                    <a:ext uri="{9D8B030D-6E8A-4147-A177-3AD203B41FA5}">
                      <a16:colId xmlns:a16="http://schemas.microsoft.com/office/drawing/2014/main" val="20002"/>
                    </a:ext>
                  </a:extLst>
                </a:gridCol>
              </a:tblGrid>
              <a:tr h="0">
                <a:tc>
                  <a:txBody>
                    <a:bodyPr/>
                    <a:lstStyle/>
                    <a:p>
                      <a:pPr marL="63500" marR="63500" algn="ctr" defTabSz="914400" rtl="0" eaLnBrk="1" latinLnBrk="1" hangingPunct="1">
                        <a:lnSpc>
                          <a:spcPct val="115000"/>
                        </a:lnSpc>
                        <a:spcBef>
                          <a:spcPts val="300"/>
                        </a:spcBef>
                        <a:spcAft>
                          <a:spcPts val="300"/>
                        </a:spcAft>
                      </a:pPr>
                      <a:r>
                        <a:rPr lang="ko-KR" sz="1000" kern="1200" dirty="0">
                          <a:effectLst/>
                        </a:rPr>
                        <a:t>값</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ctr" defTabSz="914400" rtl="0" eaLnBrk="1" latinLnBrk="1" hangingPunct="1">
                        <a:lnSpc>
                          <a:spcPct val="115000"/>
                        </a:lnSpc>
                        <a:spcBef>
                          <a:spcPts val="300"/>
                        </a:spcBef>
                        <a:spcAft>
                          <a:spcPts val="300"/>
                        </a:spcAft>
                      </a:pPr>
                      <a:r>
                        <a:rPr lang="en-US" sz="1000" kern="1200" dirty="0">
                          <a:effectLst/>
                        </a:rPr>
                        <a:t>Error Code</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ctr" defTabSz="914400" rtl="0" eaLnBrk="1" latinLnBrk="1" hangingPunct="1">
                        <a:lnSpc>
                          <a:spcPct val="115000"/>
                        </a:lnSpc>
                        <a:spcBef>
                          <a:spcPts val="300"/>
                        </a:spcBef>
                        <a:spcAft>
                          <a:spcPts val="300"/>
                        </a:spcAft>
                      </a:pPr>
                      <a:r>
                        <a:rPr lang="ko-KR" sz="1000" kern="1200" dirty="0">
                          <a:effectLst/>
                        </a:rPr>
                        <a:t>설명</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0"/>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353</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SCPDB_ERR_FPE_DATA_SET</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NIST FPE </a:t>
                      </a:r>
                      <a:r>
                        <a:rPr lang="ko-KR" sz="1000" kern="1200" dirty="0">
                          <a:effectLst/>
                        </a:rPr>
                        <a:t>입력 데이터 에러</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1"/>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609</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SCPDB_ERR_KEYCACHE_INDEX</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a:effectLst/>
                        </a:rPr>
                        <a:t>CONTEXT </a:t>
                      </a:r>
                      <a:r>
                        <a:rPr lang="ko-KR" sz="1000" kern="1200">
                          <a:effectLst/>
                        </a:rPr>
                        <a:t>입력 실패</a:t>
                      </a:r>
                      <a:endParaRPr lang="ko-KR" sz="1000" kern="120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2"/>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702</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SCPDB_ERR_SOCK_CONNECT</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a:effectLst/>
                        </a:rPr>
                        <a:t>SOCKET </a:t>
                      </a:r>
                      <a:r>
                        <a:rPr lang="ko-KR" sz="1000" kern="1200">
                          <a:effectLst/>
                        </a:rPr>
                        <a:t>연결 실패</a:t>
                      </a:r>
                      <a:endParaRPr lang="ko-KR" sz="1000" kern="120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3"/>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704</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SCPDB_ERR_SOCK_RECEIVE</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a:effectLst/>
                        </a:rPr>
                        <a:t>SOCKET </a:t>
                      </a:r>
                      <a:r>
                        <a:rPr lang="ko-KR" sz="1000" kern="1200">
                          <a:effectLst/>
                        </a:rPr>
                        <a:t>받기 실패</a:t>
                      </a:r>
                      <a:endParaRPr lang="ko-KR" sz="1000" kern="120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4"/>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707</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SCPDB_ERR_SOCK_CONNECT_TIMEOUT</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a:effectLst/>
                        </a:rPr>
                        <a:t>SOCKET </a:t>
                      </a:r>
                      <a:r>
                        <a:rPr lang="ko-KR" sz="1000" kern="1200">
                          <a:effectLst/>
                        </a:rPr>
                        <a:t>연결 타임아웃</a:t>
                      </a:r>
                      <a:endParaRPr lang="ko-KR" sz="1000" kern="120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5"/>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1201</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SCPDB_ERR_NOTMATCH_ROLE</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dirty="0">
                          <a:effectLst/>
                        </a:rPr>
                        <a:t>잘못된 요청</a:t>
                      </a:r>
                      <a:r>
                        <a:rPr lang="en-US" sz="1000" kern="1200" dirty="0">
                          <a:effectLst/>
                        </a:rPr>
                        <a:t> - AgentID </a:t>
                      </a:r>
                      <a:r>
                        <a:rPr lang="ko-KR" sz="1000" kern="1200" dirty="0">
                          <a:effectLst/>
                        </a:rPr>
                        <a:t>에 포함되지 않음</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6"/>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1207</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SCPDB_ERR_NOT_FOUND_SERVICE_COLUMN</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dirty="0">
                          <a:effectLst/>
                        </a:rPr>
                        <a:t>잘못된 요청</a:t>
                      </a:r>
                      <a:r>
                        <a:rPr lang="en-US" sz="1000" kern="1200" dirty="0">
                          <a:effectLst/>
                        </a:rPr>
                        <a:t> - </a:t>
                      </a:r>
                      <a:r>
                        <a:rPr lang="ko-KR" sz="1000" kern="1200" dirty="0" err="1">
                          <a:effectLst/>
                        </a:rPr>
                        <a:t>컬럼</a:t>
                      </a:r>
                      <a:r>
                        <a:rPr lang="ko-KR" sz="1000" kern="1200" dirty="0">
                          <a:effectLst/>
                        </a:rPr>
                        <a:t> 없음</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7"/>
                  </a:ext>
                </a:extLst>
              </a:tr>
              <a:tr h="252095">
                <a:tc>
                  <a:txBody>
                    <a:bodyPr/>
                    <a:lstStyle/>
                    <a:p>
                      <a:pPr marL="63500" marR="63500" algn="ctr" defTabSz="914400" rtl="0" eaLnBrk="1" latinLnBrk="1" hangingPunct="1">
                        <a:lnSpc>
                          <a:spcPct val="115000"/>
                        </a:lnSpc>
                        <a:spcBef>
                          <a:spcPts val="300"/>
                        </a:spcBef>
                        <a:spcAft>
                          <a:spcPts val="300"/>
                        </a:spcAft>
                      </a:pPr>
                      <a:r>
                        <a:rPr lang="en-US" sz="1000" kern="1200" dirty="0">
                          <a:effectLst/>
                        </a:rPr>
                        <a:t>1208</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en-US" sz="1000" kern="1200" dirty="0">
                          <a:effectLst/>
                        </a:rPr>
                        <a:t>SCPDB_ERR_NOT_FOUND_SERVICE_ALIAS</a:t>
                      </a:r>
                      <a:endParaRPr lang="ko-KR" sz="1000" kern="1200" dirty="0">
                        <a:solidFill>
                          <a:schemeClr val="dk1"/>
                        </a:solidFill>
                        <a:effectLst/>
                        <a:latin typeface="+mn-lt"/>
                        <a:ea typeface="+mn-ea"/>
                        <a:cs typeface="+mn-cs"/>
                      </a:endParaRPr>
                    </a:p>
                  </a:txBody>
                  <a:tcPr marL="62865" marR="62865" marT="0" marB="0" anchor="ctr"/>
                </a:tc>
                <a:tc>
                  <a:txBody>
                    <a:bodyPr/>
                    <a:lstStyle/>
                    <a:p>
                      <a:pPr marL="63500" marR="63500" algn="l" defTabSz="914400" rtl="0" eaLnBrk="1" latinLnBrk="1" hangingPunct="1">
                        <a:lnSpc>
                          <a:spcPct val="115000"/>
                        </a:lnSpc>
                        <a:spcBef>
                          <a:spcPts val="300"/>
                        </a:spcBef>
                        <a:spcAft>
                          <a:spcPts val="300"/>
                        </a:spcAft>
                      </a:pPr>
                      <a:r>
                        <a:rPr lang="ko-KR" sz="1000" kern="1200" dirty="0">
                          <a:effectLst/>
                        </a:rPr>
                        <a:t>잘못된 요청</a:t>
                      </a:r>
                      <a:r>
                        <a:rPr lang="en-US" sz="1000" kern="1200" dirty="0">
                          <a:effectLst/>
                        </a:rPr>
                        <a:t> - </a:t>
                      </a:r>
                      <a:r>
                        <a:rPr lang="ko-KR" sz="1000" kern="1200" dirty="0">
                          <a:effectLst/>
                        </a:rPr>
                        <a:t>서비스</a:t>
                      </a:r>
                      <a:r>
                        <a:rPr lang="en-US" sz="1000" kern="1200" dirty="0">
                          <a:effectLst/>
                        </a:rPr>
                        <a:t>ID </a:t>
                      </a:r>
                      <a:r>
                        <a:rPr lang="ko-KR" sz="1000" kern="1200" dirty="0">
                          <a:effectLst/>
                        </a:rPr>
                        <a:t>없음</a:t>
                      </a:r>
                      <a:endParaRPr lang="ko-KR" sz="1000" kern="1200" dirty="0">
                        <a:solidFill>
                          <a:schemeClr val="dk1"/>
                        </a:solidFill>
                        <a:effectLst/>
                        <a:latin typeface="+mn-lt"/>
                        <a:ea typeface="+mn-ea"/>
                        <a:cs typeface="+mn-cs"/>
                      </a:endParaRPr>
                    </a:p>
                  </a:txBody>
                  <a:tcPr marL="62865" marR="62865" marT="0" marB="0"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398651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 reqver=&quot;17839&quot;&gt;&lt;version val=&quot;21183&quot;/&gt;&lt;CPresentation id=&quot;1&quot;&gt;&lt;m_defprecNumber idref=&quot;2&quot;/&gt;&lt;m_defprecPercent idref=&quot;3&quot;/&gt;&lt;m_defprecDate idref=&quot;4&quot;/&gt;&lt;m_defprecYear idref=&quot;5&quot;/&gt;&lt;m_defprecQuarter idref=&quot;6&quot;/&gt;&lt;m_defprecMonth idref=&quot;7&quot;/&gt;&lt;m_defprecWeek idref=&quot;8&quot;/&gt;&lt;m_defprecDay idref=&quot;9&quot;/&gt;&lt;m_mruColor&gt;&lt;m_vecMRU length=&quot;0&quot;/&gt;&lt;/m_mruColor&gt;&lt;m_mapectfillschemeMRU&gt;&lt;key val=&quot;0&quot;/&gt;&lt;elem&gt;&lt;m_nPartnerID val=&quot;556&quot;/&gt;&lt;m_nIndex val=&quot;1&quot;/&gt;&lt;/elem&gt;&lt;key val=&quot;1&quot;/&gt;&lt;elem&gt;&lt;m_nPartnerID val=&quot;556&quot;/&gt;&lt;m_nIndex val=&quot;1&quot;/&gt;&lt;/elem&gt;&lt;key val=&quot;2&quot;/&gt;&lt;elem&gt;&lt;m_nPartnerID val=&quot;556&quot;/&gt;&lt;m_nIndex val=&quot;1&quot;/&gt;&lt;/elem&gt;&lt;key val=&quot;3&quot;/&gt;&lt;elem&gt;&lt;m_nPartnerID val=&quot;556&quot;/&gt;&lt;m_nIndex val=&quot;2&quot;/&gt;&lt;/elem&gt;&lt;key val=&quot;4&quot;/&gt;&lt;elem&gt;&lt;m_nPartnerID val=&quot;556&quot;/&gt;&lt;m_nIndex val=&quot;1&quot;/&gt;&lt;/elem&gt;&lt;/m_mapectfillschemeMRU&gt;&lt;m_eweekdayFirstOfWeek val=&quot;2&quot;/&gt;&lt;m_eweekdayFirstOfWorkweek val=&quot;2&quot;/&gt;&lt;m_eweekdayFirstOfWeekend val=&quot;7&quot;/&gt;&lt;/CPresentation&gt;&lt;CDefaultPrec id=&quot;9&quot;&gt;&lt;m_precDefault/&gt;&lt;/CDefaultPrec&gt;&lt;CDefaultPrec id=&quot;8&quot;&gt;&lt;m_precDefault/&gt;&lt;/CDefaultPrec&gt;&lt;CDefaultPrec id=&quot;7&quot;&gt;&lt;m_precDefault/&gt;&lt;/CDefaultPrec&gt;&lt;CDefaultPrec id=&quot;6&quot;&gt;&lt;m_precDefault/&gt;&lt;/CDefaultPrec&gt;&lt;CDefaultPrec id=&quot;5&quot;&gt;&lt;m_precDefault/&gt;&lt;/CDefaultPrec&gt;&lt;CDefaultPrec id=&quot;4&quot;&gt;&lt;m_precDefault/&gt;&lt;/CDefaultPrec&gt;&lt;CDefaultPrec id=&quot;3&quot;&gt;&lt;m_precDefault/&gt;&lt;/CDefaultPrec&gt;&lt;CDefaultPrec id=&quot;2&quot;&gt;&lt;m_precDefault&gt;&lt;m_chDecimalSymbol&gt;.&lt;/m_chDecimalSymbol&gt;&lt;m_nGroupingDigits val=&quot;2147483647&quot;/&gt;&lt;m_chDecimalSymbol17909&gt;.&lt;/m_chDecimalSymbol17909&gt;&lt;m_nGroupingDigits17909 val=&quot;2147483647&quot;/&gt;&lt;/m_precDefault&gt;&lt;/CDefaultPrec&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he K 프로젝트">
  <a:themeElements>
    <a:clrScheme name="The-K">
      <a:dk1>
        <a:srgbClr val="000000"/>
      </a:dk1>
      <a:lt1>
        <a:srgbClr val="FFFFFF"/>
      </a:lt1>
      <a:dk2>
        <a:srgbClr val="FFD200"/>
      </a:dk2>
      <a:lt2>
        <a:srgbClr val="FFE600"/>
      </a:lt2>
      <a:accent1>
        <a:srgbClr val="1F497D"/>
      </a:accent1>
      <a:accent2>
        <a:srgbClr val="C00000"/>
      </a:accent2>
      <a:accent3>
        <a:srgbClr val="9BBB59"/>
      </a:accent3>
      <a:accent4>
        <a:srgbClr val="858274"/>
      </a:accent4>
      <a:accent5>
        <a:srgbClr val="FFA600"/>
      </a:accent5>
      <a:accent6>
        <a:srgbClr val="62574A"/>
      </a:accent6>
      <a:hlink>
        <a:srgbClr val="364086"/>
      </a:hlink>
      <a:folHlink>
        <a:srgbClr val="A3AADA"/>
      </a:folHlink>
    </a:clrScheme>
    <a:fontScheme name="_☆KB금융체">
      <a:majorFont>
        <a:latin typeface="KB금융 제목체 Bold"/>
        <a:ea typeface="KB금융 제목체 Bold"/>
        <a:cs typeface=""/>
      </a:majorFont>
      <a:minorFont>
        <a:latin typeface="KB금융 본문체 Medium"/>
        <a:ea typeface="KB금융 본문체 Mediu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w="6350" cap="flat">
          <a:noFill/>
          <a:miter lim="800000"/>
        </a:ln>
      </a:spPr>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defPPr algn="ctr">
          <a:lnSpc>
            <a:spcPct val="90000"/>
          </a:lnSpc>
          <a:spcBef>
            <a:spcPts val="600"/>
          </a:spcBef>
          <a:buClr>
            <a:schemeClr val="bg2"/>
          </a:buClr>
          <a:defRPr sz="1200" dirty="0" smtClean="0">
            <a:solidFill>
              <a:schemeClr val="tx1"/>
            </a:solidFill>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bg1">
              <a:lumMod val="50000"/>
            </a:schemeClr>
          </a:solidFill>
          <a:miter lim="800000"/>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ln w="6350" cap="flat">
          <a:noFill/>
          <a:miter lim="800000"/>
        </a:ln>
      </a:spPr>
      <a:bodyPr wrap="square" lIns="72000" tIns="36000" rIns="72000" bIns="36000" rtlCol="0" anchor="t" anchorCtr="0">
        <a:noAutofit/>
      </a:bodyPr>
      <a:lstStyle>
        <a:defPPr>
          <a:lnSpc>
            <a:spcPct val="90000"/>
          </a:lnSpc>
          <a:defRPr sz="1200" smtClean="0">
            <a:cs typeface="Arial" pitchFamily="34" charset="0"/>
          </a:defRPr>
        </a:defPPr>
      </a:lstStyle>
    </a:txDef>
  </a:objectDefaults>
  <a:extraClrSchemeLst/>
  <a:custClrLst>
    <a:custClr name="Custom Color 1">
      <a:srgbClr val="9B1717"/>
    </a:custClr>
    <a:custClr name="Custom Color 2">
      <a:srgbClr val="DCDC00"/>
    </a:custClr>
    <a:custClr name="Custom Color 3">
      <a:srgbClr val="289055"/>
    </a:custClr>
  </a:custClrLst>
  <a:extLst>
    <a:ext uri="{05A4C25C-085E-4340-85A3-A5531E510DB2}">
      <thm15:themeFamily xmlns:thm15="http://schemas.microsoft.com/office/thememl/2012/main" name="Blank.potx" id="{640276DA-974F-4972-AC73-9FCF75EFFC11}" vid="{6D8D49E7-FB85-45D6-8CFF-1757C33FAB73}"/>
    </a:ext>
  </a:extLst>
</a:theme>
</file>

<file path=ppt/theme/theme2.xml><?xml version="1.0" encoding="utf-8"?>
<a:theme xmlns:a="http://schemas.openxmlformats.org/drawingml/2006/main" name="Office Theme">
  <a:themeElements>
    <a:clrScheme name="ATK Color 2012_01">
      <a:dk1>
        <a:srgbClr val="000000"/>
      </a:dk1>
      <a:lt1>
        <a:srgbClr val="FFFFFF"/>
      </a:lt1>
      <a:dk2>
        <a:srgbClr val="778242"/>
      </a:dk2>
      <a:lt2>
        <a:srgbClr val="9B1717"/>
      </a:lt2>
      <a:accent1>
        <a:srgbClr val="364086"/>
      </a:accent1>
      <a:accent2>
        <a:srgbClr val="EFEEEC"/>
      </a:accent2>
      <a:accent3>
        <a:srgbClr val="ADABA1"/>
      </a:accent3>
      <a:accent4>
        <a:srgbClr val="858274"/>
      </a:accent4>
      <a:accent5>
        <a:srgbClr val="FCA248"/>
      </a:accent5>
      <a:accent6>
        <a:srgbClr val="CDD773"/>
      </a:accent6>
      <a:hlink>
        <a:srgbClr val="364086"/>
      </a:hlink>
      <a:folHlink>
        <a:srgbClr val="A3AAD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0</TotalTime>
  <Words>4419</Words>
  <Application>Microsoft Office PowerPoint</Application>
  <PresentationFormat>A4 용지(210x297mm)</PresentationFormat>
  <Paragraphs>979</Paragraphs>
  <Slides>38</Slides>
  <Notes>33</Notes>
  <HiddenSlides>0</HiddenSlides>
  <MMClips>0</MMClips>
  <ScaleCrop>false</ScaleCrop>
  <HeadingPairs>
    <vt:vector size="8" baseType="variant">
      <vt:variant>
        <vt:lpstr>사용한 글꼴</vt:lpstr>
      </vt:variant>
      <vt:variant>
        <vt:i4>13</vt:i4>
      </vt:variant>
      <vt:variant>
        <vt:lpstr>테마</vt:lpstr>
      </vt:variant>
      <vt:variant>
        <vt:i4>1</vt:i4>
      </vt:variant>
      <vt:variant>
        <vt:lpstr>포함된 OLE 서버</vt:lpstr>
      </vt:variant>
      <vt:variant>
        <vt:i4>1</vt:i4>
      </vt:variant>
      <vt:variant>
        <vt:lpstr>슬라이드 제목</vt:lpstr>
      </vt:variant>
      <vt:variant>
        <vt:i4>38</vt:i4>
      </vt:variant>
    </vt:vector>
  </HeadingPairs>
  <TitlesOfParts>
    <vt:vector size="53" baseType="lpstr">
      <vt:lpstr>-2002</vt:lpstr>
      <vt:lpstr>KB금융 본문체 Bold</vt:lpstr>
      <vt:lpstr>KB금융 본문체 Light</vt:lpstr>
      <vt:lpstr>KB금융 본문체 Medium</vt:lpstr>
      <vt:lpstr>KB금융 제목체 Bold</vt:lpstr>
      <vt:lpstr>KB금융 제목체 Medium</vt:lpstr>
      <vt:lpstr>ヒラギノ角ゴ ProN W3</vt:lpstr>
      <vt:lpstr>나눔고딕</vt:lpstr>
      <vt:lpstr>맑은 고딕</vt:lpstr>
      <vt:lpstr>Arial</vt:lpstr>
      <vt:lpstr>Times New Roman</vt:lpstr>
      <vt:lpstr>Wingdings</vt:lpstr>
      <vt:lpstr>Wingdings 2</vt:lpstr>
      <vt:lpstr>The K 프로젝트</vt:lpstr>
      <vt:lpstr>think-cell Slide</vt:lpstr>
      <vt:lpstr>KB국민은행 암호화관련 사용 가이드</vt:lpstr>
      <vt:lpstr>개정 이력</vt:lpstr>
      <vt:lpstr>목차</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2016-05-10T05:57:35Z</dcterms:created>
  <dcterms:modified xsi:type="dcterms:W3CDTF">2023-06-28T05:49:40Z</dcterms:modified>
  <cp:version>042016</cp:version>
</cp:coreProperties>
</file>