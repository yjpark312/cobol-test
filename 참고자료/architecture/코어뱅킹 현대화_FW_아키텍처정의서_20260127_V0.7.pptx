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112"/>
  </p:notesMasterIdLst>
  <p:handoutMasterIdLst>
    <p:handoutMasterId r:id="rId113"/>
  </p:handoutMasterIdLst>
  <p:sldIdLst>
    <p:sldId id="1305" r:id="rId2"/>
    <p:sldId id="1292" r:id="rId3"/>
    <p:sldId id="1293" r:id="rId4"/>
    <p:sldId id="1465" r:id="rId5"/>
    <p:sldId id="1464" r:id="rId6"/>
    <p:sldId id="1466" r:id="rId7"/>
    <p:sldId id="1447" r:id="rId8"/>
    <p:sldId id="1478" r:id="rId9"/>
    <p:sldId id="1448" r:id="rId10"/>
    <p:sldId id="1449" r:id="rId11"/>
    <p:sldId id="1502" r:id="rId12"/>
    <p:sldId id="1468" r:id="rId13"/>
    <p:sldId id="1440" r:id="rId14"/>
    <p:sldId id="1544" r:id="rId15"/>
    <p:sldId id="1328" r:id="rId16"/>
    <p:sldId id="1545" r:id="rId17"/>
    <p:sldId id="1331" r:id="rId18"/>
    <p:sldId id="1503" r:id="rId19"/>
    <p:sldId id="1429" r:id="rId20"/>
    <p:sldId id="1574" r:id="rId21"/>
    <p:sldId id="1442" r:id="rId22"/>
    <p:sldId id="1523" r:id="rId23"/>
    <p:sldId id="1461" r:id="rId24"/>
    <p:sldId id="1462" r:id="rId25"/>
    <p:sldId id="1513" r:id="rId26"/>
    <p:sldId id="1469" r:id="rId27"/>
    <p:sldId id="1412" r:id="rId28"/>
    <p:sldId id="1499" r:id="rId29"/>
    <p:sldId id="1334" r:id="rId30"/>
    <p:sldId id="1414" r:id="rId31"/>
    <p:sldId id="1571" r:id="rId32"/>
    <p:sldId id="1573" r:id="rId33"/>
    <p:sldId id="1417" r:id="rId34"/>
    <p:sldId id="1418" r:id="rId35"/>
    <p:sldId id="1487" r:id="rId36"/>
    <p:sldId id="1420" r:id="rId37"/>
    <p:sldId id="1348" r:id="rId38"/>
    <p:sldId id="1310" r:id="rId39"/>
    <p:sldId id="1422" r:id="rId40"/>
    <p:sldId id="1423" r:id="rId41"/>
    <p:sldId id="1424" r:id="rId42"/>
    <p:sldId id="1425" r:id="rId43"/>
    <p:sldId id="1311" r:id="rId44"/>
    <p:sldId id="1491" r:id="rId45"/>
    <p:sldId id="1312" r:id="rId46"/>
    <p:sldId id="1314" r:id="rId47"/>
    <p:sldId id="1504" r:id="rId48"/>
    <p:sldId id="1321" r:id="rId49"/>
    <p:sldId id="1322" r:id="rId50"/>
    <p:sldId id="1363" r:id="rId51"/>
    <p:sldId id="1453" r:id="rId52"/>
    <p:sldId id="1364" r:id="rId53"/>
    <p:sldId id="1395" r:id="rId54"/>
    <p:sldId id="1394" r:id="rId55"/>
    <p:sldId id="1432" r:id="rId56"/>
    <p:sldId id="1455" r:id="rId57"/>
    <p:sldId id="1537" r:id="rId58"/>
    <p:sldId id="1341" r:id="rId59"/>
    <p:sldId id="1343" r:id="rId60"/>
    <p:sldId id="1345" r:id="rId61"/>
    <p:sldId id="1347" r:id="rId62"/>
    <p:sldId id="1463" r:id="rId63"/>
    <p:sldId id="1366" r:id="rId64"/>
    <p:sldId id="1368" r:id="rId65"/>
    <p:sldId id="1370" r:id="rId66"/>
    <p:sldId id="1371" r:id="rId67"/>
    <p:sldId id="1514" r:id="rId68"/>
    <p:sldId id="1515" r:id="rId69"/>
    <p:sldId id="1516" r:id="rId70"/>
    <p:sldId id="1373" r:id="rId71"/>
    <p:sldId id="1459" r:id="rId72"/>
    <p:sldId id="1492" r:id="rId73"/>
    <p:sldId id="1493" r:id="rId74"/>
    <p:sldId id="1457" r:id="rId75"/>
    <p:sldId id="1564" r:id="rId76"/>
    <p:sldId id="1563" r:id="rId77"/>
    <p:sldId id="1494" r:id="rId78"/>
    <p:sldId id="1505" r:id="rId79"/>
    <p:sldId id="1506" r:id="rId80"/>
    <p:sldId id="1507" r:id="rId81"/>
    <p:sldId id="1476" r:id="rId82"/>
    <p:sldId id="1472" r:id="rId83"/>
    <p:sldId id="1488" r:id="rId84"/>
    <p:sldId id="1473" r:id="rId85"/>
    <p:sldId id="1529" r:id="rId86"/>
    <p:sldId id="1474" r:id="rId87"/>
    <p:sldId id="1520" r:id="rId88"/>
    <p:sldId id="1498" r:id="rId89"/>
    <p:sldId id="1485" r:id="rId90"/>
    <p:sldId id="1496" r:id="rId91"/>
    <p:sldId id="1475" r:id="rId92"/>
    <p:sldId id="1470" r:id="rId93"/>
    <p:sldId id="1477" r:id="rId94"/>
    <p:sldId id="1406" r:id="rId95"/>
    <p:sldId id="1408" r:id="rId96"/>
    <p:sldId id="1407" r:id="rId97"/>
    <p:sldId id="1512" r:id="rId98"/>
    <p:sldId id="1538" r:id="rId99"/>
    <p:sldId id="1542" r:id="rId100"/>
    <p:sldId id="1541" r:id="rId101"/>
    <p:sldId id="1539" r:id="rId102"/>
    <p:sldId id="1540" r:id="rId103"/>
    <p:sldId id="1560" r:id="rId104"/>
    <p:sldId id="1561" r:id="rId105"/>
    <p:sldId id="1543" r:id="rId106"/>
    <p:sldId id="1546" r:id="rId107"/>
    <p:sldId id="1549" r:id="rId108"/>
    <p:sldId id="1547" r:id="rId109"/>
    <p:sldId id="1559" r:id="rId110"/>
    <p:sldId id="1298" r:id="rId111"/>
  </p:sldIdLst>
  <p:sldSz cx="9906000" cy="6858000" type="A4"/>
  <p:notesSz cx="9940925" cy="6808788"/>
  <p:custDataLst>
    <p:tags r:id="rId1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5" userDrawn="1">
          <p15:clr>
            <a:srgbClr val="A4A3A4"/>
          </p15:clr>
        </p15:guide>
        <p15:guide id="4" orient="horz" pos="3566" userDrawn="1">
          <p15:clr>
            <a:srgbClr val="A4A3A4"/>
          </p15:clr>
        </p15:guide>
        <p15:guide id="5" orient="horz" pos="3362" userDrawn="1">
          <p15:clr>
            <a:srgbClr val="A4A3A4"/>
          </p15:clr>
        </p15:guide>
        <p15:guide id="6" orient="horz" pos="3181" userDrawn="1">
          <p15:clr>
            <a:srgbClr val="A4A3A4"/>
          </p15:clr>
        </p15:guide>
        <p15:guide id="7" pos="2893" userDrawn="1">
          <p15:clr>
            <a:srgbClr val="A4A3A4"/>
          </p15:clr>
        </p15:guide>
        <p15:guide id="8" pos="3143" userDrawn="1">
          <p15:clr>
            <a:srgbClr val="A4A3A4"/>
          </p15:clr>
        </p15:guide>
        <p15:guide id="9" pos="3415" userDrawn="1">
          <p15:clr>
            <a:srgbClr val="A4A3A4"/>
          </p15:clr>
        </p15:guide>
        <p15:guide id="10" pos="5774" userDrawn="1">
          <p15:clr>
            <a:srgbClr val="A4A3A4"/>
          </p15:clr>
        </p15:guide>
        <p15:guide id="11" pos="5592" userDrawn="1">
          <p15:clr>
            <a:srgbClr val="A4A3A4"/>
          </p15:clr>
        </p15:guide>
        <p15:guide id="12" pos="2644" userDrawn="1">
          <p15:clr>
            <a:srgbClr val="A4A3A4"/>
          </p15:clr>
        </p15:guide>
        <p15:guide id="13" pos="1555" userDrawn="1">
          <p15:clr>
            <a:srgbClr val="A4A3A4"/>
          </p15:clr>
        </p15:guide>
        <p15:guide id="14" orient="horz" pos="391" userDrawn="1">
          <p15:clr>
            <a:srgbClr val="A4A3A4"/>
          </p15:clr>
        </p15:guide>
        <p15:guide id="24" pos="60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  <p15:guide id="3" orient="horz" pos="2146" userDrawn="1">
          <p15:clr>
            <a:srgbClr val="A4A3A4"/>
          </p15:clr>
        </p15:guide>
        <p15:guide id="4" pos="3109" userDrawn="1">
          <p15:clr>
            <a:srgbClr val="A4A3A4"/>
          </p15:clr>
        </p15:guide>
        <p15:guide id="5" pos="2159" userDrawn="1">
          <p15:clr>
            <a:srgbClr val="A4A3A4"/>
          </p15:clr>
        </p15:guide>
        <p15:guide id="6" pos="313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FF"/>
    <a:srgbClr val="289055"/>
    <a:srgbClr val="33CC33"/>
    <a:srgbClr val="FF3300"/>
    <a:srgbClr val="9999FF"/>
    <a:srgbClr val="FFE466"/>
    <a:srgbClr val="9B1717"/>
    <a:srgbClr val="FFFFCC"/>
    <a:srgbClr val="FFF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6" autoAdjust="0"/>
    <p:restoredTop sz="96400" autoAdjust="0"/>
  </p:normalViewPr>
  <p:slideViewPr>
    <p:cSldViewPr snapToObjects="1" showGuides="1">
      <p:cViewPr varScale="1">
        <p:scale>
          <a:sx n="114" d="100"/>
          <a:sy n="114" d="100"/>
        </p:scale>
        <p:origin x="1272" y="96"/>
      </p:cViewPr>
      <p:guideLst>
        <p:guide orient="horz" pos="1275"/>
        <p:guide orient="horz" pos="3566"/>
        <p:guide orient="horz" pos="3362"/>
        <p:guide orient="horz" pos="3181"/>
        <p:guide pos="2893"/>
        <p:guide pos="3143"/>
        <p:guide pos="3415"/>
        <p:guide pos="5774"/>
        <p:guide pos="5592"/>
        <p:guide pos="2644"/>
        <p:guide pos="1555"/>
        <p:guide orient="horz" pos="391"/>
        <p:guide pos="609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3672"/>
    </p:cViewPr>
  </p:sorterViewPr>
  <p:notesViewPr>
    <p:cSldViewPr snapToObjects="1" showGuides="1">
      <p:cViewPr varScale="1">
        <p:scale>
          <a:sx n="116" d="100"/>
          <a:sy n="116" d="100"/>
        </p:scale>
        <p:origin x="-1854" y="-102"/>
      </p:cViewPr>
      <p:guideLst>
        <p:guide orient="horz" pos="3132"/>
        <p:guide pos="2144"/>
        <p:guide orient="horz" pos="2146"/>
        <p:guide pos="3109"/>
        <p:guide pos="2159"/>
        <p:guide pos="313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handoutMaster" Target="handoutMasters/handoutMaster1.xml"/><Relationship Id="rId11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gs" Target="tags/tag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2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30934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r">
              <a:defRPr sz="1200"/>
            </a:lvl1pPr>
          </a:lstStyle>
          <a:p>
            <a:fld id="{37497BA2-BE1C-4EE9-A31C-7FFCDEBC3FDE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1/27/2026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2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30934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r">
              <a:defRPr sz="1200"/>
            </a:lvl1pPr>
          </a:lstStyle>
          <a:p>
            <a:fld id="{F0C191C2-D4F7-424F-868C-23ADE6615EBC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55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2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0934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732C4D34-2C19-43C3-91CC-9F2B4AC12977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27375" y="512763"/>
            <a:ext cx="36861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273" tIns="49637" rIns="99273" bIns="4963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093" y="3234179"/>
            <a:ext cx="7952740" cy="3063955"/>
          </a:xfrm>
          <a:prstGeom prst="rect">
            <a:avLst/>
          </a:prstGeom>
        </p:spPr>
        <p:txBody>
          <a:bodyPr vert="horz" lIns="99273" tIns="49637" rIns="99273" bIns="496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2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0934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D256E95E-57AA-4526-AA4C-3002F47FB1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0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6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22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7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86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03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gif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)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5" y="-7268"/>
            <a:ext cx="9906000" cy="6856552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sz="quarter" idx="12" hasCustomPrompt="1"/>
          </p:nvPr>
        </p:nvSpPr>
        <p:spPr>
          <a:xfrm>
            <a:off x="340406" y="2772907"/>
            <a:ext cx="4852800" cy="371513"/>
          </a:xfrm>
        </p:spPr>
        <p:txBody>
          <a:bodyPr wrap="square" lIns="90000" tIns="46800" rIns="90000" bIns="46800"/>
          <a:lstStyle>
            <a:lvl1pPr marL="0" algn="l" defTabSz="914400" rtl="0" eaLnBrk="1" latinLnBrk="0" hangingPunct="1">
              <a:defRPr lang="ko-KR" altLang="en-US" sz="200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ko-KR" dirty="0"/>
              <a:t>Addtional Title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0406" y="2204864"/>
            <a:ext cx="6804000" cy="510012"/>
          </a:xfrm>
          <a:noFill/>
          <a:ln w="6350">
            <a:noFill/>
            <a:miter lim="800000"/>
          </a:ln>
        </p:spPr>
        <p:txBody>
          <a:bodyPr vert="horz" wrap="square" lIns="90000" tIns="46800" rIns="90000" bIns="46800" rtlCol="0">
            <a:spAutoFit/>
          </a:bodyPr>
          <a:lstStyle>
            <a:lvl1pPr>
              <a:defRPr lang="ko-KR" altLang="en-US" sz="3000" b="0" baseline="0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</a:pPr>
            <a:r>
              <a:rPr lang="en-US" altLang="ko-KR" dirty="0"/>
              <a:t>Document</a:t>
            </a:r>
            <a:r>
              <a:rPr lang="ko-KR" altLang="en-US" dirty="0"/>
              <a:t> </a:t>
            </a:r>
            <a:r>
              <a:rPr lang="en-US" altLang="ko-KR" dirty="0"/>
              <a:t>Subject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19" y="5406023"/>
            <a:ext cx="1963636" cy="68727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24688"/>
            <a:ext cx="1966024" cy="396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999" y="6275640"/>
            <a:ext cx="1943289" cy="321712"/>
          </a:xfrm>
          <a:prstGeom prst="rect">
            <a:avLst/>
          </a:prstGeom>
        </p:spPr>
      </p:pic>
      <p:sp>
        <p:nvSpPr>
          <p:cNvPr id="8" name="내용 개체 틀 10"/>
          <p:cNvSpPr>
            <a:spLocks noGrp="1"/>
          </p:cNvSpPr>
          <p:nvPr>
            <p:ph sz="quarter" idx="11" hasCustomPrompt="1"/>
          </p:nvPr>
        </p:nvSpPr>
        <p:spPr>
          <a:xfrm>
            <a:off x="560512" y="4833156"/>
            <a:ext cx="1447897" cy="324000"/>
          </a:xfrm>
          <a:noFill/>
        </p:spPr>
        <p:txBody>
          <a:bodyPr wrap="none" rtlCol="0" anchor="ctr">
            <a:noAutofit/>
          </a:bodyPr>
          <a:lstStyle>
            <a:lvl1pPr marL="0" algn="l" defTabSz="914400" rtl="0" eaLnBrk="1" latinLnBrk="0" hangingPunct="1">
              <a:defRPr lang="ko-KR" altLang="en-US" sz="1700" b="0" kern="1200" baseline="0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>
              <a:lnSpc>
                <a:spcPct val="150000"/>
              </a:lnSpc>
            </a:pPr>
            <a:r>
              <a:rPr lang="en-US" altLang="ko-KR" sz="1700" dirty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Author(s) here</a:t>
            </a:r>
          </a:p>
        </p:txBody>
      </p:sp>
      <p:sp>
        <p:nvSpPr>
          <p:cNvPr id="9" name="내용 개체 틀 10"/>
          <p:cNvSpPr>
            <a:spLocks noGrp="1"/>
          </p:cNvSpPr>
          <p:nvPr>
            <p:ph sz="quarter" idx="13" hasCustomPrompt="1"/>
          </p:nvPr>
        </p:nvSpPr>
        <p:spPr>
          <a:xfrm>
            <a:off x="560512" y="4455132"/>
            <a:ext cx="2416367" cy="324000"/>
          </a:xfrm>
          <a:noFill/>
        </p:spPr>
        <p:txBody>
          <a:bodyPr wrap="none" rtlCol="0" anchor="ctr">
            <a:noAutofit/>
          </a:bodyPr>
          <a:lstStyle>
            <a:lvl1pPr marL="0" algn="l" defTabSz="914400" rtl="0" eaLnBrk="1" latinLnBrk="0" hangingPunct="1">
              <a:defRPr lang="ko-KR" altLang="en-US" sz="1700" b="0" kern="1200" baseline="0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>
              <a:lnSpc>
                <a:spcPct val="150000"/>
              </a:lnSpc>
            </a:pPr>
            <a:r>
              <a:rPr lang="en-US" altLang="ko-KR" sz="1700" dirty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Date here YYYY.MM.DD.</a:t>
            </a:r>
          </a:p>
        </p:txBody>
      </p:sp>
    </p:spTree>
    <p:extLst>
      <p:ext uri="{BB962C8B-B14F-4D97-AF65-F5344CB8AC3E}">
        <p14:creationId xmlns:p14="http://schemas.microsoft.com/office/powerpoint/2010/main" val="329780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)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/>
          <p:cNvSpPr txBox="1">
            <a:spLocks/>
          </p:cNvSpPr>
          <p:nvPr userDrawn="1"/>
        </p:nvSpPr>
        <p:spPr>
          <a:xfrm>
            <a:off x="1172580" y="1052736"/>
            <a:ext cx="4356484" cy="54000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0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Medium" panose="020B0603000000000000" pitchFamily="50" charset="-127"/>
                <a:ea typeface="KB금융 제목체 Medium" panose="020B0603000000000000" pitchFamily="50" charset="-127"/>
                <a:cs typeface="+mn-cs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lt"/>
                <a:ea typeface="+mj-ea"/>
              </a:rPr>
              <a:t>목차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796389" y="1808820"/>
            <a:ext cx="9109611" cy="59511"/>
            <a:chOff x="1367282" y="2096852"/>
            <a:chExt cx="4249697" cy="72008"/>
          </a:xfrm>
        </p:grpSpPr>
        <p:sp>
          <p:nvSpPr>
            <p:cNvPr id="7" name="직사각형 6"/>
            <p:cNvSpPr/>
            <p:nvPr/>
          </p:nvSpPr>
          <p:spPr>
            <a:xfrm>
              <a:off x="1367282" y="2096852"/>
              <a:ext cx="1041438" cy="72008"/>
            </a:xfrm>
            <a:prstGeom prst="rect">
              <a:avLst/>
            </a:prstGeom>
            <a:solidFill>
              <a:srgbClr val="62574A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213663" y="2096852"/>
              <a:ext cx="3403316" cy="72008"/>
            </a:xfrm>
            <a:prstGeom prst="rect">
              <a:avLst/>
            </a:prstGeom>
            <a:solidFill>
              <a:srgbClr val="FFC000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262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내용(거버닝 메시지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1884" y="731429"/>
            <a:ext cx="9143468" cy="221599"/>
          </a:xfrm>
        </p:spPr>
        <p:txBody>
          <a:bodyPr/>
          <a:lstStyle>
            <a:lvl1pPr>
              <a:spcBef>
                <a:spcPts val="0"/>
              </a:spcBef>
              <a:defRPr sz="1600" b="0" baseline="0">
                <a:latin typeface="+mn-lt"/>
              </a:defRPr>
            </a:lvl1pPr>
          </a:lstStyle>
          <a:p>
            <a:pPr lvl="0"/>
            <a:r>
              <a:rPr lang="en-US" altLang="ko-KR" dirty="0"/>
              <a:t>Headline of maximum two lines here</a:t>
            </a:r>
          </a:p>
        </p:txBody>
      </p:sp>
    </p:spTree>
    <p:extLst>
      <p:ext uri="{BB962C8B-B14F-4D97-AF65-F5344CB8AC3E}">
        <p14:creationId xmlns:p14="http://schemas.microsoft.com/office/powerpoint/2010/main" val="30820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내용 (거버닝 메시지 미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) 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KB금융그룹(백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2" t="-8025"/>
          <a:stretch>
            <a:fillRect/>
          </a:stretch>
        </p:blipFill>
        <p:spPr bwMode="auto">
          <a:xfrm>
            <a:off x="7245352" y="333376"/>
            <a:ext cx="13049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3253336" y="2586970"/>
            <a:ext cx="3399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dirty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End of Document</a:t>
            </a:r>
            <a:endParaRPr lang="ko-KR" altLang="en-US" sz="3000" dirty="0"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356" y="6275640"/>
            <a:ext cx="1943289" cy="32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23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)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"/>
            <a:ext cx="9906000" cy="685655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450000" y="2154922"/>
            <a:ext cx="21579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3000" baseline="0" dirty="0">
                <a:solidFill>
                  <a:prstClr val="black"/>
                </a:solidFill>
                <a:latin typeface="+mj-lt"/>
                <a:ea typeface="+mj-ea"/>
              </a:rPr>
              <a:t>I. Overview</a:t>
            </a:r>
            <a:endParaRPr lang="ko-KR" altLang="en-US" sz="3000" baseline="0" dirty="0">
              <a:solidFill>
                <a:prstClr val="black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7825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31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9506756" y="6595268"/>
            <a:ext cx="405880" cy="2334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6CE8C368-3382-4C28-AE75-DF7C05ACA19D}" type="slidenum">
              <a:rPr kumimoji="0" lang="en-US" altLang="ko-KR" sz="917" b="0" i="0" u="none" strike="noStrike" kern="1200" cap="none" spc="0" normalizeH="0" baseline="0" noProof="0" smtClean="0">
                <a:ln>
                  <a:noFill/>
                </a:ln>
                <a:solidFill>
                  <a:srgbClr val="585043"/>
                </a:solidFill>
                <a:effectLst/>
                <a:uLnTx/>
                <a:uFillTx/>
                <a:latin typeface="KB금융 본문체 Medium" panose="020B0603000000000000" pitchFamily="50" charset="-127"/>
                <a:ea typeface="KB금융 본문체 Medium" panose="020B0603000000000000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ko-KR" altLang="en-US" sz="1651"/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1884" y="731429"/>
            <a:ext cx="9143468" cy="221599"/>
          </a:xfrm>
        </p:spPr>
        <p:txBody>
          <a:bodyPr/>
          <a:lstStyle>
            <a:lvl1pPr>
              <a:spcBef>
                <a:spcPts val="0"/>
              </a:spcBef>
              <a:defRPr sz="1600" b="0" baseline="0">
                <a:latin typeface="+mn-lt"/>
              </a:defRPr>
            </a:lvl1pPr>
          </a:lstStyle>
          <a:p>
            <a:pPr lvl="0"/>
            <a:r>
              <a:rPr lang="en-US" altLang="ko-KR" dirty="0"/>
              <a:t>Headline of maximum two lines here</a:t>
            </a:r>
          </a:p>
        </p:txBody>
      </p:sp>
    </p:spTree>
    <p:extLst>
      <p:ext uri="{BB962C8B-B14F-4D97-AF65-F5344CB8AC3E}">
        <p14:creationId xmlns:p14="http://schemas.microsoft.com/office/powerpoint/2010/main" val="135326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492" y="734158"/>
            <a:ext cx="9144508" cy="4431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Headline of maximum two lines here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26210368"/>
              </p:ext>
            </p:extLst>
          </p:nvPr>
        </p:nvGraphicFramePr>
        <p:xfrm>
          <a:off x="1722" y="1591"/>
          <a:ext cx="1719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0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22" y="1591"/>
                        <a:ext cx="1719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492" y="298493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1496616" y="630582"/>
            <a:ext cx="8409384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441" y="630582"/>
            <a:ext cx="149317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4813587" y="6664658"/>
            <a:ext cx="278826" cy="138499"/>
          </a:xfrm>
          <a:prstGeom prst="rect">
            <a:avLst/>
          </a:prstGeom>
          <a:solidFill>
            <a:srgbClr val="FFFFFF"/>
          </a:solidFill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ctr"/>
            <a:fld id="{6CE8C368-3382-4C28-AE75-DF7C05ACA19D}" type="slidenum">
              <a:rPr lang="en-US" sz="1000" b="0" smtClean="0">
                <a:solidFill>
                  <a:srgbClr val="585043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pPr algn="ctr"/>
              <a:t>‹#›</a:t>
            </a:fld>
            <a:endParaRPr lang="en-US" sz="1000" b="0" dirty="0">
              <a:solidFill>
                <a:srgbClr val="585043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331200" y="6597352"/>
            <a:ext cx="9237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7"/>
          <a:stretch/>
        </p:blipFill>
        <p:spPr>
          <a:xfrm>
            <a:off x="8841432" y="6650310"/>
            <a:ext cx="724151" cy="1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5" r:id="rId2"/>
    <p:sldLayoutId id="2147483676" r:id="rId3"/>
    <p:sldLayoutId id="2147483688" r:id="rId4"/>
    <p:sldLayoutId id="2147483679" r:id="rId5"/>
    <p:sldLayoutId id="2147483689" r:id="rId6"/>
    <p:sldLayoutId id="2147483686" r:id="rId7"/>
    <p:sldLayoutId id="2147483690" r:id="rId8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baseline="0" dirty="0">
          <a:solidFill>
            <a:schemeClr val="accent5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Clr>
          <a:srgbClr val="FFA600"/>
        </a:buClr>
        <a:buSzPct val="100000"/>
        <a:buFont typeface="Arial" pitchFamily="34" charset="0"/>
        <a:buNone/>
        <a:defRPr sz="1600" b="0" kern="1200" baseline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310896" indent="-128016" algn="l" defTabSz="914400" rtl="0" eaLnBrk="1" latinLnBrk="0" hangingPunct="1">
        <a:lnSpc>
          <a:spcPct val="90000"/>
        </a:lnSpc>
        <a:spcBef>
          <a:spcPts val="900"/>
        </a:spcBef>
        <a:buClr>
          <a:srgbClr val="FFA600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2pPr>
      <a:lvl3pPr marL="489600" indent="-180000" algn="l" defTabSz="914400" rtl="0" eaLnBrk="1" latinLnBrk="0" hangingPunct="1">
        <a:lnSpc>
          <a:spcPct val="90000"/>
        </a:lnSpc>
        <a:spcBef>
          <a:spcPts val="600"/>
        </a:spcBef>
        <a:buClr>
          <a:srgbClr val="FFA600"/>
        </a:buClr>
        <a:buFont typeface="Arial" pitchFamily="34" charset="0"/>
        <a:buChar char="–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3pPr>
      <a:lvl4pPr marL="633600" indent="-137160" algn="l" defTabSz="914400" rtl="0" eaLnBrk="1" latinLnBrk="0" hangingPunct="1">
        <a:lnSpc>
          <a:spcPct val="90000"/>
        </a:lnSpc>
        <a:spcBef>
          <a:spcPts val="200"/>
        </a:spcBef>
        <a:buClr>
          <a:srgbClr val="FFA600"/>
        </a:buClr>
        <a:buFont typeface="Arial" pitchFamily="34" charset="0"/>
        <a:buChar char="-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4pPr>
      <a:lvl5pPr marL="770400" indent="-136800" algn="l" defTabSz="914400" rtl="0" eaLnBrk="1" latinLnBrk="0" hangingPunct="1">
        <a:lnSpc>
          <a:spcPct val="90000"/>
        </a:lnSpc>
        <a:spcBef>
          <a:spcPts val="100"/>
        </a:spcBef>
        <a:buClr>
          <a:srgbClr val="FFA600"/>
        </a:buClr>
        <a:buFont typeface="Arial" pitchFamily="34" charset="0"/>
        <a:buChar char="-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18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://10.38.117.32:21801/nkesa_mmi/receive_from_mmi.jsp" TargetMode="Externa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://xx.xx.xx.xx:9081/nkesa/" TargetMode="Externa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://nf.kbstar.com:8081/~~~" TargetMode="External"/><Relationship Id="rId2" Type="http://schemas.openxmlformats.org/officeDocument/2006/relationships/hyperlink" Target="http://***/nexc/AAA/AAA1234501.jmd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aa.kbstar.com/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표준</a:t>
            </a:r>
            <a:r>
              <a:rPr lang="en-US" altLang="ko-KR" dirty="0"/>
              <a:t>Java</a:t>
            </a:r>
            <a:r>
              <a:rPr lang="ko-KR" altLang="en-US" dirty="0"/>
              <a:t> 프레임워크 </a:t>
            </a:r>
            <a:r>
              <a:rPr lang="en-US" altLang="ko-KR" dirty="0"/>
              <a:t>(n-KESA 2.0)</a:t>
            </a: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아키텍처정의서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965749"/>
              </p:ext>
            </p:extLst>
          </p:nvPr>
        </p:nvGraphicFramePr>
        <p:xfrm>
          <a:off x="561652" y="4185156"/>
          <a:ext cx="3132348" cy="972000"/>
        </p:xfrm>
        <a:graphic>
          <a:graphicData uri="http://schemas.openxmlformats.org/drawingml/2006/table">
            <a:tbl>
              <a:tblPr firstRow="1" firstCol="1" bandRow="1"/>
              <a:tblGrid>
                <a:gridCol w="118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400" kern="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굴림"/>
                        </a:rPr>
                        <a:t>작성자</a:t>
                      </a:r>
                      <a:endParaRPr lang="ko-KR" sz="1400" kern="100" baseline="0" dirty="0">
                        <a:effectLst/>
                        <a:latin typeface="+mj-lt"/>
                        <a:ea typeface="+mj-ea"/>
                        <a:cs typeface="Times New Roman"/>
                      </a:endParaRPr>
                    </a:p>
                  </a:txBody>
                  <a:tcPr marL="29396" marR="29396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kern="100" baseline="0" dirty="0">
                          <a:effectLst/>
                          <a:latin typeface="+mj-lt"/>
                          <a:ea typeface="+mj-ea"/>
                          <a:cs typeface="Times New Roman"/>
                        </a:rPr>
                        <a:t>김영탁</a:t>
                      </a:r>
                      <a:endParaRPr lang="ko-KR" sz="1400" kern="100" baseline="0" dirty="0">
                        <a:effectLst/>
                        <a:latin typeface="+mj-lt"/>
                        <a:ea typeface="+mj-ea"/>
                        <a:cs typeface="Times New Roman"/>
                      </a:endParaRPr>
                    </a:p>
                  </a:txBody>
                  <a:tcPr marL="29396" marR="29396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400" kern="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굴림"/>
                        </a:rPr>
                        <a:t>작성 상태</a:t>
                      </a:r>
                      <a:endParaRPr lang="ko-KR" sz="1400" kern="100" baseline="0" dirty="0">
                        <a:effectLst/>
                        <a:latin typeface="+mj-lt"/>
                        <a:ea typeface="+mj-ea"/>
                        <a:cs typeface="Times New Roman"/>
                      </a:endParaRPr>
                    </a:p>
                  </a:txBody>
                  <a:tcPr marL="29396" marR="29396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kern="0" baseline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Times New Roman"/>
                        </a:rPr>
                        <a:t>개정</a:t>
                      </a:r>
                      <a:endParaRPr lang="ko-KR" sz="1400" kern="100" baseline="0" dirty="0">
                        <a:effectLst/>
                        <a:latin typeface="+mj-lt"/>
                        <a:ea typeface="+mj-ea"/>
                        <a:cs typeface="Times New Roman"/>
                      </a:endParaRPr>
                    </a:p>
                  </a:txBody>
                  <a:tcPr marL="29396" marR="29396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400" kern="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굴림"/>
                        </a:rPr>
                        <a:t>최종 개정일</a:t>
                      </a:r>
                      <a:endParaRPr lang="ko-KR" sz="1400" kern="100" baseline="0" dirty="0">
                        <a:effectLst/>
                        <a:latin typeface="+mj-lt"/>
                        <a:ea typeface="+mj-ea"/>
                        <a:cs typeface="Times New Roman"/>
                      </a:endParaRPr>
                    </a:p>
                  </a:txBody>
                  <a:tcPr marL="29396" marR="29396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2026-01-27</a:t>
                      </a:r>
                      <a:endParaRPr lang="ko-KR" sz="1400" kern="100" baseline="0" dirty="0">
                        <a:effectLst/>
                        <a:latin typeface="+mj-lt"/>
                        <a:ea typeface="+mj-ea"/>
                        <a:cs typeface="Times New Roman"/>
                      </a:endParaRPr>
                    </a:p>
                  </a:txBody>
                  <a:tcPr marL="29396" marR="29396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내용 개체 틀 30">
            <a:extLst>
              <a:ext uri="{FF2B5EF4-FFF2-40B4-BE49-F238E27FC236}">
                <a16:creationId xmlns:a16="http://schemas.microsoft.com/office/drawing/2014/main" id="{2BB7D230-6A4C-449D-BF57-79BDA5006EFF}"/>
              </a:ext>
            </a:extLst>
          </p:cNvPr>
          <p:cNvSpPr txBox="1">
            <a:spLocks/>
          </p:cNvSpPr>
          <p:nvPr/>
        </p:nvSpPr>
        <p:spPr>
          <a:xfrm>
            <a:off x="426806" y="1092617"/>
            <a:ext cx="4680000" cy="22377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>
                <a:latin typeface="+mj-lt"/>
                <a:ea typeface="+mj-ea"/>
              </a:rPr>
              <a:t>코어 현대화 </a:t>
            </a:r>
            <a:r>
              <a:rPr lang="en-US" altLang="ko-KR" u="sng">
                <a:latin typeface="+mj-lt"/>
                <a:ea typeface="+mj-ea"/>
              </a:rPr>
              <a:t>1</a:t>
            </a:r>
            <a:r>
              <a:rPr lang="ko-KR" altLang="en-US" u="sng">
                <a:latin typeface="+mj-lt"/>
                <a:ea typeface="+mj-ea"/>
              </a:rPr>
              <a:t>단계 프로젝트 </a:t>
            </a:r>
            <a:endParaRPr lang="en-US" altLang="ko-KR" sz="1400" u="sng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7394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개정 이력</a:t>
            </a:r>
          </a:p>
        </p:txBody>
      </p:sp>
      <p:graphicFrame>
        <p:nvGraphicFramePr>
          <p:cNvPr id="7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61111"/>
              </p:ext>
            </p:extLst>
          </p:nvPr>
        </p:nvGraphicFramePr>
        <p:xfrm>
          <a:off x="273050" y="972640"/>
          <a:ext cx="9359900" cy="4700160"/>
        </p:xfrm>
        <a:graphic>
          <a:graphicData uri="http://schemas.openxmlformats.org/drawingml/2006/table">
            <a:tbl>
              <a:tblPr/>
              <a:tblGrid>
                <a:gridCol w="133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4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일자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버전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주요 내용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작성자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승인자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2025-07-14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0.10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초안 작성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(n-KESA 1.0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기준일자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2021.03.26_v2.1)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B금융 본문체 Light" panose="020B0303000000000000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A3AAD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김영탁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2025-07-14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0.11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DBIO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및 계획정지 내용반영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, CDC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용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CommonArea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내용 반영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A3AAD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김영탁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조창현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 2025-10-27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0.12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배치 관련 내용 업데이트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A3AAD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김영탁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 2025-11-04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0.13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목차 및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DBIO, CDC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내용 업데이트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B금융 본문체 Light" panose="020B0303000000000000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김영탁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2025-12-05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0.14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일자전환 프로세스 반영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김영탁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2025-12-16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0.15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연동거래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Transaction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수정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B금융 본문체 Light" panose="020B0303000000000000" pitchFamily="50" charset="-127"/>
                        </a:rPr>
                        <a:t>보상거래 내용추가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B금융 본문체 Light" panose="020B0303000000000000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Arial" charset="0"/>
                        </a:rPr>
                        <a:t>김영탁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4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2025-12-18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0.16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변경로그 및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AP 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디렉토리 내용 정비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장요재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4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2025-12-19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0.16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CM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관련 내용 정비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양주현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4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2026-01-27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0.70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내용 정비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지민수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99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2312876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320887"/>
            <a:ext cx="6848453" cy="3035053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표준 </a:t>
            </a:r>
            <a:r>
              <a:rPr lang="en-US" altLang="ko-KR" dirty="0">
                <a:solidFill>
                  <a:prstClr val="black"/>
                </a:solidFill>
              </a:rPr>
              <a:t>Java </a:t>
            </a:r>
            <a:r>
              <a:rPr lang="ko-KR" altLang="en-US" dirty="0">
                <a:solidFill>
                  <a:prstClr val="black"/>
                </a:solidFill>
              </a:rPr>
              <a:t>프레임워크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프레임워크 적용 대상 업무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구성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통합 개발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75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전행 표준 프레임워크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전행 </a:t>
            </a:r>
            <a:r>
              <a:rPr lang="en-US" altLang="ko-KR" dirty="0"/>
              <a:t>Java </a:t>
            </a:r>
            <a:r>
              <a:rPr lang="ko-KR" altLang="en-US" dirty="0"/>
              <a:t>프레임워크로써 </a:t>
            </a:r>
            <a:r>
              <a:rPr lang="en-US" altLang="ko-KR" dirty="0"/>
              <a:t>KB</a:t>
            </a:r>
            <a:r>
              <a:rPr lang="ko-KR" altLang="en-US" dirty="0"/>
              <a:t>표준 아키텍처를 준수하고 내부 표준 전문 기반의 프레임워크 기능을 제공함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전행 프레임워크 개요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Java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프레임워크</a:t>
            </a:r>
          </a:p>
        </p:txBody>
      </p:sp>
      <p:graphicFrame>
        <p:nvGraphicFramePr>
          <p:cNvPr id="15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73254"/>
              </p:ext>
            </p:extLst>
          </p:nvPr>
        </p:nvGraphicFramePr>
        <p:xfrm>
          <a:off x="687144" y="1334248"/>
          <a:ext cx="8478324" cy="517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824">
                  <a:extLst>
                    <a:ext uri="{9D8B030D-6E8A-4147-A177-3AD203B41FA5}">
                      <a16:colId xmlns:a16="http://schemas.microsoft.com/office/drawing/2014/main" val="1173871808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   분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             용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      고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Eclipse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통합개발환경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(IDE)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계층 구조에 맞도록 템플릿 기반 개발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Template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소스 자동 생성 지원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어플리이케이션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소스 개발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컴파일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배포 연계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편집 및 테스트 기능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메소드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단위 테스트 기능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편집 기능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형상관리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Websphere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J2EE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실행 환경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DB2, Oracle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환경 적용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내부표준전문 처리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(Flat, </a:t>
                      </a: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처리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전문복원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 승인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취소거래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등 지원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대량 입력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 지원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Flat, Json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 전문 변환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 Area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지원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Hotdeploy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기능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암복호화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모듈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Control-M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실행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24/365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거래처리 지원 및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D-1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원장 확보를 위한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DBIO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 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노드 모니터링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쓰레드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프로파일 관리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 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05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프레임워크 적용 대상 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 dirty="0"/>
              <a:t>n-KESA 2.0 </a:t>
            </a:r>
            <a:r>
              <a:rPr lang="ko-KR" altLang="en-US" dirty="0"/>
              <a:t>프레임워크 적용 대상업무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전행 프레임워크 개요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프레임워크 적용 대상 업무</a:t>
            </a:r>
          </a:p>
        </p:txBody>
      </p:sp>
      <p:graphicFrame>
        <p:nvGraphicFramePr>
          <p:cNvPr id="8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336674"/>
              </p:ext>
            </p:extLst>
          </p:nvPr>
        </p:nvGraphicFramePr>
        <p:xfrm>
          <a:off x="632520" y="1182540"/>
          <a:ext cx="8604956" cy="1152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2428">
                  <a:extLst>
                    <a:ext uri="{9D8B030D-6E8A-4147-A177-3AD203B41FA5}">
                      <a16:colId xmlns:a16="http://schemas.microsoft.com/office/drawing/2014/main" val="165164173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3261607661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49983084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907405904"/>
                    </a:ext>
                  </a:extLst>
                </a:gridCol>
              </a:tblGrid>
              <a:tr h="412216"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도메인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서브 도메인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어플리케이션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As-Is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프로젝트명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  고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4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 서비스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상품서비스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지원 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M/F, 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n-KESA 1.0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코어현대화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649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토탈익스포저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조기경보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기업구조조정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기업서류관리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공급망금융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M/F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코어현대화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3566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83356" y="944724"/>
            <a:ext cx="1188132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2025</a:t>
            </a:r>
            <a:r>
              <a:rPr lang="ko-KR" altLang="en-US" sz="1000" dirty="0">
                <a:cs typeface="Arial" pitchFamily="34" charset="0"/>
              </a:rPr>
              <a:t>년 </a:t>
            </a:r>
            <a:r>
              <a:rPr lang="en-US" altLang="ko-KR" sz="1000" dirty="0">
                <a:cs typeface="Arial" pitchFamily="34" charset="0"/>
              </a:rPr>
              <a:t>11</a:t>
            </a:r>
            <a:r>
              <a:rPr lang="ko-KR" altLang="en-US" sz="1000" dirty="0">
                <a:cs typeface="Arial" pitchFamily="34" charset="0"/>
              </a:rPr>
              <a:t>월 현재</a:t>
            </a:r>
          </a:p>
        </p:txBody>
      </p:sp>
    </p:spTree>
    <p:extLst>
      <p:ext uri="{BB962C8B-B14F-4D97-AF65-F5344CB8AC3E}">
        <p14:creationId xmlns:p14="http://schemas.microsoft.com/office/powerpoint/2010/main" val="19745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274496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320887"/>
            <a:ext cx="6848453" cy="3035053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구성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컴포넌트 아키텍처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컴포넌트 </a:t>
            </a:r>
            <a:r>
              <a:rPr lang="ko-KR" altLang="en-US" dirty="0" err="1">
                <a:solidFill>
                  <a:prstClr val="black"/>
                </a:solidFill>
              </a:rPr>
              <a:t>호출관계</a:t>
            </a:r>
            <a:endParaRPr lang="en-US" altLang="ko-KR" dirty="0">
              <a:solidFill>
                <a:prstClr val="black"/>
              </a:solidFill>
            </a:endParaRPr>
          </a:p>
          <a:p>
            <a:pPr marL="54000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통합 개발 환경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6530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컴포넌트 아키텍처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en-US" altLang="ko-KR" dirty="0"/>
              <a:t>NEXCORE </a:t>
            </a:r>
            <a:r>
              <a:rPr lang="ko-KR" altLang="en-US" dirty="0"/>
              <a:t>프레임워크는 컴포넌트 단위로 어플리케이션을 묶음 처리하고 구조화 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52" name="TextBox 151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아키텍처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BDF2609-0788-4B5D-AC34-23FF265F2694}"/>
              </a:ext>
            </a:extLst>
          </p:cNvPr>
          <p:cNvSpPr txBox="1"/>
          <p:nvPr/>
        </p:nvSpPr>
        <p:spPr>
          <a:xfrm>
            <a:off x="1008538" y="1526889"/>
            <a:ext cx="2003850" cy="5112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b="1" dirty="0">
                <a:cs typeface="Arial" pitchFamily="34" charset="0"/>
              </a:rPr>
              <a:t>어플리케이션 코드 </a:t>
            </a:r>
            <a:r>
              <a:rPr lang="en-US" altLang="ko-KR" sz="1200" b="1" dirty="0">
                <a:cs typeface="Arial" pitchFamily="34" charset="0"/>
              </a:rPr>
              <a:t>(3</a:t>
            </a:r>
            <a:r>
              <a:rPr lang="ko-KR" altLang="en-US" sz="1200" b="1" dirty="0">
                <a:cs typeface="Arial" pitchFamily="34" charset="0"/>
              </a:rPr>
              <a:t>자리</a:t>
            </a:r>
            <a:r>
              <a:rPr lang="en-US" altLang="ko-KR" sz="1200" b="1" dirty="0">
                <a:cs typeface="Arial" pitchFamily="34" charset="0"/>
              </a:rPr>
              <a:t>)</a:t>
            </a:r>
            <a:endParaRPr lang="ko-KR" altLang="en-US" sz="1200" b="1" dirty="0">
              <a:cs typeface="Arial" pitchFamily="34" charset="0"/>
            </a:endParaRPr>
          </a:p>
        </p:txBody>
      </p:sp>
      <p:cxnSp>
        <p:nvCxnSpPr>
          <p:cNvPr id="157" name="직선 화살표 연결선 152">
            <a:extLst>
              <a:ext uri="{FF2B5EF4-FFF2-40B4-BE49-F238E27FC236}">
                <a16:creationId xmlns:a16="http://schemas.microsoft.com/office/drawing/2014/main" id="{6ABE9490-1E87-44E5-8E6D-7206F1C61568}"/>
              </a:ext>
            </a:extLst>
          </p:cNvPr>
          <p:cNvCxnSpPr>
            <a:stCxn id="156" idx="2"/>
            <a:endCxn id="165" idx="1"/>
          </p:cNvCxnSpPr>
          <p:nvPr/>
        </p:nvCxnSpPr>
        <p:spPr>
          <a:xfrm rot="16200000" flipH="1">
            <a:off x="1644641" y="2403993"/>
            <a:ext cx="1156218" cy="42457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53">
            <a:extLst>
              <a:ext uri="{FF2B5EF4-FFF2-40B4-BE49-F238E27FC236}">
                <a16:creationId xmlns:a16="http://schemas.microsoft.com/office/drawing/2014/main" id="{00E7D469-FF60-4153-881E-3F7ACE0B290F}"/>
              </a:ext>
            </a:extLst>
          </p:cNvPr>
          <p:cNvCxnSpPr>
            <a:stCxn id="156" idx="2"/>
          </p:cNvCxnSpPr>
          <p:nvPr/>
        </p:nvCxnSpPr>
        <p:spPr>
          <a:xfrm rot="16200000" flipH="1">
            <a:off x="649591" y="3399043"/>
            <a:ext cx="3144000" cy="42225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92522F50-8FA4-49E5-8277-0F44B0FF3CFB}"/>
              </a:ext>
            </a:extLst>
          </p:cNvPr>
          <p:cNvSpPr txBox="1"/>
          <p:nvPr/>
        </p:nvSpPr>
        <p:spPr>
          <a:xfrm>
            <a:off x="325161" y="3105664"/>
            <a:ext cx="1573354" cy="9037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KB </a:t>
            </a:r>
            <a:r>
              <a:rPr lang="ko-KR" altLang="en-US" sz="1000" dirty="0">
                <a:cs typeface="Arial" pitchFamily="34" charset="0"/>
              </a:rPr>
              <a:t>어플리케이션 코드 하나는 하나의 컴포넌트로 묶기에는 범위가 넓으므로 </a:t>
            </a:r>
            <a:endParaRPr lang="en-US" altLang="ko-KR" sz="10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endParaRPr lang="en-US" altLang="ko-KR" sz="10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>
                <a:cs typeface="Arial" pitchFamily="34" charset="0"/>
              </a:rPr>
              <a:t>그 하위에 기능 단위로 </a:t>
            </a:r>
            <a:r>
              <a:rPr lang="ko-KR" altLang="en-US" sz="1000" b="1" u="sng" dirty="0">
                <a:cs typeface="Arial" pitchFamily="34" charset="0"/>
              </a:rPr>
              <a:t>복수개의 컴포넌트를 구성함</a:t>
            </a:r>
          </a:p>
        </p:txBody>
      </p:sp>
      <p:graphicFrame>
        <p:nvGraphicFramePr>
          <p:cNvPr id="163" name="표 61">
            <a:extLst>
              <a:ext uri="{FF2B5EF4-FFF2-40B4-BE49-F238E27FC236}">
                <a16:creationId xmlns:a16="http://schemas.microsoft.com/office/drawing/2014/main" id="{B061FEA2-C05E-47BA-B2EB-B4A3E1A8C632}"/>
              </a:ext>
            </a:extLst>
          </p:cNvPr>
          <p:cNvGraphicFramePr>
            <a:graphicFrameLocks noGrp="1"/>
          </p:cNvGraphicFramePr>
          <p:nvPr/>
        </p:nvGraphicFramePr>
        <p:xfrm>
          <a:off x="5435110" y="1768624"/>
          <a:ext cx="3874374" cy="4288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587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특징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5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패키징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단위로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패키징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8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클래스로딩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자체 클래스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로더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동작함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단위로 클래스 로딩을 함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내의 클래스 일부만 변경되더라도 컴포넌트 전체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 패키징되며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 로딩됨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3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직접 참조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내의 클래스 간에는 직접 호출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간 호출은 직접 호출 불가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 컴포넌트의 클래스는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불가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23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컴파일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별 별도의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CLASSPATH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클래스들로만 컴파일 수행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클래스 참조 시 컴파일 에러 발생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258448"/>
                  </a:ext>
                </a:extLst>
              </a:tr>
            </a:tbl>
          </a:graphicData>
        </a:graphic>
      </p:graphicFrame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56662531-AA13-423A-BF2A-FCE0500EAA4F}"/>
              </a:ext>
            </a:extLst>
          </p:cNvPr>
          <p:cNvGrpSpPr/>
          <p:nvPr/>
        </p:nvGrpSpPr>
        <p:grpSpPr>
          <a:xfrm>
            <a:off x="2399034" y="2269310"/>
            <a:ext cx="2376264" cy="1850159"/>
            <a:chOff x="2399034" y="2269310"/>
            <a:chExt cx="2376264" cy="1850159"/>
          </a:xfrm>
        </p:grpSpPr>
        <p:sp>
          <p:nvSpPr>
            <p:cNvPr id="165" name="모서리가 둥근 직사각형 81">
              <a:extLst>
                <a:ext uri="{FF2B5EF4-FFF2-40B4-BE49-F238E27FC236}">
                  <a16:creationId xmlns:a16="http://schemas.microsoft.com/office/drawing/2014/main" id="{3A8673F7-5C06-43D4-B3AB-178BDB396C8E}"/>
                </a:ext>
              </a:extLst>
            </p:cNvPr>
            <p:cNvSpPr/>
            <p:nvPr/>
          </p:nvSpPr>
          <p:spPr>
            <a:xfrm>
              <a:off x="2435038" y="2269310"/>
              <a:ext cx="2340260" cy="1850159"/>
            </a:xfrm>
            <a:prstGeom prst="roundRect">
              <a:avLst>
                <a:gd name="adj" fmla="val 9264"/>
              </a:avLst>
            </a:prstGeom>
            <a:solidFill>
              <a:schemeClr val="accent5">
                <a:lumMod val="75000"/>
                <a:alpha val="10000"/>
              </a:schemeClr>
            </a:solidFill>
            <a:ln w="6350" cap="flat">
              <a:solidFill>
                <a:schemeClr val="accent5">
                  <a:lumMod val="75000"/>
                </a:scheme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C81DE685-7C13-462F-A1A9-10A5CE7B6CB6}"/>
                </a:ext>
              </a:extLst>
            </p:cNvPr>
            <p:cNvGrpSpPr/>
            <p:nvPr/>
          </p:nvGrpSpPr>
          <p:grpSpPr>
            <a:xfrm>
              <a:off x="3099140" y="2777674"/>
              <a:ext cx="1494166" cy="1152012"/>
              <a:chOff x="4034898" y="5337328"/>
              <a:chExt cx="1494166" cy="1152012"/>
            </a:xfrm>
          </p:grpSpPr>
          <p:sp>
            <p:nvSpPr>
              <p:cNvPr id="222" name="평행 사변형 221">
                <a:extLst>
                  <a:ext uri="{FF2B5EF4-FFF2-40B4-BE49-F238E27FC236}">
                    <a16:creationId xmlns:a16="http://schemas.microsoft.com/office/drawing/2014/main" id="{8E175C4D-DBD6-4792-A676-7E81062C9A75}"/>
                  </a:ext>
                </a:extLst>
              </p:cNvPr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3" name="모서리가 둥근 직사각형 16">
                <a:extLst>
                  <a:ext uri="{FF2B5EF4-FFF2-40B4-BE49-F238E27FC236}">
                    <a16:creationId xmlns:a16="http://schemas.microsoft.com/office/drawing/2014/main" id="{BE6F1BCE-B6F2-4826-A2BB-12C7F857B3C8}"/>
                  </a:ext>
                </a:extLst>
              </p:cNvPr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4" name="모서리가 둥근 직사각형 17">
                <a:extLst>
                  <a:ext uri="{FF2B5EF4-FFF2-40B4-BE49-F238E27FC236}">
                    <a16:creationId xmlns:a16="http://schemas.microsoft.com/office/drawing/2014/main" id="{FF2D36DE-C1CF-4F42-BF29-CDB2831FD945}"/>
                  </a:ext>
                </a:extLst>
              </p:cNvPr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5" name="모서리가 둥근 직사각형 18">
                <a:extLst>
                  <a:ext uri="{FF2B5EF4-FFF2-40B4-BE49-F238E27FC236}">
                    <a16:creationId xmlns:a16="http://schemas.microsoft.com/office/drawing/2014/main" id="{689AA152-0834-4D02-A016-BF5CFBF7EEBE}"/>
                  </a:ext>
                </a:extLst>
              </p:cNvPr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6" name="모서리가 둥근 직사각형 19">
                <a:extLst>
                  <a:ext uri="{FF2B5EF4-FFF2-40B4-BE49-F238E27FC236}">
                    <a16:creationId xmlns:a16="http://schemas.microsoft.com/office/drawing/2014/main" id="{42AF8397-D529-49B9-ACA1-91969F142278}"/>
                  </a:ext>
                </a:extLst>
              </p:cNvPr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7" name="모서리가 둥근 직사각형 20">
                <a:extLst>
                  <a:ext uri="{FF2B5EF4-FFF2-40B4-BE49-F238E27FC236}">
                    <a16:creationId xmlns:a16="http://schemas.microsoft.com/office/drawing/2014/main" id="{A5F3F86B-831D-4646-B4F4-23A8BED1FAF4}"/>
                  </a:ext>
                </a:extLst>
              </p:cNvPr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8" name="모서리가 둥근 직사각형 21">
                <a:extLst>
                  <a:ext uri="{FF2B5EF4-FFF2-40B4-BE49-F238E27FC236}">
                    <a16:creationId xmlns:a16="http://schemas.microsoft.com/office/drawing/2014/main" id="{D3C38B5E-BE21-4B26-B1B0-631A6771BE8F}"/>
                  </a:ext>
                </a:extLst>
              </p:cNvPr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29" name="직선 화살표 연결선 228">
                <a:extLst>
                  <a:ext uri="{FF2B5EF4-FFF2-40B4-BE49-F238E27FC236}">
                    <a16:creationId xmlns:a16="http://schemas.microsoft.com/office/drawing/2014/main" id="{9FB3933C-292B-4B89-855A-BBAB239D90FB}"/>
                  </a:ext>
                </a:extLst>
              </p:cNvPr>
              <p:cNvCxnSpPr>
                <a:stCxn id="223" idx="2"/>
                <a:endCxn id="224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화살표 연결선 229">
                <a:extLst>
                  <a:ext uri="{FF2B5EF4-FFF2-40B4-BE49-F238E27FC236}">
                    <a16:creationId xmlns:a16="http://schemas.microsoft.com/office/drawing/2014/main" id="{F22A7B28-1997-4CFE-BE23-75432A022D96}"/>
                  </a:ext>
                </a:extLst>
              </p:cNvPr>
              <p:cNvCxnSpPr>
                <a:stCxn id="223" idx="2"/>
                <a:endCxn id="225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직선 화살표 연결선 230">
                <a:extLst>
                  <a:ext uri="{FF2B5EF4-FFF2-40B4-BE49-F238E27FC236}">
                    <a16:creationId xmlns:a16="http://schemas.microsoft.com/office/drawing/2014/main" id="{D2469694-9A7B-4ACD-B6AA-64D1AA34B642}"/>
                  </a:ext>
                </a:extLst>
              </p:cNvPr>
              <p:cNvCxnSpPr>
                <a:stCxn id="223" idx="2"/>
                <a:endCxn id="227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직선 화살표 연결선 231">
                <a:extLst>
                  <a:ext uri="{FF2B5EF4-FFF2-40B4-BE49-F238E27FC236}">
                    <a16:creationId xmlns:a16="http://schemas.microsoft.com/office/drawing/2014/main" id="{E429BB77-396A-4969-AAAA-4E6949719DAA}"/>
                  </a:ext>
                </a:extLst>
              </p:cNvPr>
              <p:cNvCxnSpPr>
                <a:stCxn id="223" idx="2"/>
                <a:endCxn id="226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직선 화살표 연결선 232">
                <a:extLst>
                  <a:ext uri="{FF2B5EF4-FFF2-40B4-BE49-F238E27FC236}">
                    <a16:creationId xmlns:a16="http://schemas.microsoft.com/office/drawing/2014/main" id="{2E40CC50-60E1-44C4-827A-B94CAFA535B9}"/>
                  </a:ext>
                </a:extLst>
              </p:cNvPr>
              <p:cNvCxnSpPr>
                <a:stCxn id="223" idx="2"/>
                <a:endCxn id="228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716C2366-AA73-486B-88BB-2BD83E510182}"/>
                  </a:ext>
                </a:extLst>
              </p:cNvPr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C4363A2C-9D7A-4A13-B44C-EF4FD1264B1F}"/>
                  </a:ext>
                </a:extLst>
              </p:cNvPr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309C3CEC-5D62-4287-99A1-27F680B8F4FC}"/>
                  </a:ext>
                </a:extLst>
              </p:cNvPr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D373A60-3C18-4406-A432-87475E2C5415}"/>
                  </a:ext>
                </a:extLst>
              </p:cNvPr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PU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7D1636B3-ED16-4F03-9B5E-8D0E750F0C9D}"/>
                  </a:ext>
                </a:extLst>
              </p:cNvPr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FU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35BB424-2552-4863-AC83-277B532CDB41}"/>
                  </a:ext>
                </a:extLst>
              </p:cNvPr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16AA887-E58B-45BE-A0F6-2EA70A53B7BC}"/>
                </a:ext>
              </a:extLst>
            </p:cNvPr>
            <p:cNvSpPr txBox="1"/>
            <p:nvPr/>
          </p:nvSpPr>
          <p:spPr>
            <a:xfrm>
              <a:off x="2399034" y="2440668"/>
              <a:ext cx="656087" cy="21086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1000" dirty="0">
                  <a:cs typeface="Arial" pitchFamily="34" charset="0"/>
                </a:rPr>
                <a:t>PM</a:t>
              </a:r>
              <a:endParaRPr lang="ko-KR" altLang="en-US" sz="1000" dirty="0">
                <a:cs typeface="Arial" pitchFamily="34" charset="0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5BAC1918-3A6E-44BD-A9A3-15F931BBCC1C}"/>
                </a:ext>
              </a:extLst>
            </p:cNvPr>
            <p:cNvGrpSpPr/>
            <p:nvPr/>
          </p:nvGrpSpPr>
          <p:grpSpPr>
            <a:xfrm>
              <a:off x="2488306" y="2940822"/>
              <a:ext cx="306034" cy="108000"/>
              <a:chOff x="884548" y="2486282"/>
              <a:chExt cx="306034" cy="108000"/>
            </a:xfrm>
          </p:grpSpPr>
          <p:sp>
            <p:nvSpPr>
              <p:cNvPr id="220" name="타원 219">
                <a:extLst>
                  <a:ext uri="{FF2B5EF4-FFF2-40B4-BE49-F238E27FC236}">
                    <a16:creationId xmlns:a16="http://schemas.microsoft.com/office/drawing/2014/main" id="{95ADBD0C-D2B4-4402-9EFD-DB08874305B5}"/>
                  </a:ext>
                </a:extLst>
              </p:cNvPr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D635DAF2-92FB-4701-987F-C43C7481E3FA}"/>
                  </a:ext>
                </a:extLst>
              </p:cNvPr>
              <p:cNvCxnSpPr>
                <a:stCxn id="220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0BB8B0EE-C954-4018-B73E-F45DAEDD6EDF}"/>
                </a:ext>
              </a:extLst>
            </p:cNvPr>
            <p:cNvGrpSpPr/>
            <p:nvPr/>
          </p:nvGrpSpPr>
          <p:grpSpPr>
            <a:xfrm>
              <a:off x="2488306" y="2790365"/>
              <a:ext cx="306034" cy="108000"/>
              <a:chOff x="884548" y="2486282"/>
              <a:chExt cx="306034" cy="108000"/>
            </a:xfrm>
          </p:grpSpPr>
          <p:sp>
            <p:nvSpPr>
              <p:cNvPr id="218" name="타원 217">
                <a:extLst>
                  <a:ext uri="{FF2B5EF4-FFF2-40B4-BE49-F238E27FC236}">
                    <a16:creationId xmlns:a16="http://schemas.microsoft.com/office/drawing/2014/main" id="{608F1620-8227-47AD-B697-914CD61C9DF2}"/>
                  </a:ext>
                </a:extLst>
              </p:cNvPr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2C417080-385E-4324-9BC4-174E23D85252}"/>
                  </a:ext>
                </a:extLst>
              </p:cNvPr>
              <p:cNvCxnSpPr>
                <a:stCxn id="218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7BD3A970-5B1E-4BED-9E57-9DA6566BFC8B}"/>
                </a:ext>
              </a:extLst>
            </p:cNvPr>
            <p:cNvGrpSpPr/>
            <p:nvPr/>
          </p:nvGrpSpPr>
          <p:grpSpPr>
            <a:xfrm>
              <a:off x="2488306" y="2632692"/>
              <a:ext cx="306034" cy="108000"/>
              <a:chOff x="884548" y="2486282"/>
              <a:chExt cx="306034" cy="108000"/>
            </a:xfrm>
          </p:grpSpPr>
          <p:sp>
            <p:nvSpPr>
              <p:cNvPr id="216" name="타원 215">
                <a:extLst>
                  <a:ext uri="{FF2B5EF4-FFF2-40B4-BE49-F238E27FC236}">
                    <a16:creationId xmlns:a16="http://schemas.microsoft.com/office/drawing/2014/main" id="{572BCE75-1838-47A4-AF7F-79EA9A93CE6E}"/>
                  </a:ext>
                </a:extLst>
              </p:cNvPr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D815235D-EE13-4A69-84F0-9BBFCFCFED35}"/>
                  </a:ext>
                </a:extLst>
              </p:cNvPr>
              <p:cNvCxnSpPr>
                <a:stCxn id="216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31D45D4C-4FB8-4647-913E-7C52DD57C8BB}"/>
                </a:ext>
              </a:extLst>
            </p:cNvPr>
            <p:cNvGrpSpPr/>
            <p:nvPr/>
          </p:nvGrpSpPr>
          <p:grpSpPr>
            <a:xfrm>
              <a:off x="2946740" y="2625274"/>
              <a:ext cx="1494166" cy="1152012"/>
              <a:chOff x="4034898" y="5337328"/>
              <a:chExt cx="1494166" cy="1152012"/>
            </a:xfrm>
          </p:grpSpPr>
          <p:sp>
            <p:nvSpPr>
              <p:cNvPr id="198" name="평행 사변형 197">
                <a:extLst>
                  <a:ext uri="{FF2B5EF4-FFF2-40B4-BE49-F238E27FC236}">
                    <a16:creationId xmlns:a16="http://schemas.microsoft.com/office/drawing/2014/main" id="{08E67AC2-181B-4988-BEF4-61F3DF269D60}"/>
                  </a:ext>
                </a:extLst>
              </p:cNvPr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199" name="모서리가 둥근 직사각형 45">
                <a:extLst>
                  <a:ext uri="{FF2B5EF4-FFF2-40B4-BE49-F238E27FC236}">
                    <a16:creationId xmlns:a16="http://schemas.microsoft.com/office/drawing/2014/main" id="{85064F93-EE1A-4883-872D-FE7D29E69289}"/>
                  </a:ext>
                </a:extLst>
              </p:cNvPr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0" name="모서리가 둥근 직사각형 46">
                <a:extLst>
                  <a:ext uri="{FF2B5EF4-FFF2-40B4-BE49-F238E27FC236}">
                    <a16:creationId xmlns:a16="http://schemas.microsoft.com/office/drawing/2014/main" id="{7C741FA8-6246-4857-AC98-5BBCF2068130}"/>
                  </a:ext>
                </a:extLst>
              </p:cNvPr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1" name="모서리가 둥근 직사각형 47">
                <a:extLst>
                  <a:ext uri="{FF2B5EF4-FFF2-40B4-BE49-F238E27FC236}">
                    <a16:creationId xmlns:a16="http://schemas.microsoft.com/office/drawing/2014/main" id="{73E4171F-1D57-4257-8A9C-7AA14857FB1C}"/>
                  </a:ext>
                </a:extLst>
              </p:cNvPr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2" name="모서리가 둥근 직사각형 48">
                <a:extLst>
                  <a:ext uri="{FF2B5EF4-FFF2-40B4-BE49-F238E27FC236}">
                    <a16:creationId xmlns:a16="http://schemas.microsoft.com/office/drawing/2014/main" id="{D4D080F8-6F45-425B-8A25-DB03957BF2F8}"/>
                  </a:ext>
                </a:extLst>
              </p:cNvPr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3" name="모서리가 둥근 직사각형 49">
                <a:extLst>
                  <a:ext uri="{FF2B5EF4-FFF2-40B4-BE49-F238E27FC236}">
                    <a16:creationId xmlns:a16="http://schemas.microsoft.com/office/drawing/2014/main" id="{A4A9532D-BE37-4215-A349-EA0C1D85CE8B}"/>
                  </a:ext>
                </a:extLst>
              </p:cNvPr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4" name="모서리가 둥근 직사각형 50">
                <a:extLst>
                  <a:ext uri="{FF2B5EF4-FFF2-40B4-BE49-F238E27FC236}">
                    <a16:creationId xmlns:a16="http://schemas.microsoft.com/office/drawing/2014/main" id="{F8B5916F-BF0B-4FF8-B23E-FB4018720030}"/>
                  </a:ext>
                </a:extLst>
              </p:cNvPr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05" name="직선 화살표 연결선 204">
                <a:extLst>
                  <a:ext uri="{FF2B5EF4-FFF2-40B4-BE49-F238E27FC236}">
                    <a16:creationId xmlns:a16="http://schemas.microsoft.com/office/drawing/2014/main" id="{70BEFEF8-5CB5-43DB-BE6D-B8241CE53BB1}"/>
                  </a:ext>
                </a:extLst>
              </p:cNvPr>
              <p:cNvCxnSpPr>
                <a:stCxn id="199" idx="2"/>
                <a:endCxn id="200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화살표 연결선 205">
                <a:extLst>
                  <a:ext uri="{FF2B5EF4-FFF2-40B4-BE49-F238E27FC236}">
                    <a16:creationId xmlns:a16="http://schemas.microsoft.com/office/drawing/2014/main" id="{8AD2AB03-3F06-4533-B3FA-9C9FE9868326}"/>
                  </a:ext>
                </a:extLst>
              </p:cNvPr>
              <p:cNvCxnSpPr>
                <a:stCxn id="199" idx="2"/>
                <a:endCxn id="201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직선 화살표 연결선 206">
                <a:extLst>
                  <a:ext uri="{FF2B5EF4-FFF2-40B4-BE49-F238E27FC236}">
                    <a16:creationId xmlns:a16="http://schemas.microsoft.com/office/drawing/2014/main" id="{EBC8F2E3-35C0-4D66-ACB3-C3B7BFC76D47}"/>
                  </a:ext>
                </a:extLst>
              </p:cNvPr>
              <p:cNvCxnSpPr>
                <a:stCxn id="199" idx="2"/>
                <a:endCxn id="203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직선 화살표 연결선 207">
                <a:extLst>
                  <a:ext uri="{FF2B5EF4-FFF2-40B4-BE49-F238E27FC236}">
                    <a16:creationId xmlns:a16="http://schemas.microsoft.com/office/drawing/2014/main" id="{A40F5C0A-2932-4F25-BDA0-5C17942D60E8}"/>
                  </a:ext>
                </a:extLst>
              </p:cNvPr>
              <p:cNvCxnSpPr>
                <a:stCxn id="199" idx="2"/>
                <a:endCxn id="202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직선 화살표 연결선 208">
                <a:extLst>
                  <a:ext uri="{FF2B5EF4-FFF2-40B4-BE49-F238E27FC236}">
                    <a16:creationId xmlns:a16="http://schemas.microsoft.com/office/drawing/2014/main" id="{E5A7FADC-1F79-466C-B159-223BC2F6F0B8}"/>
                  </a:ext>
                </a:extLst>
              </p:cNvPr>
              <p:cNvCxnSpPr>
                <a:stCxn id="199" idx="2"/>
                <a:endCxn id="204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0819B8E6-EF54-4388-B8B7-D0EFC1C1BAAF}"/>
                  </a:ext>
                </a:extLst>
              </p:cNvPr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9776BB6C-BC49-4337-BA69-A9BC6EC3D0DC}"/>
                  </a:ext>
                </a:extLst>
              </p:cNvPr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E93611B3-40DF-4F94-A06F-92996AE89C58}"/>
                  </a:ext>
                </a:extLst>
              </p:cNvPr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719EA716-659F-4B95-8218-ABFD1E86FE07}"/>
                  </a:ext>
                </a:extLst>
              </p:cNvPr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PU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B70584BD-F842-49C0-92E5-C8D9843B565F}"/>
                  </a:ext>
                </a:extLst>
              </p:cNvPr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FU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F6F8B3F-1C8C-48CC-9F90-B08152D78503}"/>
                  </a:ext>
                </a:extLst>
              </p:cNvPr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</p:grpSp>
        <p:sp>
          <p:nvSpPr>
            <p:cNvPr id="172" name="평행 사변형 171">
              <a:extLst>
                <a:ext uri="{FF2B5EF4-FFF2-40B4-BE49-F238E27FC236}">
                  <a16:creationId xmlns:a16="http://schemas.microsoft.com/office/drawing/2014/main" id="{217A3451-8741-4D4E-A13C-4B4BBB0A6977}"/>
                </a:ext>
              </a:extLst>
            </p:cNvPr>
            <p:cNvSpPr/>
            <p:nvPr/>
          </p:nvSpPr>
          <p:spPr>
            <a:xfrm>
              <a:off x="2794340" y="2472874"/>
              <a:ext cx="1494166" cy="1152012"/>
            </a:xfrm>
            <a:prstGeom prst="parallelogram">
              <a:avLst>
                <a:gd name="adj" fmla="val 0"/>
              </a:avLst>
            </a:prstGeom>
            <a:solidFill>
              <a:schemeClr val="bg1"/>
            </a:solidFill>
            <a:ln w="190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4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73" name="모서리가 둥근 직사각형 64">
              <a:extLst>
                <a:ext uri="{FF2B5EF4-FFF2-40B4-BE49-F238E27FC236}">
                  <a16:creationId xmlns:a16="http://schemas.microsoft.com/office/drawing/2014/main" id="{777E7670-35EC-4154-A241-579BDF1BEE3C}"/>
                </a:ext>
              </a:extLst>
            </p:cNvPr>
            <p:cNvSpPr/>
            <p:nvPr/>
          </p:nvSpPr>
          <p:spPr>
            <a:xfrm>
              <a:off x="3005645" y="276080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PM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74" name="모서리가 둥근 직사각형 65">
              <a:extLst>
                <a:ext uri="{FF2B5EF4-FFF2-40B4-BE49-F238E27FC236}">
                  <a16:creationId xmlns:a16="http://schemas.microsoft.com/office/drawing/2014/main" id="{D607A988-FC11-4CA2-B453-FA327C080C5E}"/>
                </a:ext>
              </a:extLst>
            </p:cNvPr>
            <p:cNvSpPr/>
            <p:nvPr/>
          </p:nvSpPr>
          <p:spPr>
            <a:xfrm>
              <a:off x="2992350" y="32204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75" name="모서리가 둥근 직사각형 66">
              <a:extLst>
                <a:ext uri="{FF2B5EF4-FFF2-40B4-BE49-F238E27FC236}">
                  <a16:creationId xmlns:a16="http://schemas.microsoft.com/office/drawing/2014/main" id="{71061ECA-3421-4EA0-AC01-A02C0A3EE2D5}"/>
                </a:ext>
              </a:extLst>
            </p:cNvPr>
            <p:cNvSpPr/>
            <p:nvPr/>
          </p:nvSpPr>
          <p:spPr>
            <a:xfrm>
              <a:off x="3064358" y="3295886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76" name="모서리가 둥근 직사각형 67">
              <a:extLst>
                <a:ext uri="{FF2B5EF4-FFF2-40B4-BE49-F238E27FC236}">
                  <a16:creationId xmlns:a16="http://schemas.microsoft.com/office/drawing/2014/main" id="{4BAB4161-14F5-4221-9766-A76CEFDC69EE}"/>
                </a:ext>
              </a:extLst>
            </p:cNvPr>
            <p:cNvSpPr/>
            <p:nvPr/>
          </p:nvSpPr>
          <p:spPr>
            <a:xfrm>
              <a:off x="3827863" y="2996964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77" name="모서리가 둥근 직사각형 68">
              <a:extLst>
                <a:ext uri="{FF2B5EF4-FFF2-40B4-BE49-F238E27FC236}">
                  <a16:creationId xmlns:a16="http://schemas.microsoft.com/office/drawing/2014/main" id="{6F191049-6C26-42CF-8560-7D138807EA8B}"/>
                </a:ext>
              </a:extLst>
            </p:cNvPr>
            <p:cNvSpPr/>
            <p:nvPr/>
          </p:nvSpPr>
          <p:spPr>
            <a:xfrm>
              <a:off x="3144750" y="33728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78" name="모서리가 둥근 직사각형 69">
              <a:extLst>
                <a:ext uri="{FF2B5EF4-FFF2-40B4-BE49-F238E27FC236}">
                  <a16:creationId xmlns:a16="http://schemas.microsoft.com/office/drawing/2014/main" id="{17E9CA8A-881B-4A9A-951E-6902E4A480C0}"/>
                </a:ext>
              </a:extLst>
            </p:cNvPr>
            <p:cNvSpPr/>
            <p:nvPr/>
          </p:nvSpPr>
          <p:spPr>
            <a:xfrm>
              <a:off x="3755807" y="306897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179" name="직선 화살표 연결선 178">
              <a:extLst>
                <a:ext uri="{FF2B5EF4-FFF2-40B4-BE49-F238E27FC236}">
                  <a16:creationId xmlns:a16="http://schemas.microsoft.com/office/drawing/2014/main" id="{82626788-B4D9-48B8-990B-4163E72CA657}"/>
                </a:ext>
              </a:extLst>
            </p:cNvPr>
            <p:cNvCxnSpPr>
              <a:stCxn id="173" idx="2"/>
              <a:endCxn id="174" idx="0"/>
            </p:cNvCxnSpPr>
            <p:nvPr/>
          </p:nvCxnSpPr>
          <p:spPr>
            <a:xfrm flipH="1">
              <a:off x="3154350" y="2868802"/>
              <a:ext cx="13295" cy="3516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E9EF94AD-36F5-4003-9F77-071C07FB85FC}"/>
                </a:ext>
              </a:extLst>
            </p:cNvPr>
            <p:cNvCxnSpPr>
              <a:stCxn id="173" idx="2"/>
              <a:endCxn id="175" idx="0"/>
            </p:cNvCxnSpPr>
            <p:nvPr/>
          </p:nvCxnSpPr>
          <p:spPr>
            <a:xfrm>
              <a:off x="3167645" y="2868802"/>
              <a:ext cx="58713" cy="427084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A5D9E4AD-68D7-4FA3-A069-0041E35A80CD}"/>
                </a:ext>
              </a:extLst>
            </p:cNvPr>
            <p:cNvCxnSpPr>
              <a:stCxn id="173" idx="2"/>
              <a:endCxn id="177" idx="0"/>
            </p:cNvCxnSpPr>
            <p:nvPr/>
          </p:nvCxnSpPr>
          <p:spPr>
            <a:xfrm>
              <a:off x="3167645" y="2868802"/>
              <a:ext cx="139105" cy="5040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FDFB5788-B5AB-479E-9198-63DED10557FB}"/>
                </a:ext>
              </a:extLst>
            </p:cNvPr>
            <p:cNvCxnSpPr>
              <a:stCxn id="173" idx="3"/>
              <a:endCxn id="176" idx="1"/>
            </p:cNvCxnSpPr>
            <p:nvPr/>
          </p:nvCxnSpPr>
          <p:spPr>
            <a:xfrm>
              <a:off x="3329645" y="2814802"/>
              <a:ext cx="498218" cy="236162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DD4B85E4-747B-49BA-A78B-B4DABBDF06D5}"/>
                </a:ext>
              </a:extLst>
            </p:cNvPr>
            <p:cNvCxnSpPr>
              <a:stCxn id="173" idx="3"/>
              <a:endCxn id="178" idx="1"/>
            </p:cNvCxnSpPr>
            <p:nvPr/>
          </p:nvCxnSpPr>
          <p:spPr>
            <a:xfrm>
              <a:off x="3329645" y="2814802"/>
              <a:ext cx="426162" cy="308170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097E4829-4288-4829-AEAE-7864F17E78BA}"/>
                </a:ext>
              </a:extLst>
            </p:cNvPr>
            <p:cNvSpPr/>
            <p:nvPr/>
          </p:nvSpPr>
          <p:spPr>
            <a:xfrm>
              <a:off x="2887949" y="2580770"/>
              <a:ext cx="549756" cy="365032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F7292A9F-A9AA-44E1-B18D-271489B0A10F}"/>
                </a:ext>
              </a:extLst>
            </p:cNvPr>
            <p:cNvSpPr/>
            <p:nvPr/>
          </p:nvSpPr>
          <p:spPr>
            <a:xfrm>
              <a:off x="3665749" y="2866462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2B3A800A-74B0-42FC-A759-83139AFFAF9B}"/>
                </a:ext>
              </a:extLst>
            </p:cNvPr>
            <p:cNvSpPr/>
            <p:nvPr/>
          </p:nvSpPr>
          <p:spPr>
            <a:xfrm>
              <a:off x="2884290" y="3052496"/>
              <a:ext cx="621021" cy="46763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13B146D-0496-43A0-A175-EEDC0C7E08AC}"/>
                </a:ext>
              </a:extLst>
            </p:cNvPr>
            <p:cNvSpPr txBox="1"/>
            <p:nvPr/>
          </p:nvSpPr>
          <p:spPr>
            <a:xfrm>
              <a:off x="2828764" y="2544766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PU</a:t>
              </a:r>
              <a:endParaRPr lang="ko-KR" altLang="en-US" sz="800" dirty="0">
                <a:cs typeface="Arial" pitchFamily="34" charset="0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0150CFE5-49C4-468F-9F2F-7F733673CE59}"/>
                </a:ext>
              </a:extLst>
            </p:cNvPr>
            <p:cNvSpPr txBox="1"/>
            <p:nvPr/>
          </p:nvSpPr>
          <p:spPr>
            <a:xfrm>
              <a:off x="2821867" y="3021267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FU</a:t>
              </a:r>
              <a:endParaRPr lang="ko-KR" altLang="en-US" sz="800" dirty="0">
                <a:cs typeface="Arial" pitchFamily="34" charset="0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8DF5CE02-C5E2-438B-966A-D64759A2E9FE}"/>
                </a:ext>
              </a:extLst>
            </p:cNvPr>
            <p:cNvSpPr txBox="1"/>
            <p:nvPr/>
          </p:nvSpPr>
          <p:spPr>
            <a:xfrm>
              <a:off x="3935839" y="2840719"/>
              <a:ext cx="333085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DU</a:t>
              </a:r>
              <a:endParaRPr lang="ko-KR" altLang="en-US" sz="800" dirty="0">
                <a:cs typeface="Arial" pitchFamily="34" charset="0"/>
              </a:endParaRPr>
            </a:p>
          </p:txBody>
        </p:sp>
        <p:cxnSp>
          <p:nvCxnSpPr>
            <p:cNvPr id="190" name="직선 화살표 연결선 189">
              <a:extLst>
                <a:ext uri="{FF2B5EF4-FFF2-40B4-BE49-F238E27FC236}">
                  <a16:creationId xmlns:a16="http://schemas.microsoft.com/office/drawing/2014/main" id="{C7D884ED-347B-4CC8-A454-810E32FBE847}"/>
                </a:ext>
              </a:extLst>
            </p:cNvPr>
            <p:cNvCxnSpPr/>
            <p:nvPr/>
          </p:nvCxnSpPr>
          <p:spPr>
            <a:xfrm flipV="1">
              <a:off x="3459150" y="3416105"/>
              <a:ext cx="217276" cy="1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E9C0EFCE-95DD-4F32-9C4F-84E8E31460C5}"/>
                </a:ext>
              </a:extLst>
            </p:cNvPr>
            <p:cNvCxnSpPr/>
            <p:nvPr/>
          </p:nvCxnSpPr>
          <p:spPr>
            <a:xfrm flipV="1">
              <a:off x="3611550" y="3568505"/>
              <a:ext cx="217276" cy="1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모서리가 둥근 직사각형 155">
              <a:extLst>
                <a:ext uri="{FF2B5EF4-FFF2-40B4-BE49-F238E27FC236}">
                  <a16:creationId xmlns:a16="http://schemas.microsoft.com/office/drawing/2014/main" id="{32C3ABAE-5FFE-4DB4-99B9-990486D942A4}"/>
                </a:ext>
              </a:extLst>
            </p:cNvPr>
            <p:cNvSpPr/>
            <p:nvPr/>
          </p:nvSpPr>
          <p:spPr>
            <a:xfrm>
              <a:off x="3827863" y="332100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3" name="모서리가 둥근 직사각형 156">
              <a:extLst>
                <a:ext uri="{FF2B5EF4-FFF2-40B4-BE49-F238E27FC236}">
                  <a16:creationId xmlns:a16="http://schemas.microsoft.com/office/drawing/2014/main" id="{79707562-7106-4945-BD5F-EBB16994880B}"/>
                </a:ext>
              </a:extLst>
            </p:cNvPr>
            <p:cNvSpPr/>
            <p:nvPr/>
          </p:nvSpPr>
          <p:spPr>
            <a:xfrm>
              <a:off x="3755807" y="3393008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6D3E9276-DECA-450B-942D-23D8032BFFE0}"/>
                </a:ext>
              </a:extLst>
            </p:cNvPr>
            <p:cNvSpPr/>
            <p:nvPr/>
          </p:nvSpPr>
          <p:spPr>
            <a:xfrm>
              <a:off x="3665749" y="3205283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C6BD2EC9-18AA-47BC-BEEC-A37B87F26C22}"/>
                </a:ext>
              </a:extLst>
            </p:cNvPr>
            <p:cNvSpPr txBox="1"/>
            <p:nvPr/>
          </p:nvSpPr>
          <p:spPr>
            <a:xfrm>
              <a:off x="3848280" y="3179539"/>
              <a:ext cx="549407" cy="1054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DBIO</a:t>
              </a:r>
              <a:endParaRPr lang="ko-KR" altLang="en-US" sz="800" dirty="0">
                <a:cs typeface="Arial" pitchFamily="34" charset="0"/>
              </a:endParaRPr>
            </a:p>
          </p:txBody>
        </p:sp>
        <p:cxnSp>
          <p:nvCxnSpPr>
            <p:cNvPr id="196" name="직선 화살표 연결선 195">
              <a:extLst>
                <a:ext uri="{FF2B5EF4-FFF2-40B4-BE49-F238E27FC236}">
                  <a16:creationId xmlns:a16="http://schemas.microsoft.com/office/drawing/2014/main" id="{C169BF37-B4B9-43A7-8237-2C56ACDCA361}"/>
                </a:ext>
              </a:extLst>
            </p:cNvPr>
            <p:cNvCxnSpPr>
              <a:stCxn id="173" idx="3"/>
            </p:cNvCxnSpPr>
            <p:nvPr/>
          </p:nvCxnSpPr>
          <p:spPr>
            <a:xfrm>
              <a:off x="3329645" y="2814802"/>
              <a:ext cx="488539" cy="5363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F7B5E7E1-83A3-4D38-B382-14E1855B4053}"/>
                </a:ext>
              </a:extLst>
            </p:cNvPr>
            <p:cNvCxnSpPr>
              <a:stCxn id="173" idx="3"/>
            </p:cNvCxnSpPr>
            <p:nvPr/>
          </p:nvCxnSpPr>
          <p:spPr>
            <a:xfrm>
              <a:off x="3329645" y="2814802"/>
              <a:ext cx="421230" cy="6272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7BBB5A93-7725-4E3B-A238-AA6CDECFC494}"/>
              </a:ext>
            </a:extLst>
          </p:cNvPr>
          <p:cNvGrpSpPr/>
          <p:nvPr/>
        </p:nvGrpSpPr>
        <p:grpSpPr>
          <a:xfrm>
            <a:off x="2385782" y="4257092"/>
            <a:ext cx="2376264" cy="1850159"/>
            <a:chOff x="2399034" y="2269310"/>
            <a:chExt cx="2376264" cy="1850159"/>
          </a:xfrm>
        </p:grpSpPr>
        <p:sp>
          <p:nvSpPr>
            <p:cNvPr id="241" name="모서리가 둥근 직사각형 171">
              <a:extLst>
                <a:ext uri="{FF2B5EF4-FFF2-40B4-BE49-F238E27FC236}">
                  <a16:creationId xmlns:a16="http://schemas.microsoft.com/office/drawing/2014/main" id="{40658444-ED94-406F-BF23-FCED63F00210}"/>
                </a:ext>
              </a:extLst>
            </p:cNvPr>
            <p:cNvSpPr/>
            <p:nvPr/>
          </p:nvSpPr>
          <p:spPr>
            <a:xfrm>
              <a:off x="2435038" y="2269310"/>
              <a:ext cx="2340260" cy="1850159"/>
            </a:xfrm>
            <a:prstGeom prst="roundRect">
              <a:avLst>
                <a:gd name="adj" fmla="val 9264"/>
              </a:avLst>
            </a:prstGeom>
            <a:solidFill>
              <a:schemeClr val="accent5">
                <a:lumMod val="75000"/>
                <a:alpha val="10000"/>
              </a:schemeClr>
            </a:solidFill>
            <a:ln w="6350" cap="flat">
              <a:solidFill>
                <a:schemeClr val="accent5">
                  <a:lumMod val="75000"/>
                </a:scheme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385D0402-D475-4E42-88ED-F3E213E35D85}"/>
                </a:ext>
              </a:extLst>
            </p:cNvPr>
            <p:cNvGrpSpPr/>
            <p:nvPr/>
          </p:nvGrpSpPr>
          <p:grpSpPr>
            <a:xfrm>
              <a:off x="3099140" y="2777674"/>
              <a:ext cx="1494166" cy="1152012"/>
              <a:chOff x="4034898" y="5337328"/>
              <a:chExt cx="1494166" cy="1152012"/>
            </a:xfrm>
          </p:grpSpPr>
          <p:sp>
            <p:nvSpPr>
              <p:cNvPr id="296" name="평행 사변형 295">
                <a:extLst>
                  <a:ext uri="{FF2B5EF4-FFF2-40B4-BE49-F238E27FC236}">
                    <a16:creationId xmlns:a16="http://schemas.microsoft.com/office/drawing/2014/main" id="{9E751194-E606-4BAF-871B-C159F0FD51DB}"/>
                  </a:ext>
                </a:extLst>
              </p:cNvPr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97" name="모서리가 둥근 직사각형 229">
                <a:extLst>
                  <a:ext uri="{FF2B5EF4-FFF2-40B4-BE49-F238E27FC236}">
                    <a16:creationId xmlns:a16="http://schemas.microsoft.com/office/drawing/2014/main" id="{B2910C21-1016-4F59-8C16-5EF72249C3B3}"/>
                  </a:ext>
                </a:extLst>
              </p:cNvPr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98" name="모서리가 둥근 직사각형 230">
                <a:extLst>
                  <a:ext uri="{FF2B5EF4-FFF2-40B4-BE49-F238E27FC236}">
                    <a16:creationId xmlns:a16="http://schemas.microsoft.com/office/drawing/2014/main" id="{E3F37FC1-F68A-45BC-BF3F-1BACAA73C494}"/>
                  </a:ext>
                </a:extLst>
              </p:cNvPr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99" name="모서리가 둥근 직사각형 231">
                <a:extLst>
                  <a:ext uri="{FF2B5EF4-FFF2-40B4-BE49-F238E27FC236}">
                    <a16:creationId xmlns:a16="http://schemas.microsoft.com/office/drawing/2014/main" id="{1EC17D15-1C9B-448F-B3B4-7BF14D08164C}"/>
                  </a:ext>
                </a:extLst>
              </p:cNvPr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00" name="모서리가 둥근 직사각형 232">
                <a:extLst>
                  <a:ext uri="{FF2B5EF4-FFF2-40B4-BE49-F238E27FC236}">
                    <a16:creationId xmlns:a16="http://schemas.microsoft.com/office/drawing/2014/main" id="{BAF7F5BA-528D-4B2D-B22C-896E87AA17E0}"/>
                  </a:ext>
                </a:extLst>
              </p:cNvPr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01" name="모서리가 둥근 직사각형 233">
                <a:extLst>
                  <a:ext uri="{FF2B5EF4-FFF2-40B4-BE49-F238E27FC236}">
                    <a16:creationId xmlns:a16="http://schemas.microsoft.com/office/drawing/2014/main" id="{F8DEFF63-8CD5-4836-A27B-287E81A4AFE2}"/>
                  </a:ext>
                </a:extLst>
              </p:cNvPr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02" name="모서리가 둥근 직사각형 234">
                <a:extLst>
                  <a:ext uri="{FF2B5EF4-FFF2-40B4-BE49-F238E27FC236}">
                    <a16:creationId xmlns:a16="http://schemas.microsoft.com/office/drawing/2014/main" id="{AB8501A3-BD6C-4F53-9661-B4650079424B}"/>
                  </a:ext>
                </a:extLst>
              </p:cNvPr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303" name="직선 화살표 연결선 302">
                <a:extLst>
                  <a:ext uri="{FF2B5EF4-FFF2-40B4-BE49-F238E27FC236}">
                    <a16:creationId xmlns:a16="http://schemas.microsoft.com/office/drawing/2014/main" id="{C838753C-CC76-4C88-8D16-E3F5248B4EA7}"/>
                  </a:ext>
                </a:extLst>
              </p:cNvPr>
              <p:cNvCxnSpPr>
                <a:stCxn id="297" idx="2"/>
                <a:endCxn id="298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직선 화살표 연결선 303">
                <a:extLst>
                  <a:ext uri="{FF2B5EF4-FFF2-40B4-BE49-F238E27FC236}">
                    <a16:creationId xmlns:a16="http://schemas.microsoft.com/office/drawing/2014/main" id="{4E07DECC-6401-4A8B-BCF9-6D7A66D5B1EE}"/>
                  </a:ext>
                </a:extLst>
              </p:cNvPr>
              <p:cNvCxnSpPr>
                <a:stCxn id="297" idx="2"/>
                <a:endCxn id="299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직선 화살표 연결선 304">
                <a:extLst>
                  <a:ext uri="{FF2B5EF4-FFF2-40B4-BE49-F238E27FC236}">
                    <a16:creationId xmlns:a16="http://schemas.microsoft.com/office/drawing/2014/main" id="{C27E751F-7CF3-4BDA-90DB-10649B74DFD6}"/>
                  </a:ext>
                </a:extLst>
              </p:cNvPr>
              <p:cNvCxnSpPr>
                <a:stCxn id="297" idx="2"/>
                <a:endCxn id="301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직선 화살표 연결선 305">
                <a:extLst>
                  <a:ext uri="{FF2B5EF4-FFF2-40B4-BE49-F238E27FC236}">
                    <a16:creationId xmlns:a16="http://schemas.microsoft.com/office/drawing/2014/main" id="{A99C5427-6C3F-43C1-BE05-56F2574B7352}"/>
                  </a:ext>
                </a:extLst>
              </p:cNvPr>
              <p:cNvCxnSpPr>
                <a:stCxn id="297" idx="2"/>
                <a:endCxn id="300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직선 화살표 연결선 306">
                <a:extLst>
                  <a:ext uri="{FF2B5EF4-FFF2-40B4-BE49-F238E27FC236}">
                    <a16:creationId xmlns:a16="http://schemas.microsoft.com/office/drawing/2014/main" id="{41A3C917-7146-424F-8C86-F5CDC82DE219}"/>
                  </a:ext>
                </a:extLst>
              </p:cNvPr>
              <p:cNvCxnSpPr>
                <a:stCxn id="297" idx="2"/>
                <a:endCxn id="302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" name="직사각형 307">
                <a:extLst>
                  <a:ext uri="{FF2B5EF4-FFF2-40B4-BE49-F238E27FC236}">
                    <a16:creationId xmlns:a16="http://schemas.microsoft.com/office/drawing/2014/main" id="{6419EB1B-62D0-48F6-8E5D-D640210913D9}"/>
                  </a:ext>
                </a:extLst>
              </p:cNvPr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09" name="직사각형 308">
                <a:extLst>
                  <a:ext uri="{FF2B5EF4-FFF2-40B4-BE49-F238E27FC236}">
                    <a16:creationId xmlns:a16="http://schemas.microsoft.com/office/drawing/2014/main" id="{75A78408-F983-4F1A-8C8E-63A9DE9B6304}"/>
                  </a:ext>
                </a:extLst>
              </p:cNvPr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C96230AE-528D-4A6D-9CF2-0C89425AFB7A}"/>
                  </a:ext>
                </a:extLst>
              </p:cNvPr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867AC7DE-FBDA-499D-B036-42D1E91C6CF1}"/>
                  </a:ext>
                </a:extLst>
              </p:cNvPr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PU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6985FAA2-98C6-4059-8DF2-B3E90EF35FF7}"/>
                  </a:ext>
                </a:extLst>
              </p:cNvPr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FU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61E3CDB2-2EDB-4212-A522-98694045E360}"/>
                  </a:ext>
                </a:extLst>
              </p:cNvPr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</p:grp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526202E2-5B9A-489C-90D0-2FB626F7A7D1}"/>
                </a:ext>
              </a:extLst>
            </p:cNvPr>
            <p:cNvSpPr txBox="1"/>
            <p:nvPr/>
          </p:nvSpPr>
          <p:spPr>
            <a:xfrm>
              <a:off x="2399034" y="2440668"/>
              <a:ext cx="656087" cy="21086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1000" dirty="0">
                  <a:cs typeface="Arial" pitchFamily="34" charset="0"/>
                </a:rPr>
                <a:t>PM</a:t>
              </a:r>
              <a:endParaRPr lang="ko-KR" altLang="en-US" sz="1000" dirty="0">
                <a:cs typeface="Arial" pitchFamily="34" charset="0"/>
              </a:endParaRPr>
            </a:p>
          </p:txBody>
        </p: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90AD36F3-C5A2-43B8-97C2-9F76230A845E}"/>
                </a:ext>
              </a:extLst>
            </p:cNvPr>
            <p:cNvGrpSpPr/>
            <p:nvPr/>
          </p:nvGrpSpPr>
          <p:grpSpPr>
            <a:xfrm>
              <a:off x="2488306" y="2940822"/>
              <a:ext cx="306034" cy="108000"/>
              <a:chOff x="884548" y="2486282"/>
              <a:chExt cx="306034" cy="108000"/>
            </a:xfrm>
          </p:grpSpPr>
          <p:sp>
            <p:nvSpPr>
              <p:cNvPr id="294" name="타원 293">
                <a:extLst>
                  <a:ext uri="{FF2B5EF4-FFF2-40B4-BE49-F238E27FC236}">
                    <a16:creationId xmlns:a16="http://schemas.microsoft.com/office/drawing/2014/main" id="{A3BA680A-0A2E-44F7-9E61-B94A2B0F9A29}"/>
                  </a:ext>
                </a:extLst>
              </p:cNvPr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95" name="직선 연결선 294">
                <a:extLst>
                  <a:ext uri="{FF2B5EF4-FFF2-40B4-BE49-F238E27FC236}">
                    <a16:creationId xmlns:a16="http://schemas.microsoft.com/office/drawing/2014/main" id="{0F309F3D-CC3A-4F62-A77C-21DFB4B3382F}"/>
                  </a:ext>
                </a:extLst>
              </p:cNvPr>
              <p:cNvCxnSpPr>
                <a:stCxn id="294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5CA503CA-A603-494D-ABC0-EEA8D4718A81}"/>
                </a:ext>
              </a:extLst>
            </p:cNvPr>
            <p:cNvGrpSpPr/>
            <p:nvPr/>
          </p:nvGrpSpPr>
          <p:grpSpPr>
            <a:xfrm>
              <a:off x="2488306" y="2790365"/>
              <a:ext cx="306034" cy="108000"/>
              <a:chOff x="884548" y="2486282"/>
              <a:chExt cx="306034" cy="108000"/>
            </a:xfrm>
          </p:grpSpPr>
          <p:sp>
            <p:nvSpPr>
              <p:cNvPr id="292" name="타원 291">
                <a:extLst>
                  <a:ext uri="{FF2B5EF4-FFF2-40B4-BE49-F238E27FC236}">
                    <a16:creationId xmlns:a16="http://schemas.microsoft.com/office/drawing/2014/main" id="{0CDCEA89-77BF-4FAD-974A-F91E69B3D259}"/>
                  </a:ext>
                </a:extLst>
              </p:cNvPr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93" name="직선 연결선 292">
                <a:extLst>
                  <a:ext uri="{FF2B5EF4-FFF2-40B4-BE49-F238E27FC236}">
                    <a16:creationId xmlns:a16="http://schemas.microsoft.com/office/drawing/2014/main" id="{01808A21-EA91-4620-BB81-1E8B1AABA59A}"/>
                  </a:ext>
                </a:extLst>
              </p:cNvPr>
              <p:cNvCxnSpPr>
                <a:stCxn id="292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DADB6D8C-8AE0-475F-AF79-15763B93F6C2}"/>
                </a:ext>
              </a:extLst>
            </p:cNvPr>
            <p:cNvGrpSpPr/>
            <p:nvPr/>
          </p:nvGrpSpPr>
          <p:grpSpPr>
            <a:xfrm>
              <a:off x="2488306" y="2632692"/>
              <a:ext cx="306034" cy="108000"/>
              <a:chOff x="884548" y="2486282"/>
              <a:chExt cx="306034" cy="108000"/>
            </a:xfrm>
          </p:grpSpPr>
          <p:sp>
            <p:nvSpPr>
              <p:cNvPr id="290" name="타원 289">
                <a:extLst>
                  <a:ext uri="{FF2B5EF4-FFF2-40B4-BE49-F238E27FC236}">
                    <a16:creationId xmlns:a16="http://schemas.microsoft.com/office/drawing/2014/main" id="{7661CFDC-9537-48F9-B4DA-54CDDD8FF701}"/>
                  </a:ext>
                </a:extLst>
              </p:cNvPr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91" name="직선 연결선 290">
                <a:extLst>
                  <a:ext uri="{FF2B5EF4-FFF2-40B4-BE49-F238E27FC236}">
                    <a16:creationId xmlns:a16="http://schemas.microsoft.com/office/drawing/2014/main" id="{C4AF91A1-0721-4AA1-B4C5-9F2A600A43AA}"/>
                  </a:ext>
                </a:extLst>
              </p:cNvPr>
              <p:cNvCxnSpPr>
                <a:stCxn id="290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D59CC08F-FFD9-4F5F-8BB3-066CADD06BEE}"/>
                </a:ext>
              </a:extLst>
            </p:cNvPr>
            <p:cNvGrpSpPr/>
            <p:nvPr/>
          </p:nvGrpSpPr>
          <p:grpSpPr>
            <a:xfrm>
              <a:off x="2946740" y="2625274"/>
              <a:ext cx="1494166" cy="1152012"/>
              <a:chOff x="4034898" y="5337328"/>
              <a:chExt cx="1494166" cy="1152012"/>
            </a:xfrm>
          </p:grpSpPr>
          <p:sp>
            <p:nvSpPr>
              <p:cNvPr id="272" name="평행 사변형 271">
                <a:extLst>
                  <a:ext uri="{FF2B5EF4-FFF2-40B4-BE49-F238E27FC236}">
                    <a16:creationId xmlns:a16="http://schemas.microsoft.com/office/drawing/2014/main" id="{B97E096D-D757-48E0-A926-274827A4D0F9}"/>
                  </a:ext>
                </a:extLst>
              </p:cNvPr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73" name="모서리가 둥근 직사각형 205">
                <a:extLst>
                  <a:ext uri="{FF2B5EF4-FFF2-40B4-BE49-F238E27FC236}">
                    <a16:creationId xmlns:a16="http://schemas.microsoft.com/office/drawing/2014/main" id="{6CC15B85-FAFD-4119-A976-E54B1CFD42F0}"/>
                  </a:ext>
                </a:extLst>
              </p:cNvPr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74" name="모서리가 둥근 직사각형 206">
                <a:extLst>
                  <a:ext uri="{FF2B5EF4-FFF2-40B4-BE49-F238E27FC236}">
                    <a16:creationId xmlns:a16="http://schemas.microsoft.com/office/drawing/2014/main" id="{5064AA86-D1EA-4252-944A-59F714377474}"/>
                  </a:ext>
                </a:extLst>
              </p:cNvPr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75" name="모서리가 둥근 직사각형 207">
                <a:extLst>
                  <a:ext uri="{FF2B5EF4-FFF2-40B4-BE49-F238E27FC236}">
                    <a16:creationId xmlns:a16="http://schemas.microsoft.com/office/drawing/2014/main" id="{634329CF-C500-40B2-AD27-A4E90297DD0B}"/>
                  </a:ext>
                </a:extLst>
              </p:cNvPr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76" name="모서리가 둥근 직사각형 208">
                <a:extLst>
                  <a:ext uri="{FF2B5EF4-FFF2-40B4-BE49-F238E27FC236}">
                    <a16:creationId xmlns:a16="http://schemas.microsoft.com/office/drawing/2014/main" id="{65E1FB65-B9BC-47CD-9E39-CA06ABE111AA}"/>
                  </a:ext>
                </a:extLst>
              </p:cNvPr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77" name="모서리가 둥근 직사각형 209">
                <a:extLst>
                  <a:ext uri="{FF2B5EF4-FFF2-40B4-BE49-F238E27FC236}">
                    <a16:creationId xmlns:a16="http://schemas.microsoft.com/office/drawing/2014/main" id="{DBABDD53-28B7-43F0-A7CD-A9A060783B29}"/>
                  </a:ext>
                </a:extLst>
              </p:cNvPr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78" name="모서리가 둥근 직사각형 210">
                <a:extLst>
                  <a:ext uri="{FF2B5EF4-FFF2-40B4-BE49-F238E27FC236}">
                    <a16:creationId xmlns:a16="http://schemas.microsoft.com/office/drawing/2014/main" id="{1C6A3083-BAA4-45BE-B4DE-610BFAB68B83}"/>
                  </a:ext>
                </a:extLst>
              </p:cNvPr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79" name="직선 화살표 연결선 278">
                <a:extLst>
                  <a:ext uri="{FF2B5EF4-FFF2-40B4-BE49-F238E27FC236}">
                    <a16:creationId xmlns:a16="http://schemas.microsoft.com/office/drawing/2014/main" id="{C4495CBE-1A02-412D-B7EE-76D06BA33246}"/>
                  </a:ext>
                </a:extLst>
              </p:cNvPr>
              <p:cNvCxnSpPr>
                <a:stCxn id="273" idx="2"/>
                <a:endCxn id="274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직선 화살표 연결선 279">
                <a:extLst>
                  <a:ext uri="{FF2B5EF4-FFF2-40B4-BE49-F238E27FC236}">
                    <a16:creationId xmlns:a16="http://schemas.microsoft.com/office/drawing/2014/main" id="{2DE022AC-DE80-48D9-8B58-AEB941522974}"/>
                  </a:ext>
                </a:extLst>
              </p:cNvPr>
              <p:cNvCxnSpPr>
                <a:stCxn id="273" idx="2"/>
                <a:endCxn id="275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직선 화살표 연결선 280">
                <a:extLst>
                  <a:ext uri="{FF2B5EF4-FFF2-40B4-BE49-F238E27FC236}">
                    <a16:creationId xmlns:a16="http://schemas.microsoft.com/office/drawing/2014/main" id="{3DDE0F47-7299-4F48-AA70-D0B21A57B0C7}"/>
                  </a:ext>
                </a:extLst>
              </p:cNvPr>
              <p:cNvCxnSpPr>
                <a:stCxn id="273" idx="2"/>
                <a:endCxn id="277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직선 화살표 연결선 281">
                <a:extLst>
                  <a:ext uri="{FF2B5EF4-FFF2-40B4-BE49-F238E27FC236}">
                    <a16:creationId xmlns:a16="http://schemas.microsoft.com/office/drawing/2014/main" id="{F9F368DD-EC74-455B-9312-4CF135767B2D}"/>
                  </a:ext>
                </a:extLst>
              </p:cNvPr>
              <p:cNvCxnSpPr>
                <a:stCxn id="273" idx="2"/>
                <a:endCxn id="276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직선 화살표 연결선 282">
                <a:extLst>
                  <a:ext uri="{FF2B5EF4-FFF2-40B4-BE49-F238E27FC236}">
                    <a16:creationId xmlns:a16="http://schemas.microsoft.com/office/drawing/2014/main" id="{E52CA6C3-E9E9-4016-AC20-009F77881EEC}"/>
                  </a:ext>
                </a:extLst>
              </p:cNvPr>
              <p:cNvCxnSpPr>
                <a:stCxn id="273" idx="2"/>
                <a:endCxn id="278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직사각형 283">
                <a:extLst>
                  <a:ext uri="{FF2B5EF4-FFF2-40B4-BE49-F238E27FC236}">
                    <a16:creationId xmlns:a16="http://schemas.microsoft.com/office/drawing/2014/main" id="{44C101B6-1D33-4EA5-A9AF-AA2B45F4C533}"/>
                  </a:ext>
                </a:extLst>
              </p:cNvPr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85" name="직사각형 284">
                <a:extLst>
                  <a:ext uri="{FF2B5EF4-FFF2-40B4-BE49-F238E27FC236}">
                    <a16:creationId xmlns:a16="http://schemas.microsoft.com/office/drawing/2014/main" id="{3F73BEAD-A9D0-4F55-B2F6-998E2136CA11}"/>
                  </a:ext>
                </a:extLst>
              </p:cNvPr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86" name="직사각형 285">
                <a:extLst>
                  <a:ext uri="{FF2B5EF4-FFF2-40B4-BE49-F238E27FC236}">
                    <a16:creationId xmlns:a16="http://schemas.microsoft.com/office/drawing/2014/main" id="{6815B42F-A2E7-41F5-93F8-40ECCAAD95F4}"/>
                  </a:ext>
                </a:extLst>
              </p:cNvPr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F4162683-4635-4B83-9994-A686F9A0FA9E}"/>
                  </a:ext>
                </a:extLst>
              </p:cNvPr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PU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6D8C0EF6-454A-497B-B15B-A898519E7894}"/>
                  </a:ext>
                </a:extLst>
              </p:cNvPr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FU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7D4B3661-887B-4B68-9CDF-1AC051872AE3}"/>
                  </a:ext>
                </a:extLst>
              </p:cNvPr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DU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</p:grpSp>
        <p:sp>
          <p:nvSpPr>
            <p:cNvPr id="248" name="평행 사변형 247">
              <a:extLst>
                <a:ext uri="{FF2B5EF4-FFF2-40B4-BE49-F238E27FC236}">
                  <a16:creationId xmlns:a16="http://schemas.microsoft.com/office/drawing/2014/main" id="{69A507A1-BA1A-4A6D-8D17-3C7A464BF76F}"/>
                </a:ext>
              </a:extLst>
            </p:cNvPr>
            <p:cNvSpPr/>
            <p:nvPr/>
          </p:nvSpPr>
          <p:spPr>
            <a:xfrm>
              <a:off x="2794340" y="2472874"/>
              <a:ext cx="1494166" cy="1152012"/>
            </a:xfrm>
            <a:prstGeom prst="parallelogram">
              <a:avLst>
                <a:gd name="adj" fmla="val 0"/>
              </a:avLst>
            </a:prstGeom>
            <a:solidFill>
              <a:schemeClr val="bg1"/>
            </a:solidFill>
            <a:ln w="190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4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49" name="모서리가 둥근 직사각형 179">
              <a:extLst>
                <a:ext uri="{FF2B5EF4-FFF2-40B4-BE49-F238E27FC236}">
                  <a16:creationId xmlns:a16="http://schemas.microsoft.com/office/drawing/2014/main" id="{01E46564-14EA-415A-A6BA-8965F4427DA1}"/>
                </a:ext>
              </a:extLst>
            </p:cNvPr>
            <p:cNvSpPr/>
            <p:nvPr/>
          </p:nvSpPr>
          <p:spPr>
            <a:xfrm>
              <a:off x="3005645" y="276080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PM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50" name="모서리가 둥근 직사각형 180">
              <a:extLst>
                <a:ext uri="{FF2B5EF4-FFF2-40B4-BE49-F238E27FC236}">
                  <a16:creationId xmlns:a16="http://schemas.microsoft.com/office/drawing/2014/main" id="{2A13510E-2B5B-4D24-BA29-7FBC35A3672D}"/>
                </a:ext>
              </a:extLst>
            </p:cNvPr>
            <p:cNvSpPr/>
            <p:nvPr/>
          </p:nvSpPr>
          <p:spPr>
            <a:xfrm>
              <a:off x="2992350" y="32204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51" name="모서리가 둥근 직사각형 181">
              <a:extLst>
                <a:ext uri="{FF2B5EF4-FFF2-40B4-BE49-F238E27FC236}">
                  <a16:creationId xmlns:a16="http://schemas.microsoft.com/office/drawing/2014/main" id="{DCE1AA59-757C-4EE9-A10F-B340C23F089F}"/>
                </a:ext>
              </a:extLst>
            </p:cNvPr>
            <p:cNvSpPr/>
            <p:nvPr/>
          </p:nvSpPr>
          <p:spPr>
            <a:xfrm>
              <a:off x="3064358" y="3295886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52" name="모서리가 둥근 직사각형 182">
              <a:extLst>
                <a:ext uri="{FF2B5EF4-FFF2-40B4-BE49-F238E27FC236}">
                  <a16:creationId xmlns:a16="http://schemas.microsoft.com/office/drawing/2014/main" id="{68F6946B-82D9-42B3-937E-37EB9942B1D7}"/>
                </a:ext>
              </a:extLst>
            </p:cNvPr>
            <p:cNvSpPr/>
            <p:nvPr/>
          </p:nvSpPr>
          <p:spPr>
            <a:xfrm>
              <a:off x="3827863" y="2996964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53" name="모서리가 둥근 직사각형 183">
              <a:extLst>
                <a:ext uri="{FF2B5EF4-FFF2-40B4-BE49-F238E27FC236}">
                  <a16:creationId xmlns:a16="http://schemas.microsoft.com/office/drawing/2014/main" id="{9EB0D87E-6CC1-4A2D-9AD8-FBD1EC71323C}"/>
                </a:ext>
              </a:extLst>
            </p:cNvPr>
            <p:cNvSpPr/>
            <p:nvPr/>
          </p:nvSpPr>
          <p:spPr>
            <a:xfrm>
              <a:off x="3144750" y="33728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54" name="모서리가 둥근 직사각형 184">
              <a:extLst>
                <a:ext uri="{FF2B5EF4-FFF2-40B4-BE49-F238E27FC236}">
                  <a16:creationId xmlns:a16="http://schemas.microsoft.com/office/drawing/2014/main" id="{64CA48AE-F5BC-420F-8F50-EE096D757150}"/>
                </a:ext>
              </a:extLst>
            </p:cNvPr>
            <p:cNvSpPr/>
            <p:nvPr/>
          </p:nvSpPr>
          <p:spPr>
            <a:xfrm>
              <a:off x="3755807" y="306897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255" name="직선 화살표 연결선 254">
              <a:extLst>
                <a:ext uri="{FF2B5EF4-FFF2-40B4-BE49-F238E27FC236}">
                  <a16:creationId xmlns:a16="http://schemas.microsoft.com/office/drawing/2014/main" id="{BCCCF3BA-E943-4B0B-8276-EF01AC147D28}"/>
                </a:ext>
              </a:extLst>
            </p:cNvPr>
            <p:cNvCxnSpPr>
              <a:stCxn id="249" idx="2"/>
              <a:endCxn id="250" idx="0"/>
            </p:cNvCxnSpPr>
            <p:nvPr/>
          </p:nvCxnSpPr>
          <p:spPr>
            <a:xfrm flipH="1">
              <a:off x="3154350" y="2868802"/>
              <a:ext cx="13295" cy="3516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화살표 연결선 255">
              <a:extLst>
                <a:ext uri="{FF2B5EF4-FFF2-40B4-BE49-F238E27FC236}">
                  <a16:creationId xmlns:a16="http://schemas.microsoft.com/office/drawing/2014/main" id="{90838C57-024C-4B4A-AF5F-BDE353105043}"/>
                </a:ext>
              </a:extLst>
            </p:cNvPr>
            <p:cNvCxnSpPr>
              <a:stCxn id="249" idx="2"/>
              <a:endCxn id="251" idx="0"/>
            </p:cNvCxnSpPr>
            <p:nvPr/>
          </p:nvCxnSpPr>
          <p:spPr>
            <a:xfrm>
              <a:off x="3167645" y="2868802"/>
              <a:ext cx="58713" cy="427084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화살표 연결선 256">
              <a:extLst>
                <a:ext uri="{FF2B5EF4-FFF2-40B4-BE49-F238E27FC236}">
                  <a16:creationId xmlns:a16="http://schemas.microsoft.com/office/drawing/2014/main" id="{117054BE-F7A3-4CD3-BFE9-1A646242EDEF}"/>
                </a:ext>
              </a:extLst>
            </p:cNvPr>
            <p:cNvCxnSpPr>
              <a:stCxn id="249" idx="2"/>
              <a:endCxn id="253" idx="0"/>
            </p:cNvCxnSpPr>
            <p:nvPr/>
          </p:nvCxnSpPr>
          <p:spPr>
            <a:xfrm>
              <a:off x="3167645" y="2868802"/>
              <a:ext cx="139105" cy="5040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화살표 연결선 257">
              <a:extLst>
                <a:ext uri="{FF2B5EF4-FFF2-40B4-BE49-F238E27FC236}">
                  <a16:creationId xmlns:a16="http://schemas.microsoft.com/office/drawing/2014/main" id="{401DC3C2-BCCF-49D7-894D-AD3A453A185D}"/>
                </a:ext>
              </a:extLst>
            </p:cNvPr>
            <p:cNvCxnSpPr>
              <a:stCxn id="249" idx="3"/>
              <a:endCxn id="252" idx="1"/>
            </p:cNvCxnSpPr>
            <p:nvPr/>
          </p:nvCxnSpPr>
          <p:spPr>
            <a:xfrm>
              <a:off x="3329645" y="2814802"/>
              <a:ext cx="498218" cy="236162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화살표 연결선 258">
              <a:extLst>
                <a:ext uri="{FF2B5EF4-FFF2-40B4-BE49-F238E27FC236}">
                  <a16:creationId xmlns:a16="http://schemas.microsoft.com/office/drawing/2014/main" id="{056BD9DA-DDE4-4240-A13A-89421D435A34}"/>
                </a:ext>
              </a:extLst>
            </p:cNvPr>
            <p:cNvCxnSpPr>
              <a:stCxn id="249" idx="3"/>
              <a:endCxn id="254" idx="1"/>
            </p:cNvCxnSpPr>
            <p:nvPr/>
          </p:nvCxnSpPr>
          <p:spPr>
            <a:xfrm>
              <a:off x="3329645" y="2814802"/>
              <a:ext cx="426162" cy="308170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4F29B835-1EF0-4B78-97AD-16647D4F52EB}"/>
                </a:ext>
              </a:extLst>
            </p:cNvPr>
            <p:cNvSpPr/>
            <p:nvPr/>
          </p:nvSpPr>
          <p:spPr>
            <a:xfrm>
              <a:off x="2887949" y="2580770"/>
              <a:ext cx="549756" cy="365032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53A3C7A8-51E3-476C-8812-A7E53B2D3919}"/>
                </a:ext>
              </a:extLst>
            </p:cNvPr>
            <p:cNvSpPr/>
            <p:nvPr/>
          </p:nvSpPr>
          <p:spPr>
            <a:xfrm>
              <a:off x="3665749" y="2866462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62" name="직사각형 261">
              <a:extLst>
                <a:ext uri="{FF2B5EF4-FFF2-40B4-BE49-F238E27FC236}">
                  <a16:creationId xmlns:a16="http://schemas.microsoft.com/office/drawing/2014/main" id="{5DB06EE6-D355-4B65-ADD6-D697597D5CD9}"/>
                </a:ext>
              </a:extLst>
            </p:cNvPr>
            <p:cNvSpPr/>
            <p:nvPr/>
          </p:nvSpPr>
          <p:spPr>
            <a:xfrm>
              <a:off x="2884290" y="3052496"/>
              <a:ext cx="621021" cy="46763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A7AA01D3-DD1D-4EFD-BEE4-4E8B5A98C366}"/>
                </a:ext>
              </a:extLst>
            </p:cNvPr>
            <p:cNvSpPr txBox="1"/>
            <p:nvPr/>
          </p:nvSpPr>
          <p:spPr>
            <a:xfrm>
              <a:off x="2828764" y="2544766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PU</a:t>
              </a:r>
              <a:endParaRPr lang="ko-KR" altLang="en-US" sz="800" dirty="0">
                <a:cs typeface="Arial" pitchFamily="34" charset="0"/>
              </a:endParaRP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A80C99D0-8A92-499B-9D31-49B3F92AC5D2}"/>
                </a:ext>
              </a:extLst>
            </p:cNvPr>
            <p:cNvSpPr txBox="1"/>
            <p:nvPr/>
          </p:nvSpPr>
          <p:spPr>
            <a:xfrm>
              <a:off x="2821867" y="3021267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FU</a:t>
              </a:r>
              <a:endParaRPr lang="ko-KR" altLang="en-US" sz="800" dirty="0">
                <a:cs typeface="Arial" pitchFamily="34" charset="0"/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EDFD7C2C-D711-4643-9E87-879AACCB663F}"/>
                </a:ext>
              </a:extLst>
            </p:cNvPr>
            <p:cNvSpPr txBox="1"/>
            <p:nvPr/>
          </p:nvSpPr>
          <p:spPr>
            <a:xfrm>
              <a:off x="3935839" y="2840719"/>
              <a:ext cx="333085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DU</a:t>
              </a:r>
              <a:endParaRPr lang="ko-KR" altLang="en-US" sz="800" dirty="0">
                <a:cs typeface="Arial" pitchFamily="34" charset="0"/>
              </a:endParaRPr>
            </a:p>
          </p:txBody>
        </p:sp>
        <p:sp>
          <p:nvSpPr>
            <p:cNvPr id="266" name="모서리가 둥근 직사각형 198">
              <a:extLst>
                <a:ext uri="{FF2B5EF4-FFF2-40B4-BE49-F238E27FC236}">
                  <a16:creationId xmlns:a16="http://schemas.microsoft.com/office/drawing/2014/main" id="{36D3498F-858F-4DA9-B603-A4A6D85BD789}"/>
                </a:ext>
              </a:extLst>
            </p:cNvPr>
            <p:cNvSpPr/>
            <p:nvPr/>
          </p:nvSpPr>
          <p:spPr>
            <a:xfrm>
              <a:off x="3827863" y="332100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67" name="모서리가 둥근 직사각형 199">
              <a:extLst>
                <a:ext uri="{FF2B5EF4-FFF2-40B4-BE49-F238E27FC236}">
                  <a16:creationId xmlns:a16="http://schemas.microsoft.com/office/drawing/2014/main" id="{22376854-F01B-478D-8A52-DD6D371227E1}"/>
                </a:ext>
              </a:extLst>
            </p:cNvPr>
            <p:cNvSpPr/>
            <p:nvPr/>
          </p:nvSpPr>
          <p:spPr>
            <a:xfrm>
              <a:off x="3755807" y="3393008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8A6C56BA-EF0D-4A11-B1FB-A69991289751}"/>
                </a:ext>
              </a:extLst>
            </p:cNvPr>
            <p:cNvSpPr/>
            <p:nvPr/>
          </p:nvSpPr>
          <p:spPr>
            <a:xfrm>
              <a:off x="3665749" y="3205283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FDB149E0-D511-4381-9C88-983FF4690F5B}"/>
                </a:ext>
              </a:extLst>
            </p:cNvPr>
            <p:cNvSpPr txBox="1"/>
            <p:nvPr/>
          </p:nvSpPr>
          <p:spPr>
            <a:xfrm>
              <a:off x="3848280" y="3179539"/>
              <a:ext cx="549407" cy="1054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DBIO</a:t>
              </a:r>
              <a:endParaRPr lang="ko-KR" altLang="en-US" sz="800" dirty="0">
                <a:cs typeface="Arial" pitchFamily="34" charset="0"/>
              </a:endParaRPr>
            </a:p>
          </p:txBody>
        </p:sp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16F7C0A9-F0B1-452D-9007-3E625BE14BD1}"/>
                </a:ext>
              </a:extLst>
            </p:cNvPr>
            <p:cNvCxnSpPr>
              <a:stCxn id="249" idx="3"/>
            </p:cNvCxnSpPr>
            <p:nvPr/>
          </p:nvCxnSpPr>
          <p:spPr>
            <a:xfrm>
              <a:off x="3329645" y="2814802"/>
              <a:ext cx="488539" cy="5363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6ABA4EFF-9FCD-493F-AE77-6E7BF9EBB6D0}"/>
                </a:ext>
              </a:extLst>
            </p:cNvPr>
            <p:cNvCxnSpPr>
              <a:stCxn id="249" idx="3"/>
            </p:cNvCxnSpPr>
            <p:nvPr/>
          </p:nvCxnSpPr>
          <p:spPr>
            <a:xfrm>
              <a:off x="3329645" y="2814802"/>
              <a:ext cx="421230" cy="6272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347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어플리케이션 계층구조 </a:t>
            </a:r>
            <a:r>
              <a:rPr lang="en-US" altLang="ko-KR" dirty="0"/>
              <a:t>– </a:t>
            </a:r>
            <a:r>
              <a:rPr lang="en-US" altLang="ko-KR" dirty="0" err="1"/>
              <a:t>nKESA</a:t>
            </a:r>
            <a:r>
              <a:rPr lang="en-US" altLang="ko-KR" dirty="0"/>
              <a:t> 2.0</a:t>
            </a:r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아키텍처</a:t>
            </a:r>
          </a:p>
        </p:txBody>
      </p:sp>
      <p:sp>
        <p:nvSpPr>
          <p:cNvPr id="86" name="텍스트 개체 틀 2">
            <a:extLst>
              <a:ext uri="{FF2B5EF4-FFF2-40B4-BE49-F238E27FC236}">
                <a16:creationId xmlns:a16="http://schemas.microsoft.com/office/drawing/2014/main" id="{8BCDABB6-D701-44C2-9DB0-57A92334CA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어플리케이션의 계층 구조는 </a:t>
            </a:r>
            <a:r>
              <a:rPr lang="en-US" altLang="ko-KR" b="1" dirty="0"/>
              <a:t>PU</a:t>
            </a:r>
            <a:r>
              <a:rPr lang="en-US" altLang="ko-KR" dirty="0"/>
              <a:t>(Process Unit), </a:t>
            </a:r>
            <a:r>
              <a:rPr lang="en-US" altLang="ko-KR" b="1" dirty="0"/>
              <a:t>FU</a:t>
            </a:r>
            <a:r>
              <a:rPr lang="en-US" altLang="ko-KR" dirty="0"/>
              <a:t>(Function Unit), </a:t>
            </a:r>
            <a:r>
              <a:rPr lang="en-US" altLang="ko-KR" b="1" dirty="0"/>
              <a:t>DU</a:t>
            </a:r>
            <a:r>
              <a:rPr lang="en-US" altLang="ko-KR" dirty="0"/>
              <a:t>(Data Unit), </a:t>
            </a:r>
            <a:r>
              <a:rPr lang="en-US" altLang="ko-KR" b="1" dirty="0"/>
              <a:t>DBIO</a:t>
            </a:r>
            <a:r>
              <a:rPr lang="en-US" altLang="ko-KR" dirty="0"/>
              <a:t> </a:t>
            </a:r>
            <a:r>
              <a:rPr lang="ko-KR" altLang="en-US" dirty="0"/>
              <a:t>로 구성한다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7" name="자유형 8">
            <a:extLst>
              <a:ext uri="{FF2B5EF4-FFF2-40B4-BE49-F238E27FC236}">
                <a16:creationId xmlns:a16="http://schemas.microsoft.com/office/drawing/2014/main" id="{50D1A7B3-387D-4C70-A6F8-51C24B374377}"/>
              </a:ext>
            </a:extLst>
          </p:cNvPr>
          <p:cNvSpPr/>
          <p:nvPr/>
        </p:nvSpPr>
        <p:spPr>
          <a:xfrm>
            <a:off x="821086" y="1511002"/>
            <a:ext cx="384561" cy="4110528"/>
          </a:xfrm>
          <a:custGeom>
            <a:avLst/>
            <a:gdLst>
              <a:gd name="connsiteX0" fmla="*/ 384561 w 384561"/>
              <a:gd name="connsiteY0" fmla="*/ 0 h 4110528"/>
              <a:gd name="connsiteX1" fmla="*/ 384561 w 384561"/>
              <a:gd name="connsiteY1" fmla="*/ 3187582 h 4110528"/>
              <a:gd name="connsiteX2" fmla="*/ 8546 w 384561"/>
              <a:gd name="connsiteY2" fmla="*/ 4110528 h 4110528"/>
              <a:gd name="connsiteX3" fmla="*/ 0 w 384561"/>
              <a:gd name="connsiteY3" fmla="*/ 948584 h 4110528"/>
              <a:gd name="connsiteX4" fmla="*/ 384561 w 384561"/>
              <a:gd name="connsiteY4" fmla="*/ 0 h 4110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561" h="4110528">
                <a:moveTo>
                  <a:pt x="384561" y="0"/>
                </a:moveTo>
                <a:lnTo>
                  <a:pt x="384561" y="3187582"/>
                </a:lnTo>
                <a:lnTo>
                  <a:pt x="8546" y="4110528"/>
                </a:lnTo>
                <a:cubicBezTo>
                  <a:pt x="5697" y="3056547"/>
                  <a:pt x="2849" y="2002565"/>
                  <a:pt x="0" y="948584"/>
                </a:cubicBezTo>
                <a:lnTo>
                  <a:pt x="384561" y="0"/>
                </a:lnTo>
                <a:close/>
              </a:path>
            </a:pathLst>
          </a:cu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A78DA06-C290-4F2A-894D-8F6F72995ABF}"/>
              </a:ext>
            </a:extLst>
          </p:cNvPr>
          <p:cNvSpPr/>
          <p:nvPr/>
        </p:nvSpPr>
        <p:spPr>
          <a:xfrm>
            <a:off x="6432261" y="2305666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89" name="Group 284">
            <a:extLst>
              <a:ext uri="{FF2B5EF4-FFF2-40B4-BE49-F238E27FC236}">
                <a16:creationId xmlns:a16="http://schemas.microsoft.com/office/drawing/2014/main" id="{D23063B8-066D-455D-8047-A4CB3DDBD9EF}"/>
              </a:ext>
            </a:extLst>
          </p:cNvPr>
          <p:cNvGrpSpPr/>
          <p:nvPr/>
        </p:nvGrpSpPr>
        <p:grpSpPr bwMode="gray">
          <a:xfrm>
            <a:off x="723440" y="1160748"/>
            <a:ext cx="4389089" cy="334183"/>
            <a:chOff x="4179312" y="1849485"/>
            <a:chExt cx="1363719" cy="334183"/>
          </a:xfrm>
          <a:solidFill>
            <a:schemeClr val="bg1"/>
          </a:solidFill>
        </p:grpSpPr>
        <p:cxnSp>
          <p:nvCxnSpPr>
            <p:cNvPr id="90" name="Straight Connector 285">
              <a:extLst>
                <a:ext uri="{FF2B5EF4-FFF2-40B4-BE49-F238E27FC236}">
                  <a16:creationId xmlns:a16="http://schemas.microsoft.com/office/drawing/2014/main" id="{663C057A-9A87-4B5D-869B-391BD4BDED43}"/>
                </a:ext>
              </a:extLst>
            </p:cNvPr>
            <p:cNvCxnSpPr/>
            <p:nvPr/>
          </p:nvCxnSpPr>
          <p:spPr bwMode="gray">
            <a:xfrm>
              <a:off x="4179312" y="2183668"/>
              <a:ext cx="1363719" cy="0"/>
            </a:xfrm>
            <a:prstGeom prst="line">
              <a:avLst/>
            </a:prstGeom>
            <a:grpFill/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4F7BF-C79A-4604-84BA-287245B94C48}"/>
                </a:ext>
              </a:extLst>
            </p:cNvPr>
            <p:cNvSpPr txBox="1"/>
            <p:nvPr/>
          </p:nvSpPr>
          <p:spPr bwMode="gray">
            <a:xfrm>
              <a:off x="4690590" y="1849485"/>
              <a:ext cx="559180" cy="307777"/>
            </a:xfrm>
            <a:prstGeom prst="rect">
              <a:avLst/>
            </a:prstGeom>
            <a:grp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어플리케이션 계층 구조</a:t>
              </a:r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F4053C3-4EE3-4261-B316-9A105063485E}"/>
              </a:ext>
            </a:extLst>
          </p:cNvPr>
          <p:cNvSpPr/>
          <p:nvPr/>
        </p:nvSpPr>
        <p:spPr>
          <a:xfrm>
            <a:off x="561423" y="1638946"/>
            <a:ext cx="4679609" cy="4133616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C55E6B0-EE45-44B4-87F4-27F5EB7061BE}"/>
              </a:ext>
            </a:extLst>
          </p:cNvPr>
          <p:cNvSpPr/>
          <p:nvPr/>
        </p:nvSpPr>
        <p:spPr>
          <a:xfrm>
            <a:off x="200472" y="2456892"/>
            <a:ext cx="564917" cy="10541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64DC060-1D46-4F32-9C03-810D4A4DF019}"/>
              </a:ext>
            </a:extLst>
          </p:cNvPr>
          <p:cNvSpPr/>
          <p:nvPr/>
        </p:nvSpPr>
        <p:spPr>
          <a:xfrm>
            <a:off x="200472" y="2636912"/>
            <a:ext cx="564917" cy="10541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5" name="평행 사변형 94">
            <a:extLst>
              <a:ext uri="{FF2B5EF4-FFF2-40B4-BE49-F238E27FC236}">
                <a16:creationId xmlns:a16="http://schemas.microsoft.com/office/drawing/2014/main" id="{84F92D2A-3916-47D5-8A40-F09EA65DD66C}"/>
              </a:ext>
            </a:extLst>
          </p:cNvPr>
          <p:cNvSpPr/>
          <p:nvPr/>
        </p:nvSpPr>
        <p:spPr>
          <a:xfrm>
            <a:off x="826621" y="2012635"/>
            <a:ext cx="4306399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평행 사변형 95">
            <a:extLst>
              <a:ext uri="{FF2B5EF4-FFF2-40B4-BE49-F238E27FC236}">
                <a16:creationId xmlns:a16="http://schemas.microsoft.com/office/drawing/2014/main" id="{244ECDB2-CF05-423D-B17E-3552854F52D2}"/>
              </a:ext>
            </a:extLst>
          </p:cNvPr>
          <p:cNvSpPr/>
          <p:nvPr/>
        </p:nvSpPr>
        <p:spPr>
          <a:xfrm>
            <a:off x="1928664" y="2093867"/>
            <a:ext cx="3060340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7" name="모서리가 둥근 직사각형 18">
            <a:extLst>
              <a:ext uri="{FF2B5EF4-FFF2-40B4-BE49-F238E27FC236}">
                <a16:creationId xmlns:a16="http://schemas.microsoft.com/office/drawing/2014/main" id="{0FD4F7F4-801D-4EFF-9463-7A3DCC1C9D19}"/>
              </a:ext>
            </a:extLst>
          </p:cNvPr>
          <p:cNvSpPr/>
          <p:nvPr/>
        </p:nvSpPr>
        <p:spPr>
          <a:xfrm>
            <a:off x="2612740" y="2139074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8" name="모서리가 둥근 직사각형 19">
            <a:extLst>
              <a:ext uri="{FF2B5EF4-FFF2-40B4-BE49-F238E27FC236}">
                <a16:creationId xmlns:a16="http://schemas.microsoft.com/office/drawing/2014/main" id="{6BE15A82-5EFE-46E7-B049-B35F8657337E}"/>
              </a:ext>
            </a:extLst>
          </p:cNvPr>
          <p:cNvSpPr/>
          <p:nvPr/>
        </p:nvSpPr>
        <p:spPr>
          <a:xfrm>
            <a:off x="4124908" y="2139074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9" name="모서리가 둥근 직사각형 20">
            <a:extLst>
              <a:ext uri="{FF2B5EF4-FFF2-40B4-BE49-F238E27FC236}">
                <a16:creationId xmlns:a16="http://schemas.microsoft.com/office/drawing/2014/main" id="{C6BD11C1-F0D8-428C-934A-E08BE5616B2A}"/>
              </a:ext>
            </a:extLst>
          </p:cNvPr>
          <p:cNvSpPr/>
          <p:nvPr/>
        </p:nvSpPr>
        <p:spPr>
          <a:xfrm>
            <a:off x="3260812" y="2427106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5C3ECE3-9856-4468-9D06-307E4B01B03A}"/>
              </a:ext>
            </a:extLst>
          </p:cNvPr>
          <p:cNvCxnSpPr>
            <a:stCxn id="148" idx="6"/>
            <a:endCxn id="97" idx="1"/>
          </p:cNvCxnSpPr>
          <p:nvPr/>
        </p:nvCxnSpPr>
        <p:spPr>
          <a:xfrm>
            <a:off x="200472" y="2327882"/>
            <a:ext cx="2412268" cy="1"/>
          </a:xfrm>
          <a:prstGeom prst="straightConnector1">
            <a:avLst/>
          </a:prstGeom>
          <a:ln w="19050" cap="flat">
            <a:solidFill>
              <a:schemeClr val="accent5">
                <a:lumMod val="50000"/>
              </a:schemeClr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평행 사변형 100">
            <a:extLst>
              <a:ext uri="{FF2B5EF4-FFF2-40B4-BE49-F238E27FC236}">
                <a16:creationId xmlns:a16="http://schemas.microsoft.com/office/drawing/2014/main" id="{C776F3BA-C9E9-4DD0-9B5E-664002444B79}"/>
              </a:ext>
            </a:extLst>
          </p:cNvPr>
          <p:cNvSpPr/>
          <p:nvPr/>
        </p:nvSpPr>
        <p:spPr>
          <a:xfrm>
            <a:off x="826621" y="3353784"/>
            <a:ext cx="4306399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2" name="평행 사변형 101">
            <a:extLst>
              <a:ext uri="{FF2B5EF4-FFF2-40B4-BE49-F238E27FC236}">
                <a16:creationId xmlns:a16="http://schemas.microsoft.com/office/drawing/2014/main" id="{82D1422F-F935-4A6F-9AC4-A43588955D73}"/>
              </a:ext>
            </a:extLst>
          </p:cNvPr>
          <p:cNvSpPr/>
          <p:nvPr/>
        </p:nvSpPr>
        <p:spPr>
          <a:xfrm>
            <a:off x="1928664" y="3435016"/>
            <a:ext cx="3060340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3" name="평행 사변형 102">
            <a:extLst>
              <a:ext uri="{FF2B5EF4-FFF2-40B4-BE49-F238E27FC236}">
                <a16:creationId xmlns:a16="http://schemas.microsoft.com/office/drawing/2014/main" id="{04F92682-7507-4F6A-A259-8A45541F2C57}"/>
              </a:ext>
            </a:extLst>
          </p:cNvPr>
          <p:cNvSpPr/>
          <p:nvPr/>
        </p:nvSpPr>
        <p:spPr>
          <a:xfrm>
            <a:off x="826622" y="4694933"/>
            <a:ext cx="2278202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4" name="평행 사변형 103">
            <a:extLst>
              <a:ext uri="{FF2B5EF4-FFF2-40B4-BE49-F238E27FC236}">
                <a16:creationId xmlns:a16="http://schemas.microsoft.com/office/drawing/2014/main" id="{EC24D618-375C-4866-975C-130405839399}"/>
              </a:ext>
            </a:extLst>
          </p:cNvPr>
          <p:cNvSpPr/>
          <p:nvPr/>
        </p:nvSpPr>
        <p:spPr>
          <a:xfrm>
            <a:off x="1349663" y="4776165"/>
            <a:ext cx="1636087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5" name="모서리가 둥근 직사각형 26">
            <a:extLst>
              <a:ext uri="{FF2B5EF4-FFF2-40B4-BE49-F238E27FC236}">
                <a16:creationId xmlns:a16="http://schemas.microsoft.com/office/drawing/2014/main" id="{66EF1830-5270-40C3-9CFE-18BF370B814B}"/>
              </a:ext>
            </a:extLst>
          </p:cNvPr>
          <p:cNvSpPr/>
          <p:nvPr/>
        </p:nvSpPr>
        <p:spPr>
          <a:xfrm>
            <a:off x="2504728" y="3632815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6" name="모서리가 둥근 직사각형 27">
            <a:extLst>
              <a:ext uri="{FF2B5EF4-FFF2-40B4-BE49-F238E27FC236}">
                <a16:creationId xmlns:a16="http://schemas.microsoft.com/office/drawing/2014/main" id="{BEBB7D6A-6B46-4C90-A368-4842E114AB63}"/>
              </a:ext>
            </a:extLst>
          </p:cNvPr>
          <p:cNvSpPr/>
          <p:nvPr/>
        </p:nvSpPr>
        <p:spPr>
          <a:xfrm>
            <a:off x="3800872" y="3781520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7" name="모서리가 둥근 직사각형 28">
            <a:extLst>
              <a:ext uri="{FF2B5EF4-FFF2-40B4-BE49-F238E27FC236}">
                <a16:creationId xmlns:a16="http://schemas.microsoft.com/office/drawing/2014/main" id="{725B5738-A3C7-4772-9DC3-27DFEE0F9ED9}"/>
              </a:ext>
            </a:extLst>
          </p:cNvPr>
          <p:cNvSpPr/>
          <p:nvPr/>
        </p:nvSpPr>
        <p:spPr>
          <a:xfrm>
            <a:off x="3116796" y="3380787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모서리가 둥근 직사각형 29">
            <a:extLst>
              <a:ext uri="{FF2B5EF4-FFF2-40B4-BE49-F238E27FC236}">
                <a16:creationId xmlns:a16="http://schemas.microsoft.com/office/drawing/2014/main" id="{EDB69AD8-AD7A-4975-A226-038A234E0993}"/>
              </a:ext>
            </a:extLst>
          </p:cNvPr>
          <p:cNvSpPr/>
          <p:nvPr/>
        </p:nvSpPr>
        <p:spPr>
          <a:xfrm>
            <a:off x="1667224" y="4768048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9" name="모서리가 둥근 직사각형 30">
            <a:extLst>
              <a:ext uri="{FF2B5EF4-FFF2-40B4-BE49-F238E27FC236}">
                <a16:creationId xmlns:a16="http://schemas.microsoft.com/office/drawing/2014/main" id="{DBC795F4-3100-487D-B562-8B151C8F43F2}"/>
              </a:ext>
            </a:extLst>
          </p:cNvPr>
          <p:cNvSpPr/>
          <p:nvPr/>
        </p:nvSpPr>
        <p:spPr>
          <a:xfrm>
            <a:off x="1947199" y="5172188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0" name="꺾인 연결선 31">
            <a:extLst>
              <a:ext uri="{FF2B5EF4-FFF2-40B4-BE49-F238E27FC236}">
                <a16:creationId xmlns:a16="http://schemas.microsoft.com/office/drawing/2014/main" id="{4ADFF77B-A1FA-4ECA-AA24-3EF50D898FB4}"/>
              </a:ext>
            </a:extLst>
          </p:cNvPr>
          <p:cNvCxnSpPr>
            <a:stCxn id="126" idx="2"/>
            <a:endCxn id="118" idx="0"/>
          </p:cNvCxnSpPr>
          <p:nvPr/>
        </p:nvCxnSpPr>
        <p:spPr>
          <a:xfrm rot="5400000">
            <a:off x="3609037" y="3104971"/>
            <a:ext cx="1260140" cy="83581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25B9526-693F-4714-B695-DB589FBDEDE3}"/>
              </a:ext>
            </a:extLst>
          </p:cNvPr>
          <p:cNvSpPr/>
          <p:nvPr/>
        </p:nvSpPr>
        <p:spPr>
          <a:xfrm>
            <a:off x="3849249" y="3782005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2" name="꺾인 연결선 33">
            <a:extLst>
              <a:ext uri="{FF2B5EF4-FFF2-40B4-BE49-F238E27FC236}">
                <a16:creationId xmlns:a16="http://schemas.microsoft.com/office/drawing/2014/main" id="{F0253689-3C5B-4D4C-945B-3B3C45D3DE81}"/>
              </a:ext>
            </a:extLst>
          </p:cNvPr>
          <p:cNvCxnSpPr>
            <a:stCxn id="117" idx="2"/>
            <a:endCxn id="111" idx="0"/>
          </p:cNvCxnSpPr>
          <p:nvPr/>
        </p:nvCxnSpPr>
        <p:spPr>
          <a:xfrm rot="16200000" flipH="1">
            <a:off x="3318417" y="3167192"/>
            <a:ext cx="977282" cy="252343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34">
            <a:extLst>
              <a:ext uri="{FF2B5EF4-FFF2-40B4-BE49-F238E27FC236}">
                <a16:creationId xmlns:a16="http://schemas.microsoft.com/office/drawing/2014/main" id="{DDAC121B-1DB4-45AE-86A2-9841809350A3}"/>
              </a:ext>
            </a:extLst>
          </p:cNvPr>
          <p:cNvCxnSpPr>
            <a:stCxn id="99" idx="3"/>
            <a:endCxn id="98" idx="1"/>
          </p:cNvCxnSpPr>
          <p:nvPr/>
        </p:nvCxnSpPr>
        <p:spPr>
          <a:xfrm flipV="1">
            <a:off x="3800872" y="2327883"/>
            <a:ext cx="324036" cy="288032"/>
          </a:xfrm>
          <a:prstGeom prst="bentConnector3">
            <a:avLst/>
          </a:prstGeom>
          <a:ln w="63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35">
            <a:extLst>
              <a:ext uri="{FF2B5EF4-FFF2-40B4-BE49-F238E27FC236}">
                <a16:creationId xmlns:a16="http://schemas.microsoft.com/office/drawing/2014/main" id="{26C02198-C7F1-40A7-B476-DDE71A7D8FB8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>
            <a:off x="3044788" y="3821624"/>
            <a:ext cx="756084" cy="148705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36">
            <a:extLst>
              <a:ext uri="{FF2B5EF4-FFF2-40B4-BE49-F238E27FC236}">
                <a16:creationId xmlns:a16="http://schemas.microsoft.com/office/drawing/2014/main" id="{DE1607AE-025D-4D3F-A482-6061BE78D77F}"/>
              </a:ext>
            </a:extLst>
          </p:cNvPr>
          <p:cNvCxnSpPr>
            <a:stCxn id="116" idx="2"/>
            <a:endCxn id="107" idx="0"/>
          </p:cNvCxnSpPr>
          <p:nvPr/>
        </p:nvCxnSpPr>
        <p:spPr>
          <a:xfrm rot="5400000">
            <a:off x="3101809" y="3089741"/>
            <a:ext cx="576064" cy="6029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6FF3BDA-B5DF-4616-AFA2-D7534DF3DA00}"/>
              </a:ext>
            </a:extLst>
          </p:cNvPr>
          <p:cNvSpPr/>
          <p:nvPr/>
        </p:nvSpPr>
        <p:spPr>
          <a:xfrm>
            <a:off x="3308874" y="263844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E332A28-302B-4713-8605-31533A09E9D2}"/>
              </a:ext>
            </a:extLst>
          </p:cNvPr>
          <p:cNvSpPr/>
          <p:nvPr/>
        </p:nvSpPr>
        <p:spPr>
          <a:xfrm>
            <a:off x="3596906" y="263844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722AD3D-7A59-48CA-9146-084D58D8ECC3}"/>
              </a:ext>
            </a:extLst>
          </p:cNvPr>
          <p:cNvSpPr/>
          <p:nvPr/>
        </p:nvSpPr>
        <p:spPr>
          <a:xfrm>
            <a:off x="4113335" y="377683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1C72A3A-3408-4EB5-B250-5D5DC2C3BDAA}"/>
              </a:ext>
            </a:extLst>
          </p:cNvPr>
          <p:cNvSpPr/>
          <p:nvPr/>
        </p:nvSpPr>
        <p:spPr>
          <a:xfrm>
            <a:off x="3164858" y="3592122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21BC50BF-072B-4286-A537-06364E41A54A}"/>
              </a:ext>
            </a:extLst>
          </p:cNvPr>
          <p:cNvSpPr/>
          <p:nvPr/>
        </p:nvSpPr>
        <p:spPr>
          <a:xfrm>
            <a:off x="3452890" y="3592122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1" name="꺾인 연결선 42">
            <a:extLst>
              <a:ext uri="{FF2B5EF4-FFF2-40B4-BE49-F238E27FC236}">
                <a16:creationId xmlns:a16="http://schemas.microsoft.com/office/drawing/2014/main" id="{A9DAA958-3BF9-4805-BB22-AACD7E8A382A}"/>
              </a:ext>
            </a:extLst>
          </p:cNvPr>
          <p:cNvCxnSpPr>
            <a:stCxn id="120" idx="2"/>
            <a:endCxn id="109" idx="0"/>
          </p:cNvCxnSpPr>
          <p:nvPr/>
        </p:nvCxnSpPr>
        <p:spPr>
          <a:xfrm rot="5400000">
            <a:off x="2170158" y="3805475"/>
            <a:ext cx="1413784" cy="131964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43">
            <a:extLst>
              <a:ext uri="{FF2B5EF4-FFF2-40B4-BE49-F238E27FC236}">
                <a16:creationId xmlns:a16="http://schemas.microsoft.com/office/drawing/2014/main" id="{E6945036-D00B-4E97-9871-4A11823BF3E8}"/>
              </a:ext>
            </a:extLst>
          </p:cNvPr>
          <p:cNvCxnSpPr>
            <a:stCxn id="119" idx="2"/>
            <a:endCxn id="108" idx="0"/>
          </p:cNvCxnSpPr>
          <p:nvPr/>
        </p:nvCxnSpPr>
        <p:spPr>
          <a:xfrm rot="5400000">
            <a:off x="2088225" y="3607434"/>
            <a:ext cx="1009644" cy="131158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44">
            <a:extLst>
              <a:ext uri="{FF2B5EF4-FFF2-40B4-BE49-F238E27FC236}">
                <a16:creationId xmlns:a16="http://schemas.microsoft.com/office/drawing/2014/main" id="{C190CCF2-EE58-418B-A666-DD733FBE18AA}"/>
              </a:ext>
            </a:extLst>
          </p:cNvPr>
          <p:cNvCxnSpPr>
            <a:stCxn id="97" idx="2"/>
            <a:endCxn id="105" idx="0"/>
          </p:cNvCxnSpPr>
          <p:nvPr/>
        </p:nvCxnSpPr>
        <p:spPr>
          <a:xfrm rot="5400000">
            <a:off x="2270702" y="3020747"/>
            <a:ext cx="1116124" cy="108012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꺾인 연결선 45">
            <a:extLst>
              <a:ext uri="{FF2B5EF4-FFF2-40B4-BE49-F238E27FC236}">
                <a16:creationId xmlns:a16="http://schemas.microsoft.com/office/drawing/2014/main" id="{9B2972DB-3377-4998-B764-EF40C9AC40A1}"/>
              </a:ext>
            </a:extLst>
          </p:cNvPr>
          <p:cNvCxnSpPr/>
          <p:nvPr/>
        </p:nvCxnSpPr>
        <p:spPr>
          <a:xfrm rot="5400000">
            <a:off x="2922574" y="3723822"/>
            <a:ext cx="615155" cy="1485785"/>
          </a:xfrm>
          <a:prstGeom prst="bentConnector3">
            <a:avLst>
              <a:gd name="adj1" fmla="val 62162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CFDEB43-41A6-4D08-9CB6-7DDCA2422B0D}"/>
              </a:ext>
            </a:extLst>
          </p:cNvPr>
          <p:cNvSpPr/>
          <p:nvPr/>
        </p:nvSpPr>
        <p:spPr>
          <a:xfrm>
            <a:off x="4461002" y="2350409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EC2B310-FE78-4607-925A-FDFDFDF6D74F}"/>
              </a:ext>
            </a:extLst>
          </p:cNvPr>
          <p:cNvSpPr/>
          <p:nvPr/>
        </p:nvSpPr>
        <p:spPr>
          <a:xfrm>
            <a:off x="4196916" y="2350409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EFBC28A-3C66-43F1-A19D-8B34E1FEBB64}"/>
              </a:ext>
            </a:extLst>
          </p:cNvPr>
          <p:cNvSpPr/>
          <p:nvPr/>
        </p:nvSpPr>
        <p:spPr>
          <a:xfrm>
            <a:off x="4100962" y="485695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0A767F3-132E-48AA-A10D-B9C99C9F01FB}"/>
              </a:ext>
            </a:extLst>
          </p:cNvPr>
          <p:cNvSpPr/>
          <p:nvPr/>
        </p:nvSpPr>
        <p:spPr>
          <a:xfrm>
            <a:off x="4388994" y="485695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9" name="모서리가 둥근 직사각형 51">
            <a:extLst>
              <a:ext uri="{FF2B5EF4-FFF2-40B4-BE49-F238E27FC236}">
                <a16:creationId xmlns:a16="http://schemas.microsoft.com/office/drawing/2014/main" id="{6C682849-29DE-4EFC-945A-FCB5FCD51082}"/>
              </a:ext>
            </a:extLst>
          </p:cNvPr>
          <p:cNvSpPr/>
          <p:nvPr/>
        </p:nvSpPr>
        <p:spPr>
          <a:xfrm>
            <a:off x="2315087" y="4774292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397CFC3-DE51-4CC3-A45F-FB40FF28FA9B}"/>
              </a:ext>
            </a:extLst>
          </p:cNvPr>
          <p:cNvSpPr txBox="1"/>
          <p:nvPr/>
        </p:nvSpPr>
        <p:spPr>
          <a:xfrm>
            <a:off x="836485" y="2943196"/>
            <a:ext cx="2424327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/>
              <a:t>※ PM : Process</a:t>
            </a:r>
            <a:r>
              <a:rPr lang="ko-KR" altLang="en-US" sz="800" i="1" dirty="0"/>
              <a:t> </a:t>
            </a:r>
            <a:r>
              <a:rPr lang="en-US" altLang="ko-KR" sz="800" i="1" dirty="0"/>
              <a:t>Method (</a:t>
            </a:r>
            <a:r>
              <a:rPr lang="ko-KR" altLang="en-US" sz="800" i="1" dirty="0"/>
              <a:t>거래</a:t>
            </a:r>
            <a:r>
              <a:rPr lang="en-US" altLang="ko-KR" sz="800" i="1" dirty="0"/>
              <a:t> </a:t>
            </a:r>
            <a:r>
              <a:rPr lang="ko-KR" altLang="en-US" sz="800" i="1" dirty="0"/>
              <a:t>처리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7CBB5DC-F9F6-4D75-87B7-631FDC5BFEFB}"/>
              </a:ext>
            </a:extLst>
          </p:cNvPr>
          <p:cNvSpPr txBox="1"/>
          <p:nvPr/>
        </p:nvSpPr>
        <p:spPr>
          <a:xfrm>
            <a:off x="836485" y="4281474"/>
            <a:ext cx="1944216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/>
              <a:t>※ FM : Function</a:t>
            </a:r>
            <a:r>
              <a:rPr lang="ko-KR" altLang="en-US" sz="800" i="1" dirty="0"/>
              <a:t> </a:t>
            </a:r>
            <a:r>
              <a:rPr lang="en-US" altLang="ko-KR" sz="800" i="1" dirty="0"/>
              <a:t>Method (</a:t>
            </a:r>
            <a:r>
              <a:rPr lang="ko-KR" altLang="en-US" sz="800" i="1" dirty="0"/>
              <a:t>기능</a:t>
            </a:r>
            <a:r>
              <a:rPr lang="en-US" altLang="ko-KR" sz="800" i="1" dirty="0"/>
              <a:t>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4295B2E-1FD4-4575-8B3F-02A553BE0208}"/>
              </a:ext>
            </a:extLst>
          </p:cNvPr>
          <p:cNvSpPr txBox="1"/>
          <p:nvPr/>
        </p:nvSpPr>
        <p:spPr>
          <a:xfrm>
            <a:off x="752792" y="5610675"/>
            <a:ext cx="2052228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/>
              <a:t>※ DM </a:t>
            </a:r>
            <a:r>
              <a:rPr lang="en-US" altLang="ko-KR" sz="800" i="1"/>
              <a:t>: </a:t>
            </a:r>
            <a:r>
              <a:rPr lang="ko-KR" altLang="en-US" sz="800" i="1"/>
              <a:t>조회용 </a:t>
            </a:r>
            <a:r>
              <a:rPr lang="en-US" altLang="ko-KR" sz="800" i="1"/>
              <a:t>Data</a:t>
            </a:r>
            <a:r>
              <a:rPr lang="ko-KR" altLang="en-US" sz="800" i="1"/>
              <a:t> </a:t>
            </a:r>
            <a:r>
              <a:rPr lang="en-US" altLang="ko-KR" sz="800" i="1" dirty="0"/>
              <a:t>Method (Data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  <p:grpSp>
        <p:nvGrpSpPr>
          <p:cNvPr id="133" name="Group 284">
            <a:extLst>
              <a:ext uri="{FF2B5EF4-FFF2-40B4-BE49-F238E27FC236}">
                <a16:creationId xmlns:a16="http://schemas.microsoft.com/office/drawing/2014/main" id="{6876F212-187F-4DD4-8336-4F8EF8E72AAB}"/>
              </a:ext>
            </a:extLst>
          </p:cNvPr>
          <p:cNvGrpSpPr/>
          <p:nvPr/>
        </p:nvGrpSpPr>
        <p:grpSpPr bwMode="gray">
          <a:xfrm>
            <a:off x="5385048" y="1160748"/>
            <a:ext cx="4253368" cy="334183"/>
            <a:chOff x="4351550" y="1849485"/>
            <a:chExt cx="916928" cy="334183"/>
          </a:xfrm>
        </p:grpSpPr>
        <p:cxnSp>
          <p:nvCxnSpPr>
            <p:cNvPr id="134" name="Straight Connector 285">
              <a:extLst>
                <a:ext uri="{FF2B5EF4-FFF2-40B4-BE49-F238E27FC236}">
                  <a16:creationId xmlns:a16="http://schemas.microsoft.com/office/drawing/2014/main" id="{AA71848A-69CB-451A-953D-F0D60593B019}"/>
                </a:ext>
              </a:extLst>
            </p:cNvPr>
            <p:cNvCxnSpPr/>
            <p:nvPr/>
          </p:nvCxnSpPr>
          <p:spPr bwMode="gray">
            <a:xfrm>
              <a:off x="4351550" y="2183668"/>
              <a:ext cx="916928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F54DFB3-94C0-41F6-9908-77144CBFFEED}"/>
                </a:ext>
              </a:extLst>
            </p:cNvPr>
            <p:cNvSpPr txBox="1"/>
            <p:nvPr/>
          </p:nvSpPr>
          <p:spPr bwMode="gray">
            <a:xfrm>
              <a:off x="4779949" y="1849485"/>
              <a:ext cx="220373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계층 별 역할</a:t>
              </a:r>
            </a:p>
          </p:txBody>
        </p:sp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3120C09-689D-4AC2-8AD7-08DF48C38377}"/>
              </a:ext>
            </a:extLst>
          </p:cNvPr>
          <p:cNvSpPr/>
          <p:nvPr/>
        </p:nvSpPr>
        <p:spPr>
          <a:xfrm>
            <a:off x="6681716" y="1638945"/>
            <a:ext cx="2987808" cy="1304251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PU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PM(Process Method)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로 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구성한다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endParaRPr lang="en-US" altLang="ko-KR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은 계층 구조 상 서비스 처리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Flow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를 제어하는 최상위 모듈이다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은 채널로부터의 서비스 호출 대상이며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거래 코드와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1:1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대응된다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  <a:endParaRPr lang="ko-KR" altLang="en-US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164883B-4566-4773-9681-226C3A469B7C}"/>
              </a:ext>
            </a:extLst>
          </p:cNvPr>
          <p:cNvSpPr/>
          <p:nvPr/>
        </p:nvSpPr>
        <p:spPr>
          <a:xfrm>
            <a:off x="5385048" y="1638945"/>
            <a:ext cx="1198908" cy="130979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cs typeface="Arial" pitchFamily="34" charset="0"/>
              </a:rPr>
              <a:t>PU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i="1" dirty="0">
                <a:solidFill>
                  <a:schemeClr val="tx1"/>
                </a:solidFill>
                <a:cs typeface="Arial" pitchFamily="34" charset="0"/>
              </a:rPr>
              <a:t>(Process Unit)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CED7AF7-3928-41D5-9826-9DF98C59C6B5}"/>
              </a:ext>
            </a:extLst>
          </p:cNvPr>
          <p:cNvSpPr txBox="1"/>
          <p:nvPr/>
        </p:nvSpPr>
        <p:spPr>
          <a:xfrm>
            <a:off x="668524" y="5801489"/>
            <a:ext cx="8640960" cy="50783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marL="171450" indent="-171450">
              <a:buFontTx/>
              <a:buChar char="-"/>
            </a:pPr>
            <a:r>
              <a:rPr lang="en-US" altLang="ko-KR" sz="900" dirty="0"/>
              <a:t>Component : Java</a:t>
            </a:r>
            <a:r>
              <a:rPr lang="ko-KR" altLang="en-US" sz="900" dirty="0"/>
              <a:t> </a:t>
            </a:r>
            <a:r>
              <a:rPr lang="en-US" altLang="ko-KR" sz="900" dirty="0"/>
              <a:t>Package</a:t>
            </a:r>
            <a:r>
              <a:rPr lang="ko-KR" altLang="en-US" sz="900" dirty="0"/>
              <a:t>를</a:t>
            </a:r>
            <a:r>
              <a:rPr lang="en-US" altLang="ko-KR" sz="900" dirty="0"/>
              <a:t> </a:t>
            </a:r>
            <a:r>
              <a:rPr lang="ko-KR" altLang="en-US" sz="900" dirty="0"/>
              <a:t>의미하며</a:t>
            </a:r>
            <a:r>
              <a:rPr lang="en-US" altLang="ko-KR" sz="900" dirty="0"/>
              <a:t>, </a:t>
            </a:r>
            <a:r>
              <a:rPr lang="ko-KR" altLang="en-US" sz="900" dirty="0"/>
              <a:t>배포 단위이다</a:t>
            </a:r>
            <a:r>
              <a:rPr lang="en-US" altLang="ko-KR" sz="900" dirty="0"/>
              <a:t>. (</a:t>
            </a:r>
            <a:r>
              <a:rPr lang="ko-KR" altLang="en-US" sz="900" dirty="0"/>
              <a:t>신 표준 프레임워크 </a:t>
            </a:r>
            <a:r>
              <a:rPr lang="en-US" altLang="ko-KR" sz="900" dirty="0"/>
              <a:t>Online Component </a:t>
            </a:r>
            <a:r>
              <a:rPr lang="ko-KR" altLang="en-US" sz="900" dirty="0"/>
              <a:t>명 </a:t>
            </a:r>
            <a:r>
              <a:rPr lang="en-US" altLang="ko-KR" sz="900" dirty="0"/>
              <a:t>: </a:t>
            </a:r>
            <a:r>
              <a:rPr lang="en-US" altLang="ko-KR" sz="900" dirty="0" err="1"/>
              <a:t>com.kbstar.appcode</a:t>
            </a:r>
            <a:r>
              <a:rPr lang="en-US" altLang="ko-KR" sz="900" dirty="0"/>
              <a:t>(3).xxx)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/>
              <a:t>Unit :  </a:t>
            </a:r>
            <a:r>
              <a:rPr lang="ko-KR" altLang="en-US" sz="900" dirty="0"/>
              <a:t>신 표준 프레임워크</a:t>
            </a:r>
            <a:r>
              <a:rPr lang="en-US" altLang="ko-KR" sz="900" dirty="0"/>
              <a:t>(NEXCORE)</a:t>
            </a:r>
            <a:r>
              <a:rPr lang="ko-KR" altLang="en-US" sz="900" dirty="0"/>
              <a:t>에서 사용하는 용어로서</a:t>
            </a:r>
            <a:r>
              <a:rPr lang="en-US" altLang="ko-KR" sz="900" dirty="0"/>
              <a:t>, Component</a:t>
            </a:r>
            <a:r>
              <a:rPr lang="ko-KR" altLang="en-US" sz="900" dirty="0"/>
              <a:t>의 비즈니스 </a:t>
            </a:r>
            <a:r>
              <a:rPr lang="en-US" altLang="ko-KR" sz="900" dirty="0"/>
              <a:t>Logic</a:t>
            </a:r>
            <a:r>
              <a:rPr lang="ko-KR" altLang="en-US" sz="900" dirty="0"/>
              <a:t>을 담당하고 있는 </a:t>
            </a:r>
            <a:r>
              <a:rPr lang="en-US" altLang="ko-KR" sz="900" dirty="0"/>
              <a:t>Java Class</a:t>
            </a:r>
            <a:r>
              <a:rPr lang="ko-KR" altLang="en-US" sz="900" dirty="0"/>
              <a:t>를 의미한다</a:t>
            </a:r>
            <a:r>
              <a:rPr lang="en-US" altLang="ko-KR" sz="900" dirty="0"/>
              <a:t>. (1</a:t>
            </a:r>
            <a:r>
              <a:rPr lang="ko-KR" altLang="en-US" sz="900" dirty="0"/>
              <a:t>개의 </a:t>
            </a:r>
            <a:r>
              <a:rPr lang="en-US" altLang="ko-KR" sz="900" dirty="0"/>
              <a:t>Unit</a:t>
            </a:r>
            <a:r>
              <a:rPr lang="ko-KR" altLang="en-US" sz="900" dirty="0"/>
              <a:t>은 </a:t>
            </a:r>
            <a:r>
              <a:rPr lang="en-US" altLang="ko-KR" sz="900" dirty="0"/>
              <a:t>1</a:t>
            </a:r>
            <a:r>
              <a:rPr lang="ko-KR" altLang="en-US" sz="900" dirty="0"/>
              <a:t>개의 파일로 구성</a:t>
            </a:r>
            <a:r>
              <a:rPr lang="en-US" altLang="ko-KR" sz="9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/>
              <a:t>Method : Java</a:t>
            </a:r>
            <a:r>
              <a:rPr lang="ko-KR" altLang="en-US" sz="900" dirty="0"/>
              <a:t> </a:t>
            </a:r>
            <a:r>
              <a:rPr lang="en-US" altLang="ko-KR" sz="900" dirty="0"/>
              <a:t>Class</a:t>
            </a:r>
            <a:r>
              <a:rPr lang="ko-KR" altLang="en-US" sz="900" dirty="0"/>
              <a:t>를 구성하고 있는 멤버 함수로</a:t>
            </a:r>
            <a:r>
              <a:rPr lang="en-US" altLang="ko-KR" sz="900" dirty="0"/>
              <a:t>,</a:t>
            </a:r>
            <a:r>
              <a:rPr lang="ko-KR" altLang="en-US" sz="900" dirty="0"/>
              <a:t> 신</a:t>
            </a:r>
            <a:r>
              <a:rPr lang="en-US" altLang="ko-KR" sz="900" dirty="0"/>
              <a:t> </a:t>
            </a:r>
            <a:r>
              <a:rPr lang="ko-KR" altLang="en-US" sz="900" dirty="0"/>
              <a:t>표준 프레임워크</a:t>
            </a:r>
            <a:r>
              <a:rPr lang="en-US" altLang="ko-KR" sz="900" dirty="0"/>
              <a:t>(NEXCORE)</a:t>
            </a:r>
            <a:r>
              <a:rPr lang="ko-KR" altLang="en-US" sz="900" dirty="0"/>
              <a:t>의 경우 </a:t>
            </a:r>
            <a:r>
              <a:rPr lang="en-US" altLang="ko-KR" sz="900" dirty="0"/>
              <a:t>Unit</a:t>
            </a:r>
            <a:r>
              <a:rPr lang="ko-KR" altLang="en-US" sz="900" dirty="0"/>
              <a:t> 내 다수의 </a:t>
            </a:r>
            <a:r>
              <a:rPr lang="en-US" altLang="ko-KR" sz="900" dirty="0"/>
              <a:t>Method</a:t>
            </a:r>
            <a:r>
              <a:rPr lang="ko-KR" altLang="en-US" sz="900" dirty="0"/>
              <a:t>를 정의하여 사용한다</a:t>
            </a:r>
            <a:r>
              <a:rPr lang="en-US" altLang="ko-KR" sz="900" dirty="0"/>
              <a:t>.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9B3F1EC6-1D46-4E49-9ADC-7494E6D121D8}"/>
              </a:ext>
            </a:extLst>
          </p:cNvPr>
          <p:cNvSpPr/>
          <p:nvPr/>
        </p:nvSpPr>
        <p:spPr>
          <a:xfrm>
            <a:off x="6451651" y="3557726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97FB03C-82A1-460C-BC81-F69C320251B8}"/>
              </a:ext>
            </a:extLst>
          </p:cNvPr>
          <p:cNvSpPr/>
          <p:nvPr/>
        </p:nvSpPr>
        <p:spPr>
          <a:xfrm>
            <a:off x="6467240" y="4947821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E257CAC-0B89-484C-B581-DAB1332531F5}"/>
              </a:ext>
            </a:extLst>
          </p:cNvPr>
          <p:cNvSpPr/>
          <p:nvPr/>
        </p:nvSpPr>
        <p:spPr>
          <a:xfrm>
            <a:off x="6681716" y="3026597"/>
            <a:ext cx="2987808" cy="1262444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FU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FM(Function Method)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로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구성한다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업무 단위 비즈니스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로직과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타 업무 제공 업무 공통 및 전행 공통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Utility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성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로직을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처리한다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b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</a:b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예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출금 가능 여부 체크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( )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선처리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후처리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로직을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담당한다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endParaRPr lang="ko-KR" altLang="en-US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F21F338-1B87-4781-B43F-E9E2CCF2814E}"/>
              </a:ext>
            </a:extLst>
          </p:cNvPr>
          <p:cNvSpPr/>
          <p:nvPr/>
        </p:nvSpPr>
        <p:spPr>
          <a:xfrm>
            <a:off x="6681716" y="4425951"/>
            <a:ext cx="2987808" cy="1346609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DM(Data 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Method)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 또는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 DBIO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로 구성한다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접근을 담당하며 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DU 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는 단건조회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목록조회 만을 담당한다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DBIO </a:t>
            </a: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는 모든 단건 </a:t>
            </a:r>
            <a:r>
              <a:rPr lang="en-US" altLang="ko-KR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C/U/D</a:t>
            </a: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를 처리하는 유닛</a:t>
            </a:r>
            <a:endParaRPr lang="en-US" altLang="ko-KR" sz="1100" b="1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단건 조회</a:t>
            </a:r>
            <a:r>
              <a:rPr lang="en-US" altLang="ko-KR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/Lock </a:t>
            </a: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조회 기능 제공</a:t>
            </a:r>
            <a:endParaRPr lang="ko-KR" altLang="en-US" sz="11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42A74EB-A50C-4FF9-AFA2-BFB1F96E46CB}"/>
              </a:ext>
            </a:extLst>
          </p:cNvPr>
          <p:cNvSpPr/>
          <p:nvPr/>
        </p:nvSpPr>
        <p:spPr>
          <a:xfrm>
            <a:off x="5385048" y="3029304"/>
            <a:ext cx="1198908" cy="12624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cs typeface="Arial" pitchFamily="34" charset="0"/>
              </a:rPr>
              <a:t>FU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i="1" dirty="0">
                <a:solidFill>
                  <a:schemeClr val="tx1"/>
                </a:solidFill>
                <a:cs typeface="Arial" pitchFamily="34" charset="0"/>
              </a:rPr>
              <a:t>(Function Unit)</a:t>
            </a:r>
            <a:endParaRPr lang="ko-KR" altLang="en-US" sz="10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848FAFD1-EF35-4A0E-8557-8C0487222A41}"/>
              </a:ext>
            </a:extLst>
          </p:cNvPr>
          <p:cNvSpPr/>
          <p:nvPr/>
        </p:nvSpPr>
        <p:spPr>
          <a:xfrm>
            <a:off x="5385048" y="4372313"/>
            <a:ext cx="1198908" cy="140024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cs typeface="Arial" pitchFamily="34" charset="0"/>
              </a:rPr>
              <a:t>DU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i="1" dirty="0">
                <a:solidFill>
                  <a:schemeClr val="tx1"/>
                </a:solidFill>
                <a:cs typeface="Arial" pitchFamily="34" charset="0"/>
              </a:rPr>
              <a:t>(Data Unit)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chemeClr val="tx1"/>
              </a:solidFill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cs typeface="Arial" pitchFamily="34" charset="0"/>
              </a:rPr>
              <a:t>DBIO</a:t>
            </a:r>
            <a:br>
              <a:rPr lang="en-US" altLang="ko-KR" sz="1200" b="1" dirty="0">
                <a:solidFill>
                  <a:srgbClr val="0000FF"/>
                </a:solidFill>
                <a:cs typeface="Arial" pitchFamily="34" charset="0"/>
              </a:rPr>
            </a:br>
            <a:r>
              <a:rPr lang="en-US" altLang="ko-KR" sz="1000" b="1" i="1" dirty="0">
                <a:solidFill>
                  <a:srgbClr val="0000FF"/>
                </a:solidFill>
                <a:cs typeface="Arial" pitchFamily="34" charset="0"/>
              </a:rPr>
              <a:t>(DBIO Unit)</a:t>
            </a:r>
            <a:endParaRPr lang="ko-KR" altLang="en-US" sz="1200" b="1" i="1" dirty="0">
              <a:solidFill>
                <a:srgbClr val="0000FF"/>
              </a:solidFill>
              <a:cs typeface="Arial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D195E71-31E9-48B0-A632-D694CC62D57D}"/>
              </a:ext>
            </a:extLst>
          </p:cNvPr>
          <p:cNvSpPr txBox="1"/>
          <p:nvPr/>
        </p:nvSpPr>
        <p:spPr>
          <a:xfrm>
            <a:off x="1064568" y="2476165"/>
            <a:ext cx="972108" cy="27621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Process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Unit</a:t>
            </a:r>
            <a:endParaRPr lang="ko-KR" altLang="en-US" sz="1400" i="1" dirty="0">
              <a:cs typeface="Arial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5134B0-1967-45F8-8501-362A9DD05C2A}"/>
              </a:ext>
            </a:extLst>
          </p:cNvPr>
          <p:cNvSpPr txBox="1"/>
          <p:nvPr/>
        </p:nvSpPr>
        <p:spPr>
          <a:xfrm>
            <a:off x="1064568" y="3808313"/>
            <a:ext cx="972108" cy="27621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Function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Unit</a:t>
            </a:r>
            <a:endParaRPr lang="ko-KR" altLang="en-US" sz="1400" i="1" dirty="0">
              <a:cs typeface="Arial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7213661-6574-4102-BBAC-04E228AF04B2}"/>
              </a:ext>
            </a:extLst>
          </p:cNvPr>
          <p:cNvSpPr txBox="1"/>
          <p:nvPr/>
        </p:nvSpPr>
        <p:spPr>
          <a:xfrm>
            <a:off x="972323" y="4979739"/>
            <a:ext cx="972108" cy="4288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Data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Unit</a:t>
            </a:r>
            <a:endParaRPr lang="ko-KR" altLang="en-US" sz="1400" i="1" dirty="0">
              <a:cs typeface="Arial" pitchFamily="34" charset="0"/>
            </a:endParaRP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5F1B0463-E6EF-4F20-A91C-55318C39B643}"/>
              </a:ext>
            </a:extLst>
          </p:cNvPr>
          <p:cNvSpPr/>
          <p:nvPr/>
        </p:nvSpPr>
        <p:spPr>
          <a:xfrm>
            <a:off x="92460" y="2273882"/>
            <a:ext cx="108012" cy="10800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5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F1101A6-9C18-4862-8B52-25AAFE452546}"/>
              </a:ext>
            </a:extLst>
          </p:cNvPr>
          <p:cNvSpPr txBox="1"/>
          <p:nvPr/>
        </p:nvSpPr>
        <p:spPr bwMode="gray">
          <a:xfrm>
            <a:off x="243287" y="2070539"/>
            <a:ext cx="677265" cy="261610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채널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요청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CB07B01-451B-484A-B489-252162200FE2}"/>
              </a:ext>
            </a:extLst>
          </p:cNvPr>
          <p:cNvSpPr txBox="1"/>
          <p:nvPr/>
        </p:nvSpPr>
        <p:spPr>
          <a:xfrm>
            <a:off x="560512" y="2911570"/>
            <a:ext cx="384561" cy="19307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vert="eaVert"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600" dirty="0">
                <a:cs typeface="Arial" pitchFamily="34" charset="0"/>
              </a:rPr>
              <a:t>Component</a:t>
            </a:r>
            <a:endParaRPr lang="ko-KR" altLang="en-US" sz="1600" dirty="0">
              <a:cs typeface="Arial" pitchFamily="34" charset="0"/>
            </a:endParaRPr>
          </a:p>
        </p:txBody>
      </p:sp>
      <p:sp>
        <p:nvSpPr>
          <p:cNvPr id="151" name="평행 사변형 150">
            <a:extLst>
              <a:ext uri="{FF2B5EF4-FFF2-40B4-BE49-F238E27FC236}">
                <a16:creationId xmlns:a16="http://schemas.microsoft.com/office/drawing/2014/main" id="{F949C09C-DDEC-4F22-A7B5-1ECE986C8AA7}"/>
              </a:ext>
            </a:extLst>
          </p:cNvPr>
          <p:cNvSpPr/>
          <p:nvPr/>
        </p:nvSpPr>
        <p:spPr>
          <a:xfrm>
            <a:off x="2909772" y="4683445"/>
            <a:ext cx="2278202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2" name="평행 사변형 151">
            <a:extLst>
              <a:ext uri="{FF2B5EF4-FFF2-40B4-BE49-F238E27FC236}">
                <a16:creationId xmlns:a16="http://schemas.microsoft.com/office/drawing/2014/main" id="{BE607BB8-AF4C-4294-BE5D-4515E77A04BD}"/>
              </a:ext>
            </a:extLst>
          </p:cNvPr>
          <p:cNvSpPr/>
          <p:nvPr/>
        </p:nvSpPr>
        <p:spPr>
          <a:xfrm>
            <a:off x="3411370" y="4801609"/>
            <a:ext cx="1636087" cy="748196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3" name="모서리가 둥근 직사각형 78">
            <a:extLst>
              <a:ext uri="{FF2B5EF4-FFF2-40B4-BE49-F238E27FC236}">
                <a16:creationId xmlns:a16="http://schemas.microsoft.com/office/drawing/2014/main" id="{07B9F53D-0C04-49B6-A6F0-38620BA22E3E}"/>
              </a:ext>
            </a:extLst>
          </p:cNvPr>
          <p:cNvSpPr/>
          <p:nvPr/>
        </p:nvSpPr>
        <p:spPr>
          <a:xfrm>
            <a:off x="3700844" y="5077440"/>
            <a:ext cx="611025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54" name="꺾인 연결선 79">
            <a:extLst>
              <a:ext uri="{FF2B5EF4-FFF2-40B4-BE49-F238E27FC236}">
                <a16:creationId xmlns:a16="http://schemas.microsoft.com/office/drawing/2014/main" id="{E5CB4C4B-4B9D-4CD6-A674-E77EB7E53173}"/>
              </a:ext>
            </a:extLst>
          </p:cNvPr>
          <p:cNvCxnSpPr>
            <a:endCxn id="153" idx="0"/>
          </p:cNvCxnSpPr>
          <p:nvPr/>
        </p:nvCxnSpPr>
        <p:spPr>
          <a:xfrm rot="5400000">
            <a:off x="3621909" y="4558273"/>
            <a:ext cx="903615" cy="13471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모서리가 둥근 직사각형 80">
            <a:extLst>
              <a:ext uri="{FF2B5EF4-FFF2-40B4-BE49-F238E27FC236}">
                <a16:creationId xmlns:a16="http://schemas.microsoft.com/office/drawing/2014/main" id="{4396FEAA-567A-4CCE-9D68-5FB58FD7DBE4}"/>
              </a:ext>
            </a:extLst>
          </p:cNvPr>
          <p:cNvSpPr/>
          <p:nvPr/>
        </p:nvSpPr>
        <p:spPr>
          <a:xfrm>
            <a:off x="4307336" y="4710762"/>
            <a:ext cx="606451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EFF6E90-35A3-42F3-8809-01002B285ECE}"/>
              </a:ext>
            </a:extLst>
          </p:cNvPr>
          <p:cNvSpPr txBox="1"/>
          <p:nvPr/>
        </p:nvSpPr>
        <p:spPr>
          <a:xfrm>
            <a:off x="3031982" y="5042129"/>
            <a:ext cx="972108" cy="4288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>
                <a:cs typeface="Arial" pitchFamily="34" charset="0"/>
              </a:rPr>
              <a:t>DBIO</a:t>
            </a:r>
            <a:endParaRPr lang="en-US" altLang="ko-KR" sz="1400" i="1" dirty="0">
              <a:cs typeface="Arial" pitchFamily="34" charset="0"/>
            </a:endParaRPr>
          </a:p>
        </p:txBody>
      </p:sp>
      <p:cxnSp>
        <p:nvCxnSpPr>
          <p:cNvPr id="157" name="꺾인 연결선 87">
            <a:extLst>
              <a:ext uri="{FF2B5EF4-FFF2-40B4-BE49-F238E27FC236}">
                <a16:creationId xmlns:a16="http://schemas.microsoft.com/office/drawing/2014/main" id="{24E395FA-36EF-48D8-9898-E782F2F0C4A7}"/>
              </a:ext>
            </a:extLst>
          </p:cNvPr>
          <p:cNvCxnSpPr>
            <a:stCxn id="98" idx="2"/>
          </p:cNvCxnSpPr>
          <p:nvPr/>
        </p:nvCxnSpPr>
        <p:spPr>
          <a:xfrm rot="5400000">
            <a:off x="2437109" y="2818336"/>
            <a:ext cx="2259474" cy="1656184"/>
          </a:xfrm>
          <a:prstGeom prst="bentConnector3">
            <a:avLst>
              <a:gd name="adj1" fmla="val 81272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92">
            <a:extLst>
              <a:ext uri="{FF2B5EF4-FFF2-40B4-BE49-F238E27FC236}">
                <a16:creationId xmlns:a16="http://schemas.microsoft.com/office/drawing/2014/main" id="{1C93BFE2-5126-4A66-B17A-E2C5B8EAF7CA}"/>
              </a:ext>
            </a:extLst>
          </p:cNvPr>
          <p:cNvCxnSpPr>
            <a:endCxn id="155" idx="0"/>
          </p:cNvCxnSpPr>
          <p:nvPr/>
        </p:nvCxnSpPr>
        <p:spPr>
          <a:xfrm rot="16200000" flipH="1">
            <a:off x="3476351" y="3576551"/>
            <a:ext cx="2166754" cy="10166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0A45EBC4-ECB5-41A9-B003-141A6DB5DF77}"/>
              </a:ext>
            </a:extLst>
          </p:cNvPr>
          <p:cNvSpPr txBox="1"/>
          <p:nvPr/>
        </p:nvSpPr>
        <p:spPr>
          <a:xfrm>
            <a:off x="2799051" y="5603714"/>
            <a:ext cx="2248405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/>
              <a:t>※ DBM : CUD</a:t>
            </a:r>
            <a:r>
              <a:rPr lang="ko-KR" altLang="en-US" sz="800" i="1"/>
              <a:t>용 </a:t>
            </a:r>
            <a:r>
              <a:rPr lang="en-US" altLang="ko-KR" sz="800" i="1"/>
              <a:t>Data</a:t>
            </a:r>
            <a:r>
              <a:rPr lang="ko-KR" altLang="en-US" sz="800" i="1"/>
              <a:t> </a:t>
            </a:r>
            <a:r>
              <a:rPr lang="en-US" altLang="ko-KR" sz="800" i="1" dirty="0"/>
              <a:t>Method (Data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2982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모서리가 둥근 직사각형 41"/>
          <p:cNvSpPr/>
          <p:nvPr/>
        </p:nvSpPr>
        <p:spPr>
          <a:xfrm>
            <a:off x="2036676" y="2557129"/>
            <a:ext cx="7272808" cy="3320143"/>
          </a:xfrm>
          <a:prstGeom prst="roundRect">
            <a:avLst>
              <a:gd name="adj" fmla="val 3963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컴포넌트 내부 디렉토리 구조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컴포넌트 내부는 역할에 따라 </a:t>
            </a:r>
            <a:r>
              <a:rPr lang="en-US" altLang="ko-KR" dirty="0"/>
              <a:t>biz, </a:t>
            </a:r>
            <a:r>
              <a:rPr lang="en-US" altLang="ko-KR" dirty="0" err="1"/>
              <a:t>uio</a:t>
            </a:r>
            <a:r>
              <a:rPr lang="en-US" altLang="ko-KR" dirty="0"/>
              <a:t>, </a:t>
            </a:r>
            <a:r>
              <a:rPr lang="en-US" altLang="ko-KR" dirty="0" err="1"/>
              <a:t>xio</a:t>
            </a:r>
            <a:r>
              <a:rPr lang="en-US" altLang="ko-KR" dirty="0"/>
              <a:t>, </a:t>
            </a:r>
            <a:r>
              <a:rPr lang="en-US" altLang="ko-KR" dirty="0" err="1"/>
              <a:t>xsql</a:t>
            </a:r>
            <a:r>
              <a:rPr lang="en-US" altLang="ko-KR" dirty="0"/>
              <a:t>, </a:t>
            </a:r>
            <a:r>
              <a:rPr lang="en-US" altLang="ko-KR" dirty="0" err="1"/>
              <a:t>consts</a:t>
            </a:r>
            <a:r>
              <a:rPr lang="en-US" altLang="ko-KR"/>
              <a:t>, base, util </a:t>
            </a:r>
            <a:r>
              <a:rPr lang="ko-KR" altLang="en-US" dirty="0"/>
              <a:t>등의</a:t>
            </a:r>
            <a:r>
              <a:rPr lang="en-US" altLang="ko-KR" dirty="0"/>
              <a:t> </a:t>
            </a:r>
            <a:r>
              <a:rPr lang="ko-KR" altLang="en-US" dirty="0"/>
              <a:t>하위 패키지로 구성됨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gray">
          <a:xfrm>
            <a:off x="845915" y="1160748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ct val="0"/>
              </a:spcBef>
            </a:pPr>
            <a:r>
              <a:rPr lang="en-US" altLang="ko-KR" sz="1000" b="1" dirty="0">
                <a:latin typeface="+mn-ea"/>
                <a:cs typeface="Arial" charset="0"/>
              </a:rPr>
              <a:t>com</a:t>
            </a:r>
            <a:endParaRPr kumimoji="0" lang="ko-KR" altLang="en-US" sz="1000" b="1" dirty="0">
              <a:latin typeface="+mn-ea"/>
              <a:cs typeface="Arial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gray">
          <a:xfrm>
            <a:off x="1856656" y="2096896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ct val="0"/>
              </a:spcBef>
            </a:pPr>
            <a:r>
              <a:rPr lang="en-US" altLang="ko-KR" sz="1000" b="1" dirty="0">
                <a:latin typeface="+mn-ea"/>
                <a:cs typeface="Arial" charset="0"/>
              </a:rPr>
              <a:t>App(3)</a:t>
            </a:r>
            <a:endParaRPr kumimoji="0" lang="ko-KR" altLang="en-US" sz="1000" b="1" baseline="40000" dirty="0">
              <a:latin typeface="+mn-ea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gray">
          <a:xfrm>
            <a:off x="1349971" y="1628844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ct val="0"/>
              </a:spcBef>
            </a:pPr>
            <a:r>
              <a:rPr lang="en-US" altLang="ko-KR" sz="1000" b="1" dirty="0" err="1">
                <a:latin typeface="+mn-ea"/>
                <a:cs typeface="Arial" charset="0"/>
              </a:rPr>
              <a:t>kbstar</a:t>
            </a:r>
            <a:endParaRPr kumimoji="0" lang="ko-KR" altLang="en-US" sz="1000" b="1" dirty="0">
              <a:latin typeface="+mn-ea"/>
              <a:cs typeface="Arial" charset="0"/>
            </a:endParaRPr>
          </a:p>
        </p:txBody>
      </p:sp>
      <p:cxnSp>
        <p:nvCxnSpPr>
          <p:cNvPr id="10" name="꺾인 연결선 9"/>
          <p:cNvCxnSpPr>
            <a:stCxn id="5" idx="2"/>
            <a:endCxn id="9" idx="1"/>
          </p:cNvCxnSpPr>
          <p:nvPr/>
        </p:nvCxnSpPr>
        <p:spPr>
          <a:xfrm rot="16200000" flipH="1">
            <a:off x="1134571" y="1611444"/>
            <a:ext cx="270096" cy="160703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9" idx="2"/>
            <a:endCxn id="7" idx="1"/>
          </p:cNvCxnSpPr>
          <p:nvPr/>
        </p:nvCxnSpPr>
        <p:spPr>
          <a:xfrm rot="16200000" flipH="1">
            <a:off x="1639964" y="2078204"/>
            <a:ext cx="270052" cy="163332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utoShape 5"/>
          <p:cNvSpPr>
            <a:spLocks noChangeArrowheads="1"/>
          </p:cNvSpPr>
          <p:nvPr/>
        </p:nvSpPr>
        <p:spPr bwMode="gray">
          <a:xfrm>
            <a:off x="4191658" y="2688585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dirty="0">
                <a:latin typeface="+mn-ea"/>
                <a:cs typeface="Arial" charset="0"/>
              </a:rPr>
              <a:t>PU, FU, DU, DBIO </a:t>
            </a:r>
            <a:r>
              <a:rPr lang="ko-KR" altLang="en-US" sz="1000" dirty="0">
                <a:latin typeface="+mn-ea"/>
                <a:cs typeface="Arial" charset="0"/>
              </a:rPr>
              <a:t>클래스들이 위치하는 패키지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gray">
          <a:xfrm>
            <a:off x="4191658" y="3133010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dirty="0">
                <a:latin typeface="+mn-ea"/>
                <a:cs typeface="Arial" charset="0"/>
              </a:rPr>
              <a:t>PM,FM,DM,DBM </a:t>
            </a:r>
            <a:r>
              <a:rPr lang="ko-KR" altLang="en-US" sz="1000" dirty="0">
                <a:latin typeface="+mn-ea"/>
                <a:cs typeface="Arial" charset="0"/>
              </a:rPr>
              <a:t>의 </a:t>
            </a:r>
            <a:r>
              <a:rPr lang="en-US" altLang="ko-KR" sz="1000" dirty="0">
                <a:latin typeface="+mn-ea"/>
                <a:cs typeface="Arial" charset="0"/>
              </a:rPr>
              <a:t>IO </a:t>
            </a:r>
            <a:r>
              <a:rPr lang="ko-KR" altLang="en-US" sz="1000" dirty="0">
                <a:latin typeface="+mn-ea"/>
                <a:cs typeface="Arial" charset="0"/>
              </a:rPr>
              <a:t>정보를 담고 있는 </a:t>
            </a:r>
            <a:r>
              <a:rPr lang="en-US" altLang="ko-KR" sz="1000" dirty="0">
                <a:latin typeface="+mn-ea"/>
                <a:cs typeface="Arial" charset="0"/>
              </a:rPr>
              <a:t>xml </a:t>
            </a:r>
            <a:r>
              <a:rPr lang="ko-KR" altLang="en-US" sz="1000" dirty="0">
                <a:latin typeface="+mn-ea"/>
                <a:cs typeface="Arial" charset="0"/>
              </a:rPr>
              <a:t>파일 위치</a:t>
            </a:r>
            <a:r>
              <a:rPr lang="en-US" altLang="ko-KR" sz="1000" dirty="0">
                <a:latin typeface="+mn-ea"/>
                <a:cs typeface="Arial" charset="0"/>
              </a:rPr>
              <a:t>. PU/FU/DU </a:t>
            </a:r>
            <a:r>
              <a:rPr lang="ko-KR" altLang="en-US" sz="1000" dirty="0">
                <a:latin typeface="+mn-ea"/>
                <a:cs typeface="Arial" charset="0"/>
              </a:rPr>
              <a:t>와 </a:t>
            </a:r>
            <a:r>
              <a:rPr lang="en-US" altLang="ko-KR" sz="1000" dirty="0">
                <a:latin typeface="+mn-ea"/>
                <a:cs typeface="Arial" charset="0"/>
              </a:rPr>
              <a:t>1:1</a:t>
            </a:r>
            <a:r>
              <a:rPr lang="ko-KR" altLang="en-US" sz="1000" dirty="0">
                <a:latin typeface="+mn-ea"/>
                <a:cs typeface="Arial" charset="0"/>
              </a:rPr>
              <a:t>로 생성됨</a:t>
            </a:r>
            <a:endParaRPr lang="en-US" altLang="ko-KR" sz="1000" dirty="0">
              <a:latin typeface="+mn-ea"/>
              <a:cs typeface="Arial" charset="0"/>
            </a:endParaRPr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gray">
          <a:xfrm>
            <a:off x="4191658" y="3577435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>
                <a:latin typeface="+mn-ea"/>
                <a:cs typeface="Arial" charset="0"/>
              </a:rPr>
              <a:t>External </a:t>
            </a:r>
            <a:r>
              <a:rPr lang="ko-KR" altLang="en-US" sz="1000">
                <a:latin typeface="+mn-ea"/>
                <a:cs typeface="Arial" charset="0"/>
              </a:rPr>
              <a:t>용 전문 </a:t>
            </a:r>
            <a:r>
              <a:rPr lang="en-US" altLang="ko-KR" sz="1000">
                <a:latin typeface="+mn-ea"/>
                <a:cs typeface="Arial" charset="0"/>
              </a:rPr>
              <a:t>(Outbound) </a:t>
            </a:r>
            <a:r>
              <a:rPr lang="ko-KR" altLang="en-US" sz="1000">
                <a:latin typeface="+mn-ea"/>
                <a:cs typeface="Arial" charset="0"/>
              </a:rPr>
              <a:t>레이아웃 </a:t>
            </a:r>
            <a:r>
              <a:rPr lang="en-US" altLang="ko-KR" sz="1000">
                <a:latin typeface="+mn-ea"/>
                <a:cs typeface="Arial" charset="0"/>
              </a:rPr>
              <a:t>XML </a:t>
            </a:r>
            <a:r>
              <a:rPr lang="ko-KR" altLang="en-US" sz="1000">
                <a:latin typeface="+mn-ea"/>
                <a:cs typeface="Arial" charset="0"/>
              </a:rPr>
              <a:t>파일이 위치하는 패키지</a:t>
            </a:r>
            <a:endParaRPr lang="en-US" altLang="ko-KR" sz="1000">
              <a:latin typeface="+mn-ea"/>
              <a:cs typeface="Arial" charset="0"/>
            </a:endParaRPr>
          </a:p>
        </p:txBody>
      </p:sp>
      <p:sp>
        <p:nvSpPr>
          <p:cNvPr id="35" name="AutoShape 5"/>
          <p:cNvSpPr>
            <a:spLocks noChangeArrowheads="1"/>
          </p:cNvSpPr>
          <p:nvPr/>
        </p:nvSpPr>
        <p:spPr bwMode="gray">
          <a:xfrm>
            <a:off x="4191658" y="4021860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dirty="0">
                <a:latin typeface="+mn-ea"/>
                <a:cs typeface="Arial" charset="0"/>
              </a:rPr>
              <a:t>SQL </a:t>
            </a:r>
            <a:r>
              <a:rPr lang="ko-KR" altLang="en-US" sz="1000" dirty="0">
                <a:latin typeface="+mn-ea"/>
                <a:cs typeface="Arial" charset="0"/>
              </a:rPr>
              <a:t>을 저장하는 </a:t>
            </a:r>
            <a:r>
              <a:rPr lang="en-US" altLang="ko-KR" sz="1000" dirty="0">
                <a:latin typeface="+mn-ea"/>
                <a:cs typeface="Arial" charset="0"/>
              </a:rPr>
              <a:t>XML </a:t>
            </a:r>
            <a:r>
              <a:rPr lang="ko-KR" altLang="en-US" sz="1000" dirty="0">
                <a:latin typeface="+mn-ea"/>
                <a:cs typeface="Arial" charset="0"/>
              </a:rPr>
              <a:t>파일</a:t>
            </a:r>
            <a:r>
              <a:rPr lang="en-US" altLang="ko-KR" sz="1000" dirty="0">
                <a:latin typeface="+mn-ea"/>
                <a:cs typeface="Arial" charset="0"/>
              </a:rPr>
              <a:t>. DU </a:t>
            </a:r>
            <a:r>
              <a:rPr lang="ko-KR" altLang="en-US" sz="1000">
                <a:latin typeface="+mn-ea"/>
                <a:cs typeface="Arial" charset="0"/>
              </a:rPr>
              <a:t>와 동일 </a:t>
            </a:r>
            <a:r>
              <a:rPr lang="ko-KR" altLang="en-US" sz="1000" dirty="0">
                <a:latin typeface="+mn-ea"/>
                <a:cs typeface="Arial" charset="0"/>
              </a:rPr>
              <a:t>이름으로 </a:t>
            </a:r>
            <a:r>
              <a:rPr lang="en-US" altLang="ko-KR" sz="1000" dirty="0">
                <a:latin typeface="+mn-ea"/>
                <a:cs typeface="Arial" charset="0"/>
              </a:rPr>
              <a:t>1:1 </a:t>
            </a:r>
            <a:r>
              <a:rPr lang="ko-KR" altLang="en-US" sz="1000" dirty="0">
                <a:latin typeface="+mn-ea"/>
                <a:cs typeface="Arial" charset="0"/>
              </a:rPr>
              <a:t>로 생성됨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gray">
          <a:xfrm>
            <a:off x="4191658" y="4466285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ko-KR" altLang="en-US" sz="1000" dirty="0">
                <a:latin typeface="+mn-ea"/>
                <a:cs typeface="Arial" charset="0"/>
              </a:rPr>
              <a:t>상수 클래스를 생성하는 패키지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gray">
          <a:xfrm>
            <a:off x="2358083" y="268858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FF0000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b="1" dirty="0">
                <a:latin typeface="+mn-ea"/>
                <a:cs typeface="Arial" charset="0"/>
              </a:rPr>
              <a:t>app_</a:t>
            </a:r>
          </a:p>
          <a:p>
            <a:pPr marL="85725" indent="-85725" algn="ctr">
              <a:spcBef>
                <a:spcPts val="300"/>
              </a:spcBef>
            </a:pPr>
            <a:r>
              <a:rPr kumimoji="0" lang="ko-KR" altLang="en-US" sz="1000" b="1" dirty="0">
                <a:latin typeface="+mn-ea"/>
                <a:cs typeface="Arial" charset="0"/>
              </a:rPr>
              <a:t>기능</a:t>
            </a:r>
            <a:r>
              <a:rPr lang="en-US" altLang="ko-KR" sz="1000" b="1" dirty="0">
                <a:latin typeface="+mn-ea"/>
                <a:cs typeface="Arial" charset="0"/>
              </a:rPr>
              <a:t>_1</a:t>
            </a:r>
            <a:endParaRPr kumimoji="0" lang="ko-KR" altLang="en-US" sz="1000" b="1" dirty="0">
              <a:latin typeface="+mn-ea"/>
              <a:cs typeface="Arial" charset="0"/>
            </a:endParaRPr>
          </a:p>
        </p:txBody>
      </p:sp>
      <p:cxnSp>
        <p:nvCxnSpPr>
          <p:cNvPr id="12" name="꺾인 연결선 11"/>
          <p:cNvCxnSpPr>
            <a:stCxn id="7" idx="2"/>
            <a:endCxn id="8" idx="1"/>
          </p:cNvCxnSpPr>
          <p:nvPr/>
        </p:nvCxnSpPr>
        <p:spPr>
          <a:xfrm rot="16200000" flipH="1">
            <a:off x="2082202" y="2610703"/>
            <a:ext cx="393689" cy="158074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utoShape 5"/>
          <p:cNvSpPr>
            <a:spLocks noChangeArrowheads="1"/>
          </p:cNvSpPr>
          <p:nvPr/>
        </p:nvSpPr>
        <p:spPr bwMode="gray">
          <a:xfrm>
            <a:off x="3440832" y="268858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dirty="0">
                <a:latin typeface="+mn-ea"/>
                <a:cs typeface="Arial" charset="0"/>
              </a:rPr>
              <a:t>biz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gray">
          <a:xfrm>
            <a:off x="3440832" y="3133010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dirty="0" err="1">
                <a:latin typeface="+mn-ea"/>
                <a:cs typeface="Arial" charset="0"/>
              </a:rPr>
              <a:t>uio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gray">
          <a:xfrm>
            <a:off x="3440832" y="357743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dirty="0" err="1">
                <a:latin typeface="+mn-ea"/>
                <a:cs typeface="Arial" charset="0"/>
              </a:rPr>
              <a:t>xio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gray">
          <a:xfrm>
            <a:off x="3440832" y="4021860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dirty="0" err="1">
                <a:latin typeface="+mn-ea"/>
                <a:cs typeface="Arial" charset="0"/>
              </a:rPr>
              <a:t>xsql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cxnSp>
        <p:nvCxnSpPr>
          <p:cNvPr id="18" name="꺾인 연결선 17"/>
          <p:cNvCxnSpPr>
            <a:stCxn id="8" idx="3"/>
            <a:endCxn id="15" idx="1"/>
          </p:cNvCxnSpPr>
          <p:nvPr/>
        </p:nvCxnSpPr>
        <p:spPr>
          <a:xfrm>
            <a:off x="3044788" y="2886585"/>
            <a:ext cx="396044" cy="44442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8" idx="3"/>
            <a:endCxn id="16" idx="1"/>
          </p:cNvCxnSpPr>
          <p:nvPr/>
        </p:nvCxnSpPr>
        <p:spPr>
          <a:xfrm>
            <a:off x="3044788" y="2886585"/>
            <a:ext cx="396044" cy="88885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" idx="3"/>
            <a:endCxn id="17" idx="1"/>
          </p:cNvCxnSpPr>
          <p:nvPr/>
        </p:nvCxnSpPr>
        <p:spPr>
          <a:xfrm>
            <a:off x="3044788" y="2886585"/>
            <a:ext cx="396044" cy="133327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8" idx="3"/>
            <a:endCxn id="14" idx="1"/>
          </p:cNvCxnSpPr>
          <p:nvPr/>
        </p:nvCxnSpPr>
        <p:spPr>
          <a:xfrm>
            <a:off x="3044788" y="2886585"/>
            <a:ext cx="396044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utoShape 5"/>
          <p:cNvSpPr>
            <a:spLocks noChangeArrowheads="1"/>
          </p:cNvSpPr>
          <p:nvPr/>
        </p:nvSpPr>
        <p:spPr bwMode="gray">
          <a:xfrm>
            <a:off x="3440832" y="446628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dirty="0" err="1">
                <a:latin typeface="+mn-ea"/>
                <a:cs typeface="Arial" charset="0"/>
              </a:rPr>
              <a:t>consts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40" name="사각형 설명선 39"/>
          <p:cNvSpPr/>
          <p:nvPr/>
        </p:nvSpPr>
        <p:spPr>
          <a:xfrm>
            <a:off x="2892885" y="1970437"/>
            <a:ext cx="835979" cy="414447"/>
          </a:xfrm>
          <a:prstGeom prst="wedgeRectCallout">
            <a:avLst>
              <a:gd name="adj1" fmla="val -49472"/>
              <a:gd name="adj2" fmla="val 107147"/>
            </a:avLst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컴포넌트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48944" y="2240868"/>
            <a:ext cx="2582329" cy="2250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dirty="0">
                <a:latin typeface="+mj-ea"/>
                <a:ea typeface="+mj-ea"/>
                <a:cs typeface="Arial" pitchFamily="34" charset="0"/>
              </a:rPr>
              <a:t>컴포넌트 내의 </a:t>
            </a:r>
            <a:r>
              <a:rPr lang="en-US" altLang="ko-KR" sz="1100" dirty="0">
                <a:latin typeface="+mj-ea"/>
                <a:ea typeface="+mj-ea"/>
                <a:cs typeface="Arial" pitchFamily="34" charset="0"/>
              </a:rPr>
              <a:t>Java </a:t>
            </a:r>
            <a:r>
              <a:rPr lang="ko-KR" altLang="en-US" sz="1100" dirty="0">
                <a:latin typeface="+mj-ea"/>
                <a:ea typeface="+mj-ea"/>
                <a:cs typeface="Arial" pitchFamily="34" charset="0"/>
              </a:rPr>
              <a:t>패키지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아키텍처</a:t>
            </a:r>
          </a:p>
        </p:txBody>
      </p:sp>
      <p:cxnSp>
        <p:nvCxnSpPr>
          <p:cNvPr id="30" name="꺾인 연결선 29"/>
          <p:cNvCxnSpPr>
            <a:stCxn id="8" idx="3"/>
            <a:endCxn id="27" idx="1"/>
          </p:cNvCxnSpPr>
          <p:nvPr/>
        </p:nvCxnSpPr>
        <p:spPr>
          <a:xfrm>
            <a:off x="3044788" y="2886585"/>
            <a:ext cx="396044" cy="177770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5"/>
          <p:cNvSpPr>
            <a:spLocks noChangeArrowheads="1"/>
          </p:cNvSpPr>
          <p:nvPr/>
        </p:nvSpPr>
        <p:spPr bwMode="gray">
          <a:xfrm>
            <a:off x="4194287" y="4910710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ko-KR" altLang="en-US" sz="1000">
                <a:latin typeface="+mn-ea"/>
                <a:cs typeface="Arial" charset="0"/>
              </a:rPr>
              <a:t>부모 클래스 디렉토리</a:t>
            </a:r>
            <a:r>
              <a:rPr lang="en-US" altLang="ko-KR" sz="1000">
                <a:latin typeface="+mn-ea"/>
                <a:cs typeface="Arial" charset="0"/>
              </a:rPr>
              <a:t>. </a:t>
            </a:r>
            <a:r>
              <a:rPr lang="ko-KR" altLang="en-US" sz="1000">
                <a:latin typeface="+mn-ea"/>
                <a:cs typeface="Arial" charset="0"/>
              </a:rPr>
              <a:t>비대면 </a:t>
            </a:r>
            <a:r>
              <a:rPr lang="en-US" altLang="ko-KR" sz="1000">
                <a:latin typeface="+mn-ea"/>
                <a:cs typeface="Arial" charset="0"/>
              </a:rPr>
              <a:t>IBF </a:t>
            </a:r>
            <a:r>
              <a:rPr lang="ko-KR" altLang="en-US" sz="1000">
                <a:latin typeface="+mn-ea"/>
                <a:cs typeface="Arial" charset="0"/>
              </a:rPr>
              <a:t>기반의 소스 전환시에만 사용함 </a:t>
            </a:r>
            <a:r>
              <a:rPr lang="en-US" altLang="ko-KR" sz="1000">
                <a:latin typeface="+mn-ea"/>
                <a:cs typeface="Arial" charset="0"/>
              </a:rPr>
              <a:t>. PU </a:t>
            </a:r>
            <a:r>
              <a:rPr lang="ko-KR" altLang="en-US" sz="1000">
                <a:latin typeface="+mn-ea"/>
                <a:cs typeface="Arial" charset="0"/>
              </a:rPr>
              <a:t>만 허용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gray">
          <a:xfrm>
            <a:off x="4194287" y="5355133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ko-KR" altLang="en-US" sz="1000">
                <a:latin typeface="+mn-ea"/>
                <a:cs typeface="Arial" charset="0"/>
              </a:rPr>
              <a:t>컴포넌트 내에서 사용하는 기타 </a:t>
            </a:r>
            <a:r>
              <a:rPr lang="en-US" altLang="ko-KR" sz="1000">
                <a:latin typeface="+mn-ea"/>
                <a:cs typeface="Arial" charset="0"/>
              </a:rPr>
              <a:t>POJO </a:t>
            </a:r>
            <a:r>
              <a:rPr lang="ko-KR" altLang="en-US" sz="1000">
                <a:latin typeface="+mn-ea"/>
                <a:cs typeface="Arial" charset="0"/>
              </a:rPr>
              <a:t>유틸리티 클래스</a:t>
            </a:r>
            <a:r>
              <a:rPr lang="en-US" altLang="ko-KR" sz="1000">
                <a:latin typeface="+mn-ea"/>
                <a:cs typeface="Arial" charset="0"/>
              </a:rPr>
              <a:t>.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gray">
          <a:xfrm>
            <a:off x="3443461" y="4910710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>
                <a:latin typeface="+mn-ea"/>
                <a:cs typeface="Arial" charset="0"/>
              </a:rPr>
              <a:t>b</a:t>
            </a:r>
            <a:r>
              <a:rPr kumimoji="0" lang="en-US" altLang="ko-KR" sz="1000">
                <a:latin typeface="+mn-ea"/>
                <a:cs typeface="Arial" charset="0"/>
              </a:rPr>
              <a:t>ase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44" name="AutoShape 5"/>
          <p:cNvSpPr>
            <a:spLocks noChangeArrowheads="1"/>
          </p:cNvSpPr>
          <p:nvPr/>
        </p:nvSpPr>
        <p:spPr bwMode="gray">
          <a:xfrm>
            <a:off x="3443461" y="5355133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>
                <a:latin typeface="+mn-ea"/>
                <a:cs typeface="Arial" charset="0"/>
              </a:rPr>
              <a:t>util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41" name="사각형 설명선 40"/>
          <p:cNvSpPr/>
          <p:nvPr/>
        </p:nvSpPr>
        <p:spPr>
          <a:xfrm>
            <a:off x="4592638" y="5852322"/>
            <a:ext cx="2823529" cy="673022"/>
          </a:xfrm>
          <a:prstGeom prst="wedgeRectCallout">
            <a:avLst>
              <a:gd name="adj1" fmla="val -62629"/>
              <a:gd name="adj2" fmla="val -50345"/>
            </a:avLst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컴포넌트 단위로 클래스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로더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동작함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.</a:t>
            </a:r>
          </a:p>
          <a:p>
            <a:pPr marL="144000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컴포넌트 내의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패키지간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클래스 직접 참조 가능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.</a:t>
            </a:r>
          </a:p>
          <a:p>
            <a:pPr marL="144000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타 컴포넌트의 클래스는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visible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하지 않음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941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컴포넌트 </a:t>
            </a:r>
            <a:r>
              <a:rPr lang="ko-KR" altLang="en-US" dirty="0" err="1"/>
              <a:t>호출관계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컴포넌트 별로 독립적인 클래스 </a:t>
            </a:r>
            <a:r>
              <a:rPr lang="ko-KR" altLang="en-US" dirty="0" err="1"/>
              <a:t>로더</a:t>
            </a:r>
            <a:r>
              <a:rPr lang="ko-KR" altLang="en-US" dirty="0"/>
              <a:t> 위에 존재하므로 컴포넌트내</a:t>
            </a:r>
            <a:r>
              <a:rPr lang="en-US" altLang="ko-KR" dirty="0"/>
              <a:t>, </a:t>
            </a:r>
            <a:r>
              <a:rPr lang="ko-KR" altLang="en-US" dirty="0" err="1"/>
              <a:t>컴포넌트외</a:t>
            </a:r>
            <a:r>
              <a:rPr lang="ko-KR" altLang="en-US" dirty="0"/>
              <a:t> 호출 관계에 다음과 같은 차이점이 있음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613638" y="1798428"/>
            <a:ext cx="1805396" cy="3421552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60596" y="2320570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064552" y="336468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460596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" name="직선 연결선 9"/>
          <p:cNvCxnSpPr>
            <a:stCxn id="7" idx="2"/>
            <a:endCxn id="8" idx="0"/>
          </p:cNvCxnSpPr>
          <p:nvPr/>
        </p:nvCxnSpPr>
        <p:spPr>
          <a:xfrm flipH="1">
            <a:off x="1298552" y="2608570"/>
            <a:ext cx="396044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8" idx="2"/>
            <a:endCxn id="9" idx="0"/>
          </p:cNvCxnSpPr>
          <p:nvPr/>
        </p:nvCxnSpPr>
        <p:spPr>
          <a:xfrm>
            <a:off x="1298552" y="3652686"/>
            <a:ext cx="396044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7" idx="2"/>
            <a:endCxn id="9" idx="0"/>
          </p:cNvCxnSpPr>
          <p:nvPr/>
        </p:nvCxnSpPr>
        <p:spPr>
          <a:xfrm>
            <a:off x="1694596" y="2608570"/>
            <a:ext cx="0" cy="1792727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/>
          <p:cNvSpPr/>
          <p:nvPr/>
        </p:nvSpPr>
        <p:spPr>
          <a:xfrm>
            <a:off x="3355153" y="1798428"/>
            <a:ext cx="1908212" cy="3421552"/>
          </a:xfrm>
          <a:prstGeom prst="roundRect">
            <a:avLst>
              <a:gd name="adj" fmla="val 5023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642346" y="232807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836089" y="336468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b="1" dirty="0">
                <a:solidFill>
                  <a:srgbClr val="0070C0"/>
                </a:solidFill>
                <a:cs typeface="Arial" pitchFamily="34" charset="0"/>
              </a:rPr>
              <a:t>공유</a:t>
            </a:r>
            <a:endParaRPr lang="en-US" altLang="ko-KR" sz="1000" b="1" dirty="0">
              <a:solidFill>
                <a:srgbClr val="0070C0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36089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b="1" dirty="0">
                <a:solidFill>
                  <a:srgbClr val="0070C0"/>
                </a:solidFill>
                <a:cs typeface="Arial" pitchFamily="34" charset="0"/>
              </a:rPr>
              <a:t>공유</a:t>
            </a:r>
            <a:endParaRPr lang="en-US" altLang="ko-KR" sz="1000" b="1" dirty="0">
              <a:solidFill>
                <a:srgbClr val="0070C0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665020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0" name="직선 연결선 19"/>
          <p:cNvCxnSpPr>
            <a:stCxn id="14" idx="2"/>
            <a:endCxn id="17" idx="0"/>
          </p:cNvCxnSpPr>
          <p:nvPr/>
        </p:nvCxnSpPr>
        <p:spPr>
          <a:xfrm>
            <a:off x="3876346" y="2616076"/>
            <a:ext cx="193743" cy="74861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7" idx="2"/>
            <a:endCxn id="18" idx="0"/>
          </p:cNvCxnSpPr>
          <p:nvPr/>
        </p:nvCxnSpPr>
        <p:spPr>
          <a:xfrm>
            <a:off x="4070089" y="3652686"/>
            <a:ext cx="0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4" idx="2"/>
            <a:endCxn id="19" idx="0"/>
          </p:cNvCxnSpPr>
          <p:nvPr/>
        </p:nvCxnSpPr>
        <p:spPr>
          <a:xfrm>
            <a:off x="3876346" y="2616076"/>
            <a:ext cx="1022674" cy="178522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7" idx="2"/>
            <a:endCxn id="19" idx="0"/>
          </p:cNvCxnSpPr>
          <p:nvPr/>
        </p:nvCxnSpPr>
        <p:spPr>
          <a:xfrm>
            <a:off x="4070089" y="3652686"/>
            <a:ext cx="828931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평행 사변형 28"/>
          <p:cNvSpPr/>
          <p:nvPr/>
        </p:nvSpPr>
        <p:spPr>
          <a:xfrm>
            <a:off x="776536" y="5769260"/>
            <a:ext cx="3888484" cy="527586"/>
          </a:xfrm>
          <a:prstGeom prst="parallelogram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프레임워크 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Reflection API </a:t>
            </a: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제공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  <a:cs typeface="Arial" pitchFamily="34" charset="0"/>
              </a:rPr>
              <a:t>callService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cs typeface="Arial" pitchFamily="34" charset="0"/>
              </a:rPr>
              <a:t>callSharedMethod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cs typeface="Arial" pitchFamily="34" charset="0"/>
              </a:rPr>
              <a:t>callMethod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497034" y="1520788"/>
            <a:ext cx="2159199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컴포넌트</a:t>
            </a:r>
            <a:r>
              <a:rPr lang="en-US" altLang="ko-KR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 A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3247139" y="1520788"/>
            <a:ext cx="2138738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컴포넌트 </a:t>
            </a:r>
            <a:r>
              <a:rPr lang="en-US" altLang="ko-KR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B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375325" y="2630622"/>
            <a:ext cx="951404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callService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46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892611"/>
              </p:ext>
            </p:extLst>
          </p:nvPr>
        </p:nvGraphicFramePr>
        <p:xfrm>
          <a:off x="5435110" y="1768624"/>
          <a:ext cx="3874374" cy="421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특징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직접 참조로 직접 호출 가능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fuValidation.validateName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외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 컴포넌트의 클래스는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할 수 없으므로 직접 호출 불가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로더가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다르므로 타 컴포넌트의 클래스를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찾지못함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제공하는 </a:t>
                      </a:r>
                      <a:r>
                        <a:rPr lang="en-US" altLang="ko-KR" sz="1100" b="1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Reflection API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통해 간접 호출 필요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callService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callSharedMethod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간접 호출 과정에서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제어를 받으며 필요에 따라 트랜잭션을 분리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RequiresNew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등의 제어가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가능해짐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동일 컴포넌트 내의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FM/DM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호출시에도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트랜잭션 분리를 위해 간접 호출 가능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callMethodByRequiresNew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자유형 50"/>
          <p:cNvSpPr/>
          <p:nvPr/>
        </p:nvSpPr>
        <p:spPr>
          <a:xfrm>
            <a:off x="1475179" y="3682816"/>
            <a:ext cx="2482641" cy="2005432"/>
          </a:xfrm>
          <a:custGeom>
            <a:avLst/>
            <a:gdLst>
              <a:gd name="connsiteX0" fmla="*/ 0 w 2341548"/>
              <a:gd name="connsiteY0" fmla="*/ 0 h 2085917"/>
              <a:gd name="connsiteX1" fmla="*/ 1435694 w 2341548"/>
              <a:gd name="connsiteY1" fmla="*/ 2085174 h 2085917"/>
              <a:gd name="connsiteX2" fmla="*/ 2341548 w 2341548"/>
              <a:gd name="connsiteY2" fmla="*/ 188008 h 2085917"/>
              <a:gd name="connsiteX0" fmla="*/ 0 w 2341548"/>
              <a:gd name="connsiteY0" fmla="*/ 0 h 2133591"/>
              <a:gd name="connsiteX1" fmla="*/ 1189203 w 2341548"/>
              <a:gd name="connsiteY1" fmla="*/ 2132882 h 2133591"/>
              <a:gd name="connsiteX2" fmla="*/ 2341548 w 2341548"/>
              <a:gd name="connsiteY2" fmla="*/ 188008 h 2133591"/>
              <a:gd name="connsiteX0" fmla="*/ 0 w 2341548"/>
              <a:gd name="connsiteY0" fmla="*/ 0 h 2181267"/>
              <a:gd name="connsiteX1" fmla="*/ 1197155 w 2341548"/>
              <a:gd name="connsiteY1" fmla="*/ 2180589 h 2181267"/>
              <a:gd name="connsiteX2" fmla="*/ 2341548 w 2341548"/>
              <a:gd name="connsiteY2" fmla="*/ 188008 h 2181267"/>
              <a:gd name="connsiteX0" fmla="*/ 0 w 2341548"/>
              <a:gd name="connsiteY0" fmla="*/ 0 h 2157428"/>
              <a:gd name="connsiteX1" fmla="*/ 1189203 w 2341548"/>
              <a:gd name="connsiteY1" fmla="*/ 2156735 h 2157428"/>
              <a:gd name="connsiteX2" fmla="*/ 2341548 w 2341548"/>
              <a:gd name="connsiteY2" fmla="*/ 188008 h 215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1548" h="2157428">
                <a:moveTo>
                  <a:pt x="0" y="0"/>
                </a:moveTo>
                <a:cubicBezTo>
                  <a:pt x="522718" y="1026919"/>
                  <a:pt x="798945" y="2125400"/>
                  <a:pt x="1189203" y="2156735"/>
                </a:cubicBezTo>
                <a:cubicBezTo>
                  <a:pt x="1579461" y="2188070"/>
                  <a:pt x="2083750" y="1152258"/>
                  <a:pt x="2341548" y="188008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 52"/>
          <p:cNvSpPr/>
          <p:nvPr/>
        </p:nvSpPr>
        <p:spPr>
          <a:xfrm>
            <a:off x="1145136" y="3657600"/>
            <a:ext cx="538385" cy="2111660"/>
          </a:xfrm>
          <a:custGeom>
            <a:avLst/>
            <a:gdLst>
              <a:gd name="connsiteX0" fmla="*/ 0 w 538385"/>
              <a:gd name="connsiteY0" fmla="*/ 0 h 2027300"/>
              <a:gd name="connsiteX1" fmla="*/ 145279 w 538385"/>
              <a:gd name="connsiteY1" fmla="*/ 1991170 h 2027300"/>
              <a:gd name="connsiteX2" fmla="*/ 538385 w 538385"/>
              <a:gd name="connsiteY2" fmla="*/ 1093862 h 20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85" h="2027300">
                <a:moveTo>
                  <a:pt x="0" y="0"/>
                </a:moveTo>
                <a:cubicBezTo>
                  <a:pt x="27774" y="904430"/>
                  <a:pt x="55548" y="1808860"/>
                  <a:pt x="145279" y="1991170"/>
                </a:cubicBezTo>
                <a:cubicBezTo>
                  <a:pt x="235010" y="2173480"/>
                  <a:pt x="386697" y="1633671"/>
                  <a:pt x="538385" y="1093862"/>
                </a:cubicBezTo>
              </a:path>
            </a:pathLst>
          </a:custGeom>
          <a:noFill/>
          <a:ln w="12700" cap="flat">
            <a:solidFill>
              <a:srgbClr val="289055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180692" y="4977172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callSharedMethod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27690" y="5320513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callMethod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456971" y="2687985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직접</a:t>
            </a:r>
            <a:r>
              <a:rPr lang="en-US" altLang="ko-KR" sz="10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호출관계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3" name="자유형 32"/>
          <p:cNvSpPr/>
          <p:nvPr/>
        </p:nvSpPr>
        <p:spPr>
          <a:xfrm rot="20645807">
            <a:off x="2092671" y="2535223"/>
            <a:ext cx="1684980" cy="2352484"/>
          </a:xfrm>
          <a:custGeom>
            <a:avLst/>
            <a:gdLst>
              <a:gd name="connsiteX0" fmla="*/ 0 w 538385"/>
              <a:gd name="connsiteY0" fmla="*/ 0 h 2027300"/>
              <a:gd name="connsiteX1" fmla="*/ 145279 w 538385"/>
              <a:gd name="connsiteY1" fmla="*/ 1991170 h 2027300"/>
              <a:gd name="connsiteX2" fmla="*/ 538385 w 538385"/>
              <a:gd name="connsiteY2" fmla="*/ 1093862 h 20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85" h="2027300">
                <a:moveTo>
                  <a:pt x="0" y="0"/>
                </a:moveTo>
                <a:cubicBezTo>
                  <a:pt x="27774" y="904430"/>
                  <a:pt x="55548" y="1808860"/>
                  <a:pt x="145279" y="1991170"/>
                </a:cubicBezTo>
                <a:cubicBezTo>
                  <a:pt x="235010" y="2173480"/>
                  <a:pt x="386697" y="1633671"/>
                  <a:pt x="538385" y="1093862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1928596" y="2492896"/>
            <a:ext cx="1713750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모서리가 둥근 직사각형 17">
            <a:extLst>
              <a:ext uri="{FF2B5EF4-FFF2-40B4-BE49-F238E27FC236}">
                <a16:creationId xmlns:a16="http://schemas.microsoft.com/office/drawing/2014/main" id="{DF7DFBBC-B4E8-45B4-9465-CB7BDFFB6AE9}"/>
              </a:ext>
            </a:extLst>
          </p:cNvPr>
          <p:cNvSpPr/>
          <p:nvPr/>
        </p:nvSpPr>
        <p:spPr>
          <a:xfrm>
            <a:off x="3988489" y="4653168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b="1" dirty="0">
                <a:solidFill>
                  <a:srgbClr val="0070C0"/>
                </a:solidFill>
                <a:cs typeface="Arial" pitchFamily="34" charset="0"/>
              </a:rPr>
              <a:t>공유</a:t>
            </a:r>
            <a:endParaRPr lang="en-US" altLang="ko-KR" sz="1000" b="1" dirty="0">
              <a:solidFill>
                <a:srgbClr val="0070C0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모서리가 둥근 직사각형 18">
            <a:extLst>
              <a:ext uri="{FF2B5EF4-FFF2-40B4-BE49-F238E27FC236}">
                <a16:creationId xmlns:a16="http://schemas.microsoft.com/office/drawing/2014/main" id="{FE421FCD-2439-4D52-9D53-0EFD1B064562}"/>
              </a:ext>
            </a:extLst>
          </p:cNvPr>
          <p:cNvSpPr/>
          <p:nvPr/>
        </p:nvSpPr>
        <p:spPr>
          <a:xfrm>
            <a:off x="4817420" y="4653168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모서리가 둥근 직사각형 8">
            <a:extLst>
              <a:ext uri="{FF2B5EF4-FFF2-40B4-BE49-F238E27FC236}">
                <a16:creationId xmlns:a16="http://schemas.microsoft.com/office/drawing/2014/main" id="{3F53B78F-B3AD-49D5-BBB6-06067FD56427}"/>
              </a:ext>
            </a:extLst>
          </p:cNvPr>
          <p:cNvSpPr/>
          <p:nvPr/>
        </p:nvSpPr>
        <p:spPr>
          <a:xfrm>
            <a:off x="1612996" y="4653168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34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n-KESA FW </a:t>
            </a:r>
            <a:r>
              <a:rPr lang="ko-KR" altLang="en-US"/>
              <a:t>환경의 어플리케이션이 구성된 </a:t>
            </a:r>
            <a:r>
              <a:rPr lang="en-US" altLang="ko-KR"/>
              <a:t>WAS </a:t>
            </a:r>
            <a:r>
              <a:rPr lang="ko-KR" altLang="en-US"/>
              <a:t>환경에서의 유형별 호출 방식을 정의함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호출관계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4" name="제목 1"/>
          <p:cNvSpPr txBox="1">
            <a:spLocks/>
          </p:cNvSpPr>
          <p:nvPr/>
        </p:nvSpPr>
        <p:spPr>
          <a:xfrm>
            <a:off x="381884" y="299381"/>
            <a:ext cx="6804000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0" kern="120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ko-KR" altLang="en-US"/>
              <a:t>어플리케이션 간 호출 방식</a:t>
            </a:r>
          </a:p>
        </p:txBody>
      </p:sp>
      <p:grpSp>
        <p:nvGrpSpPr>
          <p:cNvPr id="72" name="Group 284">
            <a:extLst>
              <a:ext uri="{FF2B5EF4-FFF2-40B4-BE49-F238E27FC236}">
                <a16:creationId xmlns:a16="http://schemas.microsoft.com/office/drawing/2014/main" id="{20091372-20EB-49EF-9252-2F77582D07B0}"/>
              </a:ext>
            </a:extLst>
          </p:cNvPr>
          <p:cNvGrpSpPr/>
          <p:nvPr/>
        </p:nvGrpSpPr>
        <p:grpSpPr bwMode="gray">
          <a:xfrm>
            <a:off x="271463" y="1412875"/>
            <a:ext cx="9397997" cy="325409"/>
            <a:chOff x="4088904" y="1858259"/>
            <a:chExt cx="1796884" cy="325409"/>
          </a:xfrm>
        </p:grpSpPr>
        <p:cxnSp>
          <p:nvCxnSpPr>
            <p:cNvPr id="73" name="Straight Connector 285">
              <a:extLst>
                <a:ext uri="{FF2B5EF4-FFF2-40B4-BE49-F238E27FC236}">
                  <a16:creationId xmlns:a16="http://schemas.microsoft.com/office/drawing/2014/main" id="{D855A68E-15F4-49EC-A55D-DCBE3C257587}"/>
                </a:ext>
              </a:extLst>
            </p:cNvPr>
            <p:cNvCxnSpPr/>
            <p:nvPr/>
          </p:nvCxnSpPr>
          <p:spPr bwMode="gray">
            <a:xfrm flipV="1">
              <a:off x="4088904" y="2182109"/>
              <a:ext cx="1796884" cy="1559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9D9C180-B1D4-498C-B359-43B1A9103224}"/>
                </a:ext>
              </a:extLst>
            </p:cNvPr>
            <p:cNvSpPr txBox="1"/>
            <p:nvPr/>
          </p:nvSpPr>
          <p:spPr bwMode="gray">
            <a:xfrm>
              <a:off x="4088904" y="1858259"/>
              <a:ext cx="683694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어플리케이션</a:t>
              </a:r>
              <a:r>
                <a:rPr lang="en-US" altLang="ko-KR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/</a:t>
              </a: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클래스 간 </a:t>
              </a:r>
              <a:r>
                <a:rPr lang="en-US" altLang="ko-KR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n-KESA </a:t>
              </a: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기반 호출 방식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76" name="모서리가 둥근 직사각형 87">
            <a:extLst>
              <a:ext uri="{FF2B5EF4-FFF2-40B4-BE49-F238E27FC236}">
                <a16:creationId xmlns:a16="http://schemas.microsoft.com/office/drawing/2014/main" id="{A4A5BCA6-0CC6-462A-93C3-AF6A02BECA5E}"/>
              </a:ext>
            </a:extLst>
          </p:cNvPr>
          <p:cNvSpPr/>
          <p:nvPr/>
        </p:nvSpPr>
        <p:spPr>
          <a:xfrm>
            <a:off x="254861" y="1844824"/>
            <a:ext cx="7380758" cy="313234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마케팅플랫폼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WAS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7" name="모서리가 둥근 직사각형 34">
            <a:extLst>
              <a:ext uri="{FF2B5EF4-FFF2-40B4-BE49-F238E27FC236}">
                <a16:creationId xmlns:a16="http://schemas.microsoft.com/office/drawing/2014/main" id="{5E8D55A6-9B52-407A-8610-BDFBDFA0A91D}"/>
              </a:ext>
            </a:extLst>
          </p:cNvPr>
          <p:cNvSpPr/>
          <p:nvPr/>
        </p:nvSpPr>
        <p:spPr>
          <a:xfrm>
            <a:off x="358475" y="2121023"/>
            <a:ext cx="5782657" cy="2784141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인스턴스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8" name="모서리가 둥근 직사각형 39">
            <a:extLst>
              <a:ext uri="{FF2B5EF4-FFF2-40B4-BE49-F238E27FC236}">
                <a16:creationId xmlns:a16="http://schemas.microsoft.com/office/drawing/2014/main" id="{6898D9B8-4F1E-4983-870D-BAA6C4FB0C85}"/>
              </a:ext>
            </a:extLst>
          </p:cNvPr>
          <p:cNvSpPr/>
          <p:nvPr/>
        </p:nvSpPr>
        <p:spPr>
          <a:xfrm>
            <a:off x="7797316" y="1844824"/>
            <a:ext cx="1872144" cy="313234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금융복합플랫폼 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WAS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9" name="모서리가 둥근 직사각형 40">
            <a:extLst>
              <a:ext uri="{FF2B5EF4-FFF2-40B4-BE49-F238E27FC236}">
                <a16:creationId xmlns:a16="http://schemas.microsoft.com/office/drawing/2014/main" id="{D285C00A-7AC3-4AEA-8775-5271050ACE0C}"/>
              </a:ext>
            </a:extLst>
          </p:cNvPr>
          <p:cNvSpPr/>
          <p:nvPr/>
        </p:nvSpPr>
        <p:spPr>
          <a:xfrm>
            <a:off x="6252934" y="2121023"/>
            <a:ext cx="1224948" cy="2784141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인스턴스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0" name="모서리가 둥근 직사각형 43">
            <a:extLst>
              <a:ext uri="{FF2B5EF4-FFF2-40B4-BE49-F238E27FC236}">
                <a16:creationId xmlns:a16="http://schemas.microsoft.com/office/drawing/2014/main" id="{53C0AF53-834A-45CA-84F5-C52DB87C3A83}"/>
              </a:ext>
            </a:extLst>
          </p:cNvPr>
          <p:cNvSpPr/>
          <p:nvPr/>
        </p:nvSpPr>
        <p:spPr>
          <a:xfrm>
            <a:off x="500178" y="2390776"/>
            <a:ext cx="3505000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통합고객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1" name="모서리가 둥근 직사각형 35">
            <a:extLst>
              <a:ext uri="{FF2B5EF4-FFF2-40B4-BE49-F238E27FC236}">
                <a16:creationId xmlns:a16="http://schemas.microsoft.com/office/drawing/2014/main" id="{012731FD-0D8B-4F24-AF0D-D5C0C8E819DF}"/>
              </a:ext>
            </a:extLst>
          </p:cNvPr>
          <p:cNvSpPr/>
          <p:nvPr/>
        </p:nvSpPr>
        <p:spPr>
          <a:xfrm>
            <a:off x="608018" y="2653240"/>
            <a:ext cx="1580837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r>
              <a:rPr lang="en-US" altLang="ko-KR" sz="100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통합고객정보</a:t>
            </a:r>
            <a:r>
              <a:rPr lang="en-US" altLang="ko-KR" sz="100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2" name="모서리가 둥근 직사각형 37">
            <a:extLst>
              <a:ext uri="{FF2B5EF4-FFF2-40B4-BE49-F238E27FC236}">
                <a16:creationId xmlns:a16="http://schemas.microsoft.com/office/drawing/2014/main" id="{AEAEC038-5ED3-4B1C-AA0B-47B77BFCDFF7}"/>
              </a:ext>
            </a:extLst>
          </p:cNvPr>
          <p:cNvSpPr/>
          <p:nvPr/>
        </p:nvSpPr>
        <p:spPr>
          <a:xfrm>
            <a:off x="665940" y="2888940"/>
            <a:ext cx="346916" cy="1845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4" name="모서리가 둥근 직사각형 44">
            <a:extLst>
              <a:ext uri="{FF2B5EF4-FFF2-40B4-BE49-F238E27FC236}">
                <a16:creationId xmlns:a16="http://schemas.microsoft.com/office/drawing/2014/main" id="{7A8C706D-2759-40A8-BD6A-DF9BD0366205}"/>
              </a:ext>
            </a:extLst>
          </p:cNvPr>
          <p:cNvSpPr/>
          <p:nvPr/>
        </p:nvSpPr>
        <p:spPr>
          <a:xfrm>
            <a:off x="4088904" y="2390776"/>
            <a:ext cx="1924530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통합상품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5" name="모서리가 둥근 직사각형 45">
            <a:extLst>
              <a:ext uri="{FF2B5EF4-FFF2-40B4-BE49-F238E27FC236}">
                <a16:creationId xmlns:a16="http://schemas.microsoft.com/office/drawing/2014/main" id="{554B1E30-7AD6-4B6B-9963-BD4622F1A6B7}"/>
              </a:ext>
            </a:extLst>
          </p:cNvPr>
          <p:cNvSpPr/>
          <p:nvPr/>
        </p:nvSpPr>
        <p:spPr>
          <a:xfrm>
            <a:off x="2368876" y="2653240"/>
            <a:ext cx="1507722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r>
              <a:rPr lang="en-US" altLang="ko-KR" sz="100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통합고객실적</a:t>
            </a:r>
            <a:r>
              <a:rPr lang="en-US" altLang="ko-KR" sz="100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6" name="모서리가 둥근 직사각형 46">
            <a:extLst>
              <a:ext uri="{FF2B5EF4-FFF2-40B4-BE49-F238E27FC236}">
                <a16:creationId xmlns:a16="http://schemas.microsoft.com/office/drawing/2014/main" id="{A30643C5-346A-4D85-8985-439926DD499F}"/>
              </a:ext>
            </a:extLst>
          </p:cNvPr>
          <p:cNvSpPr/>
          <p:nvPr/>
        </p:nvSpPr>
        <p:spPr>
          <a:xfrm>
            <a:off x="4297308" y="2653240"/>
            <a:ext cx="1507722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7" name="모서리가 둥근 직사각형 50">
            <a:extLst>
              <a:ext uri="{FF2B5EF4-FFF2-40B4-BE49-F238E27FC236}">
                <a16:creationId xmlns:a16="http://schemas.microsoft.com/office/drawing/2014/main" id="{D562B28A-4788-4825-9CF1-A75EA9F6BDCF}"/>
              </a:ext>
            </a:extLst>
          </p:cNvPr>
          <p:cNvSpPr/>
          <p:nvPr/>
        </p:nvSpPr>
        <p:spPr>
          <a:xfrm>
            <a:off x="7941423" y="2121023"/>
            <a:ext cx="1583930" cy="2784141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인스턴스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9" name="모서리가 둥근 직사각형 51">
            <a:extLst>
              <a:ext uri="{FF2B5EF4-FFF2-40B4-BE49-F238E27FC236}">
                <a16:creationId xmlns:a16="http://schemas.microsoft.com/office/drawing/2014/main" id="{446E3A2F-CBE6-4B34-B6A1-CED5E34A873B}"/>
              </a:ext>
            </a:extLst>
          </p:cNvPr>
          <p:cNvSpPr/>
          <p:nvPr/>
        </p:nvSpPr>
        <p:spPr>
          <a:xfrm>
            <a:off x="8081559" y="2390776"/>
            <a:ext cx="1335938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1" name="모서리가 둥근 직사각형 52">
            <a:extLst>
              <a:ext uri="{FF2B5EF4-FFF2-40B4-BE49-F238E27FC236}">
                <a16:creationId xmlns:a16="http://schemas.microsoft.com/office/drawing/2014/main" id="{EB9B16DF-2912-4EEA-B3C6-5ED45E802AC6}"/>
              </a:ext>
            </a:extLst>
          </p:cNvPr>
          <p:cNvSpPr/>
          <p:nvPr/>
        </p:nvSpPr>
        <p:spPr>
          <a:xfrm>
            <a:off x="8193360" y="2653240"/>
            <a:ext cx="1080016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2" name="모서리가 둥근 직사각형 53">
            <a:extLst>
              <a:ext uri="{FF2B5EF4-FFF2-40B4-BE49-F238E27FC236}">
                <a16:creationId xmlns:a16="http://schemas.microsoft.com/office/drawing/2014/main" id="{DF316D82-D826-4FEA-B451-9BA102E85A15}"/>
              </a:ext>
            </a:extLst>
          </p:cNvPr>
          <p:cNvSpPr/>
          <p:nvPr/>
        </p:nvSpPr>
        <p:spPr>
          <a:xfrm>
            <a:off x="1216519" y="2905268"/>
            <a:ext cx="346916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4" name="모서리가 둥근 직사각형 54">
            <a:extLst>
              <a:ext uri="{FF2B5EF4-FFF2-40B4-BE49-F238E27FC236}">
                <a16:creationId xmlns:a16="http://schemas.microsoft.com/office/drawing/2014/main" id="{8ACD9C8D-AF2A-4BC7-88FF-EEF6B71D1F48}"/>
              </a:ext>
            </a:extLst>
          </p:cNvPr>
          <p:cNvSpPr/>
          <p:nvPr/>
        </p:nvSpPr>
        <p:spPr>
          <a:xfrm>
            <a:off x="1767098" y="2905268"/>
            <a:ext cx="346916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5" name="모서리가 둥근 직사각형 55">
            <a:extLst>
              <a:ext uri="{FF2B5EF4-FFF2-40B4-BE49-F238E27FC236}">
                <a16:creationId xmlns:a16="http://schemas.microsoft.com/office/drawing/2014/main" id="{2F10E3E9-5CE4-48CF-B088-96C9645FE1D0}"/>
              </a:ext>
            </a:extLst>
          </p:cNvPr>
          <p:cNvSpPr/>
          <p:nvPr/>
        </p:nvSpPr>
        <p:spPr>
          <a:xfrm>
            <a:off x="2407870" y="3131519"/>
            <a:ext cx="346916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모서리가 둥근 직사각형 56">
            <a:extLst>
              <a:ext uri="{FF2B5EF4-FFF2-40B4-BE49-F238E27FC236}">
                <a16:creationId xmlns:a16="http://schemas.microsoft.com/office/drawing/2014/main" id="{AC54AD7A-6C91-4788-9D00-70BBD19D019A}"/>
              </a:ext>
            </a:extLst>
          </p:cNvPr>
          <p:cNvSpPr/>
          <p:nvPr/>
        </p:nvSpPr>
        <p:spPr>
          <a:xfrm>
            <a:off x="2751940" y="3357770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8" name="모서리가 둥근 직사각형 60">
            <a:extLst>
              <a:ext uri="{FF2B5EF4-FFF2-40B4-BE49-F238E27FC236}">
                <a16:creationId xmlns:a16="http://schemas.microsoft.com/office/drawing/2014/main" id="{AEA1F37B-B02D-44B6-B577-024619E44BA7}"/>
              </a:ext>
            </a:extLst>
          </p:cNvPr>
          <p:cNvSpPr/>
          <p:nvPr/>
        </p:nvSpPr>
        <p:spPr>
          <a:xfrm>
            <a:off x="6349536" y="2390776"/>
            <a:ext cx="1051736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9" name="모서리가 둥근 직사각형 61">
            <a:extLst>
              <a:ext uri="{FF2B5EF4-FFF2-40B4-BE49-F238E27FC236}">
                <a16:creationId xmlns:a16="http://schemas.microsoft.com/office/drawing/2014/main" id="{311911D9-AEF1-4C24-B575-F1ABEB4AD315}"/>
              </a:ext>
            </a:extLst>
          </p:cNvPr>
          <p:cNvSpPr/>
          <p:nvPr/>
        </p:nvSpPr>
        <p:spPr>
          <a:xfrm>
            <a:off x="6429164" y="2653240"/>
            <a:ext cx="900100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0" name="모서리가 둥근 직사각형 62">
            <a:extLst>
              <a:ext uri="{FF2B5EF4-FFF2-40B4-BE49-F238E27FC236}">
                <a16:creationId xmlns:a16="http://schemas.microsoft.com/office/drawing/2014/main" id="{AC6C7459-A08D-46C8-BB7D-D36EFE99CA65}"/>
              </a:ext>
            </a:extLst>
          </p:cNvPr>
          <p:cNvSpPr/>
          <p:nvPr/>
        </p:nvSpPr>
        <p:spPr>
          <a:xfrm>
            <a:off x="2751940" y="3584020"/>
            <a:ext cx="1098803" cy="2164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DM/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모서리가 둥근 직사각형 63">
            <a:extLst>
              <a:ext uri="{FF2B5EF4-FFF2-40B4-BE49-F238E27FC236}">
                <a16:creationId xmlns:a16="http://schemas.microsoft.com/office/drawing/2014/main" id="{DA0F8CAC-A0FC-40D7-84EC-495152A0B906}"/>
              </a:ext>
            </a:extLst>
          </p:cNvPr>
          <p:cNvSpPr/>
          <p:nvPr/>
        </p:nvSpPr>
        <p:spPr>
          <a:xfrm>
            <a:off x="4664969" y="4036522"/>
            <a:ext cx="1140060" cy="21976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2" name="모서리가 둥근 직사각형 65">
            <a:extLst>
              <a:ext uri="{FF2B5EF4-FFF2-40B4-BE49-F238E27FC236}">
                <a16:creationId xmlns:a16="http://schemas.microsoft.com/office/drawing/2014/main" id="{9BB17F81-1248-4B0D-A860-F3D98C388962}"/>
              </a:ext>
            </a:extLst>
          </p:cNvPr>
          <p:cNvSpPr/>
          <p:nvPr/>
        </p:nvSpPr>
        <p:spPr>
          <a:xfrm>
            <a:off x="6617348" y="4262774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103" name="모서리가 둥근 직사각형 66">
            <a:extLst>
              <a:ext uri="{FF2B5EF4-FFF2-40B4-BE49-F238E27FC236}">
                <a16:creationId xmlns:a16="http://schemas.microsoft.com/office/drawing/2014/main" id="{A972BDA3-A33D-46F5-A41A-EBEF41548C5F}"/>
              </a:ext>
            </a:extLst>
          </p:cNvPr>
          <p:cNvSpPr/>
          <p:nvPr/>
        </p:nvSpPr>
        <p:spPr>
          <a:xfrm>
            <a:off x="4435669" y="3810272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4" name="모서리가 둥근 직사각형 67">
            <a:extLst>
              <a:ext uri="{FF2B5EF4-FFF2-40B4-BE49-F238E27FC236}">
                <a16:creationId xmlns:a16="http://schemas.microsoft.com/office/drawing/2014/main" id="{D9C15328-8DE1-4915-9327-BC1410EEBA47}"/>
              </a:ext>
            </a:extLst>
          </p:cNvPr>
          <p:cNvSpPr/>
          <p:nvPr/>
        </p:nvSpPr>
        <p:spPr>
          <a:xfrm>
            <a:off x="8453228" y="4489028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7B35EDD-9427-42D4-9824-2553BEADCAEC}"/>
              </a:ext>
            </a:extLst>
          </p:cNvPr>
          <p:cNvCxnSpPr/>
          <p:nvPr/>
        </p:nvCxnSpPr>
        <p:spPr>
          <a:xfrm>
            <a:off x="9537378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1E3752A4-3E79-44A7-BA9B-69798D95EC11}"/>
              </a:ext>
            </a:extLst>
          </p:cNvPr>
          <p:cNvCxnSpPr>
            <a:endCxn id="92" idx="1"/>
          </p:cNvCxnSpPr>
          <p:nvPr/>
        </p:nvCxnSpPr>
        <p:spPr>
          <a:xfrm>
            <a:off x="1001035" y="3005324"/>
            <a:ext cx="215484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AF4FF5F-514C-49ED-902A-D5DA8669F2CE}"/>
              </a:ext>
            </a:extLst>
          </p:cNvPr>
          <p:cNvCxnSpPr>
            <a:stCxn id="92" idx="3"/>
            <a:endCxn id="94" idx="1"/>
          </p:cNvCxnSpPr>
          <p:nvPr/>
        </p:nvCxnSpPr>
        <p:spPr>
          <a:xfrm>
            <a:off x="1563435" y="3005324"/>
            <a:ext cx="20366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C0D3DFC2-D570-49DB-B220-4D988E98B175}"/>
              </a:ext>
            </a:extLst>
          </p:cNvPr>
          <p:cNvCxnSpPr>
            <a:endCxn id="95" idx="1"/>
          </p:cNvCxnSpPr>
          <p:nvPr/>
        </p:nvCxnSpPr>
        <p:spPr>
          <a:xfrm>
            <a:off x="1001035" y="3231575"/>
            <a:ext cx="140683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27ED66D-D5EA-43E4-A182-9853B7F09802}"/>
              </a:ext>
            </a:extLst>
          </p:cNvPr>
          <p:cNvCxnSpPr>
            <a:endCxn id="96" idx="1"/>
          </p:cNvCxnSpPr>
          <p:nvPr/>
        </p:nvCxnSpPr>
        <p:spPr>
          <a:xfrm>
            <a:off x="1001035" y="3457826"/>
            <a:ext cx="175090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90FDED7-C369-4EB9-9AA4-6BD0CFD4F80E}"/>
              </a:ext>
            </a:extLst>
          </p:cNvPr>
          <p:cNvCxnSpPr>
            <a:endCxn id="100" idx="1"/>
          </p:cNvCxnSpPr>
          <p:nvPr/>
        </p:nvCxnSpPr>
        <p:spPr>
          <a:xfrm>
            <a:off x="1028564" y="3684077"/>
            <a:ext cx="1723376" cy="815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774E85C9-DBFA-40B9-89DE-95D377961AD3}"/>
              </a:ext>
            </a:extLst>
          </p:cNvPr>
          <p:cNvCxnSpPr>
            <a:endCxn id="103" idx="1"/>
          </p:cNvCxnSpPr>
          <p:nvPr/>
        </p:nvCxnSpPr>
        <p:spPr>
          <a:xfrm>
            <a:off x="1028564" y="3910328"/>
            <a:ext cx="340710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FB5487EF-495A-46DF-8257-6A6B4F1FFBF9}"/>
              </a:ext>
            </a:extLst>
          </p:cNvPr>
          <p:cNvCxnSpPr>
            <a:endCxn id="101" idx="1"/>
          </p:cNvCxnSpPr>
          <p:nvPr/>
        </p:nvCxnSpPr>
        <p:spPr>
          <a:xfrm>
            <a:off x="1028564" y="4136579"/>
            <a:ext cx="3636405" cy="982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A924369-A3C2-425D-9908-2510801C6249}"/>
              </a:ext>
            </a:extLst>
          </p:cNvPr>
          <p:cNvCxnSpPr>
            <a:endCxn id="102" idx="1"/>
          </p:cNvCxnSpPr>
          <p:nvPr/>
        </p:nvCxnSpPr>
        <p:spPr>
          <a:xfrm>
            <a:off x="1001035" y="4362830"/>
            <a:ext cx="561631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14F5C8E-6B23-4D98-B453-47A031E9664D}"/>
              </a:ext>
            </a:extLst>
          </p:cNvPr>
          <p:cNvCxnSpPr>
            <a:endCxn id="104" idx="1"/>
          </p:cNvCxnSpPr>
          <p:nvPr/>
        </p:nvCxnSpPr>
        <p:spPr>
          <a:xfrm>
            <a:off x="1012856" y="4589084"/>
            <a:ext cx="7440372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29">
            <a:extLst>
              <a:ext uri="{FF2B5EF4-FFF2-40B4-BE49-F238E27FC236}">
                <a16:creationId xmlns:a16="http://schemas.microsoft.com/office/drawing/2014/main" id="{0CB868FC-5B49-490C-B6FD-5B98D3CBAC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24508" y="5011356"/>
            <a:ext cx="1699881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인스턴스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어플리케이션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컴포넌트 내 호출</a:t>
            </a: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메소드 직접 호출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BBE6C484-3BA9-43F1-A7B9-965D5EB49290}"/>
              </a:ext>
            </a:extLst>
          </p:cNvPr>
          <p:cNvCxnSpPr/>
          <p:nvPr/>
        </p:nvCxnSpPr>
        <p:spPr>
          <a:xfrm>
            <a:off x="7705147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35788226-CE74-496D-96E3-574E3D111E2B}"/>
              </a:ext>
            </a:extLst>
          </p:cNvPr>
          <p:cNvCxnSpPr/>
          <p:nvPr/>
        </p:nvCxnSpPr>
        <p:spPr>
          <a:xfrm>
            <a:off x="6160182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136E4BFA-883A-4B0A-B114-66E39D59B3AA}"/>
              </a:ext>
            </a:extLst>
          </p:cNvPr>
          <p:cNvCxnSpPr/>
          <p:nvPr/>
        </p:nvCxnSpPr>
        <p:spPr>
          <a:xfrm>
            <a:off x="4038786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7D73CCE7-2EE5-4798-B87A-E42B1380E8F1}"/>
              </a:ext>
            </a:extLst>
          </p:cNvPr>
          <p:cNvCxnSpPr/>
          <p:nvPr/>
        </p:nvCxnSpPr>
        <p:spPr>
          <a:xfrm>
            <a:off x="2302387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A37FE6F9-FB57-4990-8612-080392C288FE}"/>
              </a:ext>
            </a:extLst>
          </p:cNvPr>
          <p:cNvCxnSpPr/>
          <p:nvPr/>
        </p:nvCxnSpPr>
        <p:spPr>
          <a:xfrm>
            <a:off x="487990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29">
            <a:extLst>
              <a:ext uri="{FF2B5EF4-FFF2-40B4-BE49-F238E27FC236}">
                <a16:creationId xmlns:a16="http://schemas.microsoft.com/office/drawing/2014/main" id="{86C26EE0-D906-4725-827B-78C6AD6A8D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4709" y="5011356"/>
            <a:ext cx="1680470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인스턴스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어플리케이션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FW API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를 통한 호출</a:t>
            </a: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callSharedMethod   (FM/DM)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callService (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PM)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C6DD0D06-7592-47FB-8C90-9D97C9B124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05498" y="5011356"/>
            <a:ext cx="2021075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인스턴스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어플리케이션 간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FW API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를 통한 호출</a:t>
            </a: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callSharedMethod(FM)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callService (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PM)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8" name="Rectangle 29">
            <a:extLst>
              <a:ext uri="{FF2B5EF4-FFF2-40B4-BE49-F238E27FC236}">
                <a16:creationId xmlns:a16="http://schemas.microsoft.com/office/drawing/2014/main" id="{C0A4BB2E-C650-4AE5-BD57-90999A4301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93284" y="5004180"/>
            <a:ext cx="1478253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인스턴스 간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어플리케이션 간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R="0" lvl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tabLst/>
              <a:defRPr/>
            </a:pPr>
            <a:r>
              <a:rPr lang="en-US" altLang="ko-KR" sz="1000" b="1" kern="0" noProof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동일 시스템 도메인내 인스턴스간 업무 연계가 필요한 경우 인스턴스 통합 구성 권고</a:t>
            </a:r>
            <a:endParaRPr kumimoji="0" lang="ko-KR" altLang="en-US" sz="10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9" name="Rectangle 29">
            <a:extLst>
              <a:ext uri="{FF2B5EF4-FFF2-40B4-BE49-F238E27FC236}">
                <a16:creationId xmlns:a16="http://schemas.microsoft.com/office/drawing/2014/main" id="{F77BBEEC-9E06-48FD-9086-8EC0A69FF6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97316" y="5011356"/>
            <a:ext cx="1675177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WAS </a:t>
            </a: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노드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인스턴스 간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어플리케이션 간</a:t>
            </a:r>
            <a:r>
              <a:rPr lang="en-US" altLang="ko-KR" sz="1000" b="1" ker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FW API</a:t>
            </a:r>
            <a:r>
              <a:rPr lang="ko-KR" altLang="en-US" sz="1000" kern="0">
                <a:solidFill>
                  <a:srgbClr val="000000"/>
                </a:solidFill>
                <a:latin typeface="+mn-ea"/>
              </a:rPr>
              <a:t>를 통한 호출</a:t>
            </a: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callRemoteService (</a:t>
            </a:r>
            <a:r>
              <a:rPr lang="en-US" altLang="ko-KR" sz="1000" kern="0">
                <a:solidFill>
                  <a:srgbClr val="000000"/>
                </a:solidFill>
                <a:latin typeface="+mn-ea"/>
              </a:rPr>
              <a:t>PM)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00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eaLnBrk="0" hangingPunct="0">
              <a:buSzPct val="100000"/>
              <a:defRPr/>
            </a:pPr>
            <a:endParaRPr lang="en-US" altLang="ko-KR" sz="1000" ker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1" name="Rectangle 29">
            <a:extLst>
              <a:ext uri="{FF2B5EF4-FFF2-40B4-BE49-F238E27FC236}">
                <a16:creationId xmlns:a16="http://schemas.microsoft.com/office/drawing/2014/main" id="{B986911A-9D25-4938-92DC-3FB32306B28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085241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rgbClr val="000000"/>
                </a:solidFill>
                <a:latin typeface="+mn-ea"/>
              </a:rPr>
              <a:t>callService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2" name="Rectangle 29">
            <a:extLst>
              <a:ext uri="{FF2B5EF4-FFF2-40B4-BE49-F238E27FC236}">
                <a16:creationId xmlns:a16="http://schemas.microsoft.com/office/drawing/2014/main" id="{DA9A7E0D-98E7-47F9-8F05-DAA410625F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305515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rgbClr val="000000"/>
                </a:solidFill>
                <a:latin typeface="+mn-ea"/>
              </a:rPr>
              <a:t>callSharedMethod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2" name="Rectangle 29">
            <a:extLst>
              <a:ext uri="{FF2B5EF4-FFF2-40B4-BE49-F238E27FC236}">
                <a16:creationId xmlns:a16="http://schemas.microsoft.com/office/drawing/2014/main" id="{EF330922-36D4-4B55-BC46-E3AA6A41A0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506113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rgbClr val="000000"/>
                </a:solidFill>
                <a:latin typeface="+mn-ea"/>
              </a:rPr>
              <a:t>callSharedMethod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0" name="Rectangle 29">
            <a:extLst>
              <a:ext uri="{FF2B5EF4-FFF2-40B4-BE49-F238E27FC236}">
                <a16:creationId xmlns:a16="http://schemas.microsoft.com/office/drawing/2014/main" id="{678F9622-DC30-4F6B-8939-17E4C4082A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753922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rgbClr val="000000"/>
                </a:solidFill>
                <a:latin typeface="+mn-ea"/>
              </a:rPr>
              <a:t>callService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1" name="Rectangle 29">
            <a:extLst>
              <a:ext uri="{FF2B5EF4-FFF2-40B4-BE49-F238E27FC236}">
                <a16:creationId xmlns:a16="http://schemas.microsoft.com/office/drawing/2014/main" id="{9573A301-2E54-454E-B272-CC8280F342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963005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rgbClr val="000000"/>
                </a:solidFill>
                <a:latin typeface="+mn-ea"/>
              </a:rPr>
              <a:t>callSharedMethod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2" name="Rectangle 29">
            <a:extLst>
              <a:ext uri="{FF2B5EF4-FFF2-40B4-BE49-F238E27FC236}">
                <a16:creationId xmlns:a16="http://schemas.microsoft.com/office/drawing/2014/main" id="{8F199A53-E959-4E32-8717-040FA6FAB71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4182137"/>
            <a:ext cx="1053219" cy="180693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chemeClr val="bg1">
                    <a:lumMod val="50000"/>
                  </a:schemeClr>
                </a:solidFill>
                <a:latin typeface="+mn-ea"/>
              </a:rPr>
              <a:t>callRemoteService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3" name="Rectangle 29">
            <a:extLst>
              <a:ext uri="{FF2B5EF4-FFF2-40B4-BE49-F238E27FC236}">
                <a16:creationId xmlns:a16="http://schemas.microsoft.com/office/drawing/2014/main" id="{4C2208D1-059E-42AA-A567-2A6C886B27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4401269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>
                <a:solidFill>
                  <a:srgbClr val="000000"/>
                </a:solidFill>
                <a:latin typeface="+mn-ea"/>
              </a:rPr>
              <a:t>callRemoteService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8D45CCD3-69AA-4D2D-99E7-E604C0E79663}"/>
              </a:ext>
            </a:extLst>
          </p:cNvPr>
          <p:cNvSpPr/>
          <p:nvPr/>
        </p:nvSpPr>
        <p:spPr>
          <a:xfrm>
            <a:off x="1063517" y="4745160"/>
            <a:ext cx="1109010" cy="18931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직접 호출 처리 영역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294076E-17D9-413A-ABF6-DC588C3B5C48}"/>
              </a:ext>
            </a:extLst>
          </p:cNvPr>
          <p:cNvSpPr/>
          <p:nvPr/>
        </p:nvSpPr>
        <p:spPr>
          <a:xfrm>
            <a:off x="2395590" y="4745161"/>
            <a:ext cx="3409439" cy="1544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FW Reflection API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처리 영역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4C756C4A-6FE3-410C-9791-8149BEEB908D}"/>
              </a:ext>
            </a:extLst>
          </p:cNvPr>
          <p:cNvSpPr/>
          <p:nvPr/>
        </p:nvSpPr>
        <p:spPr>
          <a:xfrm>
            <a:off x="7941423" y="4745160"/>
            <a:ext cx="1549769" cy="2042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FW Remote Call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 영역 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트랜잭션 분리됨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46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314096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320887"/>
            <a:ext cx="6848453" cy="3589050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구성</a:t>
            </a:r>
            <a:endParaRPr lang="en-US" altLang="ko-KR" dirty="0">
              <a:solidFill>
                <a:prstClr val="black"/>
              </a:solidFill>
            </a:endParaRPr>
          </a:p>
          <a:p>
            <a:pPr marL="54000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통합 개발 환경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통합 개발 환경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형상관리 연계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어플리케이션 배포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표준 관리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4330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통합 개발 환경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en-US" altLang="ko-KR" dirty="0"/>
              <a:t>NEXCORE </a:t>
            </a:r>
            <a:r>
              <a:rPr lang="ko-KR" altLang="en-US" dirty="0" err="1"/>
              <a:t>개발환경은</a:t>
            </a:r>
            <a:r>
              <a:rPr lang="ko-KR" altLang="en-US" dirty="0"/>
              <a:t> </a:t>
            </a:r>
            <a:r>
              <a:rPr lang="en-US" altLang="ko-KR" dirty="0"/>
              <a:t>Eclipse </a:t>
            </a:r>
            <a:r>
              <a:rPr lang="ko-KR" altLang="en-US" dirty="0"/>
              <a:t>기반 </a:t>
            </a:r>
            <a:r>
              <a:rPr lang="en-US" altLang="ko-KR" dirty="0"/>
              <a:t>Plug-In </a:t>
            </a:r>
            <a:r>
              <a:rPr lang="ko-KR" altLang="en-US" dirty="0"/>
              <a:t>으로서 프로그램 코딩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, </a:t>
            </a:r>
            <a:r>
              <a:rPr lang="ko-KR" altLang="en-US" dirty="0"/>
              <a:t>테스트 등 일련 개발과정을 쉽게 진행할 수 있도록 통합 개발 환경을 제공함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 개발 환경</a:t>
            </a:r>
          </a:p>
        </p:txBody>
      </p:sp>
      <p:sp>
        <p:nvSpPr>
          <p:cNvPr id="8" name="양쪽 모서리가 둥근 사각형 7"/>
          <p:cNvSpPr/>
          <p:nvPr/>
        </p:nvSpPr>
        <p:spPr bwMode="auto">
          <a:xfrm flipV="1">
            <a:off x="488950" y="1935163"/>
            <a:ext cx="5511800" cy="4456112"/>
          </a:xfrm>
          <a:prstGeom prst="round2SameRect">
            <a:avLst>
              <a:gd name="adj1" fmla="val 140"/>
              <a:gd name="adj2" fmla="val 0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" name="양쪽 모서리가 둥근 사각형 8"/>
          <p:cNvSpPr/>
          <p:nvPr/>
        </p:nvSpPr>
        <p:spPr bwMode="auto">
          <a:xfrm>
            <a:off x="488950" y="1614488"/>
            <a:ext cx="5511800" cy="320675"/>
          </a:xfrm>
          <a:prstGeom prst="round2SameRect">
            <a:avLst>
              <a:gd name="adj1" fmla="val 7902"/>
              <a:gd name="adj2" fmla="val 0"/>
            </a:avLst>
          </a:prstGeom>
          <a:solidFill>
            <a:srgbClr val="858274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11" name="양쪽 모서리가 둥근 사각형 10"/>
          <p:cNvSpPr/>
          <p:nvPr/>
        </p:nvSpPr>
        <p:spPr bwMode="auto">
          <a:xfrm flipV="1">
            <a:off x="7762875" y="1935163"/>
            <a:ext cx="1654175" cy="4456112"/>
          </a:xfrm>
          <a:prstGeom prst="round2SameRect">
            <a:avLst>
              <a:gd name="adj1" fmla="val 1423"/>
              <a:gd name="adj2" fmla="val 0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2" name="양쪽 모서리가 둥근 사각형 11"/>
          <p:cNvSpPr/>
          <p:nvPr/>
        </p:nvSpPr>
        <p:spPr bwMode="auto">
          <a:xfrm>
            <a:off x="7762875" y="1614488"/>
            <a:ext cx="1654175" cy="320675"/>
          </a:xfrm>
          <a:prstGeom prst="round2SameRect">
            <a:avLst>
              <a:gd name="adj1" fmla="val 7902"/>
              <a:gd name="adj2" fmla="val 0"/>
            </a:avLst>
          </a:prstGeom>
          <a:solidFill>
            <a:srgbClr val="85827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13" name="Rectangle 30"/>
          <p:cNvSpPr>
            <a:spLocks noChangeArrowheads="1"/>
          </p:cNvSpPr>
          <p:nvPr/>
        </p:nvSpPr>
        <p:spPr bwMode="auto">
          <a:xfrm>
            <a:off x="7765896" y="1657001"/>
            <a:ext cx="1648713" cy="28023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 defTabSz="58102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개발</a:t>
            </a:r>
            <a:r>
              <a:rPr lang="ko-KR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서버</a:t>
            </a:r>
          </a:p>
        </p:txBody>
      </p:sp>
      <p:sp>
        <p:nvSpPr>
          <p:cNvPr id="15" name="양쪽 모서리가 둥근 사각형 14"/>
          <p:cNvSpPr/>
          <p:nvPr/>
        </p:nvSpPr>
        <p:spPr bwMode="auto">
          <a:xfrm flipV="1">
            <a:off x="6048375" y="1935163"/>
            <a:ext cx="1654175" cy="4456112"/>
          </a:xfrm>
          <a:prstGeom prst="round2SameRect">
            <a:avLst>
              <a:gd name="adj1" fmla="val 1423"/>
              <a:gd name="adj2" fmla="val 0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6" name="양쪽 모서리가 둥근 사각형 15"/>
          <p:cNvSpPr/>
          <p:nvPr/>
        </p:nvSpPr>
        <p:spPr bwMode="auto">
          <a:xfrm>
            <a:off x="6048375" y="1614488"/>
            <a:ext cx="1654175" cy="320675"/>
          </a:xfrm>
          <a:prstGeom prst="round2SameRect">
            <a:avLst>
              <a:gd name="adj1" fmla="val 7902"/>
              <a:gd name="adj2" fmla="val 0"/>
            </a:avLst>
          </a:prstGeom>
          <a:solidFill>
            <a:srgbClr val="85827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17" name="Rectangle 30"/>
          <p:cNvSpPr>
            <a:spLocks noChangeArrowheads="1"/>
          </p:cNvSpPr>
          <p:nvPr/>
        </p:nvSpPr>
        <p:spPr bwMode="auto">
          <a:xfrm>
            <a:off x="6051494" y="1636600"/>
            <a:ext cx="1648713" cy="28023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 defTabSz="58102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소스관리</a:t>
            </a:r>
            <a:endParaRPr lang="ko-KR" altLang="en-US" sz="1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그림 1" descr="image0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173663"/>
            <a:ext cx="928688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AutoShape 96" descr="엠보싱 작은상자(Blue_Ver)"/>
          <p:cNvSpPr>
            <a:spLocks noChangeArrowheads="1"/>
          </p:cNvSpPr>
          <p:nvPr/>
        </p:nvSpPr>
        <p:spPr bwMode="auto">
          <a:xfrm>
            <a:off x="577723" y="3697852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컴포넌트 </a:t>
            </a:r>
            <a:endParaRPr lang="en-US" altLang="ko-KR" sz="1000" err="1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설계</a:t>
            </a:r>
          </a:p>
        </p:txBody>
      </p:sp>
      <p:sp>
        <p:nvSpPr>
          <p:cNvPr id="20" name="AutoShape 96" descr="엠보싱 작은상자(Blue_Ver)"/>
          <p:cNvSpPr>
            <a:spLocks noChangeArrowheads="1"/>
          </p:cNvSpPr>
          <p:nvPr/>
        </p:nvSpPr>
        <p:spPr bwMode="auto">
          <a:xfrm>
            <a:off x="1665122" y="3150131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Java</a:t>
            </a:r>
          </a:p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코딩</a:t>
            </a:r>
          </a:p>
        </p:txBody>
      </p:sp>
      <p:sp>
        <p:nvSpPr>
          <p:cNvPr id="21" name="AutoShape 96" descr="엠보싱 작은상자(Blue_Ver)"/>
          <p:cNvSpPr>
            <a:spLocks noChangeArrowheads="1"/>
          </p:cNvSpPr>
          <p:nvPr/>
        </p:nvSpPr>
        <p:spPr bwMode="auto">
          <a:xfrm>
            <a:off x="1665122" y="4293201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SQL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개발</a:t>
            </a:r>
            <a:endParaRPr lang="en-US" altLang="ko-KR" sz="10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/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테스트</a:t>
            </a:r>
          </a:p>
        </p:txBody>
      </p:sp>
      <p:sp>
        <p:nvSpPr>
          <p:cNvPr id="22" name="AutoShape 96" descr="엠보싱 작은상자(Blue_Ver)"/>
          <p:cNvSpPr>
            <a:spLocks noChangeArrowheads="1"/>
          </p:cNvSpPr>
          <p:nvPr/>
        </p:nvSpPr>
        <p:spPr bwMode="auto">
          <a:xfrm>
            <a:off x="2738295" y="3697852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로컬 배포</a:t>
            </a:r>
          </a:p>
        </p:txBody>
      </p:sp>
      <p:sp>
        <p:nvSpPr>
          <p:cNvPr id="23" name="AutoShape 96" descr="엠보싱 작은상자(Blue_Ver)"/>
          <p:cNvSpPr>
            <a:spLocks noChangeArrowheads="1"/>
          </p:cNvSpPr>
          <p:nvPr/>
        </p:nvSpPr>
        <p:spPr bwMode="auto">
          <a:xfrm>
            <a:off x="3808293" y="3150131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디버깅</a:t>
            </a:r>
          </a:p>
        </p:txBody>
      </p:sp>
      <p:sp>
        <p:nvSpPr>
          <p:cNvPr id="24" name="AutoShape 96" descr="엠보싱 작은상자(Blue_Ver)"/>
          <p:cNvSpPr>
            <a:spLocks noChangeArrowheads="1"/>
          </p:cNvSpPr>
          <p:nvPr/>
        </p:nvSpPr>
        <p:spPr bwMode="auto">
          <a:xfrm>
            <a:off x="3808293" y="4293201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기능</a:t>
            </a:r>
            <a:b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</a:b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테스트</a:t>
            </a:r>
          </a:p>
        </p:txBody>
      </p:sp>
      <p:sp>
        <p:nvSpPr>
          <p:cNvPr id="25" name="AutoShape 96" descr="엠보싱 작은상자(Blue_Ver)"/>
          <p:cNvSpPr>
            <a:spLocks noChangeArrowheads="1"/>
          </p:cNvSpPr>
          <p:nvPr/>
        </p:nvSpPr>
        <p:spPr bwMode="auto">
          <a:xfrm>
            <a:off x="4879878" y="3676354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형상관리</a:t>
            </a:r>
            <a:endParaRPr lang="en-US" altLang="ko-KR" sz="10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연계</a:t>
            </a:r>
          </a:p>
        </p:txBody>
      </p:sp>
      <p:cxnSp>
        <p:nvCxnSpPr>
          <p:cNvPr id="26" name="꺾인 연결선 93"/>
          <p:cNvCxnSpPr>
            <a:cxnSpLocks noChangeShapeType="1"/>
            <a:stCxn id="19" idx="3"/>
            <a:endCxn id="20" idx="1"/>
          </p:cNvCxnSpPr>
          <p:nvPr/>
        </p:nvCxnSpPr>
        <p:spPr bwMode="auto">
          <a:xfrm flipV="1">
            <a:off x="1362075" y="3373438"/>
            <a:ext cx="303213" cy="547687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27" name="꺾인 연결선 94"/>
          <p:cNvCxnSpPr>
            <a:cxnSpLocks noChangeShapeType="1"/>
            <a:stCxn id="19" idx="3"/>
            <a:endCxn id="21" idx="1"/>
          </p:cNvCxnSpPr>
          <p:nvPr/>
        </p:nvCxnSpPr>
        <p:spPr bwMode="auto">
          <a:xfrm>
            <a:off x="1362075" y="3921125"/>
            <a:ext cx="303213" cy="595313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28" name="꺾인 연결선 97"/>
          <p:cNvCxnSpPr>
            <a:cxnSpLocks noChangeShapeType="1"/>
            <a:stCxn id="21" idx="3"/>
            <a:endCxn id="22" idx="1"/>
          </p:cNvCxnSpPr>
          <p:nvPr/>
        </p:nvCxnSpPr>
        <p:spPr bwMode="auto">
          <a:xfrm flipV="1">
            <a:off x="2449513" y="3921125"/>
            <a:ext cx="288925" cy="595313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29" name="꺾인 연결선 100"/>
          <p:cNvCxnSpPr>
            <a:cxnSpLocks noChangeShapeType="1"/>
            <a:stCxn id="20" idx="3"/>
            <a:endCxn id="22" idx="1"/>
          </p:cNvCxnSpPr>
          <p:nvPr/>
        </p:nvCxnSpPr>
        <p:spPr bwMode="auto">
          <a:xfrm>
            <a:off x="2449513" y="3373438"/>
            <a:ext cx="288925" cy="547687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30" name="꺾인 연결선 103"/>
          <p:cNvCxnSpPr>
            <a:cxnSpLocks noChangeShapeType="1"/>
            <a:stCxn id="22" idx="3"/>
            <a:endCxn id="23" idx="1"/>
          </p:cNvCxnSpPr>
          <p:nvPr/>
        </p:nvCxnSpPr>
        <p:spPr bwMode="auto">
          <a:xfrm flipV="1">
            <a:off x="3522663" y="3373438"/>
            <a:ext cx="285750" cy="547687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31" name="꺾인 연결선 106"/>
          <p:cNvCxnSpPr>
            <a:cxnSpLocks noChangeShapeType="1"/>
            <a:stCxn id="22" idx="3"/>
            <a:endCxn id="24" idx="1"/>
          </p:cNvCxnSpPr>
          <p:nvPr/>
        </p:nvCxnSpPr>
        <p:spPr bwMode="auto">
          <a:xfrm>
            <a:off x="3522663" y="3921125"/>
            <a:ext cx="285750" cy="595313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32" name="꺾인 연결선 109"/>
          <p:cNvCxnSpPr>
            <a:cxnSpLocks noChangeShapeType="1"/>
            <a:stCxn id="23" idx="3"/>
            <a:endCxn id="25" idx="1"/>
          </p:cNvCxnSpPr>
          <p:nvPr/>
        </p:nvCxnSpPr>
        <p:spPr bwMode="auto">
          <a:xfrm>
            <a:off x="4592638" y="3373438"/>
            <a:ext cx="287337" cy="527050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33" name="꺾인 연결선 112"/>
          <p:cNvCxnSpPr>
            <a:cxnSpLocks noChangeShapeType="1"/>
            <a:stCxn id="24" idx="3"/>
            <a:endCxn id="25" idx="1"/>
          </p:cNvCxnSpPr>
          <p:nvPr/>
        </p:nvCxnSpPr>
        <p:spPr bwMode="auto">
          <a:xfrm flipV="1">
            <a:off x="4592638" y="3900488"/>
            <a:ext cx="287337" cy="615950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34" name="직선 화살표 연결선 120"/>
          <p:cNvCxnSpPr>
            <a:cxnSpLocks noChangeShapeType="1"/>
          </p:cNvCxnSpPr>
          <p:nvPr/>
        </p:nvCxnSpPr>
        <p:spPr bwMode="auto">
          <a:xfrm flipV="1">
            <a:off x="5664200" y="3897313"/>
            <a:ext cx="508000" cy="1587"/>
          </a:xfrm>
          <a:prstGeom prst="straightConnector1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4905375"/>
            <a:ext cx="790575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1993900"/>
            <a:ext cx="912812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직사각형 127"/>
          <p:cNvSpPr>
            <a:spLocks noChangeArrowheads="1"/>
          </p:cNvSpPr>
          <p:nvPr/>
        </p:nvSpPr>
        <p:spPr bwMode="auto">
          <a:xfrm>
            <a:off x="2059022" y="2809655"/>
            <a:ext cx="703227" cy="203133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코딩 지원</a:t>
            </a:r>
          </a:p>
        </p:txBody>
      </p:sp>
      <p:sp>
        <p:nvSpPr>
          <p:cNvPr id="40" name="직사각형 91"/>
          <p:cNvSpPr>
            <a:spLocks noChangeArrowheads="1"/>
          </p:cNvSpPr>
          <p:nvPr/>
        </p:nvSpPr>
        <p:spPr bwMode="auto">
          <a:xfrm>
            <a:off x="1466347" y="6026599"/>
            <a:ext cx="1184966" cy="203133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*.xsql: SQL</a:t>
            </a: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정보</a:t>
            </a:r>
            <a:r>
              <a:rPr lang="en-US" altLang="ko-KR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(XML)</a:t>
            </a:r>
            <a:endParaRPr lang="ko-KR" altLang="en-US" sz="800" err="1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41" name="AutoShape 96" descr="엠보싱 작은상자(Blue_Ver)"/>
          <p:cNvSpPr>
            <a:spLocks noChangeArrowheads="1"/>
          </p:cNvSpPr>
          <p:nvPr/>
        </p:nvSpPr>
        <p:spPr bwMode="auto">
          <a:xfrm>
            <a:off x="3660653" y="5788495"/>
            <a:ext cx="939820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메타정보 분석</a:t>
            </a:r>
          </a:p>
        </p:txBody>
      </p:sp>
      <p:pic>
        <p:nvPicPr>
          <p:cNvPr id="42" name="그림 6" descr="테스트화면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2005013"/>
            <a:ext cx="928687" cy="70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4791075"/>
            <a:ext cx="928687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직사각형 97"/>
          <p:cNvSpPr>
            <a:spLocks noChangeArrowheads="1"/>
          </p:cNvSpPr>
          <p:nvPr/>
        </p:nvSpPr>
        <p:spPr bwMode="auto">
          <a:xfrm>
            <a:off x="4595710" y="5479995"/>
            <a:ext cx="1192238" cy="424758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테스트 케이스 및</a:t>
            </a:r>
            <a:endParaRPr lang="en-US" altLang="ko-KR" sz="800" err="1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테스트 수행 결과</a:t>
            </a:r>
            <a:endParaRPr lang="en-US" altLang="ko-KR" sz="800" err="1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Test*.java</a:t>
            </a:r>
          </a:p>
        </p:txBody>
      </p:sp>
      <p:sp>
        <p:nvSpPr>
          <p:cNvPr id="45" name="직사각형 106"/>
          <p:cNvSpPr>
            <a:spLocks noChangeArrowheads="1"/>
          </p:cNvSpPr>
          <p:nvPr/>
        </p:nvSpPr>
        <p:spPr bwMode="auto">
          <a:xfrm>
            <a:off x="4226388" y="2750914"/>
            <a:ext cx="676803" cy="313932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Eclipse</a:t>
            </a: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br>
              <a:rPr lang="en-US" altLang="ko-KR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</a:b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디버거 활용</a:t>
            </a:r>
          </a:p>
        </p:txBody>
      </p:sp>
      <p:sp>
        <p:nvSpPr>
          <p:cNvPr id="46" name="직사각형 129"/>
          <p:cNvSpPr>
            <a:spLocks noChangeArrowheads="1"/>
          </p:cNvSpPr>
          <p:nvPr/>
        </p:nvSpPr>
        <p:spPr bwMode="auto">
          <a:xfrm>
            <a:off x="3980892" y="5167020"/>
            <a:ext cx="954108" cy="314208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기능테스트</a:t>
            </a:r>
            <a:b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</a:b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자동화</a:t>
            </a:r>
          </a:p>
        </p:txBody>
      </p:sp>
      <p:cxnSp>
        <p:nvCxnSpPr>
          <p:cNvPr id="47" name="직선 화살표 연결선 180"/>
          <p:cNvCxnSpPr>
            <a:cxnSpLocks noChangeShapeType="1"/>
            <a:stCxn id="19" idx="2"/>
          </p:cNvCxnSpPr>
          <p:nvPr/>
        </p:nvCxnSpPr>
        <p:spPr bwMode="auto">
          <a:xfrm rot="5400000">
            <a:off x="589757" y="4525169"/>
            <a:ext cx="760412" cy="0"/>
          </a:xfrm>
          <a:prstGeom prst="straightConnector1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sp>
        <p:nvSpPr>
          <p:cNvPr id="48" name="직사각형 125"/>
          <p:cNvSpPr>
            <a:spLocks noChangeArrowheads="1"/>
          </p:cNvSpPr>
          <p:nvPr/>
        </p:nvSpPr>
        <p:spPr bwMode="auto">
          <a:xfrm>
            <a:off x="415924" y="4290884"/>
            <a:ext cx="631825" cy="203133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설계 지원</a:t>
            </a:r>
          </a:p>
        </p:txBody>
      </p:sp>
      <p:cxnSp>
        <p:nvCxnSpPr>
          <p:cNvPr id="49" name="직선 화살표 연결선 183"/>
          <p:cNvCxnSpPr>
            <a:cxnSpLocks noChangeShapeType="1"/>
            <a:stCxn id="20" idx="0"/>
          </p:cNvCxnSpPr>
          <p:nvPr/>
        </p:nvCxnSpPr>
        <p:spPr bwMode="auto">
          <a:xfrm rot="16200000" flipV="1">
            <a:off x="1840707" y="2932906"/>
            <a:ext cx="430212" cy="3175"/>
          </a:xfrm>
          <a:prstGeom prst="straightConnector1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52" name="직선 화살표 연결선 199"/>
          <p:cNvCxnSpPr>
            <a:cxnSpLocks noChangeShapeType="1"/>
            <a:stCxn id="23" idx="0"/>
          </p:cNvCxnSpPr>
          <p:nvPr/>
        </p:nvCxnSpPr>
        <p:spPr bwMode="auto">
          <a:xfrm rot="5400000" flipH="1" flipV="1">
            <a:off x="3983831" y="2931319"/>
            <a:ext cx="434975" cy="1588"/>
          </a:xfrm>
          <a:prstGeom prst="straightConnector1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55" name="꺾인 연결선 204"/>
          <p:cNvCxnSpPr>
            <a:cxnSpLocks noChangeShapeType="1"/>
            <a:stCxn id="24" idx="2"/>
          </p:cNvCxnSpPr>
          <p:nvPr/>
        </p:nvCxnSpPr>
        <p:spPr bwMode="auto">
          <a:xfrm rot="16200000" flipH="1">
            <a:off x="4266407" y="4674393"/>
            <a:ext cx="406400" cy="538163"/>
          </a:xfrm>
          <a:prstGeom prst="bentConnector2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56" name="직선 화살표 연결선 208"/>
          <p:cNvCxnSpPr>
            <a:cxnSpLocks noChangeShapeType="1"/>
          </p:cNvCxnSpPr>
          <p:nvPr/>
        </p:nvCxnSpPr>
        <p:spPr bwMode="auto">
          <a:xfrm rot="5400000">
            <a:off x="1827213" y="4953000"/>
            <a:ext cx="395288" cy="1587"/>
          </a:xfrm>
          <a:prstGeom prst="straightConnector1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sp>
        <p:nvSpPr>
          <p:cNvPr id="57" name="직사각형 125"/>
          <p:cNvSpPr>
            <a:spLocks noChangeArrowheads="1"/>
          </p:cNvSpPr>
          <p:nvPr/>
        </p:nvSpPr>
        <p:spPr bwMode="auto">
          <a:xfrm>
            <a:off x="2000513" y="4802388"/>
            <a:ext cx="711215" cy="313951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SQL</a:t>
            </a:r>
            <a:b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</a:br>
            <a:r>
              <a:rPr lang="ko-KR" altLang="en-US" sz="8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작성지원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58" name="직사각형 106"/>
          <p:cNvSpPr>
            <a:spLocks noChangeArrowheads="1"/>
          </p:cNvSpPr>
          <p:nvPr/>
        </p:nvSpPr>
        <p:spPr bwMode="auto">
          <a:xfrm>
            <a:off x="5608807" y="3941468"/>
            <a:ext cx="662858" cy="314125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소스코드</a:t>
            </a:r>
            <a:b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</a:b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Check-In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cxnSp>
        <p:nvCxnSpPr>
          <p:cNvPr id="63" name="Shape 58"/>
          <p:cNvCxnSpPr>
            <a:endCxn id="41" idx="1"/>
          </p:cNvCxnSpPr>
          <p:nvPr/>
        </p:nvCxnSpPr>
        <p:spPr bwMode="auto">
          <a:xfrm rot="16200000" flipH="1">
            <a:off x="2276475" y="4627563"/>
            <a:ext cx="233363" cy="2535237"/>
          </a:xfrm>
          <a:prstGeom prst="bentConnector2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cxnSp>
        <p:nvCxnSpPr>
          <p:cNvPr id="64" name="Shape 59"/>
          <p:cNvCxnSpPr>
            <a:endCxn id="41" idx="1"/>
          </p:cNvCxnSpPr>
          <p:nvPr/>
        </p:nvCxnSpPr>
        <p:spPr bwMode="auto">
          <a:xfrm rot="16200000" flipH="1">
            <a:off x="2968625" y="5319713"/>
            <a:ext cx="74613" cy="1309687"/>
          </a:xfrm>
          <a:prstGeom prst="bentConnector2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sp>
        <p:nvSpPr>
          <p:cNvPr id="67" name="AutoShape 96" descr="엠보싱 작은상자(Blue_Ver)"/>
          <p:cNvSpPr>
            <a:spLocks noChangeArrowheads="1"/>
          </p:cNvSpPr>
          <p:nvPr/>
        </p:nvSpPr>
        <p:spPr bwMode="auto">
          <a:xfrm>
            <a:off x="6880171" y="3676354"/>
            <a:ext cx="784242" cy="447832"/>
          </a:xfrm>
          <a:prstGeom prst="roundRect">
            <a:avLst>
              <a:gd name="adj" fmla="val 9690"/>
            </a:avLst>
          </a:prstGeom>
          <a:solidFill>
            <a:srgbClr val="FFEDCC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서버 배포</a:t>
            </a:r>
            <a:endParaRPr lang="ko-KR" altLang="en-US" sz="1000" baseline="30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68" name="직선 화살표 연결선 67"/>
          <p:cNvCxnSpPr>
            <a:endCxn id="67" idx="1"/>
          </p:cNvCxnSpPr>
          <p:nvPr/>
        </p:nvCxnSpPr>
        <p:spPr bwMode="auto">
          <a:xfrm>
            <a:off x="6761163" y="3897313"/>
            <a:ext cx="119062" cy="3175"/>
          </a:xfrm>
          <a:prstGeom prst="straightConnector1">
            <a:avLst/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pic>
        <p:nvPicPr>
          <p:cNvPr id="69" name="Picture 55" descr="C:\Users\강세환\Desktop\새 폴더\9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780" y="3507859"/>
            <a:ext cx="517789" cy="7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0" name="꺾인 연결선 69"/>
          <p:cNvCxnSpPr>
            <a:stCxn id="67" idx="3"/>
            <a:endCxn id="69" idx="1"/>
          </p:cNvCxnSpPr>
          <p:nvPr/>
        </p:nvCxnSpPr>
        <p:spPr bwMode="auto">
          <a:xfrm flipV="1">
            <a:off x="7664450" y="3898900"/>
            <a:ext cx="663575" cy="1588"/>
          </a:xfrm>
          <a:prstGeom prst="bentConnector3">
            <a:avLst>
              <a:gd name="adj1" fmla="val 50000"/>
            </a:avLst>
          </a:prstGeom>
          <a:noFill/>
          <a:ln w="3175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med"/>
            <a:tailEnd type="stealth" w="med" len="med"/>
          </a:ln>
        </p:spPr>
      </p:cxnSp>
      <p:sp>
        <p:nvSpPr>
          <p:cNvPr id="71" name="직사각형 106"/>
          <p:cNvSpPr>
            <a:spLocks noChangeArrowheads="1"/>
          </p:cNvSpPr>
          <p:nvPr/>
        </p:nvSpPr>
        <p:spPr bwMode="auto">
          <a:xfrm>
            <a:off x="8245450" y="4261836"/>
            <a:ext cx="755666" cy="203402"/>
          </a:xfrm>
          <a:prstGeom prst="rect">
            <a:avLst/>
          </a:prstGeom>
          <a:noFill/>
          <a:ln w="3175" cmpd="sng">
            <a:noFill/>
            <a:prstDash val="solid"/>
            <a:round/>
            <a:headEnd type="none" w="sm" len="med"/>
            <a:tailEnd type="stealth" w="med" len="med"/>
          </a:ln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indent="-10160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140000"/>
              <a:defRPr/>
            </a:pP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개발 서버</a:t>
            </a:r>
          </a:p>
        </p:txBody>
      </p:sp>
      <p:sp>
        <p:nvSpPr>
          <p:cNvPr id="82" name="Rectangle 30"/>
          <p:cNvSpPr>
            <a:spLocks noChangeArrowheads="1"/>
          </p:cNvSpPr>
          <p:nvPr/>
        </p:nvSpPr>
        <p:spPr bwMode="auto">
          <a:xfrm>
            <a:off x="499394" y="1657001"/>
            <a:ext cx="5493149" cy="28023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 defTabSz="58102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통합개발환경</a:t>
            </a:r>
          </a:p>
        </p:txBody>
      </p:sp>
      <p:sp>
        <p:nvSpPr>
          <p:cNvPr id="80" name="순서도: 자기 디스크 79"/>
          <p:cNvSpPr/>
          <p:nvPr/>
        </p:nvSpPr>
        <p:spPr>
          <a:xfrm>
            <a:off x="6191424" y="3645024"/>
            <a:ext cx="581569" cy="516189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소스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레파지토리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1" name="순서도: 자기 디스크 80"/>
          <p:cNvSpPr/>
          <p:nvPr/>
        </p:nvSpPr>
        <p:spPr>
          <a:xfrm>
            <a:off x="807035" y="5253071"/>
            <a:ext cx="581569" cy="516189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설계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정보관리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3" name="순서도: 자기 디스크 82"/>
          <p:cNvSpPr/>
          <p:nvPr/>
        </p:nvSpPr>
        <p:spPr>
          <a:xfrm>
            <a:off x="2031171" y="5402611"/>
            <a:ext cx="581569" cy="516189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SQL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정보관리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488504" y="360902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1640656" y="306896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1604652" y="425711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2720776" y="360902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3800896" y="306896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3764868" y="422111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6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4845012" y="357301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7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3584872" y="569727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8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615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로컬 개발 환경 디렉토리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 개발 환경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AE9710F-5602-48CB-9BF4-0E863820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2" y="1009826"/>
            <a:ext cx="7669101" cy="346290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E1CFA7-FF99-4E03-9E43-88303E30E78A}"/>
              </a:ext>
            </a:extLst>
          </p:cNvPr>
          <p:cNvSpPr/>
          <p:nvPr/>
        </p:nvSpPr>
        <p:spPr>
          <a:xfrm>
            <a:off x="3537960" y="1484784"/>
            <a:ext cx="1745180" cy="1224135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014BDE-F2FF-4FC9-A68C-968C0C2390D9}"/>
              </a:ext>
            </a:extLst>
          </p:cNvPr>
          <p:cNvSpPr/>
          <p:nvPr/>
        </p:nvSpPr>
        <p:spPr>
          <a:xfrm>
            <a:off x="992393" y="1961257"/>
            <a:ext cx="1692188" cy="675655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78A5EE5-47D5-435C-99D6-93E878C8F5D5}"/>
              </a:ext>
            </a:extLst>
          </p:cNvPr>
          <p:cNvSpPr/>
          <p:nvPr/>
        </p:nvSpPr>
        <p:spPr>
          <a:xfrm>
            <a:off x="4410550" y="2852936"/>
            <a:ext cx="3206746" cy="1308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900" b="1" dirty="0">
                <a:latin typeface="+mn-ea"/>
                <a:cs typeface="Arial" pitchFamily="34" charset="0"/>
              </a:rPr>
              <a:t>[</a:t>
            </a:r>
            <a:r>
              <a:rPr lang="en-US" altLang="ko-KR" sz="900" b="1">
                <a:latin typeface="+mn-ea"/>
                <a:cs typeface="Arial" pitchFamily="34" charset="0"/>
              </a:rPr>
              <a:t>C:\</a:t>
            </a:r>
            <a:r>
              <a:rPr lang="ko-KR" altLang="en-US" sz="900" b="1">
                <a:latin typeface="+mn-ea"/>
                <a:cs typeface="Arial" pitchFamily="34" charset="0"/>
              </a:rPr>
              <a:t>설치 경로</a:t>
            </a:r>
            <a:r>
              <a:rPr lang="en-US" altLang="ko-KR" sz="900" b="1">
                <a:latin typeface="+mn-ea"/>
                <a:cs typeface="Arial" pitchFamily="34" charset="0"/>
              </a:rPr>
              <a:t>]</a:t>
            </a:r>
            <a:endParaRPr lang="en-US" altLang="ko-KR" sz="900" b="1" dirty="0">
              <a:latin typeface="+mn-ea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en-US" altLang="ko-KR" sz="900" b="1">
                <a:latin typeface="+mn-ea"/>
                <a:cs typeface="Arial" pitchFamily="34" charset="0"/>
              </a:rPr>
              <a:t>java21	  </a:t>
            </a:r>
            <a:r>
              <a:rPr lang="en-US" altLang="ko-KR" sz="900">
                <a:latin typeface="+mn-ea"/>
                <a:cs typeface="Arial" pitchFamily="34" charset="0"/>
              </a:rPr>
              <a:t>: </a:t>
            </a:r>
            <a:r>
              <a:rPr lang="en-US" altLang="ko-KR" sz="900" dirty="0">
                <a:latin typeface="+mn-ea"/>
                <a:cs typeface="Arial" pitchFamily="34" charset="0"/>
              </a:rPr>
              <a:t>JDK </a:t>
            </a:r>
            <a:r>
              <a:rPr lang="ko-KR" altLang="en-US" sz="900" dirty="0">
                <a:latin typeface="+mn-ea"/>
                <a:cs typeface="Arial" pitchFamily="34" charset="0"/>
              </a:rPr>
              <a:t>경로</a:t>
            </a:r>
            <a:endParaRPr lang="en-US" altLang="ko-KR" sz="900" dirty="0">
              <a:latin typeface="+mn-ea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en-US" altLang="ko-KR" sz="900" b="1">
                <a:latin typeface="+mn-ea"/>
                <a:cs typeface="Arial" pitchFamily="34" charset="0"/>
              </a:rPr>
              <a:t>logs </a:t>
            </a:r>
            <a:r>
              <a:rPr lang="en-US" altLang="ko-KR" sz="900">
                <a:latin typeface="+mn-ea"/>
                <a:cs typeface="Arial" pitchFamily="34" charset="0"/>
              </a:rPr>
              <a:t>	  : </a:t>
            </a:r>
            <a:r>
              <a:rPr lang="ko-KR" altLang="en-US" sz="900">
                <a:latin typeface="+mn-ea"/>
                <a:cs typeface="Arial" pitchFamily="34" charset="0"/>
              </a:rPr>
              <a:t>로그 기준 디렉토리</a:t>
            </a:r>
            <a:endParaRPr lang="en-US" altLang="ko-KR" sz="900" dirty="0">
              <a:latin typeface="+mn-ea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en-US" altLang="ko-KR" sz="900" b="1">
                <a:latin typeface="+mn-ea"/>
                <a:cs typeface="Arial" pitchFamily="34" charset="0"/>
              </a:rPr>
              <a:t>Eclipse	  </a:t>
            </a:r>
            <a:r>
              <a:rPr lang="en-US" altLang="ko-KR" sz="900">
                <a:latin typeface="+mn-ea"/>
                <a:cs typeface="Arial" pitchFamily="34" charset="0"/>
              </a:rPr>
              <a:t>: </a:t>
            </a:r>
            <a:r>
              <a:rPr lang="ko-KR" altLang="en-US" sz="900" dirty="0">
                <a:latin typeface="+mn-ea"/>
                <a:cs typeface="Arial" pitchFamily="34" charset="0"/>
              </a:rPr>
              <a:t>개발 도구 </a:t>
            </a:r>
            <a:r>
              <a:rPr lang="en-US" altLang="ko-KR" sz="900" dirty="0">
                <a:latin typeface="+mn-ea"/>
                <a:cs typeface="Arial" pitchFamily="34" charset="0"/>
              </a:rPr>
              <a:t>(eclipse)</a:t>
            </a:r>
            <a:r>
              <a:rPr lang="ko-KR" altLang="en-US" sz="900" dirty="0">
                <a:latin typeface="+mn-ea"/>
                <a:cs typeface="Arial" pitchFamily="34" charset="0"/>
              </a:rPr>
              <a:t> 경로</a:t>
            </a:r>
            <a:endParaRPr lang="en-US" altLang="ko-KR" sz="900" dirty="0">
              <a:latin typeface="+mn-ea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en-US" altLang="ko-KR" sz="900" b="1">
                <a:latin typeface="+mn-ea"/>
                <a:cs typeface="Arial" pitchFamily="34" charset="0"/>
              </a:rPr>
              <a:t>wlp </a:t>
            </a:r>
            <a:r>
              <a:rPr lang="en-US" altLang="ko-KR" sz="900">
                <a:latin typeface="+mn-ea"/>
                <a:cs typeface="Arial" pitchFamily="34" charset="0"/>
              </a:rPr>
              <a:t>	  : Websphere Liberty </a:t>
            </a:r>
            <a:r>
              <a:rPr lang="ko-KR" altLang="en-US" sz="900" dirty="0">
                <a:latin typeface="+mn-ea"/>
                <a:cs typeface="Arial" pitchFamily="34" charset="0"/>
              </a:rPr>
              <a:t>경로</a:t>
            </a:r>
            <a:endParaRPr lang="en-US" altLang="ko-KR" sz="900" dirty="0">
              <a:latin typeface="+mn-ea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en-US" altLang="ko-KR" sz="900" b="1">
                <a:latin typeface="+mn-ea"/>
                <a:cs typeface="Arial" pitchFamily="34" charset="0"/>
              </a:rPr>
              <a:t>workspace  	  </a:t>
            </a:r>
            <a:r>
              <a:rPr lang="en-US" altLang="ko-KR" sz="900">
                <a:latin typeface="+mn-ea"/>
                <a:cs typeface="Arial" pitchFamily="34" charset="0"/>
              </a:rPr>
              <a:t>: </a:t>
            </a:r>
            <a:r>
              <a:rPr lang="ko-KR" altLang="en-US" sz="900" dirty="0">
                <a:latin typeface="+mn-ea"/>
                <a:cs typeface="Arial" pitchFamily="34" charset="0"/>
              </a:rPr>
              <a:t>개발 프로젝트 소스 워크스페이스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B680B70-65DC-43B1-B224-EFFDFA569151}"/>
              </a:ext>
            </a:extLst>
          </p:cNvPr>
          <p:cNvSpPr/>
          <p:nvPr/>
        </p:nvSpPr>
        <p:spPr>
          <a:xfrm>
            <a:off x="1064568" y="5584795"/>
            <a:ext cx="3708412" cy="717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[logs]</a:t>
            </a:r>
          </a:p>
          <a:p>
            <a:pPr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runtime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	 :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온라인 프레임워크 로그 저장 경로</a:t>
            </a:r>
            <a:endParaRPr lang="en-US" altLang="ko-KR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ko-KR" sz="1050" b="1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wlp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	 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: WAS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관련 로그 저장 경로</a:t>
            </a:r>
            <a:endParaRPr lang="en-US" altLang="ko-KR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9" name="오른쪽으로 구부러진 화살표 6">
            <a:extLst>
              <a:ext uri="{FF2B5EF4-FFF2-40B4-BE49-F238E27FC236}">
                <a16:creationId xmlns:a16="http://schemas.microsoft.com/office/drawing/2014/main" id="{87B09A60-BCB0-4086-9834-3050067D19E1}"/>
              </a:ext>
            </a:extLst>
          </p:cNvPr>
          <p:cNvSpPr/>
          <p:nvPr/>
        </p:nvSpPr>
        <p:spPr>
          <a:xfrm>
            <a:off x="174850" y="2276856"/>
            <a:ext cx="805273" cy="3776226"/>
          </a:xfrm>
          <a:prstGeom prst="curvedRightArrow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A765418-F53F-48D6-A67D-DCF0AFD164B9}"/>
              </a:ext>
            </a:extLst>
          </p:cNvPr>
          <p:cNvSpPr/>
          <p:nvPr/>
        </p:nvSpPr>
        <p:spPr>
          <a:xfrm>
            <a:off x="3453551" y="263691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6C1B04D-10AD-469D-B2F0-735A01A00B44}"/>
              </a:ext>
            </a:extLst>
          </p:cNvPr>
          <p:cNvSpPr/>
          <p:nvPr/>
        </p:nvSpPr>
        <p:spPr>
          <a:xfrm>
            <a:off x="740532" y="184484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5DDA14F-09EE-4DEB-ADE6-D869DA08B42E}"/>
              </a:ext>
            </a:extLst>
          </p:cNvPr>
          <p:cNvSpPr/>
          <p:nvPr/>
        </p:nvSpPr>
        <p:spPr>
          <a:xfrm>
            <a:off x="839900" y="414908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E552D5-48FC-4B0C-8A42-3B37E0F421FC}"/>
              </a:ext>
            </a:extLst>
          </p:cNvPr>
          <p:cNvSpPr/>
          <p:nvPr/>
        </p:nvSpPr>
        <p:spPr>
          <a:xfrm>
            <a:off x="2288704" y="4545124"/>
            <a:ext cx="3060340" cy="638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[runtime]</a:t>
            </a:r>
          </a:p>
          <a:p>
            <a:pPr>
              <a:spcBef>
                <a:spcPts val="600"/>
              </a:spcBef>
            </a:pP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- </a:t>
            </a: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프레임워크 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WAR </a:t>
            </a: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이 포함된 런타임 기준 디렉토리</a:t>
            </a:r>
            <a:endParaRPr lang="en-US" altLang="ko-KR" sz="105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4" name="오른쪽으로 구부러진 화살표 23">
            <a:extLst>
              <a:ext uri="{FF2B5EF4-FFF2-40B4-BE49-F238E27FC236}">
                <a16:creationId xmlns:a16="http://schemas.microsoft.com/office/drawing/2014/main" id="{AE23E076-02CB-4927-966F-C5167B4BA513}"/>
              </a:ext>
            </a:extLst>
          </p:cNvPr>
          <p:cNvSpPr/>
          <p:nvPr/>
        </p:nvSpPr>
        <p:spPr>
          <a:xfrm rot="18198943">
            <a:off x="1454319" y="4344531"/>
            <a:ext cx="524819" cy="1383772"/>
          </a:xfrm>
          <a:prstGeom prst="curvedRightArrow">
            <a:avLst>
              <a:gd name="adj1" fmla="val 20828"/>
              <a:gd name="adj2" fmla="val 46037"/>
              <a:gd name="adj3" fmla="val 42481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EDC4359-F1F2-4A90-99CF-12E37D1F59CF}"/>
              </a:ext>
            </a:extLst>
          </p:cNvPr>
          <p:cNvSpPr/>
          <p:nvPr/>
        </p:nvSpPr>
        <p:spPr>
          <a:xfrm>
            <a:off x="1100572" y="4237504"/>
            <a:ext cx="900100" cy="235223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2EB35F0E-5F99-49D2-845E-97E58710D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 dirty="0"/>
              <a:t>C:/</a:t>
            </a:r>
            <a:r>
              <a:rPr lang="ko-KR" altLang="en-US" dirty="0"/>
              <a:t>설치 경로</a:t>
            </a:r>
            <a:r>
              <a:rPr lang="en-US" altLang="ko-KR" dirty="0"/>
              <a:t> </a:t>
            </a:r>
            <a:r>
              <a:rPr lang="ko-KR" altLang="en-US" dirty="0"/>
              <a:t>하위에 아래의 </a:t>
            </a:r>
            <a:r>
              <a:rPr lang="en-US" altLang="ko-KR" dirty="0"/>
              <a:t>sub directory </a:t>
            </a:r>
            <a:r>
              <a:rPr lang="ko-KR" altLang="en-US" dirty="0"/>
              <a:t>구성</a:t>
            </a:r>
          </a:p>
        </p:txBody>
      </p:sp>
    </p:spTree>
    <p:extLst>
      <p:ext uri="{BB962C8B-B14F-4D97-AF65-F5344CB8AC3E}">
        <p14:creationId xmlns:p14="http://schemas.microsoft.com/office/powerpoint/2010/main" val="348724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형상관리 연계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형상관리 연계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498E13F9-5EC1-4F46-9293-A2C74F93BF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 dirty="0"/>
              <a:t>KB </a:t>
            </a:r>
            <a:r>
              <a:rPr lang="ko-KR" altLang="en-US" dirty="0"/>
              <a:t>표준 오로라 </a:t>
            </a:r>
            <a:r>
              <a:rPr lang="ko-KR" altLang="en-US" dirty="0" err="1"/>
              <a:t>형상관리와</a:t>
            </a:r>
            <a:r>
              <a:rPr lang="ko-KR" altLang="en-US" dirty="0"/>
              <a:t> </a:t>
            </a:r>
            <a:r>
              <a:rPr lang="en-US" altLang="ko-KR" dirty="0"/>
              <a:t>eclipse plug-In </a:t>
            </a:r>
            <a:r>
              <a:rPr lang="ko-KR" altLang="en-US" dirty="0"/>
              <a:t>으로 연계하여 소스 </a:t>
            </a:r>
            <a:r>
              <a:rPr lang="ko-KR" altLang="en-US" dirty="0" err="1"/>
              <a:t>버전관리함</a:t>
            </a:r>
            <a:endParaRPr lang="en-US" altLang="ko-KR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3101773-00A9-4A30-852E-69B895354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9199"/>
              </p:ext>
            </p:extLst>
          </p:nvPr>
        </p:nvGraphicFramePr>
        <p:xfrm>
          <a:off x="3792123" y="3494833"/>
          <a:ext cx="5789138" cy="510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041">
                  <a:extLst>
                    <a:ext uri="{9D8B030D-6E8A-4147-A177-3AD203B41FA5}">
                      <a16:colId xmlns:a16="http://schemas.microsoft.com/office/drawing/2014/main" val="1174953418"/>
                    </a:ext>
                  </a:extLst>
                </a:gridCol>
                <a:gridCol w="3766097">
                  <a:extLst>
                    <a:ext uri="{9D8B030D-6E8A-4147-A177-3AD203B41FA5}">
                      <a16:colId xmlns:a16="http://schemas.microsoft.com/office/drawing/2014/main" val="1324365129"/>
                    </a:ext>
                  </a:extLst>
                </a:gridCol>
              </a:tblGrid>
              <a:tr h="20953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Repository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508921"/>
                  </a:ext>
                </a:extLst>
              </a:tr>
              <a:tr h="3006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SERVER-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유지보수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-2.0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각 업무팀 개발환경에 제공하는 로컬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runtime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393367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249CC20-9072-410E-9980-3BAF9239F43E}"/>
              </a:ext>
            </a:extLst>
          </p:cNvPr>
          <p:cNvCxnSpPr/>
          <p:nvPr/>
        </p:nvCxnSpPr>
        <p:spPr>
          <a:xfrm flipV="1">
            <a:off x="3265054" y="3717031"/>
            <a:ext cx="547497" cy="1"/>
          </a:xfrm>
          <a:prstGeom prst="straightConnector1">
            <a:avLst/>
          </a:prstGeom>
          <a:ln w="5080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726A480C-957A-4EB2-AAA1-7B7E5F8A90BA}"/>
              </a:ext>
            </a:extLst>
          </p:cNvPr>
          <p:cNvSpPr txBox="1">
            <a:spLocks/>
          </p:cNvSpPr>
          <p:nvPr/>
        </p:nvSpPr>
        <p:spPr>
          <a:xfrm>
            <a:off x="3605276" y="3291968"/>
            <a:ext cx="5976664" cy="1661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Repository</a:t>
            </a:r>
            <a:r>
              <a:rPr lang="ko-KR" altLang="en-US" sz="1200"/>
              <a:t> 명</a:t>
            </a:r>
            <a:r>
              <a:rPr lang="en-US" altLang="ko-KR" sz="1200"/>
              <a:t>:[IT-KB COMMON]</a:t>
            </a:r>
            <a:r>
              <a:rPr lang="ko-KR" altLang="en-US" sz="1200"/>
              <a:t>전행공통 모듈 </a:t>
            </a:r>
            <a:r>
              <a:rPr lang="en-US" altLang="ko-KR" sz="1200"/>
              <a:t>&gt; SQC &gt; </a:t>
            </a:r>
            <a:r>
              <a:rPr lang="en-US" altLang="ko-KR" sz="1200" b="1">
                <a:solidFill>
                  <a:srgbClr val="0000FF"/>
                </a:solidFill>
                <a:ea typeface="맑은 고딕" panose="020B0503020000020004" pitchFamily="50" charset="-127"/>
              </a:rPr>
              <a:t>SERVER-</a:t>
            </a:r>
            <a:r>
              <a:rPr lang="ko-KR" altLang="en-US" sz="1200" b="1">
                <a:solidFill>
                  <a:srgbClr val="0000FF"/>
                </a:solidFill>
                <a:ea typeface="맑은 고딕" panose="020B0503020000020004" pitchFamily="50" charset="-127"/>
              </a:rPr>
              <a:t>유지보수</a:t>
            </a:r>
            <a:r>
              <a:rPr lang="en-US" altLang="ko-KR" sz="1200" b="1">
                <a:solidFill>
                  <a:srgbClr val="0000FF"/>
                </a:solidFill>
                <a:ea typeface="맑은 고딕" panose="020B0503020000020004" pitchFamily="50" charset="-127"/>
              </a:rPr>
              <a:t>-2.0</a:t>
            </a:r>
            <a:r>
              <a:rPr lang="en-US" altLang="ko-KR" sz="1200" b="1">
                <a:solidFill>
                  <a:srgbClr val="0000FF"/>
                </a:solidFill>
              </a:rPr>
              <a:t> 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aphicFrame>
        <p:nvGraphicFramePr>
          <p:cNvPr id="27" name="표 61">
            <a:extLst>
              <a:ext uri="{FF2B5EF4-FFF2-40B4-BE49-F238E27FC236}">
                <a16:creationId xmlns:a16="http://schemas.microsoft.com/office/drawing/2014/main" id="{3D0B6205-F1DE-46B2-A68F-E0EFE2C8A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661479"/>
              </p:ext>
            </p:extLst>
          </p:nvPr>
        </p:nvGraphicFramePr>
        <p:xfrm>
          <a:off x="3807699" y="1841051"/>
          <a:ext cx="5789138" cy="939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6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Repository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sqc-comm-n2java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온라인 프로그램 소스 저장소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  <a:tr h="245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sqc-comm-n2config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프로파일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프로퍼티 저장소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22269"/>
                  </a:ext>
                </a:extLst>
              </a:tr>
              <a:tr h="245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sqc-comm-n2batch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배치 프로그램 소스 저장소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92033"/>
                  </a:ext>
                </a:extLst>
              </a:tr>
            </a:tbl>
          </a:graphicData>
        </a:graphic>
      </p:graphicFrame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3F274C8A-4533-4D9D-B592-07492327C23D}"/>
              </a:ext>
            </a:extLst>
          </p:cNvPr>
          <p:cNvSpPr txBox="1">
            <a:spLocks/>
          </p:cNvSpPr>
          <p:nvPr/>
        </p:nvSpPr>
        <p:spPr>
          <a:xfrm>
            <a:off x="3799911" y="1637925"/>
            <a:ext cx="5797605" cy="16645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itchFamily="34" charset="0"/>
              <a:buChar char="•"/>
            </a:pPr>
            <a:r>
              <a:rPr lang="en-US" altLang="ko-KR" sz="1200"/>
              <a:t>Repository </a:t>
            </a:r>
            <a:r>
              <a:rPr lang="ko-KR" altLang="en-US" sz="1200"/>
              <a:t>명 </a:t>
            </a:r>
            <a:r>
              <a:rPr lang="en-US" altLang="ko-KR" sz="1200"/>
              <a:t>: </a:t>
            </a:r>
            <a:r>
              <a:rPr lang="ko-KR" altLang="en-US" sz="1200"/>
              <a:t>개발</a:t>
            </a:r>
            <a:r>
              <a:rPr lang="en-US" altLang="ko-KR" sz="1200"/>
              <a:t>-</a:t>
            </a:r>
            <a:r>
              <a:rPr lang="ko-KR" altLang="en-US" sz="1200"/>
              <a:t>유지보수 프로젝트 </a:t>
            </a:r>
            <a:r>
              <a:rPr lang="en-US" altLang="ko-KR" sz="1200"/>
              <a:t>&gt; SQC &gt; SERVER-</a:t>
            </a:r>
            <a:r>
              <a:rPr lang="ko-KR" altLang="en-US" sz="1200"/>
              <a:t>유지보수</a:t>
            </a:r>
            <a:endParaRPr lang="ko-KR" altLang="en-US" sz="1200" dirty="0"/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304D1FA4-B499-49AF-9392-11E5E71EDE82}"/>
              </a:ext>
            </a:extLst>
          </p:cNvPr>
          <p:cNvSpPr txBox="1">
            <a:spLocks/>
          </p:cNvSpPr>
          <p:nvPr/>
        </p:nvSpPr>
        <p:spPr>
          <a:xfrm>
            <a:off x="495154" y="1138565"/>
            <a:ext cx="2405618" cy="1661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u="sng"/>
              <a:t>형상관리 </a:t>
            </a:r>
            <a:r>
              <a:rPr lang="en-US" altLang="ko-KR" sz="1200" b="1" u="sng"/>
              <a:t>Repository </a:t>
            </a:r>
            <a:r>
              <a:rPr lang="ko-KR" altLang="en-US" sz="1200" b="1" u="sng"/>
              <a:t>구조</a:t>
            </a:r>
            <a:endParaRPr lang="ko-KR" altLang="en-US" sz="1200" b="1" u="sng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4511E95-CCA7-404C-8A3A-3927E61800DA}"/>
              </a:ext>
            </a:extLst>
          </p:cNvPr>
          <p:cNvCxnSpPr/>
          <p:nvPr/>
        </p:nvCxnSpPr>
        <p:spPr>
          <a:xfrm flipV="1">
            <a:off x="3251777" y="2372402"/>
            <a:ext cx="547497" cy="1"/>
          </a:xfrm>
          <a:prstGeom prst="straightConnector1">
            <a:avLst/>
          </a:prstGeom>
          <a:ln w="5080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E04579B9-7E83-45A2-B54D-8F308C85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92" y="1379470"/>
            <a:ext cx="2783220" cy="276961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01FA63-49BA-4249-97DC-CDBA9C977497}"/>
              </a:ext>
            </a:extLst>
          </p:cNvPr>
          <p:cNvSpPr/>
          <p:nvPr/>
        </p:nvSpPr>
        <p:spPr>
          <a:xfrm>
            <a:off x="848711" y="3770851"/>
            <a:ext cx="1836037" cy="140928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80D00F-C1DE-4089-B730-A2247AA30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84" y="2382186"/>
            <a:ext cx="835344" cy="410661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CB600EF4-4871-4839-8FEB-8350E7AA443A}"/>
              </a:ext>
            </a:extLst>
          </p:cNvPr>
          <p:cNvSpPr/>
          <p:nvPr/>
        </p:nvSpPr>
        <p:spPr>
          <a:xfrm>
            <a:off x="848544" y="2372402"/>
            <a:ext cx="1836037" cy="444530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49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F694D3-6112-4392-A144-222394A0A6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9"/>
          <a:stretch/>
        </p:blipFill>
        <p:spPr>
          <a:xfrm>
            <a:off x="953968" y="1485413"/>
            <a:ext cx="2126824" cy="476707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896001" y="1338800"/>
            <a:ext cx="2648135" cy="4821517"/>
          </a:xfrm>
          <a:prstGeom prst="rect">
            <a:avLst/>
          </a:prstGeom>
          <a:noFill/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프레임워크 런타임</a:t>
            </a:r>
            <a:r>
              <a:rPr lang="en-US" altLang="ko-KR" dirty="0"/>
              <a:t> / </a:t>
            </a:r>
            <a:r>
              <a:rPr lang="ko-KR" altLang="en-US" dirty="0"/>
              <a:t>어플리케이션 배포</a:t>
            </a:r>
            <a:r>
              <a:rPr lang="en-US" altLang="ko-KR" dirty="0"/>
              <a:t> </a:t>
            </a:r>
            <a:r>
              <a:rPr lang="ko-KR" altLang="en-US" dirty="0"/>
              <a:t>디렉토리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프레임워크 런타임 디렉토리와 하위 </a:t>
            </a:r>
            <a:r>
              <a:rPr lang="en-US" altLang="ko-KR" dirty="0"/>
              <a:t>applications </a:t>
            </a:r>
            <a:r>
              <a:rPr lang="ko-KR" altLang="en-US" dirty="0"/>
              <a:t>디렉토리는 다음과 같다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배포</a:t>
            </a:r>
          </a:p>
        </p:txBody>
      </p:sp>
      <p:graphicFrame>
        <p:nvGraphicFramePr>
          <p:cNvPr id="8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97170"/>
              </p:ext>
            </p:extLst>
          </p:nvPr>
        </p:nvGraphicFramePr>
        <p:xfrm>
          <a:off x="4032544" y="1376770"/>
          <a:ext cx="5184576" cy="4806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489">
                  <a:extLst>
                    <a:ext uri="{9D8B030D-6E8A-4147-A177-3AD203B41FA5}">
                      <a16:colId xmlns:a16="http://schemas.microsoft.com/office/drawing/2014/main" val="1664255200"/>
                    </a:ext>
                  </a:extLst>
                </a:gridCol>
                <a:gridCol w="95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9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38">
                <a:tc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디렉토리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배포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applications/</a:t>
                      </a:r>
                      <a:b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__stage__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컴포넌트가 배포될 때 임시저장되는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staging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디렉토리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213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applications/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nkesa-batch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어플리케이션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디렉토리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로컬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서버 환경에서는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/fsapp/</a:t>
                      </a:r>
                      <a:r>
                        <a:rPr lang="en-US" altLang="ko-KR" sz="1000" i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wasdomain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/nkesa-batch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하위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classes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디렉토리가 배치 어플리케이션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loading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CLASSPATH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디렉토리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어플리케이션은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묶어 배포하지 않고 개별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파일로 그대로 배포함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643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applications/</a:t>
                      </a:r>
                      <a:b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nkesa-online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컴포넌트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파일이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위치하는 디렉토리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로컬 환경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서버 환경에서는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/fsapp/</a:t>
                      </a:r>
                      <a:r>
                        <a:rPr lang="en-US" altLang="ko-KR" sz="1000" i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wasdomain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/nkesa-online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디렉토리 하위에 다음과 같이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파일과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component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파일이 위치함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643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런타임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batch/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프레임워크 설정 파일 디렉토리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768912"/>
                  </a:ext>
                </a:extLst>
              </a:tr>
              <a:tr h="595643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batch/lib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프레임워크 전용 라이브러리 디렉토리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101776"/>
                  </a:ext>
                </a:extLst>
              </a:tr>
              <a:tr h="595643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런타임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WEB-INF/</a:t>
                      </a:r>
                      <a:b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classes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프레임워크 설정 파일 디렉토리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67811"/>
                  </a:ext>
                </a:extLst>
              </a:tr>
              <a:tr h="595643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WEB-INF</a:t>
                      </a:r>
                      <a:b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프레임워크 라이브러리 디렉토리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1169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83116" y="1099641"/>
            <a:ext cx="2307939" cy="2391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b="1" dirty="0">
                <a:cs typeface="Arial" pitchFamily="34" charset="0"/>
              </a:rPr>
              <a:t>프레임워크</a:t>
            </a:r>
            <a:r>
              <a:rPr lang="en-US" altLang="ko-KR" sz="1200" b="1" dirty="0">
                <a:cs typeface="Arial" pitchFamily="34" charset="0"/>
              </a:rPr>
              <a:t> </a:t>
            </a:r>
            <a:r>
              <a:rPr lang="ko-KR" altLang="en-US" sz="1200" b="1" dirty="0">
                <a:cs typeface="Arial" pitchFamily="34" charset="0"/>
              </a:rPr>
              <a:t>런타임 디렉토리 구조</a:t>
            </a: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2773075" y="2344209"/>
            <a:ext cx="2215929" cy="36118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29" idx="3"/>
          </p:cNvCxnSpPr>
          <p:nvPr/>
        </p:nvCxnSpPr>
        <p:spPr>
          <a:xfrm>
            <a:off x="2770280" y="2636625"/>
            <a:ext cx="2218724" cy="66245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1008879" y="1772816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0" name="직선 화살표 연결선 29"/>
          <p:cNvCxnSpPr>
            <a:cxnSpLocks/>
          </p:cNvCxnSpPr>
          <p:nvPr/>
        </p:nvCxnSpPr>
        <p:spPr>
          <a:xfrm>
            <a:off x="2775598" y="3042369"/>
            <a:ext cx="2213915" cy="10542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cxnSpLocks/>
            <a:stCxn id="35" idx="3"/>
          </p:cNvCxnSpPr>
          <p:nvPr/>
        </p:nvCxnSpPr>
        <p:spPr>
          <a:xfrm>
            <a:off x="2773075" y="3675217"/>
            <a:ext cx="2216438" cy="101221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cxnSpLocks/>
          </p:cNvCxnSpPr>
          <p:nvPr/>
        </p:nvCxnSpPr>
        <p:spPr>
          <a:xfrm flipV="1">
            <a:off x="2775598" y="5922494"/>
            <a:ext cx="2554604" cy="10536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cxnSpLocks/>
            <a:stCxn id="37" idx="3"/>
          </p:cNvCxnSpPr>
          <p:nvPr/>
        </p:nvCxnSpPr>
        <p:spPr>
          <a:xfrm flipV="1">
            <a:off x="2773075" y="5320366"/>
            <a:ext cx="2222629" cy="45868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26"/>
          <p:cNvSpPr/>
          <p:nvPr/>
        </p:nvSpPr>
        <p:spPr>
          <a:xfrm>
            <a:off x="1008879" y="2276872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1006084" y="2534424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006084" y="3067439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008879" y="3573016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1008879" y="5676845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1008879" y="5942414"/>
            <a:ext cx="1764196" cy="204401"/>
          </a:xfrm>
          <a:prstGeom prst="roundRect">
            <a:avLst/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161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개발 서버 어플리케이션 배포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형상관리에 </a:t>
            </a:r>
            <a:r>
              <a:rPr lang="en-US" altLang="ko-KR" b="1" dirty="0" err="1"/>
              <a:t>checkin</a:t>
            </a:r>
            <a:r>
              <a:rPr lang="ko-KR" altLang="en-US" dirty="0"/>
              <a:t>한 소스를 대상으로 개발 서버 배포를 수행함</a:t>
            </a:r>
            <a:r>
              <a:rPr lang="en-US" altLang="ko-KR" dirty="0"/>
              <a:t>. AP </a:t>
            </a:r>
            <a:r>
              <a:rPr lang="ko-KR" altLang="en-US" dirty="0"/>
              <a:t>서버에 설치된 </a:t>
            </a:r>
            <a:r>
              <a:rPr lang="en-US" altLang="ko-KR" dirty="0"/>
              <a:t>“</a:t>
            </a:r>
            <a:r>
              <a:rPr lang="ko-KR" altLang="en-US" b="1" dirty="0"/>
              <a:t>배포 에이전트</a:t>
            </a:r>
            <a:r>
              <a:rPr lang="en-US" altLang="ko-KR" b="1" dirty="0"/>
              <a:t>”</a:t>
            </a:r>
            <a:r>
              <a:rPr lang="ko-KR" altLang="en-US" dirty="0"/>
              <a:t>에 의해 주기적으로 실행됨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53" y="3248980"/>
            <a:ext cx="496847" cy="21856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900" b="1" dirty="0">
                <a:cs typeface="Arial" pitchFamily="34" charset="0"/>
              </a:rPr>
              <a:t>체크인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6041065" y="1597493"/>
            <a:ext cx="1683100" cy="1963235"/>
            <a:chOff x="4616571" y="2121675"/>
            <a:chExt cx="1683100" cy="2023543"/>
          </a:xfrm>
        </p:grpSpPr>
        <p:sp>
          <p:nvSpPr>
            <p:cNvPr id="18" name="직사각형 17"/>
            <p:cNvSpPr/>
            <p:nvPr/>
          </p:nvSpPr>
          <p:spPr>
            <a:xfrm rot="5400000">
              <a:off x="4441485" y="2375786"/>
              <a:ext cx="2018103" cy="1520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16571" y="2121675"/>
              <a:ext cx="1683100" cy="252179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00" b="1" dirty="0">
                  <a:cs typeface="Arial" pitchFamily="34" charset="0"/>
                </a:rPr>
                <a:t>개발 서버 </a:t>
              </a:r>
              <a:endParaRPr lang="en-US" altLang="ko-KR" sz="1000" b="1" dirty="0">
                <a:cs typeface="Arial" pitchFamily="34" charset="0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4854499" y="2457963"/>
              <a:ext cx="1192076" cy="593118"/>
              <a:chOff x="2180692" y="4633887"/>
              <a:chExt cx="1192076" cy="593118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21" name="직사각형 20"/>
              <p:cNvSpPr/>
              <p:nvPr/>
            </p:nvSpPr>
            <p:spPr>
              <a:xfrm>
                <a:off x="2180692" y="4838493"/>
                <a:ext cx="1192076" cy="206549"/>
              </a:xfrm>
              <a:prstGeom prst="rect">
                <a:avLst/>
              </a:prstGeom>
              <a:grpFill/>
              <a:ln w="6350" cap="flat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ko-KR" altLang="en-US" sz="900" dirty="0">
                    <a:solidFill>
                      <a:schemeClr val="tx1"/>
                    </a:solidFill>
                    <a:cs typeface="Arial" pitchFamily="34" charset="0"/>
                  </a:rPr>
                  <a:t>프레임워크 런타임</a:t>
                </a: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2180692" y="5020456"/>
                <a:ext cx="1192076" cy="206549"/>
              </a:xfrm>
              <a:prstGeom prst="rect">
                <a:avLst/>
              </a:prstGeom>
              <a:grpFill/>
              <a:ln w="6350" cap="flat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WAS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2180692" y="4633887"/>
                <a:ext cx="1192076" cy="206549"/>
              </a:xfrm>
              <a:prstGeom prst="rect">
                <a:avLst/>
              </a:prstGeom>
              <a:grpFill/>
              <a:ln w="6350" cap="flat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Applications</a:t>
                </a:r>
                <a:endParaRPr lang="ko-KR" altLang="en-US" sz="9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40" name="직사각형 39"/>
          <p:cNvSpPr/>
          <p:nvPr/>
        </p:nvSpPr>
        <p:spPr>
          <a:xfrm>
            <a:off x="1969829" y="1630763"/>
            <a:ext cx="1107877" cy="19094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064452" y="2051871"/>
            <a:ext cx="89058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NEXCORE</a:t>
            </a:r>
            <a:r>
              <a:rPr lang="ko-KR" altLang="en-US" sz="900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IDE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(eclipse)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064452" y="2923447"/>
            <a:ext cx="89058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Workspace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(source code)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90442" y="1687884"/>
            <a:ext cx="814047" cy="154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개발자</a:t>
            </a:r>
            <a:r>
              <a:rPr lang="en-US" altLang="ko-KR" sz="1000" b="1" dirty="0">
                <a:cs typeface="Arial" pitchFamily="34" charset="0"/>
              </a:rPr>
              <a:t> PC</a:t>
            </a:r>
            <a:br>
              <a:rPr lang="en-US" altLang="ko-KR" sz="1000" b="1" dirty="0">
                <a:cs typeface="Arial" pitchFamily="34" charset="0"/>
              </a:rPr>
            </a:br>
            <a:endParaRPr lang="en-US" altLang="ko-KR" sz="1000" b="1" dirty="0">
              <a:cs typeface="Arial" pitchFamily="34" charset="0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3968707" y="3524754"/>
            <a:ext cx="1428083" cy="444306"/>
            <a:chOff x="9955369" y="1462609"/>
            <a:chExt cx="924929" cy="1403917"/>
          </a:xfrm>
        </p:grpSpPr>
        <p:sp>
          <p:nvSpPr>
            <p:cNvPr id="46" name="직사각형 45"/>
            <p:cNvSpPr/>
            <p:nvPr/>
          </p:nvSpPr>
          <p:spPr>
            <a:xfrm rot="5400000">
              <a:off x="9715875" y="1702103"/>
              <a:ext cx="1403917" cy="924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106538" y="1955897"/>
              <a:ext cx="598143" cy="258771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00" b="1" dirty="0">
                  <a:cs typeface="Arial" pitchFamily="34" charset="0"/>
                </a:rPr>
                <a:t>형상관리</a:t>
              </a:r>
              <a:endParaRPr lang="en-US" altLang="ko-KR" sz="1000" b="1" dirty="0">
                <a:cs typeface="Arial" pitchFamily="34" charset="0"/>
              </a:endParaRPr>
            </a:p>
          </p:txBody>
        </p:sp>
      </p:grpSp>
      <p:sp>
        <p:nvSpPr>
          <p:cNvPr id="75" name="직사각형 74"/>
          <p:cNvSpPr/>
          <p:nvPr/>
        </p:nvSpPr>
        <p:spPr>
          <a:xfrm>
            <a:off x="6289993" y="3037986"/>
            <a:ext cx="1186576" cy="272102"/>
          </a:xfrm>
          <a:prstGeom prst="rect">
            <a:avLst/>
          </a:prstGeom>
          <a:solidFill>
            <a:schemeClr val="bg1"/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배포 에이전트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33293" y="2636777"/>
            <a:ext cx="858093" cy="350562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900" b="1">
                <a:cs typeface="Arial" pitchFamily="34" charset="0"/>
              </a:defRPr>
            </a:lvl1pPr>
          </a:lstStyle>
          <a:p>
            <a:pPr algn="ctr"/>
            <a:r>
              <a:rPr lang="en-US" altLang="ko-KR" b="0" dirty="0"/>
              <a:t>Ant </a:t>
            </a:r>
            <a:r>
              <a:rPr lang="ko-KR" altLang="en-US" b="0" dirty="0"/>
              <a:t>실행</a:t>
            </a:r>
            <a:endParaRPr lang="en-US" altLang="ko-KR" b="0" dirty="0"/>
          </a:p>
          <a:p>
            <a:pPr algn="ctr"/>
            <a:r>
              <a:rPr lang="en-US" altLang="ko-KR" b="0" dirty="0"/>
              <a:t>(</a:t>
            </a:r>
            <a:r>
              <a:rPr lang="en-US" altLang="ko-KR" dirty="0"/>
              <a:t>JAR</a:t>
            </a:r>
            <a:r>
              <a:rPr lang="en-US" altLang="ko-KR" b="0" dirty="0"/>
              <a:t> </a:t>
            </a:r>
            <a:r>
              <a:rPr lang="ko-KR" altLang="en-US" b="0" dirty="0" err="1"/>
              <a:t>패키징</a:t>
            </a:r>
            <a:r>
              <a:rPr lang="en-US" altLang="ko-KR" b="0" dirty="0"/>
              <a:t>)</a:t>
            </a:r>
            <a:endParaRPr lang="ko-KR" altLang="en-US" b="0" dirty="0"/>
          </a:p>
        </p:txBody>
      </p:sp>
      <p:cxnSp>
        <p:nvCxnSpPr>
          <p:cNvPr id="88" name="꺾인 연결선 87"/>
          <p:cNvCxnSpPr>
            <a:stCxn id="42" idx="3"/>
            <a:endCxn id="46" idx="2"/>
          </p:cNvCxnSpPr>
          <p:nvPr/>
        </p:nvCxnSpPr>
        <p:spPr>
          <a:xfrm>
            <a:off x="2955032" y="3103447"/>
            <a:ext cx="1013676" cy="643461"/>
          </a:xfrm>
          <a:prstGeom prst="bentConnector3">
            <a:avLst>
              <a:gd name="adj1" fmla="val 3061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2064452" y="2442780"/>
            <a:ext cx="89058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 dirty="0">
                <a:solidFill>
                  <a:schemeClr val="tx1"/>
                </a:solidFill>
                <a:cs typeface="Arial" pitchFamily="34" charset="0"/>
              </a:rPr>
              <a:t>형상관리 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Plugin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0" name="꺾인 연결선 89"/>
          <p:cNvCxnSpPr>
            <a:stCxn id="89" idx="3"/>
          </p:cNvCxnSpPr>
          <p:nvPr/>
        </p:nvCxnSpPr>
        <p:spPr>
          <a:xfrm>
            <a:off x="2955032" y="2622780"/>
            <a:ext cx="1013254" cy="999361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오른쪽 화살표 111"/>
          <p:cNvSpPr/>
          <p:nvPr/>
        </p:nvSpPr>
        <p:spPr>
          <a:xfrm rot="16200000">
            <a:off x="6357601" y="2688713"/>
            <a:ext cx="279932" cy="21602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3461659" y="3118822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6314471" y="3040156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7414986" y="2106660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3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graphicFrame>
        <p:nvGraphicFramePr>
          <p:cNvPr id="118" name="표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71657"/>
              </p:ext>
            </p:extLst>
          </p:nvPr>
        </p:nvGraphicFramePr>
        <p:xfrm>
          <a:off x="1028564" y="4502812"/>
          <a:ext cx="7632849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012">
                  <a:extLst>
                    <a:ext uri="{9D8B030D-6E8A-4147-A177-3AD203B41FA5}">
                      <a16:colId xmlns:a16="http://schemas.microsoft.com/office/drawing/2014/main" val="3507271964"/>
                    </a:ext>
                  </a:extLst>
                </a:gridCol>
                <a:gridCol w="5056854">
                  <a:extLst>
                    <a:ext uri="{9D8B030D-6E8A-4147-A177-3AD203B41FA5}">
                      <a16:colId xmlns:a16="http://schemas.microsoft.com/office/drawing/2014/main" val="655574096"/>
                    </a:ext>
                  </a:extLst>
                </a:gridCol>
                <a:gridCol w="1974983">
                  <a:extLst>
                    <a:ext uri="{9D8B030D-6E8A-4147-A177-3AD203B41FA5}">
                      <a16:colId xmlns:a16="http://schemas.microsoft.com/office/drawing/2014/main" val="2029066582"/>
                    </a:ext>
                  </a:extLst>
                </a:gridCol>
              </a:tblGrid>
              <a:tr h="2458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No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02518"/>
                  </a:ext>
                </a:extLst>
              </a:tr>
              <a:tr h="29137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aseline="0" dirty="0">
                          <a:latin typeface="+mn-ea"/>
                          <a:ea typeface="+mn-ea"/>
                        </a:rPr>
                        <a:t>Eclipse</a:t>
                      </a:r>
                      <a:r>
                        <a:rPr lang="ko-KR" altLang="en-US" sz="1100" baseline="0" dirty="0">
                          <a:latin typeface="+mn-ea"/>
                          <a:ea typeface="+mn-ea"/>
                        </a:rPr>
                        <a:t>형상관리 </a:t>
                      </a:r>
                      <a:r>
                        <a:rPr lang="en-US" altLang="ko-KR" sz="1100" baseline="0" dirty="0">
                          <a:latin typeface="+mn-ea"/>
                          <a:ea typeface="+mn-ea"/>
                        </a:rPr>
                        <a:t>Plugin </a:t>
                      </a:r>
                      <a:r>
                        <a:rPr lang="ko-KR" altLang="en-US" sz="1100" baseline="0" dirty="0">
                          <a:latin typeface="+mn-ea"/>
                          <a:ea typeface="+mn-ea"/>
                        </a:rPr>
                        <a:t>기능을 이용하여 형상 리포지토리로 소스코드 체크인</a:t>
                      </a:r>
                      <a:endParaRPr lang="en-US" altLang="ko-KR" sz="11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개발 체크인은 별도의 승인 절차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642213"/>
                  </a:ext>
                </a:extLst>
              </a:tr>
              <a:tr h="4058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AP </a:t>
                      </a: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서버에 설치된 배포 에이전트가 주기적으로</a:t>
                      </a:r>
                      <a:r>
                        <a:rPr lang="en-US" altLang="ko-KR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형상관리의 소스를 다운로드 받아 빌드 </a:t>
                      </a:r>
                      <a:r>
                        <a:rPr lang="en-US" altLang="ko-KR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&amp; </a:t>
                      </a: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배포 실행</a:t>
                      </a:r>
                      <a:endParaRPr lang="en-US" altLang="ko-KR" sz="11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마다 변경분만 다운받아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실행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839194"/>
                  </a:ext>
                </a:extLst>
              </a:tr>
              <a:tr h="17690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프레임워크 런타임은 </a:t>
                      </a:r>
                      <a:r>
                        <a:rPr lang="en-US" altLang="ko-KR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applications </a:t>
                      </a: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디렉토리 하위의 </a:t>
                      </a:r>
                      <a:r>
                        <a:rPr lang="en-US" altLang="ko-KR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jar </a:t>
                      </a: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파일 변경을 감지하여 즉시 </a:t>
                      </a:r>
                      <a:r>
                        <a:rPr lang="en-US" altLang="ko-KR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Reloading </a:t>
                      </a:r>
                      <a:r>
                        <a:rPr lang="ko-KR" altLang="en-US" sz="11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수행</a:t>
                      </a:r>
                      <a:endParaRPr lang="en-US" altLang="ko-KR" sz="11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서버는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즉시 로딩 설정</a:t>
                      </a:r>
                      <a:endParaRPr lang="en-US" altLang="ko-KR" sz="11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서버는 예약 배포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07460"/>
                  </a:ext>
                </a:extLst>
              </a:tr>
            </a:tbl>
          </a:graphicData>
        </a:graphic>
      </p:graphicFrame>
      <p:sp>
        <p:nvSpPr>
          <p:cNvPr id="119" name="타원 118"/>
          <p:cNvSpPr/>
          <p:nvPr/>
        </p:nvSpPr>
        <p:spPr>
          <a:xfrm>
            <a:off x="1244588" y="4869184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0" name="자유형 119"/>
          <p:cNvSpPr/>
          <p:nvPr/>
        </p:nvSpPr>
        <p:spPr>
          <a:xfrm>
            <a:off x="5457330" y="3310099"/>
            <a:ext cx="1063111" cy="444994"/>
          </a:xfrm>
          <a:custGeom>
            <a:avLst/>
            <a:gdLst>
              <a:gd name="connsiteX0" fmla="*/ 789646 w 1063111"/>
              <a:gd name="connsiteY0" fmla="*/ 0 h 444994"/>
              <a:gd name="connsiteX1" fmla="*/ 3433 w 1063111"/>
              <a:gd name="connsiteY1" fmla="*/ 444381 h 444994"/>
              <a:gd name="connsiteX2" fmla="*/ 1063111 w 1063111"/>
              <a:gd name="connsiteY2" fmla="*/ 76912 h 44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111" h="444994">
                <a:moveTo>
                  <a:pt x="789646" y="0"/>
                </a:moveTo>
                <a:cubicBezTo>
                  <a:pt x="373751" y="215781"/>
                  <a:pt x="-42144" y="431562"/>
                  <a:pt x="3433" y="444381"/>
                </a:cubicBezTo>
                <a:cubicBezTo>
                  <a:pt x="49010" y="457200"/>
                  <a:pt x="556060" y="267056"/>
                  <a:pt x="1063111" y="76912"/>
                </a:cubicBezTo>
              </a:path>
            </a:pathLst>
          </a:cu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/>
          <p:cNvSpPr/>
          <p:nvPr/>
        </p:nvSpPr>
        <p:spPr>
          <a:xfrm>
            <a:off x="1244588" y="5337236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1244588" y="5733280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3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배포</a:t>
            </a:r>
          </a:p>
        </p:txBody>
      </p:sp>
    </p:spTree>
    <p:extLst>
      <p:ext uri="{BB962C8B-B14F-4D97-AF65-F5344CB8AC3E}">
        <p14:creationId xmlns:p14="http://schemas.microsoft.com/office/powerpoint/2010/main" val="4231160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업무프로그램 적용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665182"/>
          </a:xfrm>
        </p:spPr>
        <p:txBody>
          <a:bodyPr/>
          <a:lstStyle/>
          <a:p>
            <a:r>
              <a:rPr lang="ko-KR" altLang="en-US" dirty="0"/>
              <a:t>프로그램 변경 적용 </a:t>
            </a:r>
            <a:r>
              <a:rPr lang="ko-KR" altLang="en-US" dirty="0" err="1"/>
              <a:t>요청시</a:t>
            </a:r>
            <a:r>
              <a:rPr lang="en-US" altLang="ko-KR" dirty="0"/>
              <a:t> </a:t>
            </a:r>
            <a:r>
              <a:rPr lang="en-US" altLang="ko-KR" b="1" dirty="0"/>
              <a:t>CM</a:t>
            </a:r>
            <a:r>
              <a:rPr lang="ko-KR" altLang="en-US" b="1" dirty="0"/>
              <a:t>적용요청일시</a:t>
            </a:r>
            <a:r>
              <a:rPr lang="ko-KR" altLang="en-US" dirty="0"/>
              <a:t> 와 </a:t>
            </a:r>
            <a:r>
              <a:rPr lang="ko-KR" altLang="en-US" b="1" dirty="0"/>
              <a:t>모듈적용일시</a:t>
            </a:r>
            <a:r>
              <a:rPr lang="ko-KR" altLang="en-US" dirty="0"/>
              <a:t>를 등록하고</a:t>
            </a:r>
            <a:r>
              <a:rPr lang="en-US" altLang="ko-KR" dirty="0"/>
              <a:t>, IQ+</a:t>
            </a:r>
            <a:r>
              <a:rPr lang="ko-KR" altLang="en-US" dirty="0"/>
              <a:t>에서 </a:t>
            </a:r>
            <a:r>
              <a:rPr lang="en-US" altLang="ko-KR" b="1" dirty="0"/>
              <a:t>CM</a:t>
            </a:r>
            <a:r>
              <a:rPr lang="ko-KR" altLang="en-US" b="1" dirty="0"/>
              <a:t>적용요청일시</a:t>
            </a:r>
            <a:r>
              <a:rPr lang="ko-KR" altLang="en-US" dirty="0"/>
              <a:t>에 </a:t>
            </a:r>
            <a:r>
              <a:rPr lang="ko-KR" altLang="en-US" dirty="0" err="1"/>
              <a:t>스테이징서버에서</a:t>
            </a:r>
            <a:r>
              <a:rPr lang="ko-KR" altLang="en-US" dirty="0"/>
              <a:t> </a:t>
            </a:r>
            <a:r>
              <a:rPr lang="ko-KR" altLang="en-US" dirty="0" err="1"/>
              <a:t>운영계서버에</a:t>
            </a:r>
            <a:r>
              <a:rPr lang="ko-KR" altLang="en-US" dirty="0"/>
              <a:t> </a:t>
            </a:r>
            <a:r>
              <a:rPr lang="ko-KR" altLang="en-US" dirty="0" err="1"/>
              <a:t>배포후</a:t>
            </a:r>
            <a:r>
              <a:rPr lang="ko-KR" altLang="en-US" dirty="0"/>
              <a:t> </a:t>
            </a:r>
            <a:r>
              <a:rPr lang="en-US" altLang="ko-KR" dirty="0"/>
              <a:t>FW</a:t>
            </a:r>
            <a:r>
              <a:rPr lang="ko-KR" altLang="en-US" dirty="0"/>
              <a:t>의 </a:t>
            </a:r>
            <a:r>
              <a:rPr lang="ko-KR" altLang="en-US" b="1" dirty="0"/>
              <a:t>모듈적용일시</a:t>
            </a:r>
            <a:r>
              <a:rPr lang="ko-KR" altLang="en-US" dirty="0"/>
              <a:t>를 </a:t>
            </a:r>
            <a:r>
              <a:rPr lang="ko-KR" altLang="en-US" dirty="0" err="1"/>
              <a:t>파라매터로</a:t>
            </a:r>
            <a:r>
              <a:rPr lang="ko-KR" altLang="en-US" dirty="0"/>
              <a:t> 하여 </a:t>
            </a:r>
            <a:r>
              <a:rPr lang="en-US" altLang="ko-KR" dirty="0" err="1"/>
              <a:t>HotDeploy</a:t>
            </a:r>
            <a:r>
              <a:rPr lang="en-US" altLang="ko-KR" dirty="0"/>
              <a:t> Shell</a:t>
            </a:r>
            <a:r>
              <a:rPr lang="ko-KR" altLang="en-US" dirty="0"/>
              <a:t>을 호출함</a:t>
            </a:r>
            <a:endParaRPr lang="en-US" altLang="ko-KR" dirty="0"/>
          </a:p>
          <a:p>
            <a:r>
              <a:rPr lang="en-US" altLang="ko-KR" dirty="0"/>
              <a:t>FW</a:t>
            </a:r>
            <a:r>
              <a:rPr lang="ko-KR" altLang="en-US" dirty="0"/>
              <a:t>에서는 </a:t>
            </a:r>
            <a:r>
              <a:rPr lang="en-US" altLang="ko-KR" dirty="0"/>
              <a:t>Timer</a:t>
            </a:r>
            <a:r>
              <a:rPr lang="ko-KR" altLang="en-US" dirty="0"/>
              <a:t>에 의해 모듈적용일시에 해당 </a:t>
            </a:r>
            <a:r>
              <a:rPr lang="en-US" altLang="ko-KR" dirty="0"/>
              <a:t>Shell</a:t>
            </a:r>
            <a:r>
              <a:rPr lang="ko-KR" altLang="en-US" dirty="0"/>
              <a:t>을 구동하여 운영 적용함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배포</a:t>
            </a:r>
          </a:p>
        </p:txBody>
      </p:sp>
      <p:sp>
        <p:nvSpPr>
          <p:cNvPr id="34" name="AutoShape 43"/>
          <p:cNvSpPr>
            <a:spLocks noChangeArrowheads="1"/>
          </p:cNvSpPr>
          <p:nvPr/>
        </p:nvSpPr>
        <p:spPr bwMode="auto">
          <a:xfrm>
            <a:off x="4422683" y="3678420"/>
            <a:ext cx="1876318" cy="1185863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</a:pPr>
            <a:r>
              <a:rPr lang="ko-KR" altLang="en-US" dirty="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통합품질관리시스템</a:t>
            </a:r>
            <a:r>
              <a:rPr lang="en-US" altLang="ko-KR" dirty="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(IQ+)</a:t>
            </a:r>
            <a:endParaRPr lang="ko-KR" altLang="en-US" dirty="0"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sp>
        <p:nvSpPr>
          <p:cNvPr id="35" name="AutoShape 45"/>
          <p:cNvSpPr>
            <a:spLocks noChangeArrowheads="1"/>
          </p:cNvSpPr>
          <p:nvPr/>
        </p:nvSpPr>
        <p:spPr bwMode="auto">
          <a:xfrm>
            <a:off x="3283434" y="1628800"/>
            <a:ext cx="1548000" cy="1724353"/>
          </a:xfrm>
          <a:prstGeom prst="roundRect">
            <a:avLst>
              <a:gd name="adj" fmla="val 6412"/>
            </a:avLst>
          </a:prstGeom>
          <a:solidFill>
            <a:srgbClr val="EAEAEA"/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스테이징계 서버</a:t>
            </a:r>
          </a:p>
        </p:txBody>
      </p:sp>
      <p:sp>
        <p:nvSpPr>
          <p:cNvPr id="36" name="AutoShape 47"/>
          <p:cNvSpPr>
            <a:spLocks noChangeArrowheads="1"/>
          </p:cNvSpPr>
          <p:nvPr/>
        </p:nvSpPr>
        <p:spPr bwMode="auto">
          <a:xfrm>
            <a:off x="5000310" y="1628800"/>
            <a:ext cx="1548000" cy="1724353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t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운영계 서버</a:t>
            </a:r>
          </a:p>
        </p:txBody>
      </p:sp>
      <p:sp>
        <p:nvSpPr>
          <p:cNvPr id="37" name="AutoShape 51"/>
          <p:cNvSpPr>
            <a:spLocks noChangeArrowheads="1"/>
          </p:cNvSpPr>
          <p:nvPr/>
        </p:nvSpPr>
        <p:spPr bwMode="auto">
          <a:xfrm>
            <a:off x="4757536" y="3887970"/>
            <a:ext cx="1158875" cy="635000"/>
          </a:xfrm>
          <a:prstGeom prst="flowChartMagneticDisk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buFont typeface="Wingdings" panose="05000000000000000000" pitchFamily="2" charset="2"/>
              <a:buNone/>
            </a:pPr>
            <a:r>
              <a:rPr kumimoji="0" lang="en-US" altLang="ko-KR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Aurora </a:t>
            </a:r>
          </a:p>
          <a:p>
            <a:pPr algn="ctr" latinLnBrk="0">
              <a:buFont typeface="Wingdings" panose="05000000000000000000" pitchFamily="2" charset="2"/>
              <a:buNone/>
            </a:pPr>
            <a:r>
              <a:rPr kumimoji="0" lang="en-US" altLang="ko-KR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Repository</a:t>
            </a:r>
          </a:p>
        </p:txBody>
      </p:sp>
      <p:sp>
        <p:nvSpPr>
          <p:cNvPr id="38" name="Rectangle 57"/>
          <p:cNvSpPr>
            <a:spLocks noChangeArrowheads="1"/>
          </p:cNvSpPr>
          <p:nvPr/>
        </p:nvSpPr>
        <p:spPr bwMode="auto">
          <a:xfrm>
            <a:off x="4204917" y="2795877"/>
            <a:ext cx="46038" cy="4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sp>
        <p:nvSpPr>
          <p:cNvPr id="39" name="Rectangle 65"/>
          <p:cNvSpPr>
            <a:spLocks noChangeArrowheads="1"/>
          </p:cNvSpPr>
          <p:nvPr/>
        </p:nvSpPr>
        <p:spPr bwMode="auto">
          <a:xfrm>
            <a:off x="5494136" y="3921308"/>
            <a:ext cx="46038" cy="4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sp>
        <p:nvSpPr>
          <p:cNvPr id="48" name="Rectangle 69"/>
          <p:cNvSpPr>
            <a:spLocks noChangeArrowheads="1"/>
          </p:cNvSpPr>
          <p:nvPr/>
        </p:nvSpPr>
        <p:spPr bwMode="auto">
          <a:xfrm>
            <a:off x="5108374" y="3934008"/>
            <a:ext cx="46038" cy="4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grpSp>
        <p:nvGrpSpPr>
          <p:cNvPr id="49" name="그룹 48"/>
          <p:cNvGrpSpPr/>
          <p:nvPr/>
        </p:nvGrpSpPr>
        <p:grpSpPr>
          <a:xfrm>
            <a:off x="2551866" y="3962583"/>
            <a:ext cx="718688" cy="716586"/>
            <a:chOff x="-182736" y="2168860"/>
            <a:chExt cx="718688" cy="716586"/>
          </a:xfrm>
        </p:grpSpPr>
        <p:pic>
          <p:nvPicPr>
            <p:cNvPr id="50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32361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직사각형 50"/>
            <p:cNvSpPr/>
            <p:nvPr/>
          </p:nvSpPr>
          <p:spPr>
            <a:xfrm>
              <a:off x="-182736" y="2706214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개발자</a:t>
              </a:r>
              <a:endParaRPr lang="en-US" altLang="ko-KR" sz="10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sp>
        <p:nvSpPr>
          <p:cNvPr id="52" name="타원 51"/>
          <p:cNvSpPr/>
          <p:nvPr/>
        </p:nvSpPr>
        <p:spPr>
          <a:xfrm>
            <a:off x="3163934" y="4231380"/>
            <a:ext cx="252000" cy="252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397954" y="2163467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 런타임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397954" y="2367617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WAS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397954" y="1967630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Applications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100412" y="2163467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 런타임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5100412" y="2367617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WAS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100412" y="1967630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Applications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397954" y="2676645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소스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357799" y="2676645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Jar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648210" y="2676645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Jar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 flipV="1">
            <a:off x="3127929" y="4159348"/>
            <a:ext cx="1620000" cy="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3163934" y="4555416"/>
            <a:ext cx="252000" cy="252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cxnSp>
        <p:nvCxnSpPr>
          <p:cNvPr id="64" name="직선 화살표 연결선 63"/>
          <p:cNvCxnSpPr>
            <a:stCxn id="59" idx="3"/>
            <a:endCxn id="60" idx="1"/>
          </p:cNvCxnSpPr>
          <p:nvPr/>
        </p:nvCxnSpPr>
        <p:spPr>
          <a:xfrm>
            <a:off x="3793954" y="2768054"/>
            <a:ext cx="56384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875452" y="2684958"/>
            <a:ext cx="373486" cy="17528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900" b="1">
                <a:cs typeface="Arial" pitchFamily="34" charset="0"/>
              </a:defRPr>
            </a:lvl1pPr>
          </a:lstStyle>
          <a:p>
            <a:pPr algn="ctr"/>
            <a:r>
              <a:rPr lang="en-US" altLang="ko-KR" b="0"/>
              <a:t>Ant</a:t>
            </a:r>
            <a:endParaRPr lang="ko-KR" altLang="en-US" b="0" dirty="0"/>
          </a:p>
        </p:txBody>
      </p:sp>
      <p:cxnSp>
        <p:nvCxnSpPr>
          <p:cNvPr id="66" name="AutoShape 55"/>
          <p:cNvCxnSpPr>
            <a:cxnSpLocks noChangeShapeType="1"/>
            <a:stCxn id="60" idx="3"/>
            <a:endCxn id="53" idx="3"/>
          </p:cNvCxnSpPr>
          <p:nvPr/>
        </p:nvCxnSpPr>
        <p:spPr bwMode="auto">
          <a:xfrm flipH="1" flipV="1">
            <a:off x="4750443" y="2263664"/>
            <a:ext cx="3356" cy="504390"/>
          </a:xfrm>
          <a:prstGeom prst="curvedConnector3">
            <a:avLst>
              <a:gd name="adj1" fmla="val -6811681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67" name="AutoShape 55"/>
          <p:cNvCxnSpPr>
            <a:cxnSpLocks noChangeShapeType="1"/>
            <a:stCxn id="61" idx="3"/>
            <a:endCxn id="56" idx="3"/>
          </p:cNvCxnSpPr>
          <p:nvPr/>
        </p:nvCxnSpPr>
        <p:spPr bwMode="auto">
          <a:xfrm flipV="1">
            <a:off x="6044210" y="2263664"/>
            <a:ext cx="408691" cy="504390"/>
          </a:xfrm>
          <a:prstGeom prst="curvedConnector3">
            <a:avLst>
              <a:gd name="adj1" fmla="val 155935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68" name="직사각형 67"/>
          <p:cNvSpPr/>
          <p:nvPr/>
        </p:nvSpPr>
        <p:spPr>
          <a:xfrm>
            <a:off x="5143733" y="3898633"/>
            <a:ext cx="87341" cy="9319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416853" y="3898633"/>
            <a:ext cx="87341" cy="9319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0" name="AutoShape 55"/>
          <p:cNvCxnSpPr>
            <a:cxnSpLocks noChangeShapeType="1"/>
            <a:stCxn id="37" idx="1"/>
            <a:endCxn id="59" idx="2"/>
          </p:cNvCxnSpPr>
          <p:nvPr/>
        </p:nvCxnSpPr>
        <p:spPr bwMode="auto">
          <a:xfrm rot="16200000" flipV="1">
            <a:off x="3952210" y="2503206"/>
            <a:ext cx="1028508" cy="1741020"/>
          </a:xfrm>
          <a:prstGeom prst="bentConnector3">
            <a:avLst>
              <a:gd name="adj1" fmla="val 31763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71" name="타원 70"/>
          <p:cNvSpPr/>
          <p:nvPr/>
        </p:nvSpPr>
        <p:spPr>
          <a:xfrm>
            <a:off x="5468214" y="3295252"/>
            <a:ext cx="252000" cy="252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1’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graphicFrame>
        <p:nvGraphicFramePr>
          <p:cNvPr id="7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86768"/>
              </p:ext>
            </p:extLst>
          </p:nvPr>
        </p:nvGraphicFramePr>
        <p:xfrm>
          <a:off x="2491335" y="4915432"/>
          <a:ext cx="4824536" cy="13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977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항목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처리내용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9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개발자가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적용요청일시 와 모듈적용일시 등록하여 요청함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9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적용요청일시에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IQMS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스테이징에서 운영으로 배포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  <a:tr h="2879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운영배포와 동시에 모듈적용일시를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파라메타로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cs typeface="Arial" pitchFamily="34" charset="0"/>
                        </a:rPr>
                        <a:t>HotDeploy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 Shell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호출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22269"/>
                  </a:ext>
                </a:extLst>
              </a:tr>
              <a:tr h="2879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모듈적용일시에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Timer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의해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cs typeface="Arial" pitchFamily="34" charset="0"/>
                        </a:rPr>
                        <a:t>HotDeploy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 Shell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구동되어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운영 적용 함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92033"/>
                  </a:ext>
                </a:extLst>
              </a:tr>
            </a:tbl>
          </a:graphicData>
        </a:graphic>
      </p:graphicFrame>
      <p:pic>
        <p:nvPicPr>
          <p:cNvPr id="7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318" y="2134255"/>
            <a:ext cx="227501" cy="227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73"/>
          <p:cNvSpPr txBox="1"/>
          <p:nvPr/>
        </p:nvSpPr>
        <p:spPr>
          <a:xfrm>
            <a:off x="3343954" y="4219633"/>
            <a:ext cx="1205647" cy="288032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CM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적용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요청 일시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848010" y="3373067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/>
              <a:t>즉시 반영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26439" y="4555392"/>
            <a:ext cx="1205647" cy="288032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모듈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적용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일시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cxnSp>
        <p:nvCxnSpPr>
          <p:cNvPr id="78" name="구부러진 연결선 77"/>
          <p:cNvCxnSpPr>
            <a:stCxn id="60" idx="2"/>
            <a:endCxn id="61" idx="2"/>
          </p:cNvCxnSpPr>
          <p:nvPr/>
        </p:nvCxnSpPr>
        <p:spPr>
          <a:xfrm rot="16200000" flipH="1">
            <a:off x="5201004" y="2214256"/>
            <a:ext cx="12700" cy="1290411"/>
          </a:xfrm>
          <a:prstGeom prst="curvedConnector3">
            <a:avLst>
              <a:gd name="adj1" fmla="val 8815386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>
            <a:off x="5803727" y="3007220"/>
            <a:ext cx="252000" cy="252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1’’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033120" y="3030666"/>
            <a:ext cx="1404156" cy="264586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HotDeploy Shell </a:t>
            </a: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호출</a:t>
            </a:r>
            <a:br>
              <a:rPr lang="en-US" altLang="ko-KR" sz="10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(CMID, </a:t>
            </a: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모듈적용일시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6667799" y="2397760"/>
            <a:ext cx="252000" cy="252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2’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2671355" y="514578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043564" y="515751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671355" y="544637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1’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671355" y="573443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1’’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2671355" y="603419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2’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792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6999"/>
          </a:xfrm>
        </p:spPr>
        <p:txBody>
          <a:bodyPr/>
          <a:lstStyle/>
          <a:p>
            <a:r>
              <a:rPr lang="ko-KR" altLang="en-US" dirty="0"/>
              <a:t>운영 서버 어플리케이션 배포 </a:t>
            </a:r>
            <a:r>
              <a:rPr lang="en-US" altLang="ko-KR" dirty="0"/>
              <a:t>(</a:t>
            </a:r>
            <a:r>
              <a:rPr lang="ko-KR" altLang="en-US" dirty="0"/>
              <a:t>운영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변경관리에 체크인한 소스를 대상으로 </a:t>
            </a:r>
            <a:r>
              <a:rPr lang="ko-KR" altLang="en-US" dirty="0" err="1"/>
              <a:t>스테이징</a:t>
            </a:r>
            <a:r>
              <a:rPr lang="ko-KR" altLang="en-US" dirty="0"/>
              <a:t> 서버 배포를 수행하며</a:t>
            </a:r>
            <a:r>
              <a:rPr lang="en-US" altLang="ko-KR" dirty="0"/>
              <a:t>, </a:t>
            </a:r>
            <a:r>
              <a:rPr lang="ko-KR" altLang="en-US" dirty="0" err="1"/>
              <a:t>스테이징</a:t>
            </a:r>
            <a:r>
              <a:rPr lang="ko-KR" altLang="en-US" dirty="0"/>
              <a:t> 서버에서의 테스트 완료 후 운영서버로 이관 및 운영 </a:t>
            </a:r>
            <a:r>
              <a:rPr lang="en-US" altLang="ko-KR" dirty="0"/>
              <a:t>AP </a:t>
            </a:r>
            <a:r>
              <a:rPr lang="ko-KR" altLang="en-US" dirty="0"/>
              <a:t>서버에 설치된 배포 에이전트에 의해 예약된 시간대에 반영됨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배포</a:t>
            </a:r>
          </a:p>
        </p:txBody>
      </p:sp>
      <p:sp>
        <p:nvSpPr>
          <p:cNvPr id="9" name="AutoShape 43"/>
          <p:cNvSpPr>
            <a:spLocks noChangeArrowheads="1"/>
          </p:cNvSpPr>
          <p:nvPr/>
        </p:nvSpPr>
        <p:spPr bwMode="auto">
          <a:xfrm>
            <a:off x="1981199" y="4948531"/>
            <a:ext cx="1930404" cy="1185863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</a:pPr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통합품질관리시스템</a:t>
            </a:r>
            <a:r>
              <a:rPr lang="en-US" altLang="ko-KR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(IQMS)</a:t>
            </a:r>
            <a:endParaRPr lang="ko-KR" altLang="en-US"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sp>
        <p:nvSpPr>
          <p:cNvPr id="11" name="AutoShape 45"/>
          <p:cNvSpPr>
            <a:spLocks noChangeArrowheads="1"/>
          </p:cNvSpPr>
          <p:nvPr/>
        </p:nvSpPr>
        <p:spPr bwMode="auto">
          <a:xfrm>
            <a:off x="2164317" y="2621147"/>
            <a:ext cx="1548000" cy="2002117"/>
          </a:xfrm>
          <a:prstGeom prst="roundRect">
            <a:avLst>
              <a:gd name="adj" fmla="val 6412"/>
            </a:avLst>
          </a:prstGeom>
          <a:solidFill>
            <a:srgbClr val="EAEAEA"/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스테이징계 서버</a:t>
            </a:r>
          </a:p>
        </p:txBody>
      </p:sp>
      <p:sp>
        <p:nvSpPr>
          <p:cNvPr id="13" name="AutoShape 47"/>
          <p:cNvSpPr>
            <a:spLocks noChangeArrowheads="1"/>
          </p:cNvSpPr>
          <p:nvPr/>
        </p:nvSpPr>
        <p:spPr bwMode="auto">
          <a:xfrm>
            <a:off x="3881193" y="2621147"/>
            <a:ext cx="1548000" cy="2002117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t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운영계 서버</a:t>
            </a:r>
          </a:p>
        </p:txBody>
      </p:sp>
      <p:sp>
        <p:nvSpPr>
          <p:cNvPr id="15" name="AutoShape 49"/>
          <p:cNvSpPr>
            <a:spLocks noChangeArrowheads="1"/>
          </p:cNvSpPr>
          <p:nvPr/>
        </p:nvSpPr>
        <p:spPr bwMode="auto">
          <a:xfrm>
            <a:off x="447442" y="2621147"/>
            <a:ext cx="1548000" cy="2002117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개발계 서버</a:t>
            </a:r>
          </a:p>
        </p:txBody>
      </p:sp>
      <p:sp>
        <p:nvSpPr>
          <p:cNvPr id="17" name="AutoShape 51"/>
          <p:cNvSpPr>
            <a:spLocks noChangeArrowheads="1"/>
          </p:cNvSpPr>
          <p:nvPr/>
        </p:nvSpPr>
        <p:spPr bwMode="auto">
          <a:xfrm>
            <a:off x="2370138" y="5158081"/>
            <a:ext cx="1158875" cy="635000"/>
          </a:xfrm>
          <a:prstGeom prst="flowChartMagneticDisk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buFont typeface="Wingdings" panose="05000000000000000000" pitchFamily="2" charset="2"/>
              <a:buNone/>
            </a:pPr>
            <a:r>
              <a:rPr kumimoji="0" lang="en-US" altLang="ko-KR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Aurora </a:t>
            </a:r>
          </a:p>
          <a:p>
            <a:pPr algn="ctr" latinLnBrk="0">
              <a:buFont typeface="Wingdings" panose="05000000000000000000" pitchFamily="2" charset="2"/>
              <a:buNone/>
            </a:pPr>
            <a:r>
              <a:rPr kumimoji="0" lang="en-US" altLang="ko-KR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Repository</a:t>
            </a:r>
          </a:p>
        </p:txBody>
      </p:sp>
      <p:cxnSp>
        <p:nvCxnSpPr>
          <p:cNvPr id="21" name="AutoShape 55"/>
          <p:cNvCxnSpPr>
            <a:cxnSpLocks noChangeShapeType="1"/>
            <a:stCxn id="236" idx="0"/>
            <a:endCxn id="195" idx="2"/>
          </p:cNvCxnSpPr>
          <p:nvPr/>
        </p:nvCxnSpPr>
        <p:spPr bwMode="auto">
          <a:xfrm rot="16200000" flipV="1">
            <a:off x="1090806" y="3459544"/>
            <a:ext cx="1340903" cy="2077498"/>
          </a:xfrm>
          <a:prstGeom prst="bentConnector3">
            <a:avLst>
              <a:gd name="adj1" fmla="val 29542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3" name="Rectangle 57"/>
          <p:cNvSpPr>
            <a:spLocks noChangeArrowheads="1"/>
          </p:cNvSpPr>
          <p:nvPr/>
        </p:nvSpPr>
        <p:spPr bwMode="auto">
          <a:xfrm>
            <a:off x="3085800" y="3976706"/>
            <a:ext cx="46038" cy="4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sp>
        <p:nvSpPr>
          <p:cNvPr id="25" name="Rectangle 59"/>
          <p:cNvSpPr>
            <a:spLocks noChangeArrowheads="1"/>
          </p:cNvSpPr>
          <p:nvPr/>
        </p:nvSpPr>
        <p:spPr bwMode="auto">
          <a:xfrm>
            <a:off x="1136651" y="3764256"/>
            <a:ext cx="44450" cy="4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sp>
        <p:nvSpPr>
          <p:cNvPr id="31" name="Rectangle 65"/>
          <p:cNvSpPr>
            <a:spLocks noChangeArrowheads="1"/>
          </p:cNvSpPr>
          <p:nvPr/>
        </p:nvSpPr>
        <p:spPr bwMode="auto">
          <a:xfrm>
            <a:off x="3106738" y="5191419"/>
            <a:ext cx="46038" cy="4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sp>
        <p:nvSpPr>
          <p:cNvPr id="35" name="Rectangle 69"/>
          <p:cNvSpPr>
            <a:spLocks noChangeArrowheads="1"/>
          </p:cNvSpPr>
          <p:nvPr/>
        </p:nvSpPr>
        <p:spPr bwMode="auto">
          <a:xfrm>
            <a:off x="2720976" y="5204119"/>
            <a:ext cx="46038" cy="4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36000" tIns="10800" rIns="36000" bIns="11430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buClr>
                <a:schemeClr val="tx1"/>
              </a:buClr>
            </a:pPr>
            <a:endParaRPr lang="ko-KR" altLang="en-US" sz="1000"/>
          </a:p>
        </p:txBody>
      </p:sp>
      <p:sp>
        <p:nvSpPr>
          <p:cNvPr id="37" name="Rectangle 100"/>
          <p:cNvSpPr>
            <a:spLocks noChangeArrowheads="1"/>
          </p:cNvSpPr>
          <p:nvPr/>
        </p:nvSpPr>
        <p:spPr bwMode="auto">
          <a:xfrm>
            <a:off x="273050" y="1571787"/>
            <a:ext cx="792163" cy="836256"/>
          </a:xfrm>
          <a:prstGeom prst="rect">
            <a:avLst/>
          </a:pr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54000" rIns="18000" bIns="54000" anchor="ctr"/>
          <a:lstStyle>
            <a:lvl1pPr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200">
                <a:latin typeface="+mj-ea"/>
                <a:ea typeface="+mj-ea"/>
              </a:rPr>
              <a:t>개발</a:t>
            </a:r>
            <a:endParaRPr lang="en-US" altLang="ko-KR" sz="1200">
              <a:latin typeface="+mj-ea"/>
              <a:ea typeface="+mj-ea"/>
            </a:endParaRPr>
          </a:p>
          <a:p>
            <a:pPr algn="ctr" latinLnBrk="0">
              <a:lnSpc>
                <a:spcPct val="120000"/>
              </a:lnSpc>
            </a:pPr>
            <a:r>
              <a:rPr lang="ko-KR" altLang="en-US" sz="1200">
                <a:latin typeface="+mj-ea"/>
                <a:ea typeface="+mj-ea"/>
              </a:rPr>
              <a:t>프로세스 </a:t>
            </a:r>
            <a:r>
              <a:rPr lang="ko-KR" altLang="en-US" sz="1200" baseline="30000">
                <a:latin typeface="+mj-ea"/>
                <a:ea typeface="+mj-ea"/>
              </a:rPr>
              <a:t>주</a:t>
            </a:r>
            <a:r>
              <a:rPr lang="en-US" altLang="ko-KR" sz="1200" baseline="30000">
                <a:latin typeface="+mj-ea"/>
                <a:ea typeface="+mj-ea"/>
              </a:rPr>
              <a:t>1)</a:t>
            </a:r>
          </a:p>
          <a:p>
            <a:pPr algn="ctr" latinLnBrk="0">
              <a:lnSpc>
                <a:spcPct val="120000"/>
              </a:lnSpc>
            </a:pPr>
            <a:r>
              <a:rPr lang="en-US" altLang="ko-KR" sz="1200">
                <a:latin typeface="+mj-ea"/>
                <a:ea typeface="+mj-ea"/>
              </a:rPr>
              <a:t>(</a:t>
            </a:r>
            <a:r>
              <a:rPr lang="ko-KR" altLang="en-US" sz="1200">
                <a:latin typeface="+mj-ea"/>
                <a:ea typeface="+mj-ea"/>
              </a:rPr>
              <a:t>변경관리</a:t>
            </a:r>
            <a:r>
              <a:rPr lang="en-US" altLang="ko-KR" sz="1200">
                <a:latin typeface="+mj-ea"/>
                <a:ea typeface="+mj-ea"/>
              </a:rPr>
              <a:t>)</a:t>
            </a:r>
          </a:p>
        </p:txBody>
      </p:sp>
      <p:sp>
        <p:nvSpPr>
          <p:cNvPr id="38" name="Rectangle 101"/>
          <p:cNvSpPr>
            <a:spLocks noChangeArrowheads="1"/>
          </p:cNvSpPr>
          <p:nvPr/>
        </p:nvSpPr>
        <p:spPr bwMode="auto">
          <a:xfrm>
            <a:off x="1136650" y="1573372"/>
            <a:ext cx="8532813" cy="847516"/>
          </a:xfrm>
          <a:prstGeom prst="rect">
            <a:avLst/>
          </a:prstGeom>
          <a:solidFill>
            <a:schemeClr val="bg1"/>
          </a:solidFill>
          <a:ln w="6350" cap="sq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marL="177800" indent="-1778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3200">
              <a:latin typeface="Arial" panose="020B0604020202020204" pitchFamily="34" charset="0"/>
            </a:endParaRPr>
          </a:p>
        </p:txBody>
      </p:sp>
      <p:sp>
        <p:nvSpPr>
          <p:cNvPr id="39" name="AutoShape 102"/>
          <p:cNvSpPr>
            <a:spLocks noChangeArrowheads="1"/>
          </p:cNvSpPr>
          <p:nvPr/>
        </p:nvSpPr>
        <p:spPr bwMode="auto">
          <a:xfrm>
            <a:off x="1247775" y="1607111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ko-KR" sz="800">
                <a:solidFill>
                  <a:srgbClr val="000000"/>
                </a:solidFill>
              </a:rPr>
              <a:t>CM</a:t>
            </a:r>
            <a:r>
              <a:rPr kumimoji="0" lang="ko-KR" altLang="en-US" sz="800">
                <a:solidFill>
                  <a:srgbClr val="000000"/>
                </a:solidFill>
              </a:rPr>
              <a:t>패키지 생성</a:t>
            </a:r>
          </a:p>
        </p:txBody>
      </p:sp>
      <p:cxnSp>
        <p:nvCxnSpPr>
          <p:cNvPr id="40" name="AutoShape 103"/>
          <p:cNvCxnSpPr>
            <a:cxnSpLocks noChangeShapeType="1"/>
            <a:stCxn id="39" idx="3"/>
            <a:endCxn id="41" idx="1"/>
          </p:cNvCxnSpPr>
          <p:nvPr/>
        </p:nvCxnSpPr>
        <p:spPr bwMode="gray">
          <a:xfrm>
            <a:off x="1895475" y="1756117"/>
            <a:ext cx="177800" cy="31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8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AutoShape 104"/>
          <p:cNvSpPr>
            <a:spLocks noChangeArrowheads="1"/>
          </p:cNvSpPr>
          <p:nvPr/>
        </p:nvSpPr>
        <p:spPr bwMode="auto">
          <a:xfrm>
            <a:off x="2073275" y="1610281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변경신청 승인</a:t>
            </a:r>
          </a:p>
        </p:txBody>
      </p:sp>
      <p:cxnSp>
        <p:nvCxnSpPr>
          <p:cNvPr id="42" name="AutoShape 105"/>
          <p:cNvCxnSpPr>
            <a:cxnSpLocks noChangeShapeType="1"/>
            <a:stCxn id="41" idx="3"/>
            <a:endCxn id="43" idx="1"/>
          </p:cNvCxnSpPr>
          <p:nvPr/>
        </p:nvCxnSpPr>
        <p:spPr bwMode="gray">
          <a:xfrm>
            <a:off x="2720975" y="1759287"/>
            <a:ext cx="206375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AutoShape 106"/>
          <p:cNvSpPr>
            <a:spLocks noChangeArrowheads="1"/>
          </p:cNvSpPr>
          <p:nvPr/>
        </p:nvSpPr>
        <p:spPr bwMode="auto">
          <a:xfrm>
            <a:off x="2927350" y="1610281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개발</a:t>
            </a:r>
            <a:r>
              <a:rPr kumimoji="0" lang="en-US" altLang="ko-KR" sz="800">
                <a:solidFill>
                  <a:srgbClr val="000000"/>
                </a:solidFill>
              </a:rPr>
              <a:t>/</a:t>
            </a:r>
            <a:r>
              <a:rPr kumimoji="0" lang="ko-KR" altLang="en-US" sz="800">
                <a:solidFill>
                  <a:srgbClr val="000000"/>
                </a:solidFill>
              </a:rPr>
              <a:t>변경실시</a:t>
            </a:r>
          </a:p>
        </p:txBody>
      </p:sp>
      <p:cxnSp>
        <p:nvCxnSpPr>
          <p:cNvPr id="44" name="AutoShape 107"/>
          <p:cNvCxnSpPr>
            <a:cxnSpLocks noChangeShapeType="1"/>
            <a:stCxn id="43" idx="3"/>
            <a:endCxn id="45" idx="1"/>
          </p:cNvCxnSpPr>
          <p:nvPr/>
        </p:nvCxnSpPr>
        <p:spPr bwMode="gray">
          <a:xfrm flipV="1">
            <a:off x="3575050" y="1757702"/>
            <a:ext cx="1851025" cy="15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8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AutoShape 108"/>
          <p:cNvSpPr>
            <a:spLocks noChangeArrowheads="1"/>
          </p:cNvSpPr>
          <p:nvPr/>
        </p:nvSpPr>
        <p:spPr bwMode="auto">
          <a:xfrm>
            <a:off x="5426075" y="1608696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변경적용검토</a:t>
            </a:r>
          </a:p>
        </p:txBody>
      </p:sp>
      <p:cxnSp>
        <p:nvCxnSpPr>
          <p:cNvPr id="46" name="AutoShape 109"/>
          <p:cNvCxnSpPr>
            <a:cxnSpLocks noChangeShapeType="1"/>
            <a:stCxn id="45" idx="3"/>
            <a:endCxn id="47" idx="1"/>
          </p:cNvCxnSpPr>
          <p:nvPr/>
        </p:nvCxnSpPr>
        <p:spPr bwMode="gray">
          <a:xfrm>
            <a:off x="6073775" y="1757702"/>
            <a:ext cx="207963" cy="15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8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AutoShape 110"/>
          <p:cNvSpPr>
            <a:spLocks noChangeArrowheads="1"/>
          </p:cNvSpPr>
          <p:nvPr/>
        </p:nvSpPr>
        <p:spPr bwMode="auto">
          <a:xfrm>
            <a:off x="6281738" y="1610281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변경적용결재</a:t>
            </a:r>
          </a:p>
        </p:txBody>
      </p:sp>
      <p:cxnSp>
        <p:nvCxnSpPr>
          <p:cNvPr id="48" name="AutoShape 111"/>
          <p:cNvCxnSpPr>
            <a:cxnSpLocks noChangeShapeType="1"/>
            <a:stCxn id="47" idx="3"/>
            <a:endCxn id="49" idx="1"/>
          </p:cNvCxnSpPr>
          <p:nvPr/>
        </p:nvCxnSpPr>
        <p:spPr bwMode="gray">
          <a:xfrm flipV="1">
            <a:off x="6929438" y="1756117"/>
            <a:ext cx="236538" cy="31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8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AutoShape 112"/>
          <p:cNvSpPr>
            <a:spLocks noChangeArrowheads="1"/>
          </p:cNvSpPr>
          <p:nvPr/>
        </p:nvSpPr>
        <p:spPr bwMode="auto">
          <a:xfrm>
            <a:off x="7165975" y="1610281"/>
            <a:ext cx="647700" cy="291671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변경적용승인</a:t>
            </a:r>
          </a:p>
        </p:txBody>
      </p:sp>
      <p:cxnSp>
        <p:nvCxnSpPr>
          <p:cNvPr id="50" name="AutoShape 113"/>
          <p:cNvCxnSpPr>
            <a:cxnSpLocks noChangeShapeType="1"/>
            <a:stCxn id="49" idx="3"/>
            <a:endCxn id="51" idx="1"/>
          </p:cNvCxnSpPr>
          <p:nvPr/>
        </p:nvCxnSpPr>
        <p:spPr bwMode="gray">
          <a:xfrm>
            <a:off x="7813675" y="1756117"/>
            <a:ext cx="223838" cy="31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8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AutoShape 114"/>
          <p:cNvSpPr>
            <a:spLocks noChangeArrowheads="1"/>
          </p:cNvSpPr>
          <p:nvPr/>
        </p:nvSpPr>
        <p:spPr bwMode="auto">
          <a:xfrm>
            <a:off x="8037513" y="1610281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변경적용승인</a:t>
            </a:r>
          </a:p>
        </p:txBody>
      </p:sp>
      <p:cxnSp>
        <p:nvCxnSpPr>
          <p:cNvPr id="52" name="AutoShape 115"/>
          <p:cNvCxnSpPr>
            <a:cxnSpLocks noChangeShapeType="1"/>
            <a:stCxn id="51" idx="3"/>
            <a:endCxn id="53" idx="1"/>
          </p:cNvCxnSpPr>
          <p:nvPr/>
        </p:nvCxnSpPr>
        <p:spPr bwMode="gray">
          <a:xfrm>
            <a:off x="8685213" y="1759287"/>
            <a:ext cx="228600" cy="1268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8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AutoShape 116"/>
          <p:cNvSpPr>
            <a:spLocks noChangeArrowheads="1"/>
          </p:cNvSpPr>
          <p:nvPr/>
        </p:nvSpPr>
        <p:spPr bwMode="auto">
          <a:xfrm>
            <a:off x="8913813" y="1610281"/>
            <a:ext cx="647700" cy="298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rgbClr val="000000"/>
                </a:solidFill>
              </a:rPr>
              <a:t>변경적용</a:t>
            </a:r>
          </a:p>
        </p:txBody>
      </p:sp>
      <p:grpSp>
        <p:nvGrpSpPr>
          <p:cNvPr id="54" name="Group 181"/>
          <p:cNvGrpSpPr>
            <a:grpSpLocks/>
          </p:cNvGrpSpPr>
          <p:nvPr/>
        </p:nvGrpSpPr>
        <p:grpSpPr bwMode="auto">
          <a:xfrm>
            <a:off x="1203325" y="1830620"/>
            <a:ext cx="230188" cy="310693"/>
            <a:chOff x="741" y="1133"/>
            <a:chExt cx="145" cy="196"/>
          </a:xfrm>
        </p:grpSpPr>
        <p:grpSp>
          <p:nvGrpSpPr>
            <p:cNvPr id="85" name="Group 182"/>
            <p:cNvGrpSpPr>
              <a:grpSpLocks/>
            </p:cNvGrpSpPr>
            <p:nvPr/>
          </p:nvGrpSpPr>
          <p:grpSpPr bwMode="auto">
            <a:xfrm>
              <a:off x="774" y="1133"/>
              <a:ext cx="71" cy="117"/>
              <a:chOff x="476" y="2387"/>
              <a:chExt cx="91" cy="135"/>
            </a:xfrm>
          </p:grpSpPr>
          <p:sp>
            <p:nvSpPr>
              <p:cNvPr id="87" name="AutoShape 183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88" name="Oval 184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86" name="Rectangle 185"/>
            <p:cNvSpPr>
              <a:spLocks noChangeArrowheads="1"/>
            </p:cNvSpPr>
            <p:nvPr/>
          </p:nvSpPr>
          <p:spPr bwMode="gray">
            <a:xfrm>
              <a:off x="741" y="1255"/>
              <a:ext cx="145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개발자</a:t>
              </a:r>
            </a:p>
          </p:txBody>
        </p:sp>
      </p:grpSp>
      <p:grpSp>
        <p:nvGrpSpPr>
          <p:cNvPr id="55" name="Group 186"/>
          <p:cNvGrpSpPr>
            <a:grpSpLocks/>
          </p:cNvGrpSpPr>
          <p:nvPr/>
        </p:nvGrpSpPr>
        <p:grpSpPr bwMode="auto">
          <a:xfrm>
            <a:off x="1912938" y="1833790"/>
            <a:ext cx="490538" cy="310693"/>
            <a:chOff x="1150" y="1132"/>
            <a:chExt cx="309" cy="196"/>
          </a:xfrm>
        </p:grpSpPr>
        <p:grpSp>
          <p:nvGrpSpPr>
            <p:cNvPr id="81" name="Group 187"/>
            <p:cNvGrpSpPr>
              <a:grpSpLocks/>
            </p:cNvGrpSpPr>
            <p:nvPr/>
          </p:nvGrpSpPr>
          <p:grpSpPr bwMode="auto">
            <a:xfrm>
              <a:off x="1268" y="1132"/>
              <a:ext cx="71" cy="117"/>
              <a:chOff x="476" y="2387"/>
              <a:chExt cx="91" cy="135"/>
            </a:xfrm>
          </p:grpSpPr>
          <p:sp>
            <p:nvSpPr>
              <p:cNvPr id="83" name="AutoShape 188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84" name="Oval 189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82" name="Rectangle 190"/>
            <p:cNvSpPr>
              <a:spLocks noChangeArrowheads="1"/>
            </p:cNvSpPr>
            <p:nvPr/>
          </p:nvSpPr>
          <p:spPr bwMode="gray">
            <a:xfrm>
              <a:off x="1150" y="1254"/>
              <a:ext cx="309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변경관리담당자</a:t>
              </a:r>
            </a:p>
          </p:txBody>
        </p:sp>
      </p:grpSp>
      <p:grpSp>
        <p:nvGrpSpPr>
          <p:cNvPr id="56" name="Group 191"/>
          <p:cNvGrpSpPr>
            <a:grpSpLocks/>
          </p:cNvGrpSpPr>
          <p:nvPr/>
        </p:nvGrpSpPr>
        <p:grpSpPr bwMode="auto">
          <a:xfrm>
            <a:off x="2882900" y="1833790"/>
            <a:ext cx="230188" cy="310693"/>
            <a:chOff x="1713" y="1133"/>
            <a:chExt cx="145" cy="196"/>
          </a:xfrm>
        </p:grpSpPr>
        <p:grpSp>
          <p:nvGrpSpPr>
            <p:cNvPr id="77" name="Group 192"/>
            <p:cNvGrpSpPr>
              <a:grpSpLocks/>
            </p:cNvGrpSpPr>
            <p:nvPr/>
          </p:nvGrpSpPr>
          <p:grpSpPr bwMode="auto">
            <a:xfrm>
              <a:off x="1746" y="1133"/>
              <a:ext cx="71" cy="117"/>
              <a:chOff x="476" y="2387"/>
              <a:chExt cx="91" cy="135"/>
            </a:xfrm>
          </p:grpSpPr>
          <p:sp>
            <p:nvSpPr>
              <p:cNvPr id="79" name="AutoShape 193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80" name="Oval 194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78" name="Rectangle 195"/>
            <p:cNvSpPr>
              <a:spLocks noChangeArrowheads="1"/>
            </p:cNvSpPr>
            <p:nvPr/>
          </p:nvSpPr>
          <p:spPr bwMode="gray">
            <a:xfrm>
              <a:off x="1713" y="1255"/>
              <a:ext cx="145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개발자</a:t>
              </a:r>
            </a:p>
          </p:txBody>
        </p:sp>
      </p:grpSp>
      <p:grpSp>
        <p:nvGrpSpPr>
          <p:cNvPr id="57" name="Group 196"/>
          <p:cNvGrpSpPr>
            <a:grpSpLocks/>
          </p:cNvGrpSpPr>
          <p:nvPr/>
        </p:nvGrpSpPr>
        <p:grpSpPr bwMode="auto">
          <a:xfrm>
            <a:off x="5289550" y="1846471"/>
            <a:ext cx="360363" cy="310693"/>
            <a:chOff x="3637" y="1127"/>
            <a:chExt cx="227" cy="196"/>
          </a:xfrm>
        </p:grpSpPr>
        <p:grpSp>
          <p:nvGrpSpPr>
            <p:cNvPr id="73" name="Group 197"/>
            <p:cNvGrpSpPr>
              <a:grpSpLocks/>
            </p:cNvGrpSpPr>
            <p:nvPr/>
          </p:nvGrpSpPr>
          <p:grpSpPr bwMode="auto">
            <a:xfrm>
              <a:off x="3713" y="1127"/>
              <a:ext cx="71" cy="117"/>
              <a:chOff x="476" y="2387"/>
              <a:chExt cx="91" cy="135"/>
            </a:xfrm>
          </p:grpSpPr>
          <p:sp>
            <p:nvSpPr>
              <p:cNvPr id="75" name="AutoShape 198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76" name="Oval 199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74" name="Rectangle 200"/>
            <p:cNvSpPr>
              <a:spLocks noChangeArrowheads="1"/>
            </p:cNvSpPr>
            <p:nvPr/>
          </p:nvSpPr>
          <p:spPr bwMode="gray">
            <a:xfrm>
              <a:off x="3637" y="1249"/>
              <a:ext cx="227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변경검토자</a:t>
              </a:r>
            </a:p>
          </p:txBody>
        </p:sp>
      </p:grpSp>
      <p:grpSp>
        <p:nvGrpSpPr>
          <p:cNvPr id="58" name="Group 201"/>
          <p:cNvGrpSpPr>
            <a:grpSpLocks/>
          </p:cNvGrpSpPr>
          <p:nvPr/>
        </p:nvGrpSpPr>
        <p:grpSpPr bwMode="auto">
          <a:xfrm>
            <a:off x="6176963" y="1848056"/>
            <a:ext cx="295275" cy="310693"/>
            <a:chOff x="4151" y="1128"/>
            <a:chExt cx="186" cy="196"/>
          </a:xfrm>
        </p:grpSpPr>
        <p:grpSp>
          <p:nvGrpSpPr>
            <p:cNvPr id="69" name="Group 202"/>
            <p:cNvGrpSpPr>
              <a:grpSpLocks/>
            </p:cNvGrpSpPr>
            <p:nvPr/>
          </p:nvGrpSpPr>
          <p:grpSpPr bwMode="auto">
            <a:xfrm>
              <a:off x="4207" y="1128"/>
              <a:ext cx="71" cy="117"/>
              <a:chOff x="476" y="2387"/>
              <a:chExt cx="91" cy="135"/>
            </a:xfrm>
          </p:grpSpPr>
          <p:sp>
            <p:nvSpPr>
              <p:cNvPr id="71" name="AutoShape 203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72" name="Oval 204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70" name="Rectangle 205"/>
            <p:cNvSpPr>
              <a:spLocks noChangeArrowheads="1"/>
            </p:cNvSpPr>
            <p:nvPr/>
          </p:nvSpPr>
          <p:spPr bwMode="gray">
            <a:xfrm>
              <a:off x="4151" y="1250"/>
              <a:ext cx="186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개발팀장</a:t>
              </a:r>
            </a:p>
          </p:txBody>
        </p:sp>
      </p:grpSp>
      <p:grpSp>
        <p:nvGrpSpPr>
          <p:cNvPr id="59" name="Group 206"/>
          <p:cNvGrpSpPr>
            <a:grpSpLocks/>
          </p:cNvGrpSpPr>
          <p:nvPr/>
        </p:nvGrpSpPr>
        <p:grpSpPr bwMode="auto">
          <a:xfrm>
            <a:off x="6931025" y="1844886"/>
            <a:ext cx="490538" cy="307523"/>
            <a:chOff x="4649" y="1126"/>
            <a:chExt cx="309" cy="194"/>
          </a:xfrm>
        </p:grpSpPr>
        <p:grpSp>
          <p:nvGrpSpPr>
            <p:cNvPr id="65" name="Group 207"/>
            <p:cNvGrpSpPr>
              <a:grpSpLocks/>
            </p:cNvGrpSpPr>
            <p:nvPr/>
          </p:nvGrpSpPr>
          <p:grpSpPr bwMode="auto">
            <a:xfrm>
              <a:off x="4769" y="1126"/>
              <a:ext cx="71" cy="117"/>
              <a:chOff x="554" y="2377"/>
              <a:chExt cx="91" cy="135"/>
            </a:xfrm>
          </p:grpSpPr>
          <p:sp>
            <p:nvSpPr>
              <p:cNvPr id="67" name="AutoShape 208"/>
              <p:cNvSpPr>
                <a:spLocks noChangeArrowheads="1"/>
              </p:cNvSpPr>
              <p:nvPr/>
            </p:nvSpPr>
            <p:spPr bwMode="auto">
              <a:xfrm>
                <a:off x="554" y="242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68" name="Oval 209"/>
              <p:cNvSpPr>
                <a:spLocks noChangeArrowheads="1"/>
              </p:cNvSpPr>
              <p:nvPr/>
            </p:nvSpPr>
            <p:spPr bwMode="auto">
              <a:xfrm>
                <a:off x="554" y="2377"/>
                <a:ext cx="91" cy="91"/>
              </a:xfrm>
              <a:prstGeom prst="ellipse">
                <a:avLst/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66" name="Rectangle 210"/>
            <p:cNvSpPr>
              <a:spLocks noChangeArrowheads="1"/>
            </p:cNvSpPr>
            <p:nvPr/>
          </p:nvSpPr>
          <p:spPr bwMode="gray">
            <a:xfrm>
              <a:off x="4649" y="1246"/>
              <a:ext cx="309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변경관리담당자</a:t>
              </a:r>
            </a:p>
          </p:txBody>
        </p:sp>
      </p:grpSp>
      <p:grpSp>
        <p:nvGrpSpPr>
          <p:cNvPr id="60" name="Group 211"/>
          <p:cNvGrpSpPr>
            <a:grpSpLocks/>
          </p:cNvGrpSpPr>
          <p:nvPr/>
        </p:nvGrpSpPr>
        <p:grpSpPr bwMode="auto">
          <a:xfrm>
            <a:off x="7875588" y="1851227"/>
            <a:ext cx="425450" cy="310693"/>
            <a:chOff x="5093" y="1135"/>
            <a:chExt cx="268" cy="196"/>
          </a:xfrm>
        </p:grpSpPr>
        <p:grpSp>
          <p:nvGrpSpPr>
            <p:cNvPr id="61" name="Group 212"/>
            <p:cNvGrpSpPr>
              <a:grpSpLocks/>
            </p:cNvGrpSpPr>
            <p:nvPr/>
          </p:nvGrpSpPr>
          <p:grpSpPr bwMode="auto">
            <a:xfrm>
              <a:off x="5192" y="1135"/>
              <a:ext cx="71" cy="117"/>
              <a:chOff x="476" y="2387"/>
              <a:chExt cx="91" cy="135"/>
            </a:xfrm>
          </p:grpSpPr>
          <p:sp>
            <p:nvSpPr>
              <p:cNvPr id="63" name="AutoShape 213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64" name="Oval 214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62" name="Rectangle 215"/>
            <p:cNvSpPr>
              <a:spLocks noChangeArrowheads="1"/>
            </p:cNvSpPr>
            <p:nvPr/>
          </p:nvSpPr>
          <p:spPr bwMode="gray">
            <a:xfrm>
              <a:off x="5093" y="1257"/>
              <a:ext cx="268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rgbClr val="000000"/>
                  </a:solidFill>
                </a:rPr>
                <a:t>변경관리팀장</a:t>
              </a:r>
            </a:p>
          </p:txBody>
        </p:sp>
      </p:grpSp>
      <p:sp>
        <p:nvSpPr>
          <p:cNvPr id="158" name="AutoShape 27"/>
          <p:cNvSpPr>
            <a:spLocks noChangeArrowheads="1"/>
          </p:cNvSpPr>
          <p:nvPr/>
        </p:nvSpPr>
        <p:spPr bwMode="auto">
          <a:xfrm>
            <a:off x="3819525" y="1621620"/>
            <a:ext cx="647700" cy="2889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chemeClr val="bg1">
                    <a:lumMod val="65000"/>
                  </a:schemeClr>
                </a:solidFill>
              </a:rPr>
              <a:t>통합테스트</a:t>
            </a:r>
          </a:p>
        </p:txBody>
      </p:sp>
      <p:grpSp>
        <p:nvGrpSpPr>
          <p:cNvPr id="159" name="Group 29"/>
          <p:cNvGrpSpPr>
            <a:grpSpLocks/>
          </p:cNvGrpSpPr>
          <p:nvPr/>
        </p:nvGrpSpPr>
        <p:grpSpPr bwMode="auto">
          <a:xfrm>
            <a:off x="3654429" y="1834345"/>
            <a:ext cx="430213" cy="314325"/>
            <a:chOff x="2188" y="1133"/>
            <a:chExt cx="271" cy="198"/>
          </a:xfrm>
        </p:grpSpPr>
        <p:grpSp>
          <p:nvGrpSpPr>
            <p:cNvPr id="160" name="Group 30"/>
            <p:cNvGrpSpPr>
              <a:grpSpLocks/>
            </p:cNvGrpSpPr>
            <p:nvPr/>
          </p:nvGrpSpPr>
          <p:grpSpPr bwMode="auto">
            <a:xfrm>
              <a:off x="2287" y="1133"/>
              <a:ext cx="71" cy="117"/>
              <a:chOff x="536" y="2387"/>
              <a:chExt cx="91" cy="135"/>
            </a:xfrm>
          </p:grpSpPr>
          <p:sp>
            <p:nvSpPr>
              <p:cNvPr id="162" name="AutoShape 31"/>
              <p:cNvSpPr>
                <a:spLocks noChangeArrowheads="1"/>
              </p:cNvSpPr>
              <p:nvPr/>
            </p:nvSpPr>
            <p:spPr bwMode="auto">
              <a:xfrm>
                <a:off x="53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63" name="Oval 32"/>
              <p:cNvSpPr>
                <a:spLocks noChangeArrowheads="1"/>
              </p:cNvSpPr>
              <p:nvPr/>
            </p:nvSpPr>
            <p:spPr bwMode="auto">
              <a:xfrm>
                <a:off x="536" y="2387"/>
                <a:ext cx="91" cy="91"/>
              </a:xfrm>
              <a:prstGeom prst="ellipse">
                <a:avLst/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161" name="Rectangle 33"/>
            <p:cNvSpPr>
              <a:spLocks noChangeArrowheads="1"/>
            </p:cNvSpPr>
            <p:nvPr/>
          </p:nvSpPr>
          <p:spPr bwMode="gray">
            <a:xfrm>
              <a:off x="2188" y="1255"/>
              <a:ext cx="271" cy="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chemeClr val="bg1">
                      <a:lumMod val="65000"/>
                    </a:schemeClr>
                  </a:solidFill>
                </a:rPr>
                <a:t>테스트관리팀</a:t>
              </a:r>
            </a:p>
          </p:txBody>
        </p:sp>
      </p:grpSp>
      <p:sp>
        <p:nvSpPr>
          <p:cNvPr id="164" name="AutoShape 41"/>
          <p:cNvSpPr>
            <a:spLocks noChangeArrowheads="1"/>
          </p:cNvSpPr>
          <p:nvPr/>
        </p:nvSpPr>
        <p:spPr bwMode="auto">
          <a:xfrm>
            <a:off x="4592638" y="1623208"/>
            <a:ext cx="647700" cy="2889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ko-KR" altLang="en-US" sz="800">
                <a:solidFill>
                  <a:schemeClr val="bg1">
                    <a:lumMod val="65000"/>
                  </a:schemeClr>
                </a:solidFill>
              </a:rPr>
              <a:t>인수테스트</a:t>
            </a:r>
          </a:p>
        </p:txBody>
      </p:sp>
      <p:grpSp>
        <p:nvGrpSpPr>
          <p:cNvPr id="165" name="Group 42"/>
          <p:cNvGrpSpPr>
            <a:grpSpLocks/>
          </p:cNvGrpSpPr>
          <p:nvPr/>
        </p:nvGrpSpPr>
        <p:grpSpPr bwMode="auto">
          <a:xfrm>
            <a:off x="4494221" y="1834345"/>
            <a:ext cx="300038" cy="314325"/>
            <a:chOff x="3169" y="1129"/>
            <a:chExt cx="189" cy="198"/>
          </a:xfrm>
        </p:grpSpPr>
        <p:grpSp>
          <p:nvGrpSpPr>
            <p:cNvPr id="166" name="Group 43"/>
            <p:cNvGrpSpPr>
              <a:grpSpLocks/>
            </p:cNvGrpSpPr>
            <p:nvPr/>
          </p:nvGrpSpPr>
          <p:grpSpPr bwMode="auto">
            <a:xfrm>
              <a:off x="3226" y="1129"/>
              <a:ext cx="71" cy="117"/>
              <a:chOff x="476" y="2387"/>
              <a:chExt cx="91" cy="135"/>
            </a:xfrm>
          </p:grpSpPr>
          <p:sp>
            <p:nvSpPr>
              <p:cNvPr id="168" name="AutoShape 44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91" cy="90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69" name="Oval 45"/>
              <p:cNvSpPr>
                <a:spLocks noChangeArrowheads="1"/>
              </p:cNvSpPr>
              <p:nvPr/>
            </p:nvSpPr>
            <p:spPr bwMode="auto">
              <a:xfrm>
                <a:off x="476" y="2387"/>
                <a:ext cx="91" cy="91"/>
              </a:xfrm>
              <a:prstGeom prst="ellipse">
                <a:avLst/>
              </a:prstGeom>
              <a:solidFill>
                <a:srgbClr val="C0C0C0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1pPr>
                <a:lvl2pPr marL="742950" indent="-28575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2pPr>
                <a:lvl3pPr marL="11430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3pPr>
                <a:lvl4pPr marL="16002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4pPr>
                <a:lvl5pPr marL="2057400" indent="-228600" eaLnBrk="0" hangingPunct="0"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-2002" panose="02030504000101010101" pitchFamily="18" charset="-127"/>
                    <a:ea typeface="-2002" panose="02030504000101010101" pitchFamily="18" charset="-127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167" name="Rectangle 46"/>
            <p:cNvSpPr>
              <a:spLocks noChangeArrowheads="1"/>
            </p:cNvSpPr>
            <p:nvPr/>
          </p:nvSpPr>
          <p:spPr bwMode="gray">
            <a:xfrm>
              <a:off x="3169" y="1251"/>
              <a:ext cx="189" cy="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>
              <a:spAutoFit/>
            </a:bodyPr>
            <a:lstStyle>
              <a:lvl1pPr marL="457200" indent="-4572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defTabSz="250825" eaLnBrk="0" hangingPunct="0"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defTabSz="2508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16613" algn="l"/>
                </a:tabLst>
                <a:defRPr kumimoji="1" sz="1100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40000"/>
                </a:spcBef>
              </a:pPr>
              <a:r>
                <a:rPr kumimoji="0" lang="ko-KR" altLang="en-US" sz="600">
                  <a:solidFill>
                    <a:schemeClr val="bg1">
                      <a:lumMod val="65000"/>
                    </a:schemeClr>
                  </a:solidFill>
                </a:rPr>
                <a:t>본부부서</a:t>
              </a:r>
            </a:p>
          </p:txBody>
        </p:sp>
      </p:grpSp>
      <p:sp>
        <p:nvSpPr>
          <p:cNvPr id="170" name="AutoShape 27"/>
          <p:cNvSpPr>
            <a:spLocks noChangeArrowheads="1"/>
          </p:cNvSpPr>
          <p:nvPr/>
        </p:nvSpPr>
        <p:spPr bwMode="auto">
          <a:xfrm>
            <a:off x="3730625" y="1571786"/>
            <a:ext cx="1555749" cy="3921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0" lang="ko-KR" altLang="en-US" sz="800">
              <a:solidFill>
                <a:srgbClr val="000000"/>
              </a:solidFill>
            </a:endParaRPr>
          </a:p>
        </p:txBody>
      </p:sp>
      <p:sp>
        <p:nvSpPr>
          <p:cNvPr id="4" name="오른쪽 중괄호 3"/>
          <p:cNvSpPr/>
          <p:nvPr/>
        </p:nvSpPr>
        <p:spPr>
          <a:xfrm rot="5400000">
            <a:off x="4433052" y="1443534"/>
            <a:ext cx="137739" cy="1558925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Rectangle 46"/>
          <p:cNvSpPr>
            <a:spLocks noChangeArrowheads="1"/>
          </p:cNvSpPr>
          <p:nvPr/>
        </p:nvSpPr>
        <p:spPr bwMode="gray">
          <a:xfrm>
            <a:off x="3732968" y="2305217"/>
            <a:ext cx="1519129" cy="119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marL="457200" indent="-4572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defTabSz="250825" eaLnBrk="0" hangingPunct="0"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defTabSz="250825" eaLnBrk="0" fontAlgn="base" hangingPunct="0">
              <a:spcBef>
                <a:spcPct val="0"/>
              </a:spcBef>
              <a:spcAft>
                <a:spcPct val="0"/>
              </a:spcAft>
              <a:tabLst>
                <a:tab pos="5916613" algn="l"/>
              </a:tabLs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lnSpc>
                <a:spcPct val="90000"/>
              </a:lnSpc>
              <a:spcBef>
                <a:spcPct val="40000"/>
              </a:spcBef>
            </a:pPr>
            <a:r>
              <a:rPr kumimoji="0" lang="ko-KR" altLang="en-US" sz="600">
                <a:solidFill>
                  <a:schemeClr val="bg1">
                    <a:lumMod val="65000"/>
                  </a:schemeClr>
                </a:solidFill>
              </a:rPr>
              <a:t>변경관리의 일반 프로세스는 상기 </a:t>
            </a:r>
            <a:r>
              <a:rPr kumimoji="0" lang="en-US" altLang="ko-KR" sz="60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kumimoji="0" lang="ko-KR" altLang="en-US" sz="600">
                <a:solidFill>
                  <a:schemeClr val="bg1">
                    <a:lumMod val="65000"/>
                  </a:schemeClr>
                </a:solidFill>
              </a:rPr>
              <a:t>단계 추가 포함</a:t>
            </a:r>
          </a:p>
        </p:txBody>
      </p:sp>
      <p:grpSp>
        <p:nvGrpSpPr>
          <p:cNvPr id="173" name="그룹 172"/>
          <p:cNvGrpSpPr/>
          <p:nvPr/>
        </p:nvGrpSpPr>
        <p:grpSpPr>
          <a:xfrm>
            <a:off x="597908" y="5232694"/>
            <a:ext cx="718688" cy="716586"/>
            <a:chOff x="-182736" y="2168860"/>
            <a:chExt cx="718688" cy="716586"/>
          </a:xfrm>
        </p:grpSpPr>
        <p:pic>
          <p:nvPicPr>
            <p:cNvPr id="174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32361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" name="직사각형 174"/>
            <p:cNvSpPr/>
            <p:nvPr/>
          </p:nvSpPr>
          <p:spPr>
            <a:xfrm>
              <a:off x="-182736" y="2706214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개발자</a:t>
              </a:r>
              <a:endParaRPr lang="en-US" altLang="ko-KR" sz="10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로컬 </a:t>
              </a:r>
              <a:r>
                <a:rPr lang="en-US" altLang="ko-KR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PC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sp>
        <p:nvSpPr>
          <p:cNvPr id="176" name="타원 175"/>
          <p:cNvSpPr/>
          <p:nvPr/>
        </p:nvSpPr>
        <p:spPr>
          <a:xfrm>
            <a:off x="1388962" y="507310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524507" y="4110279"/>
            <a:ext cx="1352489" cy="190853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배포 에이전트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524507" y="3131846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 런타임</a:t>
            </a:r>
          </a:p>
        </p:txBody>
      </p:sp>
      <p:sp>
        <p:nvSpPr>
          <p:cNvPr id="183" name="직사각형 182"/>
          <p:cNvSpPr/>
          <p:nvPr/>
        </p:nvSpPr>
        <p:spPr>
          <a:xfrm>
            <a:off x="524507" y="3335996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WAS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524507" y="2936009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Applications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2278837" y="3131846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 런타임</a:t>
            </a:r>
          </a:p>
        </p:txBody>
      </p:sp>
      <p:sp>
        <p:nvSpPr>
          <p:cNvPr id="186" name="직사각형 185"/>
          <p:cNvSpPr/>
          <p:nvPr/>
        </p:nvSpPr>
        <p:spPr>
          <a:xfrm>
            <a:off x="2278837" y="3335996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WAS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278837" y="2936009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Applications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981295" y="3131846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 런타임</a:t>
            </a:r>
          </a:p>
        </p:txBody>
      </p:sp>
      <p:sp>
        <p:nvSpPr>
          <p:cNvPr id="189" name="직사각형 188"/>
          <p:cNvSpPr/>
          <p:nvPr/>
        </p:nvSpPr>
        <p:spPr>
          <a:xfrm>
            <a:off x="3981295" y="3335996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WAS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3981295" y="2936009"/>
            <a:ext cx="1352489" cy="2003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Applications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524508" y="3645024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소스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1485964" y="3645024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Jar</a:t>
            </a:r>
          </a:p>
        </p:txBody>
      </p:sp>
      <p:sp>
        <p:nvSpPr>
          <p:cNvPr id="197" name="직사각형 196"/>
          <p:cNvSpPr/>
          <p:nvPr/>
        </p:nvSpPr>
        <p:spPr>
          <a:xfrm>
            <a:off x="2278837" y="4289522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소스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3238682" y="4289522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Jar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4941979" y="4290299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Jar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08" name="직선 화살표 연결선 207"/>
          <p:cNvCxnSpPr/>
          <p:nvPr/>
        </p:nvCxnSpPr>
        <p:spPr>
          <a:xfrm flipH="1">
            <a:off x="1312069" y="5373216"/>
            <a:ext cx="10580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/>
          <p:cNvCxnSpPr/>
          <p:nvPr/>
        </p:nvCxnSpPr>
        <p:spPr>
          <a:xfrm flipV="1">
            <a:off x="1318419" y="5589240"/>
            <a:ext cx="1051719" cy="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타원 212"/>
          <p:cNvSpPr/>
          <p:nvPr/>
        </p:nvSpPr>
        <p:spPr>
          <a:xfrm>
            <a:off x="1388962" y="56309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cxnSp>
        <p:nvCxnSpPr>
          <p:cNvPr id="215" name="직선 화살표 연결선 214"/>
          <p:cNvCxnSpPr>
            <a:stCxn id="195" idx="3"/>
            <a:endCxn id="196" idx="1"/>
          </p:cNvCxnSpPr>
          <p:nvPr/>
        </p:nvCxnSpPr>
        <p:spPr>
          <a:xfrm>
            <a:off x="920508" y="3736433"/>
            <a:ext cx="56545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995312" y="3653337"/>
            <a:ext cx="373486" cy="17528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900" b="1">
                <a:cs typeface="Arial" pitchFamily="34" charset="0"/>
              </a:defRPr>
            </a:lvl1pPr>
          </a:lstStyle>
          <a:p>
            <a:pPr algn="ctr"/>
            <a:r>
              <a:rPr lang="en-US" altLang="ko-KR" b="0"/>
              <a:t>Ant</a:t>
            </a:r>
            <a:endParaRPr lang="ko-KR" altLang="en-US" b="0" dirty="0"/>
          </a:p>
        </p:txBody>
      </p:sp>
      <p:cxnSp>
        <p:nvCxnSpPr>
          <p:cNvPr id="218" name="직선 화살표 연결선 217"/>
          <p:cNvCxnSpPr>
            <a:stCxn id="197" idx="3"/>
            <a:endCxn id="198" idx="1"/>
          </p:cNvCxnSpPr>
          <p:nvPr/>
        </p:nvCxnSpPr>
        <p:spPr>
          <a:xfrm>
            <a:off x="2674837" y="4380931"/>
            <a:ext cx="56384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2756335" y="4297835"/>
            <a:ext cx="373486" cy="17528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900" b="1">
                <a:cs typeface="Arial" pitchFamily="34" charset="0"/>
              </a:defRPr>
            </a:lvl1pPr>
          </a:lstStyle>
          <a:p>
            <a:pPr algn="ctr"/>
            <a:r>
              <a:rPr lang="en-US" altLang="ko-KR" b="0"/>
              <a:t>Ant</a:t>
            </a:r>
            <a:endParaRPr lang="ko-KR" altLang="en-US" b="0" dirty="0"/>
          </a:p>
        </p:txBody>
      </p:sp>
      <p:cxnSp>
        <p:nvCxnSpPr>
          <p:cNvPr id="221" name="AutoShape 55"/>
          <p:cNvCxnSpPr>
            <a:cxnSpLocks noChangeShapeType="1"/>
            <a:stCxn id="196" idx="3"/>
            <a:endCxn id="182" idx="3"/>
          </p:cNvCxnSpPr>
          <p:nvPr/>
        </p:nvCxnSpPr>
        <p:spPr bwMode="auto">
          <a:xfrm flipH="1" flipV="1">
            <a:off x="1876996" y="3232043"/>
            <a:ext cx="4968" cy="504390"/>
          </a:xfrm>
          <a:prstGeom prst="curvedConnector3">
            <a:avLst>
              <a:gd name="adj1" fmla="val -4601449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225" name="AutoShape 55"/>
          <p:cNvCxnSpPr>
            <a:cxnSpLocks noChangeShapeType="1"/>
            <a:stCxn id="135" idx="3"/>
            <a:endCxn id="185" idx="3"/>
          </p:cNvCxnSpPr>
          <p:nvPr/>
        </p:nvCxnSpPr>
        <p:spPr bwMode="auto">
          <a:xfrm flipV="1">
            <a:off x="3620852" y="3232043"/>
            <a:ext cx="10474" cy="516740"/>
          </a:xfrm>
          <a:prstGeom prst="curvedConnector3">
            <a:avLst>
              <a:gd name="adj1" fmla="val 2282547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229" name="AutoShape 55"/>
          <p:cNvCxnSpPr>
            <a:cxnSpLocks noChangeShapeType="1"/>
            <a:stCxn id="146" idx="3"/>
            <a:endCxn id="188" idx="3"/>
          </p:cNvCxnSpPr>
          <p:nvPr/>
        </p:nvCxnSpPr>
        <p:spPr bwMode="auto">
          <a:xfrm flipV="1">
            <a:off x="5316298" y="3232043"/>
            <a:ext cx="17486" cy="518222"/>
          </a:xfrm>
          <a:prstGeom prst="curvedConnector3">
            <a:avLst>
              <a:gd name="adj1" fmla="val 1407332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36" name="직사각형 235"/>
          <p:cNvSpPr/>
          <p:nvPr/>
        </p:nvSpPr>
        <p:spPr>
          <a:xfrm>
            <a:off x="2756335" y="5168744"/>
            <a:ext cx="87341" cy="9319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3029455" y="5168744"/>
            <a:ext cx="87341" cy="9319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39" name="AutoShape 55"/>
          <p:cNvCxnSpPr>
            <a:cxnSpLocks noChangeShapeType="1"/>
            <a:stCxn id="237" idx="0"/>
            <a:endCxn id="197" idx="2"/>
          </p:cNvCxnSpPr>
          <p:nvPr/>
        </p:nvCxnSpPr>
        <p:spPr bwMode="auto">
          <a:xfrm rot="16200000" flipV="1">
            <a:off x="2426780" y="4522397"/>
            <a:ext cx="696405" cy="596289"/>
          </a:xfrm>
          <a:prstGeom prst="bentConnector3">
            <a:avLst>
              <a:gd name="adj1" fmla="val 67180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45" name="타원 244"/>
          <p:cNvSpPr/>
          <p:nvPr/>
        </p:nvSpPr>
        <p:spPr>
          <a:xfrm>
            <a:off x="1736278" y="467984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46" name="타원 245"/>
          <p:cNvSpPr/>
          <p:nvPr/>
        </p:nvSpPr>
        <p:spPr>
          <a:xfrm>
            <a:off x="2957908" y="467984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47" name="타원 246"/>
          <p:cNvSpPr/>
          <p:nvPr/>
        </p:nvSpPr>
        <p:spPr>
          <a:xfrm>
            <a:off x="3967524" y="361261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48" name="타원 247"/>
          <p:cNvSpPr/>
          <p:nvPr/>
        </p:nvSpPr>
        <p:spPr>
          <a:xfrm>
            <a:off x="2770630" y="2154769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3010569" y="2154769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0" name="타원 249"/>
          <p:cNvSpPr/>
          <p:nvPr/>
        </p:nvSpPr>
        <p:spPr>
          <a:xfrm>
            <a:off x="3242593" y="2154769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1" name="타원 250"/>
          <p:cNvSpPr/>
          <p:nvPr/>
        </p:nvSpPr>
        <p:spPr>
          <a:xfrm>
            <a:off x="3474617" y="2154769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2" name="타원 251"/>
          <p:cNvSpPr/>
          <p:nvPr/>
        </p:nvSpPr>
        <p:spPr>
          <a:xfrm>
            <a:off x="8958442" y="2154769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graphicFrame>
        <p:nvGraphicFramePr>
          <p:cNvPr id="253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824028"/>
              </p:ext>
            </p:extLst>
          </p:nvPr>
        </p:nvGraphicFramePr>
        <p:xfrm>
          <a:off x="5858463" y="2655496"/>
          <a:ext cx="3810999" cy="3539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16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항목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처리내용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5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반출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로컬 개발 및 테스트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Aurora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부터 개발 소스 반출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로컬 개발 및 테스트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반입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Aurora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개발 소스 반입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  <a:tr h="6655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개발계 반영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배포 에이전트는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 주기로 변경 소스를 자동 다운로드 및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패키징 배포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런타임에서 변경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즉시 반영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22269"/>
                  </a:ext>
                </a:extLst>
              </a:tr>
              <a:tr h="6655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스테이징 적용 및 테스트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IQMS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스테이징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적용 실행 시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스테이징으로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소스 반영 및 빌드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팀에서 파일 복사 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에이전트 호출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에이전트가 예약시각에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fsapp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복사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런타임에서 변경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즉시 반영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92033"/>
                  </a:ext>
                </a:extLst>
              </a:tr>
              <a:tr h="6655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 적용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IQMS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운영 적용 실행 시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운영으로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반영 및 배포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팀에서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빌드및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에이전트 호출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에이전트가 예약시각에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fsapp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복사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런타임에서 변경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즉시 반영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4" name="타원 253"/>
          <p:cNvSpPr/>
          <p:nvPr/>
        </p:nvSpPr>
        <p:spPr>
          <a:xfrm>
            <a:off x="5900193" y="296094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5" name="타원 254"/>
          <p:cNvSpPr/>
          <p:nvPr/>
        </p:nvSpPr>
        <p:spPr>
          <a:xfrm>
            <a:off x="5900193" y="363678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6" name="타원 255"/>
          <p:cNvSpPr/>
          <p:nvPr/>
        </p:nvSpPr>
        <p:spPr>
          <a:xfrm>
            <a:off x="5900193" y="4277721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7" name="타원 256"/>
          <p:cNvSpPr/>
          <p:nvPr/>
        </p:nvSpPr>
        <p:spPr>
          <a:xfrm>
            <a:off x="5900193" y="494231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58" name="타원 257"/>
          <p:cNvSpPr/>
          <p:nvPr/>
        </p:nvSpPr>
        <p:spPr>
          <a:xfrm>
            <a:off x="5900193" y="561418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pic>
        <p:nvPicPr>
          <p:cNvPr id="2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644" y="2960948"/>
            <a:ext cx="227501" cy="227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1" name="Rectangle 232"/>
          <p:cNvSpPr>
            <a:spLocks noChangeArrowheads="1"/>
          </p:cNvSpPr>
          <p:nvPr/>
        </p:nvSpPr>
        <p:spPr bwMode="auto">
          <a:xfrm>
            <a:off x="327985" y="6201308"/>
            <a:ext cx="9432925" cy="46166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latinLnBrk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0" lang="ko-KR" altLang="en-US" sz="1000" baseline="30000">
                <a:latin typeface="+mn-ea"/>
                <a:ea typeface="+mn-ea"/>
                <a:sym typeface="Wingdings" panose="05000000000000000000" pitchFamily="2" charset="2"/>
              </a:rPr>
              <a:t>주</a:t>
            </a:r>
            <a:r>
              <a:rPr kumimoji="0" lang="en-US" altLang="ko-KR" sz="1000" baseline="30000">
                <a:latin typeface="+mn-ea"/>
                <a:ea typeface="+mn-ea"/>
                <a:sym typeface="Wingdings" panose="05000000000000000000" pitchFamily="2" charset="2"/>
              </a:rPr>
              <a:t>1)</a:t>
            </a:r>
            <a:r>
              <a:rPr kumimoji="0" lang="en-US" altLang="ko-KR" sz="100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kumimoji="0" lang="ko-KR" altLang="en-US" sz="1000">
                <a:latin typeface="+mn-ea"/>
                <a:ea typeface="+mn-ea"/>
                <a:sym typeface="Wingdings" panose="05000000000000000000" pitchFamily="2" charset="2"/>
              </a:rPr>
              <a:t>개발프로젝트의 경우 프로젝트 계획서에 명시된 기간</a:t>
            </a:r>
            <a:r>
              <a:rPr kumimoji="0" lang="en-US" altLang="ko-KR" sz="1000">
                <a:latin typeface="+mn-ea"/>
                <a:ea typeface="+mn-ea"/>
                <a:sym typeface="Wingdings" panose="05000000000000000000" pitchFamily="2" charset="2"/>
              </a:rPr>
              <a:t>(</a:t>
            </a:r>
            <a:r>
              <a:rPr kumimoji="0" lang="ko-KR" altLang="en-US" sz="1000">
                <a:latin typeface="+mn-ea"/>
                <a:ea typeface="+mn-ea"/>
                <a:sym typeface="Wingdings" panose="05000000000000000000" pitchFamily="2" charset="2"/>
              </a:rPr>
              <a:t>컷오버 검토회의 이후부터 안정화 기간</a:t>
            </a:r>
            <a:r>
              <a:rPr kumimoji="0" lang="en-US" altLang="ko-KR" sz="1000">
                <a:latin typeface="+mn-ea"/>
                <a:ea typeface="+mn-ea"/>
                <a:sym typeface="Wingdings" panose="05000000000000000000" pitchFamily="2" charset="2"/>
              </a:rPr>
              <a:t>) </a:t>
            </a:r>
            <a:r>
              <a:rPr kumimoji="0" lang="ko-KR" altLang="en-US" sz="1000">
                <a:latin typeface="+mn-ea"/>
                <a:ea typeface="+mn-ea"/>
                <a:sym typeface="Wingdings" panose="05000000000000000000" pitchFamily="2" charset="2"/>
              </a:rPr>
              <a:t>동안 테스트절차가 생략된 개발 프로세스로 진행할 수 있음</a:t>
            </a:r>
            <a:r>
              <a:rPr kumimoji="0" lang="en-US" altLang="ko-KR" sz="1000">
                <a:latin typeface="+mn-ea"/>
                <a:ea typeface="+mn-ea"/>
                <a:sym typeface="Wingdings" panose="05000000000000000000" pitchFamily="2" charset="2"/>
              </a:rPr>
              <a:t>, </a:t>
            </a:r>
            <a:r>
              <a:rPr kumimoji="0" lang="ko-KR" altLang="en-US" sz="1000">
                <a:latin typeface="+mn-ea"/>
                <a:ea typeface="+mn-ea"/>
                <a:sym typeface="Wingdings" panose="05000000000000000000" pitchFamily="2" charset="2"/>
              </a:rPr>
              <a:t>일반프로세스에는 통합테스트</a:t>
            </a:r>
            <a:r>
              <a:rPr kumimoji="0" lang="en-US" altLang="ko-KR" sz="1000">
                <a:latin typeface="+mn-ea"/>
                <a:ea typeface="+mn-ea"/>
                <a:sym typeface="Wingdings" panose="05000000000000000000" pitchFamily="2" charset="2"/>
              </a:rPr>
              <a:t>/</a:t>
            </a:r>
            <a:r>
              <a:rPr kumimoji="0" lang="ko-KR" altLang="en-US" sz="1000">
                <a:latin typeface="+mn-ea"/>
                <a:ea typeface="+mn-ea"/>
                <a:sym typeface="Wingdings" panose="05000000000000000000" pitchFamily="2" charset="2"/>
              </a:rPr>
              <a:t>인수테스트 단계가 추가됨</a:t>
            </a:r>
            <a:endParaRPr kumimoji="0" lang="en-US" altLang="ko-KR" sz="1000"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3839495" y="1340871"/>
            <a:ext cx="2307939" cy="2391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200" b="1">
                <a:cs typeface="Arial" pitchFamily="34" charset="0"/>
              </a:rPr>
              <a:t>IQMS </a:t>
            </a:r>
            <a:r>
              <a:rPr lang="ko-KR" altLang="en-US" sz="1200" b="1">
                <a:cs typeface="Arial" pitchFamily="34" charset="0"/>
              </a:rPr>
              <a:t>변경관리 개발 프로세스</a:t>
            </a:r>
            <a:endParaRPr lang="ko-KR" altLang="en-US" sz="1200" b="1" dirty="0">
              <a:cs typeface="Arial" pitchFamily="34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2252148" y="3969060"/>
            <a:ext cx="1352489" cy="190853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CM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에이전트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950668" y="3966263"/>
            <a:ext cx="1352489" cy="190853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CM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에이전트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224852" y="3578320"/>
            <a:ext cx="396000" cy="340926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Class, File</a:t>
            </a:r>
          </a:p>
        </p:txBody>
      </p:sp>
      <p:cxnSp>
        <p:nvCxnSpPr>
          <p:cNvPr id="137" name="직선 화살표 연결선 136"/>
          <p:cNvCxnSpPr>
            <a:stCxn id="198" idx="0"/>
            <a:endCxn id="132" idx="2"/>
          </p:cNvCxnSpPr>
          <p:nvPr/>
        </p:nvCxnSpPr>
        <p:spPr>
          <a:xfrm flipH="1" flipV="1">
            <a:off x="2928393" y="4159913"/>
            <a:ext cx="508289" cy="12960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/>
          <p:cNvCxnSpPr>
            <a:cxnSpLocks/>
            <a:stCxn id="132" idx="0"/>
            <a:endCxn id="135" idx="1"/>
          </p:cNvCxnSpPr>
          <p:nvPr/>
        </p:nvCxnSpPr>
        <p:spPr>
          <a:xfrm flipV="1">
            <a:off x="2928393" y="3748783"/>
            <a:ext cx="296459" cy="22027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/>
          <p:cNvSpPr/>
          <p:nvPr/>
        </p:nvSpPr>
        <p:spPr>
          <a:xfrm>
            <a:off x="4920298" y="3581284"/>
            <a:ext cx="396000" cy="337961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Class, File</a:t>
            </a:r>
          </a:p>
        </p:txBody>
      </p:sp>
      <p:cxnSp>
        <p:nvCxnSpPr>
          <p:cNvPr id="147" name="직선 화살표 연결선 146"/>
          <p:cNvCxnSpPr>
            <a:cxnSpLocks/>
            <a:stCxn id="133" idx="0"/>
            <a:endCxn id="146" idx="1"/>
          </p:cNvCxnSpPr>
          <p:nvPr/>
        </p:nvCxnSpPr>
        <p:spPr>
          <a:xfrm flipV="1">
            <a:off x="4626913" y="3750265"/>
            <a:ext cx="293385" cy="2159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>
            <a:stCxn id="200" idx="0"/>
            <a:endCxn id="133" idx="2"/>
          </p:cNvCxnSpPr>
          <p:nvPr/>
        </p:nvCxnSpPr>
        <p:spPr>
          <a:xfrm flipH="1" flipV="1">
            <a:off x="4626913" y="4157116"/>
            <a:ext cx="513066" cy="13318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/>
          <p:cNvSpPr/>
          <p:nvPr/>
        </p:nvSpPr>
        <p:spPr>
          <a:xfrm>
            <a:off x="3952992" y="4271008"/>
            <a:ext cx="396000" cy="182817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소스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4" name="직선 화살표 연결선 143"/>
          <p:cNvCxnSpPr/>
          <p:nvPr/>
        </p:nvCxnSpPr>
        <p:spPr>
          <a:xfrm>
            <a:off x="4389773" y="4380931"/>
            <a:ext cx="56384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4471502" y="4297835"/>
            <a:ext cx="373486" cy="17528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900" b="1">
                <a:cs typeface="Arial" pitchFamily="34" charset="0"/>
              </a:defRPr>
            </a:lvl1pPr>
          </a:lstStyle>
          <a:p>
            <a:pPr algn="ctr"/>
            <a:r>
              <a:rPr lang="en-US" altLang="ko-KR" b="0"/>
              <a:t>Ant</a:t>
            </a:r>
            <a:endParaRPr lang="ko-KR" altLang="en-US" b="0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2576736" y="4581128"/>
            <a:ext cx="1490984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rot="2700000" flipH="1" flipV="1">
            <a:off x="2528113" y="4504293"/>
            <a:ext cx="79997" cy="60153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V="1">
            <a:off x="4076096" y="4445279"/>
            <a:ext cx="66350" cy="13906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107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7C422-A65B-4431-9EE1-16BC8C59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nKESA2.0 </a:t>
            </a:r>
            <a:r>
              <a:rPr lang="ko-KR" altLang="en-US" dirty="0"/>
              <a:t>자원 배포 경로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571EB11-93B9-447C-B1E2-94FF3043D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53161"/>
              </p:ext>
            </p:extLst>
          </p:nvPr>
        </p:nvGraphicFramePr>
        <p:xfrm>
          <a:off x="381884" y="908720"/>
          <a:ext cx="9037004" cy="2612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704">
                  <a:extLst>
                    <a:ext uri="{9D8B030D-6E8A-4147-A177-3AD203B41FA5}">
                      <a16:colId xmlns:a16="http://schemas.microsoft.com/office/drawing/2014/main" val="2479940046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612048563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40344251"/>
                    </a:ext>
                  </a:extLst>
                </a:gridCol>
                <a:gridCol w="3564396">
                  <a:extLst>
                    <a:ext uri="{9D8B030D-6E8A-4147-A177-3AD203B41FA5}">
                      <a16:colId xmlns:a16="http://schemas.microsoft.com/office/drawing/2014/main" val="2032447032"/>
                    </a:ext>
                  </a:extLst>
                </a:gridCol>
                <a:gridCol w="2809704">
                  <a:extLst>
                    <a:ext uri="{9D8B030D-6E8A-4147-A177-3AD203B41FA5}">
                      <a16:colId xmlns:a16="http://schemas.microsoft.com/office/drawing/2014/main" val="147791763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자원종류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ko-KR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lt"/>
                        </a:rPr>
                        <a:t>변경관리 배포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lt"/>
                        </a:rPr>
                        <a:t>최종 파일 배포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196558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(biz)-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</a:t>
                      </a:r>
                    </a:p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(biz)-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</a:t>
                      </a:r>
                    </a:p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(biz)-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</a:t>
                      </a:r>
                      <a:endParaRPr lang="ko-KR" altLang="ko-KR" sz="9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-n2java</a:t>
                      </a:r>
                      <a:endParaRPr lang="ko-KR" altLang="ko-KR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class/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xql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en-US" altLang="ko-KR" sz="900" dirty="0" err="1">
                          <a:latin typeface="+mn-lt"/>
                        </a:rPr>
                        <a:t>io</a:t>
                      </a:r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xio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}/deploy/{</a:t>
                      </a:r>
                      <a:r>
                        <a:rPr lang="ko-KR" altLang="en-US" sz="900" dirty="0">
                          <a:latin typeface="+mn-lt"/>
                        </a:rPr>
                        <a:t>도메인코드</a:t>
                      </a:r>
                      <a:r>
                        <a:rPr lang="en-US" altLang="ko-KR" sz="900" dirty="0">
                          <a:latin typeface="+mn-lt"/>
                        </a:rPr>
                        <a:t>}/</a:t>
                      </a:r>
                      <a:r>
                        <a:rPr lang="en-US" altLang="ko-KR" sz="900" dirty="0" err="1">
                          <a:latin typeface="+mn-lt"/>
                        </a:rPr>
                        <a:t>nkesa</a:t>
                      </a:r>
                      <a:r>
                        <a:rPr lang="en-US" altLang="ko-KR" sz="900" dirty="0">
                          <a:latin typeface="+mn-lt"/>
                        </a:rPr>
                        <a:t>-online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fsapp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was_domain</a:t>
                      </a:r>
                      <a:r>
                        <a:rPr lang="en-US" altLang="ko-KR" sz="900" dirty="0">
                          <a:latin typeface="+mn-lt"/>
                        </a:rPr>
                        <a:t>}/</a:t>
                      </a:r>
                      <a:r>
                        <a:rPr lang="en-US" altLang="ko-KR" sz="900" dirty="0" err="1">
                          <a:latin typeface="+mn-lt"/>
                        </a:rPr>
                        <a:t>nkesa</a:t>
                      </a:r>
                      <a:r>
                        <a:rPr lang="en-US" altLang="ko-KR" sz="900" dirty="0">
                          <a:latin typeface="+mn-lt"/>
                        </a:rPr>
                        <a:t>-online/{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4156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ko-KR" altLang="ko-KR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-n2batch</a:t>
                      </a:r>
                      <a:endParaRPr lang="ko-KR" altLang="ko-KR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class/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xsql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}/deploy/{</a:t>
                      </a:r>
                      <a:r>
                        <a:rPr lang="ko-KR" altLang="en-US" sz="900" dirty="0">
                          <a:latin typeface="+mn-lt"/>
                        </a:rPr>
                        <a:t>도메인코드</a:t>
                      </a:r>
                      <a:r>
                        <a:rPr lang="en-US" altLang="ko-KR" sz="900" dirty="0">
                          <a:latin typeface="+mn-lt"/>
                        </a:rPr>
                        <a:t>}/</a:t>
                      </a:r>
                      <a:r>
                        <a:rPr lang="en-US" altLang="ko-KR" sz="900" dirty="0" err="1">
                          <a:latin typeface="+mn-lt"/>
                        </a:rPr>
                        <a:t>nkesa</a:t>
                      </a:r>
                      <a:r>
                        <a:rPr lang="en-US" altLang="ko-KR" sz="900" dirty="0">
                          <a:latin typeface="+mn-lt"/>
                        </a:rPr>
                        <a:t>-batch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fsapp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was_domain</a:t>
                      </a:r>
                      <a:r>
                        <a:rPr lang="en-US" altLang="ko-KR" sz="900" dirty="0">
                          <a:latin typeface="+mn-lt"/>
                        </a:rPr>
                        <a:t>}/</a:t>
                      </a:r>
                      <a:r>
                        <a:rPr lang="en-US" altLang="ko-KR" sz="900" dirty="0" err="1">
                          <a:latin typeface="+mn-lt"/>
                        </a:rPr>
                        <a:t>nkesa</a:t>
                      </a:r>
                      <a:r>
                        <a:rPr lang="en-US" altLang="ko-KR" sz="900" dirty="0">
                          <a:latin typeface="+mn-lt"/>
                        </a:rPr>
                        <a:t>-batch/</a:t>
                      </a:r>
                      <a:endParaRPr lang="ko-KR" altLang="en-US" sz="9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749740"/>
                  </a:ext>
                </a:extLst>
              </a:tr>
              <a:tr h="255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shell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fsutil</a:t>
                      </a:r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ctmjobs</a:t>
                      </a:r>
                      <a:r>
                        <a:rPr lang="en-US" altLang="ko-KR" sz="900" dirty="0">
                          <a:latin typeface="+mn-lt"/>
                        </a:rPr>
                        <a:t>/cm/shell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fsutil</a:t>
                      </a:r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ctmjobs</a:t>
                      </a:r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ctmsorc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6403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-n2config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.properties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}/deploy/</a:t>
                      </a:r>
                      <a:r>
                        <a:rPr lang="en-US" altLang="ko-KR" sz="900" dirty="0" err="1">
                          <a:latin typeface="+mn-lt"/>
                        </a:rPr>
                        <a:t>fsconfig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ko-KR" altLang="en-US" sz="900" dirty="0" err="1">
                          <a:latin typeface="+mn-lt"/>
                        </a:rPr>
                        <a:t>어플리케이션코드</a:t>
                      </a:r>
                      <a:r>
                        <a:rPr lang="en-US" altLang="ko-KR" sz="900" dirty="0">
                          <a:latin typeface="+mn-lt"/>
                        </a:rPr>
                        <a:t>3</a:t>
                      </a:r>
                      <a:r>
                        <a:rPr lang="ko-KR" altLang="en-US" sz="900" dirty="0">
                          <a:latin typeface="+mn-lt"/>
                        </a:rPr>
                        <a:t>자리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fsconfig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8945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프로파일</a:t>
                      </a:r>
                      <a:r>
                        <a:rPr lang="en-US" altLang="ko-KR" sz="900" dirty="0">
                          <a:latin typeface="+mn-lt"/>
                        </a:rPr>
                        <a:t>(xml)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}/batch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}/online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</a:t>
                      </a:r>
                      <a:r>
                        <a:rPr lang="en-US" altLang="ko-KR" sz="900" dirty="0" err="1">
                          <a:latin typeface="+mn-lt"/>
                        </a:rPr>
                        <a:t>centercut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lt"/>
                        </a:rPr>
                        <a:t>DB </a:t>
                      </a:r>
                      <a:r>
                        <a:rPr lang="ko-KR" altLang="en-US" sz="900" dirty="0">
                          <a:latin typeface="+mn-lt"/>
                        </a:rPr>
                        <a:t>데이터 반영</a:t>
                      </a:r>
                      <a:r>
                        <a:rPr lang="en-US" altLang="ko-KR" sz="900" dirty="0">
                          <a:latin typeface="+mn-lt"/>
                        </a:rPr>
                        <a:t>(insert, update)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95154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n-lt"/>
                        </a:rPr>
                        <a:t>runtime</a:t>
                      </a:r>
                      <a:endParaRPr lang="ko-KR" alt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fscm</a:t>
                      </a:r>
                      <a:r>
                        <a:rPr lang="en-US" altLang="ko-KR" sz="900" dirty="0">
                          <a:latin typeface="+mn-lt"/>
                        </a:rPr>
                        <a:t>/{</a:t>
                      </a:r>
                      <a:r>
                        <a:rPr lang="en-US" altLang="ko-KR" sz="900" dirty="0" err="1">
                          <a:latin typeface="+mn-lt"/>
                        </a:rPr>
                        <a:t>app_code</a:t>
                      </a:r>
                      <a:r>
                        <a:rPr lang="en-US" altLang="ko-KR" sz="900" dirty="0">
                          <a:latin typeface="+mn-lt"/>
                        </a:rPr>
                        <a:t>}/{CM</a:t>
                      </a:r>
                      <a:r>
                        <a:rPr lang="ko-KR" altLang="en-US" sz="900" dirty="0">
                          <a:latin typeface="+mn-lt"/>
                        </a:rPr>
                        <a:t>패키지번호</a:t>
                      </a:r>
                      <a:r>
                        <a:rPr lang="en-US" altLang="ko-KR" sz="900" dirty="0">
                          <a:latin typeface="+mn-lt"/>
                        </a:rPr>
                        <a:t>}/deploy/{</a:t>
                      </a:r>
                      <a:r>
                        <a:rPr lang="ko-KR" altLang="en-US" sz="900" dirty="0">
                          <a:latin typeface="+mn-lt"/>
                        </a:rPr>
                        <a:t>도메인코드</a:t>
                      </a:r>
                      <a:r>
                        <a:rPr lang="en-US" altLang="ko-KR" sz="900" dirty="0">
                          <a:latin typeface="+mn-lt"/>
                        </a:rPr>
                        <a:t>}/</a:t>
                      </a:r>
                      <a:r>
                        <a:rPr lang="en-US" altLang="ko-KR" sz="900" dirty="0" err="1">
                          <a:latin typeface="+mn-lt"/>
                        </a:rPr>
                        <a:t>sqc</a:t>
                      </a:r>
                      <a:r>
                        <a:rPr lang="en-US" altLang="ko-KR" sz="900" dirty="0">
                          <a:latin typeface="+mn-lt"/>
                        </a:rPr>
                        <a:t>/runtime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</a:rPr>
                        <a:t>fsapp</a:t>
                      </a: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en-US" altLang="ko-KR" sz="900" dirty="0" err="1">
                          <a:latin typeface="+mn-lt"/>
                        </a:rPr>
                        <a:t>was_domain</a:t>
                      </a:r>
                      <a:r>
                        <a:rPr lang="en-US" altLang="ko-KR" sz="900" dirty="0">
                          <a:latin typeface="+mn-lt"/>
                        </a:rPr>
                        <a:t>}/runtime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157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553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 rot="5400000">
            <a:off x="3095660" y="2855176"/>
            <a:ext cx="3767190" cy="22257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7292231" y="5409220"/>
            <a:ext cx="1656184" cy="724228"/>
          </a:xfrm>
          <a:prstGeom prst="roundRect">
            <a:avLst>
              <a:gd name="adj" fmla="val 4799"/>
            </a:avLst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292231" y="1733570"/>
            <a:ext cx="1656184" cy="1025348"/>
          </a:xfrm>
          <a:prstGeom prst="roundRect">
            <a:avLst>
              <a:gd name="adj" fmla="val 4799"/>
            </a:avLst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7291024" y="2913785"/>
            <a:ext cx="1656184" cy="2409433"/>
          </a:xfrm>
          <a:prstGeom prst="roundRect">
            <a:avLst>
              <a:gd name="adj" fmla="val 4799"/>
            </a:avLst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개발도구서버</a:t>
            </a:r>
            <a:r>
              <a:rPr lang="en-US" altLang="ko-KR" dirty="0"/>
              <a:t>(IDE </a:t>
            </a:r>
            <a:r>
              <a:rPr lang="ko-KR" altLang="en-US" dirty="0"/>
              <a:t>서버</a:t>
            </a:r>
            <a:r>
              <a:rPr lang="en-US" altLang="ko-KR" dirty="0"/>
              <a:t>) </a:t>
            </a:r>
            <a:r>
              <a:rPr lang="ko-KR" altLang="en-US" dirty="0"/>
              <a:t>개요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프레임워크 개발도구 </a:t>
            </a:r>
            <a:r>
              <a:rPr lang="en-US" altLang="ko-KR" dirty="0"/>
              <a:t>(NEXCORE IDE) </a:t>
            </a:r>
            <a:r>
              <a:rPr lang="ko-KR" altLang="en-US" dirty="0"/>
              <a:t>는 개발도구 서버에 로그인하여 개발에 필요한 </a:t>
            </a:r>
            <a:r>
              <a:rPr lang="ko-KR" altLang="en-US"/>
              <a:t>템플릿 파일 및 </a:t>
            </a:r>
            <a:r>
              <a:rPr lang="ko-KR" altLang="en-US" dirty="0"/>
              <a:t>메타정보를 받아와 관리함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980391" y="2965696"/>
            <a:ext cx="1945956" cy="16782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프레임워크 메타 정보 조회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  <a:p>
            <a:pPr marL="265113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어플리케이션 패키지 정보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265113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명명 규칙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265113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프로그램 호출 정보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265113" indent="-85725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  <a:tab pos="538163" algn="l"/>
              </a:tabLst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전문 정보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265113" indent="-85725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  <a:tab pos="538163" algn="l"/>
              </a:tabLst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메타 단어 정보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265113" indent="-85725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  <a:tab pos="538163" algn="l"/>
              </a:tabLst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메시지 정보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189" y="3382435"/>
            <a:ext cx="41910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2647" y="2129667"/>
            <a:ext cx="1565698" cy="3499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프레임워크</a:t>
            </a:r>
            <a:r>
              <a:rPr lang="en-US" altLang="ko-KR" sz="1000" b="1" dirty="0">
                <a:cs typeface="Arial" pitchFamily="34" charset="0"/>
              </a:rPr>
              <a:t> </a:t>
            </a:r>
            <a:r>
              <a:rPr lang="ko-KR" altLang="en-US" sz="1000" b="1" dirty="0">
                <a:cs typeface="Arial" pitchFamily="34" charset="0"/>
              </a:rPr>
              <a:t>개발도구 서버 </a:t>
            </a:r>
            <a:r>
              <a:rPr lang="en-US" altLang="ko-KR" sz="1000" b="1" dirty="0">
                <a:cs typeface="Arial" pitchFamily="34" charset="0"/>
              </a:rPr>
              <a:t>(IDE</a:t>
            </a:r>
            <a:r>
              <a:rPr lang="ko-KR" altLang="en-US" sz="1000" b="1" dirty="0">
                <a:cs typeface="Arial" pitchFamily="34" charset="0"/>
              </a:rPr>
              <a:t>서버</a:t>
            </a:r>
            <a:r>
              <a:rPr lang="en-US" altLang="ko-KR" sz="1000" b="1" dirty="0">
                <a:cs typeface="Arial" pitchFamily="34" charset="0"/>
              </a:rPr>
              <a:t>)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434718" y="3825771"/>
            <a:ext cx="1367389" cy="31257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프로그램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메타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,IO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정보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(PM/FM/DM/DBM)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435040" y="4200182"/>
            <a:ext cx="1367389" cy="27403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MMI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연계된 전문 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434394" y="4536057"/>
            <a:ext cx="1367389" cy="3156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메타 연계된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단어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속성 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435040" y="4913548"/>
            <a:ext cx="1367389" cy="3156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연계된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메시지 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434393" y="5697252"/>
            <a:ext cx="1367389" cy="3156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업무 테이블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81261" y="5109187"/>
            <a:ext cx="1944216" cy="2883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업무 </a:t>
            </a: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SQL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테스트 수행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981261" y="2625669"/>
            <a:ext cx="1944216" cy="2625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프로그램  자동 생성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427616" y="1948644"/>
            <a:ext cx="1367389" cy="3156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프로그램 템플릿 파일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437276" y="2357264"/>
            <a:ext cx="1367389" cy="3156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유형별 템플릿 파일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0489" y="1756912"/>
            <a:ext cx="1061642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템플릿 파일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6717" y="2958061"/>
            <a:ext cx="1402737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프레임워크 </a:t>
            </a:r>
            <a:r>
              <a:rPr lang="en-US" altLang="ko-KR" sz="1000" b="1" dirty="0">
                <a:cs typeface="Arial" pitchFamily="34" charset="0"/>
              </a:rPr>
              <a:t>Repository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434392" y="3218453"/>
            <a:ext cx="1367389" cy="24182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어플리케이션 </a:t>
            </a: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패키지맵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34392" y="5453035"/>
            <a:ext cx="1402737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업무 </a:t>
            </a:r>
            <a:r>
              <a:rPr lang="en-US" altLang="ko-KR" sz="1000" b="1" dirty="0">
                <a:cs typeface="Arial" pitchFamily="34" charset="0"/>
              </a:rPr>
              <a:t>DB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437276" y="3522112"/>
            <a:ext cx="1367389" cy="24182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명명규칙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42106" y="2958189"/>
            <a:ext cx="974679" cy="3497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프레임워크 </a:t>
            </a:r>
            <a:r>
              <a:rPr lang="en-US" altLang="ko-KR" sz="1000" b="1" dirty="0">
                <a:cs typeface="Arial" pitchFamily="34" charset="0"/>
              </a:rPr>
              <a:t>IDE</a:t>
            </a:r>
            <a:r>
              <a:rPr lang="ko-KR" altLang="en-US" sz="1000" b="1" dirty="0">
                <a:cs typeface="Arial" pitchFamily="34" charset="0"/>
              </a:rPr>
              <a:t> </a:t>
            </a:r>
            <a:endParaRPr lang="en-US" altLang="ko-KR" sz="1000" b="1" dirty="0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ko-KR" sz="1000" b="1" dirty="0">
                <a:cs typeface="Arial" pitchFamily="34" charset="0"/>
              </a:rPr>
              <a:t>(</a:t>
            </a:r>
            <a:r>
              <a:rPr lang="ko-KR" altLang="en-US" sz="1000" b="1" dirty="0">
                <a:cs typeface="Arial" pitchFamily="34" charset="0"/>
              </a:rPr>
              <a:t>개발도구</a:t>
            </a:r>
            <a:r>
              <a:rPr lang="en-US" altLang="ko-KR" sz="1000" b="1" dirty="0">
                <a:cs typeface="Arial" pitchFamily="34" charset="0"/>
              </a:rPr>
              <a:t>)</a:t>
            </a:r>
            <a:endParaRPr lang="ko-KR" altLang="en-US" sz="1000" b="1" dirty="0">
              <a:cs typeface="Arial" pitchFamily="34" charset="0"/>
            </a:endParaRPr>
          </a:p>
        </p:txBody>
      </p:sp>
      <p:cxnSp>
        <p:nvCxnSpPr>
          <p:cNvPr id="40" name="직선 화살표 연결선 39"/>
          <p:cNvCxnSpPr>
            <a:stCxn id="20" idx="3"/>
            <a:endCxn id="24" idx="1"/>
          </p:cNvCxnSpPr>
          <p:nvPr/>
        </p:nvCxnSpPr>
        <p:spPr>
          <a:xfrm flipV="1">
            <a:off x="5925477" y="2246244"/>
            <a:ext cx="1366754" cy="51068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7" idx="3"/>
            <a:endCxn id="23" idx="1"/>
          </p:cNvCxnSpPr>
          <p:nvPr/>
        </p:nvCxnSpPr>
        <p:spPr>
          <a:xfrm>
            <a:off x="5926347" y="3804822"/>
            <a:ext cx="1364677" cy="31368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19" idx="3"/>
            <a:endCxn id="27" idx="1"/>
          </p:cNvCxnSpPr>
          <p:nvPr/>
        </p:nvCxnSpPr>
        <p:spPr>
          <a:xfrm>
            <a:off x="5925477" y="5253380"/>
            <a:ext cx="1366754" cy="51795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211314" y="4516308"/>
            <a:ext cx="2225785" cy="104245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개발도구 서버로 </a:t>
            </a:r>
            <a:r>
              <a:rPr lang="ko-KR" altLang="en-US" sz="1000" dirty="0" err="1">
                <a:cs typeface="Arial" pitchFamily="34" charset="0"/>
              </a:rPr>
              <a:t>부터</a:t>
            </a:r>
            <a:r>
              <a:rPr lang="ko-KR" altLang="en-US" sz="1000" dirty="0">
                <a:cs typeface="Arial" pitchFamily="34" charset="0"/>
              </a:rPr>
              <a:t> 개발에 필요한 정보들을 </a:t>
            </a:r>
            <a:r>
              <a:rPr lang="ko-KR" altLang="en-US" sz="1000" dirty="0" err="1">
                <a:cs typeface="Arial" pitchFamily="34" charset="0"/>
              </a:rPr>
              <a:t>내려받아</a:t>
            </a:r>
            <a:r>
              <a:rPr lang="ko-KR" altLang="en-US" sz="1000" dirty="0">
                <a:cs typeface="Arial" pitchFamily="34" charset="0"/>
              </a:rPr>
              <a:t> 활용함</a:t>
            </a:r>
            <a:endParaRPr lang="en-US" altLang="ko-KR" sz="10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cs typeface="Arial" pitchFamily="34" charset="0"/>
              </a:rPr>
              <a:t>SQL </a:t>
            </a:r>
            <a:r>
              <a:rPr lang="ko-KR" altLang="en-US" sz="1000" dirty="0">
                <a:cs typeface="Arial" pitchFamily="34" charset="0"/>
              </a:rPr>
              <a:t>쿼리 테스트 </a:t>
            </a:r>
            <a:r>
              <a:rPr lang="ko-KR" altLang="en-US" sz="1000" dirty="0" err="1">
                <a:cs typeface="Arial" pitchFamily="34" charset="0"/>
              </a:rPr>
              <a:t>실행시</a:t>
            </a:r>
            <a:r>
              <a:rPr lang="ko-KR" altLang="en-US" sz="1000" dirty="0">
                <a:cs typeface="Arial" pitchFamily="34" charset="0"/>
              </a:rPr>
              <a:t>  </a:t>
            </a:r>
            <a:br>
              <a:rPr lang="en-US" altLang="ko-KR" sz="1000" dirty="0">
                <a:cs typeface="Arial" pitchFamily="34" charset="0"/>
              </a:rPr>
            </a:br>
            <a:r>
              <a:rPr lang="en-US" altLang="ko-KR" sz="1000" dirty="0">
                <a:cs typeface="Arial" pitchFamily="34" charset="0"/>
              </a:rPr>
              <a:t>IDE </a:t>
            </a:r>
            <a:r>
              <a:rPr lang="ko-KR" altLang="en-US" sz="1000" dirty="0">
                <a:cs typeface="Arial" pitchFamily="34" charset="0"/>
              </a:rPr>
              <a:t>에서 직접 쿼리 수행하지 않고 개발도구 서버에서 </a:t>
            </a:r>
            <a:r>
              <a:rPr lang="en-US" altLang="ko-KR" sz="1000" dirty="0">
                <a:cs typeface="Arial" pitchFamily="34" charset="0"/>
              </a:rPr>
              <a:t>SQL</a:t>
            </a:r>
            <a:r>
              <a:rPr lang="ko-KR" altLang="en-US" sz="1000" dirty="0">
                <a:cs typeface="Arial" pitchFamily="34" charset="0"/>
              </a:rPr>
              <a:t>을 실행을 대행함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981261" y="4771356"/>
            <a:ext cx="1944216" cy="2883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DB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스키마 조회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2" name="직선 화살표 연결선 51"/>
          <p:cNvCxnSpPr>
            <a:stCxn id="51" idx="3"/>
            <a:endCxn id="27" idx="1"/>
          </p:cNvCxnSpPr>
          <p:nvPr/>
        </p:nvCxnSpPr>
        <p:spPr>
          <a:xfrm>
            <a:off x="5925477" y="4915549"/>
            <a:ext cx="1366754" cy="85578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자유형 56"/>
          <p:cNvSpPr/>
          <p:nvPr/>
        </p:nvSpPr>
        <p:spPr>
          <a:xfrm>
            <a:off x="2555043" y="2957190"/>
            <a:ext cx="1248053" cy="592121"/>
          </a:xfrm>
          <a:custGeom>
            <a:avLst/>
            <a:gdLst>
              <a:gd name="connsiteX0" fmla="*/ 0 w 1248053"/>
              <a:gd name="connsiteY0" fmla="*/ 421205 h 592121"/>
              <a:gd name="connsiteX1" fmla="*/ 1247686 w 1248053"/>
              <a:gd name="connsiteY1" fmla="*/ 2461 h 592121"/>
              <a:gd name="connsiteX2" fmla="*/ 102549 w 1248053"/>
              <a:gd name="connsiteY2" fmla="*/ 592121 h 592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8053" h="592121">
                <a:moveTo>
                  <a:pt x="0" y="421205"/>
                </a:moveTo>
                <a:cubicBezTo>
                  <a:pt x="615297" y="197590"/>
                  <a:pt x="1230595" y="-26025"/>
                  <a:pt x="1247686" y="2461"/>
                </a:cubicBezTo>
                <a:cubicBezTo>
                  <a:pt x="1264777" y="30947"/>
                  <a:pt x="683663" y="311534"/>
                  <a:pt x="102549" y="592121"/>
                </a:cubicBezTo>
              </a:path>
            </a:pathLst>
          </a:custGeom>
          <a:noFill/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 60"/>
          <p:cNvSpPr/>
          <p:nvPr/>
        </p:nvSpPr>
        <p:spPr>
          <a:xfrm rot="774200">
            <a:off x="2564253" y="3918086"/>
            <a:ext cx="1350238" cy="410559"/>
          </a:xfrm>
          <a:custGeom>
            <a:avLst/>
            <a:gdLst>
              <a:gd name="connsiteX0" fmla="*/ 8546 w 1350238"/>
              <a:gd name="connsiteY0" fmla="*/ 0 h 410559"/>
              <a:gd name="connsiteX1" fmla="*/ 1350236 w 1350238"/>
              <a:gd name="connsiteY1" fmla="*/ 401652 h 410559"/>
              <a:gd name="connsiteX2" fmla="*/ 0 w 1350238"/>
              <a:gd name="connsiteY2" fmla="*/ 239282 h 410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0238" h="410559">
                <a:moveTo>
                  <a:pt x="8546" y="0"/>
                </a:moveTo>
                <a:cubicBezTo>
                  <a:pt x="680103" y="180886"/>
                  <a:pt x="1351660" y="361772"/>
                  <a:pt x="1350236" y="401652"/>
                </a:cubicBezTo>
                <a:cubicBezTo>
                  <a:pt x="1348812" y="441532"/>
                  <a:pt x="674406" y="340407"/>
                  <a:pt x="0" y="239282"/>
                </a:cubicBezTo>
              </a:path>
            </a:pathLst>
          </a:custGeom>
          <a:noFill/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3981261" y="5483073"/>
            <a:ext cx="1944216" cy="2400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개발자 접속 </a:t>
            </a: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DB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계정</a:t>
            </a: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관리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3" name="직선 화살표 연결선 42"/>
          <p:cNvCxnSpPr>
            <a:stCxn id="42" idx="3"/>
            <a:endCxn id="27" idx="1"/>
          </p:cNvCxnSpPr>
          <p:nvPr/>
        </p:nvCxnSpPr>
        <p:spPr>
          <a:xfrm>
            <a:off x="5925477" y="5603087"/>
            <a:ext cx="1366754" cy="16824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 관리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74AB329-7681-4EDD-813F-4882DB544C28}"/>
              </a:ext>
            </a:extLst>
          </p:cNvPr>
          <p:cNvGrpSpPr/>
          <p:nvPr/>
        </p:nvGrpSpPr>
        <p:grpSpPr>
          <a:xfrm>
            <a:off x="1375210" y="3262949"/>
            <a:ext cx="551683" cy="634103"/>
            <a:chOff x="1375210" y="3247155"/>
            <a:chExt cx="551683" cy="634103"/>
          </a:xfrm>
        </p:grpSpPr>
        <p:sp>
          <p:nvSpPr>
            <p:cNvPr id="10" name="TextBox 9"/>
            <p:cNvSpPr txBox="1"/>
            <p:nvPr/>
          </p:nvSpPr>
          <p:spPr>
            <a:xfrm>
              <a:off x="1375210" y="3683713"/>
              <a:ext cx="551683" cy="1975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900" dirty="0">
                  <a:cs typeface="Arial" pitchFamily="34" charset="0"/>
                </a:rPr>
                <a:t>개발자</a:t>
              </a:r>
            </a:p>
          </p:txBody>
        </p:sp>
        <p:pic>
          <p:nvPicPr>
            <p:cNvPr id="39" name="Picture 117" descr="D:\모스트비주얼\아이콘 작업\01\02.png">
              <a:extLst>
                <a:ext uri="{FF2B5EF4-FFF2-40B4-BE49-F238E27FC236}">
                  <a16:creationId xmlns:a16="http://schemas.microsoft.com/office/drawing/2014/main" id="{41D94A6A-98CC-4B54-872D-C0B21EF86A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12970" y="3247155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6550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업무별 개발도구서버 구성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코어현대화 등 업무별로 개발도구서버를 별도로 구성하여 관리함</a:t>
            </a:r>
          </a:p>
        </p:txBody>
      </p:sp>
      <p:sp>
        <p:nvSpPr>
          <p:cNvPr id="47" name="순서도: 자기 디스크 46"/>
          <p:cNvSpPr/>
          <p:nvPr/>
        </p:nvSpPr>
        <p:spPr>
          <a:xfrm>
            <a:off x="7738195" y="1284243"/>
            <a:ext cx="974242" cy="47452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상품지처리지원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158692" y="1054199"/>
            <a:ext cx="2491095" cy="2250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100" b="1" dirty="0">
                <a:cs typeface="Arial" pitchFamily="34" charset="0"/>
              </a:rPr>
              <a:t>프레임워크</a:t>
            </a:r>
            <a:r>
              <a:rPr lang="en-US" altLang="ko-KR" sz="1100" b="1" dirty="0">
                <a:cs typeface="Arial" pitchFamily="34" charset="0"/>
              </a:rPr>
              <a:t> </a:t>
            </a:r>
            <a:r>
              <a:rPr lang="ko-KR" altLang="en-US" sz="1100" b="1" dirty="0">
                <a:cs typeface="Arial" pitchFamily="34" charset="0"/>
              </a:rPr>
              <a:t>개발 </a:t>
            </a:r>
            <a:r>
              <a:rPr lang="en-US" altLang="ko-KR" sz="1100" b="1" dirty="0">
                <a:cs typeface="Arial" pitchFamily="34" charset="0"/>
              </a:rPr>
              <a:t>#1 </a:t>
            </a:r>
            <a:r>
              <a:rPr lang="ko-KR" altLang="en-US" sz="1100" b="1" dirty="0">
                <a:cs typeface="Arial" pitchFamily="34" charset="0"/>
              </a:rPr>
              <a:t>서버 </a:t>
            </a:r>
            <a:r>
              <a:rPr lang="en-US" altLang="ko-KR" sz="1100" b="1" dirty="0">
                <a:cs typeface="Arial" pitchFamily="34" charset="0"/>
              </a:rPr>
              <a:t>(10.38.117.24) </a:t>
            </a:r>
            <a:endParaRPr lang="ko-KR" altLang="en-US" sz="1100" b="1" dirty="0">
              <a:cs typeface="Arial" pitchFamily="34" charset="0"/>
            </a:endParaRPr>
          </a:p>
        </p:txBody>
      </p:sp>
      <p:sp>
        <p:nvSpPr>
          <p:cNvPr id="81" name="사각형 설명선 80"/>
          <p:cNvSpPr/>
          <p:nvPr/>
        </p:nvSpPr>
        <p:spPr>
          <a:xfrm>
            <a:off x="1786149" y="5765795"/>
            <a:ext cx="1944216" cy="782483"/>
          </a:xfrm>
          <a:prstGeom prst="wedgeRectCallout">
            <a:avLst>
              <a:gd name="adj1" fmla="val 74796"/>
              <a:gd name="adj2" fmla="val 11908"/>
            </a:avLst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DB2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실행계획 조회 툴인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db2expln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실행을 위해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환경변수에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서버 </a:t>
            </a: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연결정보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설정을 해야하므로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OS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계정을 분리하여 환경변수 설정을 따로 함</a:t>
            </a:r>
          </a:p>
        </p:txBody>
      </p:sp>
      <p:sp>
        <p:nvSpPr>
          <p:cNvPr id="82" name="사각형 설명선 81"/>
          <p:cNvSpPr/>
          <p:nvPr/>
        </p:nvSpPr>
        <p:spPr>
          <a:xfrm>
            <a:off x="1886655" y="1333054"/>
            <a:ext cx="2036501" cy="518246"/>
          </a:xfrm>
          <a:prstGeom prst="wedgeRectCallout">
            <a:avLst>
              <a:gd name="adj1" fmla="val 67596"/>
              <a:gd name="adj2" fmla="val -25472"/>
            </a:avLst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프로그램 정보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테이블 정보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등이 업무별로 분리 되어 있으므로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개발도구 서버도 분리하여 운영함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 관리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241571" y="1261065"/>
            <a:ext cx="2340260" cy="5264279"/>
            <a:chOff x="4556956" y="1153053"/>
            <a:chExt cx="2340260" cy="5264279"/>
          </a:xfrm>
        </p:grpSpPr>
        <p:sp>
          <p:nvSpPr>
            <p:cNvPr id="74" name="직사각형 73"/>
            <p:cNvSpPr/>
            <p:nvPr/>
          </p:nvSpPr>
          <p:spPr>
            <a:xfrm>
              <a:off x="4556956" y="1153053"/>
              <a:ext cx="2340260" cy="52642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728210" y="1246377"/>
              <a:ext cx="1944216" cy="3268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  <a:t>IDE</a:t>
              </a:r>
              <a:r>
                <a:rPr lang="ko-KR" altLang="en-US" sz="1000" b="1" dirty="0">
                  <a:solidFill>
                    <a:schemeClr val="tx1"/>
                  </a:solidFill>
                  <a:cs typeface="Arial" pitchFamily="34" charset="0"/>
                </a:rPr>
                <a:t> 서버 </a:t>
              </a:r>
              <a: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  <a:t>(</a:t>
              </a:r>
              <a:r>
                <a:rPr lang="ko-KR" altLang="en-US" sz="1000" b="1" dirty="0">
                  <a:solidFill>
                    <a:schemeClr val="tx1"/>
                  </a:solidFill>
                  <a:cs typeface="Arial" pitchFamily="34" charset="0"/>
                </a:rPr>
                <a:t>상품처리지원시스템</a:t>
              </a:r>
              <a: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  <a:t>)</a:t>
              </a: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r>
                <a:rPr lang="ko-KR" altLang="en-US" sz="1000" dirty="0">
                  <a:solidFill>
                    <a:schemeClr val="tx1"/>
                  </a:solidFill>
                  <a:cs typeface="Arial" pitchFamily="34" charset="0"/>
                </a:rPr>
                <a:t>계정</a:t>
              </a:r>
              <a:r>
                <a:rPr lang="en-US" altLang="ko-KR" sz="1000" dirty="0">
                  <a:solidFill>
                    <a:schemeClr val="tx1"/>
                  </a:solidFill>
                  <a:cs typeface="Arial" pitchFamily="34" charset="0"/>
                </a:rPr>
                <a:t> : sqc000, Port : 2161</a:t>
              </a:r>
              <a: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  <a:t>0</a:t>
              </a:r>
            </a:p>
          </p:txBody>
        </p:sp>
      </p:grpSp>
      <p:cxnSp>
        <p:nvCxnSpPr>
          <p:cNvPr id="109" name="직선 화살표 연결선 108"/>
          <p:cNvCxnSpPr>
            <a:stCxn id="5" idx="3"/>
          </p:cNvCxnSpPr>
          <p:nvPr/>
        </p:nvCxnSpPr>
        <p:spPr>
          <a:xfrm flipV="1">
            <a:off x="6357041" y="1512440"/>
            <a:ext cx="1381154" cy="536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>
            <a:stCxn id="175" idx="3"/>
          </p:cNvCxnSpPr>
          <p:nvPr/>
        </p:nvCxnSpPr>
        <p:spPr>
          <a:xfrm flipV="1">
            <a:off x="2556138" y="1535499"/>
            <a:ext cx="1820196" cy="227304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1784648" y="3239410"/>
            <a:ext cx="771490" cy="837662"/>
            <a:chOff x="1892090" y="3272613"/>
            <a:chExt cx="771490" cy="837662"/>
          </a:xfrm>
        </p:grpSpPr>
        <p:pic>
          <p:nvPicPr>
            <p:cNvPr id="147" name="그림 1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2090" y="3272613"/>
              <a:ext cx="562623" cy="537049"/>
            </a:xfrm>
            <a:prstGeom prst="rect">
              <a:avLst/>
            </a:prstGeom>
          </p:spPr>
        </p:pic>
        <p:pic>
          <p:nvPicPr>
            <p:cNvPr id="174" name="그림 1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8216" y="3442012"/>
              <a:ext cx="562623" cy="537049"/>
            </a:xfrm>
            <a:prstGeom prst="rect">
              <a:avLst/>
            </a:prstGeom>
          </p:spPr>
        </p:pic>
        <p:pic>
          <p:nvPicPr>
            <p:cNvPr id="175" name="그림 1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0957" y="3573226"/>
              <a:ext cx="562623" cy="537049"/>
            </a:xfrm>
            <a:prstGeom prst="rect">
              <a:avLst/>
            </a:prstGeom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8DE3D8-A132-4709-B2D4-78B9955575E0}"/>
              </a:ext>
            </a:extLst>
          </p:cNvPr>
          <p:cNvSpPr/>
          <p:nvPr/>
        </p:nvSpPr>
        <p:spPr>
          <a:xfrm>
            <a:off x="4556956" y="6175005"/>
            <a:ext cx="1836089" cy="2880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※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</a:t>
            </a: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추가시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항목추가 예정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56CC5FA-29B5-4B0E-BF40-EA3F488EF1FE}"/>
              </a:ext>
            </a:extLst>
          </p:cNvPr>
          <p:cNvGrpSpPr/>
          <p:nvPr/>
        </p:nvGrpSpPr>
        <p:grpSpPr>
          <a:xfrm>
            <a:off x="1034509" y="3338807"/>
            <a:ext cx="830795" cy="677051"/>
            <a:chOff x="1208155" y="3247155"/>
            <a:chExt cx="830795" cy="6770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54E961-AB83-4732-8A9C-14E66E40E0F3}"/>
                </a:ext>
              </a:extLst>
            </p:cNvPr>
            <p:cNvSpPr txBox="1"/>
            <p:nvPr/>
          </p:nvSpPr>
          <p:spPr>
            <a:xfrm>
              <a:off x="1208155" y="3726661"/>
              <a:ext cx="830795" cy="1975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900">
                  <a:cs typeface="Arial" pitchFamily="34" charset="0"/>
                </a:rPr>
                <a:t>각 업무 개발자</a:t>
              </a:r>
              <a:endParaRPr lang="ko-KR" altLang="en-US" sz="900" dirty="0">
                <a:cs typeface="Arial" pitchFamily="34" charset="0"/>
              </a:endParaRPr>
            </a:p>
          </p:txBody>
        </p:sp>
        <p:pic>
          <p:nvPicPr>
            <p:cNvPr id="23" name="Picture 117" descr="D:\모스트비주얼\아이콘 작업\01\02.png">
              <a:extLst>
                <a:ext uri="{FF2B5EF4-FFF2-40B4-BE49-F238E27FC236}">
                  <a16:creationId xmlns:a16="http://schemas.microsoft.com/office/drawing/2014/main" id="{69F90504-8648-4D37-AC20-EDCD0E9CF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12970" y="3247155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59675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템플릿 관리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소스 코드 생성기템플릿 기능을 이용하여 표준화된 개발 방법 제시하고</a:t>
            </a:r>
            <a:r>
              <a:rPr lang="en-US" altLang="ko-KR" dirty="0"/>
              <a:t>, </a:t>
            </a:r>
            <a:r>
              <a:rPr lang="ko-KR" altLang="en-US" dirty="0"/>
              <a:t>오타 최소화를 통해 잠재적인 결함 가능성을 감소시킴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 관리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r="26729"/>
          <a:stretch/>
        </p:blipFill>
        <p:spPr>
          <a:xfrm>
            <a:off x="560513" y="2119987"/>
            <a:ext cx="2736304" cy="33004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010" y="2119987"/>
            <a:ext cx="3257550" cy="3362325"/>
          </a:xfrm>
          <a:prstGeom prst="rect">
            <a:avLst/>
          </a:prstGeom>
        </p:spPr>
      </p:pic>
      <p:sp>
        <p:nvSpPr>
          <p:cNvPr id="46" name="사각형 설명선 45"/>
          <p:cNvSpPr/>
          <p:nvPr/>
        </p:nvSpPr>
        <p:spPr>
          <a:xfrm>
            <a:off x="2802467" y="3168495"/>
            <a:ext cx="1944216" cy="782483"/>
          </a:xfrm>
          <a:prstGeom prst="wedgeRectCallout">
            <a:avLst>
              <a:gd name="adj1" fmla="val -49325"/>
              <a:gd name="adj2" fmla="val -73105"/>
            </a:avLst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클래스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메소드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생성시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템플릿 기반으로 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표준화된 소스코드 템플릿 기능 제공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7" name="사각형 설명선 46"/>
          <p:cNvSpPr/>
          <p:nvPr/>
        </p:nvSpPr>
        <p:spPr>
          <a:xfrm>
            <a:off x="3980892" y="4273532"/>
            <a:ext cx="1944216" cy="782483"/>
          </a:xfrm>
          <a:prstGeom prst="wedgeRectCallout">
            <a:avLst>
              <a:gd name="adj1" fmla="val 55466"/>
              <a:gd name="adj2" fmla="val -97643"/>
            </a:avLst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자주 사용되는 소스 블록은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Template assist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기능을 이용하여 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Drop </a:t>
            </a: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drop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방식으로 코딩 자동화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3525" y="1664804"/>
            <a:ext cx="2251263" cy="2391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b="1" dirty="0">
                <a:cs typeface="Arial" pitchFamily="34" charset="0"/>
              </a:rPr>
              <a:t>■ 소스 코드 자동 생성 템플릿 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1132" y="1664804"/>
            <a:ext cx="2251263" cy="2391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b="1" dirty="0">
                <a:cs typeface="Arial" pitchFamily="34" charset="0"/>
              </a:rPr>
              <a:t>■ </a:t>
            </a:r>
            <a:r>
              <a:rPr lang="en-US" altLang="ko-KR" sz="1200" b="1" dirty="0">
                <a:cs typeface="Arial" pitchFamily="34" charset="0"/>
              </a:rPr>
              <a:t>Template Assist </a:t>
            </a:r>
            <a:r>
              <a:rPr lang="ko-KR" altLang="en-US" sz="1200" b="1" dirty="0">
                <a:cs typeface="Arial" pitchFamily="34" charset="0"/>
              </a:rPr>
              <a:t>기능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8684" y="5651889"/>
            <a:ext cx="5580620" cy="62670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템플릿 소스코드 관리는 중앙 개발도구서버에 저장 관리됨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개발자들은 로그인시 또는 수동 동기화 </a:t>
            </a:r>
            <a:r>
              <a:rPr lang="ko-KR" altLang="en-US" sz="1000" dirty="0" err="1">
                <a:cs typeface="Arial" pitchFamily="34" charset="0"/>
              </a:rPr>
              <a:t>실행시</a:t>
            </a:r>
            <a:r>
              <a:rPr lang="ko-KR" altLang="en-US" sz="1000" dirty="0">
                <a:cs typeface="Arial" pitchFamily="34" charset="0"/>
              </a:rPr>
              <a:t> 개발도구 서버의 템플릿 파일이 </a:t>
            </a:r>
            <a:r>
              <a:rPr lang="en-US" altLang="ko-KR" sz="1000" dirty="0">
                <a:cs typeface="Arial" pitchFamily="34" charset="0"/>
              </a:rPr>
              <a:t>PC </a:t>
            </a:r>
            <a:r>
              <a:rPr lang="ko-KR" altLang="en-US" sz="1000" dirty="0">
                <a:cs typeface="Arial" pitchFamily="34" charset="0"/>
              </a:rPr>
              <a:t>로 동기화되어 사용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ko-KR" altLang="en-US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38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메타 연계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메타에서 관리하는 단어</a:t>
            </a:r>
            <a:r>
              <a:rPr lang="en-US" altLang="ko-KR" dirty="0"/>
              <a:t>,</a:t>
            </a:r>
            <a:r>
              <a:rPr lang="ko-KR" altLang="en-US" dirty="0"/>
              <a:t>속성</a:t>
            </a:r>
            <a:r>
              <a:rPr lang="en-US" altLang="ko-KR" dirty="0"/>
              <a:t>,</a:t>
            </a:r>
            <a:r>
              <a:rPr lang="ko-KR" altLang="en-US" dirty="0"/>
              <a:t>테이블 레이아웃 정보를 동기화하여 개발 환경에 적용함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 관리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131376" y="6309320"/>
            <a:ext cx="3754317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업무 개발자들은 자신이 속한 도메인의 테이블 정보들만 내려 받음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83DD54-1B77-49E8-9E59-B94E1F21A168}"/>
              </a:ext>
            </a:extLst>
          </p:cNvPr>
          <p:cNvSpPr/>
          <p:nvPr/>
        </p:nvSpPr>
        <p:spPr>
          <a:xfrm rot="5400000">
            <a:off x="8190423" y="2719835"/>
            <a:ext cx="1249211" cy="12408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5B46A7-4070-4845-9BD5-562CA8F8960D}"/>
              </a:ext>
            </a:extLst>
          </p:cNvPr>
          <p:cNvSpPr/>
          <p:nvPr/>
        </p:nvSpPr>
        <p:spPr>
          <a:xfrm>
            <a:off x="8337847" y="3519683"/>
            <a:ext cx="954365" cy="331322"/>
          </a:xfrm>
          <a:prstGeom prst="rect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 dirty="0">
                <a:solidFill>
                  <a:schemeClr val="bg1"/>
                </a:solidFill>
                <a:cs typeface="Arial" pitchFamily="34" charset="0"/>
              </a:rPr>
              <a:t>단어</a:t>
            </a: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cs typeface="Arial" pitchFamily="34" charset="0"/>
              </a:rPr>
              <a:t>속성 </a:t>
            </a: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View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1CB4C3-3A5D-4ACF-AD78-6BE3C793EA15}"/>
              </a:ext>
            </a:extLst>
          </p:cNvPr>
          <p:cNvSpPr/>
          <p:nvPr/>
        </p:nvSpPr>
        <p:spPr>
          <a:xfrm>
            <a:off x="8337847" y="3009458"/>
            <a:ext cx="954365" cy="417755"/>
          </a:xfrm>
          <a:prstGeom prst="rect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 dirty="0">
                <a:solidFill>
                  <a:schemeClr val="bg1"/>
                </a:solidFill>
                <a:cs typeface="Arial" pitchFamily="34" charset="0"/>
              </a:rPr>
              <a:t>테이블 정보</a:t>
            </a: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 View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C9C6AF-0B94-4E94-A691-DB5020494BA2}"/>
              </a:ext>
            </a:extLst>
          </p:cNvPr>
          <p:cNvSpPr txBox="1"/>
          <p:nvPr/>
        </p:nvSpPr>
        <p:spPr>
          <a:xfrm>
            <a:off x="8516786" y="2761847"/>
            <a:ext cx="60345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메타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F71F18-ACE1-4964-8066-F582A04C1C9C}"/>
              </a:ext>
            </a:extLst>
          </p:cNvPr>
          <p:cNvSpPr txBox="1"/>
          <p:nvPr/>
        </p:nvSpPr>
        <p:spPr>
          <a:xfrm>
            <a:off x="6452408" y="3472628"/>
            <a:ext cx="1742210" cy="9037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cs typeface="Arial" pitchFamily="34" charset="0"/>
              </a:rPr>
              <a:t>프레임워크 개발 </a:t>
            </a:r>
            <a:r>
              <a:rPr lang="ko-KR" altLang="en-US" sz="900" dirty="0">
                <a:cs typeface="Arial" pitchFamily="34" charset="0"/>
              </a:rPr>
              <a:t>서버에서 동기화 데몬 실행</a:t>
            </a:r>
            <a:r>
              <a:rPr lang="en-US" altLang="ko-KR" sz="900" dirty="0"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>
                <a:cs typeface="Arial" pitchFamily="34" charset="0"/>
              </a:rPr>
              <a:t>주기적</a:t>
            </a:r>
            <a:r>
              <a:rPr lang="en-US" altLang="ko-KR" sz="900">
                <a:cs typeface="Arial" pitchFamily="34" charset="0"/>
              </a:rPr>
              <a:t>(</a:t>
            </a:r>
            <a:r>
              <a:rPr lang="ko-KR" altLang="en-US" sz="900">
                <a:cs typeface="Arial" pitchFamily="34" charset="0"/>
              </a:rPr>
              <a:t>매일 </a:t>
            </a:r>
            <a:r>
              <a:rPr lang="en-US" altLang="ko-KR" sz="900">
                <a:cs typeface="Arial" pitchFamily="34" charset="0"/>
              </a:rPr>
              <a:t>2</a:t>
            </a:r>
            <a:r>
              <a:rPr lang="ko-KR" altLang="en-US" sz="900">
                <a:cs typeface="Arial" pitchFamily="34" charset="0"/>
              </a:rPr>
              <a:t>시간에 한번씩</a:t>
            </a:r>
            <a:r>
              <a:rPr lang="en-US" altLang="ko-KR" sz="900">
                <a:cs typeface="Arial" pitchFamily="34" charset="0"/>
              </a:rPr>
              <a:t>)</a:t>
            </a:r>
            <a:r>
              <a:rPr lang="ko-KR" altLang="en-US" sz="900">
                <a:cs typeface="Arial" pitchFamily="34" charset="0"/>
              </a:rPr>
              <a:t>으로</a:t>
            </a:r>
            <a:r>
              <a:rPr lang="en-US" altLang="ko-KR" sz="900">
                <a:cs typeface="Arial" pitchFamily="34" charset="0"/>
              </a:rPr>
              <a:t> </a:t>
            </a:r>
            <a:r>
              <a:rPr lang="ko-KR" altLang="en-US" sz="900" b="1" u="sng">
                <a:cs typeface="Arial" pitchFamily="34" charset="0"/>
              </a:rPr>
              <a:t>테이블정보</a:t>
            </a:r>
            <a:r>
              <a:rPr lang="en-US" altLang="ko-KR" sz="900" b="1" u="sng">
                <a:cs typeface="Arial" pitchFamily="34" charset="0"/>
              </a:rPr>
              <a:t>/</a:t>
            </a:r>
            <a:r>
              <a:rPr lang="ko-KR" altLang="en-US" sz="900" b="1" u="sng">
                <a:cs typeface="Arial" pitchFamily="34" charset="0"/>
              </a:rPr>
              <a:t>단어</a:t>
            </a:r>
            <a:r>
              <a:rPr lang="en-US" altLang="ko-KR" sz="900" b="1" u="sng" dirty="0">
                <a:cs typeface="Arial" pitchFamily="34" charset="0"/>
              </a:rPr>
              <a:t>/</a:t>
            </a:r>
            <a:r>
              <a:rPr lang="ko-KR" altLang="en-US" sz="900" b="1" u="sng" dirty="0">
                <a:cs typeface="Arial" pitchFamily="34" charset="0"/>
              </a:rPr>
              <a:t>속성 </a:t>
            </a:r>
            <a:r>
              <a:rPr lang="ko-KR" altLang="en-US" sz="900" dirty="0">
                <a:cs typeface="Arial" pitchFamily="34" charset="0"/>
              </a:rPr>
              <a:t>정보 동기화</a:t>
            </a:r>
            <a:endParaRPr lang="en-US" altLang="ko-KR" sz="900" dirty="0">
              <a:cs typeface="Arial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EFD526E-DBA8-4A59-B26C-5E327FCA192A}"/>
              </a:ext>
            </a:extLst>
          </p:cNvPr>
          <p:cNvSpPr/>
          <p:nvPr/>
        </p:nvSpPr>
        <p:spPr>
          <a:xfrm>
            <a:off x="3289913" y="2564232"/>
            <a:ext cx="2024612" cy="20889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1BD5402-67EB-4D9D-920D-BDCF2068ACA0}"/>
              </a:ext>
            </a:extLst>
          </p:cNvPr>
          <p:cNvSpPr/>
          <p:nvPr/>
        </p:nvSpPr>
        <p:spPr>
          <a:xfrm>
            <a:off x="3455386" y="2598206"/>
            <a:ext cx="1685969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IDE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서버 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상품처리지원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)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283A92-B0C3-41ED-B32F-AAC78B539967}"/>
              </a:ext>
            </a:extLst>
          </p:cNvPr>
          <p:cNvSpPr txBox="1"/>
          <p:nvPr/>
        </p:nvSpPr>
        <p:spPr>
          <a:xfrm>
            <a:off x="3600630" y="2328845"/>
            <a:ext cx="1263876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900" b="1" dirty="0">
                <a:cs typeface="Arial" pitchFamily="34" charset="0"/>
              </a:rPr>
              <a:t>프레임워크</a:t>
            </a:r>
            <a:r>
              <a:rPr lang="en-US" altLang="ko-KR" sz="900" b="1" dirty="0">
                <a:cs typeface="Arial" pitchFamily="34" charset="0"/>
              </a:rPr>
              <a:t> </a:t>
            </a:r>
            <a:r>
              <a:rPr lang="ko-KR" altLang="en-US" sz="900" b="1" dirty="0">
                <a:cs typeface="Arial" pitchFamily="34" charset="0"/>
              </a:rPr>
              <a:t>개발</a:t>
            </a:r>
          </a:p>
        </p:txBody>
      </p:sp>
      <p:sp>
        <p:nvSpPr>
          <p:cNvPr id="44" name="모서리가 둥근 직사각형 67">
            <a:extLst>
              <a:ext uri="{FF2B5EF4-FFF2-40B4-BE49-F238E27FC236}">
                <a16:creationId xmlns:a16="http://schemas.microsoft.com/office/drawing/2014/main" id="{A5453D10-BD2E-45FD-BF10-A033CDC2E15C}"/>
              </a:ext>
            </a:extLst>
          </p:cNvPr>
          <p:cNvSpPr/>
          <p:nvPr/>
        </p:nvSpPr>
        <p:spPr>
          <a:xfrm>
            <a:off x="3712967" y="2817927"/>
            <a:ext cx="1172726" cy="247358"/>
          </a:xfrm>
          <a:prstGeom prst="roundRect">
            <a:avLst/>
          </a:prstGeom>
          <a:solidFill>
            <a:srgbClr val="92D05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테이블 정보 파일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F01EAB-60F0-4A4F-BC36-D860DA63111F}"/>
              </a:ext>
            </a:extLst>
          </p:cNvPr>
          <p:cNvSpPr txBox="1"/>
          <p:nvPr/>
        </p:nvSpPr>
        <p:spPr>
          <a:xfrm>
            <a:off x="5523545" y="1566894"/>
            <a:ext cx="1766867" cy="9037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u="sng" dirty="0">
                <a:cs typeface="Arial" pitchFamily="34" charset="0"/>
              </a:rPr>
              <a:t>IDE </a:t>
            </a:r>
            <a:r>
              <a:rPr lang="ko-KR" altLang="en-US" sz="900" b="1" u="sng" dirty="0">
                <a:cs typeface="Arial" pitchFamily="34" charset="0"/>
              </a:rPr>
              <a:t>서버에서 </a:t>
            </a:r>
            <a:r>
              <a:rPr lang="ko-KR" altLang="en-US" sz="900" dirty="0">
                <a:cs typeface="Arial" pitchFamily="34" charset="0"/>
              </a:rPr>
              <a:t>메타의 </a:t>
            </a:r>
            <a:r>
              <a:rPr lang="en-US" altLang="ko-KR" sz="900" dirty="0">
                <a:cs typeface="Arial" pitchFamily="34" charset="0"/>
              </a:rPr>
              <a:t>View </a:t>
            </a:r>
            <a:r>
              <a:rPr lang="ko-KR" altLang="en-US" sz="900">
                <a:cs typeface="Arial" pitchFamily="34" charset="0"/>
              </a:rPr>
              <a:t>를 주기적</a:t>
            </a:r>
            <a:r>
              <a:rPr lang="en-US" altLang="ko-KR" sz="900">
                <a:cs typeface="Arial" pitchFamily="34" charset="0"/>
              </a:rPr>
              <a:t>(</a:t>
            </a:r>
            <a:r>
              <a:rPr lang="ko-KR" altLang="en-US" sz="900">
                <a:cs typeface="Arial" pitchFamily="34" charset="0"/>
              </a:rPr>
              <a:t>매일 </a:t>
            </a:r>
            <a:r>
              <a:rPr lang="en-US" altLang="ko-KR" sz="900">
                <a:cs typeface="Arial" pitchFamily="34" charset="0"/>
              </a:rPr>
              <a:t>2</a:t>
            </a:r>
            <a:r>
              <a:rPr lang="ko-KR" altLang="en-US" sz="900">
                <a:cs typeface="Arial" pitchFamily="34" charset="0"/>
              </a:rPr>
              <a:t>시간에 한번씩</a:t>
            </a:r>
            <a:r>
              <a:rPr lang="en-US" altLang="ko-KR" sz="900">
                <a:cs typeface="Arial" pitchFamily="34" charset="0"/>
              </a:rPr>
              <a:t>)</a:t>
            </a:r>
            <a:r>
              <a:rPr lang="ko-KR" altLang="en-US" sz="900">
                <a:cs typeface="Arial" pitchFamily="34" charset="0"/>
              </a:rPr>
              <a:t>으로 </a:t>
            </a:r>
            <a:r>
              <a:rPr lang="ko-KR" altLang="en-US" sz="900" dirty="0">
                <a:cs typeface="Arial" pitchFamily="34" charset="0"/>
              </a:rPr>
              <a:t>조회하여 </a:t>
            </a:r>
            <a:br>
              <a:rPr lang="en-US" altLang="ko-KR" sz="900" dirty="0">
                <a:cs typeface="Arial" pitchFamily="34" charset="0"/>
              </a:rPr>
            </a:br>
            <a:r>
              <a:rPr lang="ko-KR" altLang="en-US" sz="900" b="1" u="sng" dirty="0">
                <a:cs typeface="Arial" pitchFamily="34" charset="0"/>
              </a:rPr>
              <a:t>테이블 정보 파일 </a:t>
            </a:r>
            <a:r>
              <a:rPr lang="ko-KR" altLang="en-US" sz="900" dirty="0">
                <a:cs typeface="Arial" pitchFamily="34" charset="0"/>
              </a:rPr>
              <a:t>생성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03825A-4B47-49D4-98FF-835CA69C2653}"/>
              </a:ext>
            </a:extLst>
          </p:cNvPr>
          <p:cNvSpPr txBox="1"/>
          <p:nvPr/>
        </p:nvSpPr>
        <p:spPr>
          <a:xfrm>
            <a:off x="2347991" y="2290529"/>
            <a:ext cx="876637" cy="51590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cs typeface="Arial" pitchFamily="34" charset="0"/>
              </a:rPr>
              <a:t>IDE </a:t>
            </a:r>
            <a:r>
              <a:rPr lang="ko-KR" altLang="en-US" sz="800" dirty="0">
                <a:cs typeface="Arial" pitchFamily="34" charset="0"/>
              </a:rPr>
              <a:t>서버로 부터 </a:t>
            </a:r>
            <a:r>
              <a:rPr lang="ko-KR" altLang="en-US" sz="800" b="1" u="sng" dirty="0">
                <a:cs typeface="Arial" pitchFamily="34" charset="0"/>
              </a:rPr>
              <a:t>테이블 정보 파일</a:t>
            </a:r>
            <a:br>
              <a:rPr lang="en-US" altLang="ko-KR" sz="800" dirty="0">
                <a:cs typeface="Arial" pitchFamily="34" charset="0"/>
              </a:rPr>
            </a:br>
            <a:r>
              <a:rPr lang="ko-KR" altLang="en-US" sz="800" dirty="0">
                <a:cs typeface="Arial" pitchFamily="34" charset="0"/>
              </a:rPr>
              <a:t>내려 받아 </a:t>
            </a:r>
            <a:r>
              <a:rPr lang="en-US" altLang="ko-KR" sz="800" dirty="0">
                <a:cs typeface="Arial" pitchFamily="34" charset="0"/>
              </a:rPr>
              <a:t>SQL </a:t>
            </a:r>
            <a:r>
              <a:rPr lang="ko-KR" altLang="en-US" sz="800" dirty="0">
                <a:cs typeface="Arial" pitchFamily="34" charset="0"/>
              </a:rPr>
              <a:t>생성시 활용</a:t>
            </a:r>
            <a:endParaRPr lang="en-US" altLang="ko-KR" sz="800" dirty="0">
              <a:cs typeface="Arial" pitchFamily="34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3655028-8296-4BA6-AA48-B1A387EFBFBF}"/>
              </a:ext>
            </a:extLst>
          </p:cNvPr>
          <p:cNvCxnSpPr>
            <a:stCxn id="59" idx="1"/>
            <a:endCxn id="44" idx="3"/>
          </p:cNvCxnSpPr>
          <p:nvPr/>
        </p:nvCxnSpPr>
        <p:spPr>
          <a:xfrm flipH="1" flipV="1">
            <a:off x="4885693" y="2941606"/>
            <a:ext cx="1717007" cy="31548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73038C4-FF61-4D4C-869F-E55DBB67AD8D}"/>
              </a:ext>
            </a:extLst>
          </p:cNvPr>
          <p:cNvCxnSpPr>
            <a:stCxn id="59" idx="1"/>
            <a:endCxn id="42" idx="2"/>
          </p:cNvCxnSpPr>
          <p:nvPr/>
        </p:nvCxnSpPr>
        <p:spPr>
          <a:xfrm flipH="1" flipV="1">
            <a:off x="4298371" y="3138206"/>
            <a:ext cx="2304329" cy="11888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148C758-D07D-477B-8EE1-6C8BA92FB7FA}"/>
              </a:ext>
            </a:extLst>
          </p:cNvPr>
          <p:cNvCxnSpPr>
            <a:stCxn id="37" idx="1"/>
            <a:endCxn id="59" idx="3"/>
          </p:cNvCxnSpPr>
          <p:nvPr/>
        </p:nvCxnSpPr>
        <p:spPr>
          <a:xfrm flipH="1">
            <a:off x="7510900" y="3218336"/>
            <a:ext cx="826947" cy="38755"/>
          </a:xfrm>
          <a:prstGeom prst="straightConnector1">
            <a:avLst/>
          </a:prstGeom>
          <a:ln w="6350" cap="flat">
            <a:solidFill>
              <a:srgbClr val="0000FF"/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>
            <a:extLst>
              <a:ext uri="{FF2B5EF4-FFF2-40B4-BE49-F238E27FC236}">
                <a16:creationId xmlns:a16="http://schemas.microsoft.com/office/drawing/2014/main" id="{B8C42EEC-911F-4186-AB49-46E54793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38" y="2740901"/>
            <a:ext cx="419100" cy="400050"/>
          </a:xfrm>
          <a:prstGeom prst="rect">
            <a:avLst/>
          </a:prstGeom>
        </p:spPr>
      </p:pic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3658078-C897-4588-9D62-D4EE3D84B306}"/>
              </a:ext>
            </a:extLst>
          </p:cNvPr>
          <p:cNvCxnSpPr>
            <a:stCxn id="44" idx="1"/>
            <a:endCxn id="51" idx="3"/>
          </p:cNvCxnSpPr>
          <p:nvPr/>
        </p:nvCxnSpPr>
        <p:spPr>
          <a:xfrm flipH="1" flipV="1">
            <a:off x="2360338" y="2940926"/>
            <a:ext cx="1352629" cy="68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0978679-D4FF-4FE7-91BF-30F4B79BE2FF}"/>
              </a:ext>
            </a:extLst>
          </p:cNvPr>
          <p:cNvCxnSpPr/>
          <p:nvPr/>
        </p:nvCxnSpPr>
        <p:spPr>
          <a:xfrm>
            <a:off x="2361707" y="3065285"/>
            <a:ext cx="1093679" cy="0"/>
          </a:xfrm>
          <a:prstGeom prst="straightConnector1">
            <a:avLst/>
          </a:prstGeom>
          <a:ln w="6350" cap="flat">
            <a:solidFill>
              <a:srgbClr val="0070C0"/>
            </a:solidFill>
            <a:miter lim="800000"/>
            <a:headEnd type="none" w="med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BB7DAC5-37E4-4A58-8A19-F73787AD4EF4}"/>
              </a:ext>
            </a:extLst>
          </p:cNvPr>
          <p:cNvSpPr txBox="1"/>
          <p:nvPr/>
        </p:nvSpPr>
        <p:spPr>
          <a:xfrm>
            <a:off x="2378299" y="3101690"/>
            <a:ext cx="948776" cy="2943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cs typeface="Arial" pitchFamily="34" charset="0"/>
              </a:rPr>
              <a:t>IO</a:t>
            </a:r>
            <a:r>
              <a:rPr lang="ko-KR" altLang="en-US" sz="800" b="1" dirty="0">
                <a:cs typeface="Arial" pitchFamily="34" charset="0"/>
              </a:rPr>
              <a:t> </a:t>
            </a:r>
            <a:r>
              <a:rPr lang="ko-KR" altLang="en-US" sz="800" b="1" dirty="0" err="1">
                <a:cs typeface="Arial" pitchFamily="34" charset="0"/>
              </a:rPr>
              <a:t>작성용</a:t>
            </a:r>
            <a:r>
              <a:rPr lang="ko-KR" altLang="en-US" sz="800" b="1" dirty="0">
                <a:cs typeface="Arial" pitchFamily="34" charset="0"/>
              </a:rPr>
              <a:t> </a:t>
            </a:r>
            <a:endParaRPr lang="en-US" altLang="ko-KR" sz="800" b="1" dirty="0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800" b="1" dirty="0">
                <a:cs typeface="Arial" pitchFamily="34" charset="0"/>
              </a:rPr>
              <a:t>속성 정보 조회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8CE0D5-AA04-4711-9062-479EBE2FBF48}"/>
              </a:ext>
            </a:extLst>
          </p:cNvPr>
          <p:cNvSpPr txBox="1"/>
          <p:nvPr/>
        </p:nvSpPr>
        <p:spPr>
          <a:xfrm>
            <a:off x="5757825" y="4838228"/>
            <a:ext cx="1731894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*</a:t>
            </a:r>
            <a:r>
              <a:rPr lang="ko-KR" altLang="en-US" sz="900">
                <a:cs typeface="Arial" pitchFamily="34" charset="0"/>
              </a:rPr>
              <a:t>테이블 </a:t>
            </a:r>
            <a:r>
              <a:rPr lang="en-US" altLang="ko-KR" sz="900" dirty="0">
                <a:cs typeface="Arial" pitchFamily="34" charset="0"/>
              </a:rPr>
              <a:t>: </a:t>
            </a:r>
            <a:r>
              <a:rPr lang="en-US" altLang="ko-KR" sz="900" b="1" u="sng" dirty="0">
                <a:cs typeface="Arial" pitchFamily="34" charset="0"/>
              </a:rPr>
              <a:t>NJFC_IO_DICTIONARY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8270AAD-CA15-45D5-A0FF-873C76F2E1E7}"/>
              </a:ext>
            </a:extLst>
          </p:cNvPr>
          <p:cNvSpPr/>
          <p:nvPr/>
        </p:nvSpPr>
        <p:spPr>
          <a:xfrm>
            <a:off x="6602700" y="2999130"/>
            <a:ext cx="908200" cy="5159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동기화 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데몬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F64530-9C15-4A93-A244-4290246A0EFF}"/>
              </a:ext>
            </a:extLst>
          </p:cNvPr>
          <p:cNvSpPr txBox="1"/>
          <p:nvPr/>
        </p:nvSpPr>
        <p:spPr>
          <a:xfrm>
            <a:off x="5764152" y="4547440"/>
            <a:ext cx="1526260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각 업무 </a:t>
            </a:r>
            <a:r>
              <a:rPr lang="en-US" altLang="ko-KR" sz="900">
                <a:cs typeface="Arial" pitchFamily="34" charset="0"/>
              </a:rPr>
              <a:t>DB</a:t>
            </a:r>
            <a:r>
              <a:rPr lang="ko-KR" altLang="en-US" sz="900" dirty="0">
                <a:cs typeface="Arial" pitchFamily="34" charset="0"/>
              </a:rPr>
              <a:t>에 </a:t>
            </a:r>
            <a:endParaRPr lang="en-US" altLang="ko-KR" sz="9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 dirty="0">
                <a:cs typeface="Arial" pitchFamily="34" charset="0"/>
              </a:rPr>
              <a:t>메타 단어</a:t>
            </a:r>
            <a:r>
              <a:rPr lang="en-US" altLang="ko-KR" sz="900" dirty="0">
                <a:cs typeface="Arial" pitchFamily="34" charset="0"/>
              </a:rPr>
              <a:t>/</a:t>
            </a:r>
            <a:r>
              <a:rPr lang="ko-KR" altLang="en-US" sz="900" dirty="0">
                <a:cs typeface="Arial" pitchFamily="34" charset="0"/>
              </a:rPr>
              <a:t>속성 정보 동기화</a:t>
            </a:r>
            <a:endParaRPr lang="en-US" altLang="ko-KR" sz="900" dirty="0">
              <a:cs typeface="Arial" pitchFamily="34" charset="0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CB03C8D-AC55-48B9-9D4C-CF89897DA4CA}"/>
              </a:ext>
            </a:extLst>
          </p:cNvPr>
          <p:cNvSpPr/>
          <p:nvPr/>
        </p:nvSpPr>
        <p:spPr>
          <a:xfrm>
            <a:off x="6099501" y="2823725"/>
            <a:ext cx="238591" cy="1147836"/>
          </a:xfrm>
          <a:prstGeom prst="ellips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118D0E74-A749-4283-89C4-F58CF2A59011}"/>
              </a:ext>
            </a:extLst>
          </p:cNvPr>
          <p:cNvCxnSpPr>
            <a:stCxn id="62" idx="0"/>
          </p:cNvCxnSpPr>
          <p:nvPr/>
        </p:nvCxnSpPr>
        <p:spPr>
          <a:xfrm flipH="1" flipV="1">
            <a:off x="6218796" y="2543515"/>
            <a:ext cx="1" cy="28021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7B2562F2-1949-4B42-A1B7-26E796C218B8}"/>
              </a:ext>
            </a:extLst>
          </p:cNvPr>
          <p:cNvCxnSpPr>
            <a:stCxn id="36" idx="1"/>
            <a:endCxn id="59" idx="3"/>
          </p:cNvCxnSpPr>
          <p:nvPr/>
        </p:nvCxnSpPr>
        <p:spPr>
          <a:xfrm flipH="1" flipV="1">
            <a:off x="7510900" y="3257091"/>
            <a:ext cx="826947" cy="428253"/>
          </a:xfrm>
          <a:prstGeom prst="straightConnector1">
            <a:avLst/>
          </a:prstGeom>
          <a:ln w="6350" cap="flat">
            <a:solidFill>
              <a:srgbClr val="0000FF"/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1DF7BFA-0742-433C-BF2A-9F0479242090}"/>
              </a:ext>
            </a:extLst>
          </p:cNvPr>
          <p:cNvCxnSpPr>
            <a:stCxn id="62" idx="4"/>
          </p:cNvCxnSpPr>
          <p:nvPr/>
        </p:nvCxnSpPr>
        <p:spPr>
          <a:xfrm>
            <a:off x="6218797" y="3971561"/>
            <a:ext cx="7342" cy="40476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234D2404-EF7C-4B9A-BB41-DAA140E79E21}"/>
              </a:ext>
            </a:extLst>
          </p:cNvPr>
          <p:cNvSpPr/>
          <p:nvPr/>
        </p:nvSpPr>
        <p:spPr>
          <a:xfrm>
            <a:off x="5394903" y="1796344"/>
            <a:ext cx="170189" cy="17617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F4541F34-E3DC-4E43-9CF4-0052F586AC92}"/>
              </a:ext>
            </a:extLst>
          </p:cNvPr>
          <p:cNvSpPr/>
          <p:nvPr/>
        </p:nvSpPr>
        <p:spPr>
          <a:xfrm>
            <a:off x="5637076" y="4548691"/>
            <a:ext cx="170189" cy="17617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0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0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90993D-C6B7-4EBC-8D15-C8A6D8DCDB24}"/>
              </a:ext>
            </a:extLst>
          </p:cNvPr>
          <p:cNvSpPr txBox="1"/>
          <p:nvPr/>
        </p:nvSpPr>
        <p:spPr>
          <a:xfrm>
            <a:off x="4194933" y="3366772"/>
            <a:ext cx="206876" cy="50359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r>
              <a:rPr lang="en-US" altLang="ko-KR" sz="1400" b="1">
                <a:cs typeface="Arial" pitchFamily="34" charset="0"/>
              </a:rPr>
              <a:t>.</a:t>
            </a:r>
          </a:p>
          <a:p>
            <a:r>
              <a:rPr lang="en-US" altLang="ko-KR" sz="1400" b="1">
                <a:cs typeface="Arial" pitchFamily="34" charset="0"/>
              </a:rPr>
              <a:t>.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DF28057-DF13-4033-AB34-3A67D32282C0}"/>
              </a:ext>
            </a:extLst>
          </p:cNvPr>
          <p:cNvSpPr/>
          <p:nvPr/>
        </p:nvSpPr>
        <p:spPr>
          <a:xfrm>
            <a:off x="3455386" y="3991749"/>
            <a:ext cx="1685969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IDE 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서버 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추가 되는 시스템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2" name="모서리가 둥근 직사각형 36">
            <a:extLst>
              <a:ext uri="{FF2B5EF4-FFF2-40B4-BE49-F238E27FC236}">
                <a16:creationId xmlns:a16="http://schemas.microsoft.com/office/drawing/2014/main" id="{7865A4BE-66E7-461E-97C4-D20166236765}"/>
              </a:ext>
            </a:extLst>
          </p:cNvPr>
          <p:cNvSpPr/>
          <p:nvPr/>
        </p:nvSpPr>
        <p:spPr>
          <a:xfrm>
            <a:off x="3698946" y="4210774"/>
            <a:ext cx="1172726" cy="247358"/>
          </a:xfrm>
          <a:prstGeom prst="roundRect">
            <a:avLst/>
          </a:prstGeom>
          <a:solidFill>
            <a:srgbClr val="92D05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테이블 정보 파일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87BCF020-F4B7-48E8-A0DA-90CC376A4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946" y="4076602"/>
            <a:ext cx="419100" cy="400050"/>
          </a:xfrm>
          <a:prstGeom prst="rect">
            <a:avLst/>
          </a:prstGeom>
        </p:spPr>
      </p:pic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01C2C6D-DE0D-4D45-9D74-9642CDE94245}"/>
              </a:ext>
            </a:extLst>
          </p:cNvPr>
          <p:cNvCxnSpPr/>
          <p:nvPr/>
        </p:nvCxnSpPr>
        <p:spPr>
          <a:xfrm flipH="1" flipV="1">
            <a:off x="2341600" y="4276627"/>
            <a:ext cx="1351260" cy="92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4DBD492-5126-4FC0-B63F-30DAA0E05D06}"/>
              </a:ext>
            </a:extLst>
          </p:cNvPr>
          <p:cNvCxnSpPr/>
          <p:nvPr/>
        </p:nvCxnSpPr>
        <p:spPr>
          <a:xfrm>
            <a:off x="2360712" y="4416185"/>
            <a:ext cx="1093679" cy="0"/>
          </a:xfrm>
          <a:prstGeom prst="straightConnector1">
            <a:avLst/>
          </a:prstGeom>
          <a:ln w="6350" cap="flat">
            <a:solidFill>
              <a:srgbClr val="0070C0"/>
            </a:solidFill>
            <a:miter lim="800000"/>
            <a:headEnd type="none" w="med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387DA82-EF7D-4173-BAE2-40844B5D8EA4}"/>
              </a:ext>
            </a:extLst>
          </p:cNvPr>
          <p:cNvGrpSpPr/>
          <p:nvPr/>
        </p:nvGrpSpPr>
        <p:grpSpPr>
          <a:xfrm>
            <a:off x="1359028" y="2732669"/>
            <a:ext cx="551683" cy="634103"/>
            <a:chOff x="1375210" y="3247155"/>
            <a:chExt cx="551683" cy="63410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C673D10-81E2-404B-9C4F-B5C09C1687D5}"/>
                </a:ext>
              </a:extLst>
            </p:cNvPr>
            <p:cNvSpPr txBox="1"/>
            <p:nvPr/>
          </p:nvSpPr>
          <p:spPr>
            <a:xfrm>
              <a:off x="1375210" y="3683713"/>
              <a:ext cx="551683" cy="1975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900" dirty="0">
                  <a:cs typeface="Arial" pitchFamily="34" charset="0"/>
                </a:rPr>
                <a:t>개발자</a:t>
              </a:r>
            </a:p>
          </p:txBody>
        </p:sp>
        <p:pic>
          <p:nvPicPr>
            <p:cNvPr id="60" name="Picture 117" descr="D:\모스트비주얼\아이콘 작업\01\02.png">
              <a:extLst>
                <a:ext uri="{FF2B5EF4-FFF2-40B4-BE49-F238E27FC236}">
                  <a16:creationId xmlns:a16="http://schemas.microsoft.com/office/drawing/2014/main" id="{C86431D5-6306-45B5-BB15-A57D8600E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12970" y="3247155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85C544C-0153-4496-85E1-4EE3302B9A22}"/>
              </a:ext>
            </a:extLst>
          </p:cNvPr>
          <p:cNvGrpSpPr/>
          <p:nvPr/>
        </p:nvGrpSpPr>
        <p:grpSpPr>
          <a:xfrm>
            <a:off x="1375210" y="4019033"/>
            <a:ext cx="551683" cy="634103"/>
            <a:chOff x="1375210" y="3247155"/>
            <a:chExt cx="551683" cy="634103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ED7BAF1-1954-4D31-8853-FA01A91DF617}"/>
                </a:ext>
              </a:extLst>
            </p:cNvPr>
            <p:cNvSpPr txBox="1"/>
            <p:nvPr/>
          </p:nvSpPr>
          <p:spPr>
            <a:xfrm>
              <a:off x="1375210" y="3683713"/>
              <a:ext cx="551683" cy="1975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900" dirty="0">
                  <a:cs typeface="Arial" pitchFamily="34" charset="0"/>
                </a:rPr>
                <a:t>개발자</a:t>
              </a:r>
            </a:p>
          </p:txBody>
        </p:sp>
        <p:pic>
          <p:nvPicPr>
            <p:cNvPr id="73" name="Picture 117" descr="D:\모스트비주얼\아이콘 작업\01\02.png">
              <a:extLst>
                <a:ext uri="{FF2B5EF4-FFF2-40B4-BE49-F238E27FC236}">
                  <a16:creationId xmlns:a16="http://schemas.microsoft.com/office/drawing/2014/main" id="{D0184389-3122-476F-B737-FEB687A01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12970" y="3247155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14587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프로그램 변경 영향도 분석 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  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통합개발환경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 관리</a:t>
            </a:r>
          </a:p>
        </p:txBody>
      </p:sp>
      <p:sp>
        <p:nvSpPr>
          <p:cNvPr id="8" name="텍스트 개체 틀 4"/>
          <p:cNvSpPr txBox="1">
            <a:spLocks/>
          </p:cNvSpPr>
          <p:nvPr/>
        </p:nvSpPr>
        <p:spPr>
          <a:xfrm>
            <a:off x="381884" y="731429"/>
            <a:ext cx="9143468" cy="2215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개발된 프로그램 변경시</a:t>
            </a:r>
            <a:r>
              <a:rPr lang="en-US" altLang="ko-KR"/>
              <a:t>,</a:t>
            </a:r>
            <a:r>
              <a:rPr lang="ko-KR" altLang="en-US"/>
              <a:t> 관련된 서비스</a:t>
            </a:r>
            <a:r>
              <a:rPr lang="en-US" altLang="ko-KR"/>
              <a:t>,</a:t>
            </a:r>
            <a:r>
              <a:rPr lang="ko-KR" altLang="en-US"/>
              <a:t>메소드호출</a:t>
            </a:r>
            <a:r>
              <a:rPr lang="en-US" altLang="ko-KR"/>
              <a:t>,SQL</a:t>
            </a:r>
            <a:r>
              <a:rPr lang="ko-KR" altLang="en-US"/>
              <a:t>호출</a:t>
            </a:r>
            <a:r>
              <a:rPr lang="en-US" altLang="ko-KR"/>
              <a:t>,DB</a:t>
            </a:r>
            <a:r>
              <a:rPr lang="ko-KR" altLang="en-US"/>
              <a:t>테이블의 변경영향도를 분석하는 기능을 제공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4" y="1398868"/>
            <a:ext cx="4375795" cy="2948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2"/>
          <a:stretch/>
        </p:blipFill>
        <p:spPr bwMode="auto">
          <a:xfrm>
            <a:off x="5093860" y="1413426"/>
            <a:ext cx="4431492" cy="29523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9"/>
          <a:stretch/>
        </p:blipFill>
        <p:spPr bwMode="auto">
          <a:xfrm>
            <a:off x="870553" y="4797152"/>
            <a:ext cx="3813726" cy="1217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860" y="4797152"/>
            <a:ext cx="3977440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왼쪽/오른쪽 화살표 12"/>
          <p:cNvSpPr/>
          <p:nvPr/>
        </p:nvSpPr>
        <p:spPr>
          <a:xfrm>
            <a:off x="4312695" y="2713101"/>
            <a:ext cx="1188132" cy="396044"/>
          </a:xfrm>
          <a:prstGeom prst="leftRightArrow">
            <a:avLst>
              <a:gd name="adj1" fmla="val 50000"/>
              <a:gd name="adj2" fmla="val 37954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표시유형전환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249144" y="3211029"/>
            <a:ext cx="920394" cy="50600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 flipH="1">
            <a:off x="820491" y="4741046"/>
            <a:ext cx="3898829" cy="1327375"/>
          </a:xfrm>
          <a:prstGeom prst="rect">
            <a:avLst/>
          </a:prstGeom>
          <a:gradFill flip="none" rotWithShape="1">
            <a:gsLst>
              <a:gs pos="89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014539" y="1455977"/>
            <a:ext cx="510813" cy="136819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7" name="꺾인 연결선 16"/>
          <p:cNvCxnSpPr>
            <a:stCxn id="14" idx="2"/>
            <a:endCxn id="15" idx="0"/>
          </p:cNvCxnSpPr>
          <p:nvPr/>
        </p:nvCxnSpPr>
        <p:spPr>
          <a:xfrm rot="5400000">
            <a:off x="4227616" y="2259321"/>
            <a:ext cx="1024014" cy="3939436"/>
          </a:xfrm>
          <a:prstGeom prst="bentConnector3">
            <a:avLst>
              <a:gd name="adj1" fmla="val 73295"/>
            </a:avLst>
          </a:prstGeom>
          <a:ln w="28575" cap="flat">
            <a:solidFill>
              <a:srgbClr val="FF0000"/>
            </a:solidFill>
            <a:prstDash val="sysDot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6" idx="2"/>
            <a:endCxn id="19" idx="1"/>
          </p:cNvCxnSpPr>
          <p:nvPr/>
        </p:nvCxnSpPr>
        <p:spPr>
          <a:xfrm rot="5400000">
            <a:off x="7227794" y="3436302"/>
            <a:ext cx="3885659" cy="198647"/>
          </a:xfrm>
          <a:prstGeom prst="bentConnector2">
            <a:avLst/>
          </a:prstGeom>
          <a:ln w="28575" cap="flat">
            <a:solidFill>
              <a:srgbClr val="FF0000"/>
            </a:solidFill>
            <a:prstDash val="sysDot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 flipH="1">
            <a:off x="5058818" y="4741045"/>
            <a:ext cx="4012481" cy="1474820"/>
          </a:xfrm>
          <a:prstGeom prst="rect">
            <a:avLst/>
          </a:prstGeom>
          <a:gradFill flip="none" rotWithShape="1">
            <a:gsLst>
              <a:gs pos="89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524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311054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1922372"/>
            <a:ext cx="6848453" cy="4974045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어플리케이션 구성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통합 개발 환경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온라인 거래 패턴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 err="1">
                <a:solidFill>
                  <a:prstClr val="black"/>
                </a:solidFill>
              </a:rPr>
              <a:t>선후처리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 err="1">
                <a:solidFill>
                  <a:prstClr val="black"/>
                </a:solidFill>
              </a:rPr>
              <a:t>DataAccess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처리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>
                <a:solidFill>
                  <a:prstClr val="black"/>
                </a:solidFill>
              </a:rPr>
              <a:t>Common Area </a:t>
            </a:r>
            <a:r>
              <a:rPr lang="ko-KR" altLang="en-US" dirty="0">
                <a:solidFill>
                  <a:prstClr val="black"/>
                </a:solidFill>
              </a:rPr>
              <a:t>관리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로그 처리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거래 제어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 err="1">
                <a:solidFill>
                  <a:prstClr val="black"/>
                </a:solidFill>
              </a:rPr>
              <a:t>에러처리</a:t>
            </a:r>
            <a:r>
              <a:rPr lang="ko-KR" altLang="en-US" dirty="0">
                <a:solidFill>
                  <a:prstClr val="black"/>
                </a:solidFill>
              </a:rPr>
              <a:t>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err="1">
                <a:solidFill>
                  <a:prstClr val="black"/>
                </a:solidFill>
              </a:rPr>
              <a:t>캐시처리</a:t>
            </a:r>
            <a:r>
              <a:rPr lang="ko-KR" altLang="en-US">
                <a:solidFill>
                  <a:prstClr val="black"/>
                </a:solidFill>
              </a:rPr>
              <a:t> 방안</a:t>
            </a:r>
            <a:endParaRPr lang="en-US" altLang="ko-KR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>
                <a:solidFill>
                  <a:prstClr val="black"/>
                </a:solidFill>
              </a:rPr>
              <a:t>배치 실행</a:t>
            </a:r>
            <a:r>
              <a:rPr lang="en-US" altLang="ko-KR">
                <a:solidFill>
                  <a:prstClr val="black"/>
                </a:solidFill>
              </a:rPr>
              <a:t>/</a:t>
            </a:r>
            <a:r>
              <a:rPr lang="ko-KR" altLang="en-US">
                <a:solidFill>
                  <a:prstClr val="black"/>
                </a:solidFill>
              </a:rPr>
              <a:t>센터컷 실행</a:t>
            </a:r>
            <a:endParaRPr lang="en-US" altLang="ko-KR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4492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프레임워크 구성도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n-KESA </a:t>
            </a:r>
            <a:r>
              <a:rPr lang="ko-KR" altLang="en-US"/>
              <a:t>시스템</a:t>
            </a:r>
            <a:r>
              <a:rPr lang="en-US" altLang="ko-KR"/>
              <a:t> </a:t>
            </a:r>
            <a:r>
              <a:rPr lang="ko-KR" altLang="en-US"/>
              <a:t>구성은 온라인</a:t>
            </a:r>
            <a:r>
              <a:rPr lang="en-US" altLang="ko-KR"/>
              <a:t>, </a:t>
            </a:r>
            <a:r>
              <a:rPr lang="ko-KR" altLang="en-US"/>
              <a:t>배치</a:t>
            </a:r>
            <a:r>
              <a:rPr lang="en-US" altLang="ko-KR"/>
              <a:t>, </a:t>
            </a:r>
            <a:r>
              <a:rPr lang="ko-KR" altLang="en-US"/>
              <a:t>배치 노드매니저</a:t>
            </a:r>
            <a:r>
              <a:rPr lang="en-US" altLang="ko-KR"/>
              <a:t>, </a:t>
            </a:r>
            <a:r>
              <a:rPr lang="ko-KR" altLang="en-US"/>
              <a:t>배포환경</a:t>
            </a:r>
            <a:r>
              <a:rPr lang="en-US" altLang="ko-KR"/>
              <a:t>, </a:t>
            </a:r>
            <a:r>
              <a:rPr lang="ko-KR" altLang="en-US"/>
              <a:t>개발환경</a:t>
            </a:r>
            <a:r>
              <a:rPr lang="en-US" altLang="ko-KR"/>
              <a:t>, </a:t>
            </a:r>
            <a:r>
              <a:rPr lang="ko-KR" altLang="en-US"/>
              <a:t>운영관리 환경으로 구성됨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0.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프레임워크 구성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039008" y="1086955"/>
            <a:ext cx="6439611" cy="5538561"/>
            <a:chOff x="1039008" y="1086955"/>
            <a:chExt cx="6439611" cy="5538561"/>
          </a:xfrm>
        </p:grpSpPr>
        <p:sp>
          <p:nvSpPr>
            <p:cNvPr id="47" name="직사각형 46"/>
            <p:cNvSpPr/>
            <p:nvPr/>
          </p:nvSpPr>
          <p:spPr>
            <a:xfrm>
              <a:off x="4865859" y="5555182"/>
              <a:ext cx="2459372" cy="83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342364" y="5547153"/>
              <a:ext cx="2460263" cy="83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335152" y="1086955"/>
              <a:ext cx="5004556" cy="43692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16493" y="1861592"/>
              <a:ext cx="1656184" cy="26747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000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64093" y="1709192"/>
              <a:ext cx="1656184" cy="26747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000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3784421" y="2101169"/>
              <a:ext cx="1405216" cy="2128725"/>
              <a:chOff x="3219559" y="1031402"/>
              <a:chExt cx="1445411" cy="1965549"/>
            </a:xfrm>
          </p:grpSpPr>
          <p:grpSp>
            <p:nvGrpSpPr>
              <p:cNvPr id="13" name="그룹 12"/>
              <p:cNvGrpSpPr/>
              <p:nvPr/>
            </p:nvGrpSpPr>
            <p:grpSpPr>
              <a:xfrm>
                <a:off x="3219559" y="1031402"/>
                <a:ext cx="1445411" cy="1965549"/>
                <a:chOff x="3219558" y="1031403"/>
                <a:chExt cx="2682877" cy="2359497"/>
              </a:xfrm>
            </p:grpSpPr>
            <p:sp>
              <p:nvSpPr>
                <p:cNvPr id="15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2863111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WAS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grpSp>
              <p:nvGrpSpPr>
                <p:cNvPr id="16" name="그룹 15"/>
                <p:cNvGrpSpPr/>
                <p:nvPr/>
              </p:nvGrpSpPr>
              <p:grpSpPr>
                <a:xfrm>
                  <a:off x="3219558" y="1031403"/>
                  <a:ext cx="2682877" cy="1829298"/>
                  <a:chOff x="3229083" y="1196753"/>
                  <a:chExt cx="2682877" cy="1829298"/>
                </a:xfrm>
              </p:grpSpPr>
              <p:sp>
                <p:nvSpPr>
                  <p:cNvPr id="18" name="AutoShap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5" y="1196753"/>
                    <a:ext cx="2682875" cy="1562236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   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온라인</a:t>
                    </a:r>
                    <a:endPara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19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2670105"/>
                    <a:ext cx="2682875" cy="3559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nkesa.ear</a:t>
                    </a: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(runtime)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sp>
              <p:nvSpPr>
                <p:cNvPr id="17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3129594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JVM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14" name="직사각형 13"/>
              <p:cNvSpPr/>
              <p:nvPr/>
            </p:nvSpPr>
            <p:spPr>
              <a:xfrm>
                <a:off x="3219560" y="1407230"/>
                <a:ext cx="1445410" cy="8472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rnd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Application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(*.jar)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PU,FU,DU</a:t>
                </a:r>
                <a:endParaRPr lang="ko-KR" altLang="en-US" sz="1000" b="1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3511693" y="1556792"/>
              <a:ext cx="1656184" cy="26747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000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6003411" y="1829319"/>
              <a:ext cx="1012261" cy="1746755"/>
              <a:chOff x="5097016" y="1118154"/>
              <a:chExt cx="1447309" cy="1746755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5097016" y="1118154"/>
                <a:ext cx="1447309" cy="1746755"/>
                <a:chOff x="3219558" y="1030955"/>
                <a:chExt cx="2686400" cy="2096851"/>
              </a:xfrm>
            </p:grpSpPr>
            <p:grpSp>
              <p:nvGrpSpPr>
                <p:cNvPr id="24" name="그룹 23"/>
                <p:cNvGrpSpPr/>
                <p:nvPr/>
              </p:nvGrpSpPr>
              <p:grpSpPr>
                <a:xfrm>
                  <a:off x="3219558" y="1030955"/>
                  <a:ext cx="2686400" cy="1829746"/>
                  <a:chOff x="3229083" y="1196305"/>
                  <a:chExt cx="2686400" cy="1829746"/>
                </a:xfrm>
              </p:grpSpPr>
              <p:sp>
                <p:nvSpPr>
                  <p:cNvPr id="26" name="AutoShap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1196305"/>
                    <a:ext cx="2686400" cy="156223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배치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7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2764745"/>
                    <a:ext cx="2682875" cy="26130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(runtime)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sp>
              <p:nvSpPr>
                <p:cNvPr id="25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2866500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JVM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23" name="직사각형 22"/>
              <p:cNvSpPr/>
              <p:nvPr/>
            </p:nvSpPr>
            <p:spPr>
              <a:xfrm>
                <a:off x="5097017" y="1494355"/>
                <a:ext cx="1445410" cy="925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flat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Application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(*.class)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BU,BS,DU</a:t>
                </a:r>
                <a:endParaRPr lang="ko-KR" altLang="en-US" sz="1000" b="1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1039009" y="1086956"/>
              <a:ext cx="602550" cy="2042826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>
                  <a:lumMod val="85000"/>
                  <a:lumOff val="15000"/>
                </a:sysClr>
              </a:solidFill>
              <a:miter lim="800000"/>
              <a:headEnd/>
              <a:tailEnd/>
            </a:ln>
          </p:spPr>
          <p:txBody>
            <a:bodyPr lIns="36000" tIns="18000" rIns="18000" bIns="18000" anchor="ctr"/>
            <a:lstStyle/>
            <a:p>
              <a:pPr algn="ctr" defTabSz="190500">
                <a:tabLst>
                  <a:tab pos="1238250" algn="l"/>
                </a:tabLst>
                <a:defRPr/>
              </a:pPr>
              <a:r>
                <a:rPr lang="en-US" altLang="ko-KR" sz="1000" b="1" kern="0" dirty="0">
                  <a:solidFill>
                    <a:sysClr val="windowText" lastClr="000000"/>
                  </a:solidFill>
                  <a:latin typeface="+mn-ea"/>
                </a:rPr>
                <a:t>MCI/APIG/W</a:t>
              </a:r>
              <a:endParaRPr lang="en-US" altLang="ko-KR" sz="1000" b="1" kern="0" dirty="0">
                <a:latin typeface="+mn-ea"/>
              </a:endParaRP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3632021" y="1948769"/>
              <a:ext cx="1405216" cy="2128725"/>
              <a:chOff x="3219559" y="1031402"/>
              <a:chExt cx="1445411" cy="1965549"/>
            </a:xfrm>
          </p:grpSpPr>
          <p:grpSp>
            <p:nvGrpSpPr>
              <p:cNvPr id="30" name="그룹 29"/>
              <p:cNvGrpSpPr/>
              <p:nvPr/>
            </p:nvGrpSpPr>
            <p:grpSpPr>
              <a:xfrm>
                <a:off x="3219559" y="1031402"/>
                <a:ext cx="1445411" cy="1965549"/>
                <a:chOff x="3219558" y="1031403"/>
                <a:chExt cx="2682877" cy="2359497"/>
              </a:xfrm>
            </p:grpSpPr>
            <p:sp>
              <p:nvSpPr>
                <p:cNvPr id="32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2863111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WAS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grpSp>
              <p:nvGrpSpPr>
                <p:cNvPr id="33" name="그룹 32"/>
                <p:cNvGrpSpPr/>
                <p:nvPr/>
              </p:nvGrpSpPr>
              <p:grpSpPr>
                <a:xfrm>
                  <a:off x="3219558" y="1031403"/>
                  <a:ext cx="2682877" cy="1829298"/>
                  <a:chOff x="3229083" y="1196753"/>
                  <a:chExt cx="2682877" cy="1829298"/>
                </a:xfrm>
              </p:grpSpPr>
              <p:sp>
                <p:nvSpPr>
                  <p:cNvPr id="35" name="AutoShap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5" y="1196753"/>
                    <a:ext cx="2682875" cy="1562236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   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온라인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3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2670105"/>
                    <a:ext cx="2682875" cy="3559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 dirty="0" err="1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nkesa.war</a:t>
                    </a:r>
                    <a:endParaRPr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(runtime)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sp>
              <p:nvSpPr>
                <p:cNvPr id="34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3129594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JVM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31" name="직사각형 30"/>
              <p:cNvSpPr/>
              <p:nvPr/>
            </p:nvSpPr>
            <p:spPr>
              <a:xfrm>
                <a:off x="3219560" y="1407230"/>
                <a:ext cx="1445410" cy="8472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rnd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Application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(*.jar)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PU,FU,DU,DBIO</a:t>
                </a:r>
                <a:endParaRPr lang="ko-KR" altLang="en-US" sz="1000" b="1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6357156" y="5754858"/>
              <a:ext cx="844777" cy="482454"/>
              <a:chOff x="516388" y="4501640"/>
              <a:chExt cx="844777" cy="482454"/>
            </a:xfrm>
          </p:grpSpPr>
          <p:pic>
            <p:nvPicPr>
              <p:cNvPr id="38" name="Picture 105" descr="C:\Program Files\Microsoft Office\MEDIA\CAGCAT10\j0195384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739613" y="4501640"/>
                <a:ext cx="28575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" name="직사각형 38"/>
              <p:cNvSpPr/>
              <p:nvPr/>
            </p:nvSpPr>
            <p:spPr>
              <a:xfrm>
                <a:off x="516388" y="4855681"/>
                <a:ext cx="844777" cy="128413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ko-KR" altLang="en-US" sz="1000" b="1">
                    <a:solidFill>
                      <a:schemeClr val="tx1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Arial" pitchFamily="34" charset="0"/>
                  </a:rPr>
                  <a:t>개발자</a:t>
                </a:r>
                <a:r>
                  <a:rPr lang="en-US" altLang="ko-KR" sz="1000" b="1">
                    <a:solidFill>
                      <a:schemeClr val="tx1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Arial" pitchFamily="34" charset="0"/>
                  </a:rPr>
                  <a:t>/</a:t>
                </a:r>
                <a:r>
                  <a:rPr lang="ko-KR" altLang="en-US" sz="1000" b="1">
                    <a:solidFill>
                      <a:schemeClr val="tx1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Arial" pitchFamily="34" charset="0"/>
                  </a:rPr>
                  <a:t>운영자</a:t>
                </a:r>
                <a:endParaRPr lang="ko-KR" altLang="en-US" sz="1000" b="1" dirty="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6004740" y="3708634"/>
              <a:ext cx="1010932" cy="403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배치 노드매니저</a:t>
              </a:r>
              <a:endParaRPr lang="en-US" altLang="ko-KR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47420" y="4802266"/>
              <a:ext cx="2266924" cy="2548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en-US" altLang="ko-KR"/>
                <a:t>CM </a:t>
              </a:r>
              <a:r>
                <a:rPr lang="ko-KR" altLang="en-US"/>
                <a:t>에이전트</a:t>
              </a:r>
              <a:r>
                <a:rPr lang="en-US" altLang="ko-KR"/>
                <a:t>(</a:t>
              </a:r>
              <a:r>
                <a:rPr lang="ko-KR" altLang="en-US"/>
                <a:t>스테이징</a:t>
              </a:r>
              <a:r>
                <a:rPr lang="en-US" altLang="ko-KR"/>
                <a:t>, </a:t>
              </a:r>
              <a:r>
                <a:rPr lang="ko-KR" altLang="en-US"/>
                <a:t>운영</a:t>
              </a:r>
              <a:r>
                <a:rPr lang="en-US" altLang="ko-KR"/>
                <a:t>)</a:t>
              </a:r>
              <a:endParaRPr lang="en-US" altLang="ko-KR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91415" y="1610935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WAS Instance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3" name="위쪽 화살표 42"/>
            <p:cNvSpPr/>
            <p:nvPr/>
          </p:nvSpPr>
          <p:spPr>
            <a:xfrm>
              <a:off x="4989944" y="4607458"/>
              <a:ext cx="864096" cy="144016"/>
            </a:xfrm>
            <a:prstGeom prst="upArrow">
              <a:avLst/>
            </a:prstGeom>
            <a:solidFill>
              <a:srgbClr val="E3E7E9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213140" y="5589240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(</a:t>
              </a:r>
              <a:r>
                <a:rPr lang="ko-KR" altLang="en-US" sz="1050" b="1">
                  <a:cs typeface="Arial" pitchFamily="34" charset="0"/>
                </a:rPr>
                <a:t>웹 브라우저</a:t>
              </a:r>
              <a:r>
                <a:rPr lang="en-US" altLang="ko-KR" sz="1050" b="1">
                  <a:cs typeface="Arial" pitchFamily="34" charset="0"/>
                </a:rPr>
                <a:t>)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0565" y="1140150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>
                  <a:cs typeface="Arial" pitchFamily="34" charset="0"/>
                </a:rPr>
                <a:t>업무 서버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01459" y="5575324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>
                  <a:cs typeface="Arial" pitchFamily="34" charset="0"/>
                </a:rPr>
                <a:t>프레임워크 개발 서버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13292" y="5603784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>
                  <a:cs typeface="Arial" pitchFamily="34" charset="0"/>
                </a:rPr>
                <a:t>프레임워크 관리 서버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479168" y="5823886"/>
              <a:ext cx="1042979" cy="40343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en-US" altLang="ko-KR"/>
                <a:t>IDE Server</a:t>
              </a:r>
            </a:p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en-US" altLang="ko-KR"/>
                <a:t>(</a:t>
              </a:r>
              <a:r>
                <a:rPr lang="ko-KR" altLang="en-US"/>
                <a:t>개발 관리도구</a:t>
              </a:r>
              <a:r>
                <a:rPr lang="en-US" altLang="ko-KR"/>
                <a:t>)</a:t>
              </a:r>
              <a:endParaRPr lang="en-US" altLang="ko-KR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04726" y="5823854"/>
              <a:ext cx="1010932" cy="403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프레임워크 </a:t>
              </a:r>
              <a:endParaRPr lang="en-US" altLang="ko-KR"/>
            </a:p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관리콘솔</a:t>
              </a:r>
              <a:endParaRPr lang="en-US" altLang="ko-KR" dirty="0"/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>
              <a:off x="1641559" y="1709192"/>
              <a:ext cx="827155" cy="0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4154" y="5827351"/>
              <a:ext cx="419100" cy="400050"/>
            </a:xfrm>
            <a:prstGeom prst="rect">
              <a:avLst/>
            </a:prstGeom>
          </p:spPr>
        </p:pic>
        <p:sp>
          <p:nvSpPr>
            <p:cNvPr id="56" name="직사각형 55"/>
            <p:cNvSpPr/>
            <p:nvPr/>
          </p:nvSpPr>
          <p:spPr>
            <a:xfrm>
              <a:off x="2468715" y="1515298"/>
              <a:ext cx="720080" cy="4096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IBM HTTP </a:t>
              </a:r>
              <a:b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</a:b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Server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57" name="꺾인 연결선 56"/>
            <p:cNvCxnSpPr>
              <a:stCxn id="38" idx="3"/>
            </p:cNvCxnSpPr>
            <p:nvPr/>
          </p:nvCxnSpPr>
          <p:spPr>
            <a:xfrm rot="10800000" flipV="1">
              <a:off x="6004743" y="5900907"/>
              <a:ext cx="575639" cy="12179"/>
            </a:xfrm>
            <a:prstGeom prst="bentConnector3">
              <a:avLst>
                <a:gd name="adj1" fmla="val -302"/>
              </a:avLst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꺾인 연결선 57"/>
            <p:cNvCxnSpPr>
              <a:cxnSpLocks/>
              <a:stCxn id="54" idx="3"/>
              <a:endCxn id="49" idx="1"/>
            </p:cNvCxnSpPr>
            <p:nvPr/>
          </p:nvCxnSpPr>
          <p:spPr>
            <a:xfrm flipV="1">
              <a:off x="1633254" y="6025606"/>
              <a:ext cx="845914" cy="1770"/>
            </a:xfrm>
            <a:prstGeom prst="bentConnector3">
              <a:avLst>
                <a:gd name="adj1" fmla="val 50000"/>
              </a:avLst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468715" y="4802266"/>
              <a:ext cx="2266924" cy="2548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배포 에이전트</a:t>
              </a:r>
              <a:r>
                <a:rPr lang="en-US" altLang="ko-KR"/>
                <a:t>(</a:t>
              </a:r>
              <a:r>
                <a:rPr lang="ko-KR" altLang="en-US"/>
                <a:t>개발 환경</a:t>
              </a:r>
              <a:r>
                <a:rPr lang="en-US" altLang="ko-KR"/>
                <a:t>)</a:t>
              </a:r>
              <a:endParaRPr lang="en-US" altLang="ko-KR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546032" y="4595849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(</a:t>
              </a:r>
              <a:r>
                <a:rPr lang="ko-KR" altLang="en-US" sz="1050" b="1">
                  <a:cs typeface="Arial" pitchFamily="34" charset="0"/>
                </a:rPr>
                <a:t>변경 관리</a:t>
              </a:r>
              <a:r>
                <a:rPr lang="en-US" altLang="ko-KR" sz="1050" b="1">
                  <a:cs typeface="Arial" pitchFamily="34" charset="0"/>
                </a:rPr>
                <a:t>)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61" name="위쪽 화살표 60"/>
            <p:cNvSpPr/>
            <p:nvPr/>
          </p:nvSpPr>
          <p:spPr>
            <a:xfrm>
              <a:off x="2682715" y="4615205"/>
              <a:ext cx="864096" cy="144016"/>
            </a:xfrm>
            <a:prstGeom prst="upArrow">
              <a:avLst/>
            </a:prstGeom>
            <a:solidFill>
              <a:srgbClr val="E3E7E9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57294" y="4610573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(</a:t>
              </a:r>
              <a:r>
                <a:rPr lang="ko-KR" altLang="en-US" sz="1050" b="1">
                  <a:cs typeface="Arial" pitchFamily="34" charset="0"/>
                </a:rPr>
                <a:t>자동 배포</a:t>
              </a:r>
              <a:r>
                <a:rPr lang="en-US" altLang="ko-KR" sz="1050" b="1">
                  <a:cs typeface="Arial" pitchFamily="34" charset="0"/>
                </a:rPr>
                <a:t>)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1039008" y="3208180"/>
              <a:ext cx="602550" cy="2021020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>
                  <a:lumMod val="85000"/>
                  <a:lumOff val="15000"/>
                </a:sysClr>
              </a:solidFill>
              <a:miter lim="800000"/>
              <a:headEnd/>
              <a:tailEnd/>
            </a:ln>
          </p:spPr>
          <p:txBody>
            <a:bodyPr lIns="36000" tIns="18000" rIns="18000" bIns="18000" anchor="ctr"/>
            <a:lstStyle/>
            <a:p>
              <a:pPr algn="ctr" defTabSz="190500">
                <a:tabLst>
                  <a:tab pos="1238250" algn="l"/>
                </a:tabLst>
                <a:defRPr/>
              </a:pPr>
              <a:r>
                <a:rPr lang="en-US" altLang="ko-KR" sz="1000" b="1" kern="0" dirty="0">
                  <a:solidFill>
                    <a:sysClr val="windowText" lastClr="000000"/>
                  </a:solidFill>
                  <a:latin typeface="+mn-ea"/>
                </a:rPr>
                <a:t>EAI</a:t>
              </a:r>
              <a:endParaRPr lang="en-US" altLang="ko-KR" sz="1000" b="1" kern="0" dirty="0">
                <a:latin typeface="+mn-ea"/>
              </a:endParaRPr>
            </a:p>
          </p:txBody>
        </p:sp>
        <p:cxnSp>
          <p:nvCxnSpPr>
            <p:cNvPr id="64" name="직선 화살표 연결선 63"/>
            <p:cNvCxnSpPr>
              <a:stCxn id="56" idx="3"/>
            </p:cNvCxnSpPr>
            <p:nvPr/>
          </p:nvCxnSpPr>
          <p:spPr>
            <a:xfrm flipV="1">
              <a:off x="3188795" y="1633050"/>
              <a:ext cx="342309" cy="87077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/>
            <p:cNvCxnSpPr>
              <a:stCxn id="56" idx="3"/>
            </p:cNvCxnSpPr>
            <p:nvPr/>
          </p:nvCxnSpPr>
          <p:spPr>
            <a:xfrm>
              <a:off x="3188795" y="1720127"/>
              <a:ext cx="322899" cy="215945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/>
            <p:cNvCxnSpPr/>
            <p:nvPr/>
          </p:nvCxnSpPr>
          <p:spPr>
            <a:xfrm>
              <a:off x="3208549" y="1726811"/>
              <a:ext cx="322899" cy="12903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>
              <a:off x="1641558" y="3510609"/>
              <a:ext cx="1870135" cy="0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직사각형 67"/>
            <p:cNvSpPr/>
            <p:nvPr/>
          </p:nvSpPr>
          <p:spPr>
            <a:xfrm>
              <a:off x="2520392" y="1568275"/>
              <a:ext cx="720080" cy="4096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IBM HTTP </a:t>
              </a:r>
              <a:b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</a:b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Server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468714" y="5092121"/>
              <a:ext cx="1262209" cy="2548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 sz="900"/>
                <a:t>메타로더</a:t>
              </a:r>
              <a:r>
                <a:rPr lang="en-US" altLang="ko-KR" sz="900"/>
                <a:t>(</a:t>
              </a:r>
              <a:r>
                <a:rPr lang="ko-KR" altLang="en-US" sz="900"/>
                <a:t>개발 환경</a:t>
              </a:r>
              <a:r>
                <a:rPr lang="en-US" altLang="ko-KR" sz="900"/>
                <a:t>)</a:t>
              </a:r>
              <a:endParaRPr lang="en-US" altLang="ko-KR" sz="9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366" y="6261708"/>
              <a:ext cx="712129" cy="36380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 dirty="0">
                  <a:cs typeface="Arial" pitchFamily="34" charset="0"/>
                </a:rPr>
                <a:t>개발도구</a:t>
              </a:r>
              <a:br>
                <a:rPr lang="en-US" altLang="ko-KR" sz="1050" b="1" dirty="0">
                  <a:cs typeface="Arial" pitchFamily="34" charset="0"/>
                </a:rPr>
              </a:br>
              <a:r>
                <a:rPr lang="en-US" altLang="ko-KR" sz="1050" b="1" dirty="0">
                  <a:cs typeface="Arial" pitchFamily="34" charset="0"/>
                </a:rPr>
                <a:t>IDE</a:t>
              </a:r>
              <a:endParaRPr lang="ko-KR" altLang="en-US" sz="1050" b="1" dirty="0">
                <a:cs typeface="Arial" pitchFamily="34" charset="0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335324E-5CB9-4278-B951-D65E696375D6}"/>
              </a:ext>
            </a:extLst>
          </p:cNvPr>
          <p:cNvGrpSpPr/>
          <p:nvPr/>
        </p:nvGrpSpPr>
        <p:grpSpPr>
          <a:xfrm>
            <a:off x="644136" y="5920236"/>
            <a:ext cx="551683" cy="634103"/>
            <a:chOff x="1375210" y="3247155"/>
            <a:chExt cx="551683" cy="634103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A942023-6AAF-40DB-BA69-EC1F92FDCECC}"/>
                </a:ext>
              </a:extLst>
            </p:cNvPr>
            <p:cNvSpPr txBox="1"/>
            <p:nvPr/>
          </p:nvSpPr>
          <p:spPr>
            <a:xfrm>
              <a:off x="1375210" y="3683713"/>
              <a:ext cx="551683" cy="1975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900" b="1" dirty="0">
                  <a:cs typeface="Arial" pitchFamily="34" charset="0"/>
                </a:rPr>
                <a:t>개발자</a:t>
              </a:r>
            </a:p>
          </p:txBody>
        </p:sp>
        <p:pic>
          <p:nvPicPr>
            <p:cNvPr id="73" name="Picture 117" descr="D:\모스트비주얼\아이콘 작업\01\02.png">
              <a:extLst>
                <a:ext uri="{FF2B5EF4-FFF2-40B4-BE49-F238E27FC236}">
                  <a16:creationId xmlns:a16="http://schemas.microsoft.com/office/drawing/2014/main" id="{34D59C60-ED53-44CE-98CD-54AAEE129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12970" y="3247155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3106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거래 기본 패턴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통합단말에서 </a:t>
            </a:r>
            <a:r>
              <a:rPr lang="en-US" altLang="ko-KR" dirty="0"/>
              <a:t>MCI</a:t>
            </a:r>
            <a:r>
              <a:rPr lang="ko-KR" altLang="en-US" dirty="0"/>
              <a:t>를 거쳐 </a:t>
            </a:r>
            <a:r>
              <a:rPr lang="ko-KR" altLang="en-US" dirty="0" err="1"/>
              <a:t>표준전문이</a:t>
            </a:r>
            <a:r>
              <a:rPr lang="ko-KR" altLang="en-US" dirty="0"/>
              <a:t> 서버로 전달되고 </a:t>
            </a:r>
            <a:r>
              <a:rPr lang="en-US" altLang="ko-KR" dirty="0"/>
              <a:t>WAS </a:t>
            </a:r>
            <a:r>
              <a:rPr lang="ko-KR" altLang="en-US" dirty="0"/>
              <a:t>상의 프레임워크 레이어에서 전문 </a:t>
            </a:r>
            <a:r>
              <a:rPr lang="ko-KR" altLang="en-US" dirty="0" err="1"/>
              <a:t>파싱</a:t>
            </a:r>
            <a:r>
              <a:rPr lang="en-US" altLang="ko-KR" dirty="0"/>
              <a:t>, </a:t>
            </a:r>
            <a:r>
              <a:rPr lang="ko-KR" altLang="en-US" dirty="0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어플리케이션 호출</a:t>
            </a:r>
            <a:r>
              <a:rPr lang="en-US" altLang="ko-KR" dirty="0"/>
              <a:t>, </a:t>
            </a:r>
            <a:r>
              <a:rPr lang="ko-KR" altLang="en-US" dirty="0"/>
              <a:t>후처리</a:t>
            </a:r>
            <a:r>
              <a:rPr lang="en-US" altLang="ko-KR" dirty="0"/>
              <a:t>, </a:t>
            </a:r>
            <a:r>
              <a:rPr lang="ko-KR" altLang="en-US" dirty="0" err="1"/>
              <a:t>거래로깅</a:t>
            </a:r>
            <a:r>
              <a:rPr lang="ko-KR" altLang="en-US" dirty="0"/>
              <a:t> 등 순서로 거래가 처리됨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067331" y="181158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4412940" y="2492896"/>
            <a:ext cx="3205654" cy="352839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lIns="180000" rIns="54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84548" y="3161328"/>
            <a:ext cx="1214438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84548" y="2640335"/>
            <a:ext cx="1228725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566909" y="2640335"/>
            <a:ext cx="1001712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834764" y="2640335"/>
            <a:ext cx="1001712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384596" y="2640335"/>
            <a:ext cx="1001713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34764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4" name="Line 20"/>
          <p:cNvSpPr>
            <a:spLocks noChangeShapeType="1"/>
          </p:cNvSpPr>
          <p:nvPr/>
        </p:nvSpPr>
        <p:spPr bwMode="auto">
          <a:xfrm flipV="1">
            <a:off x="2098987" y="3588969"/>
            <a:ext cx="735778" cy="877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386184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6456034" y="3499390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6741784" y="4086771"/>
            <a:ext cx="573087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6743371" y="4679231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566909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0" name="Text Box 25"/>
          <p:cNvSpPr txBox="1">
            <a:spLocks noChangeArrowheads="1"/>
          </p:cNvSpPr>
          <p:nvPr/>
        </p:nvSpPr>
        <p:spPr bwMode="auto">
          <a:xfrm>
            <a:off x="4638346" y="3254990"/>
            <a:ext cx="857250" cy="247826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 err="1">
                <a:latin typeface="+mn-ea"/>
              </a:rPr>
              <a:t>NEXCORE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1" name="Text Box 25"/>
          <p:cNvSpPr txBox="1">
            <a:spLocks noChangeArrowheads="1"/>
          </p:cNvSpPr>
          <p:nvPr/>
        </p:nvSpPr>
        <p:spPr bwMode="auto">
          <a:xfrm>
            <a:off x="2906201" y="3254990"/>
            <a:ext cx="857250" cy="247826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2" name="Text Box 25"/>
          <p:cNvSpPr txBox="1">
            <a:spLocks noChangeArrowheads="1"/>
          </p:cNvSpPr>
          <p:nvPr/>
        </p:nvSpPr>
        <p:spPr bwMode="auto">
          <a:xfrm>
            <a:off x="1058755" y="3254990"/>
            <a:ext cx="857250" cy="6604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solidFill>
                  <a:srgbClr val="000000"/>
                </a:solidFill>
                <a:latin typeface="+mn-ea"/>
              </a:rPr>
              <a:t>통합단말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5" name="Text Box 25"/>
          <p:cNvSpPr txBox="1">
            <a:spLocks noChangeArrowheads="1"/>
          </p:cNvSpPr>
          <p:nvPr/>
        </p:nvSpPr>
        <p:spPr bwMode="auto">
          <a:xfrm>
            <a:off x="5694605" y="4005064"/>
            <a:ext cx="50006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PM </a:t>
            </a:r>
            <a:r>
              <a:rPr lang="ko-KR" altLang="en-US" sz="800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91" name="Text Box 25"/>
          <p:cNvSpPr txBox="1">
            <a:spLocks noChangeArrowheads="1"/>
          </p:cNvSpPr>
          <p:nvPr/>
        </p:nvSpPr>
        <p:spPr bwMode="auto">
          <a:xfrm>
            <a:off x="2252700" y="3392996"/>
            <a:ext cx="50006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TCP/IP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92" name="Line 20"/>
          <p:cNvSpPr>
            <a:spLocks noChangeShapeType="1"/>
          </p:cNvSpPr>
          <p:nvPr/>
        </p:nvSpPr>
        <p:spPr bwMode="auto">
          <a:xfrm flipV="1">
            <a:off x="5567034" y="4164525"/>
            <a:ext cx="817562" cy="669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3" name="Line 20"/>
          <p:cNvSpPr>
            <a:spLocks noChangeShapeType="1"/>
          </p:cNvSpPr>
          <p:nvPr/>
        </p:nvSpPr>
        <p:spPr bwMode="auto">
          <a:xfrm flipH="1" flipV="1">
            <a:off x="5567034" y="4794129"/>
            <a:ext cx="817562" cy="3023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4" name="Text Box 25"/>
          <p:cNvSpPr txBox="1">
            <a:spLocks noChangeArrowheads="1"/>
          </p:cNvSpPr>
          <p:nvPr/>
        </p:nvSpPr>
        <p:spPr bwMode="auto">
          <a:xfrm>
            <a:off x="3912878" y="3176972"/>
            <a:ext cx="5000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</a:p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95" name="Line 20"/>
          <p:cNvSpPr>
            <a:spLocks noChangeShapeType="1"/>
          </p:cNvSpPr>
          <p:nvPr/>
        </p:nvSpPr>
        <p:spPr bwMode="auto">
          <a:xfrm rot="16200000" flipH="1" flipV="1">
            <a:off x="6875219" y="3923169"/>
            <a:ext cx="306217" cy="1587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6" name="Line 20"/>
          <p:cNvSpPr>
            <a:spLocks noChangeShapeType="1"/>
          </p:cNvSpPr>
          <p:nvPr/>
        </p:nvSpPr>
        <p:spPr bwMode="auto">
          <a:xfrm rot="16200000" flipH="1" flipV="1">
            <a:off x="6870210" y="4520321"/>
            <a:ext cx="316235" cy="1588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7" name="Text Box 25"/>
          <p:cNvSpPr txBox="1">
            <a:spLocks noChangeArrowheads="1"/>
          </p:cNvSpPr>
          <p:nvPr/>
        </p:nvSpPr>
        <p:spPr bwMode="auto">
          <a:xfrm>
            <a:off x="6457621" y="5291299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98" name="Line 20"/>
          <p:cNvSpPr>
            <a:spLocks noChangeShapeType="1"/>
          </p:cNvSpPr>
          <p:nvPr/>
        </p:nvSpPr>
        <p:spPr bwMode="auto">
          <a:xfrm rot="16200000" flipH="1">
            <a:off x="5835510" y="4526316"/>
            <a:ext cx="152997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9" name="Text Box 25"/>
          <p:cNvSpPr txBox="1">
            <a:spLocks noChangeArrowheads="1"/>
          </p:cNvSpPr>
          <p:nvPr/>
        </p:nvSpPr>
        <p:spPr bwMode="auto">
          <a:xfrm>
            <a:off x="5709909" y="4624090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결과출력</a:t>
            </a:r>
          </a:p>
        </p:txBody>
      </p:sp>
      <p:sp>
        <p:nvSpPr>
          <p:cNvPr id="100" name="Line 20"/>
          <p:cNvSpPr>
            <a:spLocks noChangeShapeType="1"/>
          </p:cNvSpPr>
          <p:nvPr/>
        </p:nvSpPr>
        <p:spPr bwMode="auto">
          <a:xfrm flipV="1">
            <a:off x="3834889" y="3474337"/>
            <a:ext cx="73202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non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 bwMode="auto">
          <a:xfrm>
            <a:off x="725996" y="1556792"/>
            <a:ext cx="928688" cy="714375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7" name="직사각형 106"/>
          <p:cNvSpPr/>
          <p:nvPr/>
        </p:nvSpPr>
        <p:spPr bwMode="auto">
          <a:xfrm>
            <a:off x="1797559" y="1556792"/>
            <a:ext cx="7295901" cy="714375"/>
          </a:xfrm>
          <a:prstGeom prst="rect">
            <a:avLst/>
          </a:prstGeom>
          <a:solidFill>
            <a:srgbClr val="F2F2F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채널에서는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마다 부여된 거래코드를 기준으로 서비스를 요청하고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거래코드와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간의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매핑은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Framework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이 담당함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Tx/>
              <a:buNone/>
              <a:defRPr/>
            </a:pP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 -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채널에서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FM, DM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직접 호출 불가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함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회 요청에 대해 정상 처리시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거래로그를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기록하고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오류 발생시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에러로그를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기록함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013340" y="2640335"/>
            <a:ext cx="1001712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인프라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013340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0" name="Text Box 25"/>
          <p:cNvSpPr txBox="1">
            <a:spLocks noChangeArrowheads="1"/>
          </p:cNvSpPr>
          <p:nvPr/>
        </p:nvSpPr>
        <p:spPr bwMode="auto">
          <a:xfrm>
            <a:off x="8084777" y="3254990"/>
            <a:ext cx="857250" cy="24782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DBMS</a:t>
            </a:r>
          </a:p>
        </p:txBody>
      </p:sp>
      <p:sp>
        <p:nvSpPr>
          <p:cNvPr id="111" name="Line 20"/>
          <p:cNvSpPr>
            <a:spLocks noChangeShapeType="1"/>
          </p:cNvSpPr>
          <p:nvPr/>
        </p:nvSpPr>
        <p:spPr bwMode="auto">
          <a:xfrm rot="16200000" flipH="1">
            <a:off x="7520438" y="4935370"/>
            <a:ext cx="2" cy="985807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2" name="Line 20"/>
          <p:cNvSpPr>
            <a:spLocks noChangeShapeType="1"/>
          </p:cNvSpPr>
          <p:nvPr/>
        </p:nvSpPr>
        <p:spPr bwMode="auto">
          <a:xfrm rot="16200000" flipH="1">
            <a:off x="7663313" y="4461412"/>
            <a:ext cx="2" cy="700056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3" name="Text Box 25"/>
          <p:cNvSpPr txBox="1">
            <a:spLocks noChangeArrowheads="1"/>
          </p:cNvSpPr>
          <p:nvPr/>
        </p:nvSpPr>
        <p:spPr bwMode="auto">
          <a:xfrm>
            <a:off x="4732847" y="5183287"/>
            <a:ext cx="6604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14" name="Text Box 25"/>
          <p:cNvSpPr txBox="1">
            <a:spLocks noChangeArrowheads="1"/>
          </p:cNvSpPr>
          <p:nvPr/>
        </p:nvSpPr>
        <p:spPr bwMode="auto">
          <a:xfrm>
            <a:off x="4732847" y="3743127"/>
            <a:ext cx="660400" cy="3897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거래제어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거래통제</a:t>
            </a:r>
            <a:endParaRPr kumimoji="0" lang="ko-KR" altLang="en-US" sz="1050" kern="0" dirty="0">
              <a:latin typeface="+mn-ea"/>
            </a:endParaRPr>
          </a:p>
        </p:txBody>
      </p:sp>
      <p:sp>
        <p:nvSpPr>
          <p:cNvPr id="115" name="Text Box 25"/>
          <p:cNvSpPr txBox="1">
            <a:spLocks noChangeArrowheads="1"/>
          </p:cNvSpPr>
          <p:nvPr/>
        </p:nvSpPr>
        <p:spPr bwMode="auto">
          <a:xfrm>
            <a:off x="4732847" y="3420374"/>
            <a:ext cx="6604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16" name="Text Box 25"/>
          <p:cNvSpPr txBox="1">
            <a:spLocks noChangeArrowheads="1"/>
          </p:cNvSpPr>
          <p:nvPr/>
        </p:nvSpPr>
        <p:spPr bwMode="auto">
          <a:xfrm>
            <a:off x="4732847" y="4862538"/>
            <a:ext cx="6604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거래로깅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506995" y="5733256"/>
            <a:ext cx="90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n-ea"/>
              </a:rPr>
              <a:t>WAS</a:t>
            </a:r>
          </a:p>
        </p:txBody>
      </p:sp>
      <p:sp>
        <p:nvSpPr>
          <p:cNvPr id="118" name="Line 20"/>
          <p:cNvSpPr>
            <a:spLocks noChangeShapeType="1"/>
          </p:cNvSpPr>
          <p:nvPr/>
        </p:nvSpPr>
        <p:spPr bwMode="auto">
          <a:xfrm flipH="1">
            <a:off x="3834890" y="5301206"/>
            <a:ext cx="732020" cy="6623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non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Text Box 25">
            <a:extLst>
              <a:ext uri="{FF2B5EF4-FFF2-40B4-BE49-F238E27FC236}">
                <a16:creationId xmlns:a16="http://schemas.microsoft.com/office/drawing/2014/main" id="{BB59F70D-046A-4450-A0D4-065F229D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5771" y="4895255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47" name="Text Box 25">
            <a:extLst>
              <a:ext uri="{FF2B5EF4-FFF2-40B4-BE49-F238E27FC236}">
                <a16:creationId xmlns:a16="http://schemas.microsoft.com/office/drawing/2014/main" id="{4637A4B3-4CE6-4028-912C-927A46EAF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907" y="5471319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2209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연동거래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하나의 </a:t>
            </a:r>
            <a:r>
              <a:rPr lang="en-US" altLang="ko-KR" dirty="0"/>
              <a:t>PM </a:t>
            </a:r>
            <a:r>
              <a:rPr lang="ko-KR" altLang="en-US" dirty="0"/>
              <a:t>에서 또 다른 </a:t>
            </a:r>
            <a:r>
              <a:rPr lang="en-US" altLang="ko-KR" dirty="0"/>
              <a:t>PM </a:t>
            </a:r>
            <a:r>
              <a:rPr lang="ko-KR" altLang="en-US" dirty="0"/>
              <a:t>을 호출하여 두 개 이상의 거래를 실행하는 것을 의미하며</a:t>
            </a:r>
            <a:r>
              <a:rPr lang="en-US" altLang="ko-KR" dirty="0"/>
              <a:t>, 1-</a:t>
            </a:r>
            <a:r>
              <a:rPr lang="ko-KR" altLang="en-US" dirty="0"/>
              <a:t>트랜잭션</a:t>
            </a:r>
            <a:r>
              <a:rPr lang="en-US" altLang="ko-KR" dirty="0"/>
              <a:t>, 2-</a:t>
            </a:r>
            <a:r>
              <a:rPr lang="ko-KR" altLang="en-US" dirty="0"/>
              <a:t>트랜잭션 등 트랜잭션 처리를 선택적으로 할 수 있음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1039" y="1412776"/>
            <a:ext cx="928688" cy="1728192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2602" y="1412775"/>
            <a:ext cx="7295901" cy="172819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채널은 기본거래와 동일한 방식으로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Framework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상의 서비스를 호출함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기동거래는 수동거래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호출시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수동거래가 정의한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IO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레이아웃과 일치하도록 입출력항목을 조립해야 함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 (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전문이 아닌 </a:t>
            </a:r>
            <a:r>
              <a:rPr lang="en-US" altLang="ko-KR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DataSet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정상처리시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거래로그는 기동거래와 모든 수동거래 각각에 대해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건씩 기록됨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에러 발생시 수동거래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 각각에 대해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건씩 기록됨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기동거래에서 에러 발생시 수동거래가 정상일지라도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되며 수동거래에서 생성한 거래로그도 같이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된다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 정상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리턴후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기동 거래에서 에러 발생시 수동거래의 거래로그가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되며 기동거래에만 에러로그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 저장됨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수동거래가 또 다른 수동거래를 호출할 수 있으나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성능상의 이유로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Depth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를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제한할 수 있음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 또한 채널에서 직접 호출할 수 있는 완전성을 가지고 있어야 하며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채널에서 호출되지 않는 거래는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FM, DM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으로 변경해야 함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오류가 발생한 경우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기동거래에서는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 Update, Insert, Delete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처리 불가함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14064" y="3780855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4064" y="3356992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15470" y="3356992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57997" y="3356992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97783" y="3356992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57997" y="3780855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015470" y="3780855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086908" y="3838005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029434" y="3838005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85502" y="3838005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 flipV="1">
            <a:off x="4019177" y="3706369"/>
            <a:ext cx="16534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077322" y="3590355"/>
            <a:ext cx="10001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b="1" dirty="0">
                <a:solidFill>
                  <a:srgbClr val="000000"/>
                </a:solidFill>
                <a:latin typeface="+mn-lt"/>
                <a:ea typeface="+mn-ea"/>
              </a:rPr>
              <a:t>1 Commit</a:t>
            </a:r>
            <a:endParaRPr lang="ko-KR" altLang="en-US" b="1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rot="10800000" flipH="1">
            <a:off x="7092279" y="3685605"/>
            <a:ext cx="1898693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2743809" y="4414267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H="1">
            <a:off x="2743808" y="5330255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24" name="직선 연결선 99"/>
          <p:cNvCxnSpPr>
            <a:cxnSpLocks noChangeShapeType="1"/>
            <a:endCxn id="20" idx="1"/>
          </p:cNvCxnSpPr>
          <p:nvPr/>
        </p:nvCxnSpPr>
        <p:spPr bwMode="auto">
          <a:xfrm>
            <a:off x="4139951" y="3685605"/>
            <a:ext cx="1937371" cy="0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25" name="직사각형 49"/>
          <p:cNvSpPr>
            <a:spLocks noChangeArrowheads="1"/>
          </p:cNvSpPr>
          <p:nvPr/>
        </p:nvSpPr>
        <p:spPr bwMode="auto">
          <a:xfrm>
            <a:off x="704528" y="3212975"/>
            <a:ext cx="8456612" cy="3067175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6" name="직선 화살표 연결선 102"/>
          <p:cNvCxnSpPr>
            <a:cxnSpLocks noChangeShapeType="1"/>
          </p:cNvCxnSpPr>
          <p:nvPr/>
        </p:nvCxnSpPr>
        <p:spPr bwMode="auto">
          <a:xfrm>
            <a:off x="3801283" y="4410695"/>
            <a:ext cx="410676" cy="3572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7" name="직선 화살표 연결선 104"/>
          <p:cNvCxnSpPr>
            <a:cxnSpLocks noChangeShapeType="1"/>
          </p:cNvCxnSpPr>
          <p:nvPr/>
        </p:nvCxnSpPr>
        <p:spPr bwMode="auto">
          <a:xfrm flipH="1">
            <a:off x="3801284" y="5330255"/>
            <a:ext cx="410675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8" name="직선 화살표 연결선 105"/>
          <p:cNvCxnSpPr>
            <a:cxnSpLocks noChangeShapeType="1"/>
          </p:cNvCxnSpPr>
          <p:nvPr/>
        </p:nvCxnSpPr>
        <p:spPr bwMode="auto">
          <a:xfrm>
            <a:off x="1749124" y="4401567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9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319143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4211959" y="3814440"/>
            <a:ext cx="1000125" cy="211589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4283397" y="4193853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계리호출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solidFill>
                  <a:srgbClr val="FF0000"/>
                </a:solidFill>
                <a:latin typeface="+mn-ea"/>
              </a:rPr>
              <a:t>거래로깅</a:t>
            </a:r>
            <a:endParaRPr kumimoji="0" lang="en-US" altLang="ko-KR" sz="1000" kern="0" dirty="0">
              <a:solidFill>
                <a:srgbClr val="FF0000"/>
              </a:solidFill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1959" y="3789040"/>
            <a:ext cx="1000125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4354834" y="4922515"/>
            <a:ext cx="714375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</a:t>
            </a:r>
            <a:r>
              <a:rPr kumimoji="0" lang="en-US" altLang="ko-KR" sz="800" kern="0" dirty="0">
                <a:latin typeface="+mn-ea"/>
              </a:rPr>
              <a:t>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0985" y="3814440"/>
            <a:ext cx="1000125" cy="211589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6248772" y="4193853"/>
            <a:ext cx="857250" cy="157162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계리호출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solidFill>
                  <a:srgbClr val="FF0000"/>
                </a:solidFill>
                <a:latin typeface="+mn-ea"/>
              </a:rPr>
              <a:t>거래로깅</a:t>
            </a:r>
            <a:endParaRPr kumimoji="0" lang="en-US" altLang="ko-KR" sz="1000" kern="0" dirty="0">
              <a:solidFill>
                <a:srgbClr val="FF0000"/>
              </a:solidFill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0985" y="3789040"/>
            <a:ext cx="1000125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r>
              <a:rPr kumimoji="0" lang="en-US" altLang="ko-KR" sz="1100" kern="0" dirty="0">
                <a:solidFill>
                  <a:sysClr val="window" lastClr="FFFFFF"/>
                </a:solidFill>
                <a:latin typeface="+mn-ea"/>
              </a:rPr>
              <a:t>1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7676330" y="4932040"/>
            <a:ext cx="1000125" cy="19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1000" b="1" dirty="0">
                <a:latin typeface="+mn-ea"/>
                <a:ea typeface="+mn-ea"/>
              </a:rPr>
              <a:t>…. (</a:t>
            </a:r>
            <a:r>
              <a:rPr lang="ko-KR" altLang="en-US" sz="1000" b="1" dirty="0">
                <a:latin typeface="+mn-ea"/>
                <a:ea typeface="+mn-ea"/>
              </a:rPr>
              <a:t>多연동</a:t>
            </a:r>
            <a:r>
              <a:rPr lang="en-US" altLang="ko-KR" sz="1000" b="1" dirty="0">
                <a:latin typeface="+mn-ea"/>
                <a:ea typeface="+mn-ea"/>
              </a:rPr>
              <a:t>)</a:t>
            </a:r>
            <a:endParaRPr lang="ko-KR" altLang="en-US" sz="1000" b="1" dirty="0">
              <a:latin typeface="+mn-ea"/>
              <a:ea typeface="+mn-ea"/>
            </a:endParaRPr>
          </a:p>
        </p:txBody>
      </p:sp>
      <p:cxnSp>
        <p:nvCxnSpPr>
          <p:cNvPr id="38" name="직선 화살표 연결선 70"/>
          <p:cNvCxnSpPr>
            <a:cxnSpLocks noChangeShapeType="1"/>
          </p:cNvCxnSpPr>
          <p:nvPr/>
        </p:nvCxnSpPr>
        <p:spPr bwMode="auto">
          <a:xfrm flipV="1">
            <a:off x="5220072" y="4193853"/>
            <a:ext cx="1143000" cy="714375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직선 화살표 연결선 71"/>
          <p:cNvCxnSpPr>
            <a:cxnSpLocks noChangeShapeType="1"/>
          </p:cNvCxnSpPr>
          <p:nvPr/>
        </p:nvCxnSpPr>
        <p:spPr bwMode="auto">
          <a:xfrm rot="10800000">
            <a:off x="5220072" y="5193978"/>
            <a:ext cx="1143000" cy="57150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직선 화살표 연결선 77"/>
          <p:cNvCxnSpPr>
            <a:cxnSpLocks noChangeShapeType="1"/>
          </p:cNvCxnSpPr>
          <p:nvPr/>
        </p:nvCxnSpPr>
        <p:spPr bwMode="auto">
          <a:xfrm rot="5400000" flipH="1" flipV="1">
            <a:off x="7604892" y="4265291"/>
            <a:ext cx="714375" cy="57150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직선 화살표 연결선 78"/>
          <p:cNvCxnSpPr>
            <a:cxnSpLocks noChangeShapeType="1"/>
          </p:cNvCxnSpPr>
          <p:nvPr/>
        </p:nvCxnSpPr>
        <p:spPr bwMode="auto">
          <a:xfrm rot="16200000" flipV="1">
            <a:off x="7676330" y="5193978"/>
            <a:ext cx="571500" cy="57150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5434385" y="4678040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>
                <a:latin typeface="+mn-ea"/>
                <a:ea typeface="+mn-ea"/>
              </a:rPr>
              <a:t>① 수동</a:t>
            </a:r>
            <a:r>
              <a:rPr lang="en-US" altLang="ko-KR" sz="800" u="sng">
                <a:latin typeface="+mn-ea"/>
                <a:ea typeface="+mn-ea"/>
              </a:rPr>
              <a:t>PM </a:t>
            </a:r>
            <a:r>
              <a:rPr lang="ko-KR" altLang="en-US" sz="800" u="sng">
                <a:latin typeface="+mn-ea"/>
                <a:ea typeface="+mn-ea"/>
              </a:rPr>
              <a:t>호출</a:t>
            </a: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5434385" y="5193978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>
                <a:latin typeface="+mn-ea"/>
                <a:ea typeface="+mn-ea"/>
              </a:rPr>
              <a:t>③ 수동</a:t>
            </a:r>
            <a:r>
              <a:rPr lang="en-US" altLang="ko-KR" sz="800" u="sng">
                <a:latin typeface="+mn-ea"/>
                <a:ea typeface="+mn-ea"/>
              </a:rPr>
              <a:t>PM </a:t>
            </a:r>
            <a:r>
              <a:rPr lang="ko-KR" altLang="en-US" sz="800" u="sng">
                <a:latin typeface="+mn-ea"/>
                <a:ea typeface="+mn-ea"/>
              </a:rPr>
              <a:t>종료</a:t>
            </a: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4895377" y="4734397"/>
            <a:ext cx="34766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6200000" flipH="1">
            <a:off x="4788221" y="5484491"/>
            <a:ext cx="56197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5188265" y="5657107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>
                <a:latin typeface="+mn-ea"/>
                <a:ea typeface="+mn-ea"/>
              </a:rPr>
              <a:t>④ 기동</a:t>
            </a:r>
            <a:r>
              <a:rPr lang="en-US" altLang="ko-KR" sz="800" u="sng">
                <a:latin typeface="+mn-ea"/>
                <a:ea typeface="+mn-ea"/>
              </a:rPr>
              <a:t>PM </a:t>
            </a:r>
            <a:r>
              <a:rPr lang="ko-KR" altLang="en-US" sz="800" u="sng">
                <a:latin typeface="+mn-ea"/>
                <a:ea typeface="+mn-ea"/>
              </a:rPr>
              <a:t>종료</a:t>
            </a: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rot="16200000" flipH="1">
            <a:off x="5577259" y="4979666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220197" y="4892353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 기동</a:t>
            </a:r>
            <a:r>
              <a:rPr lang="en-US" altLang="ko-KR" sz="800" u="sng" dirty="0">
                <a:latin typeface="+mn-ea"/>
                <a:ea typeface="+mn-ea"/>
              </a:rPr>
              <a:t>/</a:t>
            </a:r>
            <a:r>
              <a:rPr lang="ko-KR" altLang="en-US" sz="800" u="sng" dirty="0">
                <a:latin typeface="+mn-ea"/>
                <a:ea typeface="+mn-ea"/>
              </a:rPr>
              <a:t>수동판단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4322" y="3789040"/>
            <a:ext cx="1000125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r>
              <a:rPr kumimoji="0" lang="en-US" altLang="ko-KR" sz="1100" kern="0" dirty="0">
                <a:solidFill>
                  <a:sysClr val="window" lastClr="FFFFFF"/>
                </a:solidFill>
                <a:latin typeface="+mn-ea"/>
              </a:rPr>
              <a:t>2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50" name="Line 20"/>
          <p:cNvSpPr>
            <a:spLocks noChangeShapeType="1"/>
          </p:cNvSpPr>
          <p:nvPr/>
        </p:nvSpPr>
        <p:spPr bwMode="auto">
          <a:xfrm rot="16200000" flipH="1" flipV="1">
            <a:off x="8928421" y="3706366"/>
            <a:ext cx="16534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3131839" y="5214297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3120344" y="4270598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53" name="Text Box 25"/>
          <p:cNvSpPr txBox="1">
            <a:spLocks noChangeArrowheads="1"/>
          </p:cNvSpPr>
          <p:nvPr/>
        </p:nvSpPr>
        <p:spPr bwMode="auto">
          <a:xfrm rot="19662771">
            <a:off x="5225886" y="4436328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callService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4156329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비동기 </a:t>
            </a:r>
            <a:r>
              <a:rPr lang="ko-KR" altLang="en-US" dirty="0" err="1"/>
              <a:t>연동거래</a:t>
            </a:r>
            <a:r>
              <a:rPr lang="ko-KR" altLang="en-US" dirty="0"/>
              <a:t> </a:t>
            </a:r>
            <a:r>
              <a:rPr lang="en-US" altLang="ko-KR" dirty="0"/>
              <a:t>( Non-Transactional 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호출되는 </a:t>
            </a:r>
            <a:r>
              <a:rPr lang="ko-KR" altLang="en-US" dirty="0" err="1"/>
              <a:t>수동거래를</a:t>
            </a:r>
            <a:r>
              <a:rPr lang="ko-KR" altLang="en-US" dirty="0"/>
              <a:t> 비동기 방식으로 호출하여 </a:t>
            </a:r>
            <a:r>
              <a:rPr lang="ko-KR" altLang="en-US" dirty="0" err="1"/>
              <a:t>기동거래가</a:t>
            </a:r>
            <a:r>
              <a:rPr lang="ko-KR" altLang="en-US" dirty="0"/>
              <a:t> </a:t>
            </a:r>
            <a:r>
              <a:rPr lang="ko-KR" altLang="en-US" dirty="0" err="1"/>
              <a:t>수동거래의</a:t>
            </a:r>
            <a:r>
              <a:rPr lang="ko-KR" altLang="en-US" dirty="0"/>
              <a:t> 응답을 기다리지 않도록 하는 것을 비동기 연동거래라고 함</a:t>
            </a:r>
            <a:r>
              <a:rPr lang="en-US" altLang="ko-KR" dirty="0"/>
              <a:t>. Transactional </a:t>
            </a:r>
            <a:r>
              <a:rPr lang="ko-KR" altLang="en-US" dirty="0"/>
              <a:t>과 </a:t>
            </a:r>
            <a:r>
              <a:rPr lang="en-US" altLang="ko-KR" dirty="0"/>
              <a:t>Non-Transactional </a:t>
            </a:r>
            <a:r>
              <a:rPr lang="ko-KR" altLang="en-US" dirty="0"/>
              <a:t>두가지 방식 </a:t>
            </a:r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8102278" y="4860855"/>
            <a:ext cx="924199" cy="880439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lang="ko-KR" altLang="en-US" sz="800" dirty="0">
                <a:latin typeface="+mn-ea"/>
              </a:rPr>
              <a:t>기동거래와 수동거래가 동시에 실행되며</a:t>
            </a:r>
            <a:r>
              <a:rPr lang="en-US" altLang="ko-KR" sz="800" dirty="0">
                <a:latin typeface="+mn-ea"/>
              </a:rPr>
              <a:t>, </a:t>
            </a:r>
          </a:p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lang="ko-KR" altLang="en-US" sz="800" dirty="0">
                <a:latin typeface="+mn-ea"/>
              </a:rPr>
              <a:t>어느 것이 먼저 종료될지는 알 수 없음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1039" y="1412776"/>
            <a:ext cx="928688" cy="1296144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2602" y="1412775"/>
            <a:ext cx="7295901" cy="12961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아래 사항을 제외하고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동기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처리기준은 동일함</a:t>
            </a:r>
            <a:b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오류가 발생하더라도 기동거래에서는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 Insert, Update, Delete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처리 가능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기동거래는 수동거래의 처리결과를 기다리지 않고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다음 처리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로직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즉시 실행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기동거래로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Common Area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역복제는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발생하지 않음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채널로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부터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회 거래요청에 대해 동기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비동기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연동거래를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혼용하여 사용할 수 있음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814064" y="3564832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814064" y="3140969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3015470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957997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097783" y="3140969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1957997" y="3564832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3015470" y="3564832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086908" y="3621982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029434" y="3621982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885502" y="3621982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2743809" y="4198244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2743808" y="5114232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직사각형 49"/>
          <p:cNvSpPr>
            <a:spLocks noChangeArrowheads="1"/>
          </p:cNvSpPr>
          <p:nvPr/>
        </p:nvSpPr>
        <p:spPr bwMode="auto">
          <a:xfrm>
            <a:off x="704528" y="2996952"/>
            <a:ext cx="8456612" cy="324036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3" name="직선 화살표 연결선 102"/>
          <p:cNvCxnSpPr>
            <a:cxnSpLocks noChangeShapeType="1"/>
          </p:cNvCxnSpPr>
          <p:nvPr/>
        </p:nvCxnSpPr>
        <p:spPr bwMode="auto">
          <a:xfrm>
            <a:off x="3801283" y="4194672"/>
            <a:ext cx="56268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4" name="직선 화살표 연결선 104"/>
          <p:cNvCxnSpPr>
            <a:cxnSpLocks noChangeShapeType="1"/>
          </p:cNvCxnSpPr>
          <p:nvPr/>
        </p:nvCxnSpPr>
        <p:spPr bwMode="auto">
          <a:xfrm flipH="1" flipV="1">
            <a:off x="3801285" y="5114232"/>
            <a:ext cx="562678" cy="79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5" name="직선 화살표 연결선 105"/>
          <p:cNvCxnSpPr>
            <a:cxnSpLocks noChangeShapeType="1"/>
          </p:cNvCxnSpPr>
          <p:nvPr/>
        </p:nvCxnSpPr>
        <p:spPr bwMode="auto">
          <a:xfrm>
            <a:off x="1749124" y="4185544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6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103120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131839" y="4998274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3120344" y="4054575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63963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4435401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입력체크</a:t>
            </a:r>
            <a:r>
              <a:rPr kumimoji="0" lang="ko-KR" altLang="en-US" sz="1000" kern="0" dirty="0">
                <a:latin typeface="+mn-ea"/>
              </a:rPr>
              <a:t> 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</a:t>
            </a:r>
            <a:r>
              <a:rPr kumimoji="0" lang="en-US" altLang="ko-KR" sz="1000" kern="0" dirty="0">
                <a:latin typeface="+mn-ea"/>
              </a:rPr>
              <a:t> </a:t>
            </a:r>
            <a:r>
              <a:rPr kumimoji="0" lang="ko-KR" altLang="en-US" sz="1000" kern="0" dirty="0">
                <a:latin typeface="+mn-ea"/>
              </a:rPr>
              <a:t>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 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ko-KR" altLang="en-US" sz="1000" kern="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63963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4506838" y="4809432"/>
            <a:ext cx="714375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New 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8258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7099695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처리결과</a:t>
            </a:r>
            <a:r>
              <a:rPr kumimoji="0" lang="ko-KR" altLang="en-US" sz="1000" kern="0" dirty="0">
                <a:latin typeface="+mn-ea"/>
              </a:rPr>
              <a:t> </a:t>
            </a:r>
            <a:r>
              <a:rPr kumimoji="0" lang="en-US" altLang="ko-KR" sz="1000" kern="0" dirty="0">
                <a:latin typeface="+mn-ea"/>
              </a:rPr>
              <a:t>DB </a:t>
            </a:r>
            <a:r>
              <a:rPr kumimoji="0" lang="ko-KR" altLang="en-US" sz="1000" kern="0" dirty="0">
                <a:latin typeface="+mn-ea"/>
              </a:rPr>
              <a:t>저장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로그조립 </a:t>
            </a: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정상</a:t>
            </a:r>
            <a:r>
              <a:rPr kumimoji="0" lang="en-US" altLang="ko-KR" sz="1000" kern="0" dirty="0">
                <a:latin typeface="+mn-ea"/>
              </a:rPr>
              <a:t>)</a:t>
            </a: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8258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36" name="직선 화살표 연결선 70"/>
          <p:cNvCxnSpPr>
            <a:cxnSpLocks noChangeShapeType="1"/>
            <a:stCxn id="38" idx="1"/>
          </p:cNvCxnSpPr>
          <p:nvPr/>
        </p:nvCxnSpPr>
        <p:spPr bwMode="auto">
          <a:xfrm flipV="1">
            <a:off x="5292652" y="4054575"/>
            <a:ext cx="1735606" cy="873919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5802981" y="4698307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b="1" u="sng" dirty="0">
                <a:latin typeface="+mn-ea"/>
                <a:ea typeface="+mn-ea"/>
              </a:rPr>
              <a:t>①수동 </a:t>
            </a:r>
            <a:r>
              <a:rPr lang="en-US" altLang="ko-KR" sz="800" b="1" u="sng" dirty="0">
                <a:latin typeface="+mn-ea"/>
                <a:ea typeface="+mn-ea"/>
              </a:rPr>
              <a:t>PM </a:t>
            </a:r>
            <a:r>
              <a:rPr lang="ko-KR" altLang="en-US" sz="800" b="1" u="sng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rot="16200000" flipH="1">
            <a:off x="5118820" y="4754663"/>
            <a:ext cx="34766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5292651" y="5484119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③기동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6200000" flipH="1" flipV="1">
            <a:off x="6313882" y="4857057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6200000" flipH="1">
            <a:off x="4297288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rot="10800000" flipH="1">
            <a:off x="4363963" y="357118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4363963" y="342195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5297413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6200000" flipH="1">
            <a:off x="6961583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 rot="10800000" flipH="1">
            <a:off x="7028258" y="357753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7028258" y="342830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 rot="16200000" flipH="1">
            <a:off x="7961708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7086210" y="5741294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②수동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50" name="직선 화살표 연결선 113"/>
          <p:cNvCxnSpPr>
            <a:cxnSpLocks noChangeShapeType="1"/>
          </p:cNvCxnSpPr>
          <p:nvPr/>
        </p:nvCxnSpPr>
        <p:spPr bwMode="auto">
          <a:xfrm rot="5400000">
            <a:off x="4970388" y="5322194"/>
            <a:ext cx="64293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 Box 25"/>
          <p:cNvSpPr txBox="1">
            <a:spLocks noChangeArrowheads="1"/>
          </p:cNvSpPr>
          <p:nvPr/>
        </p:nvSpPr>
        <p:spPr bwMode="auto">
          <a:xfrm rot="19938636">
            <a:off x="5335871" y="4281605"/>
            <a:ext cx="163218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callAsyncServiceNow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3984276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비동기 </a:t>
            </a:r>
            <a:r>
              <a:rPr lang="ko-KR" altLang="en-US" dirty="0" err="1"/>
              <a:t>연동거래</a:t>
            </a:r>
            <a:r>
              <a:rPr lang="ko-KR" altLang="en-US" dirty="0"/>
              <a:t> </a:t>
            </a:r>
            <a:r>
              <a:rPr lang="en-US" altLang="ko-KR" dirty="0"/>
              <a:t>( Transactional 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비동기 거래 중 </a:t>
            </a:r>
            <a:r>
              <a:rPr lang="ko-KR" altLang="en-US" dirty="0" err="1"/>
              <a:t>기동거래가</a:t>
            </a:r>
            <a:r>
              <a:rPr lang="ko-KR" altLang="en-US" dirty="0"/>
              <a:t> 정상 </a:t>
            </a:r>
            <a:r>
              <a:rPr lang="en-US" altLang="ko-KR" dirty="0"/>
              <a:t>commit </a:t>
            </a:r>
            <a:r>
              <a:rPr lang="ko-KR" altLang="en-US" dirty="0"/>
              <a:t>일 경우만 </a:t>
            </a:r>
            <a:r>
              <a:rPr lang="ko-KR" altLang="en-US" dirty="0" err="1"/>
              <a:t>수동거래가</a:t>
            </a:r>
            <a:r>
              <a:rPr lang="ko-KR" altLang="en-US" dirty="0"/>
              <a:t> 실행되도록 함</a:t>
            </a:r>
            <a:r>
              <a:rPr lang="en-US" altLang="ko-KR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1039" y="1412776"/>
            <a:ext cx="928688" cy="1296144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2602" y="1412875"/>
            <a:ext cx="7295901" cy="12961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아래 사항을 제외하고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동기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처리기준은 동일함</a:t>
            </a:r>
            <a:b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수동거래는 기동거래가 정상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commit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될 때까지 대기후 수행됨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 에러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일 경우 수동거래는 수행되지 않고 취소됨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기동거래로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Common Area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역복제는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발생하지 않음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14064" y="3564832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4064" y="3140969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15470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57997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97783" y="3140969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57997" y="3564832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015470" y="3564832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086908" y="3621982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029434" y="3621982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85502" y="3621982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2743809" y="4198244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2743808" y="5114232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직사각형 49"/>
          <p:cNvSpPr>
            <a:spLocks noChangeArrowheads="1"/>
          </p:cNvSpPr>
          <p:nvPr/>
        </p:nvSpPr>
        <p:spPr bwMode="auto">
          <a:xfrm>
            <a:off x="704528" y="2996952"/>
            <a:ext cx="8456612" cy="324036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2" name="직선 화살표 연결선 102"/>
          <p:cNvCxnSpPr>
            <a:cxnSpLocks noChangeShapeType="1"/>
          </p:cNvCxnSpPr>
          <p:nvPr/>
        </p:nvCxnSpPr>
        <p:spPr bwMode="auto">
          <a:xfrm>
            <a:off x="3801283" y="4194672"/>
            <a:ext cx="56268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3" name="직선 화살표 연결선 104"/>
          <p:cNvCxnSpPr>
            <a:cxnSpLocks noChangeShapeType="1"/>
          </p:cNvCxnSpPr>
          <p:nvPr/>
        </p:nvCxnSpPr>
        <p:spPr bwMode="auto">
          <a:xfrm flipH="1" flipV="1">
            <a:off x="3801285" y="5114232"/>
            <a:ext cx="562678" cy="79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4" name="직선 화살표 연결선 105"/>
          <p:cNvCxnSpPr>
            <a:cxnSpLocks noChangeShapeType="1"/>
          </p:cNvCxnSpPr>
          <p:nvPr/>
        </p:nvCxnSpPr>
        <p:spPr bwMode="auto">
          <a:xfrm>
            <a:off x="1749124" y="4185544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5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103120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3131839" y="4998274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120344" y="4054575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63963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4435401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입력체크</a:t>
            </a:r>
            <a:r>
              <a:rPr kumimoji="0" lang="ko-KR" altLang="en-US" sz="1000" kern="0" dirty="0">
                <a:latin typeface="+mn-ea"/>
              </a:rPr>
              <a:t> 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</a:t>
            </a:r>
            <a:r>
              <a:rPr kumimoji="0" lang="en-US" altLang="ko-KR" sz="1000" kern="0" dirty="0">
                <a:latin typeface="+mn-ea"/>
              </a:rPr>
              <a:t> </a:t>
            </a:r>
            <a:r>
              <a:rPr kumimoji="0" lang="ko-KR" altLang="en-US" sz="1000" kern="0" dirty="0">
                <a:latin typeface="+mn-ea"/>
              </a:rPr>
              <a:t>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 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ko-KR" altLang="en-US" sz="1000" kern="0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3963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4506838" y="4809432"/>
            <a:ext cx="714375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New 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8338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819775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처리결과</a:t>
            </a:r>
            <a:r>
              <a:rPr kumimoji="0" lang="ko-KR" altLang="en-US" sz="1000" kern="0" dirty="0">
                <a:latin typeface="+mn-ea"/>
              </a:rPr>
              <a:t> </a:t>
            </a:r>
            <a:r>
              <a:rPr kumimoji="0" lang="en-US" altLang="ko-KR" sz="1000" kern="0" dirty="0">
                <a:latin typeface="+mn-ea"/>
              </a:rPr>
              <a:t>DB </a:t>
            </a:r>
            <a:r>
              <a:rPr kumimoji="0" lang="ko-KR" altLang="en-US" sz="1000" kern="0" dirty="0">
                <a:latin typeface="+mn-ea"/>
              </a:rPr>
              <a:t>저장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로그조립 </a:t>
            </a: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정상</a:t>
            </a:r>
            <a:r>
              <a:rPr kumimoji="0" lang="en-US" altLang="ko-KR" sz="1000" kern="0" dirty="0">
                <a:latin typeface="+mn-ea"/>
              </a:rPr>
              <a:t>)</a:t>
            </a: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8338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35" name="직선 화살표 연결선 70"/>
          <p:cNvCxnSpPr>
            <a:cxnSpLocks noChangeShapeType="1"/>
            <a:stCxn id="37" idx="1"/>
            <a:endCxn id="50" idx="1"/>
          </p:cNvCxnSpPr>
          <p:nvPr/>
        </p:nvCxnSpPr>
        <p:spPr bwMode="auto">
          <a:xfrm flipV="1">
            <a:off x="5292652" y="4286263"/>
            <a:ext cx="1377195" cy="64223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5658965" y="4698307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b="1" u="sng" dirty="0">
                <a:latin typeface="+mn-ea"/>
                <a:ea typeface="+mn-ea"/>
              </a:rPr>
              <a:t>①수동 </a:t>
            </a:r>
            <a:r>
              <a:rPr lang="en-US" altLang="ko-KR" sz="800" b="1" u="sng" dirty="0">
                <a:latin typeface="+mn-ea"/>
                <a:ea typeface="+mn-ea"/>
              </a:rPr>
              <a:t>PM </a:t>
            </a:r>
            <a:r>
              <a:rPr lang="ko-KR" altLang="en-US" sz="800" b="1" u="sng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rot="16200000" flipH="1">
            <a:off x="5118820" y="4754663"/>
            <a:ext cx="34766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5292651" y="5484119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②기동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 rot="16200000" flipH="1" flipV="1">
            <a:off x="7033962" y="4857057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6200000" flipH="1">
            <a:off x="4297288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0800000" flipH="1">
            <a:off x="4363963" y="357118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4363963" y="342195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5297413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7681663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0800000" flipH="1">
            <a:off x="7748338" y="357753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748338" y="342830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rot="16200000" flipH="1">
            <a:off x="8681788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7781701" y="5741294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⑤ </a:t>
            </a:r>
            <a:r>
              <a:rPr lang="ko-KR" altLang="en-US" sz="800" u="sng" dirty="0">
                <a:latin typeface="+mn-ea"/>
                <a:ea typeface="+mn-ea"/>
              </a:rPr>
              <a:t>수동</a:t>
            </a:r>
            <a:r>
              <a:rPr lang="en-US" altLang="ko-KR" sz="800" u="sng" dirty="0">
                <a:latin typeface="+mn-ea"/>
                <a:ea typeface="+mn-ea"/>
              </a:rPr>
              <a:t> 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49" name="직선 화살표 연결선 113"/>
          <p:cNvCxnSpPr>
            <a:cxnSpLocks noChangeShapeType="1"/>
          </p:cNvCxnSpPr>
          <p:nvPr/>
        </p:nvCxnSpPr>
        <p:spPr bwMode="auto">
          <a:xfrm rot="5400000">
            <a:off x="4970388" y="5322194"/>
            <a:ext cx="64293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6669847" y="4099400"/>
            <a:ext cx="702533" cy="373726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 실행 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요청 대기</a:t>
            </a:r>
          </a:p>
        </p:txBody>
      </p:sp>
      <p:cxnSp>
        <p:nvCxnSpPr>
          <p:cNvPr id="51" name="직선 화살표 연결선 70"/>
          <p:cNvCxnSpPr>
            <a:cxnSpLocks noChangeShapeType="1"/>
            <a:stCxn id="28" idx="2"/>
            <a:endCxn id="50" idx="2"/>
          </p:cNvCxnSpPr>
          <p:nvPr/>
        </p:nvCxnSpPr>
        <p:spPr bwMode="auto">
          <a:xfrm rot="5400000" flipH="1" flipV="1">
            <a:off x="5321979" y="4015173"/>
            <a:ext cx="1241181" cy="2157088"/>
          </a:xfrm>
          <a:prstGeom prst="bentConnector3">
            <a:avLst>
              <a:gd name="adj1" fmla="val -32743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5148063" y="5801676"/>
            <a:ext cx="15513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 기동 정상 </a:t>
            </a:r>
            <a:r>
              <a:rPr lang="en-US" altLang="ko-KR" sz="800" u="sng" dirty="0">
                <a:latin typeface="+mn-ea"/>
                <a:ea typeface="+mn-ea"/>
              </a:rPr>
              <a:t>Commit </a:t>
            </a:r>
            <a:r>
              <a:rPr lang="ko-KR" altLang="en-US" sz="800" u="sng" dirty="0">
                <a:latin typeface="+mn-ea"/>
                <a:ea typeface="+mn-ea"/>
              </a:rPr>
              <a:t>후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수동 실행 요청</a:t>
            </a:r>
          </a:p>
        </p:txBody>
      </p:sp>
      <p:cxnSp>
        <p:nvCxnSpPr>
          <p:cNvPr id="53" name="직선 화살표 연결선 70"/>
          <p:cNvCxnSpPr>
            <a:cxnSpLocks noChangeShapeType="1"/>
            <a:stCxn id="50" idx="3"/>
          </p:cNvCxnSpPr>
          <p:nvPr/>
        </p:nvCxnSpPr>
        <p:spPr bwMode="auto">
          <a:xfrm>
            <a:off x="7372380" y="4286263"/>
            <a:ext cx="375958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6957666" y="3826545"/>
            <a:ext cx="857250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④ </a:t>
            </a:r>
            <a:r>
              <a:rPr lang="ko-KR" altLang="en-US" sz="800" u="sng" dirty="0">
                <a:latin typeface="+mn-ea"/>
                <a:ea typeface="+mn-ea"/>
              </a:rPr>
              <a:t>수동 실행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시작</a:t>
            </a: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 rot="20068542">
            <a:off x="5241082" y="4344709"/>
            <a:ext cx="163218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callAsyncServiceAfterCommit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6308687" y="4421666"/>
            <a:ext cx="34662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적재</a:t>
            </a: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7020271" y="4637690"/>
            <a:ext cx="34662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실행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4056015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아래쪽 화살표 7">
            <a:extLst>
              <a:ext uri="{FF2B5EF4-FFF2-40B4-BE49-F238E27FC236}">
                <a16:creationId xmlns:a16="http://schemas.microsoft.com/office/drawing/2014/main" id="{57866659-6535-495C-A314-AB3569686C4D}"/>
              </a:ext>
            </a:extLst>
          </p:cNvPr>
          <p:cNvSpPr/>
          <p:nvPr/>
        </p:nvSpPr>
        <p:spPr>
          <a:xfrm rot="16200000">
            <a:off x="4864633" y="3880051"/>
            <a:ext cx="1054190" cy="3588323"/>
          </a:xfrm>
          <a:prstGeom prst="downArrow">
            <a:avLst>
              <a:gd name="adj1" fmla="val 72905"/>
              <a:gd name="adj2" fmla="val 26484"/>
            </a:avLst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동기거래 </a:t>
            </a:r>
            <a:r>
              <a:rPr lang="en-US" altLang="ko-KR" dirty="0"/>
              <a:t>+ </a:t>
            </a:r>
            <a:r>
              <a:rPr lang="ko-KR" altLang="en-US" dirty="0"/>
              <a:t>비동기 보상패턴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기동거래 내 동기형태로 </a:t>
            </a:r>
            <a:r>
              <a:rPr lang="en-US" altLang="ko-KR" dirty="0"/>
              <a:t>EAI</a:t>
            </a:r>
            <a:r>
              <a:rPr lang="ko-KR" altLang="en-US" dirty="0"/>
              <a:t>를 통한 동기거래를 호출하는 경우</a:t>
            </a:r>
            <a:r>
              <a:rPr lang="en-US" altLang="ko-KR" dirty="0"/>
              <a:t>, *</a:t>
            </a:r>
            <a:r>
              <a:rPr lang="en-US" altLang="ko-KR" dirty="0" err="1"/>
              <a:t>AfterRollback</a:t>
            </a:r>
            <a:r>
              <a:rPr lang="ko-KR" altLang="en-US" dirty="0"/>
              <a:t>기능으로 보상거래 호출 거래를 등록하여 기동거래가 </a:t>
            </a:r>
            <a:r>
              <a:rPr lang="en-US" altLang="ko-KR" dirty="0"/>
              <a:t>rollback</a:t>
            </a:r>
            <a:r>
              <a:rPr lang="ko-KR" altLang="en-US" dirty="0"/>
              <a:t>된 경우 호출되도록 함</a:t>
            </a:r>
            <a:endParaRPr lang="en-US" altLang="ko-KR" dirty="0"/>
          </a:p>
        </p:txBody>
      </p:sp>
      <p:sp>
        <p:nvSpPr>
          <p:cNvPr id="8" name="아래쪽 화살표 7"/>
          <p:cNvSpPr/>
          <p:nvPr/>
        </p:nvSpPr>
        <p:spPr>
          <a:xfrm rot="16200000">
            <a:off x="3534510" y="462063"/>
            <a:ext cx="1054190" cy="6301337"/>
          </a:xfrm>
          <a:prstGeom prst="downArrow">
            <a:avLst>
              <a:gd name="adj1" fmla="val 72905"/>
              <a:gd name="adj2" fmla="val 26484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82374" y="1780651"/>
            <a:ext cx="1333500" cy="18911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741039" y="1275258"/>
            <a:ext cx="928688" cy="1169200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812602" y="1275259"/>
            <a:ext cx="7295901" cy="11692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 내부에서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를 통한 동기거래를 호출하는 경우에 해당함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callAsyncServiceAfterRollback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으로 보상거래를 호출할 수동거래를 등록함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기동거래가 에러가 발생하여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rollback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되면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callAsyncServiceAfterRollback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으로 등록한 수동거래가 호출됨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 내부에선 원거래에 대한 보상거래를 호출하는 로직을 구현해야 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호출에 대한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원거래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보상거래 호출내역은 업무에서 업무의 처리내역로그로 쌓아야 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2" name="직사각형 49"/>
          <p:cNvSpPr>
            <a:spLocks noChangeArrowheads="1"/>
          </p:cNvSpPr>
          <p:nvPr/>
        </p:nvSpPr>
        <p:spPr bwMode="auto">
          <a:xfrm>
            <a:off x="704528" y="2541333"/>
            <a:ext cx="8456612" cy="3744416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720430" y="2694444"/>
            <a:ext cx="2506906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 – Core #2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170141" y="2694444"/>
            <a:ext cx="72707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20162" y="3100726"/>
            <a:ext cx="1824760" cy="98299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52276" y="5207966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82740" y="3151682"/>
            <a:ext cx="70012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6242295" y="3235821"/>
            <a:ext cx="569093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EAI</a:t>
            </a: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2794033" y="3185021"/>
            <a:ext cx="1678753" cy="84405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94033" y="3175495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기동거래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- A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3526147" y="5279404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26147" y="5279404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수동거래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- C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cxnSp>
        <p:nvCxnSpPr>
          <p:cNvPr id="42" name="직선 화살표 연결선 108"/>
          <p:cNvCxnSpPr>
            <a:cxnSpLocks noChangeShapeType="1"/>
          </p:cNvCxnSpPr>
          <p:nvPr/>
        </p:nvCxnSpPr>
        <p:spPr bwMode="auto">
          <a:xfrm>
            <a:off x="4365540" y="3463416"/>
            <a:ext cx="972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직선 화살표 연결선 115"/>
          <p:cNvCxnSpPr>
            <a:cxnSpLocks noChangeShapeType="1"/>
          </p:cNvCxnSpPr>
          <p:nvPr/>
        </p:nvCxnSpPr>
        <p:spPr bwMode="auto">
          <a:xfrm flipH="1">
            <a:off x="4365597" y="3524890"/>
            <a:ext cx="972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직사각형 78"/>
          <p:cNvSpPr/>
          <p:nvPr/>
        </p:nvSpPr>
        <p:spPr>
          <a:xfrm>
            <a:off x="2910614" y="3416301"/>
            <a:ext cx="14666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B</a:t>
            </a:r>
            <a:r>
              <a:rPr kumimoji="0" lang="ko-KR" altLang="en-US" sz="800" kern="0" dirty="0">
                <a:latin typeface="+mn-ea"/>
              </a:rPr>
              <a:t>거래 요청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보상거래 호출거래 등록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lang="en-US" altLang="ko-KR" sz="800" kern="0" dirty="0">
                <a:latin typeface="+mn-ea"/>
              </a:rPr>
              <a:t>B</a:t>
            </a:r>
            <a:r>
              <a:rPr lang="ko-KR" altLang="en-US" sz="800" kern="0" dirty="0">
                <a:latin typeface="+mn-ea"/>
              </a:rPr>
              <a:t>거래 처리내역로그등록</a:t>
            </a:r>
            <a:br>
              <a:rPr lang="en-US" altLang="ko-KR" sz="800" kern="0" dirty="0">
                <a:latin typeface="+mn-ea"/>
              </a:rPr>
            </a:br>
            <a:r>
              <a:rPr lang="en-US" altLang="ko-KR" sz="800" kern="0" dirty="0">
                <a:latin typeface="+mn-ea"/>
              </a:rPr>
              <a:t>  </a:t>
            </a:r>
            <a:r>
              <a:rPr lang="ko-KR" altLang="en-US" sz="800" kern="0" dirty="0">
                <a:latin typeface="+mn-ea"/>
              </a:rPr>
              <a:t>상태</a:t>
            </a:r>
            <a:r>
              <a:rPr lang="en-US" altLang="ko-KR" sz="800" kern="0" dirty="0">
                <a:latin typeface="+mn-ea"/>
              </a:rPr>
              <a:t>=</a:t>
            </a:r>
            <a:r>
              <a:rPr lang="ko-KR" altLang="en-US" sz="800" kern="0" dirty="0">
                <a:latin typeface="+mn-ea"/>
              </a:rPr>
              <a:t>정상 </a:t>
            </a:r>
            <a:r>
              <a:rPr lang="en-US" altLang="ko-KR" sz="800" kern="0" dirty="0">
                <a:latin typeface="+mn-ea"/>
              </a:rPr>
              <a:t>or </a:t>
            </a:r>
            <a:r>
              <a:rPr lang="ko-KR" altLang="en-US" sz="800" kern="0" dirty="0">
                <a:latin typeface="+mn-ea"/>
              </a:rPr>
              <a:t>오류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720991" y="5470975"/>
            <a:ext cx="1506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보상거래</a:t>
            </a:r>
            <a:r>
              <a:rPr lang="en-US" altLang="ko-KR" sz="800" kern="0" dirty="0">
                <a:latin typeface="+mn-ea"/>
              </a:rPr>
              <a:t>(D) </a:t>
            </a:r>
            <a:r>
              <a:rPr lang="ko-KR" altLang="en-US" sz="800" kern="0" dirty="0">
                <a:latin typeface="+mn-ea"/>
              </a:rPr>
              <a:t>요청</a:t>
            </a:r>
            <a:endParaRPr kumimoji="0" lang="en-US" altLang="ko-KR" sz="800" kern="0" dirty="0">
              <a:latin typeface="+mn-ea"/>
            </a:endParaRPr>
          </a:p>
          <a:p>
            <a:pPr defTabSz="190500"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lang="ko-KR" altLang="en-US" sz="800" kern="0" dirty="0">
                <a:latin typeface="+mn-ea"/>
              </a:rPr>
              <a:t>보상거래</a:t>
            </a:r>
            <a:r>
              <a:rPr lang="en-US" altLang="ko-KR" sz="800" kern="0" dirty="0">
                <a:latin typeface="+mn-ea"/>
              </a:rPr>
              <a:t>(D) </a:t>
            </a:r>
            <a:r>
              <a:rPr lang="ko-KR" altLang="en-US" sz="800" kern="0" dirty="0">
                <a:latin typeface="+mn-ea"/>
              </a:rPr>
              <a:t>처리내역로그등록</a:t>
            </a:r>
            <a:br>
              <a:rPr lang="en-US" altLang="ko-KR" sz="800" kern="0" dirty="0">
                <a:latin typeface="+mn-ea"/>
              </a:rPr>
            </a:br>
            <a:r>
              <a:rPr lang="en-US" altLang="ko-KR" sz="800" kern="0" dirty="0">
                <a:latin typeface="+mn-ea"/>
              </a:rPr>
              <a:t>  </a:t>
            </a:r>
            <a:r>
              <a:rPr lang="ko-KR" altLang="en-US" sz="800" kern="0" dirty="0">
                <a:latin typeface="+mn-ea"/>
              </a:rPr>
              <a:t>상태</a:t>
            </a:r>
            <a:r>
              <a:rPr lang="en-US" altLang="ko-KR" sz="800" kern="0" dirty="0">
                <a:latin typeface="+mn-ea"/>
              </a:rPr>
              <a:t>=</a:t>
            </a:r>
            <a:r>
              <a:rPr lang="ko-KR" altLang="en-US" sz="800" kern="0" dirty="0">
                <a:latin typeface="+mn-ea"/>
              </a:rPr>
              <a:t>정상 </a:t>
            </a:r>
            <a:r>
              <a:rPr lang="en-US" altLang="ko-KR" sz="800" kern="0" dirty="0">
                <a:latin typeface="+mn-ea"/>
              </a:rPr>
              <a:t>or </a:t>
            </a:r>
            <a:r>
              <a:rPr lang="ko-KR" altLang="en-US" sz="800" kern="0" dirty="0">
                <a:latin typeface="+mn-ea"/>
              </a:rPr>
              <a:t>오류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DFE2362-F6DA-4B10-B59C-A9BB9EEC9027}"/>
              </a:ext>
            </a:extLst>
          </p:cNvPr>
          <p:cNvSpPr/>
          <p:nvPr/>
        </p:nvSpPr>
        <p:spPr>
          <a:xfrm>
            <a:off x="7060750" y="2700756"/>
            <a:ext cx="1960701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 – Core #1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9AF070-65AD-44DF-A7C4-9703AEDCFD0A}"/>
              </a:ext>
            </a:extLst>
          </p:cNvPr>
          <p:cNvSpPr txBox="1"/>
          <p:nvPr/>
        </p:nvSpPr>
        <p:spPr>
          <a:xfrm>
            <a:off x="7196692" y="3107038"/>
            <a:ext cx="1824760" cy="98299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D44B9F2-6810-4910-B928-BFBA3190166E}"/>
              </a:ext>
            </a:extLst>
          </p:cNvPr>
          <p:cNvSpPr txBox="1"/>
          <p:nvPr/>
        </p:nvSpPr>
        <p:spPr>
          <a:xfrm>
            <a:off x="7196692" y="5214278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0" name="Text Box 25">
            <a:extLst>
              <a:ext uri="{FF2B5EF4-FFF2-40B4-BE49-F238E27FC236}">
                <a16:creationId xmlns:a16="http://schemas.microsoft.com/office/drawing/2014/main" id="{44D2E318-E3FA-4892-B73D-1F50C2942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563" y="3191333"/>
            <a:ext cx="1678753" cy="84405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52B4F57-E73C-4452-9F8F-7AE6A34F367A}"/>
              </a:ext>
            </a:extLst>
          </p:cNvPr>
          <p:cNvSpPr txBox="1"/>
          <p:nvPr/>
        </p:nvSpPr>
        <p:spPr>
          <a:xfrm>
            <a:off x="7270563" y="3181807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B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sp>
        <p:nvSpPr>
          <p:cNvPr id="92" name="Text Box 25">
            <a:extLst>
              <a:ext uri="{FF2B5EF4-FFF2-40B4-BE49-F238E27FC236}">
                <a16:creationId xmlns:a16="http://schemas.microsoft.com/office/drawing/2014/main" id="{DA78122B-C0B0-488B-A3C2-9B79313E3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563" y="5285716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CDB4520-654E-478F-91B0-194DDACD13BD}"/>
              </a:ext>
            </a:extLst>
          </p:cNvPr>
          <p:cNvSpPr txBox="1"/>
          <p:nvPr/>
        </p:nvSpPr>
        <p:spPr>
          <a:xfrm>
            <a:off x="7270563" y="5285716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D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A672C45-2157-4726-ACCD-974C75591ABD}"/>
              </a:ext>
            </a:extLst>
          </p:cNvPr>
          <p:cNvSpPr/>
          <p:nvPr/>
        </p:nvSpPr>
        <p:spPr>
          <a:xfrm>
            <a:off x="7387144" y="3422613"/>
            <a:ext cx="14666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B</a:t>
            </a:r>
            <a:r>
              <a:rPr kumimoji="0" lang="ko-KR" altLang="en-US" sz="800" kern="0" dirty="0">
                <a:latin typeface="+mn-ea"/>
              </a:rPr>
              <a:t>거래 처리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6330C36-6736-4E27-9BEB-DE7D59FD443D}"/>
              </a:ext>
            </a:extLst>
          </p:cNvPr>
          <p:cNvSpPr/>
          <p:nvPr/>
        </p:nvSpPr>
        <p:spPr>
          <a:xfrm>
            <a:off x="7393989" y="5477287"/>
            <a:ext cx="150634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B</a:t>
            </a:r>
            <a:r>
              <a:rPr kumimoji="0" lang="ko-KR" altLang="en-US" sz="800" kern="0" dirty="0">
                <a:latin typeface="+mn-ea"/>
              </a:rPr>
              <a:t>거래에 대한 보상처리</a:t>
            </a:r>
            <a:endParaRPr kumimoji="0" lang="en-US" altLang="ko-KR" sz="800" kern="0" dirty="0">
              <a:latin typeface="+mn-ea"/>
            </a:endParaRPr>
          </a:p>
        </p:txBody>
      </p:sp>
      <p:cxnSp>
        <p:nvCxnSpPr>
          <p:cNvPr id="100" name="직선 화살표 연결선 108">
            <a:extLst>
              <a:ext uri="{FF2B5EF4-FFF2-40B4-BE49-F238E27FC236}">
                <a16:creationId xmlns:a16="http://schemas.microsoft.com/office/drawing/2014/main" id="{E2A3256B-3515-4A15-8549-0B24518B77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16783" y="3465004"/>
            <a:ext cx="288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순서도: 자기 디스크 101">
            <a:extLst>
              <a:ext uri="{FF2B5EF4-FFF2-40B4-BE49-F238E27FC236}">
                <a16:creationId xmlns:a16="http://schemas.microsoft.com/office/drawing/2014/main" id="{23AF8B65-48CE-4EB2-9958-91D11ABA1972}"/>
              </a:ext>
            </a:extLst>
          </p:cNvPr>
          <p:cNvSpPr/>
          <p:nvPr/>
        </p:nvSpPr>
        <p:spPr>
          <a:xfrm>
            <a:off x="2648744" y="5473207"/>
            <a:ext cx="610301" cy="47935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처리내역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로그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87B495D-3D28-448A-A6FD-69CA04881125}"/>
              </a:ext>
            </a:extLst>
          </p:cNvPr>
          <p:cNvSpPr/>
          <p:nvPr/>
        </p:nvSpPr>
        <p:spPr>
          <a:xfrm>
            <a:off x="5341130" y="2694444"/>
            <a:ext cx="72707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FW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1D755D-6F33-4564-8E2A-3FDB8C724682}"/>
              </a:ext>
            </a:extLst>
          </p:cNvPr>
          <p:cNvSpPr txBox="1"/>
          <p:nvPr/>
        </p:nvSpPr>
        <p:spPr>
          <a:xfrm>
            <a:off x="5353729" y="3151682"/>
            <a:ext cx="70012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5" name="Text Box 25">
            <a:extLst>
              <a:ext uri="{FF2B5EF4-FFF2-40B4-BE49-F238E27FC236}">
                <a16:creationId xmlns:a16="http://schemas.microsoft.com/office/drawing/2014/main" id="{403186BC-D693-4E6A-8DAF-E9D3ECEE2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284" y="3235821"/>
            <a:ext cx="569093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FW</a:t>
            </a:r>
          </a:p>
        </p:txBody>
      </p:sp>
      <p:cxnSp>
        <p:nvCxnSpPr>
          <p:cNvPr id="124" name="직선 화살표 연결선 115">
            <a:extLst>
              <a:ext uri="{FF2B5EF4-FFF2-40B4-BE49-F238E27FC236}">
                <a16:creationId xmlns:a16="http://schemas.microsoft.com/office/drawing/2014/main" id="{D1AC902D-7EF3-49A4-BBF9-9AE7FF552FC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97216" y="3524890"/>
            <a:ext cx="288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직선 화살표 연결선 108">
            <a:extLst>
              <a:ext uri="{FF2B5EF4-FFF2-40B4-BE49-F238E27FC236}">
                <a16:creationId xmlns:a16="http://schemas.microsoft.com/office/drawing/2014/main" id="{5AFE94F6-EE9F-4D55-9AB0-E4C86B7F83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69064" y="3465004"/>
            <a:ext cx="144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6" name="직선 화살표 연결선 115">
            <a:extLst>
              <a:ext uri="{FF2B5EF4-FFF2-40B4-BE49-F238E27FC236}">
                <a16:creationId xmlns:a16="http://schemas.microsoft.com/office/drawing/2014/main" id="{6F259ACC-6146-4D49-A97D-7B0708E2145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49497" y="3524890"/>
            <a:ext cx="144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7" name="직선 화살표 연결선 70">
            <a:extLst>
              <a:ext uri="{FF2B5EF4-FFF2-40B4-BE49-F238E27FC236}">
                <a16:creationId xmlns:a16="http://schemas.microsoft.com/office/drawing/2014/main" id="{81130B7E-B611-43C0-9595-66A7122AD6B8}"/>
              </a:ext>
            </a:extLst>
          </p:cNvPr>
          <p:cNvCxnSpPr>
            <a:cxnSpLocks noChangeShapeType="1"/>
            <a:endCxn id="102" idx="1"/>
          </p:cNvCxnSpPr>
          <p:nvPr/>
        </p:nvCxnSpPr>
        <p:spPr bwMode="auto">
          <a:xfrm rot="16200000" flipH="1">
            <a:off x="2228654" y="4747966"/>
            <a:ext cx="1444132" cy="6350"/>
          </a:xfrm>
          <a:prstGeom prst="bentConnector3">
            <a:avLst>
              <a:gd name="adj1" fmla="val 1123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0" name="Text Box 25">
            <a:extLst>
              <a:ext uri="{FF2B5EF4-FFF2-40B4-BE49-F238E27FC236}">
                <a16:creationId xmlns:a16="http://schemas.microsoft.com/office/drawing/2014/main" id="{1B943DF4-30EA-4E44-87C4-EE84F9F87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2904" y="5174712"/>
            <a:ext cx="348654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처리</a:t>
            </a:r>
            <a:endParaRPr lang="en-US" altLang="ko-KR" sz="800" dirty="0">
              <a:latin typeface="+mn-ea"/>
              <a:ea typeface="+mn-ea"/>
            </a:endParaRPr>
          </a:p>
          <a:p>
            <a:pPr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내역</a:t>
            </a:r>
          </a:p>
        </p:txBody>
      </p:sp>
      <p:cxnSp>
        <p:nvCxnSpPr>
          <p:cNvPr id="131" name="직선 화살표 연결선 70">
            <a:extLst>
              <a:ext uri="{FF2B5EF4-FFF2-40B4-BE49-F238E27FC236}">
                <a16:creationId xmlns:a16="http://schemas.microsoft.com/office/drawing/2014/main" id="{0582ABBB-D53F-4F4F-B0E5-B74FA30F59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96916" y="3748081"/>
            <a:ext cx="1394000" cy="43992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2" name="Text Box 25">
            <a:extLst>
              <a:ext uri="{FF2B5EF4-FFF2-40B4-BE49-F238E27FC236}">
                <a16:creationId xmlns:a16="http://schemas.microsoft.com/office/drawing/2014/main" id="{0EB30040-D6B9-4560-AEC3-D1159E75C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826" y="4243406"/>
            <a:ext cx="508254" cy="373726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 실행 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요청 대기</a:t>
            </a:r>
          </a:p>
        </p:txBody>
      </p:sp>
      <p:sp>
        <p:nvSpPr>
          <p:cNvPr id="135" name="Text Box 25">
            <a:extLst>
              <a:ext uri="{FF2B5EF4-FFF2-40B4-BE49-F238E27FC236}">
                <a16:creationId xmlns:a16="http://schemas.microsoft.com/office/drawing/2014/main" id="{4070A270-A2E5-45FC-8879-8220A224B651}"/>
              </a:ext>
            </a:extLst>
          </p:cNvPr>
          <p:cNvSpPr txBox="1">
            <a:spLocks noChangeArrowheads="1"/>
          </p:cNvSpPr>
          <p:nvPr/>
        </p:nvSpPr>
        <p:spPr bwMode="auto">
          <a:xfrm rot="1012039">
            <a:off x="3844631" y="3755128"/>
            <a:ext cx="1545329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callAsyncServiceAfterRollback</a:t>
            </a:r>
            <a:br>
              <a:rPr lang="en-US" altLang="ko-KR" sz="800" b="1" dirty="0">
                <a:solidFill>
                  <a:srgbClr val="0000FF"/>
                </a:solidFill>
                <a:latin typeface="+mn-ea"/>
                <a:ea typeface="+mn-ea"/>
              </a:rPr>
            </a:br>
            <a:r>
              <a:rPr lang="en-US" altLang="ko-KR" sz="800" b="1" dirty="0">
                <a:solidFill>
                  <a:srgbClr val="0000FF"/>
                </a:solidFill>
                <a:latin typeface="+mn-ea"/>
                <a:ea typeface="+mn-ea"/>
              </a:rPr>
              <a:t>(C</a:t>
            </a:r>
            <a:r>
              <a:rPr lang="ko-KR" altLang="en-US" sz="800" b="1" dirty="0">
                <a:solidFill>
                  <a:srgbClr val="0000FF"/>
                </a:solidFill>
                <a:latin typeface="+mn-ea"/>
                <a:ea typeface="+mn-ea"/>
              </a:rPr>
              <a:t>거래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41" name="직선 화살표 연결선 108">
            <a:extLst>
              <a:ext uri="{FF2B5EF4-FFF2-40B4-BE49-F238E27FC236}">
                <a16:creationId xmlns:a16="http://schemas.microsoft.com/office/drawing/2014/main" id="{7D2BE2C6-C2FC-4250-A7F4-79432DA87E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60841" y="5434429"/>
            <a:ext cx="168232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" name="직선 화살표 연결선 70">
            <a:extLst>
              <a:ext uri="{FF2B5EF4-FFF2-40B4-BE49-F238E27FC236}">
                <a16:creationId xmlns:a16="http://schemas.microsoft.com/office/drawing/2014/main" id="{7DA56D99-2AF0-4A29-B8F9-36AD34C5E008}"/>
              </a:ext>
            </a:extLst>
          </p:cNvPr>
          <p:cNvCxnSpPr>
            <a:cxnSpLocks noChangeShapeType="1"/>
            <a:stCxn id="40" idx="1"/>
            <a:endCxn id="102" idx="4"/>
          </p:cNvCxnSpPr>
          <p:nvPr/>
        </p:nvCxnSpPr>
        <p:spPr bwMode="auto">
          <a:xfrm rot="10800000" flipV="1">
            <a:off x="3259045" y="5711230"/>
            <a:ext cx="267102" cy="1656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6D83824E-0DD5-4249-A9B0-5536D8562E74}"/>
              </a:ext>
            </a:extLst>
          </p:cNvPr>
          <p:cNvSpPr txBox="1"/>
          <p:nvPr/>
        </p:nvSpPr>
        <p:spPr bwMode="auto">
          <a:xfrm>
            <a:off x="776538" y="3151733"/>
            <a:ext cx="448602" cy="306332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2AAD11CE-C72F-4302-96CB-E85F21986A8F}"/>
              </a:ext>
            </a:extLst>
          </p:cNvPr>
          <p:cNvSpPr/>
          <p:nvPr/>
        </p:nvSpPr>
        <p:spPr bwMode="auto">
          <a:xfrm>
            <a:off x="776536" y="2694444"/>
            <a:ext cx="104871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3DC2F51E-BCBA-4E26-AA25-B6E071029498}"/>
              </a:ext>
            </a:extLst>
          </p:cNvPr>
          <p:cNvSpPr/>
          <p:nvPr/>
        </p:nvSpPr>
        <p:spPr bwMode="auto">
          <a:xfrm>
            <a:off x="1956870" y="2694444"/>
            <a:ext cx="631941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+mn-ea"/>
              </a:rPr>
              <a:t>W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E0DA53A-166E-4E83-B20D-8085DEE2CEFD}"/>
              </a:ext>
            </a:extLst>
          </p:cNvPr>
          <p:cNvSpPr txBox="1"/>
          <p:nvPr/>
        </p:nvSpPr>
        <p:spPr bwMode="auto">
          <a:xfrm>
            <a:off x="1388971" y="3151733"/>
            <a:ext cx="444432" cy="306332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E91FFCA-EB25-4F8A-B085-84E510050F10}"/>
              </a:ext>
            </a:extLst>
          </p:cNvPr>
          <p:cNvSpPr txBox="1"/>
          <p:nvPr/>
        </p:nvSpPr>
        <p:spPr bwMode="auto">
          <a:xfrm>
            <a:off x="1992874" y="3151733"/>
            <a:ext cx="595937" cy="306332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3" name="Text Box 25">
            <a:extLst>
              <a:ext uri="{FF2B5EF4-FFF2-40B4-BE49-F238E27FC236}">
                <a16:creationId xmlns:a16="http://schemas.microsoft.com/office/drawing/2014/main" id="{3E2AAA58-2D91-42A9-928D-F7377007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313" y="3208883"/>
            <a:ext cx="436216" cy="28676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FW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4" name="Text Box 25">
            <a:extLst>
              <a:ext uri="{FF2B5EF4-FFF2-40B4-BE49-F238E27FC236}">
                <a16:creationId xmlns:a16="http://schemas.microsoft.com/office/drawing/2014/main" id="{CAC6401D-DCAA-45B9-897F-8D2B721E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407" y="3208883"/>
            <a:ext cx="291644" cy="28676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5" name="Text Box 25">
            <a:extLst>
              <a:ext uri="{FF2B5EF4-FFF2-40B4-BE49-F238E27FC236}">
                <a16:creationId xmlns:a16="http://schemas.microsoft.com/office/drawing/2014/main" id="{32C3552D-86F6-4D56-B4C7-5A481DCA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977" y="3208883"/>
            <a:ext cx="316182" cy="28676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56" name="Line 20">
            <a:extLst>
              <a:ext uri="{FF2B5EF4-FFF2-40B4-BE49-F238E27FC236}">
                <a16:creationId xmlns:a16="http://schemas.microsoft.com/office/drawing/2014/main" id="{5E5E094E-5A66-4D17-AEB7-040BFFD4F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6794" y="3420632"/>
            <a:ext cx="1800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158" name="직선 화살표 연결선 105">
            <a:extLst>
              <a:ext uri="{FF2B5EF4-FFF2-40B4-BE49-F238E27FC236}">
                <a16:creationId xmlns:a16="http://schemas.microsoft.com/office/drawing/2014/main" id="{E464369D-82BC-4C5F-838D-C15B0AF63C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0786" y="3407932"/>
            <a:ext cx="18000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59" name="직선 화살표 연결선 106">
            <a:extLst>
              <a:ext uri="{FF2B5EF4-FFF2-40B4-BE49-F238E27FC236}">
                <a16:creationId xmlns:a16="http://schemas.microsoft.com/office/drawing/2014/main" id="{82C3DE57-1313-4F4B-828B-8C2605DE1BE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00787" y="3785874"/>
            <a:ext cx="180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0" name="Text Box 25">
            <a:extLst>
              <a:ext uri="{FF2B5EF4-FFF2-40B4-BE49-F238E27FC236}">
                <a16:creationId xmlns:a16="http://schemas.microsoft.com/office/drawing/2014/main" id="{C174D2ED-C4E3-4F3D-AADB-15FD2652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243" y="3681028"/>
            <a:ext cx="319149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61" name="Text Box 25">
            <a:extLst>
              <a:ext uri="{FF2B5EF4-FFF2-40B4-BE49-F238E27FC236}">
                <a16:creationId xmlns:a16="http://schemas.microsoft.com/office/drawing/2014/main" id="{EE4F66C1-4EAB-40C8-9D5F-AF00B786A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748" y="3276963"/>
            <a:ext cx="319149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cxnSp>
        <p:nvCxnSpPr>
          <p:cNvPr id="181" name="직선 화살표 연결선 108">
            <a:extLst>
              <a:ext uri="{FF2B5EF4-FFF2-40B4-BE49-F238E27FC236}">
                <a16:creationId xmlns:a16="http://schemas.microsoft.com/office/drawing/2014/main" id="{1369B1BD-8238-4DA3-9166-9561200374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52736" y="5434429"/>
            <a:ext cx="144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" name="직선 화살표 연결선 115">
            <a:extLst>
              <a:ext uri="{FF2B5EF4-FFF2-40B4-BE49-F238E27FC236}">
                <a16:creationId xmlns:a16="http://schemas.microsoft.com/office/drawing/2014/main" id="{40181E76-FFBC-4C97-A080-D673BDE1FD9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33169" y="5578445"/>
            <a:ext cx="144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1" name="직선 화살표 연결선 108">
            <a:extLst>
              <a:ext uri="{FF2B5EF4-FFF2-40B4-BE49-F238E27FC236}">
                <a16:creationId xmlns:a16="http://schemas.microsoft.com/office/drawing/2014/main" id="{65B591A7-C996-46CF-97FC-AB94B70C7C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04842" y="5409220"/>
            <a:ext cx="288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2" name="직선 화살표 연결선 115">
            <a:extLst>
              <a:ext uri="{FF2B5EF4-FFF2-40B4-BE49-F238E27FC236}">
                <a16:creationId xmlns:a16="http://schemas.microsoft.com/office/drawing/2014/main" id="{0E3A944B-980E-4540-A4F6-70090AE212C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85275" y="5517232"/>
            <a:ext cx="288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3" name="직선 화살표 연결선 115">
            <a:extLst>
              <a:ext uri="{FF2B5EF4-FFF2-40B4-BE49-F238E27FC236}">
                <a16:creationId xmlns:a16="http://schemas.microsoft.com/office/drawing/2014/main" id="{DA2C5E5B-F6DA-403F-AD1B-7FBF0F3732E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65095" y="5581219"/>
            <a:ext cx="144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" name="Text Box 25">
            <a:extLst>
              <a:ext uri="{FF2B5EF4-FFF2-40B4-BE49-F238E27FC236}">
                <a16:creationId xmlns:a16="http://schemas.microsoft.com/office/drawing/2014/main" id="{4446D761-1615-4470-8A20-317FD3D89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702" y="4113076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</a:t>
            </a:r>
            <a:r>
              <a:rPr lang="en-US" altLang="ko-KR" sz="800" u="sng" dirty="0">
                <a:latin typeface="+mn-ea"/>
                <a:ea typeface="+mn-ea"/>
              </a:rPr>
              <a:t>A</a:t>
            </a:r>
            <a:r>
              <a:rPr lang="ko-KR" altLang="en-US" sz="800" u="sng" dirty="0">
                <a:latin typeface="+mn-ea"/>
                <a:ea typeface="+mn-ea"/>
              </a:rPr>
              <a:t>거래</a:t>
            </a:r>
            <a:r>
              <a:rPr lang="en-US" altLang="ko-KR" sz="800" u="sng" dirty="0">
                <a:latin typeface="+mn-ea"/>
                <a:ea typeface="+mn-ea"/>
              </a:rPr>
              <a:t>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195" name="직선 화살표 연결선 113">
            <a:extLst>
              <a:ext uri="{FF2B5EF4-FFF2-40B4-BE49-F238E27FC236}">
                <a16:creationId xmlns:a16="http://schemas.microsoft.com/office/drawing/2014/main" id="{45A6F2C9-F5B8-4136-8341-86EDF70CFD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99259" y="3408936"/>
            <a:ext cx="0" cy="70414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" name="직선 화살표 연결선 70">
            <a:extLst>
              <a:ext uri="{FF2B5EF4-FFF2-40B4-BE49-F238E27FC236}">
                <a16:creationId xmlns:a16="http://schemas.microsoft.com/office/drawing/2014/main" id="{88E27EBE-30A2-402D-B2F7-AE2EB1690B71}"/>
              </a:ext>
            </a:extLst>
          </p:cNvPr>
          <p:cNvCxnSpPr>
            <a:cxnSpLocks noChangeShapeType="1"/>
            <a:stCxn id="194" idx="2"/>
            <a:endCxn id="132" idx="1"/>
          </p:cNvCxnSpPr>
          <p:nvPr/>
        </p:nvCxnSpPr>
        <p:spPr bwMode="auto">
          <a:xfrm rot="16200000" flipH="1">
            <a:off x="4693711" y="3671153"/>
            <a:ext cx="157731" cy="1360499"/>
          </a:xfrm>
          <a:prstGeom prst="bentConnector2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" name="Text Box 25">
            <a:extLst>
              <a:ext uri="{FF2B5EF4-FFF2-40B4-BE49-F238E27FC236}">
                <a16:creationId xmlns:a16="http://schemas.microsoft.com/office/drawing/2014/main" id="{69532781-80B3-41D5-83F0-72548F5B0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526" y="4454619"/>
            <a:ext cx="1161504" cy="405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 기동 오류 </a:t>
            </a:r>
            <a:r>
              <a:rPr lang="en-US" altLang="ko-KR" sz="800" u="sng" dirty="0">
                <a:latin typeface="+mn-ea"/>
                <a:ea typeface="+mn-ea"/>
                <a:sym typeface="Wingdings" panose="05000000000000000000" pitchFamily="2" charset="2"/>
              </a:rPr>
              <a:t> </a:t>
            </a:r>
            <a:br>
              <a:rPr lang="en-US" altLang="ko-KR" sz="800" u="sng" dirty="0">
                <a:latin typeface="+mn-ea"/>
                <a:ea typeface="+mn-ea"/>
                <a:sym typeface="Wingdings" panose="05000000000000000000" pitchFamily="2" charset="2"/>
              </a:rPr>
            </a:br>
            <a:r>
              <a:rPr lang="en-US" altLang="ko-KR" sz="800" u="sng" dirty="0">
                <a:latin typeface="+mn-ea"/>
                <a:ea typeface="+mn-ea"/>
              </a:rPr>
              <a:t>Rollback </a:t>
            </a:r>
            <a:r>
              <a:rPr lang="ko-KR" altLang="en-US" sz="800" u="sng" dirty="0">
                <a:latin typeface="+mn-ea"/>
                <a:ea typeface="+mn-ea"/>
              </a:rPr>
              <a:t>후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수동 실행 요청</a:t>
            </a:r>
          </a:p>
        </p:txBody>
      </p:sp>
      <p:cxnSp>
        <p:nvCxnSpPr>
          <p:cNvPr id="227" name="직선 화살표 연결선 105">
            <a:extLst>
              <a:ext uri="{FF2B5EF4-FFF2-40B4-BE49-F238E27FC236}">
                <a16:creationId xmlns:a16="http://schemas.microsoft.com/office/drawing/2014/main" id="{771CC249-403E-48F1-91C7-C764FAC208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56675" y="3409038"/>
            <a:ext cx="18000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28" name="직선 화살표 연결선 106">
            <a:extLst>
              <a:ext uri="{FF2B5EF4-FFF2-40B4-BE49-F238E27FC236}">
                <a16:creationId xmlns:a16="http://schemas.microsoft.com/office/drawing/2014/main" id="{025A697C-6F86-4C20-A4CD-8FB29ACDAFD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56676" y="3786980"/>
            <a:ext cx="180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9" name="직선 화살표 연결선 106">
            <a:extLst>
              <a:ext uri="{FF2B5EF4-FFF2-40B4-BE49-F238E27FC236}">
                <a16:creationId xmlns:a16="http://schemas.microsoft.com/office/drawing/2014/main" id="{33A19D0D-61CE-4A5B-A5D9-77F4E3B191C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76756" y="3789040"/>
            <a:ext cx="180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7" name="직선 화살표 연결선 70">
            <a:extLst>
              <a:ext uri="{FF2B5EF4-FFF2-40B4-BE49-F238E27FC236}">
                <a16:creationId xmlns:a16="http://schemas.microsoft.com/office/drawing/2014/main" id="{81F6FD3C-7E6A-474F-B300-38C181FE477A}"/>
              </a:ext>
            </a:extLst>
          </p:cNvPr>
          <p:cNvCxnSpPr>
            <a:cxnSpLocks noChangeShapeType="1"/>
            <a:stCxn id="132" idx="2"/>
            <a:endCxn id="31" idx="0"/>
          </p:cNvCxnSpPr>
          <p:nvPr/>
        </p:nvCxnSpPr>
        <p:spPr bwMode="auto">
          <a:xfrm rot="5400000">
            <a:off x="4740388" y="4241401"/>
            <a:ext cx="590834" cy="134229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9333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지연 비동기 </a:t>
            </a:r>
            <a:r>
              <a:rPr lang="ko-KR" altLang="en-US" dirty="0" err="1"/>
              <a:t>연동거래</a:t>
            </a:r>
            <a:r>
              <a:rPr lang="ko-KR" altLang="en-US" dirty="0"/>
              <a:t> </a:t>
            </a:r>
            <a:r>
              <a:rPr lang="en-US" altLang="ko-KR" dirty="0"/>
              <a:t>( Timer 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비동기 거래 중 일정 시간 지연 후에 실행되도록 </a:t>
            </a:r>
            <a:r>
              <a:rPr lang="en-US" altLang="ko-KR" dirty="0"/>
              <a:t>Timer </a:t>
            </a:r>
            <a:r>
              <a:rPr lang="ko-KR" altLang="en-US" dirty="0"/>
              <a:t>를 통해 </a:t>
            </a:r>
            <a:r>
              <a:rPr lang="ko-KR" altLang="en-US" dirty="0" err="1"/>
              <a:t>기동되게</a:t>
            </a:r>
            <a:r>
              <a:rPr lang="ko-KR" altLang="en-US" dirty="0"/>
              <a:t> 함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1039" y="1412776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2602" y="1412775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아래 사항을 제외하고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Non-Transactional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비동기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처리기준은 동일함</a:t>
            </a:r>
            <a:b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수동거래는 지정된 시간만큼 대기후 기동거래 정상 여부와 상관없이 수행됨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기동거래로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Common Area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역복제는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발생하지 않음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연계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거래시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지정된 시간 동안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취급응답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전문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미수신되는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경우 에러 처리를 위해 사용됨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14064" y="3492824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4064" y="3068961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15470" y="3068961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서비스기반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57997" y="3068961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97783" y="3068961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57997" y="3492824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015470" y="3492824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086908" y="3549974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029434" y="3549974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85502" y="3549974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2743809" y="4126236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2743808" y="5042224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직사각형 49"/>
          <p:cNvSpPr>
            <a:spLocks noChangeArrowheads="1"/>
          </p:cNvSpPr>
          <p:nvPr/>
        </p:nvSpPr>
        <p:spPr bwMode="auto">
          <a:xfrm>
            <a:off x="704528" y="2924944"/>
            <a:ext cx="8456612" cy="3312368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2" name="직선 화살표 연결선 102"/>
          <p:cNvCxnSpPr>
            <a:cxnSpLocks noChangeShapeType="1"/>
          </p:cNvCxnSpPr>
          <p:nvPr/>
        </p:nvCxnSpPr>
        <p:spPr bwMode="auto">
          <a:xfrm>
            <a:off x="3801283" y="4122664"/>
            <a:ext cx="56268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3" name="직선 화살표 연결선 104"/>
          <p:cNvCxnSpPr>
            <a:cxnSpLocks noChangeShapeType="1"/>
          </p:cNvCxnSpPr>
          <p:nvPr/>
        </p:nvCxnSpPr>
        <p:spPr bwMode="auto">
          <a:xfrm flipH="1" flipV="1">
            <a:off x="3801285" y="5042224"/>
            <a:ext cx="562678" cy="79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4" name="직선 화살표 연결선 105"/>
          <p:cNvCxnSpPr>
            <a:cxnSpLocks noChangeShapeType="1"/>
          </p:cNvCxnSpPr>
          <p:nvPr/>
        </p:nvCxnSpPr>
        <p:spPr bwMode="auto">
          <a:xfrm>
            <a:off x="1749124" y="4113536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5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031112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3131839" y="4926266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120344" y="3982567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63963" y="3619824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4435401" y="3999236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입력체크</a:t>
            </a:r>
            <a:r>
              <a:rPr kumimoji="0" lang="ko-KR" altLang="en-US" sz="1000" kern="0" dirty="0">
                <a:latin typeface="+mn-ea"/>
              </a:rPr>
              <a:t> 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</a:t>
            </a:r>
            <a:r>
              <a:rPr kumimoji="0" lang="en-US" altLang="ko-KR" sz="1000" kern="0" dirty="0">
                <a:latin typeface="+mn-ea"/>
              </a:rPr>
              <a:t> </a:t>
            </a:r>
            <a:r>
              <a:rPr kumimoji="0" lang="ko-KR" altLang="en-US" sz="1000" kern="0" dirty="0">
                <a:latin typeface="+mn-ea"/>
              </a:rPr>
              <a:t>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 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ko-KR" altLang="en-US" sz="1000" kern="0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3963" y="3594424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4506838" y="4737424"/>
            <a:ext cx="714375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New 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8338" y="3619824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819775" y="3999236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처리결과</a:t>
            </a:r>
            <a:r>
              <a:rPr kumimoji="0" lang="ko-KR" altLang="en-US" sz="1000" kern="0" dirty="0">
                <a:latin typeface="+mn-ea"/>
              </a:rPr>
              <a:t> </a:t>
            </a:r>
            <a:r>
              <a:rPr kumimoji="0" lang="en-US" altLang="ko-KR" sz="1000" kern="0" dirty="0">
                <a:latin typeface="+mn-ea"/>
              </a:rPr>
              <a:t>DB </a:t>
            </a:r>
            <a:r>
              <a:rPr kumimoji="0" lang="ko-KR" altLang="en-US" sz="1000" kern="0" dirty="0">
                <a:latin typeface="+mn-ea"/>
              </a:rPr>
              <a:t>저장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로그조립 </a:t>
            </a: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정상</a:t>
            </a:r>
            <a:r>
              <a:rPr kumimoji="0" lang="en-US" altLang="ko-KR" sz="1000" kern="0" dirty="0">
                <a:latin typeface="+mn-ea"/>
              </a:rPr>
              <a:t>)</a:t>
            </a: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8338" y="3594424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35" name="직선 화살표 연결선 70"/>
          <p:cNvCxnSpPr>
            <a:cxnSpLocks noChangeShapeType="1"/>
            <a:stCxn id="37" idx="1"/>
            <a:endCxn id="50" idx="1"/>
          </p:cNvCxnSpPr>
          <p:nvPr/>
        </p:nvCxnSpPr>
        <p:spPr bwMode="auto">
          <a:xfrm flipV="1">
            <a:off x="5292652" y="4043224"/>
            <a:ext cx="1241110" cy="813262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5658965" y="4626299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b="1" u="sng" dirty="0">
                <a:latin typeface="+mn-ea"/>
                <a:ea typeface="+mn-ea"/>
              </a:rPr>
              <a:t>①수동 </a:t>
            </a:r>
            <a:r>
              <a:rPr lang="en-US" altLang="ko-KR" sz="800" b="1" u="sng" dirty="0">
                <a:latin typeface="+mn-ea"/>
                <a:ea typeface="+mn-ea"/>
              </a:rPr>
              <a:t>PM </a:t>
            </a:r>
            <a:r>
              <a:rPr lang="ko-KR" altLang="en-US" sz="800" b="1" u="sng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rot="16200000" flipH="1">
            <a:off x="5118820" y="4682655"/>
            <a:ext cx="34766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5292651" y="5412111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②기동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 rot="16200000" flipH="1" flipV="1">
            <a:off x="7033962" y="4785049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6200000" flipH="1">
            <a:off x="4297288" y="350393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0800000" flipH="1">
            <a:off x="4363963" y="3499174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4363963" y="3349949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5297413" y="350393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7681663" y="351028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0800000" flipH="1">
            <a:off x="7748338" y="3505524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748338" y="3356299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rot="16200000" flipH="1">
            <a:off x="8681788" y="351028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7781701" y="5669286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⑤ </a:t>
            </a:r>
            <a:r>
              <a:rPr lang="ko-KR" altLang="en-US" sz="800" u="sng" dirty="0">
                <a:latin typeface="+mn-ea"/>
                <a:ea typeface="+mn-ea"/>
              </a:rPr>
              <a:t>수동</a:t>
            </a:r>
            <a:r>
              <a:rPr lang="en-US" altLang="ko-KR" sz="800" u="sng" dirty="0">
                <a:latin typeface="+mn-ea"/>
                <a:ea typeface="+mn-ea"/>
              </a:rPr>
              <a:t> 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49" name="직선 화살표 연결선 113"/>
          <p:cNvCxnSpPr>
            <a:cxnSpLocks noChangeShapeType="1"/>
          </p:cNvCxnSpPr>
          <p:nvPr/>
        </p:nvCxnSpPr>
        <p:spPr bwMode="auto">
          <a:xfrm rot="5400000">
            <a:off x="4970388" y="5250186"/>
            <a:ext cx="64293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6533762" y="3856361"/>
            <a:ext cx="702533" cy="373726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 실행 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요청 대기</a:t>
            </a:r>
          </a:p>
        </p:txBody>
      </p:sp>
      <p:cxnSp>
        <p:nvCxnSpPr>
          <p:cNvPr id="51" name="직선 화살표 연결선 70"/>
          <p:cNvCxnSpPr>
            <a:cxnSpLocks noChangeShapeType="1"/>
            <a:stCxn id="55" idx="0"/>
            <a:endCxn id="50" idx="2"/>
          </p:cNvCxnSpPr>
          <p:nvPr/>
        </p:nvCxnSpPr>
        <p:spPr bwMode="auto">
          <a:xfrm rot="16200000" flipV="1">
            <a:off x="6643511" y="4471605"/>
            <a:ext cx="555674" cy="7263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6282852" y="5237710"/>
            <a:ext cx="1349627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 지정된 시간 후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Timer </a:t>
            </a:r>
            <a:r>
              <a:rPr lang="ko-KR" altLang="en-US" sz="800" u="sng" dirty="0">
                <a:latin typeface="+mn-ea"/>
                <a:ea typeface="+mn-ea"/>
              </a:rPr>
              <a:t>에 의해 실행됨</a:t>
            </a:r>
          </a:p>
        </p:txBody>
      </p:sp>
      <p:cxnSp>
        <p:nvCxnSpPr>
          <p:cNvPr id="53" name="직선 화살표 연결선 70"/>
          <p:cNvCxnSpPr>
            <a:cxnSpLocks noChangeShapeType="1"/>
            <a:stCxn id="50" idx="3"/>
          </p:cNvCxnSpPr>
          <p:nvPr/>
        </p:nvCxnSpPr>
        <p:spPr bwMode="auto">
          <a:xfrm>
            <a:off x="7236295" y="4043224"/>
            <a:ext cx="512043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6957666" y="3573016"/>
            <a:ext cx="857250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④ </a:t>
            </a:r>
            <a:r>
              <a:rPr lang="ko-KR" altLang="en-US" sz="800" u="sng" dirty="0">
                <a:latin typeface="+mn-ea"/>
                <a:ea typeface="+mn-ea"/>
              </a:rPr>
              <a:t>수동 실행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시작</a:t>
            </a:r>
          </a:p>
        </p:txBody>
      </p:sp>
      <p:pic>
        <p:nvPicPr>
          <p:cNvPr id="5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42" y="4785761"/>
            <a:ext cx="3238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 Box 25"/>
          <p:cNvSpPr txBox="1">
            <a:spLocks noChangeArrowheads="1"/>
          </p:cNvSpPr>
          <p:nvPr/>
        </p:nvSpPr>
        <p:spPr bwMode="auto">
          <a:xfrm rot="19555908">
            <a:off x="5258334" y="4076447"/>
            <a:ext cx="163218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reserveCallTimerService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289734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중단 거래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ko-KR"/>
              <a:t>사용자 요청을 처리하기 위하여</a:t>
            </a:r>
            <a:r>
              <a:rPr lang="en-US" altLang="ko-KR"/>
              <a:t> 1</a:t>
            </a:r>
            <a:r>
              <a:rPr lang="ko-KR" altLang="ko-KR"/>
              <a:t>회의 입력전문을 받아 업무처리 후 출력전문을 내보낼 때</a:t>
            </a:r>
            <a:r>
              <a:rPr lang="en-US" altLang="ko-KR"/>
              <a:t>, </a:t>
            </a:r>
            <a:r>
              <a:rPr lang="ko-KR" altLang="ko-KR"/>
              <a:t>추가 데이터가 있음을 사용자에게 전달하여</a:t>
            </a:r>
            <a:r>
              <a:rPr lang="en-US" altLang="ko-KR"/>
              <a:t>, </a:t>
            </a:r>
            <a:r>
              <a:rPr lang="ko-KR" altLang="ko-KR"/>
              <a:t>추가 데이터에 대한 거래 진행여부를 사용자가 결정토록 하는 거래패턴</a:t>
            </a:r>
            <a:r>
              <a:rPr lang="en-US" altLang="ko-KR"/>
              <a:t> </a:t>
            </a:r>
            <a:r>
              <a:rPr lang="ko-KR" altLang="en-US"/>
              <a:t>임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1086702" y="1928069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5367" y="1412775"/>
            <a:ext cx="928688" cy="1135373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6930" y="1412775"/>
            <a:ext cx="7295901" cy="11353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프레임워크에서 중단 거래 요청 기능 및 차회 요청시 계속 처리를 위한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정보의 저장 및 복원기능을 제공</a:t>
            </a:r>
            <a:endParaRPr lang="en-US" altLang="ko-KR" sz="105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업무팀이 지정한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데이터를 결과 출력시 프레임워크에서 보관하며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차회 요청시 보관된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를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Common Area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 복원</a:t>
            </a:r>
            <a:endParaRPr lang="en-US" altLang="ko-KR" sz="105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업무팀은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Common Area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복원된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영역을 참조하여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Query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시 전 차수 조회 결과 이후의 데이터를 조회 처리</a:t>
            </a:r>
            <a:endParaRPr lang="en-US" altLang="ko-KR" sz="105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중단거래구분코드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단말에서 차회 요청에 대하여 조작자의 개입여부 판단시 사용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(0.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일반거래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1.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중단거래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2.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중단거래 자동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정보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: 100bytes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이내 연속데이터 처리 구분값으로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F/W API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를 통해 출력시 저장되고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차회 요청시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F/W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에서 복원하여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Common Area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의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BOCOM-BF-TDK-INFO-CNT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 설정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직사각형 49"/>
          <p:cNvSpPr>
            <a:spLocks noChangeArrowheads="1"/>
          </p:cNvSpPr>
          <p:nvPr/>
        </p:nvSpPr>
        <p:spPr bwMode="auto">
          <a:xfrm>
            <a:off x="708856" y="2672916"/>
            <a:ext cx="8456612" cy="3456384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43090" y="2751918"/>
            <a:ext cx="10017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>
            <a:off x="2527837" y="3466293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4677" y="3301193"/>
            <a:ext cx="1000125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6714527" y="3394855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7000277" y="3942543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7001865" y="4466418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7149502" y="3804431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7148909" y="4341599"/>
            <a:ext cx="274235" cy="1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6716115" y="489504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6251771" y="4264012"/>
            <a:ext cx="121443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144615" y="3277380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691422" y="3491693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2527837" y="3680605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826076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332820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32820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26076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4897513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NEXCORE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3404257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2602963" y="3491693"/>
            <a:ext cx="827296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5691422" y="3684376"/>
            <a:ext cx="1500187" cy="65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</a:t>
            </a:r>
            <a:r>
              <a:rPr lang="ko-KR" altLang="en-US" sz="800">
                <a:latin typeface="+mn-ea"/>
                <a:ea typeface="+mn-ea"/>
              </a:rPr>
              <a:t>조회 결과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중단거래항목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</a:t>
            </a:r>
            <a:r>
              <a:rPr lang="ko-KR" altLang="en-US" sz="800">
                <a:latin typeface="+mn-ea"/>
                <a:ea typeface="+mn-ea"/>
              </a:rPr>
              <a:t>중단거래구분코드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Nextkey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5625128" y="3466293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>
            <a:off x="5625128" y="3680605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H="1">
            <a:off x="5625128" y="5273367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35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3323418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816805" y="3609168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최초거래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2527837" y="5098164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2527837" y="5273367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2562251" y="5105742"/>
            <a:ext cx="55153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144615" y="4909394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5625128" y="5098164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43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4955844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2585897" y="4909251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차회요청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5691422" y="5301208"/>
            <a:ext cx="1500187" cy="65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</a:t>
            </a:r>
            <a:r>
              <a:rPr lang="ko-KR" altLang="en-US" sz="800">
                <a:latin typeface="+mn-ea"/>
                <a:ea typeface="+mn-ea"/>
              </a:rPr>
              <a:t>조회 결과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중단거래항목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중단거래구분코드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Nextkey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5691422" y="5105742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4628" y="3323418"/>
            <a:ext cx="919130" cy="271462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604629" y="2751918"/>
            <a:ext cx="91913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9" name="직선 화살표 연결선 158"/>
          <p:cNvCxnSpPr>
            <a:cxnSpLocks noChangeShapeType="1"/>
          </p:cNvCxnSpPr>
          <p:nvPr/>
        </p:nvCxnSpPr>
        <p:spPr bwMode="auto">
          <a:xfrm>
            <a:off x="4140180" y="3466293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직선 화살표 연결선 159"/>
          <p:cNvCxnSpPr>
            <a:cxnSpLocks noChangeShapeType="1"/>
          </p:cNvCxnSpPr>
          <p:nvPr/>
        </p:nvCxnSpPr>
        <p:spPr bwMode="auto">
          <a:xfrm>
            <a:off x="4140180" y="5098164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직선 화살표 연결선 160"/>
          <p:cNvCxnSpPr>
            <a:cxnSpLocks noChangeShapeType="1"/>
          </p:cNvCxnSpPr>
          <p:nvPr/>
        </p:nvCxnSpPr>
        <p:spPr bwMode="auto">
          <a:xfrm flipH="1">
            <a:off x="4140180" y="3680605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직선 화살표 연결선 161"/>
          <p:cNvCxnSpPr>
            <a:cxnSpLocks noChangeShapeType="1"/>
          </p:cNvCxnSpPr>
          <p:nvPr/>
        </p:nvCxnSpPr>
        <p:spPr bwMode="auto">
          <a:xfrm flipH="1">
            <a:off x="4140180" y="5273367"/>
            <a:ext cx="679120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직선 화살표 연결선 162"/>
          <p:cNvCxnSpPr>
            <a:cxnSpLocks noChangeShapeType="1"/>
          </p:cNvCxnSpPr>
          <p:nvPr/>
        </p:nvCxnSpPr>
        <p:spPr bwMode="auto">
          <a:xfrm>
            <a:off x="1245430" y="3466293"/>
            <a:ext cx="357187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직선 화살표 연결선 163"/>
          <p:cNvCxnSpPr>
            <a:cxnSpLocks noChangeShapeType="1"/>
          </p:cNvCxnSpPr>
          <p:nvPr/>
        </p:nvCxnSpPr>
        <p:spPr bwMode="auto">
          <a:xfrm>
            <a:off x="1245430" y="5113006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1676702" y="3416146"/>
            <a:ext cx="759728" cy="249713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cxnSp>
        <p:nvCxnSpPr>
          <p:cNvPr id="34" name="직선 화살표 연결선 33"/>
          <p:cNvCxnSpPr>
            <a:cxnSpLocks/>
            <a:stCxn id="18" idx="3"/>
            <a:endCxn id="57" idx="2"/>
          </p:cNvCxnSpPr>
          <p:nvPr/>
        </p:nvCxnSpPr>
        <p:spPr>
          <a:xfrm flipV="1">
            <a:off x="7286027" y="4871623"/>
            <a:ext cx="981251" cy="98103"/>
          </a:xfrm>
          <a:prstGeom prst="bentConnector3">
            <a:avLst>
              <a:gd name="adj1" fmla="val 64714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57" name="순서도: 자기 디스크 56"/>
          <p:cNvSpPr/>
          <p:nvPr/>
        </p:nvSpPr>
        <p:spPr>
          <a:xfrm>
            <a:off x="8267278" y="4550049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8" name="직선 화살표 연결선 33"/>
          <p:cNvCxnSpPr>
            <a:cxnSpLocks/>
            <a:stCxn id="15" idx="3"/>
            <a:endCxn id="57" idx="2"/>
          </p:cNvCxnSpPr>
          <p:nvPr/>
        </p:nvCxnSpPr>
        <p:spPr>
          <a:xfrm>
            <a:off x="7571777" y="4541101"/>
            <a:ext cx="695501" cy="33052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62" name="TextBox 61"/>
          <p:cNvSpPr txBox="1"/>
          <p:nvPr/>
        </p:nvSpPr>
        <p:spPr>
          <a:xfrm>
            <a:off x="8085348" y="3969060"/>
            <a:ext cx="1164734" cy="57130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최종전달 데이터 이후 값으로 전달되도록 </a:t>
            </a:r>
            <a:r>
              <a:rPr lang="en-US" altLang="ko-KR" sz="900">
                <a:cs typeface="Arial" pitchFamily="34" charset="0"/>
              </a:rPr>
              <a:t>Nextkey</a:t>
            </a:r>
            <a:r>
              <a:rPr lang="ko-KR" altLang="en-US" sz="900">
                <a:cs typeface="Arial" pitchFamily="34" charset="0"/>
              </a:rPr>
              <a:t>를 참조하여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부분범위 조회 </a:t>
            </a:r>
            <a:r>
              <a:rPr lang="en-US" altLang="ko-KR" sz="900">
                <a:cs typeface="Arial" pitchFamily="34" charset="0"/>
              </a:rPr>
              <a:t> 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65" name="순서도: 자기 디스크 64"/>
          <p:cNvSpPr/>
          <p:nvPr/>
        </p:nvSpPr>
        <p:spPr>
          <a:xfrm>
            <a:off x="5781092" y="4447428"/>
            <a:ext cx="608332" cy="28707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Nextkey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6" name="직선 화살표 연결선 33"/>
          <p:cNvCxnSpPr>
            <a:endCxn id="65" idx="1"/>
          </p:cNvCxnSpPr>
          <p:nvPr/>
        </p:nvCxnSpPr>
        <p:spPr>
          <a:xfrm>
            <a:off x="5540451" y="4293096"/>
            <a:ext cx="544807" cy="154332"/>
          </a:xfrm>
          <a:prstGeom prst="bentConnector2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cxnSp>
        <p:nvCxnSpPr>
          <p:cNvPr id="69" name="직선 화살표 연결선 33"/>
          <p:cNvCxnSpPr>
            <a:stCxn id="65" idx="3"/>
          </p:cNvCxnSpPr>
          <p:nvPr/>
        </p:nvCxnSpPr>
        <p:spPr>
          <a:xfrm rot="5400000">
            <a:off x="5755606" y="4519353"/>
            <a:ext cx="114500" cy="544805"/>
          </a:xfrm>
          <a:prstGeom prst="bentConnector2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791554" y="5260644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차회요청</a:t>
            </a:r>
          </a:p>
        </p:txBody>
      </p:sp>
      <p:sp>
        <p:nvSpPr>
          <p:cNvPr id="73" name="Text Box 25"/>
          <p:cNvSpPr txBox="1">
            <a:spLocks noChangeArrowheads="1"/>
          </p:cNvSpPr>
          <p:nvPr/>
        </p:nvSpPr>
        <p:spPr bwMode="auto">
          <a:xfrm>
            <a:off x="4962950" y="3933056"/>
            <a:ext cx="619782" cy="528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중단거래 </a:t>
            </a:r>
            <a:r>
              <a:rPr lang="en-US" altLang="ko-KR" sz="800">
                <a:latin typeface="+mn-ea"/>
                <a:ea typeface="+mn-ea"/>
              </a:rPr>
              <a:t>Flag On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Nextkey </a:t>
            </a:r>
            <a:r>
              <a:rPr lang="ko-KR" altLang="en-US" sz="800">
                <a:latin typeface="+mn-ea"/>
                <a:ea typeface="+mn-ea"/>
              </a:rPr>
              <a:t>데이터 저장</a:t>
            </a:r>
          </a:p>
        </p:txBody>
      </p:sp>
      <p:sp>
        <p:nvSpPr>
          <p:cNvPr id="74" name="Text Box 25"/>
          <p:cNvSpPr txBox="1">
            <a:spLocks noChangeArrowheads="1"/>
          </p:cNvSpPr>
          <p:nvPr/>
        </p:nvSpPr>
        <p:spPr bwMode="auto">
          <a:xfrm>
            <a:off x="4962949" y="4797152"/>
            <a:ext cx="642937" cy="775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-</a:t>
            </a:r>
            <a:r>
              <a:rPr lang="ko-KR" altLang="en-US" sz="800" dirty="0" err="1">
                <a:latin typeface="+mn-ea"/>
                <a:ea typeface="+mn-ea"/>
              </a:rPr>
              <a:t>원거래</a:t>
            </a:r>
            <a:r>
              <a:rPr lang="ko-KR" altLang="en-US" sz="800" dirty="0">
                <a:latin typeface="+mn-ea"/>
                <a:ea typeface="+mn-ea"/>
              </a:rPr>
              <a:t> 일치여부 확인</a:t>
            </a:r>
            <a:endParaRPr lang="en-US" altLang="ko-KR" sz="800" dirty="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- </a:t>
            </a:r>
            <a:r>
              <a:rPr lang="en-US" altLang="ko-KR" sz="800" dirty="0" err="1">
                <a:latin typeface="+mn-ea"/>
                <a:ea typeface="+mn-ea"/>
              </a:rPr>
              <a:t>Nextkey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복원 후 </a:t>
            </a:r>
            <a:r>
              <a:rPr lang="en-US" altLang="ko-KR" sz="800" dirty="0" err="1">
                <a:latin typeface="+mn-ea"/>
                <a:ea typeface="+mn-ea"/>
              </a:rPr>
              <a:t>CommArea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설정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75" name="Text Box 25"/>
          <p:cNvSpPr txBox="1">
            <a:spLocks noChangeArrowheads="1"/>
          </p:cNvSpPr>
          <p:nvPr/>
        </p:nvSpPr>
        <p:spPr bwMode="auto">
          <a:xfrm>
            <a:off x="2585897" y="3292106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최초요청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73288" y="4886284"/>
            <a:ext cx="1164734" cy="8206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사용자로부터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차회 진행 요청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또는 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채널에서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자동 차회 진행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요청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7" name="Text Box 25">
            <a:extLst>
              <a:ext uri="{FF2B5EF4-FFF2-40B4-BE49-F238E27FC236}">
                <a16:creationId xmlns:a16="http://schemas.microsoft.com/office/drawing/2014/main" id="{8AAF85D1-0DE7-454C-9919-95BA3F59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265" y="460416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8" name="Text Box 25">
            <a:extLst>
              <a:ext uri="{FF2B5EF4-FFF2-40B4-BE49-F238E27FC236}">
                <a16:creationId xmlns:a16="http://schemas.microsoft.com/office/drawing/2014/main" id="{C26E8B19-5D47-41A1-A37D-F408C546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515" y="5036211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0948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페이징</a:t>
            </a:r>
            <a:r>
              <a:rPr lang="ko-KR" altLang="en-US" dirty="0"/>
              <a:t> 거래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 err="1"/>
              <a:t>단말화면에</a:t>
            </a:r>
            <a:r>
              <a:rPr lang="ko-KR" altLang="en-US" dirty="0"/>
              <a:t> </a:t>
            </a:r>
            <a:r>
              <a:rPr lang="en-US" altLang="ko-KR" dirty="0"/>
              <a:t>Grid </a:t>
            </a:r>
            <a:r>
              <a:rPr lang="ko-KR" altLang="en-US" dirty="0"/>
              <a:t>형태로 대량 데이터를 출력해야 하는 경우 사용자가 동일한 조건을 이용하여 </a:t>
            </a:r>
            <a:r>
              <a:rPr lang="en-US" altLang="ko-KR" dirty="0"/>
              <a:t>Page</a:t>
            </a:r>
            <a:r>
              <a:rPr lang="ko-KR" altLang="en-US" dirty="0"/>
              <a:t>별로 거래를 발생시키는 패턴 임</a:t>
            </a:r>
            <a:r>
              <a:rPr lang="en-US" altLang="ko-KR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6702" y="1928069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5367" y="1412775"/>
            <a:ext cx="928688" cy="1135373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6930" y="1412775"/>
            <a:ext cx="7295901" cy="11353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사용자의 최초거래에 대한 출력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Data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전체 페이지 정보와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페이지 출력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Data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임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전문의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개별부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항목으로 </a:t>
            </a:r>
            <a:r>
              <a:rPr lang="ko-KR" altLang="en-US" sz="1050" u="sng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페이지당 건수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1050" u="sng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next key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값을 포함시킴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조회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API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중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페이징조회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메소드를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이용하여 호출하거나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DBMS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제공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페이징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기능 이용하는 두가지 방식 가능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오라클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: ROWNUM, DB2 : FETCH FIRST)</a:t>
            </a:r>
          </a:p>
        </p:txBody>
      </p:sp>
      <p:sp>
        <p:nvSpPr>
          <p:cNvPr id="9" name="직사각형 49"/>
          <p:cNvSpPr>
            <a:spLocks noChangeArrowheads="1"/>
          </p:cNvSpPr>
          <p:nvPr/>
        </p:nvSpPr>
        <p:spPr bwMode="auto">
          <a:xfrm>
            <a:off x="708856" y="2672916"/>
            <a:ext cx="8456612" cy="3456384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43090" y="2751918"/>
            <a:ext cx="10017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>
            <a:off x="2527837" y="3466293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4677" y="3301193"/>
            <a:ext cx="1000125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6714527" y="3394855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7000277" y="3942543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7149502" y="3804431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7149502" y="4356881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6251771" y="4264012"/>
            <a:ext cx="121443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144615" y="3277380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691422" y="3491693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2527837" y="3680605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826076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332820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32820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26076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4897513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NEXCORE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3404257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2602963" y="3491693"/>
            <a:ext cx="827296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5691422" y="3731405"/>
            <a:ext cx="1500187" cy="405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</a:t>
            </a:r>
            <a:r>
              <a:rPr lang="ko-KR" altLang="en-US" sz="800">
                <a:latin typeface="+mn-ea"/>
                <a:ea typeface="+mn-ea"/>
              </a:rPr>
              <a:t>전체 페이지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페이지별 </a:t>
            </a:r>
            <a:r>
              <a:rPr lang="en-US" altLang="ko-KR" sz="800">
                <a:latin typeface="+mn-ea"/>
                <a:ea typeface="+mn-ea"/>
              </a:rPr>
              <a:t>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5625128" y="3466293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>
            <a:off x="5625128" y="3680605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H="1">
            <a:off x="5625128" y="5274455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35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3323418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816805" y="3609168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최초거래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2527837" y="5022043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2527837" y="5236355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2562251" y="5045855"/>
            <a:ext cx="55153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144615" y="4849005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5625128" y="5037918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43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4879168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816805" y="5164918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Page</a:t>
            </a:r>
            <a:r>
              <a:rPr lang="ko-KR" altLang="en-US" sz="800">
                <a:latin typeface="+mn-ea"/>
                <a:ea typeface="+mn-ea"/>
              </a:rPr>
              <a:t>클릭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5691422" y="5345893"/>
            <a:ext cx="1500187" cy="405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</a:t>
            </a:r>
            <a:r>
              <a:rPr lang="ko-KR" altLang="en-US" sz="800">
                <a:latin typeface="+mn-ea"/>
                <a:ea typeface="+mn-ea"/>
              </a:rPr>
              <a:t>전체 페이지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페이지별 </a:t>
            </a:r>
            <a:r>
              <a:rPr lang="en-US" altLang="ko-KR" sz="800">
                <a:latin typeface="+mn-ea"/>
                <a:ea typeface="+mn-ea"/>
              </a:rPr>
              <a:t>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5691422" y="5063318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4628" y="3323418"/>
            <a:ext cx="919130" cy="271462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604629" y="2751918"/>
            <a:ext cx="91913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9" name="직선 화살표 연결선 158"/>
          <p:cNvCxnSpPr>
            <a:cxnSpLocks noChangeShapeType="1"/>
          </p:cNvCxnSpPr>
          <p:nvPr/>
        </p:nvCxnSpPr>
        <p:spPr bwMode="auto">
          <a:xfrm>
            <a:off x="4140180" y="3466293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직선 화살표 연결선 159"/>
          <p:cNvCxnSpPr>
            <a:cxnSpLocks noChangeShapeType="1"/>
          </p:cNvCxnSpPr>
          <p:nvPr/>
        </p:nvCxnSpPr>
        <p:spPr bwMode="auto">
          <a:xfrm>
            <a:off x="4140180" y="5037918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직선 화살표 연결선 160"/>
          <p:cNvCxnSpPr>
            <a:cxnSpLocks noChangeShapeType="1"/>
          </p:cNvCxnSpPr>
          <p:nvPr/>
        </p:nvCxnSpPr>
        <p:spPr bwMode="auto">
          <a:xfrm flipH="1">
            <a:off x="4140180" y="3680605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직선 화살표 연결선 161"/>
          <p:cNvCxnSpPr>
            <a:cxnSpLocks noChangeShapeType="1"/>
          </p:cNvCxnSpPr>
          <p:nvPr/>
        </p:nvCxnSpPr>
        <p:spPr bwMode="auto">
          <a:xfrm flipH="1">
            <a:off x="4140180" y="5250643"/>
            <a:ext cx="679120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직선 화살표 연결선 162"/>
          <p:cNvCxnSpPr>
            <a:cxnSpLocks noChangeShapeType="1"/>
          </p:cNvCxnSpPr>
          <p:nvPr/>
        </p:nvCxnSpPr>
        <p:spPr bwMode="auto">
          <a:xfrm>
            <a:off x="1245430" y="3466293"/>
            <a:ext cx="357187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직선 화살표 연결선 163"/>
          <p:cNvCxnSpPr>
            <a:cxnSpLocks noChangeShapeType="1"/>
          </p:cNvCxnSpPr>
          <p:nvPr/>
        </p:nvCxnSpPr>
        <p:spPr bwMode="auto">
          <a:xfrm>
            <a:off x="1245430" y="5036330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1676702" y="3416146"/>
            <a:ext cx="759728" cy="249713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56" name="순서도: 자기 디스크 55"/>
          <p:cNvSpPr/>
          <p:nvPr/>
        </p:nvSpPr>
        <p:spPr>
          <a:xfrm>
            <a:off x="8267279" y="4930494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4" name="직선 화살표 연결선 33"/>
          <p:cNvCxnSpPr>
            <a:cxnSpLocks/>
            <a:stCxn id="61" idx="3"/>
            <a:endCxn id="56" idx="2"/>
          </p:cNvCxnSpPr>
          <p:nvPr/>
        </p:nvCxnSpPr>
        <p:spPr>
          <a:xfrm>
            <a:off x="7286027" y="4969726"/>
            <a:ext cx="981252" cy="28234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57" name="순서도: 자기 디스크 56"/>
          <p:cNvSpPr/>
          <p:nvPr/>
        </p:nvSpPr>
        <p:spPr>
          <a:xfrm>
            <a:off x="8267278" y="3681028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8" name="직선 화살표 연결선 33"/>
          <p:cNvCxnSpPr>
            <a:cxnSpLocks/>
            <a:stCxn id="60" idx="3"/>
            <a:endCxn id="57" idx="2"/>
          </p:cNvCxnSpPr>
          <p:nvPr/>
        </p:nvCxnSpPr>
        <p:spPr>
          <a:xfrm flipV="1">
            <a:off x="7571777" y="4002602"/>
            <a:ext cx="695501" cy="538499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62" name="TextBox 61"/>
          <p:cNvSpPr txBox="1"/>
          <p:nvPr/>
        </p:nvSpPr>
        <p:spPr>
          <a:xfrm>
            <a:off x="7894779" y="4469356"/>
            <a:ext cx="1379379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Fetch </a:t>
            </a:r>
            <a:r>
              <a:rPr lang="ko-KR" altLang="en-US" sz="900" dirty="0">
                <a:cs typeface="Arial" pitchFamily="34" charset="0"/>
              </a:rPr>
              <a:t>과정에서 앞 페이지 만큼 </a:t>
            </a:r>
            <a:r>
              <a:rPr lang="en-US" altLang="ko-KR" sz="900" dirty="0">
                <a:cs typeface="Arial" pitchFamily="34" charset="0"/>
              </a:rPr>
              <a:t>skip (</a:t>
            </a:r>
            <a:r>
              <a:rPr lang="ko-KR" altLang="en-US" sz="900" dirty="0">
                <a:cs typeface="Arial" pitchFamily="34" charset="0"/>
              </a:rPr>
              <a:t>버림</a:t>
            </a:r>
            <a:r>
              <a:rPr lang="en-US" altLang="ko-KR" sz="900" dirty="0">
                <a:cs typeface="Arial" pitchFamily="34" charset="0"/>
              </a:rPr>
              <a:t>) </a:t>
            </a:r>
            <a:r>
              <a:rPr lang="ko-KR" altLang="en-US" sz="900" dirty="0">
                <a:cs typeface="Arial" pitchFamily="34" charset="0"/>
              </a:rPr>
              <a:t>후 리턴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1292" y="5605974"/>
            <a:ext cx="1683110" cy="44665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Query </a:t>
            </a:r>
            <a:r>
              <a:rPr lang="ko-KR" altLang="en-US" sz="900" dirty="0">
                <a:cs typeface="Arial" pitchFamily="34" charset="0"/>
              </a:rPr>
              <a:t>시 </a:t>
            </a:r>
            <a:r>
              <a:rPr lang="en-US" altLang="ko-KR" sz="900" dirty="0">
                <a:cs typeface="Arial" pitchFamily="34" charset="0"/>
              </a:rPr>
              <a:t>DB </a:t>
            </a:r>
            <a:r>
              <a:rPr lang="ko-KR" altLang="en-US" sz="900" dirty="0">
                <a:cs typeface="Arial" pitchFamily="34" charset="0"/>
              </a:rPr>
              <a:t>기능을 이용하여 해당 페이지만 조회</a:t>
            </a:r>
            <a:r>
              <a:rPr lang="en-US" altLang="ko-KR" sz="900" dirty="0">
                <a:cs typeface="Arial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(</a:t>
            </a:r>
            <a:r>
              <a:rPr lang="ko-KR" altLang="en-US" sz="900" dirty="0">
                <a:cs typeface="Arial" pitchFamily="34" charset="0"/>
              </a:rPr>
              <a:t>예</a:t>
            </a:r>
            <a:r>
              <a:rPr lang="en-US" altLang="ko-KR" sz="900" dirty="0">
                <a:cs typeface="Arial" pitchFamily="34" charset="0"/>
              </a:rPr>
              <a:t>, ROWNUM, FETCH</a:t>
            </a:r>
            <a:r>
              <a:rPr lang="ko-KR" altLang="en-US" sz="900" dirty="0">
                <a:cs typeface="Arial" pitchFamily="34" charset="0"/>
              </a:rPr>
              <a:t> </a:t>
            </a:r>
            <a:r>
              <a:rPr lang="en-US" altLang="ko-KR" sz="900" dirty="0">
                <a:cs typeface="Arial" pitchFamily="34" charset="0"/>
              </a:rPr>
              <a:t>FIRST)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15445" y="2948217"/>
            <a:ext cx="1519873" cy="44665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1</a:t>
            </a:r>
            <a:r>
              <a:rPr lang="ko-KR" altLang="en-US" sz="900">
                <a:cs typeface="Arial" pitchFamily="34" charset="0"/>
              </a:rPr>
              <a:t>회 </a:t>
            </a:r>
            <a:r>
              <a:rPr lang="en-US" altLang="ko-KR" sz="900">
                <a:cs typeface="Arial" pitchFamily="34" charset="0"/>
              </a:rPr>
              <a:t>fetch 1</a:t>
            </a:r>
            <a:r>
              <a:rPr lang="ko-KR" altLang="en-US" sz="900">
                <a:cs typeface="Arial" pitchFamily="34" charset="0"/>
              </a:rPr>
              <a:t>만건 제한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IRecordSet</a:t>
            </a:r>
            <a:r>
              <a:rPr lang="ko-KR" altLang="en-US" sz="900">
                <a:cs typeface="Arial" pitchFamily="34" charset="0"/>
              </a:rPr>
              <a:t> 최대 </a:t>
            </a:r>
            <a:r>
              <a:rPr lang="en-US" altLang="ko-KR" sz="900">
                <a:cs typeface="Arial" pitchFamily="34" charset="0"/>
              </a:rPr>
              <a:t>1</a:t>
            </a:r>
            <a:r>
              <a:rPr lang="ko-KR" altLang="en-US" sz="900">
                <a:cs typeface="Arial" pitchFamily="34" charset="0"/>
              </a:rPr>
              <a:t>만건 제한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1page </a:t>
            </a:r>
            <a:r>
              <a:rPr lang="ko-KR" altLang="en-US" sz="900">
                <a:cs typeface="Arial" pitchFamily="34" charset="0"/>
              </a:rPr>
              <a:t>당 최대 </a:t>
            </a:r>
            <a:r>
              <a:rPr lang="en-US" altLang="ko-KR" sz="900">
                <a:cs typeface="Arial" pitchFamily="34" charset="0"/>
              </a:rPr>
              <a:t>1000</a:t>
            </a:r>
            <a:r>
              <a:rPr lang="ko-KR" altLang="en-US" sz="900">
                <a:cs typeface="Arial" pitchFamily="34" charset="0"/>
              </a:rPr>
              <a:t>건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0" name="Text Box 25">
            <a:extLst>
              <a:ext uri="{FF2B5EF4-FFF2-40B4-BE49-F238E27FC236}">
                <a16:creationId xmlns:a16="http://schemas.microsoft.com/office/drawing/2014/main" id="{C9346595-F8DC-4A4E-BCB1-CECDA4ED4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865" y="4466418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1" name="Text Box 25">
            <a:extLst>
              <a:ext uri="{FF2B5EF4-FFF2-40B4-BE49-F238E27FC236}">
                <a16:creationId xmlns:a16="http://schemas.microsoft.com/office/drawing/2014/main" id="{80292722-F18F-4710-B4CA-E3F70C83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115" y="489504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5" name="Text Box 25">
            <a:extLst>
              <a:ext uri="{FF2B5EF4-FFF2-40B4-BE49-F238E27FC236}">
                <a16:creationId xmlns:a16="http://schemas.microsoft.com/office/drawing/2014/main" id="{6090DC03-6F42-4165-BA51-75F7E1833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265" y="460416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6" name="Text Box 25">
            <a:extLst>
              <a:ext uri="{FF2B5EF4-FFF2-40B4-BE49-F238E27FC236}">
                <a16:creationId xmlns:a16="http://schemas.microsoft.com/office/drawing/2014/main" id="{34D8D891-7F97-44BB-911E-2999C1C80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515" y="5036211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644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 rot="16200000">
            <a:off x="1713729" y="2295414"/>
            <a:ext cx="3399455" cy="42604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 rot="16200000">
            <a:off x="5673132" y="2736070"/>
            <a:ext cx="3404909" cy="3381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5915539" y="3316099"/>
            <a:ext cx="721853" cy="1013001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5968842" y="3407554"/>
            <a:ext cx="604338" cy="8495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>
                <a:latin typeface="+mn-ea"/>
              </a:rPr>
              <a:t>JAS</a:t>
            </a:r>
            <a:endParaRPr kumimoji="0" lang="en-US" altLang="ko-KR" sz="1000" kern="0" dirty="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온디맨드</a:t>
            </a:r>
            <a:r>
              <a:rPr lang="ko-KR" altLang="en-US" dirty="0"/>
              <a:t> 배치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프레임워크 기반에서 사용자가 배치</a:t>
            </a:r>
            <a:r>
              <a:rPr lang="en-US" altLang="ko-KR" dirty="0"/>
              <a:t>JOB </a:t>
            </a:r>
            <a:r>
              <a:rPr lang="ko-KR" altLang="en-US"/>
              <a:t>을 호출하는 패턴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1086702" y="189656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309264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309263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온디맨드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배치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Job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의 실행은 배치 스케줄러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(Control-M)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를 통해서만 실행함</a:t>
            </a:r>
            <a:endParaRPr lang="en-US" altLang="ko-KR" sz="110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온라인서비스의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PM, FM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에서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Job Name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과 배치 파라미터를 넣어 호출함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온디맨드 배치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API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안에서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JAS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를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호출하여 배치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Job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실행</a:t>
            </a:r>
            <a:endParaRPr lang="en-US" altLang="ko-KR" sz="110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개발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스테이징은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JAS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가 없으므로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, FW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에서 별도의 배치실행 데몬 실행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406403" y="2820857"/>
            <a:ext cx="1001713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1407991" y="3332241"/>
            <a:ext cx="1000125" cy="246389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1479428" y="3411407"/>
            <a:ext cx="857250" cy="642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통합단말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688511" y="2820857"/>
            <a:ext cx="644525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 err="1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656856" y="2820857"/>
            <a:ext cx="7472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8186" y="3298695"/>
            <a:ext cx="746104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721876" y="3392357"/>
            <a:ext cx="625708" cy="185737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 err="1">
                <a:latin typeface="+mn-ea"/>
              </a:rPr>
              <a:t>NEXCORE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온라인</a:t>
            </a:r>
            <a:r>
              <a:rPr kumimoji="0" lang="en-US" altLang="ko-KR" sz="1000" kern="0" dirty="0">
                <a:latin typeface="+mn-ea"/>
              </a:rPr>
              <a:t>)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00972" y="2820857"/>
            <a:ext cx="725800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02561" y="3298695"/>
            <a:ext cx="724211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4763324" y="3392357"/>
            <a:ext cx="602114" cy="71437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PM, FM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온라인</a:t>
            </a:r>
            <a:br>
              <a:rPr kumimoji="0" lang="en-US" altLang="ko-KR" sz="1000" kern="0" dirty="0">
                <a:latin typeface="+mn-ea"/>
              </a:rPr>
            </a:br>
            <a:r>
              <a:rPr kumimoji="0" lang="ko-KR" altLang="en-US" sz="1000" kern="0" dirty="0">
                <a:latin typeface="+mn-ea"/>
              </a:rPr>
              <a:t>프로그램</a:t>
            </a:r>
            <a:r>
              <a:rPr kumimoji="0" lang="en-US" altLang="ko-KR" sz="1000" kern="0" dirty="0">
                <a:latin typeface="+mn-ea"/>
              </a:rPr>
              <a:t>)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56544" y="3316099"/>
            <a:ext cx="766263" cy="1013001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7014979" y="3407554"/>
            <a:ext cx="641518" cy="8495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 dirty="0">
                <a:latin typeface="+mn-ea"/>
              </a:rPr>
              <a:t>Control-M</a:t>
            </a:r>
            <a:endParaRPr kumimoji="0" lang="en-US" altLang="ko-KR" sz="900" kern="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8131052" y="2820857"/>
            <a:ext cx="8542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8132521" y="3298695"/>
            <a:ext cx="852927" cy="2497438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8193446" y="3392357"/>
            <a:ext cx="731079" cy="226713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배치</a:t>
            </a:r>
            <a:br>
              <a:rPr kumimoji="0" lang="en-US" altLang="ko-KR" sz="1000" kern="0" dirty="0">
                <a:latin typeface="+mn-ea"/>
              </a:rPr>
            </a:br>
            <a:r>
              <a:rPr kumimoji="0" lang="ko-KR" altLang="en-US" sz="1000" kern="0" dirty="0">
                <a:latin typeface="+mn-ea"/>
              </a:rPr>
              <a:t>프로그램</a:t>
            </a:r>
          </a:p>
        </p:txBody>
      </p:sp>
      <p:cxnSp>
        <p:nvCxnSpPr>
          <p:cNvPr id="27" name="직선 화살표 연결선 70"/>
          <p:cNvCxnSpPr>
            <a:cxnSpLocks noChangeShapeType="1"/>
          </p:cNvCxnSpPr>
          <p:nvPr/>
        </p:nvCxnSpPr>
        <p:spPr bwMode="auto">
          <a:xfrm>
            <a:off x="2406528" y="3463795"/>
            <a:ext cx="283571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직선 화살표 연결선 71"/>
          <p:cNvCxnSpPr>
            <a:cxnSpLocks noChangeShapeType="1"/>
          </p:cNvCxnSpPr>
          <p:nvPr/>
        </p:nvCxnSpPr>
        <p:spPr bwMode="auto">
          <a:xfrm>
            <a:off x="3338569" y="3463795"/>
            <a:ext cx="318287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직선 화살표 연결선 72"/>
          <p:cNvCxnSpPr>
            <a:cxnSpLocks noChangeShapeType="1"/>
          </p:cNvCxnSpPr>
          <p:nvPr/>
        </p:nvCxnSpPr>
        <p:spPr bwMode="auto">
          <a:xfrm flipV="1">
            <a:off x="4412940" y="3463795"/>
            <a:ext cx="276690" cy="793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직선 화살표 연결선 73"/>
          <p:cNvCxnSpPr>
            <a:cxnSpLocks noChangeShapeType="1"/>
          </p:cNvCxnSpPr>
          <p:nvPr/>
        </p:nvCxnSpPr>
        <p:spPr bwMode="auto">
          <a:xfrm>
            <a:off x="5435630" y="3840516"/>
            <a:ext cx="479909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직선 화살표 연결선 75"/>
          <p:cNvCxnSpPr>
            <a:cxnSpLocks noChangeShapeType="1"/>
          </p:cNvCxnSpPr>
          <p:nvPr/>
        </p:nvCxnSpPr>
        <p:spPr bwMode="auto">
          <a:xfrm>
            <a:off x="7725308" y="3846118"/>
            <a:ext cx="367427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직선 화살표 연결선 76"/>
          <p:cNvCxnSpPr>
            <a:cxnSpLocks noChangeShapeType="1"/>
          </p:cNvCxnSpPr>
          <p:nvPr/>
        </p:nvCxnSpPr>
        <p:spPr bwMode="auto">
          <a:xfrm flipH="1" flipV="1">
            <a:off x="4412941" y="4033707"/>
            <a:ext cx="276690" cy="159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직선 화살표 연결선 77"/>
          <p:cNvCxnSpPr>
            <a:cxnSpLocks noChangeShapeType="1"/>
          </p:cNvCxnSpPr>
          <p:nvPr/>
        </p:nvCxnSpPr>
        <p:spPr bwMode="auto">
          <a:xfrm flipH="1">
            <a:off x="3332820" y="4033707"/>
            <a:ext cx="291022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직선 화살표 연결선 78"/>
          <p:cNvCxnSpPr>
            <a:cxnSpLocks noChangeShapeType="1"/>
          </p:cNvCxnSpPr>
          <p:nvPr/>
        </p:nvCxnSpPr>
        <p:spPr bwMode="auto">
          <a:xfrm flipH="1" flipV="1">
            <a:off x="2406529" y="4033707"/>
            <a:ext cx="281982" cy="1589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88"/>
          <p:cNvSpPr txBox="1">
            <a:spLocks noChangeArrowheads="1"/>
          </p:cNvSpPr>
          <p:nvPr/>
        </p:nvSpPr>
        <p:spPr bwMode="auto">
          <a:xfrm>
            <a:off x="5238164" y="3530375"/>
            <a:ext cx="687984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 실행</a:t>
            </a:r>
            <a:endParaRPr lang="en-US" altLang="ko-KR" sz="800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호출</a:t>
            </a:r>
            <a:endParaRPr lang="en-US" altLang="ko-KR" sz="1000" baseline="30000" dirty="0">
              <a:latin typeface="+mn-ea"/>
              <a:ea typeface="+mn-ea"/>
            </a:endParaRPr>
          </a:p>
        </p:txBody>
      </p:sp>
      <p:sp>
        <p:nvSpPr>
          <p:cNvPr id="39" name="TextBox 90"/>
          <p:cNvSpPr txBox="1">
            <a:spLocks noChangeArrowheads="1"/>
          </p:cNvSpPr>
          <p:nvPr/>
        </p:nvSpPr>
        <p:spPr bwMode="auto">
          <a:xfrm>
            <a:off x="4738370" y="4175818"/>
            <a:ext cx="646678" cy="528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배치프로그램 호출 후 결과 확인하지 않고 단말로 응답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0099" y="3298695"/>
            <a:ext cx="642937" cy="235746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2761536" y="3392357"/>
            <a:ext cx="500063" cy="213302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pic>
        <p:nvPicPr>
          <p:cNvPr id="45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6805" y="3338172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26317" y="3623922"/>
            <a:ext cx="500063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배치</a:t>
            </a:r>
            <a:endParaRPr lang="en-US" altLang="ko-KR" sz="800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실행 요청</a:t>
            </a: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>
            <a:off x="1209712" y="3481046"/>
            <a:ext cx="196692" cy="3175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Box 88"/>
          <p:cNvSpPr txBox="1">
            <a:spLocks noChangeArrowheads="1"/>
          </p:cNvSpPr>
          <p:nvPr/>
        </p:nvSpPr>
        <p:spPr bwMode="auto">
          <a:xfrm>
            <a:off x="7628594" y="3501008"/>
            <a:ext cx="5287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배치쉘</a:t>
            </a:r>
            <a:endParaRPr lang="en-US" altLang="ko-KR" sz="80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실행</a:t>
            </a:r>
            <a:endParaRPr lang="en-US" altLang="ko-KR" sz="800" baseline="30000" dirty="0">
              <a:latin typeface="+mn-ea"/>
              <a:ea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cxnSp>
        <p:nvCxnSpPr>
          <p:cNvPr id="55" name="직선 화살표 연결선 72"/>
          <p:cNvCxnSpPr>
            <a:cxnSpLocks noChangeShapeType="1"/>
          </p:cNvCxnSpPr>
          <p:nvPr/>
        </p:nvCxnSpPr>
        <p:spPr bwMode="auto">
          <a:xfrm>
            <a:off x="6635622" y="3846118"/>
            <a:ext cx="279304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Box 57"/>
          <p:cNvSpPr txBox="1"/>
          <p:nvPr/>
        </p:nvSpPr>
        <p:spPr>
          <a:xfrm>
            <a:off x="3008784" y="5928748"/>
            <a:ext cx="90010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온라인 서버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87331" y="4905164"/>
            <a:ext cx="721853" cy="1064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5932838" y="5049180"/>
            <a:ext cx="604338" cy="85601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>
                <a:latin typeface="+mn-ea"/>
              </a:rPr>
              <a:t>FW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+mn-ea"/>
              </a:rPr>
              <a:t>배치실행</a:t>
            </a:r>
            <a:endParaRPr lang="en-US" altLang="ko-KR" sz="1000" kern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+mn-ea"/>
              </a:rPr>
              <a:t>데몬</a:t>
            </a:r>
            <a:endParaRPr lang="en-US" altLang="ko-KR" sz="1000" kern="0">
              <a:latin typeface="+mn-ea"/>
            </a:endParaRPr>
          </a:p>
        </p:txBody>
      </p:sp>
      <p:cxnSp>
        <p:nvCxnSpPr>
          <p:cNvPr id="64" name="직선 화살표 연결선 72"/>
          <p:cNvCxnSpPr>
            <a:cxnSpLocks noChangeShapeType="1"/>
          </p:cNvCxnSpPr>
          <p:nvPr/>
        </p:nvCxnSpPr>
        <p:spPr bwMode="auto">
          <a:xfrm flipV="1">
            <a:off x="6564351" y="5409220"/>
            <a:ext cx="1528384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직사각형 41"/>
          <p:cNvSpPr/>
          <p:nvPr/>
        </p:nvSpPr>
        <p:spPr>
          <a:xfrm>
            <a:off x="5812223" y="2802521"/>
            <a:ext cx="2020536" cy="1610129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811249" y="4541167"/>
            <a:ext cx="2020536" cy="1444117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8" name="직선 화살표 연결선 73"/>
          <p:cNvCxnSpPr>
            <a:cxnSpLocks noChangeShapeType="1"/>
            <a:endCxn id="62" idx="1"/>
          </p:cNvCxnSpPr>
          <p:nvPr/>
        </p:nvCxnSpPr>
        <p:spPr bwMode="auto">
          <a:xfrm>
            <a:off x="5398109" y="3978313"/>
            <a:ext cx="534729" cy="1498876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6371467" y="2888940"/>
            <a:ext cx="90010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운영계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16388" y="4655410"/>
            <a:ext cx="90010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개발</a:t>
            </a:r>
            <a:r>
              <a:rPr lang="en-US" altLang="ko-KR" sz="1000">
                <a:cs typeface="Arial" pitchFamily="34" charset="0"/>
              </a:rPr>
              <a:t>/</a:t>
            </a:r>
            <a:r>
              <a:rPr lang="ko-KR" altLang="en-US" sz="1000">
                <a:cs typeface="Arial" pitchFamily="34" charset="0"/>
              </a:rPr>
              <a:t>스테이징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71" name="TextBox 88"/>
          <p:cNvSpPr txBox="1">
            <a:spLocks noChangeArrowheads="1"/>
          </p:cNvSpPr>
          <p:nvPr/>
        </p:nvSpPr>
        <p:spPr bwMode="auto">
          <a:xfrm>
            <a:off x="6974105" y="5085184"/>
            <a:ext cx="5287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배치쉘</a:t>
            </a:r>
            <a:endParaRPr lang="en-US" altLang="ko-KR" sz="80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실행</a:t>
            </a:r>
            <a:endParaRPr lang="en-US" altLang="ko-KR" sz="800" baseline="30000" dirty="0">
              <a:latin typeface="+mn-ea"/>
              <a:ea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781092" y="3217797"/>
            <a:ext cx="105012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계정 </a:t>
            </a:r>
            <a:r>
              <a:rPr lang="en-US" altLang="ko-KR" sz="1000">
                <a:cs typeface="Arial" pitchFamily="34" charset="0"/>
              </a:rPr>
              <a:t>: opsadm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71393" y="4873981"/>
            <a:ext cx="105012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계정 </a:t>
            </a:r>
            <a:r>
              <a:rPr lang="en-US" altLang="ko-KR" sz="1000">
                <a:cs typeface="Arial" pitchFamily="34" charset="0"/>
              </a:rPr>
              <a:t>: sqc000</a:t>
            </a:r>
            <a:endParaRPr lang="ko-KR" altLang="en-US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212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인터페이스 거래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대외 기관과의 연계는 대외 </a:t>
            </a:r>
            <a:r>
              <a:rPr lang="en-US" altLang="ko-KR" dirty="0"/>
              <a:t>EAI </a:t>
            </a:r>
            <a:r>
              <a:rPr lang="ko-KR" altLang="en-US" dirty="0"/>
              <a:t>를 통해 전문통신으로 처리하며 다음과 같은 패턴들이 있다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5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932320"/>
              </p:ext>
            </p:extLst>
          </p:nvPr>
        </p:nvGraphicFramePr>
        <p:xfrm>
          <a:off x="740531" y="1221763"/>
          <a:ext cx="8424937" cy="5101582"/>
        </p:xfrm>
        <a:graphic>
          <a:graphicData uri="http://schemas.openxmlformats.org/drawingml/2006/table">
            <a:tbl>
              <a:tblPr/>
              <a:tblGrid>
                <a:gridCol w="747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844"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In/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Out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Sync/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요청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패턴 설명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73">
                <a:tc rowSpan="5"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취급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취급응답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Outbound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Sync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단말에서 시작한 거래 요청 처리 중 대외 기관 연계를 위해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호출하고 응답이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때까지 </a:t>
                      </a:r>
                      <a:r>
                        <a:rPr kumimoji="0" lang="ko-KR" alt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기다린 후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동일세션으로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 전문을 받아 그 결과를 통합단말로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(2)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무응답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단말에서 시작한 거래 요청 처리 중 대외 기관 연계를 위해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호출하고 응답을 기다리지 않고 바로 리턴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전송 상태까지만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리턴하고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대외 기관의 응답 전문에 대해서는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리턴하지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않음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(3)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 대기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단말에서 시작한 거래 요청 처리 중 대외 기관 연계를 위해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호출하고 응답을 기다리지 않고 바로 리턴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더미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리턴하여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해당 거래를 종료하고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MCI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단말로 응답 전문 회신하지 않는다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이때까지 단말은 계속 대기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아래의 대외 응답 전문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수신시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별도의 거래에서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원거래의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글로벌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찾아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MCI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응답 전문 전송함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대외기관으로는 별도의 세션으로 응답 전문을 전송한다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응답전문 처리를 위한 프레임워크 거래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대외업무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PM)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요청전문의 헤더를 복원한다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해당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연동거래로 호출하고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MCI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응답전문을 전송한다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후 경우 정해진 시간에 응답이 오지 않을 경우 취소 거래를 기동시켜 취소 처리를 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sendOutboundAfterCommit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()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메소드로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예약한 후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callDelayAsyncService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ID,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타임아웃시간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취소 거래를 등록한다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05">
                <a:tc rowSpan="2"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개설거래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Inbound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Sync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기관에서 요청 전문 받아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표준전문으로 헤더 변환하여 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연동거래로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호출하며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응답을 받아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회신함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508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(5)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기관에서 요청 전문 받아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표준전문으로 헤더 변환하여 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비동기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연동거래로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호출하고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종료함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업무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처리후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응답용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호출하고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sendOutbound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응답 전문 전송함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1567127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통신방식 정의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011800" y="4408438"/>
            <a:ext cx="2486819" cy="465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788746" y="2537145"/>
            <a:ext cx="1052686" cy="3690626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180000" rIns="54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20" y="3157858"/>
            <a:ext cx="664616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32619" y="2606973"/>
            <a:ext cx="664616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64968" y="2606973"/>
            <a:ext cx="733307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33264" y="2606973"/>
            <a:ext cx="650925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692402" y="2606973"/>
            <a:ext cx="108012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33264" y="3157858"/>
            <a:ext cx="65092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92402" y="3157858"/>
            <a:ext cx="1080120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4867943" y="3893887"/>
            <a:ext cx="69908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PM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5163512" y="4441574"/>
            <a:ext cx="46735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FM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5165277" y="4965449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83900" y="3157858"/>
            <a:ext cx="71437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3555338" y="3251520"/>
            <a:ext cx="573087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2189463" y="3251520"/>
            <a:ext cx="522186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1025533" y="3251520"/>
            <a:ext cx="468529" cy="285428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통합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단말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7256119" y="3962544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rot="16200000" flipH="1">
            <a:off x="5274897" y="4303463"/>
            <a:ext cx="276225" cy="3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rot="16200000" flipH="1">
            <a:off x="5289188" y="4841626"/>
            <a:ext cx="247650" cy="1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836417" y="5394074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 rot="16200000" flipH="1">
            <a:off x="4441458" y="4774949"/>
            <a:ext cx="12382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931620" y="2608583"/>
            <a:ext cx="714375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19618" y="3154638"/>
            <a:ext cx="71437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6386985" y="3248300"/>
            <a:ext cx="577158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31620" y="3157858"/>
            <a:ext cx="71437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8003058" y="3251520"/>
            <a:ext cx="573087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 dirty="0">
                <a:latin typeface="+mn-ea"/>
              </a:rPr>
              <a:t>EAI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272872" y="2598733"/>
            <a:ext cx="80192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 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7238654" y="4610616"/>
            <a:ext cx="32925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4" name="오른쪽으로 구부러진 화살표 43"/>
          <p:cNvSpPr/>
          <p:nvPr/>
        </p:nvSpPr>
        <p:spPr>
          <a:xfrm>
            <a:off x="7077236" y="4106560"/>
            <a:ext cx="661303" cy="165547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왼쪽으로 구부러진 화살표 44"/>
          <p:cNvSpPr/>
          <p:nvPr/>
        </p:nvSpPr>
        <p:spPr>
          <a:xfrm>
            <a:off x="2841238" y="4219126"/>
            <a:ext cx="540349" cy="238538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2939029" y="4069653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2888882" y="4985441"/>
            <a:ext cx="44814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9" name="모서리가 둥근 사각형 설명선 48"/>
          <p:cNvSpPr/>
          <p:nvPr/>
        </p:nvSpPr>
        <p:spPr>
          <a:xfrm>
            <a:off x="2959684" y="3523313"/>
            <a:ext cx="764084" cy="360040"/>
          </a:xfrm>
          <a:prstGeom prst="wedgeRoundRectCallout">
            <a:avLst>
              <a:gd name="adj1" fmla="val -37787"/>
              <a:gd name="adj2" fmla="val 81548"/>
              <a:gd name="adj3" fmla="val 16667"/>
            </a:avLst>
          </a:prstGeom>
          <a:solidFill>
            <a:srgbClr val="FFFF99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일반거래</a:t>
            </a:r>
          </a:p>
        </p:txBody>
      </p:sp>
      <p:sp>
        <p:nvSpPr>
          <p:cNvPr id="50" name="모서리가 둥근 사각형 설명선 49"/>
          <p:cNvSpPr/>
          <p:nvPr/>
        </p:nvSpPr>
        <p:spPr>
          <a:xfrm>
            <a:off x="3000213" y="5697252"/>
            <a:ext cx="764084" cy="360040"/>
          </a:xfrm>
          <a:prstGeom prst="wedgeRoundRectCallout">
            <a:avLst>
              <a:gd name="adj1" fmla="val -41776"/>
              <a:gd name="adj2" fmla="val -68719"/>
              <a:gd name="adj3" fmla="val 16667"/>
            </a:avLst>
          </a:prstGeom>
          <a:solidFill>
            <a:srgbClr val="FFFF99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BID, PUSH</a:t>
            </a: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>
            <a:off x="1604628" y="4685033"/>
            <a:ext cx="49164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1715493" y="4457664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1" name="오른쪽 화살표 60"/>
          <p:cNvSpPr/>
          <p:nvPr/>
        </p:nvSpPr>
        <p:spPr>
          <a:xfrm>
            <a:off x="7078542" y="4759980"/>
            <a:ext cx="652619" cy="119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모서리가 둥근 사각형 설명선 61"/>
          <p:cNvSpPr/>
          <p:nvPr/>
        </p:nvSpPr>
        <p:spPr>
          <a:xfrm>
            <a:off x="7409570" y="3565821"/>
            <a:ext cx="1249545" cy="324716"/>
          </a:xfrm>
          <a:prstGeom prst="wedgeRoundRectCallout">
            <a:avLst>
              <a:gd name="adj1" fmla="val -37787"/>
              <a:gd name="adj2" fmla="val 81548"/>
              <a:gd name="adj3" fmla="val 16667"/>
            </a:avLst>
          </a:prstGeom>
          <a:solidFill>
            <a:srgbClr val="FFFF99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취급응답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async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개설요청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/</a:t>
            </a:r>
          </a:p>
        </p:txBody>
      </p:sp>
      <p:sp>
        <p:nvSpPr>
          <p:cNvPr id="63" name="직사각형 49"/>
          <p:cNvSpPr>
            <a:spLocks noChangeArrowheads="1"/>
          </p:cNvSpPr>
          <p:nvPr/>
        </p:nvSpPr>
        <p:spPr bwMode="auto">
          <a:xfrm>
            <a:off x="704528" y="2420888"/>
            <a:ext cx="8456612" cy="3870214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828520" y="4462622"/>
            <a:ext cx="5790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(inbound)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92613" y="4261744"/>
            <a:ext cx="5790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(inbound)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065713" y="4835847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(outbound)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84356" y="5358182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(outbound)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082374" y="1568030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741039" y="980729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1812602" y="980728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J2EE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표준을 고려하여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HTTP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요청을 받는다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 기준으로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Inbound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HTTP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요청받아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리턴한다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Outbound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통신은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MCI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HTTP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하며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TCP/IP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프로토콜로 통신한다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Outbound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통신은 유형에 따라 응답을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리턴받거나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응답없이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send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만 한다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53" name="왼쪽으로 구부러진 화살표 52"/>
          <p:cNvSpPr/>
          <p:nvPr/>
        </p:nvSpPr>
        <p:spPr>
          <a:xfrm flipH="1">
            <a:off x="2795384" y="5134679"/>
            <a:ext cx="645624" cy="238538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55" name="Text Box 25">
            <a:extLst>
              <a:ext uri="{FF2B5EF4-FFF2-40B4-BE49-F238E27FC236}">
                <a16:creationId xmlns:a16="http://schemas.microsoft.com/office/drawing/2014/main" id="{8DD19A03-FB0D-474A-A48F-B4753B51D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8817" y="5600094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56" name="Text Box 25">
            <a:extLst>
              <a:ext uri="{FF2B5EF4-FFF2-40B4-BE49-F238E27FC236}">
                <a16:creationId xmlns:a16="http://schemas.microsoft.com/office/drawing/2014/main" id="{FECCA5C1-7799-4AAE-A415-40F324D66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7677" y="5171469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1591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Outbound + Sync </a:t>
            </a:r>
            <a:r>
              <a:rPr lang="ko-KR" altLang="en-US" dirty="0"/>
              <a:t>패턴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취급거래</a:t>
            </a:r>
            <a:r>
              <a:rPr lang="ko-KR" altLang="en-US" dirty="0"/>
              <a:t> 패턴으로 </a:t>
            </a:r>
            <a:r>
              <a:rPr lang="ko-KR" altLang="en-US" dirty="0" err="1"/>
              <a:t>대외기관의</a:t>
            </a:r>
            <a:r>
              <a:rPr lang="ko-KR" altLang="en-US" dirty="0"/>
              <a:t> </a:t>
            </a:r>
            <a:r>
              <a:rPr lang="ko-KR" altLang="en-US" dirty="0" err="1"/>
              <a:t>응답전문을</a:t>
            </a:r>
            <a:r>
              <a:rPr lang="ko-KR" altLang="en-US" dirty="0"/>
              <a:t> 수신할 때가지 대기</a:t>
            </a:r>
            <a:r>
              <a:rPr lang="en-US" altLang="ko-KR" dirty="0"/>
              <a:t>(Blocking) </a:t>
            </a:r>
            <a:r>
              <a:rPr lang="ko-KR" altLang="en-US" dirty="0"/>
              <a:t>후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6702" y="189656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309264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309263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업무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 직접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API 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callOutbound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이용하여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호출함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에서는 대외기관이 응답 전문 회신할 때까지 대기한 후 응답 전문 받아 동일 세션에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기관은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sync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또는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async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응답할 수 있으나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sync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merge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하여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리턴함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호출과 응답의 전문은 개발도구의 전문설계기를 이용하여 레이아웃 설계함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 변환은 프레임워크 전문 변환 기능을 이용하여 변환함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callOutbound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호출시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타임아웃 값을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파라미터로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전달하여 일정시간 동안 응답 전문수신되지 않으면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Exception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발생하도록 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6805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29505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934821" y="2857500"/>
            <a:ext cx="152345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93495" y="2857500"/>
            <a:ext cx="72911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22303" y="2857500"/>
            <a:ext cx="6714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22303" y="3500438"/>
            <a:ext cx="671479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93495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664932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1789646" y="3594100"/>
            <a:ext cx="538381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043381" y="2857500"/>
            <a:ext cx="791142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43381" y="3500439"/>
            <a:ext cx="789555" cy="2643186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6110742" y="3594100"/>
            <a:ext cx="654425" cy="247808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191711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1711" y="3500439"/>
            <a:ext cx="712787" cy="2643186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7263148" y="3594100"/>
            <a:ext cx="571500" cy="247808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EAI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전문로깅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표준전문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  제거 및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  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>
            <a:off x="1535299" y="3879850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2397112" y="3879850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6834523" y="39131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6878973" y="3945880"/>
            <a:ext cx="35718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TCP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요청</a:t>
            </a: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7906086" y="3913188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7906086" y="3879850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(sync)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3322612" y="3879850"/>
            <a:ext cx="6439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3366417" y="3721100"/>
            <a:ext cx="5000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42379" y="3522663"/>
            <a:ext cx="1515893" cy="262096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4021967" y="3594100"/>
            <a:ext cx="1311405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입력체크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원장갱신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로그조립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출력조립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1492" y="3603346"/>
            <a:ext cx="1329658" cy="25269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4207322" y="4318732"/>
            <a:ext cx="1026042" cy="95394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요청전문</a:t>
            </a:r>
            <a:r>
              <a:rPr kumimoji="0" lang="en-US" altLang="ko-KR" sz="900" kern="0" dirty="0">
                <a:latin typeface="+mn-ea"/>
              </a:rPr>
              <a:t> 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 err="1">
                <a:latin typeface="+mn-ea"/>
              </a:rPr>
              <a:t>callOutbound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Waiting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call  return</a:t>
            </a:r>
          </a:p>
          <a:p>
            <a:pPr defTabSz="190500" fontAlgn="auto" latinLnBrk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응답전문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en-US" altLang="ko-KR" sz="900" kern="0" dirty="0"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5349044" y="4478285"/>
            <a:ext cx="752392" cy="17485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callOutbound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0800000">
            <a:off x="1535299" y="5805264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0800000">
            <a:off x="2397112" y="5805264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rot="10800000">
            <a:off x="3321793" y="5805264"/>
            <a:ext cx="61302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3895488" y="3378200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0800000" flipH="1">
            <a:off x="3966483" y="3378198"/>
            <a:ext cx="1491789" cy="1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6200000" flipH="1">
            <a:off x="5401419" y="3368675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4405965" y="3214688"/>
            <a:ext cx="62034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flipH="1">
            <a:off x="6834523" y="535363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6809123" y="5013176"/>
            <a:ext cx="35718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응답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7906086" y="5193301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(sync)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 flipH="1">
            <a:off x="7906086" y="5336176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3273" y="3500439"/>
            <a:ext cx="712788" cy="2643186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8275973" y="2857500"/>
            <a:ext cx="7127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8334711" y="3594100"/>
            <a:ext cx="57150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대외기관</a:t>
            </a:r>
          </a:p>
        </p:txBody>
      </p:sp>
      <p:cxnSp>
        <p:nvCxnSpPr>
          <p:cNvPr id="55" name="구부러진 연결선 82"/>
          <p:cNvCxnSpPr>
            <a:cxnSpLocks noChangeShapeType="1"/>
            <a:stCxn id="31" idx="3"/>
            <a:endCxn id="50" idx="3"/>
          </p:cNvCxnSpPr>
          <p:nvPr/>
        </p:nvCxnSpPr>
        <p:spPr bwMode="auto">
          <a:xfrm>
            <a:off x="8263273" y="3959225"/>
            <a:ext cx="12700" cy="1313451"/>
          </a:xfrm>
          <a:prstGeom prst="curvedConnector3">
            <a:avLst>
              <a:gd name="adj1" fmla="val 1800000"/>
            </a:avLst>
          </a:prstGeom>
          <a:noFill/>
          <a:ln w="12700" algn="ctr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887448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통합단말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7870765" y="4800348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  <a:ea typeface="+mn-ea"/>
              </a:rPr>
              <a:t>async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5343293" y="4807838"/>
            <a:ext cx="765166" cy="31335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defPPr>
              <a:defRPr lang="ko-KR"/>
            </a:defPPr>
            <a:lvl1pPr algn="ctr" defTabSz="190500" eaLnBrk="1" hangingPunct="1">
              <a:lnSpc>
                <a:spcPct val="100000"/>
              </a:lnSpc>
              <a:buFontTx/>
              <a:buNone/>
              <a:tabLst>
                <a:tab pos="1238250" algn="l"/>
              </a:tabLs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sz="900" dirty="0" err="1">
                <a:latin typeface="+mn-ea"/>
                <a:ea typeface="+mn-ea"/>
              </a:rPr>
              <a:t>callOutbound</a:t>
            </a:r>
            <a:r>
              <a:rPr lang="en-US" altLang="ko-KR" sz="90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리턴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5362017" y="4689140"/>
            <a:ext cx="7200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806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Outbound + </a:t>
            </a:r>
            <a:r>
              <a:rPr lang="en-US" altLang="ko-KR" dirty="0" err="1"/>
              <a:t>Async</a:t>
            </a:r>
            <a:r>
              <a:rPr lang="en-US" altLang="ko-KR" dirty="0"/>
              <a:t> + </a:t>
            </a:r>
            <a:r>
              <a:rPr lang="ko-KR" altLang="en-US" dirty="0"/>
              <a:t>무응답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취급거래</a:t>
            </a:r>
            <a:r>
              <a:rPr lang="ko-KR" altLang="en-US" dirty="0"/>
              <a:t> 패턴으로 대외기관으로 전문을 보내기만 하고 응답을 수신하지 않음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6702" y="189656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309264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309263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API 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sendOutboundAfterCommit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이용하여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호출함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트랜잭션 여부에 따라 전문 전송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sendOutboundAfterCommit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트랜잭션 관계없이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 전송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sendOutboundNow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호출 전문은 개발도구의 전문설계기를 이용하여 레이아웃 설계함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 변환은 프레임워크 전문 변환 기능을 이용하여 변환함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4712" y="3500439"/>
            <a:ext cx="712787" cy="237683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217412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981402" y="2857500"/>
            <a:ext cx="73180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0210" y="2857500"/>
            <a:ext cx="6714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10210" y="3500439"/>
            <a:ext cx="671479" cy="237683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81402" y="3500439"/>
            <a:ext cx="712787" cy="237683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052839" y="3594100"/>
            <a:ext cx="571500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177553" y="3594100"/>
            <a:ext cx="538381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1923206" y="3879850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2785019" y="3879850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rot="10800000">
            <a:off x="1923206" y="5094288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rot="10800000">
            <a:off x="2785019" y="5094288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1275355" y="3594100"/>
            <a:ext cx="571500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통합단말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175660" y="2857500"/>
            <a:ext cx="118841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757631" y="2857500"/>
            <a:ext cx="791142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57631" y="3500439"/>
            <a:ext cx="789555" cy="237683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5824992" y="3594100"/>
            <a:ext cx="654425" cy="221116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905961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05961" y="3500439"/>
            <a:ext cx="712787" cy="237683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6977398" y="3594100"/>
            <a:ext cx="571500" cy="221116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대외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 dirty="0">
                <a:latin typeface="+mn-ea"/>
              </a:rPr>
              <a:t>EAI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전문로깅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표준전문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 제거</a:t>
            </a:r>
            <a:r>
              <a:rPr kumimoji="0" lang="en-US" altLang="ko-KR" sz="900" kern="0" dirty="0">
                <a:latin typeface="+mn-ea"/>
              </a:rPr>
              <a:t>/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6548773" y="39131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7620336" y="3913188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620336" y="3879850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en-US" altLang="ko-KR" sz="800" dirty="0" err="1">
                <a:latin typeface="+mn-ea"/>
                <a:ea typeface="+mn-ea"/>
              </a:rPr>
              <a:t>async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3702689" y="3879850"/>
            <a:ext cx="450096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3668599" y="3721100"/>
            <a:ext cx="5000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5644" y="3522663"/>
            <a:ext cx="1198435" cy="235684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4238675" y="3594100"/>
            <a:ext cx="1050824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입력체크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원장갱신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로그조립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출력조립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3878" y="3598861"/>
            <a:ext cx="1040419" cy="206375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>
            <a:off x="5374677" y="4358248"/>
            <a:ext cx="382954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0800000">
            <a:off x="3698035" y="5094288"/>
            <a:ext cx="44585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6200000" flipH="1">
            <a:off x="4108984" y="3378200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rot="10800000" flipH="1">
            <a:off x="4172746" y="3368674"/>
            <a:ext cx="1191333" cy="4764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5297404" y="339407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4463979" y="3214688"/>
            <a:ext cx="62034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77523" y="3500439"/>
            <a:ext cx="712788" cy="237683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990223" y="2857500"/>
            <a:ext cx="7127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8048961" y="3594100"/>
            <a:ext cx="571500" cy="20699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대외기관</a:t>
            </a: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5398847" y="4379913"/>
            <a:ext cx="909436" cy="31335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sendOutbound</a:t>
            </a:r>
            <a:endParaRPr lang="en-US" altLang="ko-KR" sz="9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AfterCommit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4364960" y="4287141"/>
            <a:ext cx="799801" cy="80342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출력전문</a:t>
            </a:r>
            <a:br>
              <a:rPr kumimoji="0" lang="en-US" altLang="ko-KR" sz="900" kern="0" dirty="0">
                <a:latin typeface="+mn-ea"/>
              </a:rPr>
            </a:br>
            <a:r>
              <a:rPr kumimoji="0" lang="en-US" altLang="ko-KR" sz="900" kern="0" dirty="0">
                <a:latin typeface="+mn-ea"/>
              </a:rPr>
              <a:t>  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send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5395083" y="4771834"/>
            <a:ext cx="909436" cy="31335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sendOutbound</a:t>
            </a:r>
            <a:endParaRPr lang="en-US" altLang="ko-KR" sz="9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>
                <a:latin typeface="+mn-ea"/>
                <a:ea typeface="+mn-ea"/>
              </a:rPr>
              <a:t>Now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8760067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Outbound + </a:t>
            </a:r>
            <a:r>
              <a:rPr lang="en-US" altLang="ko-KR" dirty="0" err="1"/>
              <a:t>Async</a:t>
            </a:r>
            <a:r>
              <a:rPr lang="en-US" altLang="ko-KR" dirty="0"/>
              <a:t> + </a:t>
            </a:r>
            <a:r>
              <a:rPr lang="ko-KR" altLang="en-US" dirty="0"/>
              <a:t>응답 </a:t>
            </a:r>
            <a:r>
              <a:rPr lang="en-US" altLang="ko-KR" dirty="0"/>
              <a:t>+ Timeout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취급</a:t>
            </a:r>
            <a:r>
              <a:rPr lang="en-US" altLang="ko-KR"/>
              <a:t>/</a:t>
            </a:r>
            <a:r>
              <a:rPr lang="ko-KR" altLang="en-US"/>
              <a:t>응답거래 </a:t>
            </a:r>
            <a:r>
              <a:rPr lang="ko-KR" altLang="en-US" dirty="0"/>
              <a:t>패턴으로 </a:t>
            </a:r>
            <a:r>
              <a:rPr lang="ko-KR" altLang="en-US" dirty="0" err="1"/>
              <a:t>대외기관</a:t>
            </a:r>
            <a:r>
              <a:rPr lang="ko-KR" altLang="en-US" dirty="0"/>
              <a:t> 전문 전송 후 </a:t>
            </a:r>
            <a:r>
              <a:rPr lang="en-US" altLang="ko-KR" dirty="0" err="1"/>
              <a:t>Async</a:t>
            </a:r>
            <a:r>
              <a:rPr lang="en-US" altLang="ko-KR" dirty="0"/>
              <a:t> </a:t>
            </a:r>
            <a:r>
              <a:rPr lang="ko-KR" altLang="en-US" dirty="0"/>
              <a:t>방식으로 응답 전문이 </a:t>
            </a:r>
            <a:r>
              <a:rPr lang="ko-KR" altLang="en-US"/>
              <a:t>수신되는 패턴임</a:t>
            </a:r>
            <a:r>
              <a:rPr lang="en-US" altLang="ko-KR"/>
              <a:t>. </a:t>
            </a:r>
            <a:endParaRPr lang="en-US" altLang="ko-KR" dirty="0"/>
          </a:p>
          <a:p>
            <a:r>
              <a:rPr lang="ko-KR" altLang="en-US" dirty="0"/>
              <a:t>두 개의 트랜잭션으로 처리됨 </a:t>
            </a:r>
          </a:p>
        </p:txBody>
      </p:sp>
      <p:sp>
        <p:nvSpPr>
          <p:cNvPr id="7" name="아래쪽 화살표 6"/>
          <p:cNvSpPr/>
          <p:nvPr/>
        </p:nvSpPr>
        <p:spPr>
          <a:xfrm rot="5400000">
            <a:off x="4807445" y="1152940"/>
            <a:ext cx="1055675" cy="6947229"/>
          </a:xfrm>
          <a:prstGeom prst="downArrow">
            <a:avLst>
              <a:gd name="adj1" fmla="val 72905"/>
              <a:gd name="adj2" fmla="val 18305"/>
            </a:avLst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아래쪽 화살표 7"/>
          <p:cNvSpPr/>
          <p:nvPr/>
        </p:nvSpPr>
        <p:spPr>
          <a:xfrm rot="16200000">
            <a:off x="4233121" y="34950"/>
            <a:ext cx="1054190" cy="7155564"/>
          </a:xfrm>
          <a:prstGeom prst="downArrow">
            <a:avLst>
              <a:gd name="adj1" fmla="val 72905"/>
              <a:gd name="adj2" fmla="val 26484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82374" y="1780651"/>
            <a:ext cx="1333500" cy="18911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741039" y="1275258"/>
            <a:ext cx="928688" cy="1169200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812602" y="1275259"/>
            <a:ext cx="7295901" cy="11692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취급 거래는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Timer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등록을 제외하고는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Async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와 동일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Timeout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발생시 호출될 거래 등록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callDelayAsyncService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메소드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요청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거래에서는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MCI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dummy return.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정상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응답시에는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Timer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 등록한 서비스 해제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removeDelayAsyncService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메소드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MCI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응답 전문 전송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sendOutboundNow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메소드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2" name="직사각형 49"/>
          <p:cNvSpPr>
            <a:spLocks noChangeArrowheads="1"/>
          </p:cNvSpPr>
          <p:nvPr/>
        </p:nvSpPr>
        <p:spPr bwMode="auto">
          <a:xfrm>
            <a:off x="704528" y="2564904"/>
            <a:ext cx="8456612" cy="3744416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6182" y="3152824"/>
            <a:ext cx="712787" cy="306223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48882" y="2699008"/>
            <a:ext cx="712787" cy="31147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912872" y="2699008"/>
            <a:ext cx="725078" cy="31147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04579" y="2699008"/>
            <a:ext cx="640330" cy="31147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6307" y="3152824"/>
            <a:ext cx="576852" cy="306223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2872" y="3152824"/>
            <a:ext cx="712787" cy="306223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2984309" y="3246486"/>
            <a:ext cx="571500" cy="288940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2202982" y="3246486"/>
            <a:ext cx="444422" cy="288940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1854676" y="3406726"/>
            <a:ext cx="28162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2716489" y="3406726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rot="10800000">
            <a:off x="1854675" y="4824955"/>
            <a:ext cx="28162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rot="10800000">
            <a:off x="2707523" y="3918353"/>
            <a:ext cx="205347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1206825" y="3246486"/>
            <a:ext cx="571500" cy="288940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통합단말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800" kern="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922987" y="2694444"/>
            <a:ext cx="1824759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098133" y="2694444"/>
            <a:ext cx="72707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182295" y="2694444"/>
            <a:ext cx="712787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253857" y="2694444"/>
            <a:ext cx="439738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22987" y="3100726"/>
            <a:ext cx="1824760" cy="98299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22987" y="4165392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10732" y="3151682"/>
            <a:ext cx="70012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6170287" y="3235821"/>
            <a:ext cx="569093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 err="1">
                <a:latin typeface="+mn-ea"/>
              </a:rPr>
              <a:t>NEXCORE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94995" y="3151682"/>
            <a:ext cx="712787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7266432" y="3245346"/>
            <a:ext cx="571500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EAI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대외전문수신시</a:t>
            </a:r>
            <a:r>
              <a:rPr kumimoji="0" lang="ko-KR" altLang="en-US" sz="900" kern="0" dirty="0">
                <a:latin typeface="+mn-ea"/>
              </a:rPr>
              <a:t> </a:t>
            </a:r>
            <a:r>
              <a:rPr kumimoji="0" lang="ko-KR" altLang="en-US" sz="900" kern="0" dirty="0" err="1">
                <a:latin typeface="+mn-ea"/>
              </a:rPr>
              <a:t>표준헤더복원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66557" y="3151682"/>
            <a:ext cx="42703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8328470" y="3245346"/>
            <a:ext cx="300037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 err="1">
                <a:latin typeface="+mn-ea"/>
              </a:rPr>
              <a:t>대외기관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800" kern="0" dirty="0"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3996858" y="3185021"/>
            <a:ext cx="1678753" cy="84405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96858" y="3175495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3996858" y="4236830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96858" y="4236830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응답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42" name="직선 화살표 연결선 108"/>
          <p:cNvCxnSpPr>
            <a:cxnSpLocks noChangeShapeType="1"/>
          </p:cNvCxnSpPr>
          <p:nvPr/>
        </p:nvCxnSpPr>
        <p:spPr bwMode="auto">
          <a:xfrm>
            <a:off x="5754340" y="3667522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직선 화살표 연결선 109"/>
          <p:cNvCxnSpPr>
            <a:cxnSpLocks noChangeShapeType="1"/>
          </p:cNvCxnSpPr>
          <p:nvPr/>
        </p:nvCxnSpPr>
        <p:spPr bwMode="auto">
          <a:xfrm>
            <a:off x="6837807" y="3669110"/>
            <a:ext cx="357188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직선 화살표 연결선 110"/>
          <p:cNvCxnSpPr>
            <a:cxnSpLocks noChangeShapeType="1"/>
          </p:cNvCxnSpPr>
          <p:nvPr/>
        </p:nvCxnSpPr>
        <p:spPr bwMode="auto">
          <a:xfrm>
            <a:off x="7909370" y="3669110"/>
            <a:ext cx="357187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직선 화살표 연결선 113"/>
          <p:cNvCxnSpPr>
            <a:cxnSpLocks noChangeShapeType="1"/>
          </p:cNvCxnSpPr>
          <p:nvPr/>
        </p:nvCxnSpPr>
        <p:spPr bwMode="auto">
          <a:xfrm rot="10800000">
            <a:off x="7909370" y="4398772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직선 화살표 연결선 114"/>
          <p:cNvCxnSpPr>
            <a:cxnSpLocks noChangeShapeType="1"/>
          </p:cNvCxnSpPr>
          <p:nvPr/>
        </p:nvCxnSpPr>
        <p:spPr bwMode="auto">
          <a:xfrm rot="10800000">
            <a:off x="6837807" y="4398772"/>
            <a:ext cx="35718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직선 화살표 연결선 115"/>
          <p:cNvCxnSpPr>
            <a:cxnSpLocks noChangeShapeType="1"/>
          </p:cNvCxnSpPr>
          <p:nvPr/>
        </p:nvCxnSpPr>
        <p:spPr bwMode="auto">
          <a:xfrm rot="10800000">
            <a:off x="5753644" y="4426270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직선 화살표 연결선 117"/>
          <p:cNvCxnSpPr>
            <a:cxnSpLocks noChangeShapeType="1"/>
          </p:cNvCxnSpPr>
          <p:nvPr/>
        </p:nvCxnSpPr>
        <p:spPr bwMode="auto">
          <a:xfrm>
            <a:off x="5766245" y="4883959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125"/>
          <p:cNvSpPr txBox="1">
            <a:spLocks noChangeArrowheads="1"/>
          </p:cNvSpPr>
          <p:nvPr/>
        </p:nvSpPr>
        <p:spPr bwMode="auto">
          <a:xfrm>
            <a:off x="5698109" y="4937374"/>
            <a:ext cx="45385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>
                <a:latin typeface="+mn-ea"/>
                <a:ea typeface="+mn-ea"/>
              </a:rPr>
              <a:t>Dummy</a:t>
            </a:r>
            <a:br>
              <a:rPr lang="en-US" altLang="ko-KR" sz="800" i="1">
                <a:latin typeface="+mn-ea"/>
                <a:ea typeface="+mn-ea"/>
              </a:rPr>
            </a:br>
            <a:r>
              <a:rPr lang="en-US" altLang="ko-KR" sz="800" i="1">
                <a:latin typeface="+mn-ea"/>
                <a:ea typeface="+mn-ea"/>
              </a:rPr>
              <a:t>Return</a:t>
            </a:r>
            <a:endParaRPr lang="ko-KR" altLang="en-US" sz="800" i="1">
              <a:latin typeface="+mn-ea"/>
              <a:ea typeface="+mn-ea"/>
            </a:endParaRPr>
          </a:p>
        </p:txBody>
      </p:sp>
      <p:cxnSp>
        <p:nvCxnSpPr>
          <p:cNvPr id="50" name="직선 화살표 연결선 126"/>
          <p:cNvCxnSpPr>
            <a:cxnSpLocks noChangeShapeType="1"/>
          </p:cNvCxnSpPr>
          <p:nvPr/>
        </p:nvCxnSpPr>
        <p:spPr bwMode="auto">
          <a:xfrm>
            <a:off x="6836220" y="4931915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직선 화살표 연결선 106"/>
          <p:cNvCxnSpPr>
            <a:cxnSpLocks noChangeShapeType="1"/>
          </p:cNvCxnSpPr>
          <p:nvPr/>
        </p:nvCxnSpPr>
        <p:spPr bwMode="auto">
          <a:xfrm>
            <a:off x="3626171" y="3436665"/>
            <a:ext cx="297174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직선 화살표 연결선 112"/>
          <p:cNvCxnSpPr>
            <a:cxnSpLocks noChangeShapeType="1"/>
          </p:cNvCxnSpPr>
          <p:nvPr/>
        </p:nvCxnSpPr>
        <p:spPr bwMode="auto">
          <a:xfrm flipH="1">
            <a:off x="3637950" y="3819493"/>
            <a:ext cx="297174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TextBox 124"/>
          <p:cNvSpPr txBox="1">
            <a:spLocks noChangeArrowheads="1"/>
          </p:cNvSpPr>
          <p:nvPr/>
        </p:nvSpPr>
        <p:spPr bwMode="auto">
          <a:xfrm>
            <a:off x="3555794" y="3510261"/>
            <a:ext cx="45385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 dirty="0">
                <a:latin typeface="+mn-ea"/>
                <a:ea typeface="+mn-ea"/>
              </a:rPr>
              <a:t>Dummy</a:t>
            </a:r>
            <a:br>
              <a:rPr lang="en-US" altLang="ko-KR" sz="800" i="1" dirty="0">
                <a:latin typeface="+mn-ea"/>
                <a:ea typeface="+mn-ea"/>
              </a:rPr>
            </a:br>
            <a:r>
              <a:rPr lang="en-US" altLang="ko-KR" sz="800" i="1" dirty="0">
                <a:latin typeface="+mn-ea"/>
                <a:ea typeface="+mn-ea"/>
              </a:rPr>
              <a:t>Return</a:t>
            </a:r>
            <a:endParaRPr lang="ko-KR" altLang="en-US" sz="800" i="1" dirty="0">
              <a:latin typeface="+mn-ea"/>
              <a:ea typeface="+mn-ea"/>
            </a:endParaRPr>
          </a:p>
        </p:txBody>
      </p:sp>
      <p:sp>
        <p:nvSpPr>
          <p:cNvPr id="54" name="Line 20"/>
          <p:cNvSpPr>
            <a:spLocks noChangeShapeType="1"/>
          </p:cNvSpPr>
          <p:nvPr/>
        </p:nvSpPr>
        <p:spPr bwMode="auto">
          <a:xfrm rot="10800000">
            <a:off x="1861668" y="3918353"/>
            <a:ext cx="274637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900323" y="3854998"/>
            <a:ext cx="123738" cy="1177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V="1">
            <a:off x="1900323" y="3851795"/>
            <a:ext cx="123738" cy="11411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Line 20"/>
          <p:cNvSpPr>
            <a:spLocks noChangeShapeType="1"/>
          </p:cNvSpPr>
          <p:nvPr/>
        </p:nvSpPr>
        <p:spPr bwMode="auto">
          <a:xfrm rot="10800000">
            <a:off x="2716267" y="4851850"/>
            <a:ext cx="196604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8" name="Line 20"/>
          <p:cNvSpPr>
            <a:spLocks noChangeShapeType="1"/>
          </p:cNvSpPr>
          <p:nvPr/>
        </p:nvSpPr>
        <p:spPr bwMode="auto">
          <a:xfrm rot="10800000">
            <a:off x="3626171" y="4650646"/>
            <a:ext cx="30664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9" name="TextBox 124"/>
          <p:cNvSpPr txBox="1">
            <a:spLocks noChangeArrowheads="1"/>
          </p:cNvSpPr>
          <p:nvPr/>
        </p:nvSpPr>
        <p:spPr bwMode="auto">
          <a:xfrm>
            <a:off x="2574401" y="4643883"/>
            <a:ext cx="45385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6821387" y="3689639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1" name="Text Box 25"/>
          <p:cNvSpPr txBox="1">
            <a:spLocks noChangeArrowheads="1"/>
          </p:cNvSpPr>
          <p:nvPr/>
        </p:nvSpPr>
        <p:spPr bwMode="auto">
          <a:xfrm>
            <a:off x="7891659" y="3686035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en-US" altLang="ko-KR" sz="800" dirty="0" err="1">
                <a:latin typeface="+mn-ea"/>
                <a:ea typeface="+mn-ea"/>
              </a:rPr>
              <a:t>async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7901507" y="4211835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en-US" altLang="ko-KR" sz="800" dirty="0" err="1">
                <a:latin typeface="+mn-ea"/>
                <a:ea typeface="+mn-ea"/>
              </a:rPr>
              <a:t>async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6821387" y="4211835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22987" y="5228026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3996858" y="5299464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996858" y="5299464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취소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pic>
        <p:nvPicPr>
          <p:cNvPr id="6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917" y="5283767"/>
            <a:ext cx="3238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24"/>
          <p:cNvSpPr txBox="1">
            <a:spLocks noChangeArrowheads="1"/>
          </p:cNvSpPr>
          <p:nvPr/>
        </p:nvSpPr>
        <p:spPr bwMode="auto">
          <a:xfrm>
            <a:off x="6225913" y="5636549"/>
            <a:ext cx="45385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 dirty="0">
                <a:latin typeface="+mn-ea"/>
                <a:ea typeface="+mn-ea"/>
              </a:rPr>
              <a:t>Timer</a:t>
            </a:r>
            <a:endParaRPr lang="ko-KR" altLang="en-US" sz="800" i="1" dirty="0">
              <a:latin typeface="+mn-ea"/>
              <a:ea typeface="+mn-ea"/>
            </a:endParaRPr>
          </a:p>
        </p:txBody>
      </p:sp>
      <p:cxnSp>
        <p:nvCxnSpPr>
          <p:cNvPr id="69" name="직선 화살표 연결선 115"/>
          <p:cNvCxnSpPr>
            <a:cxnSpLocks noChangeShapeType="1"/>
            <a:stCxn id="67" idx="1"/>
          </p:cNvCxnSpPr>
          <p:nvPr/>
        </p:nvCxnSpPr>
        <p:spPr bwMode="auto">
          <a:xfrm flipH="1">
            <a:off x="5764657" y="5445692"/>
            <a:ext cx="52626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Line 20"/>
          <p:cNvSpPr>
            <a:spLocks noChangeShapeType="1"/>
          </p:cNvSpPr>
          <p:nvPr/>
        </p:nvSpPr>
        <p:spPr bwMode="auto">
          <a:xfrm rot="10800000">
            <a:off x="3626171" y="5724003"/>
            <a:ext cx="30664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1" name="Line 20"/>
          <p:cNvSpPr>
            <a:spLocks noChangeShapeType="1"/>
          </p:cNvSpPr>
          <p:nvPr/>
        </p:nvSpPr>
        <p:spPr bwMode="auto">
          <a:xfrm rot="10800000">
            <a:off x="2716848" y="5741925"/>
            <a:ext cx="19602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2" name="Line 20"/>
          <p:cNvSpPr>
            <a:spLocks noChangeShapeType="1"/>
          </p:cNvSpPr>
          <p:nvPr/>
        </p:nvSpPr>
        <p:spPr bwMode="auto">
          <a:xfrm rot="10800000">
            <a:off x="1854675" y="5757500"/>
            <a:ext cx="28162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3" name="TextBox 124"/>
          <p:cNvSpPr txBox="1">
            <a:spLocks noChangeArrowheads="1"/>
          </p:cNvSpPr>
          <p:nvPr/>
        </p:nvSpPr>
        <p:spPr bwMode="auto">
          <a:xfrm>
            <a:off x="1766503" y="5564541"/>
            <a:ext cx="51910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 dirty="0">
                <a:latin typeface="+mn-ea"/>
                <a:ea typeface="+mn-ea"/>
              </a:rPr>
              <a:t>Timeout</a:t>
            </a:r>
          </a:p>
        </p:txBody>
      </p:sp>
      <p:cxnSp>
        <p:nvCxnSpPr>
          <p:cNvPr id="74" name="직선 화살표 연결선 117"/>
          <p:cNvCxnSpPr>
            <a:cxnSpLocks noChangeShapeType="1"/>
          </p:cNvCxnSpPr>
          <p:nvPr/>
        </p:nvCxnSpPr>
        <p:spPr bwMode="auto">
          <a:xfrm>
            <a:off x="5759852" y="5968413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TextBox 125"/>
          <p:cNvSpPr txBox="1">
            <a:spLocks noChangeArrowheads="1"/>
          </p:cNvSpPr>
          <p:nvPr/>
        </p:nvSpPr>
        <p:spPr bwMode="auto">
          <a:xfrm>
            <a:off x="5691716" y="6021828"/>
            <a:ext cx="45385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>
                <a:latin typeface="+mn-ea"/>
                <a:ea typeface="+mn-ea"/>
              </a:rPr>
              <a:t>Dummy</a:t>
            </a:r>
            <a:br>
              <a:rPr lang="en-US" altLang="ko-KR" sz="800" i="1">
                <a:latin typeface="+mn-ea"/>
                <a:ea typeface="+mn-ea"/>
              </a:rPr>
            </a:br>
            <a:r>
              <a:rPr lang="en-US" altLang="ko-KR" sz="800" i="1">
                <a:latin typeface="+mn-ea"/>
                <a:ea typeface="+mn-ea"/>
              </a:rPr>
              <a:t>Return</a:t>
            </a:r>
            <a:endParaRPr lang="ko-KR" altLang="en-US" sz="800" i="1">
              <a:latin typeface="+mn-ea"/>
              <a:ea typeface="+mn-ea"/>
            </a:endParaRP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5767932" y="3347844"/>
            <a:ext cx="783948" cy="282573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sendOutbound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AfterCommit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3110396" y="4717524"/>
            <a:ext cx="791787" cy="282573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sendOutbound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AfterCommit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3140201" y="5757686"/>
            <a:ext cx="791787" cy="282573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sendOutbound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Now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113439" y="3416301"/>
            <a:ext cx="14666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ko-KR" altLang="en-US" sz="800" kern="0" dirty="0">
                <a:latin typeface="+mn-ea"/>
              </a:rPr>
              <a:t>수신거래코드 </a:t>
            </a:r>
            <a:r>
              <a:rPr kumimoji="0" lang="en-US" altLang="ko-KR" sz="800" kern="0" dirty="0">
                <a:latin typeface="+mn-ea"/>
              </a:rPr>
              <a:t>Set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Timer </a:t>
            </a:r>
            <a:r>
              <a:rPr kumimoji="0" lang="ko-KR" altLang="en-US" sz="800" kern="0" dirty="0">
                <a:latin typeface="+mn-ea"/>
              </a:rPr>
              <a:t>등록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ko-KR" altLang="en-US" sz="800" kern="0" dirty="0">
                <a:latin typeface="+mn-ea"/>
              </a:rPr>
              <a:t>대외전문 변환 </a:t>
            </a:r>
            <a:r>
              <a:rPr kumimoji="0" lang="en-US" altLang="ko-KR" sz="800" kern="0" dirty="0">
                <a:latin typeface="+mn-ea"/>
              </a:rPr>
              <a:t>&amp; </a:t>
            </a:r>
            <a:r>
              <a:rPr kumimoji="0" lang="ko-KR" altLang="en-US" sz="800" kern="0" dirty="0">
                <a:latin typeface="+mn-ea"/>
              </a:rPr>
              <a:t>전송</a:t>
            </a:r>
            <a:r>
              <a:rPr kumimoji="0" lang="en-US" altLang="ko-KR" sz="800" kern="0" dirty="0">
                <a:latin typeface="+mn-ea"/>
              </a:rPr>
              <a:t> 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ko-KR" altLang="en-US" sz="800" kern="0" dirty="0">
                <a:latin typeface="+mn-ea"/>
              </a:rPr>
              <a:t>더미 응답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120284" y="4428401"/>
            <a:ext cx="15063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</a:t>
            </a:r>
            <a:r>
              <a:rPr kumimoji="0" lang="en-US" altLang="ko-KR" sz="800" kern="0" dirty="0">
                <a:latin typeface="+mn-ea"/>
              </a:rPr>
              <a:t>Timer </a:t>
            </a:r>
            <a:r>
              <a:rPr kumimoji="0" lang="ko-KR" altLang="en-US" sz="800" kern="0" dirty="0">
                <a:latin typeface="+mn-ea"/>
              </a:rPr>
              <a:t>해제 </a:t>
            </a:r>
            <a:r>
              <a:rPr kumimoji="0" lang="en-US" altLang="ko-KR" sz="800" kern="0" dirty="0">
                <a:latin typeface="+mn-ea"/>
              </a:rPr>
              <a:t>(</a:t>
            </a:r>
            <a:r>
              <a:rPr kumimoji="0" lang="en-US" altLang="ko-KR" sz="800" kern="0" dirty="0" err="1">
                <a:latin typeface="+mn-ea"/>
              </a:rPr>
              <a:t>removeDelayAsyncService</a:t>
            </a:r>
            <a:r>
              <a:rPr kumimoji="0" lang="en-US" altLang="ko-KR" sz="800" kern="0" dirty="0">
                <a:latin typeface="+mn-ea"/>
              </a:rPr>
              <a:t>)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수신 처리</a:t>
            </a:r>
            <a:r>
              <a:rPr kumimoji="0" lang="en-US" altLang="ko-KR" sz="800" kern="0" dirty="0">
                <a:latin typeface="+mn-ea"/>
              </a:rPr>
              <a:t> 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en-US" altLang="ko-KR" sz="800" kern="0" dirty="0" err="1">
                <a:latin typeface="+mn-ea"/>
              </a:rPr>
              <a:t>sendOutbound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더미 응답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139951" y="5559623"/>
            <a:ext cx="104843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취소 처리 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en-US" altLang="ko-KR" sz="800" kern="0" dirty="0" err="1">
                <a:latin typeface="+mn-ea"/>
              </a:rPr>
              <a:t>sendOutbound</a:t>
            </a:r>
            <a:r>
              <a:rPr kumimoji="0" lang="en-US" altLang="ko-KR" sz="800" kern="0" dirty="0">
                <a:latin typeface="+mn-ea"/>
              </a:rPr>
              <a:t> </a:t>
            </a:r>
            <a:br>
              <a:rPr kumimoji="0" lang="en-US" altLang="ko-KR" sz="800" kern="0" dirty="0">
                <a:latin typeface="+mn-ea"/>
              </a:rPr>
            </a:br>
            <a:r>
              <a:rPr kumimoji="0" lang="en-US" altLang="ko-KR" sz="800" kern="0" dirty="0">
                <a:latin typeface="+mn-ea"/>
              </a:rPr>
              <a:t>   (</a:t>
            </a:r>
            <a:r>
              <a:rPr kumimoji="0" lang="ko-KR" altLang="en-US" sz="800" kern="0" dirty="0">
                <a:latin typeface="+mn-ea"/>
              </a:rPr>
              <a:t>응답 전송</a:t>
            </a:r>
            <a:r>
              <a:rPr kumimoji="0" lang="en-US" altLang="ko-KR" sz="800" kern="0" dirty="0">
                <a:latin typeface="+mn-ea"/>
              </a:rPr>
              <a:t>)</a:t>
            </a:r>
          </a:p>
        </p:txBody>
      </p:sp>
      <p:sp>
        <p:nvSpPr>
          <p:cNvPr id="82" name="TextBox 124"/>
          <p:cNvSpPr txBox="1">
            <a:spLocks noChangeArrowheads="1"/>
          </p:cNvSpPr>
          <p:nvPr/>
        </p:nvSpPr>
        <p:spPr bwMode="auto">
          <a:xfrm>
            <a:off x="2564742" y="3251090"/>
            <a:ext cx="45385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83" name="Line 20"/>
          <p:cNvSpPr>
            <a:spLocks noChangeShapeType="1"/>
          </p:cNvSpPr>
          <p:nvPr/>
        </p:nvSpPr>
        <p:spPr bwMode="auto">
          <a:xfrm rot="10800000" flipH="1" flipV="1">
            <a:off x="2707068" y="5013176"/>
            <a:ext cx="207197" cy="740"/>
          </a:xfrm>
          <a:prstGeom prst="line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>
            <a:off x="2741030" y="4958888"/>
            <a:ext cx="123738" cy="1177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V="1">
            <a:off x="2741030" y="4955685"/>
            <a:ext cx="123738" cy="11411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3597560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Inbound + Sync </a:t>
            </a:r>
            <a:r>
              <a:rPr lang="ko-KR" altLang="en-US" dirty="0"/>
              <a:t>패턴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대외 기관으로부터 요청 전문을 받아 거래 처리 후 동기식으로 응답하는 패턴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6702" y="1887116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423564"/>
            <a:ext cx="928688" cy="103961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423563"/>
            <a:ext cx="7295901" cy="1039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기관의 전문을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가 받아 표준전문으로 헤더 변환 후 대외 서비스 호출함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업무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이 종료될 때까지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에서는 대기한 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리턴함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FW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간의 구간은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Sync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처리함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 대외 기관에 전송하는 응답 전문은 대외 기관 과의 규약에 따라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sync/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async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선택적으로 전송함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0580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143280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64768" y="2857500"/>
            <a:ext cx="785590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36078" y="2857500"/>
            <a:ext cx="6714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36078" y="3500438"/>
            <a:ext cx="671479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7270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978707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103422" y="3594100"/>
            <a:ext cx="520062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1201223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통합단말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957198" y="2857500"/>
            <a:ext cx="134042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817096" y="2857500"/>
            <a:ext cx="77819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63190" y="3500438"/>
            <a:ext cx="712788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5934628" y="3555251"/>
            <a:ext cx="571500" cy="2516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34753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34753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006190" y="3555251"/>
            <a:ext cx="571500" cy="2516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EAI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전문로깅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표준전문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 제거</a:t>
            </a:r>
            <a:r>
              <a:rPr kumimoji="0" lang="en-US" altLang="ko-KR" sz="900" kern="0" dirty="0">
                <a:latin typeface="+mn-ea"/>
              </a:rPr>
              <a:t>/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6577565" y="38171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7649128" y="3817188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36931" y="3500438"/>
            <a:ext cx="1359476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4008366" y="3555251"/>
            <a:ext cx="1197813" cy="2516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08367" y="3555250"/>
            <a:ext cx="1197812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5294754" y="3785438"/>
            <a:ext cx="5645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rot="16200000" flipH="1">
            <a:off x="3895712" y="3378200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 rot="10800000" flipH="1">
            <a:off x="3957198" y="3368674"/>
            <a:ext cx="1340421" cy="4764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Line 20"/>
          <p:cNvSpPr>
            <a:spLocks noChangeShapeType="1"/>
          </p:cNvSpPr>
          <p:nvPr/>
        </p:nvSpPr>
        <p:spPr bwMode="auto">
          <a:xfrm rot="16200000" flipH="1">
            <a:off x="5238121" y="3368675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4108419" y="3223653"/>
            <a:ext cx="10001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flipH="1">
            <a:off x="6577565" y="60212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5300636" y="6021288"/>
            <a:ext cx="57017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7649128" y="5860951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solidFill>
                  <a:srgbClr val="FF0000"/>
                </a:solidFill>
                <a:latin typeface="+mn-ea"/>
                <a:ea typeface="+mn-ea"/>
              </a:rPr>
              <a:t>(sync)</a:t>
            </a:r>
            <a:endParaRPr lang="ko-KR" altLang="en-US" sz="80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flipH="1">
            <a:off x="7649128" y="6003826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06315" y="3500438"/>
            <a:ext cx="712788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019015" y="2857500"/>
            <a:ext cx="7127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8077753" y="3553663"/>
            <a:ext cx="5715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대외기관</a:t>
            </a: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5320980" y="3605398"/>
            <a:ext cx="509259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PM </a:t>
            </a:r>
            <a:r>
              <a:rPr lang="ko-KR" altLang="en-US" sz="800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7647539" y="5739883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  <a:ea typeface="+mn-ea"/>
              </a:rPr>
              <a:t>async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648229" y="3910108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solidFill>
                  <a:srgbClr val="FF0000"/>
                </a:solidFill>
                <a:latin typeface="+mn-ea"/>
                <a:ea typeface="+mn-ea"/>
              </a:rPr>
              <a:t>(sync)</a:t>
            </a:r>
            <a:endParaRPr lang="ko-KR" altLang="en-US" sz="80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7646640" y="3789040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  <a:ea typeface="+mn-ea"/>
              </a:rPr>
              <a:t>async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604146" y="5661248"/>
            <a:ext cx="357187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solidFill>
                  <a:schemeClr val="tx1"/>
                </a:solidFill>
                <a:latin typeface="+mn-ea"/>
                <a:ea typeface="+mn-ea"/>
              </a:rPr>
              <a:t>HTTP 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응답</a:t>
            </a: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6641381" y="3866507"/>
            <a:ext cx="357187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HTTP 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요청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5311896" y="5846330"/>
            <a:ext cx="55145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PM </a:t>
            </a:r>
            <a:r>
              <a:rPr lang="ko-KR" altLang="en-US" sz="800" dirty="0">
                <a:latin typeface="+mn-ea"/>
                <a:ea typeface="+mn-ea"/>
              </a:rPr>
              <a:t>리턴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252433" y="4077072"/>
            <a:ext cx="697218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입력체크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원장갱신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로그조립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출력조립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</p:spTree>
    <p:extLst>
      <p:ext uri="{BB962C8B-B14F-4D97-AF65-F5344CB8AC3E}">
        <p14:creationId xmlns:p14="http://schemas.microsoft.com/office/powerpoint/2010/main" val="544166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/>
              <a:t>GUID</a:t>
            </a:r>
            <a:r>
              <a:rPr lang="ko-KR" altLang="en-US"/>
              <a:t> 생성 규칙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/>
              <a:t>As-Is </a:t>
            </a:r>
            <a:r>
              <a:rPr lang="ko-KR" altLang="en-US"/>
              <a:t>의 </a:t>
            </a:r>
            <a:r>
              <a:rPr lang="en-US" altLang="ko-KR"/>
              <a:t>GUID </a:t>
            </a:r>
            <a:r>
              <a:rPr lang="ko-KR" altLang="en-US"/>
              <a:t>생성 규칙을 준용하며 고유 번호와 일련번호 생성을 다음과 같이 함</a:t>
            </a:r>
            <a:r>
              <a:rPr lang="en-US" altLang="ko-KR"/>
              <a:t>. </a:t>
            </a:r>
          </a:p>
          <a:p>
            <a:r>
              <a:rPr lang="en-US" altLang="ko-KR"/>
              <a:t>Unique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자리 생성을 위해 </a:t>
            </a:r>
            <a:r>
              <a:rPr lang="en-US" altLang="ko-KR"/>
              <a:t>WAS Domain </a:t>
            </a:r>
            <a:r>
              <a:rPr lang="ko-KR" altLang="en-US"/>
              <a:t>값과 채번일련번호를 이용하여 가공 조립하여 생성함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10" name="자유형 9"/>
          <p:cNvSpPr/>
          <p:nvPr/>
        </p:nvSpPr>
        <p:spPr>
          <a:xfrm>
            <a:off x="7385005" y="3107073"/>
            <a:ext cx="1302713" cy="472417"/>
          </a:xfrm>
          <a:custGeom>
            <a:avLst/>
            <a:gdLst>
              <a:gd name="connsiteX0" fmla="*/ 0 w 5990601"/>
              <a:gd name="connsiteY0" fmla="*/ 358923 h 384561"/>
              <a:gd name="connsiteX1" fmla="*/ 2221906 w 5990601"/>
              <a:gd name="connsiteY1" fmla="*/ 0 h 384561"/>
              <a:gd name="connsiteX2" fmla="*/ 3913973 w 5990601"/>
              <a:gd name="connsiteY2" fmla="*/ 0 h 384561"/>
              <a:gd name="connsiteX3" fmla="*/ 5990601 w 5990601"/>
              <a:gd name="connsiteY3" fmla="*/ 384561 h 384561"/>
              <a:gd name="connsiteX0" fmla="*/ 0 w 5990601"/>
              <a:gd name="connsiteY0" fmla="*/ 358923 h 384561"/>
              <a:gd name="connsiteX1" fmla="*/ 2221906 w 5990601"/>
              <a:gd name="connsiteY1" fmla="*/ 0 h 384561"/>
              <a:gd name="connsiteX2" fmla="*/ 5280388 w 5990601"/>
              <a:gd name="connsiteY2" fmla="*/ 25637 h 384561"/>
              <a:gd name="connsiteX3" fmla="*/ 5990601 w 5990601"/>
              <a:gd name="connsiteY3" fmla="*/ 384561 h 384561"/>
              <a:gd name="connsiteX0" fmla="*/ 0 w 5990601"/>
              <a:gd name="connsiteY0" fmla="*/ 358923 h 384561"/>
              <a:gd name="connsiteX1" fmla="*/ 707776 w 5990601"/>
              <a:gd name="connsiteY1" fmla="*/ 0 h 384561"/>
              <a:gd name="connsiteX2" fmla="*/ 5280388 w 5990601"/>
              <a:gd name="connsiteY2" fmla="*/ 25637 h 384561"/>
              <a:gd name="connsiteX3" fmla="*/ 5990601 w 5990601"/>
              <a:gd name="connsiteY3" fmla="*/ 384561 h 384561"/>
              <a:gd name="connsiteX0" fmla="*/ 0 w 5990601"/>
              <a:gd name="connsiteY0" fmla="*/ 358923 h 384561"/>
              <a:gd name="connsiteX1" fmla="*/ 707776 w 5990601"/>
              <a:gd name="connsiteY1" fmla="*/ 0 h 384561"/>
              <a:gd name="connsiteX2" fmla="*/ 4061698 w 5990601"/>
              <a:gd name="connsiteY2" fmla="*/ 25637 h 384561"/>
              <a:gd name="connsiteX3" fmla="*/ 5990601 w 5990601"/>
              <a:gd name="connsiteY3" fmla="*/ 384561 h 384561"/>
              <a:gd name="connsiteX0" fmla="*/ 0 w 5990601"/>
              <a:gd name="connsiteY0" fmla="*/ 350377 h 376015"/>
              <a:gd name="connsiteX1" fmla="*/ 2000327 w 5990601"/>
              <a:gd name="connsiteY1" fmla="*/ 0 h 376015"/>
              <a:gd name="connsiteX2" fmla="*/ 4061698 w 5990601"/>
              <a:gd name="connsiteY2" fmla="*/ 17091 h 376015"/>
              <a:gd name="connsiteX3" fmla="*/ 5990601 w 5990601"/>
              <a:gd name="connsiteY3" fmla="*/ 376015 h 376015"/>
              <a:gd name="connsiteX0" fmla="*/ 0 w 5916739"/>
              <a:gd name="connsiteY0" fmla="*/ 350377 h 353215"/>
              <a:gd name="connsiteX1" fmla="*/ 2000327 w 5916739"/>
              <a:gd name="connsiteY1" fmla="*/ 0 h 353215"/>
              <a:gd name="connsiteX2" fmla="*/ 4061698 w 5916739"/>
              <a:gd name="connsiteY2" fmla="*/ 17091 h 353215"/>
              <a:gd name="connsiteX3" fmla="*/ 5916739 w 5916739"/>
              <a:gd name="connsiteY3" fmla="*/ 353215 h 353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6739" h="353215">
                <a:moveTo>
                  <a:pt x="0" y="350377"/>
                </a:moveTo>
                <a:lnTo>
                  <a:pt x="2000327" y="0"/>
                </a:lnTo>
                <a:lnTo>
                  <a:pt x="4061698" y="17091"/>
                </a:lnTo>
                <a:lnTo>
                  <a:pt x="5916739" y="353215"/>
                </a:ln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1172580" y="3119264"/>
            <a:ext cx="6084675" cy="465526"/>
          </a:xfrm>
          <a:custGeom>
            <a:avLst/>
            <a:gdLst>
              <a:gd name="connsiteX0" fmla="*/ 0 w 5990601"/>
              <a:gd name="connsiteY0" fmla="*/ 358923 h 384561"/>
              <a:gd name="connsiteX1" fmla="*/ 2221906 w 5990601"/>
              <a:gd name="connsiteY1" fmla="*/ 0 h 384561"/>
              <a:gd name="connsiteX2" fmla="*/ 3913973 w 5990601"/>
              <a:gd name="connsiteY2" fmla="*/ 0 h 384561"/>
              <a:gd name="connsiteX3" fmla="*/ 5990601 w 5990601"/>
              <a:gd name="connsiteY3" fmla="*/ 384561 h 384561"/>
              <a:gd name="connsiteX0" fmla="*/ 0 w 6215113"/>
              <a:gd name="connsiteY0" fmla="*/ 376014 h 384561"/>
              <a:gd name="connsiteX1" fmla="*/ 2446418 w 6215113"/>
              <a:gd name="connsiteY1" fmla="*/ 0 h 384561"/>
              <a:gd name="connsiteX2" fmla="*/ 4138485 w 6215113"/>
              <a:gd name="connsiteY2" fmla="*/ 0 h 384561"/>
              <a:gd name="connsiteX3" fmla="*/ 6215113 w 6215113"/>
              <a:gd name="connsiteY3" fmla="*/ 384561 h 384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5113" h="384561">
                <a:moveTo>
                  <a:pt x="0" y="376014"/>
                </a:moveTo>
                <a:lnTo>
                  <a:pt x="2446418" y="0"/>
                </a:lnTo>
                <a:lnTo>
                  <a:pt x="4138485" y="0"/>
                </a:lnTo>
                <a:lnTo>
                  <a:pt x="6215113" y="384561"/>
                </a:ln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941904"/>
              </p:ext>
            </p:extLst>
          </p:nvPr>
        </p:nvGraphicFramePr>
        <p:xfrm>
          <a:off x="1337983" y="1931131"/>
          <a:ext cx="7308813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350">
                  <a:extLst>
                    <a:ext uri="{9D8B030D-6E8A-4147-A177-3AD203B41FA5}">
                      <a16:colId xmlns:a16="http://schemas.microsoft.com/office/drawing/2014/main" val="2018989675"/>
                    </a:ext>
                  </a:extLst>
                </a:gridCol>
                <a:gridCol w="1310514">
                  <a:extLst>
                    <a:ext uri="{9D8B030D-6E8A-4147-A177-3AD203B41FA5}">
                      <a16:colId xmlns:a16="http://schemas.microsoft.com/office/drawing/2014/main" val="3531992606"/>
                    </a:ext>
                  </a:extLst>
                </a:gridCol>
                <a:gridCol w="1679096">
                  <a:extLst>
                    <a:ext uri="{9D8B030D-6E8A-4147-A177-3AD203B41FA5}">
                      <a16:colId xmlns:a16="http://schemas.microsoft.com/office/drawing/2014/main" val="2340577710"/>
                    </a:ext>
                  </a:extLst>
                </a:gridCol>
                <a:gridCol w="2086441">
                  <a:extLst>
                    <a:ext uri="{9D8B030D-6E8A-4147-A177-3AD203B41FA5}">
                      <a16:colId xmlns:a16="http://schemas.microsoft.com/office/drawing/2014/main" val="1798996162"/>
                    </a:ext>
                  </a:extLst>
                </a:gridCol>
                <a:gridCol w="1292412">
                  <a:extLst>
                    <a:ext uri="{9D8B030D-6E8A-4147-A177-3AD203B41FA5}">
                      <a16:colId xmlns:a16="http://schemas.microsoft.com/office/drawing/2014/main" val="72074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항목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총</a:t>
                      </a:r>
                      <a:r>
                        <a:rPr lang="en-US" altLang="ko-KR" sz="1200"/>
                        <a:t>33)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그룹사코드</a:t>
                      </a:r>
                      <a:r>
                        <a:rPr lang="en-US" altLang="ko-KR" sz="1200"/>
                        <a:t>(3)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고유번호</a:t>
                      </a:r>
                      <a:r>
                        <a:rPr lang="en-US" altLang="ko-KR" sz="1200"/>
                        <a:t>(10)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Timestamp(17)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일련번호</a:t>
                      </a:r>
                      <a:r>
                        <a:rPr lang="en-US" altLang="ko-KR" sz="1200"/>
                        <a:t>(3)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088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값 예시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KB0</a:t>
                      </a:r>
                      <a:endParaRPr lang="ko-KR" altLang="en-US" sz="1200">
                        <a:latin typeface="Consolas" panose="020B0609020204030204" pitchFamily="49" charset="0"/>
                        <a:ea typeface="돋움체" panose="020B0609000101010101" pitchFamily="49" charset="-127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MMP1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O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01</a:t>
                      </a:r>
                      <a:r>
                        <a:rPr lang="en-US" altLang="ko-KR" sz="1200" b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031</a:t>
                      </a:r>
                    </a:p>
                    <a:p>
                      <a:pPr algn="ctr" latinLnBrk="1"/>
                      <a:r>
                        <a:rPr lang="en-US" altLang="ko-KR" sz="12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SUU1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01</a:t>
                      </a:r>
                      <a:r>
                        <a:rPr lang="en-US" altLang="ko-KR" sz="1200" b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BP0</a:t>
                      </a:r>
                    </a:p>
                    <a:p>
                      <a:pPr algn="ctr" latinLnBrk="1"/>
                      <a:r>
                        <a:rPr lang="en-US" altLang="ko-KR" sz="12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SIC1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02</a:t>
                      </a:r>
                      <a:r>
                        <a:rPr lang="en-US" altLang="ko-KR" sz="1200" b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457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GIA4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O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altLang="ko-KR" sz="1200" b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20250517100501123</a:t>
                      </a:r>
                      <a:endParaRPr lang="ko-KR" altLang="en-US" sz="1200" dirty="0">
                        <a:latin typeface="Consolas" panose="020B0609020204030204" pitchFamily="49" charset="0"/>
                        <a:ea typeface="돋움체" panose="020B0609000101010101" pitchFamily="49" charset="-127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Consolas" panose="020B0609020204030204" pitchFamily="49" charset="0"/>
                          <a:ea typeface="돋움체" panose="020B0609000101010101" pitchFamily="49" charset="-127"/>
                          <a:cs typeface="Consolas" panose="020B0609020204030204" pitchFamily="49" charset="0"/>
                        </a:rPr>
                        <a:t>001</a:t>
                      </a:r>
                      <a:endParaRPr lang="ko-KR" altLang="en-US" sz="1200" dirty="0">
                        <a:latin typeface="Consolas" panose="020B0609020204030204" pitchFamily="49" charset="0"/>
                        <a:ea typeface="돋움체" panose="020B0609000101010101" pitchFamily="49" charset="-127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05269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38379"/>
              </p:ext>
            </p:extLst>
          </p:nvPr>
        </p:nvGraphicFramePr>
        <p:xfrm>
          <a:off x="1172580" y="3573016"/>
          <a:ext cx="6084676" cy="13172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034130447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51426916"/>
                    </a:ext>
                  </a:extLst>
                </a:gridCol>
                <a:gridCol w="1959484">
                  <a:extLst>
                    <a:ext uri="{9D8B030D-6E8A-4147-A177-3AD203B41FA5}">
                      <a16:colId xmlns:a16="http://schemas.microsoft.com/office/drawing/2014/main" val="3446507830"/>
                    </a:ext>
                  </a:extLst>
                </a:gridCol>
                <a:gridCol w="1928948">
                  <a:extLst>
                    <a:ext uri="{9D8B030D-6E8A-4147-A177-3AD203B41FA5}">
                      <a16:colId xmlns:a16="http://schemas.microsoft.com/office/drawing/2014/main" val="198307210"/>
                    </a:ext>
                  </a:extLst>
                </a:gridCol>
              </a:tblGrid>
              <a:tr h="311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WAS</a:t>
                      </a:r>
                      <a:r>
                        <a:rPr lang="ko-KR" altLang="en-US" sz="1200"/>
                        <a:t> 도메인</a:t>
                      </a:r>
                      <a:r>
                        <a:rPr lang="en-US" altLang="ko-KR" sz="1200"/>
                        <a:t> (4)</a:t>
                      </a:r>
                      <a:endParaRPr lang="ko-KR" altLang="en-US" sz="1200"/>
                    </a:p>
                  </a:txBody>
                  <a:tcPr marL="36000" marR="36000"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6</a:t>
                      </a:r>
                      <a:r>
                        <a:rPr lang="ko-KR" altLang="en-US" sz="1200"/>
                        <a:t>자리 채번 </a:t>
                      </a:r>
                      <a:r>
                        <a:rPr lang="en-US" altLang="ko-KR" sz="1200"/>
                        <a:t>- VM</a:t>
                      </a:r>
                      <a:r>
                        <a:rPr lang="en-US" altLang="ko-KR" sz="1200" baseline="0"/>
                        <a:t> </a:t>
                      </a:r>
                      <a:r>
                        <a:rPr lang="ko-KR" altLang="en-US" sz="1200" baseline="0"/>
                        <a:t>환경</a:t>
                      </a:r>
                      <a:endParaRPr lang="ko-KR" altLang="en-US" sz="1200"/>
                    </a:p>
                  </a:txBody>
                  <a:tcPr marL="36000" marR="36000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47150"/>
                  </a:ext>
                </a:extLst>
              </a:tr>
              <a:tr h="276833">
                <a:tc rowSpan="2">
                  <a:txBody>
                    <a:bodyPr/>
                    <a:lstStyle/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MMP1:</a:t>
                      </a:r>
                      <a:r>
                        <a:rPr lang="ko-KR" altLang="en-US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마케팅플랫폼</a:t>
                      </a:r>
                      <a:endParaRPr lang="en-US" altLang="ko-KR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SUU1:</a:t>
                      </a:r>
                      <a:r>
                        <a:rPr lang="ko-KR" altLang="en-US" sz="10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무인공과금</a:t>
                      </a:r>
                      <a:endParaRPr lang="en-US" altLang="ko-KR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SIC1:</a:t>
                      </a:r>
                      <a:r>
                        <a:rPr lang="ko-KR" altLang="en-US" sz="10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이미지콜드</a:t>
                      </a:r>
                      <a:endParaRPr lang="en-US" altLang="ko-KR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GIA1:</a:t>
                      </a:r>
                      <a:r>
                        <a:rPr lang="ko-KR" altLang="en-US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공인인증</a:t>
                      </a:r>
                      <a:endParaRPr lang="en-US" altLang="ko-KR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MFC2:</a:t>
                      </a:r>
                      <a:r>
                        <a:rPr lang="ko-KR" altLang="en-US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부동산</a:t>
                      </a:r>
                      <a:endParaRPr lang="en-US" altLang="ko-KR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SCO1:</a:t>
                      </a:r>
                      <a:r>
                        <a:rPr lang="ko-KR" altLang="en-US" sz="10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코어현대화</a:t>
                      </a:r>
                      <a:endParaRPr lang="en-US" altLang="ko-KR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/>
                        <a:t>구분</a:t>
                      </a:r>
                      <a:r>
                        <a:rPr lang="en-US" altLang="ko-KR" sz="1000"/>
                        <a:t>(1)</a:t>
                      </a:r>
                      <a:endParaRPr lang="en-US" altLang="ko-KR" sz="1000" baseline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36000" marR="360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 번호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(2)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일련 번호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(3)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70870"/>
                  </a:ext>
                </a:extLst>
              </a:tr>
              <a:tr h="692084">
                <a:tc vMerge="1">
                  <a:txBody>
                    <a:bodyPr/>
                    <a:lstStyle/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>
                        <a:latin typeface="+mn-ea"/>
                        <a:ea typeface="+mn-ea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O </a:t>
                      </a:r>
                      <a:r>
                        <a:rPr lang="en-US" altLang="ko-KR" sz="1000" baseline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aseline="0">
                          <a:latin typeface="+mn-ea"/>
                          <a:ea typeface="+mn-ea"/>
                        </a:rPr>
                        <a:t>온라인</a:t>
                      </a:r>
                      <a:endParaRPr lang="en-US" altLang="ko-KR" sz="1000" baseline="0">
                        <a:latin typeface="+mn-ea"/>
                        <a:ea typeface="+mn-ea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aseline="0">
                          <a:latin typeface="+mn-ea"/>
                          <a:ea typeface="+mn-ea"/>
                        </a:rPr>
                        <a:t>B : </a:t>
                      </a:r>
                      <a:r>
                        <a:rPr lang="ko-KR" altLang="en-US" sz="1000" baseline="0">
                          <a:latin typeface="+mn-ea"/>
                          <a:ea typeface="+mn-ea"/>
                        </a:rPr>
                        <a:t>배치</a:t>
                      </a:r>
                      <a:endParaRPr lang="en-US" altLang="ko-KR" sz="1000" baseline="0">
                        <a:latin typeface="+mn-ea"/>
                        <a:ea typeface="+mn-ea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aseline="0">
                          <a:latin typeface="+mn-ea"/>
                          <a:ea typeface="+mn-ea"/>
                        </a:rPr>
                        <a:t>C : </a:t>
                      </a:r>
                      <a:r>
                        <a:rPr lang="ko-KR" altLang="en-US" sz="1000" baseline="0">
                          <a:latin typeface="+mn-ea"/>
                          <a:ea typeface="+mn-ea"/>
                        </a:rPr>
                        <a:t>센터컷</a:t>
                      </a:r>
                      <a:endParaRPr lang="en-US" altLang="ko-KR" sz="1000" baseline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 호스트명 끝 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 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대문자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>
                    <a:noFill/>
                  </a:tcPr>
                </a:tc>
                <a:tc>
                  <a:txBody>
                    <a:bodyPr/>
                    <a:lstStyle/>
                    <a:p>
                      <a:pPr marL="85725" lvl="1" indent="-85725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u="none" baseline="0" dirty="0"/>
                        <a:t>FW </a:t>
                      </a:r>
                      <a:r>
                        <a:rPr lang="ko-KR" altLang="en-US" sz="1000" u="none" baseline="0" dirty="0" err="1"/>
                        <a:t>채번</a:t>
                      </a:r>
                      <a:r>
                        <a:rPr lang="ko-KR" altLang="en-US" sz="1000" u="none" baseline="0" dirty="0"/>
                        <a:t> 일련번호</a:t>
                      </a:r>
                      <a:r>
                        <a:rPr lang="en-US" altLang="ko-KR" sz="1000" u="none" baseline="0" dirty="0"/>
                        <a:t>. 001 ~ ZZZ</a:t>
                      </a:r>
                    </a:p>
                    <a:p>
                      <a:pPr marL="85725" lvl="1" indent="-85725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u="none" baseline="0" dirty="0"/>
                        <a:t>JVM </a:t>
                      </a:r>
                      <a:r>
                        <a:rPr lang="ko-KR" altLang="en-US" sz="1000" u="none" baseline="0" dirty="0"/>
                        <a:t>프로세스 </a:t>
                      </a:r>
                      <a:r>
                        <a:rPr lang="ko-KR" altLang="en-US" sz="1000" u="none" baseline="0" dirty="0" err="1"/>
                        <a:t>기동시</a:t>
                      </a:r>
                      <a:r>
                        <a:rPr lang="ko-KR" altLang="en-US" sz="1000" u="none" baseline="0" dirty="0"/>
                        <a:t> </a:t>
                      </a:r>
                      <a:r>
                        <a:rPr lang="ko-KR" altLang="en-US" sz="1000" u="none" baseline="0" dirty="0" err="1"/>
                        <a:t>채번</a:t>
                      </a:r>
                      <a:endParaRPr lang="en-US" altLang="ko-KR" sz="1000" baseline="0" dirty="0"/>
                    </a:p>
                  </a:txBody>
                  <a:tcPr marL="36000" marR="36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963883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49382"/>
              </p:ext>
            </p:extLst>
          </p:nvPr>
        </p:nvGraphicFramePr>
        <p:xfrm>
          <a:off x="7343880" y="3573211"/>
          <a:ext cx="1389540" cy="1157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9540">
                  <a:extLst>
                    <a:ext uri="{9D8B030D-6E8A-4147-A177-3AD203B41FA5}">
                      <a16:colId xmlns:a16="http://schemas.microsoft.com/office/drawing/2014/main" val="3219950537"/>
                    </a:ext>
                  </a:extLst>
                </a:gridCol>
              </a:tblGrid>
              <a:tr h="21434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/>
                        <a:t>000 ~ 999</a:t>
                      </a:r>
                      <a:endParaRPr lang="ko-KR" altLang="en-US" sz="1000" b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347150"/>
                  </a:ext>
                </a:extLst>
              </a:tr>
              <a:tr h="913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cs typeface="Arial" pitchFamily="34" charset="0"/>
                        </a:rPr>
                        <a:t>메모리 카운터 이용하여 </a:t>
                      </a:r>
                      <a:r>
                        <a:rPr lang="en-US" altLang="ko-KR" sz="1000" b="0">
                          <a:cs typeface="Arial" pitchFamily="34" charset="0"/>
                        </a:rPr>
                        <a:t>JVM </a:t>
                      </a:r>
                      <a:r>
                        <a:rPr lang="ko-KR" altLang="en-US" sz="1000" b="0">
                          <a:cs typeface="Arial" pitchFamily="34" charset="0"/>
                        </a:rPr>
                        <a:t>내에서 </a:t>
                      </a:r>
                      <a:r>
                        <a:rPr lang="en-US" altLang="ko-KR" sz="1000" b="0">
                          <a:cs typeface="Arial" pitchFamily="34" charset="0"/>
                        </a:rPr>
                        <a:t>unique </a:t>
                      </a:r>
                      <a:r>
                        <a:rPr lang="ko-KR" altLang="en-US" sz="1000" b="0">
                          <a:cs typeface="Arial" pitchFamily="34" charset="0"/>
                        </a:rPr>
                        <a:t>유지</a:t>
                      </a:r>
                      <a:r>
                        <a:rPr lang="en-US" altLang="ko-KR" sz="1000" b="0">
                          <a:cs typeface="Arial" pitchFamily="34" charset="0"/>
                        </a:rPr>
                        <a:t>.</a:t>
                      </a:r>
                      <a:endParaRPr lang="ko-KR" altLang="en-US" sz="1000" b="0">
                        <a:cs typeface="Arial" pitchFamily="34" charset="0"/>
                      </a:endParaRPr>
                    </a:p>
                    <a:p>
                      <a:endParaRPr lang="ko-KR" altLang="en-US" sz="1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044326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127462"/>
              </p:ext>
            </p:extLst>
          </p:nvPr>
        </p:nvGraphicFramePr>
        <p:xfrm>
          <a:off x="2337725" y="5171645"/>
          <a:ext cx="6395695" cy="1123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371">
                  <a:extLst>
                    <a:ext uri="{9D8B030D-6E8A-4147-A177-3AD203B41FA5}">
                      <a16:colId xmlns:a16="http://schemas.microsoft.com/office/drawing/2014/main" val="3611268151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3154303153"/>
                    </a:ext>
                  </a:extLst>
                </a:gridCol>
              </a:tblGrid>
              <a:tr h="2165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온라인</a:t>
                      </a:r>
                    </a:p>
                  </a:txBody>
                  <a:tcPr marL="36000" marR="360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배치</a:t>
                      </a:r>
                    </a:p>
                  </a:txBody>
                  <a:tcPr marL="36000" marR="360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23056"/>
                  </a:ext>
                </a:extLst>
              </a:tr>
              <a:tr h="84909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- WAS </a:t>
                      </a:r>
                      <a:r>
                        <a:rPr lang="ko-KR" altLang="en-US" sz="1000">
                          <a:cs typeface="Arial" pitchFamily="34" charset="0"/>
                        </a:rPr>
                        <a:t>기동시 </a:t>
                      </a:r>
                      <a:r>
                        <a:rPr lang="en-US" altLang="ko-KR" sz="1000">
                          <a:cs typeface="Arial" pitchFamily="34" charset="0"/>
                        </a:rPr>
                        <a:t>000~999 </a:t>
                      </a:r>
                      <a:r>
                        <a:rPr lang="ko-KR" altLang="en-US" sz="1000">
                          <a:cs typeface="Arial" pitchFamily="34" charset="0"/>
                        </a:rPr>
                        <a:t>중</a:t>
                      </a:r>
                      <a:r>
                        <a:rPr lang="en-US" altLang="ko-KR" sz="1000">
                          <a:cs typeface="Arial" pitchFamily="34" charset="0"/>
                        </a:rPr>
                        <a:t> </a:t>
                      </a:r>
                      <a:r>
                        <a:rPr lang="ko-KR" altLang="en-US" sz="1000">
                          <a:cs typeface="Arial" pitchFamily="34" charset="0"/>
                        </a:rPr>
                        <a:t>임의의 번호 채번후</a:t>
                      </a:r>
                      <a:br>
                        <a:rPr lang="en-US" altLang="ko-KR" sz="1000">
                          <a:cs typeface="Arial" pitchFamily="34" charset="0"/>
                        </a:rPr>
                      </a:br>
                      <a:r>
                        <a:rPr lang="en-US" altLang="ko-KR" sz="1000">
                          <a:cs typeface="Arial" pitchFamily="34" charset="0"/>
                        </a:rPr>
                        <a:t>     NJFC_RUNTIME_NODE table WAS_VERSION </a:t>
                      </a:r>
                      <a:r>
                        <a:rPr lang="ko-KR" altLang="en-US" sz="1000">
                          <a:cs typeface="Arial" pitchFamily="34" charset="0"/>
                        </a:rPr>
                        <a:t>에 업데이트</a:t>
                      </a:r>
                      <a:endParaRPr lang="en-US" altLang="ko-KR" sz="1000">
                        <a:cs typeface="Arial" pitchFamily="34" charset="0"/>
                      </a:endParaRP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 - WAS </a:t>
                      </a:r>
                      <a:r>
                        <a:rPr lang="ko-KR" altLang="en-US" sz="1000">
                          <a:cs typeface="Arial" pitchFamily="34" charset="0"/>
                        </a:rPr>
                        <a:t>인스턴스간 중복되지 않도록 중복 채번 되면 다시 시도함</a:t>
                      </a:r>
                      <a:endParaRPr lang="en-US" altLang="ko-KR" sz="1000">
                        <a:latin typeface="+mn-ea"/>
                        <a:ea typeface="+mn-ea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>
                          <a:cs typeface="Arial" pitchFamily="34" charset="0"/>
                        </a:rPr>
                        <a:t>배치</a:t>
                      </a:r>
                      <a:r>
                        <a:rPr lang="en-US" altLang="ko-KR" sz="1000">
                          <a:cs typeface="Arial" pitchFamily="34" charset="0"/>
                        </a:rPr>
                        <a:t> JVM </a:t>
                      </a:r>
                      <a:r>
                        <a:rPr lang="ko-KR" altLang="en-US" sz="1000">
                          <a:cs typeface="Arial" pitchFamily="34" charset="0"/>
                        </a:rPr>
                        <a:t>기동시 </a:t>
                      </a:r>
                      <a:r>
                        <a:rPr lang="en-US" altLang="ko-KR" sz="1000">
                          <a:cs typeface="Arial" pitchFamily="34" charset="0"/>
                        </a:rPr>
                        <a:t>000-ZZZ (36</a:t>
                      </a:r>
                      <a:r>
                        <a:rPr lang="ko-KR" altLang="en-US" sz="1000">
                          <a:cs typeface="Arial" pitchFamily="34" charset="0"/>
                        </a:rPr>
                        <a:t>진수</a:t>
                      </a:r>
                      <a:r>
                        <a:rPr lang="en-US" altLang="ko-KR" sz="1000">
                          <a:cs typeface="Arial" pitchFamily="34" charset="0"/>
                        </a:rPr>
                        <a:t>) </a:t>
                      </a:r>
                      <a:r>
                        <a:rPr lang="ko-KR" altLang="en-US" sz="1000">
                          <a:cs typeface="Arial" pitchFamily="34" charset="0"/>
                        </a:rPr>
                        <a:t>채번후 </a:t>
                      </a:r>
                      <a:endParaRPr lang="en-US" altLang="ko-KR" sz="1000">
                        <a:cs typeface="Arial" pitchFamily="34" charset="0"/>
                      </a:endParaRP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    /fsfile/sqc/batch_seqno </a:t>
                      </a:r>
                      <a:r>
                        <a:rPr lang="ko-KR" altLang="en-US" sz="1000">
                          <a:cs typeface="Arial" pitchFamily="34" charset="0"/>
                        </a:rPr>
                        <a:t>디렉토리에 </a:t>
                      </a:r>
                      <a:endParaRPr lang="en-US" altLang="ko-KR" sz="1000">
                        <a:cs typeface="Arial" pitchFamily="34" charset="0"/>
                      </a:endParaRP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    </a:t>
                      </a:r>
                      <a:r>
                        <a:rPr lang="ko-KR" altLang="en-US" sz="1000" b="1" u="sng">
                          <a:cs typeface="Arial" pitchFamily="34" charset="0"/>
                        </a:rPr>
                        <a:t>호스트명</a:t>
                      </a:r>
                      <a:r>
                        <a:rPr lang="en-US" altLang="ko-KR" sz="1000" b="1" u="sng">
                          <a:cs typeface="Arial" pitchFamily="34" charset="0"/>
                        </a:rPr>
                        <a:t>_wasdomain_</a:t>
                      </a:r>
                      <a:r>
                        <a:rPr lang="ko-KR" altLang="en-US" sz="1000" b="1" u="sng">
                          <a:cs typeface="Arial" pitchFamily="34" charset="0"/>
                        </a:rPr>
                        <a:t>일련번호</a:t>
                      </a:r>
                      <a:r>
                        <a:rPr lang="en-US" altLang="ko-KR" sz="1000" b="1" u="sng">
                          <a:cs typeface="Arial" pitchFamily="34" charset="0"/>
                        </a:rPr>
                        <a:t>.lck</a:t>
                      </a:r>
                      <a:r>
                        <a:rPr lang="en-US" altLang="ko-KR" sz="1000">
                          <a:cs typeface="Arial" pitchFamily="34" charset="0"/>
                        </a:rPr>
                        <a:t> </a:t>
                      </a:r>
                      <a:r>
                        <a:rPr lang="ko-KR" altLang="en-US" sz="1000">
                          <a:cs typeface="Arial" pitchFamily="34" charset="0"/>
                        </a:rPr>
                        <a:t>파일 생성</a:t>
                      </a:r>
                      <a:endParaRPr lang="en-US" altLang="ko-KR" sz="1000">
                        <a:cs typeface="Arial" pitchFamily="34" charset="0"/>
                      </a:endParaRP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>
                          <a:cs typeface="Arial" pitchFamily="34" charset="0"/>
                        </a:rPr>
                        <a:t>동일 파일 존재할 경우 다시 채번하여</a:t>
                      </a:r>
                      <a:r>
                        <a:rPr lang="en-US" altLang="ko-KR" sz="1000">
                          <a:cs typeface="Arial" pitchFamily="34" charset="0"/>
                        </a:rPr>
                        <a:t>, 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ko-KR" sz="1000">
                          <a:cs typeface="Arial" pitchFamily="34" charset="0"/>
                        </a:rPr>
                        <a:t>     </a:t>
                      </a:r>
                      <a:r>
                        <a:rPr lang="ko-KR" altLang="en-US" sz="1000">
                          <a:cs typeface="Arial" pitchFamily="34" charset="0"/>
                        </a:rPr>
                        <a:t>중복 채번되지 않도록 함</a:t>
                      </a:r>
                      <a:endParaRPr lang="en-US" altLang="ko-KR" sz="1000" baseline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937847"/>
                  </a:ext>
                </a:extLst>
              </a:tr>
            </a:tbl>
          </a:graphicData>
        </a:graphic>
      </p:graphicFrame>
      <p:sp>
        <p:nvSpPr>
          <p:cNvPr id="20" name="자유형 19"/>
          <p:cNvSpPr/>
          <p:nvPr/>
        </p:nvSpPr>
        <p:spPr>
          <a:xfrm>
            <a:off x="2342894" y="4853371"/>
            <a:ext cx="6344824" cy="308747"/>
          </a:xfrm>
          <a:custGeom>
            <a:avLst/>
            <a:gdLst>
              <a:gd name="connsiteX0" fmla="*/ 0 w 5990601"/>
              <a:gd name="connsiteY0" fmla="*/ 358923 h 384561"/>
              <a:gd name="connsiteX1" fmla="*/ 2221906 w 5990601"/>
              <a:gd name="connsiteY1" fmla="*/ 0 h 384561"/>
              <a:gd name="connsiteX2" fmla="*/ 3913973 w 5990601"/>
              <a:gd name="connsiteY2" fmla="*/ 0 h 384561"/>
              <a:gd name="connsiteX3" fmla="*/ 5990601 w 5990601"/>
              <a:gd name="connsiteY3" fmla="*/ 384561 h 384561"/>
              <a:gd name="connsiteX0" fmla="*/ 0 w 6215113"/>
              <a:gd name="connsiteY0" fmla="*/ 376014 h 384561"/>
              <a:gd name="connsiteX1" fmla="*/ 2446418 w 6215113"/>
              <a:gd name="connsiteY1" fmla="*/ 0 h 384561"/>
              <a:gd name="connsiteX2" fmla="*/ 4138485 w 6215113"/>
              <a:gd name="connsiteY2" fmla="*/ 0 h 384561"/>
              <a:gd name="connsiteX3" fmla="*/ 6215113 w 6215113"/>
              <a:gd name="connsiteY3" fmla="*/ 384561 h 384561"/>
              <a:gd name="connsiteX0" fmla="*/ 0 w 6215113"/>
              <a:gd name="connsiteY0" fmla="*/ 386758 h 395305"/>
              <a:gd name="connsiteX1" fmla="*/ 3401275 w 6215113"/>
              <a:gd name="connsiteY1" fmla="*/ 0 h 395305"/>
              <a:gd name="connsiteX2" fmla="*/ 4138485 w 6215113"/>
              <a:gd name="connsiteY2" fmla="*/ 10744 h 395305"/>
              <a:gd name="connsiteX3" fmla="*/ 6215113 w 6215113"/>
              <a:gd name="connsiteY3" fmla="*/ 395305 h 395305"/>
              <a:gd name="connsiteX0" fmla="*/ 0 w 6215113"/>
              <a:gd name="connsiteY0" fmla="*/ 386758 h 395305"/>
              <a:gd name="connsiteX1" fmla="*/ 3401275 w 6215113"/>
              <a:gd name="connsiteY1" fmla="*/ 0 h 395305"/>
              <a:gd name="connsiteX2" fmla="*/ 4586338 w 6215113"/>
              <a:gd name="connsiteY2" fmla="*/ 10744 h 395305"/>
              <a:gd name="connsiteX3" fmla="*/ 6215113 w 6215113"/>
              <a:gd name="connsiteY3" fmla="*/ 395305 h 395305"/>
              <a:gd name="connsiteX0" fmla="*/ 0 w 6215113"/>
              <a:gd name="connsiteY0" fmla="*/ 376014 h 384561"/>
              <a:gd name="connsiteX1" fmla="*/ 3054823 w 6215113"/>
              <a:gd name="connsiteY1" fmla="*/ 10746 h 384561"/>
              <a:gd name="connsiteX2" fmla="*/ 4586338 w 6215113"/>
              <a:gd name="connsiteY2" fmla="*/ 0 h 384561"/>
              <a:gd name="connsiteX3" fmla="*/ 6215113 w 6215113"/>
              <a:gd name="connsiteY3" fmla="*/ 384561 h 384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5113" h="384561">
                <a:moveTo>
                  <a:pt x="0" y="376014"/>
                </a:moveTo>
                <a:lnTo>
                  <a:pt x="3054823" y="10746"/>
                </a:lnTo>
                <a:lnTo>
                  <a:pt x="4586338" y="0"/>
                </a:lnTo>
                <a:lnTo>
                  <a:pt x="6215113" y="384561"/>
                </a:ln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229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거래 복원 처리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 err="1"/>
              <a:t>책임자승인</a:t>
            </a:r>
            <a:r>
              <a:rPr lang="en-US" altLang="ko-KR" dirty="0"/>
              <a:t>, </a:t>
            </a:r>
            <a:r>
              <a:rPr lang="ko-KR" altLang="en-US" dirty="0" err="1"/>
              <a:t>취소거래</a:t>
            </a:r>
            <a:r>
              <a:rPr lang="ko-KR" altLang="en-US" dirty="0"/>
              <a:t> 등을 위해 </a:t>
            </a:r>
            <a:r>
              <a:rPr lang="ko-KR" altLang="en-US" dirty="0" err="1"/>
              <a:t>원전문의</a:t>
            </a:r>
            <a:r>
              <a:rPr lang="ko-KR" altLang="en-US" dirty="0"/>
              <a:t> </a:t>
            </a:r>
            <a:r>
              <a:rPr lang="ko-KR" altLang="en-US" dirty="0" err="1"/>
              <a:t>개별부</a:t>
            </a:r>
            <a:r>
              <a:rPr lang="ko-KR" altLang="en-US" dirty="0"/>
              <a:t> 정보를 </a:t>
            </a:r>
            <a:r>
              <a:rPr lang="en-US" altLang="ko-KR"/>
              <a:t>FW </a:t>
            </a:r>
            <a:r>
              <a:rPr lang="ko-KR" altLang="en-US"/>
              <a:t>전문</a:t>
            </a:r>
            <a:r>
              <a:rPr lang="en-US" altLang="ko-KR"/>
              <a:t>(</a:t>
            </a:r>
            <a:r>
              <a:rPr lang="ko-KR" altLang="en-US"/>
              <a:t>중계</a:t>
            </a:r>
            <a:r>
              <a:rPr lang="en-US" altLang="ko-KR"/>
              <a:t>)</a:t>
            </a:r>
            <a:r>
              <a:rPr lang="ko-KR" altLang="en-US"/>
              <a:t>로그 테이블에서 필요시 복원함</a:t>
            </a:r>
            <a:r>
              <a:rPr lang="en-US" altLang="ko-KR"/>
              <a:t>. </a:t>
            </a:r>
            <a:r>
              <a:rPr lang="ko-KR" altLang="en-US"/>
              <a:t>전문로그는 모든 거래의 </a:t>
            </a:r>
            <a:r>
              <a:rPr lang="en-US" altLang="ko-KR"/>
              <a:t>IQ (Inbound </a:t>
            </a:r>
            <a:r>
              <a:rPr lang="ko-KR" altLang="en-US"/>
              <a:t>요청</a:t>
            </a:r>
            <a:r>
              <a:rPr lang="en-US" altLang="ko-KR"/>
              <a:t>(Q)) </a:t>
            </a:r>
            <a:r>
              <a:rPr lang="ko-KR" altLang="en-US"/>
              <a:t>는 필수로 저장하고 있음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509671" y="1849528"/>
            <a:ext cx="802423" cy="207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394885" y="2048789"/>
            <a:ext cx="2658015" cy="2066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93572" y="1418887"/>
            <a:ext cx="1742886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3572" y="2051918"/>
            <a:ext cx="1742886" cy="20643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4412940" y="2625829"/>
            <a:ext cx="685346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PM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71426" y="1412776"/>
            <a:ext cx="268147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 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1563630" y="2183371"/>
            <a:ext cx="876462" cy="81038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전문</a:t>
            </a:r>
            <a:endParaRPr kumimoji="0" lang="en-US" altLang="ko-KR" sz="10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맑은 고딕" pitchFamily="50" charset="-127"/>
                <a:ea typeface="맑은 고딕" pitchFamily="50" charset="-127"/>
              </a:rPr>
              <a:t>핸들러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2850107" y="2183371"/>
            <a:ext cx="861579" cy="81038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맑은 고딕" pitchFamily="50" charset="-127"/>
                <a:ea typeface="맑은 고딕" pitchFamily="50" charset="-127"/>
              </a:rPr>
              <a:t>처리</a:t>
            </a:r>
            <a:r>
              <a:rPr lang="en-US" altLang="ko-KR" sz="1000" ker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kern="0">
                <a:latin typeface="맑은 고딕" pitchFamily="50" charset="-127"/>
                <a:ea typeface="맑은 고딕" pitchFamily="50" charset="-127"/>
              </a:rPr>
              <a:t>메인</a:t>
            </a:r>
            <a:endParaRPr lang="en-US" altLang="ko-KR" sz="10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Command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2850107" y="3226119"/>
            <a:ext cx="861579" cy="75279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서비스</a:t>
            </a:r>
            <a:endParaRPr kumimoji="0" lang="en-US" altLang="ko-KR" sz="10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>
                <a:latin typeface="맑은 고딕" pitchFamily="50" charset="-127"/>
                <a:ea typeface="맑은 고딕" pitchFamily="50" charset="-127"/>
              </a:rPr>
              <a:t>Façade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꺾인 연결선 4"/>
          <p:cNvCxnSpPr>
            <a:stCxn id="13" idx="2"/>
            <a:endCxn id="60" idx="1"/>
          </p:cNvCxnSpPr>
          <p:nvPr/>
        </p:nvCxnSpPr>
        <p:spPr>
          <a:xfrm rot="16200000" flipH="1">
            <a:off x="4724141" y="2919239"/>
            <a:ext cx="591100" cy="528156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25"/>
          <p:cNvSpPr txBox="1">
            <a:spLocks noChangeArrowheads="1"/>
          </p:cNvSpPr>
          <p:nvPr/>
        </p:nvSpPr>
        <p:spPr bwMode="auto">
          <a:xfrm>
            <a:off x="5283769" y="2625829"/>
            <a:ext cx="685346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FM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5283769" y="3347898"/>
            <a:ext cx="685346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DM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2" name="꺾인 연결선 61"/>
          <p:cNvCxnSpPr>
            <a:stCxn id="13" idx="3"/>
            <a:endCxn id="59" idx="1"/>
          </p:cNvCxnSpPr>
          <p:nvPr/>
        </p:nvCxnSpPr>
        <p:spPr>
          <a:xfrm>
            <a:off x="5098286" y="2756798"/>
            <a:ext cx="185483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1"/>
          <p:cNvCxnSpPr>
            <a:stCxn id="59" idx="2"/>
            <a:endCxn id="60" idx="0"/>
          </p:cNvCxnSpPr>
          <p:nvPr/>
        </p:nvCxnSpPr>
        <p:spPr>
          <a:xfrm>
            <a:off x="5626442" y="2887767"/>
            <a:ext cx="0" cy="460131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43"/>
          <p:cNvSpPr>
            <a:spLocks noChangeArrowheads="1"/>
          </p:cNvSpPr>
          <p:nvPr/>
        </p:nvSpPr>
        <p:spPr bwMode="auto">
          <a:xfrm>
            <a:off x="838280" y="4285724"/>
            <a:ext cx="5198178" cy="624588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파일</a:t>
            </a:r>
          </a:p>
        </p:txBody>
      </p:sp>
      <p:sp>
        <p:nvSpPr>
          <p:cNvPr id="68" name="AutoShape 51"/>
          <p:cNvSpPr>
            <a:spLocks noChangeArrowheads="1"/>
          </p:cNvSpPr>
          <p:nvPr/>
        </p:nvSpPr>
        <p:spPr bwMode="auto">
          <a:xfrm>
            <a:off x="2933403" y="5046594"/>
            <a:ext cx="687449" cy="279568"/>
          </a:xfrm>
          <a:prstGeom prst="flowChartMagneticDisk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72000" tIns="36000" rIns="72000" bIns="36000" anchor="ctr"/>
          <a:lstStyle/>
          <a:p>
            <a:pPr algn="ctr" eaLnBrk="0" hangingPunct="0">
              <a:buFont typeface="Wingdings" panose="05000000000000000000" pitchFamily="2" charset="2"/>
              <a:buNone/>
            </a:pPr>
            <a:r>
              <a:rPr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거래로그</a:t>
            </a:r>
            <a:endParaRPr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5350436" y="5262562"/>
            <a:ext cx="718688" cy="716586"/>
            <a:chOff x="2182573" y="1435459"/>
            <a:chExt cx="718688" cy="716586"/>
          </a:xfrm>
        </p:grpSpPr>
        <p:pic>
          <p:nvPicPr>
            <p:cNvPr id="70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32948" y="1435459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직사각형 70"/>
            <p:cNvSpPr/>
            <p:nvPr/>
          </p:nvSpPr>
          <p:spPr>
            <a:xfrm>
              <a:off x="2182573" y="1972813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FW </a:t>
              </a: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관리콘솔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74" name="꺾인 연결선 73"/>
          <p:cNvCxnSpPr>
            <a:stCxn id="57" idx="3"/>
            <a:endCxn id="13" idx="1"/>
          </p:cNvCxnSpPr>
          <p:nvPr/>
        </p:nvCxnSpPr>
        <p:spPr>
          <a:xfrm flipV="1">
            <a:off x="3711686" y="2756798"/>
            <a:ext cx="701254" cy="845720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61"/>
          <p:cNvCxnSpPr>
            <a:stCxn id="56" idx="2"/>
            <a:endCxn id="57" idx="0"/>
          </p:cNvCxnSpPr>
          <p:nvPr/>
        </p:nvCxnSpPr>
        <p:spPr>
          <a:xfrm>
            <a:off x="3280897" y="2993755"/>
            <a:ext cx="0" cy="232364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61"/>
          <p:cNvCxnSpPr>
            <a:stCxn id="23" idx="3"/>
            <a:endCxn id="56" idx="1"/>
          </p:cNvCxnSpPr>
          <p:nvPr/>
        </p:nvCxnSpPr>
        <p:spPr>
          <a:xfrm>
            <a:off x="2440092" y="2588563"/>
            <a:ext cx="41001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AutoShape 51"/>
          <p:cNvSpPr>
            <a:spLocks noChangeArrowheads="1"/>
          </p:cNvSpPr>
          <p:nvPr/>
        </p:nvSpPr>
        <p:spPr bwMode="auto">
          <a:xfrm>
            <a:off x="2930774" y="5648460"/>
            <a:ext cx="687449" cy="504000"/>
          </a:xfrm>
          <a:prstGeom prst="flowChartMagneticDisk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algn="ctr" eaLnBrk="0" hangingPunct="0">
              <a:buFont typeface="Wingdings" panose="05000000000000000000" pitchFamily="2" charset="2"/>
              <a:buNone/>
            </a:pPr>
            <a:r>
              <a:rPr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전문로그</a:t>
            </a:r>
            <a:endParaRPr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sp>
        <p:nvSpPr>
          <p:cNvPr id="85" name="AutoShape 47"/>
          <p:cNvSpPr>
            <a:spLocks noChangeArrowheads="1"/>
          </p:cNvSpPr>
          <p:nvPr/>
        </p:nvSpPr>
        <p:spPr bwMode="auto">
          <a:xfrm>
            <a:off x="4376936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업무로그</a:t>
            </a:r>
          </a:p>
        </p:txBody>
      </p:sp>
      <p:sp>
        <p:nvSpPr>
          <p:cNvPr id="86" name="AutoShape 47"/>
          <p:cNvSpPr>
            <a:spLocks noChangeArrowheads="1"/>
          </p:cNvSpPr>
          <p:nvPr/>
        </p:nvSpPr>
        <p:spPr bwMode="auto">
          <a:xfrm>
            <a:off x="3367554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에러로그</a:t>
            </a:r>
          </a:p>
        </p:txBody>
      </p:sp>
      <p:sp>
        <p:nvSpPr>
          <p:cNvPr id="87" name="AutoShape 47"/>
          <p:cNvSpPr>
            <a:spLocks noChangeArrowheads="1"/>
          </p:cNvSpPr>
          <p:nvPr/>
        </p:nvSpPr>
        <p:spPr bwMode="auto">
          <a:xfrm>
            <a:off x="2504728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F/W</a:t>
            </a:r>
          </a:p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로그</a:t>
            </a:r>
          </a:p>
        </p:txBody>
      </p:sp>
      <p:sp>
        <p:nvSpPr>
          <p:cNvPr id="88" name="AutoShape 47"/>
          <p:cNvSpPr>
            <a:spLocks noChangeArrowheads="1"/>
          </p:cNvSpPr>
          <p:nvPr/>
        </p:nvSpPr>
        <p:spPr bwMode="auto">
          <a:xfrm>
            <a:off x="1659188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중계로그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236538" y="1412776"/>
            <a:ext cx="86403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채널통합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50825" y="2048789"/>
            <a:ext cx="849748" cy="2066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 Box 25"/>
          <p:cNvSpPr txBox="1">
            <a:spLocks noChangeArrowheads="1"/>
          </p:cNvSpPr>
          <p:nvPr/>
        </p:nvSpPr>
        <p:spPr bwMode="auto">
          <a:xfrm>
            <a:off x="315828" y="2183371"/>
            <a:ext cx="716574" cy="81038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MCI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6" name="꺾인 연결선 61"/>
          <p:cNvCxnSpPr>
            <a:stCxn id="23" idx="2"/>
            <a:endCxn id="88" idx="0"/>
          </p:cNvCxnSpPr>
          <p:nvPr/>
        </p:nvCxnSpPr>
        <p:spPr>
          <a:xfrm>
            <a:off x="2001861" y="2993755"/>
            <a:ext cx="0" cy="1523201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61"/>
          <p:cNvCxnSpPr>
            <a:stCxn id="88" idx="2"/>
            <a:endCxn id="84" idx="2"/>
          </p:cNvCxnSpPr>
          <p:nvPr/>
        </p:nvCxnSpPr>
        <p:spPr>
          <a:xfrm rot="16200000" flipH="1">
            <a:off x="1935631" y="4905317"/>
            <a:ext cx="1061372" cy="928913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61"/>
          <p:cNvCxnSpPr>
            <a:stCxn id="57" idx="2"/>
            <a:endCxn id="87" idx="0"/>
          </p:cNvCxnSpPr>
          <p:nvPr/>
        </p:nvCxnSpPr>
        <p:spPr>
          <a:xfrm flipH="1">
            <a:off x="2847401" y="3978917"/>
            <a:ext cx="433496" cy="538039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1"/>
          <p:cNvCxnSpPr>
            <a:stCxn id="57" idx="2"/>
            <a:endCxn id="86" idx="0"/>
          </p:cNvCxnSpPr>
          <p:nvPr/>
        </p:nvCxnSpPr>
        <p:spPr>
          <a:xfrm>
            <a:off x="3280897" y="3978917"/>
            <a:ext cx="429330" cy="538039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61"/>
          <p:cNvCxnSpPr>
            <a:endCxn id="68" idx="1"/>
          </p:cNvCxnSpPr>
          <p:nvPr/>
        </p:nvCxnSpPr>
        <p:spPr>
          <a:xfrm flipH="1">
            <a:off x="3277128" y="4060506"/>
            <a:ext cx="3770" cy="986088"/>
          </a:xfrm>
          <a:prstGeom prst="straightConnector1">
            <a:avLst/>
          </a:prstGeom>
          <a:ln w="19050" cap="flat">
            <a:solidFill>
              <a:srgbClr val="FFC000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AutoShape 43"/>
          <p:cNvSpPr>
            <a:spLocks noChangeArrowheads="1"/>
          </p:cNvSpPr>
          <p:nvPr/>
        </p:nvSpPr>
        <p:spPr bwMode="auto">
          <a:xfrm>
            <a:off x="2809301" y="4981037"/>
            <a:ext cx="903552" cy="1386766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ko-KR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DB</a:t>
            </a:r>
            <a:endParaRPr lang="ko-KR" altLang="en-US"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cxnSp>
        <p:nvCxnSpPr>
          <p:cNvPr id="143" name="꺾인 연결선 61"/>
          <p:cNvCxnSpPr>
            <a:endCxn id="85" idx="0"/>
          </p:cNvCxnSpPr>
          <p:nvPr/>
        </p:nvCxnSpPr>
        <p:spPr>
          <a:xfrm rot="16200000" flipH="1">
            <a:off x="3863333" y="3660679"/>
            <a:ext cx="1629189" cy="83364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61"/>
          <p:cNvCxnSpPr>
            <a:stCxn id="114" idx="3"/>
            <a:endCxn id="23" idx="1"/>
          </p:cNvCxnSpPr>
          <p:nvPr/>
        </p:nvCxnSpPr>
        <p:spPr>
          <a:xfrm>
            <a:off x="1032402" y="2588563"/>
            <a:ext cx="531228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AutoShape 51"/>
          <p:cNvSpPr>
            <a:spLocks noChangeArrowheads="1"/>
          </p:cNvSpPr>
          <p:nvPr/>
        </p:nvSpPr>
        <p:spPr bwMode="auto">
          <a:xfrm>
            <a:off x="2933403" y="5371045"/>
            <a:ext cx="687449" cy="279568"/>
          </a:xfrm>
          <a:prstGeom prst="flowChartMagneticDisk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72000" tIns="36000" rIns="72000" bIns="36000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buFont typeface="Wingdings" panose="05000000000000000000" pitchFamily="2" charset="2"/>
              <a:buNone/>
            </a:pPr>
            <a:r>
              <a:rPr kumimoji="0"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에러로그</a:t>
            </a:r>
            <a:endParaRPr kumimoji="0"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graphicFrame>
        <p:nvGraphicFramePr>
          <p:cNvPr id="147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8496"/>
              </p:ext>
            </p:extLst>
          </p:nvPr>
        </p:nvGraphicFramePr>
        <p:xfrm>
          <a:off x="6226060" y="1418887"/>
          <a:ext cx="3443404" cy="3681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91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로그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중계로그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전문로그</a:t>
                      </a:r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DB)</a:t>
                      </a:r>
                      <a:endParaRPr lang="en-US" altLang="ko-KR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MCI, EAI, FW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간 연계시 거래 요청 및 응답시 전문 기록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정상분</a:t>
                      </a:r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DB)</a:t>
                      </a:r>
                      <a:endParaRPr lang="ko-KR" altLang="en-US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된 어플리케이션의 거래 정상 처리 결과 기록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,CommonArea)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운영에서는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 감소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  <a:tr h="3931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에러로그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에러</a:t>
                      </a:r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1" kern="120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DB)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중인 어플리케이션의 에러 정보 기록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(DB)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22269"/>
                  </a:ext>
                </a:extLst>
              </a:tr>
              <a:tr h="5405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내부 필요 데이터를 고유한 방식으로 기록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fwk-yyyymmdd.log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파일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92033"/>
                  </a:ext>
                </a:extLst>
              </a:tr>
              <a:tr h="70763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 파일 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업무에서 발생하는 에러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Exception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대해 하나의 파일에 기록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service-error-yyyymmdd.log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운영에서는 기록하지 않음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128559"/>
                  </a:ext>
                </a:extLst>
              </a:tr>
              <a:tr h="3931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(USER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로그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남긴 로그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파일에 기록됨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문 기록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로그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파일에 포함되어 기록됨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DEBUG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레벨일 경우만 기록됨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637209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116" y="5129104"/>
            <a:ext cx="1439787" cy="886259"/>
          </a:xfrm>
          <a:prstGeom prst="rect">
            <a:avLst/>
          </a:prstGeom>
        </p:spPr>
      </p:pic>
      <p:cxnSp>
        <p:nvCxnSpPr>
          <p:cNvPr id="53" name="꺾인 연결선 52"/>
          <p:cNvCxnSpPr>
            <a:stCxn id="68" idx="4"/>
            <a:endCxn id="4" idx="1"/>
          </p:cNvCxnSpPr>
          <p:nvPr/>
        </p:nvCxnSpPr>
        <p:spPr>
          <a:xfrm>
            <a:off x="3620852" y="5186378"/>
            <a:ext cx="361264" cy="385856"/>
          </a:xfrm>
          <a:prstGeom prst="bentConnector3">
            <a:avLst>
              <a:gd name="adj1" fmla="val 50000"/>
            </a:avLst>
          </a:prstGeom>
          <a:ln w="9525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146" idx="4"/>
            <a:endCxn id="4" idx="1"/>
          </p:cNvCxnSpPr>
          <p:nvPr/>
        </p:nvCxnSpPr>
        <p:spPr>
          <a:xfrm>
            <a:off x="3620852" y="5510829"/>
            <a:ext cx="361264" cy="61405"/>
          </a:xfrm>
          <a:prstGeom prst="bentConnector3">
            <a:avLst>
              <a:gd name="adj1" fmla="val 50000"/>
            </a:avLst>
          </a:prstGeom>
          <a:ln w="9525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84" idx="4"/>
            <a:endCxn id="4" idx="1"/>
          </p:cNvCxnSpPr>
          <p:nvPr/>
        </p:nvCxnSpPr>
        <p:spPr>
          <a:xfrm flipV="1">
            <a:off x="3618223" y="5572234"/>
            <a:ext cx="363893" cy="328226"/>
          </a:xfrm>
          <a:prstGeom prst="bentConnector3">
            <a:avLst>
              <a:gd name="adj1" fmla="val 52371"/>
            </a:avLst>
          </a:prstGeom>
          <a:ln w="9525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2847401" y="3786398"/>
            <a:ext cx="865452" cy="1925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시스템후처리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847401" y="3225141"/>
            <a:ext cx="865452" cy="1925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시스템전처리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6226060" y="5371045"/>
            <a:ext cx="3443403" cy="996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1050" b="1">
                <a:solidFill>
                  <a:schemeClr val="tx1"/>
                </a:solidFill>
                <a:latin typeface="+mn-ea"/>
                <a:cs typeface="Arial" pitchFamily="34" charset="0"/>
              </a:rPr>
              <a:t>[</a:t>
            </a:r>
            <a:r>
              <a:rPr lang="ko-KR" altLang="en-US" sz="1050" b="1">
                <a:solidFill>
                  <a:schemeClr val="tx1"/>
                </a:solidFill>
                <a:latin typeface="+mn-ea"/>
                <a:cs typeface="Arial" pitchFamily="34" charset="0"/>
              </a:rPr>
              <a:t>거래로그 복원</a:t>
            </a:r>
            <a:r>
              <a:rPr lang="en-US" altLang="ko-KR" sz="1050" b="1">
                <a:solidFill>
                  <a:schemeClr val="tx1"/>
                </a:solidFill>
                <a:latin typeface="+mn-ea"/>
                <a:cs typeface="Arial" pitchFamily="34" charset="0"/>
              </a:rPr>
              <a:t>]</a:t>
            </a: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책임자승인 및 취소거래 등에서 필요시 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FW</a:t>
            </a: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에서 전문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로그 테이블에 저장된 원전문 개별부를 복원하여 업무 서비스 호출</a:t>
            </a:r>
            <a:endParaRPr lang="en-US" altLang="ko-KR" sz="105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2" name="AutoShape 47"/>
          <p:cNvSpPr>
            <a:spLocks noChangeArrowheads="1"/>
          </p:cNvSpPr>
          <p:nvPr/>
        </p:nvSpPr>
        <p:spPr bwMode="auto">
          <a:xfrm>
            <a:off x="5205028" y="4515104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SQL</a:t>
            </a:r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로그</a:t>
            </a:r>
          </a:p>
        </p:txBody>
      </p:sp>
      <p:cxnSp>
        <p:nvCxnSpPr>
          <p:cNvPr id="75" name="꺾인 연결선 61"/>
          <p:cNvCxnSpPr>
            <a:stCxn id="60" idx="2"/>
            <a:endCxn id="72" idx="0"/>
          </p:cNvCxnSpPr>
          <p:nvPr/>
        </p:nvCxnSpPr>
        <p:spPr>
          <a:xfrm rot="5400000">
            <a:off x="5134438" y="4023100"/>
            <a:ext cx="905268" cy="78741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585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916248" y="2197824"/>
            <a:ext cx="1294880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Text Box 25"/>
          <p:cNvSpPr txBox="1">
            <a:spLocks noChangeArrowheads="1"/>
          </p:cNvSpPr>
          <p:nvPr/>
        </p:nvSpPr>
        <p:spPr bwMode="auto">
          <a:xfrm>
            <a:off x="3059449" y="4417087"/>
            <a:ext cx="1038980" cy="1243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n-KESA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499" y="2200989"/>
            <a:ext cx="864000" cy="37122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051" y="2197824"/>
            <a:ext cx="781577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15818" y="2200989"/>
            <a:ext cx="864000" cy="37122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77158" y="2197824"/>
            <a:ext cx="859035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38389" y="2197824"/>
            <a:ext cx="781577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책임자 승인 거래 처리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책임자승인 요건 발생시 최초 거래는 롤백후 책임자승인 관련 정보를 전문 헤더에 담아 리턴하고</a:t>
            </a:r>
            <a:r>
              <a:rPr lang="en-US" altLang="ko-KR"/>
              <a:t>, </a:t>
            </a:r>
            <a:r>
              <a:rPr lang="ko-KR" altLang="en-US"/>
              <a:t>승인 완료 후 거래가 올라오면 원거래의 개별부를 복원하여 호출함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267653" y="1601550"/>
            <a:ext cx="1801375" cy="172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kumimoji="0"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4394144" y="2312876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 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규칙확인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898135" y="1595438"/>
            <a:ext cx="129614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 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993225" y="2312876"/>
            <a:ext cx="1105204" cy="118807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n-KESA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5294355" y="2312876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사유판단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" name="꺾인 연결선 61"/>
          <p:cNvCxnSpPr>
            <a:stCxn id="14" idx="3"/>
            <a:endCxn id="20" idx="1"/>
          </p:cNvCxnSpPr>
          <p:nvPr/>
        </p:nvCxnSpPr>
        <p:spPr>
          <a:xfrm>
            <a:off x="5079490" y="2564876"/>
            <a:ext cx="21486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endCxn id="14" idx="1"/>
          </p:cNvCxnSpPr>
          <p:nvPr/>
        </p:nvCxnSpPr>
        <p:spPr>
          <a:xfrm>
            <a:off x="4098429" y="2564876"/>
            <a:ext cx="29571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61"/>
          <p:cNvCxnSpPr>
            <a:stCxn id="49" idx="3"/>
          </p:cNvCxnSpPr>
          <p:nvPr/>
        </p:nvCxnSpPr>
        <p:spPr>
          <a:xfrm>
            <a:off x="1879444" y="2564876"/>
            <a:ext cx="1113781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960727" y="1595438"/>
            <a:ext cx="86403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채널통합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Layer(MCI)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267653" y="1850579"/>
            <a:ext cx="864000" cy="172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업무프로그램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205028" y="1850579"/>
            <a:ext cx="864000" cy="172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전행공통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50825" y="1595439"/>
            <a:ext cx="1636528" cy="1790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</a:t>
            </a: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50825" y="1850580"/>
            <a:ext cx="781577" cy="1844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책임자단말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105776" y="1850580"/>
            <a:ext cx="781577" cy="1844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사용자단말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4394144" y="299695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거래종료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처리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2087877" y="299695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승인메시지사유조립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1194098" y="299695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등록책임자 </a:t>
            </a: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List</a:t>
            </a: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조회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(MCI)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1194098" y="2312876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거래요청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승인전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1194098" y="393509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승인요청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(1,2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차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312237" y="393509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책임자승인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(1,2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차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1194098" y="4514324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거래요청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승인후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4412940" y="4514324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 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규칙확인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5283769" y="4514324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사유판단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4412940" y="5157248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거래종료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처리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1194098" y="5157248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거래완료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1" name="꺾인 연결선 23"/>
          <p:cNvCxnSpPr>
            <a:stCxn id="14" idx="2"/>
            <a:endCxn id="45" idx="0"/>
          </p:cNvCxnSpPr>
          <p:nvPr/>
        </p:nvCxnSpPr>
        <p:spPr>
          <a:xfrm>
            <a:off x="4736817" y="2816876"/>
            <a:ext cx="0" cy="180076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23"/>
          <p:cNvCxnSpPr>
            <a:stCxn id="45" idx="1"/>
          </p:cNvCxnSpPr>
          <p:nvPr/>
        </p:nvCxnSpPr>
        <p:spPr>
          <a:xfrm flipH="1" flipV="1">
            <a:off x="4098429" y="3248925"/>
            <a:ext cx="295715" cy="27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23"/>
          <p:cNvCxnSpPr>
            <a:endCxn id="47" idx="3"/>
          </p:cNvCxnSpPr>
          <p:nvPr/>
        </p:nvCxnSpPr>
        <p:spPr>
          <a:xfrm flipH="1">
            <a:off x="2773223" y="3248952"/>
            <a:ext cx="220002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23"/>
          <p:cNvCxnSpPr>
            <a:stCxn id="47" idx="1"/>
            <a:endCxn id="48" idx="3"/>
          </p:cNvCxnSpPr>
          <p:nvPr/>
        </p:nvCxnSpPr>
        <p:spPr>
          <a:xfrm flipH="1">
            <a:off x="1879444" y="3248952"/>
            <a:ext cx="208433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2087877" y="3642520"/>
            <a:ext cx="685346" cy="32537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등록책임자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List</a:t>
            </a: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전달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5" name="꺾인 연결선 23"/>
          <p:cNvCxnSpPr>
            <a:stCxn id="48" idx="2"/>
            <a:endCxn id="84" idx="1"/>
          </p:cNvCxnSpPr>
          <p:nvPr/>
        </p:nvCxnSpPr>
        <p:spPr>
          <a:xfrm rot="16200000" flipH="1">
            <a:off x="1660197" y="3377526"/>
            <a:ext cx="304254" cy="551106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23"/>
          <p:cNvCxnSpPr>
            <a:endCxn id="50" idx="3"/>
          </p:cNvCxnSpPr>
          <p:nvPr/>
        </p:nvCxnSpPr>
        <p:spPr>
          <a:xfrm rot="5400000">
            <a:off x="2063399" y="3819940"/>
            <a:ext cx="183197" cy="551106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23"/>
          <p:cNvCxnSpPr>
            <a:stCxn id="50" idx="1"/>
            <a:endCxn id="51" idx="3"/>
          </p:cNvCxnSpPr>
          <p:nvPr/>
        </p:nvCxnSpPr>
        <p:spPr>
          <a:xfrm flipH="1">
            <a:off x="997583" y="4187092"/>
            <a:ext cx="19651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23"/>
          <p:cNvCxnSpPr>
            <a:stCxn id="51" idx="2"/>
            <a:endCxn id="52" idx="1"/>
          </p:cNvCxnSpPr>
          <p:nvPr/>
        </p:nvCxnSpPr>
        <p:spPr>
          <a:xfrm rot="16200000" flipH="1">
            <a:off x="760888" y="4333114"/>
            <a:ext cx="327232" cy="539188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23"/>
          <p:cNvCxnSpPr>
            <a:stCxn id="52" idx="3"/>
          </p:cNvCxnSpPr>
          <p:nvPr/>
        </p:nvCxnSpPr>
        <p:spPr>
          <a:xfrm>
            <a:off x="1879444" y="4766324"/>
            <a:ext cx="118000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타원 99"/>
          <p:cNvSpPr/>
          <p:nvPr/>
        </p:nvSpPr>
        <p:spPr>
          <a:xfrm>
            <a:off x="3080792" y="3058612"/>
            <a:ext cx="805166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승인전거래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Rollback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3080792" y="2492896"/>
            <a:ext cx="805166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전문로그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적재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(IQ)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3116068" y="4690042"/>
            <a:ext cx="916354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원거래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개별부 복원</a:t>
            </a:r>
          </a:p>
        </p:txBody>
      </p:sp>
      <p:sp>
        <p:nvSpPr>
          <p:cNvPr id="108" name="타원 107"/>
          <p:cNvSpPr/>
          <p:nvPr/>
        </p:nvSpPr>
        <p:spPr>
          <a:xfrm>
            <a:off x="3116068" y="5217362"/>
            <a:ext cx="916354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승인후거래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Commit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81026" y="6057292"/>
            <a:ext cx="2323822" cy="377463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 flipV="1">
            <a:off x="345123" y="6156012"/>
            <a:ext cx="612000" cy="1"/>
          </a:xfrm>
          <a:prstGeom prst="straightConnector1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66980" y="6066913"/>
            <a:ext cx="1637867" cy="21812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50" dirty="0">
                <a:cs typeface="Arial" pitchFamily="34" charset="0"/>
              </a:rPr>
              <a:t>책임자 승인 요청</a:t>
            </a:r>
          </a:p>
        </p:txBody>
      </p:sp>
      <p:cxnSp>
        <p:nvCxnSpPr>
          <p:cNvPr id="113" name="직선 화살표 연결선 112"/>
          <p:cNvCxnSpPr/>
          <p:nvPr/>
        </p:nvCxnSpPr>
        <p:spPr>
          <a:xfrm flipV="1">
            <a:off x="345123" y="6336031"/>
            <a:ext cx="612000" cy="1"/>
          </a:xfrm>
          <a:prstGeom prst="straightConnector1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66980" y="6246932"/>
            <a:ext cx="1637867" cy="21812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50" dirty="0">
                <a:cs typeface="Arial" pitchFamily="34" charset="0"/>
              </a:rPr>
              <a:t>책임자 승인 후 재 거래 요청</a:t>
            </a:r>
          </a:p>
        </p:txBody>
      </p:sp>
      <p:cxnSp>
        <p:nvCxnSpPr>
          <p:cNvPr id="115" name="꺾인 연결선 23"/>
          <p:cNvCxnSpPr>
            <a:endCxn id="56" idx="1"/>
          </p:cNvCxnSpPr>
          <p:nvPr/>
        </p:nvCxnSpPr>
        <p:spPr>
          <a:xfrm>
            <a:off x="4089041" y="4763708"/>
            <a:ext cx="323899" cy="2616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23"/>
          <p:cNvCxnSpPr>
            <a:stCxn id="56" idx="3"/>
            <a:endCxn id="57" idx="1"/>
          </p:cNvCxnSpPr>
          <p:nvPr/>
        </p:nvCxnSpPr>
        <p:spPr>
          <a:xfrm>
            <a:off x="5098286" y="4766324"/>
            <a:ext cx="185483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23"/>
          <p:cNvCxnSpPr>
            <a:stCxn id="56" idx="2"/>
            <a:endCxn id="58" idx="0"/>
          </p:cNvCxnSpPr>
          <p:nvPr/>
        </p:nvCxnSpPr>
        <p:spPr>
          <a:xfrm>
            <a:off x="4755613" y="5018324"/>
            <a:ext cx="0" cy="138924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23"/>
          <p:cNvCxnSpPr>
            <a:stCxn id="58" idx="1"/>
          </p:cNvCxnSpPr>
          <p:nvPr/>
        </p:nvCxnSpPr>
        <p:spPr>
          <a:xfrm flipH="1">
            <a:off x="4098429" y="5409248"/>
            <a:ext cx="314511" cy="6102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23"/>
          <p:cNvCxnSpPr>
            <a:endCxn id="60" idx="3"/>
          </p:cNvCxnSpPr>
          <p:nvPr/>
        </p:nvCxnSpPr>
        <p:spPr>
          <a:xfrm flipH="1" flipV="1">
            <a:off x="1879444" y="5409248"/>
            <a:ext cx="1171810" cy="6102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utoShape 51"/>
          <p:cNvSpPr>
            <a:spLocks noChangeArrowheads="1"/>
          </p:cNvSpPr>
          <p:nvPr/>
        </p:nvSpPr>
        <p:spPr bwMode="auto">
          <a:xfrm>
            <a:off x="3230520" y="3789040"/>
            <a:ext cx="687449" cy="279568"/>
          </a:xfrm>
          <a:prstGeom prst="flowChartMagneticDisk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lIns="72000" tIns="36000" rIns="72000" bIns="36000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buFont typeface="Wingdings" panose="05000000000000000000" pitchFamily="2" charset="2"/>
              <a:buNone/>
            </a:pPr>
            <a:r>
              <a:rPr kumimoji="0"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전문로그</a:t>
            </a:r>
            <a:endParaRPr kumimoji="0"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cxnSp>
        <p:nvCxnSpPr>
          <p:cNvPr id="133" name="직선 화살표 연결선 132"/>
          <p:cNvCxnSpPr>
            <a:stCxn id="101" idx="6"/>
            <a:endCxn id="132" idx="1"/>
          </p:cNvCxnSpPr>
          <p:nvPr/>
        </p:nvCxnSpPr>
        <p:spPr>
          <a:xfrm flipH="1">
            <a:off x="3574245" y="2660088"/>
            <a:ext cx="311713" cy="1128952"/>
          </a:xfrm>
          <a:prstGeom prst="curvedConnector4">
            <a:avLst>
              <a:gd name="adj1" fmla="val -48430"/>
              <a:gd name="adj2" fmla="val 80328"/>
            </a:avLst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/>
          <p:cNvCxnSpPr>
            <a:stCxn id="132" idx="3"/>
            <a:endCxn id="107" idx="0"/>
          </p:cNvCxnSpPr>
          <p:nvPr/>
        </p:nvCxnSpPr>
        <p:spPr>
          <a:xfrm>
            <a:off x="3574245" y="4068608"/>
            <a:ext cx="0" cy="621434"/>
          </a:xfrm>
          <a:prstGeom prst="straightConnector1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02119"/>
              </p:ext>
            </p:extLst>
          </p:nvPr>
        </p:nvGraphicFramePr>
        <p:xfrm>
          <a:off x="6226060" y="1601548"/>
          <a:ext cx="3443404" cy="431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25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거래 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거래처리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 전 거래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업무프로그램에서 승인전 거래시 전행공통을 통해 책임자승인사유 조건을 판단하고 해당 책임자 승인 사유코드를 결정하여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 Area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승인완료구분코드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“1” 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승인요청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책임자승인구분코드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책임자승인사유코드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[10]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에선 거래 응답시 승인요청건이면 승인전 거래를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Rollback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처리하며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해당 거래 개별부를 거래로그에 적재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 후 거래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에선 책임자 승인 후 거래 요청 수신시 원거래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의해 전문로그를 통해 원거래 전문 개별부 복원 후 거래를 호출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 승인 후 거래 종료시 책임자 승인 정합성 검증 후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Commit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의한 승인전 사유코드와 승인후 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사유코드를 비교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620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취소 거래 </a:t>
            </a:r>
            <a:r>
              <a:rPr lang="ko-KR" altLang="en-US"/>
              <a:t>처리 방안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81000" y="1862279"/>
            <a:ext cx="2781924" cy="902345"/>
          </a:xfrm>
          <a:prstGeom prst="roundRect">
            <a:avLst>
              <a:gd name="adj" fmla="val 8360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400" dirty="0">
              <a:solidFill>
                <a:schemeClr val="tx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73866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“(1)</a:t>
            </a:r>
            <a:r>
              <a:rPr lang="ko-KR" altLang="en-US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 단말 저널로 취소 </a:t>
            </a: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(</a:t>
            </a:r>
            <a:r>
              <a:rPr lang="ko-KR" altLang="en-US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기본</a:t>
            </a: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)”</a:t>
            </a:r>
            <a:r>
              <a:rPr lang="ko-KR" altLang="en-US">
                <a:latin typeface="+mn-ea"/>
              </a:rPr>
              <a:t>는 단말 조작자가 단말 저널을 조회한 내역에서 취소 대상 거래를 선택해서 표준전문 취소관련 항목과 원 </a:t>
            </a:r>
            <a:r>
              <a:rPr lang="en-US" altLang="ko-KR">
                <a:latin typeface="+mn-ea"/>
              </a:rPr>
              <a:t>GUID</a:t>
            </a:r>
            <a:r>
              <a:rPr lang="ko-KR" altLang="en-US">
                <a:latin typeface="+mn-ea"/>
              </a:rPr>
              <a:t>를 전송 후 프레임워크가 중계로그 조회 정보로 업무 시스템에서 취소 거래 처리함 </a:t>
            </a:r>
            <a:endParaRPr lang="ko-KR" altLang="en-US" dirty="0">
              <a:latin typeface="+mn-ea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81000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단말</a:t>
            </a:r>
          </a:p>
        </p:txBody>
      </p:sp>
      <p:cxnSp>
        <p:nvCxnSpPr>
          <p:cNvPr id="11" name="직선 연결선 10"/>
          <p:cNvCxnSpPr>
            <a:stCxn id="10" idx="2"/>
          </p:cNvCxnSpPr>
          <p:nvPr/>
        </p:nvCxnSpPr>
        <p:spPr>
          <a:xfrm>
            <a:off x="1028818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2143751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MCI</a:t>
            </a:r>
            <a:endParaRPr lang="ko-KR" altLang="en-US" sz="1400" dirty="0">
              <a:solidFill>
                <a:schemeClr val="accent6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13" name="직선 연결선 12"/>
          <p:cNvCxnSpPr>
            <a:stCxn id="12" idx="2"/>
          </p:cNvCxnSpPr>
          <p:nvPr/>
        </p:nvCxnSpPr>
        <p:spPr>
          <a:xfrm>
            <a:off x="2791569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3906502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프레임워크</a:t>
            </a:r>
          </a:p>
        </p:txBody>
      </p:sp>
      <p:cxnSp>
        <p:nvCxnSpPr>
          <p:cNvPr id="15" name="직선 연결선 14"/>
          <p:cNvCxnSpPr>
            <a:stCxn id="14" idx="2"/>
          </p:cNvCxnSpPr>
          <p:nvPr/>
        </p:nvCxnSpPr>
        <p:spPr>
          <a:xfrm>
            <a:off x="4554320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079497"/>
              </p:ext>
            </p:extLst>
          </p:nvPr>
        </p:nvGraphicFramePr>
        <p:xfrm>
          <a:off x="7041232" y="1424348"/>
          <a:ext cx="2483768" cy="4920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3768">
                  <a:extLst>
                    <a:ext uri="{9D8B030D-6E8A-4147-A177-3AD203B41FA5}">
                      <a16:colId xmlns:a16="http://schemas.microsoft.com/office/drawing/2014/main" val="3634678504"/>
                    </a:ext>
                  </a:extLst>
                </a:gridCol>
              </a:tblGrid>
              <a:tr h="359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21372"/>
                  </a:ext>
                </a:extLst>
              </a:tr>
              <a:tr h="4561701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/>
                        <a:t>채널 표준 전문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&gt; </a:t>
                      </a:r>
                      <a:r>
                        <a:rPr lang="ko-KR" altLang="en-US" sz="1000" baseline="0" dirty="0"/>
                        <a:t>채널 개별 헤더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    &gt; </a:t>
                      </a:r>
                      <a:r>
                        <a:rPr lang="ko-KR" altLang="en-US" sz="1000" baseline="0" dirty="0"/>
                        <a:t>단말 채널 개별 헤더 </a:t>
                      </a:r>
                      <a:r>
                        <a:rPr lang="en-US" altLang="ko-KR" sz="1000" baseline="0" dirty="0"/>
                        <a:t>(TER)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MCI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매핑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내부표준전문 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&gt;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공통부</a:t>
                      </a: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endParaRPr lang="en-US" altLang="ko-KR" sz="1000" baseline="0" dirty="0"/>
                    </a:p>
                  </a:txBody>
                  <a:tcPr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060335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19" idx="6"/>
            <a:endCxn id="18" idx="6"/>
          </p:cNvCxnSpPr>
          <p:nvPr/>
        </p:nvCxnSpPr>
        <p:spPr>
          <a:xfrm>
            <a:off x="1079666" y="2053482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971666" y="243127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971666" y="199948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38134" y="2015382"/>
            <a:ext cx="1712116" cy="77409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28600" indent="-228600">
              <a:lnSpc>
                <a:spcPct val="90000"/>
              </a:lnSpc>
              <a:buAutoNum type="arabicPeriod"/>
            </a:pPr>
            <a:r>
              <a:rPr lang="ko-KR" altLang="en-US" sz="1100" dirty="0">
                <a:cs typeface="Arial" pitchFamily="34" charset="0"/>
              </a:rPr>
              <a:t>단말 저널 조회</a:t>
            </a:r>
            <a:br>
              <a:rPr lang="en-US" altLang="ko-KR" sz="1100" dirty="0">
                <a:cs typeface="Arial" pitchFamily="34" charset="0"/>
              </a:rPr>
            </a:br>
            <a:endParaRPr lang="en-US" altLang="ko-KR" sz="1100" dirty="0">
              <a:cs typeface="Arial" pitchFamily="34" charset="0"/>
            </a:endParaRPr>
          </a:p>
          <a:p>
            <a:pPr marL="182563" indent="-90488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 err="1">
                <a:cs typeface="Arial" pitchFamily="34" charset="0"/>
              </a:rPr>
              <a:t>조작자가</a:t>
            </a:r>
            <a:r>
              <a:rPr lang="ko-KR" altLang="en-US" sz="1000" dirty="0">
                <a:cs typeface="Arial" pitchFamily="34" charset="0"/>
              </a:rPr>
              <a:t> 저널 목록 화면에서 취소 대상 선택 후 원 거래 화면으로 이동</a:t>
            </a:r>
          </a:p>
        </p:txBody>
      </p:sp>
      <p:sp>
        <p:nvSpPr>
          <p:cNvPr id="21" name="타원 20"/>
          <p:cNvSpPr/>
          <p:nvPr/>
        </p:nvSpPr>
        <p:spPr>
          <a:xfrm>
            <a:off x="971666" y="302444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2732726" y="302405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1079666" y="3078055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87666" y="3132448"/>
            <a:ext cx="1384211" cy="146533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2.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채널 표준 </a:t>
            </a:r>
            <a:r>
              <a:rPr lang="ko-KR" altLang="en-US" sz="1100">
                <a:cs typeface="Arial" pitchFamily="34" charset="0"/>
              </a:rPr>
              <a:t>전문</a:t>
            </a:r>
            <a:r>
              <a:rPr lang="en-US" altLang="ko-KR" sz="1100">
                <a:cs typeface="Arial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ko-KR" sz="1100">
                <a:cs typeface="Arial" pitchFamily="34" charset="0"/>
              </a:rPr>
              <a:t>※</a:t>
            </a:r>
            <a:r>
              <a:rPr lang="en-US" altLang="ko-KR" sz="1100">
                <a:cs typeface="Arial" pitchFamily="34" charset="0"/>
              </a:rPr>
              <a:t> </a:t>
            </a:r>
            <a:r>
              <a:rPr lang="ko-KR" altLang="en-US" sz="1100">
                <a:cs typeface="Arial" pitchFamily="34" charset="0"/>
              </a:rPr>
              <a:t>취소 정보 설정</a:t>
            </a:r>
            <a:endParaRPr lang="en-US" altLang="ko-KR" sz="11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원거래 </a:t>
            </a:r>
            <a:r>
              <a:rPr lang="en-US" altLang="ko-KR" sz="1000">
                <a:cs typeface="Arial" pitchFamily="34" charset="0"/>
              </a:rPr>
              <a:t>GUID</a:t>
            </a: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유형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내용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2732726" y="331196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494294" y="331196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7" name="직선 화살표 연결선 26"/>
          <p:cNvCxnSpPr>
            <a:stCxn id="25" idx="6"/>
            <a:endCxn id="26" idx="2"/>
          </p:cNvCxnSpPr>
          <p:nvPr/>
        </p:nvCxnSpPr>
        <p:spPr>
          <a:xfrm>
            <a:off x="2840726" y="3365960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62925" y="3412340"/>
            <a:ext cx="103399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3.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내부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29" name="원통 28"/>
          <p:cNvSpPr/>
          <p:nvPr/>
        </p:nvSpPr>
        <p:spPr>
          <a:xfrm>
            <a:off x="504400" y="1999482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단말</a:t>
            </a:r>
            <a:b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저널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109570"/>
              </p:ext>
            </p:extLst>
          </p:nvPr>
        </p:nvGraphicFramePr>
        <p:xfrm>
          <a:off x="7130086" y="3039683"/>
          <a:ext cx="2287410" cy="3195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410">
                  <a:extLst>
                    <a:ext uri="{9D8B030D-6E8A-4147-A177-3AD203B41FA5}">
                      <a16:colId xmlns:a16="http://schemas.microsoft.com/office/drawing/2014/main" val="384413983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57216024"/>
                    </a:ext>
                  </a:extLst>
                </a:gridCol>
              </a:tblGrid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원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대상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96448"/>
                  </a:ext>
                </a:extLst>
              </a:tr>
              <a:tr h="8232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7=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취소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8=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9=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70692"/>
                  </a:ext>
                </a:extLst>
              </a:tr>
              <a:tr h="15594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유형 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단말 거래 복원 취소</a:t>
                      </a:r>
                      <a:endParaRPr lang="en-US" altLang="ko-KR" sz="10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2=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거래내역조회취소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/>
                        <a:t>3</a:t>
                      </a:r>
                      <a:r>
                        <a:rPr lang="en-US" altLang="ko-KR" sz="1000" dirty="0"/>
                        <a:t>=</a:t>
                      </a:r>
                      <a:r>
                        <a:rPr lang="ko-KR" altLang="en-US" sz="1000" dirty="0"/>
                        <a:t>에러 응답 수신으로 인한 자동취소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4=Timer</a:t>
                      </a:r>
                      <a:r>
                        <a:rPr lang="ko-KR" altLang="en-US" sz="1000" dirty="0"/>
                        <a:t>에 의한 자동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5=</a:t>
                      </a:r>
                      <a:r>
                        <a:rPr lang="ko-KR" altLang="en-US" sz="1000" dirty="0" err="1"/>
                        <a:t>센터컷</a:t>
                      </a:r>
                      <a:r>
                        <a:rPr lang="ko-KR" altLang="en-US" sz="1000" dirty="0"/>
                        <a:t>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6=</a:t>
                      </a:r>
                      <a:r>
                        <a:rPr lang="ko-KR" altLang="en-US" sz="1000" dirty="0"/>
                        <a:t>거래내역조회취소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개별</a:t>
                      </a:r>
                      <a:r>
                        <a:rPr lang="en-US" altLang="ko-KR" sz="1000" dirty="0"/>
                        <a:t>) 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15778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코드를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1411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내용을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559926"/>
                  </a:ext>
                </a:extLst>
              </a:tr>
            </a:tbl>
          </a:graphicData>
        </a:graphic>
      </p:graphicFrame>
      <p:cxnSp>
        <p:nvCxnSpPr>
          <p:cNvPr id="31" name="꺾인 연결선 30"/>
          <p:cNvCxnSpPr>
            <a:stCxn id="33" idx="6"/>
            <a:endCxn id="32" idx="6"/>
          </p:cNvCxnSpPr>
          <p:nvPr/>
        </p:nvCxnSpPr>
        <p:spPr>
          <a:xfrm>
            <a:off x="4606918" y="3763019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4498918" y="4140813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4498918" y="370901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4" name="원통 33"/>
          <p:cNvSpPr/>
          <p:nvPr/>
        </p:nvSpPr>
        <p:spPr>
          <a:xfrm>
            <a:off x="4910796" y="3303579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거래</a:t>
            </a:r>
            <a:b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3184" y="4537504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5. </a:t>
            </a:r>
            <a:r>
              <a:rPr lang="ko-KR" altLang="en-US" sz="1100" dirty="0">
                <a:cs typeface="Arial" pitchFamily="34" charset="0"/>
              </a:rPr>
              <a:t>취소 거래 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8467" y="3861048"/>
            <a:ext cx="1363307" cy="39444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4. </a:t>
            </a:r>
            <a:r>
              <a:rPr lang="ko-KR" altLang="en-US" sz="1100" dirty="0">
                <a:cs typeface="Arial" pitchFamily="34" charset="0"/>
              </a:rPr>
              <a:t>중계 </a:t>
            </a:r>
            <a:r>
              <a:rPr lang="ko-KR" altLang="en-US" sz="1100">
                <a:cs typeface="Arial" pitchFamily="34" charset="0"/>
              </a:rPr>
              <a:t>로그 조회</a:t>
            </a: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ko-KR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기동거래 전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</a:rPr>
              <a:t>문 복원</a:t>
            </a:r>
            <a:endParaRPr lang="ko-KR" altLang="en-US" sz="11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669253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어플리케이션</a:t>
            </a:r>
          </a:p>
        </p:txBody>
      </p:sp>
      <p:cxnSp>
        <p:nvCxnSpPr>
          <p:cNvPr id="38" name="직선 연결선 37"/>
          <p:cNvCxnSpPr>
            <a:stCxn id="37" idx="2"/>
          </p:cNvCxnSpPr>
          <p:nvPr/>
        </p:nvCxnSpPr>
        <p:spPr>
          <a:xfrm>
            <a:off x="6317071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4498918" y="450912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260486" y="450912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1" name="직선 화살표 연결선 40"/>
          <p:cNvCxnSpPr>
            <a:stCxn id="39" idx="6"/>
            <a:endCxn id="40" idx="2"/>
          </p:cNvCxnSpPr>
          <p:nvPr/>
        </p:nvCxnSpPr>
        <p:spPr>
          <a:xfrm>
            <a:off x="4606918" y="4563120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93184" y="5005556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6.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</a:p>
        </p:txBody>
      </p:sp>
      <p:sp>
        <p:nvSpPr>
          <p:cNvPr id="43" name="타원 42"/>
          <p:cNvSpPr/>
          <p:nvPr/>
        </p:nvSpPr>
        <p:spPr>
          <a:xfrm>
            <a:off x="4498918" y="497717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6260486" y="497717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5" name="직선 화살표 연결선 44"/>
          <p:cNvCxnSpPr>
            <a:stCxn id="43" idx="6"/>
            <a:endCxn id="44" idx="2"/>
          </p:cNvCxnSpPr>
          <p:nvPr/>
        </p:nvCxnSpPr>
        <p:spPr>
          <a:xfrm>
            <a:off x="4606918" y="5031172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126992" y="5490757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7.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(</a:t>
            </a:r>
            <a:r>
              <a:rPr lang="ko-KR" altLang="en-US" sz="1100" dirty="0">
                <a:cs typeface="Arial" pitchFamily="34" charset="0"/>
              </a:rPr>
              <a:t>내부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2732726" y="538213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494294" y="538213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9" name="직선 화살표 연결선 48"/>
          <p:cNvCxnSpPr>
            <a:stCxn id="47" idx="6"/>
            <a:endCxn id="48" idx="2"/>
          </p:cNvCxnSpPr>
          <p:nvPr/>
        </p:nvCxnSpPr>
        <p:spPr>
          <a:xfrm>
            <a:off x="2840726" y="5436131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65932" y="5949534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8.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(</a:t>
            </a:r>
            <a:r>
              <a:rPr lang="ko-KR" altLang="en-US" sz="1100" dirty="0">
                <a:cs typeface="Arial" pitchFamily="34" charset="0"/>
              </a:rPr>
              <a:t>채널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971666" y="584090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2733234" y="584090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3" name="직선 화살표 연결선 52"/>
          <p:cNvCxnSpPr>
            <a:stCxn id="51" idx="6"/>
            <a:endCxn id="52" idx="2"/>
          </p:cNvCxnSpPr>
          <p:nvPr/>
        </p:nvCxnSpPr>
        <p:spPr>
          <a:xfrm>
            <a:off x="1079666" y="5894908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사각형 설명선 53"/>
          <p:cNvSpPr/>
          <p:nvPr/>
        </p:nvSpPr>
        <p:spPr>
          <a:xfrm>
            <a:off x="5235081" y="2823842"/>
            <a:ext cx="773005" cy="389134"/>
          </a:xfrm>
          <a:prstGeom prst="wedgeRoundRectCallout">
            <a:avLst>
              <a:gd name="adj1" fmla="val -56369"/>
              <a:gd name="adj2" fmla="val 87895"/>
              <a:gd name="adj3" fmla="val 16667"/>
            </a:avLst>
          </a:prstGeom>
          <a:solidFill>
            <a:schemeClr val="bg1"/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취소 정보 포함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953603" y="2852936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728864" y="3131940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403557" y="3663138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58" name="꺾인 연결선 57"/>
          <p:cNvCxnSpPr>
            <a:stCxn id="57" idx="0"/>
            <a:endCxn id="34" idx="4"/>
          </p:cNvCxnSpPr>
          <p:nvPr/>
        </p:nvCxnSpPr>
        <p:spPr>
          <a:xfrm rot="16200000" flipV="1">
            <a:off x="5490375" y="3401151"/>
            <a:ext cx="98826" cy="425147"/>
          </a:xfrm>
          <a:prstGeom prst="bentConnector2">
            <a:avLst/>
          </a:prstGeom>
          <a:ln w="6350" cap="flat">
            <a:solidFill>
              <a:schemeClr val="accent3">
                <a:lumMod val="75000"/>
              </a:schemeClr>
            </a:solidFill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507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취소 거래 </a:t>
            </a:r>
            <a:r>
              <a:rPr lang="ko-KR" altLang="en-US"/>
              <a:t>처리 방안</a:t>
            </a:r>
            <a:r>
              <a:rPr lang="en-US" altLang="ko-KR"/>
              <a:t>(2/2)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59" name="모서리가 둥근 직사각형 58"/>
          <p:cNvSpPr/>
          <p:nvPr/>
        </p:nvSpPr>
        <p:spPr>
          <a:xfrm>
            <a:off x="6105297" y="2179636"/>
            <a:ext cx="1080587" cy="601822"/>
          </a:xfrm>
          <a:prstGeom prst="roundRect">
            <a:avLst>
              <a:gd name="adj" fmla="val 8360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400" dirty="0">
              <a:solidFill>
                <a:schemeClr val="tx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60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924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“(2)</a:t>
            </a:r>
            <a:r>
              <a:rPr lang="ko-KR" altLang="en-US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 거래 내역으로 취소</a:t>
            </a: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”</a:t>
            </a:r>
            <a:r>
              <a:rPr lang="ko-KR" altLang="en-US">
                <a:latin typeface="+mn-ea"/>
              </a:rPr>
              <a:t>는 단말 조작자가 거래 내역 조회 거래를 통해 취소 대상 거래를 선택해서 표준전문 취소관련 항목과 원 </a:t>
            </a:r>
            <a:r>
              <a:rPr lang="en-US" altLang="ko-KR">
                <a:latin typeface="+mn-ea"/>
              </a:rPr>
              <a:t>GUID</a:t>
            </a:r>
            <a:r>
              <a:rPr lang="ko-KR" altLang="en-US">
                <a:latin typeface="+mn-ea"/>
              </a:rPr>
              <a:t>를 전송 후 프레임워크에서 원</a:t>
            </a:r>
            <a:r>
              <a:rPr lang="en-US" altLang="ko-KR">
                <a:latin typeface="+mn-ea"/>
              </a:rPr>
              <a:t>GUID</a:t>
            </a:r>
            <a:r>
              <a:rPr lang="ko-KR" altLang="en-US">
                <a:latin typeface="+mn-ea"/>
              </a:rPr>
              <a:t>로 프레임워크에서 원거래복원 취소 거래 처리함 </a:t>
            </a:r>
            <a:endParaRPr lang="ko-KR" altLang="en-US" dirty="0">
              <a:latin typeface="+mn-ea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81000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단말</a:t>
            </a:r>
          </a:p>
        </p:txBody>
      </p:sp>
      <p:cxnSp>
        <p:nvCxnSpPr>
          <p:cNvPr id="62" name="직선 연결선 61"/>
          <p:cNvCxnSpPr>
            <a:stCxn id="61" idx="2"/>
          </p:cNvCxnSpPr>
          <p:nvPr/>
        </p:nvCxnSpPr>
        <p:spPr>
          <a:xfrm>
            <a:off x="1028818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2143751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MCI</a:t>
            </a:r>
            <a:endParaRPr lang="ko-KR" altLang="en-US" sz="1400" dirty="0">
              <a:solidFill>
                <a:schemeClr val="accent6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64" name="직선 연결선 63"/>
          <p:cNvCxnSpPr>
            <a:stCxn id="63" idx="2"/>
          </p:cNvCxnSpPr>
          <p:nvPr/>
        </p:nvCxnSpPr>
        <p:spPr>
          <a:xfrm>
            <a:off x="2791569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4"/>
          <p:cNvSpPr/>
          <p:nvPr/>
        </p:nvSpPr>
        <p:spPr>
          <a:xfrm>
            <a:off x="3906502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프레임워크</a:t>
            </a:r>
          </a:p>
        </p:txBody>
      </p:sp>
      <p:cxnSp>
        <p:nvCxnSpPr>
          <p:cNvPr id="66" name="직선 연결선 65"/>
          <p:cNvCxnSpPr>
            <a:stCxn id="65" idx="2"/>
          </p:cNvCxnSpPr>
          <p:nvPr/>
        </p:nvCxnSpPr>
        <p:spPr>
          <a:xfrm>
            <a:off x="4554320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7041232" y="1424348"/>
          <a:ext cx="2483768" cy="4920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3768">
                  <a:extLst>
                    <a:ext uri="{9D8B030D-6E8A-4147-A177-3AD203B41FA5}">
                      <a16:colId xmlns:a16="http://schemas.microsoft.com/office/drawing/2014/main" val="3634678504"/>
                    </a:ext>
                  </a:extLst>
                </a:gridCol>
              </a:tblGrid>
              <a:tr h="359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21372"/>
                  </a:ext>
                </a:extLst>
              </a:tr>
              <a:tr h="4561701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/>
                        <a:t>채널 표준 전문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&gt; </a:t>
                      </a:r>
                      <a:r>
                        <a:rPr lang="ko-KR" altLang="en-US" sz="1000" baseline="0" dirty="0"/>
                        <a:t>채널 개별 헤더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    &gt; </a:t>
                      </a:r>
                      <a:r>
                        <a:rPr lang="ko-KR" altLang="en-US" sz="1000" baseline="0" dirty="0"/>
                        <a:t>단말 채널 개별 헤더 </a:t>
                      </a:r>
                      <a:r>
                        <a:rPr lang="en-US" altLang="ko-KR" sz="1000" baseline="0" dirty="0"/>
                        <a:t>(TER)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MCI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매핑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내부표준전문 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&gt;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공통부</a:t>
                      </a: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endParaRPr lang="en-US" altLang="ko-KR" sz="1000" baseline="0" dirty="0"/>
                    </a:p>
                  </a:txBody>
                  <a:tcPr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060335"/>
                  </a:ext>
                </a:extLst>
              </a:tr>
            </a:tbl>
          </a:graphicData>
        </a:graphic>
      </p:graphicFrame>
      <p:sp>
        <p:nvSpPr>
          <p:cNvPr id="68" name="타원 67"/>
          <p:cNvSpPr/>
          <p:nvPr/>
        </p:nvSpPr>
        <p:spPr>
          <a:xfrm>
            <a:off x="971666" y="184521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732726" y="184482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0" name="직선 화살표 연결선 69"/>
          <p:cNvCxnSpPr/>
          <p:nvPr/>
        </p:nvCxnSpPr>
        <p:spPr>
          <a:xfrm flipV="1">
            <a:off x="1079666" y="1898824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156009" y="1880828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1. </a:t>
            </a:r>
            <a:r>
              <a:rPr lang="ko-KR" altLang="en-US" sz="1100" dirty="0">
                <a:cs typeface="Arial" pitchFamily="34" charset="0"/>
              </a:rPr>
              <a:t>거래 내역 조회 요청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371468"/>
              </p:ext>
            </p:extLst>
          </p:nvPr>
        </p:nvGraphicFramePr>
        <p:xfrm>
          <a:off x="7130086" y="3039683"/>
          <a:ext cx="2287410" cy="3195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410">
                  <a:extLst>
                    <a:ext uri="{9D8B030D-6E8A-4147-A177-3AD203B41FA5}">
                      <a16:colId xmlns:a16="http://schemas.microsoft.com/office/drawing/2014/main" val="384413983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57216024"/>
                    </a:ext>
                  </a:extLst>
                </a:gridCol>
              </a:tblGrid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원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대상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96448"/>
                  </a:ext>
                </a:extLst>
              </a:tr>
              <a:tr h="8232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7=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취소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8=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9=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70692"/>
                  </a:ext>
                </a:extLst>
              </a:tr>
              <a:tr h="15594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유형 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1=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단말 거래 복원 취소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=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거래내역조회취소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US" altLang="ko-KR" sz="10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/>
                        <a:t>3=</a:t>
                      </a:r>
                      <a:r>
                        <a:rPr lang="ko-KR" altLang="en-US" sz="1000" dirty="0"/>
                        <a:t>에러 응답 수신으로 인한 자동취소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4=Timer</a:t>
                      </a:r>
                      <a:r>
                        <a:rPr lang="ko-KR" altLang="en-US" sz="1000" dirty="0"/>
                        <a:t>에 의한 자동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5=</a:t>
                      </a:r>
                      <a:r>
                        <a:rPr lang="ko-KR" altLang="en-US" sz="1000" dirty="0" err="1"/>
                        <a:t>센터컷</a:t>
                      </a:r>
                      <a:r>
                        <a:rPr lang="ko-KR" altLang="en-US" sz="1000" dirty="0"/>
                        <a:t>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6=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거래내역조회취소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15778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코드를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1411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내용을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559926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4893184" y="5301728"/>
            <a:ext cx="1212113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12. </a:t>
            </a:r>
            <a:r>
              <a:rPr lang="ko-KR" altLang="en-US" sz="1100" dirty="0">
                <a:cs typeface="Arial" pitchFamily="34" charset="0"/>
              </a:rPr>
              <a:t>취소 거래 호출</a:t>
            </a: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669253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어플리케이션</a:t>
            </a:r>
          </a:p>
        </p:txBody>
      </p:sp>
      <p:cxnSp>
        <p:nvCxnSpPr>
          <p:cNvPr id="75" name="직선 연결선 74"/>
          <p:cNvCxnSpPr>
            <a:stCxn id="74" idx="2"/>
          </p:cNvCxnSpPr>
          <p:nvPr/>
        </p:nvCxnSpPr>
        <p:spPr>
          <a:xfrm>
            <a:off x="6317071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4498918" y="526520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6260486" y="526520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8" name="직선 화살표 연결선 77"/>
          <p:cNvCxnSpPr>
            <a:stCxn id="76" idx="6"/>
            <a:endCxn id="77" idx="2"/>
          </p:cNvCxnSpPr>
          <p:nvPr/>
        </p:nvCxnSpPr>
        <p:spPr>
          <a:xfrm>
            <a:off x="4606918" y="5319204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893184" y="5568180"/>
            <a:ext cx="1259798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13.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</a:p>
        </p:txBody>
      </p:sp>
      <p:sp>
        <p:nvSpPr>
          <p:cNvPr id="80" name="타원 79"/>
          <p:cNvSpPr/>
          <p:nvPr/>
        </p:nvSpPr>
        <p:spPr>
          <a:xfrm>
            <a:off x="4498918" y="553979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6260486" y="553979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2" name="직선 화살표 연결선 81"/>
          <p:cNvCxnSpPr>
            <a:stCxn id="80" idx="6"/>
            <a:endCxn id="81" idx="2"/>
          </p:cNvCxnSpPr>
          <p:nvPr/>
        </p:nvCxnSpPr>
        <p:spPr>
          <a:xfrm>
            <a:off x="4606918" y="5593796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126992" y="5801411"/>
            <a:ext cx="1219350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14.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732726" y="577824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4494294" y="577824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6" name="직선 화살표 연결선 85"/>
          <p:cNvCxnSpPr>
            <a:stCxn id="84" idx="6"/>
            <a:endCxn id="85" idx="2"/>
          </p:cNvCxnSpPr>
          <p:nvPr/>
        </p:nvCxnSpPr>
        <p:spPr>
          <a:xfrm>
            <a:off x="2840726" y="5832245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365932" y="6017435"/>
            <a:ext cx="1210804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15.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971666" y="599426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2733234" y="599426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0" name="직선 화살표 연결선 89"/>
          <p:cNvCxnSpPr>
            <a:stCxn id="88" idx="6"/>
            <a:endCxn id="89" idx="2"/>
          </p:cNvCxnSpPr>
          <p:nvPr/>
        </p:nvCxnSpPr>
        <p:spPr>
          <a:xfrm>
            <a:off x="1079666" y="6048269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/>
          <p:cNvSpPr/>
          <p:nvPr/>
        </p:nvSpPr>
        <p:spPr>
          <a:xfrm>
            <a:off x="2741272" y="200764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4502332" y="200724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 flipV="1">
            <a:off x="2849272" y="2061248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925615" y="2043252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2. </a:t>
            </a:r>
            <a:r>
              <a:rPr lang="ko-KR" altLang="en-US" sz="1100" dirty="0">
                <a:cs typeface="Arial" pitchFamily="34" charset="0"/>
              </a:rPr>
              <a:t>거래 내역 조회 요청</a:t>
            </a:r>
          </a:p>
        </p:txBody>
      </p:sp>
      <p:sp>
        <p:nvSpPr>
          <p:cNvPr id="95" name="타원 94"/>
          <p:cNvSpPr/>
          <p:nvPr/>
        </p:nvSpPr>
        <p:spPr>
          <a:xfrm>
            <a:off x="2730694" y="285293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4492262" y="285293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7" name="직선 화살표 연결선 96"/>
          <p:cNvCxnSpPr>
            <a:stCxn id="95" idx="6"/>
            <a:endCxn id="96" idx="2"/>
          </p:cNvCxnSpPr>
          <p:nvPr/>
        </p:nvCxnSpPr>
        <p:spPr>
          <a:xfrm>
            <a:off x="2838694" y="2906936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932748" y="2888940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6. </a:t>
            </a:r>
            <a:r>
              <a:rPr lang="ko-KR" altLang="en-US" sz="1100" dirty="0">
                <a:cs typeface="Arial" pitchFamily="34" charset="0"/>
              </a:rPr>
              <a:t>거래 내역 조회 결과</a:t>
            </a:r>
          </a:p>
        </p:txBody>
      </p:sp>
      <p:sp>
        <p:nvSpPr>
          <p:cNvPr id="99" name="타원 98"/>
          <p:cNvSpPr/>
          <p:nvPr/>
        </p:nvSpPr>
        <p:spPr>
          <a:xfrm>
            <a:off x="971104" y="307882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0" name="타원 99"/>
          <p:cNvSpPr/>
          <p:nvPr/>
        </p:nvSpPr>
        <p:spPr>
          <a:xfrm>
            <a:off x="2732672" y="307882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1" name="직선 화살표 연결선 100"/>
          <p:cNvCxnSpPr>
            <a:stCxn id="99" idx="6"/>
            <a:endCxn id="100" idx="2"/>
          </p:cNvCxnSpPr>
          <p:nvPr/>
        </p:nvCxnSpPr>
        <p:spPr>
          <a:xfrm>
            <a:off x="1079104" y="3132824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173158" y="3114828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7. </a:t>
            </a:r>
            <a:r>
              <a:rPr lang="ko-KR" altLang="en-US" sz="1100" dirty="0">
                <a:cs typeface="Arial" pitchFamily="34" charset="0"/>
              </a:rPr>
              <a:t>거래 내역 조회 결과</a:t>
            </a:r>
          </a:p>
        </p:txBody>
      </p:sp>
      <p:sp>
        <p:nvSpPr>
          <p:cNvPr id="103" name="타원 102"/>
          <p:cNvSpPr/>
          <p:nvPr/>
        </p:nvSpPr>
        <p:spPr>
          <a:xfrm>
            <a:off x="971666" y="418547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2732726" y="418732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5" name="직선 화살표 연결선 104"/>
          <p:cNvCxnSpPr/>
          <p:nvPr/>
        </p:nvCxnSpPr>
        <p:spPr>
          <a:xfrm flipV="1">
            <a:off x="1079666" y="4239084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00997" y="4293477"/>
            <a:ext cx="1409923" cy="142458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9.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채널 표준 </a:t>
            </a:r>
            <a:r>
              <a:rPr lang="ko-KR" altLang="en-US" sz="1100">
                <a:cs typeface="Arial" pitchFamily="34" charset="0"/>
              </a:rPr>
              <a:t>전문</a:t>
            </a:r>
            <a:r>
              <a:rPr lang="en-US" altLang="ko-KR" sz="1100">
                <a:cs typeface="Arial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altLang="ko-KR" sz="14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ko-KR" sz="1100">
                <a:cs typeface="Arial" pitchFamily="34" charset="0"/>
              </a:rPr>
              <a:t>※</a:t>
            </a:r>
            <a:r>
              <a:rPr lang="en-US" altLang="ko-KR" sz="1100">
                <a:cs typeface="Arial" pitchFamily="34" charset="0"/>
              </a:rPr>
              <a:t> </a:t>
            </a:r>
            <a:r>
              <a:rPr lang="ko-KR" altLang="en-US" sz="1100">
                <a:cs typeface="Arial" pitchFamily="34" charset="0"/>
              </a:rPr>
              <a:t>취소 정보 설정</a:t>
            </a:r>
            <a:endParaRPr lang="en-US" altLang="ko-KR" sz="11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원거래 </a:t>
            </a:r>
            <a:r>
              <a:rPr lang="en-US" altLang="ko-KR" sz="1000">
                <a:cs typeface="Arial" pitchFamily="34" charset="0"/>
              </a:rPr>
              <a:t>GUID</a:t>
            </a: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유형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내용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2732726" y="440728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타원 107"/>
          <p:cNvSpPr/>
          <p:nvPr/>
        </p:nvSpPr>
        <p:spPr>
          <a:xfrm>
            <a:off x="4494294" y="440728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9" name="직선 화살표 연결선 108"/>
          <p:cNvCxnSpPr>
            <a:stCxn id="107" idx="6"/>
            <a:endCxn id="108" idx="2"/>
          </p:cNvCxnSpPr>
          <p:nvPr/>
        </p:nvCxnSpPr>
        <p:spPr>
          <a:xfrm>
            <a:off x="2840726" y="4461289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162925" y="4507669"/>
            <a:ext cx="103399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10.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내부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cxnSp>
        <p:nvCxnSpPr>
          <p:cNvPr id="111" name="꺾인 연결선 110"/>
          <p:cNvCxnSpPr>
            <a:stCxn id="113" idx="6"/>
            <a:endCxn id="112" idx="6"/>
          </p:cNvCxnSpPr>
          <p:nvPr/>
        </p:nvCxnSpPr>
        <p:spPr>
          <a:xfrm>
            <a:off x="1079666" y="3555008"/>
            <a:ext cx="12700" cy="285936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타원 111"/>
          <p:cNvSpPr/>
          <p:nvPr/>
        </p:nvSpPr>
        <p:spPr>
          <a:xfrm>
            <a:off x="971666" y="378694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971666" y="350100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372318" y="3624016"/>
            <a:ext cx="1360916" cy="21213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8. </a:t>
            </a:r>
            <a:r>
              <a:rPr lang="ko-KR" altLang="en-US" sz="1100" dirty="0">
                <a:cs typeface="Arial" pitchFamily="34" charset="0"/>
              </a:rPr>
              <a:t>취소 대상 </a:t>
            </a:r>
            <a:r>
              <a:rPr lang="ko-KR" altLang="en-US" sz="1100">
                <a:cs typeface="Arial" pitchFamily="34" charset="0"/>
              </a:rPr>
              <a:t>거래 선택</a:t>
            </a: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(</a:t>
            </a:r>
            <a:r>
              <a:rPr lang="ko-KR" altLang="en-US" sz="1100">
                <a:cs typeface="Arial" pitchFamily="34" charset="0"/>
              </a:rPr>
              <a:t>전체거래</a:t>
            </a:r>
            <a:r>
              <a:rPr lang="en-US" altLang="ko-KR" sz="1100">
                <a:cs typeface="Arial" pitchFamily="34" charset="0"/>
              </a:rPr>
              <a:t>=</a:t>
            </a:r>
            <a:r>
              <a:rPr lang="ko-KR" altLang="en-US" sz="1100">
                <a:cs typeface="Arial" pitchFamily="34" charset="0"/>
              </a:rPr>
              <a:t>기동</a:t>
            </a:r>
            <a:r>
              <a:rPr lang="en-US" altLang="ko-KR" sz="1100">
                <a:cs typeface="Arial" pitchFamily="34" charset="0"/>
              </a:rPr>
              <a:t>+</a:t>
            </a:r>
            <a:r>
              <a:rPr lang="ko-KR" altLang="en-US" sz="1100">
                <a:cs typeface="Arial" pitchFamily="34" charset="0"/>
              </a:rPr>
              <a:t>수동</a:t>
            </a:r>
            <a:r>
              <a:rPr lang="en-US" altLang="ko-KR" sz="110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cxnSp>
        <p:nvCxnSpPr>
          <p:cNvPr id="115" name="꺾인 연결선 114"/>
          <p:cNvCxnSpPr>
            <a:stCxn id="117" idx="6"/>
            <a:endCxn id="116" idx="6"/>
          </p:cNvCxnSpPr>
          <p:nvPr/>
        </p:nvCxnSpPr>
        <p:spPr>
          <a:xfrm>
            <a:off x="6367236" y="2267474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타원 115"/>
          <p:cNvSpPr/>
          <p:nvPr/>
        </p:nvSpPr>
        <p:spPr>
          <a:xfrm>
            <a:off x="6259236" y="264526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259236" y="221347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8" name="원통 117"/>
          <p:cNvSpPr/>
          <p:nvPr/>
        </p:nvSpPr>
        <p:spPr>
          <a:xfrm>
            <a:off x="6489999" y="2021086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거래</a:t>
            </a:r>
            <a:br>
              <a:rPr lang="en-US" altLang="ko-KR" sz="1100" b="1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내역</a:t>
            </a:r>
            <a:endParaRPr lang="ko-KR" altLang="en-US" sz="11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475550" y="2574285"/>
            <a:ext cx="767384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4. </a:t>
            </a:r>
            <a:r>
              <a:rPr lang="ko-KR" altLang="en-US" sz="1100">
                <a:cs typeface="Arial" pitchFamily="34" charset="0"/>
              </a:rPr>
              <a:t>거래 내역</a:t>
            </a:r>
            <a:br>
              <a:rPr lang="en-US" altLang="ko-KR" sz="1100">
                <a:cs typeface="Arial" pitchFamily="34" charset="0"/>
              </a:rPr>
            </a:br>
            <a:r>
              <a:rPr lang="ko-KR" altLang="en-US" sz="1100">
                <a:cs typeface="Arial" pitchFamily="34" charset="0"/>
              </a:rPr>
              <a:t>조회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4500227" y="221290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1" name="직선 화살표 연결선 120"/>
          <p:cNvCxnSpPr/>
          <p:nvPr/>
        </p:nvCxnSpPr>
        <p:spPr>
          <a:xfrm flipV="1">
            <a:off x="4608227" y="2266507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684570" y="2248511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3. </a:t>
            </a:r>
            <a:r>
              <a:rPr lang="ko-KR" altLang="en-US" sz="1100" dirty="0">
                <a:cs typeface="Arial" pitchFamily="34" charset="0"/>
              </a:rPr>
              <a:t>거래 내역 조회 요청</a:t>
            </a:r>
          </a:p>
        </p:txBody>
      </p:sp>
      <p:sp>
        <p:nvSpPr>
          <p:cNvPr id="123" name="타원 122"/>
          <p:cNvSpPr/>
          <p:nvPr/>
        </p:nvSpPr>
        <p:spPr>
          <a:xfrm>
            <a:off x="4493943" y="2646353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4" name="직선 화살표 연결선 123"/>
          <p:cNvCxnSpPr>
            <a:stCxn id="123" idx="6"/>
          </p:cNvCxnSpPr>
          <p:nvPr/>
        </p:nvCxnSpPr>
        <p:spPr>
          <a:xfrm>
            <a:off x="4601943" y="2700353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695997" y="2682357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5. </a:t>
            </a:r>
            <a:r>
              <a:rPr lang="ko-KR" altLang="en-US" sz="1100" dirty="0">
                <a:cs typeface="Arial" pitchFamily="34" charset="0"/>
              </a:rPr>
              <a:t>거래 내역 조회 결과</a:t>
            </a:r>
          </a:p>
        </p:txBody>
      </p:sp>
      <p:cxnSp>
        <p:nvCxnSpPr>
          <p:cNvPr id="126" name="꺾인 연결선 125"/>
          <p:cNvCxnSpPr>
            <a:stCxn id="128" idx="6"/>
            <a:endCxn id="127" idx="6"/>
          </p:cNvCxnSpPr>
          <p:nvPr/>
        </p:nvCxnSpPr>
        <p:spPr>
          <a:xfrm>
            <a:off x="4606918" y="4671398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타원 126"/>
          <p:cNvSpPr/>
          <p:nvPr/>
        </p:nvSpPr>
        <p:spPr>
          <a:xfrm>
            <a:off x="4498918" y="504919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8" name="타원 127"/>
          <p:cNvSpPr/>
          <p:nvPr/>
        </p:nvSpPr>
        <p:spPr>
          <a:xfrm>
            <a:off x="4498918" y="461739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9" name="원통 128"/>
          <p:cNvSpPr/>
          <p:nvPr/>
        </p:nvSpPr>
        <p:spPr>
          <a:xfrm>
            <a:off x="4910796" y="4211958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거래</a:t>
            </a:r>
            <a:b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로그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88467" y="4792002"/>
            <a:ext cx="1321100" cy="3291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11. </a:t>
            </a:r>
            <a:r>
              <a:rPr lang="ko-KR" altLang="en-US" sz="1100">
                <a:cs typeface="Arial" pitchFamily="34" charset="0"/>
              </a:rPr>
              <a:t>거래 로그 조회</a:t>
            </a: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기동 거래 전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</a:rPr>
              <a:t>문 복원</a:t>
            </a:r>
            <a:endParaRPr lang="ko-KR" altLang="en-US" sz="10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131" name="모서리가 둥근 사각형 설명선 130"/>
          <p:cNvSpPr/>
          <p:nvPr/>
        </p:nvSpPr>
        <p:spPr>
          <a:xfrm>
            <a:off x="5235081" y="3732221"/>
            <a:ext cx="773005" cy="389134"/>
          </a:xfrm>
          <a:prstGeom prst="wedgeRoundRectCallout">
            <a:avLst>
              <a:gd name="adj1" fmla="val -56369"/>
              <a:gd name="adj2" fmla="val 87895"/>
              <a:gd name="adj3" fmla="val 16667"/>
            </a:avLst>
          </a:prstGeom>
          <a:solidFill>
            <a:schemeClr val="bg1"/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취소 정보 포함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2" name="모서리가 둥근 직사각형 131"/>
          <p:cNvSpPr/>
          <p:nvPr/>
        </p:nvSpPr>
        <p:spPr>
          <a:xfrm>
            <a:off x="1953603" y="4022498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3715283" y="4246928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5403557" y="4562812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135" name="꺾인 연결선 134"/>
          <p:cNvCxnSpPr>
            <a:stCxn id="134" idx="0"/>
            <a:endCxn id="129" idx="4"/>
          </p:cNvCxnSpPr>
          <p:nvPr/>
        </p:nvCxnSpPr>
        <p:spPr>
          <a:xfrm rot="16200000" flipV="1">
            <a:off x="5494728" y="4305178"/>
            <a:ext cx="90121" cy="425147"/>
          </a:xfrm>
          <a:prstGeom prst="bentConnector2">
            <a:avLst/>
          </a:prstGeom>
          <a:ln w="6350" cap="flat">
            <a:solidFill>
              <a:schemeClr val="accent3">
                <a:lumMod val="75000"/>
              </a:schemeClr>
            </a:solidFill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454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대량 입력 처리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통합단말 화면에서 대량 전문 전송시 </a:t>
            </a:r>
            <a:r>
              <a:rPr lang="en-US" altLang="ko-KR"/>
              <a:t>256 K </a:t>
            </a:r>
            <a:r>
              <a:rPr lang="ko-KR" altLang="en-US"/>
              <a:t>가 넘지 않도록 잘라 여러 번 올리고</a:t>
            </a:r>
            <a:r>
              <a:rPr lang="en-US" altLang="ko-KR"/>
              <a:t>, nKESA </a:t>
            </a:r>
            <a:r>
              <a:rPr lang="ko-KR" altLang="en-US"/>
              <a:t>에서는 전문 전체를 </a:t>
            </a:r>
            <a:r>
              <a:rPr lang="en-US" altLang="ko-KR"/>
              <a:t>merge </a:t>
            </a:r>
            <a:r>
              <a:rPr lang="ko-KR" altLang="en-US"/>
              <a:t>하여 하나의 거래로 실행하여 응답함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1748644" y="2132856"/>
            <a:ext cx="3740646" cy="161190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0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12875"/>
            <a:ext cx="9397997" cy="325409"/>
            <a:chOff x="4088904" y="1858259"/>
            <a:chExt cx="1796884" cy="325409"/>
          </a:xfrm>
        </p:grpSpPr>
        <p:cxnSp>
          <p:nvCxnSpPr>
            <p:cNvPr id="11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1796884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8904" y="1858259"/>
              <a:ext cx="372605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대량 전문 입력 처리 </a:t>
              </a: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흐름 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489290" y="1836888"/>
            <a:ext cx="4169282" cy="21594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업무 시스템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b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</a:br>
            <a:endParaRPr lang="en-US" altLang="ko-KR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576954" y="2218494"/>
            <a:ext cx="2605610" cy="168311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F/W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38806" y="3266007"/>
            <a:ext cx="2484000" cy="591887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pitchFamily="34" charset="0"/>
              </a:rPr>
              <a:t>변환</a:t>
            </a: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121823"/>
            <a:ext cx="300328" cy="661561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1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121823"/>
            <a:ext cx="4289794" cy="66156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</a:rPr>
              <a:t>내부 채널에서 대량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입력정보를</a:t>
            </a:r>
            <a:r>
              <a:rPr lang="ko-KR" altLang="en-US" sz="1200" kern="0" dirty="0">
                <a:solidFill>
                  <a:srgbClr val="000000"/>
                </a:solidFill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</a:rPr>
              <a:t>회 메시지 전송 </a:t>
            </a:r>
            <a:r>
              <a:rPr lang="en-US" altLang="ko-KR" sz="1200" kern="0">
                <a:solidFill>
                  <a:srgbClr val="000000"/>
                </a:solidFill>
              </a:rPr>
              <a:t>Size </a:t>
            </a:r>
            <a:r>
              <a:rPr lang="ko-KR" altLang="en-US" sz="1200" kern="0">
                <a:solidFill>
                  <a:srgbClr val="000000"/>
                </a:solidFill>
              </a:rPr>
              <a:t>단위</a:t>
            </a:r>
            <a:r>
              <a:rPr lang="en-US" altLang="ko-KR" sz="1200" kern="0">
                <a:solidFill>
                  <a:srgbClr val="000000"/>
                </a:solidFill>
              </a:rPr>
              <a:t>(</a:t>
            </a:r>
            <a:r>
              <a:rPr lang="ko-KR" altLang="en-US" sz="1200" kern="0">
                <a:solidFill>
                  <a:srgbClr val="000000"/>
                </a:solidFill>
              </a:rPr>
              <a:t>최대 </a:t>
            </a:r>
            <a:r>
              <a:rPr lang="en-US" altLang="ko-KR" sz="1200" kern="0">
                <a:solidFill>
                  <a:srgbClr val="000000"/>
                </a:solidFill>
              </a:rPr>
              <a:t>256KB)</a:t>
            </a:r>
            <a:r>
              <a:rPr lang="ko-KR" altLang="en-US" sz="1200" kern="0">
                <a:solidFill>
                  <a:srgbClr val="000000"/>
                </a:solidFill>
              </a:rPr>
              <a:t>로 </a:t>
            </a:r>
            <a:r>
              <a:rPr lang="ko-KR" altLang="en-US" sz="1200" kern="0" dirty="0">
                <a:solidFill>
                  <a:srgbClr val="000000"/>
                </a:solidFill>
              </a:rPr>
              <a:t>나누어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채널전문</a:t>
            </a:r>
            <a:r>
              <a:rPr lang="en-US" altLang="ko-KR" sz="1200" kern="0" dirty="0">
                <a:solidFill>
                  <a:srgbClr val="000000"/>
                </a:solidFill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</a:rPr>
              <a:t>입력</a:t>
            </a:r>
            <a:r>
              <a:rPr lang="en-US" altLang="ko-KR" sz="1200" kern="0" dirty="0">
                <a:solidFill>
                  <a:srgbClr val="000000"/>
                </a:solidFill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</a:rPr>
              <a:t>을 조립하여 전송</a:t>
            </a: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72710" y="1844675"/>
            <a:ext cx="1301080" cy="21603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480916" y="1861942"/>
            <a:ext cx="1968028" cy="2160388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채널통합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3267123" y="2638446"/>
            <a:ext cx="463313" cy="396044"/>
            <a:chOff x="3267123" y="2816932"/>
            <a:chExt cx="463313" cy="396044"/>
          </a:xfrm>
        </p:grpSpPr>
        <p:sp>
          <p:nvSpPr>
            <p:cNvPr id="21" name="직사각형 20"/>
            <p:cNvSpPr/>
            <p:nvPr/>
          </p:nvSpPr>
          <p:spPr>
            <a:xfrm>
              <a:off x="3267123" y="2816932"/>
              <a:ext cx="463313" cy="3960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30316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9118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30316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59118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cxnSp>
          <p:nvCxnSpPr>
            <p:cNvPr id="26" name="직선 연결선 25"/>
            <p:cNvCxnSpPr>
              <a:stCxn id="22" idx="3"/>
              <a:endCxn id="25" idx="1"/>
            </p:cNvCxnSpPr>
            <p:nvPr/>
          </p:nvCxnSpPr>
          <p:spPr>
            <a:xfrm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stCxn id="23" idx="1"/>
              <a:endCxn id="24" idx="3"/>
            </p:cNvCxnSpPr>
            <p:nvPr/>
          </p:nvCxnSpPr>
          <p:spPr>
            <a:xfrm flipH="1"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직사각형 27"/>
          <p:cNvSpPr/>
          <p:nvPr/>
        </p:nvSpPr>
        <p:spPr>
          <a:xfrm>
            <a:off x="8604733" y="2691832"/>
            <a:ext cx="975856" cy="29149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온라인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2462" y="2292545"/>
            <a:ext cx="102157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내부채널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85206" y="2292545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채널표준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입력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990462" y="2292544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내부표준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입력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32" name="직선 화살표 연결선 31"/>
          <p:cNvCxnSpPr>
            <a:stCxn id="29" idx="3"/>
            <a:endCxn id="30" idx="1"/>
          </p:cNvCxnSpPr>
          <p:nvPr/>
        </p:nvCxnSpPr>
        <p:spPr>
          <a:xfrm>
            <a:off x="1434037" y="2839541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30" idx="3"/>
            <a:endCxn id="21" idx="1"/>
          </p:cNvCxnSpPr>
          <p:nvPr/>
        </p:nvCxnSpPr>
        <p:spPr>
          <a:xfrm flipV="1">
            <a:off x="2897501" y="2836468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1" idx="3"/>
            <a:endCxn id="31" idx="1"/>
          </p:cNvCxnSpPr>
          <p:nvPr/>
        </p:nvCxnSpPr>
        <p:spPr>
          <a:xfrm>
            <a:off x="3730436" y="283646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31" idx="3"/>
            <a:endCxn id="36" idx="1"/>
          </p:cNvCxnSpPr>
          <p:nvPr/>
        </p:nvCxnSpPr>
        <p:spPr>
          <a:xfrm flipV="1">
            <a:off x="4802757" y="28388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5977252" y="2654561"/>
            <a:ext cx="903554" cy="368550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I/O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처리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999463" y="2654561"/>
            <a:ext cx="904119" cy="368550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서비스 처리</a:t>
            </a:r>
          </a:p>
        </p:txBody>
      </p:sp>
      <p:cxnSp>
        <p:nvCxnSpPr>
          <p:cNvPr id="38" name="직선 화살표 연결선 37"/>
          <p:cNvCxnSpPr>
            <a:stCxn id="36" idx="3"/>
            <a:endCxn id="37" idx="1"/>
          </p:cNvCxnSpPr>
          <p:nvPr/>
        </p:nvCxnSpPr>
        <p:spPr>
          <a:xfrm>
            <a:off x="6880806" y="2838836"/>
            <a:ext cx="118657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7" idx="3"/>
            <a:endCxn id="28" idx="1"/>
          </p:cNvCxnSpPr>
          <p:nvPr/>
        </p:nvCxnSpPr>
        <p:spPr>
          <a:xfrm flipV="1">
            <a:off x="7903582" y="2837580"/>
            <a:ext cx="701151" cy="1256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5679842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헤더부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55234" y="3465512"/>
            <a:ext cx="812295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CommArea</a:t>
            </a:r>
            <a:endParaRPr lang="ko-KR" altLang="en-US" sz="9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300110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입력개별부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43" name="직선 화살표 연결선 95"/>
          <p:cNvCxnSpPr>
            <a:stCxn id="28" idx="2"/>
            <a:endCxn id="15" idx="3"/>
          </p:cNvCxnSpPr>
          <p:nvPr/>
        </p:nvCxnSpPr>
        <p:spPr>
          <a:xfrm rot="5400000">
            <a:off x="8318422" y="2787712"/>
            <a:ext cx="578624" cy="96985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95"/>
          <p:cNvCxnSpPr>
            <a:stCxn id="36" idx="2"/>
            <a:endCxn id="15" idx="0"/>
          </p:cNvCxnSpPr>
          <p:nvPr/>
        </p:nvCxnSpPr>
        <p:spPr>
          <a:xfrm rot="16200000" flipH="1">
            <a:off x="6533469" y="2918670"/>
            <a:ext cx="242896" cy="45177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93360" y="3330051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참조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81474" y="2348880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요청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16538" y="3095119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 err="1">
                <a:latin typeface="+mn-ea"/>
              </a:rPr>
              <a:t>입력전문</a:t>
            </a:r>
            <a:r>
              <a:rPr lang="ko-KR" altLang="en-US" sz="1000" kern="0" dirty="0">
                <a:latin typeface="+mn-ea"/>
              </a:rPr>
              <a:t> </a:t>
            </a:r>
            <a:r>
              <a:rPr lang="ko-KR" altLang="en-US" sz="1000" kern="0" dirty="0" err="1">
                <a:latin typeface="+mn-ea"/>
              </a:rPr>
              <a:t>파싱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98983" y="2096852"/>
            <a:ext cx="1014457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서비스 </a:t>
            </a:r>
            <a:r>
              <a:rPr lang="en-US" altLang="ko-KR" sz="1000" kern="0" dirty="0">
                <a:latin typeface="+mn-ea"/>
              </a:rPr>
              <a:t>1</a:t>
            </a:r>
            <a:r>
              <a:rPr lang="ko-KR" altLang="en-US" sz="1000" kern="0" dirty="0">
                <a:latin typeface="+mn-ea"/>
              </a:rPr>
              <a:t>회 호출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855157"/>
            <a:ext cx="300328" cy="1562176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2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855157"/>
            <a:ext cx="4289794" cy="1562173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채널통합서버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(MCI)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는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I/O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변환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채널표준전문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-&gt;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내부표준전문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처리하여 업무 시스템으로 전송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</a:rPr>
              <a:t>채널에서 수신된 입력메시지는 </a:t>
            </a:r>
            <a:r>
              <a:rPr lang="en-US" altLang="ko-KR" sz="1200" kern="0" dirty="0">
                <a:solidFill>
                  <a:srgbClr val="000000"/>
                </a:solidFill>
              </a:rPr>
              <a:t>Buffering </a:t>
            </a:r>
            <a:r>
              <a:rPr lang="ko-KR" altLang="en-US" sz="1200" kern="0" dirty="0">
                <a:solidFill>
                  <a:srgbClr val="000000"/>
                </a:solidFill>
              </a:rPr>
              <a:t>없이 </a:t>
            </a:r>
            <a:r>
              <a:rPr lang="en-US" altLang="ko-KR" sz="1200" kern="0" dirty="0">
                <a:solidFill>
                  <a:srgbClr val="000000"/>
                </a:solidFill>
              </a:rPr>
              <a:t>I/O </a:t>
            </a:r>
            <a:r>
              <a:rPr lang="ko-KR" altLang="en-US" sz="1200" kern="0" dirty="0">
                <a:solidFill>
                  <a:srgbClr val="000000"/>
                </a:solidFill>
              </a:rPr>
              <a:t>변환하여 </a:t>
            </a:r>
            <a:r>
              <a:rPr lang="ko-KR" altLang="en-US" sz="1200" kern="0">
                <a:solidFill>
                  <a:srgbClr val="000000"/>
                </a:solidFill>
              </a:rPr>
              <a:t>업무시스템으로 전송</a:t>
            </a: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4121823"/>
            <a:ext cx="300328" cy="1067644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3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5" y="4121824"/>
            <a:ext cx="4289794" cy="106764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프레임워크는 수신된 내부표준전문 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공통부의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입력메시지유형구분코드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에 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대량메시지</a:t>
            </a:r>
            <a:r>
              <a:rPr lang="en-US" altLang="ko-KR" sz="1200" kern="0" dirty="0">
                <a:solidFill>
                  <a:srgbClr val="000000"/>
                </a:solidFill>
              </a:rPr>
              <a:t> Flag</a:t>
            </a:r>
            <a:r>
              <a:rPr lang="ko-KR" altLang="en-US" sz="1200" kern="0" dirty="0">
                <a:solidFill>
                  <a:srgbClr val="000000"/>
                </a:solidFill>
              </a:rPr>
              <a:t>가 </a:t>
            </a:r>
            <a:r>
              <a:rPr lang="en-US" altLang="ko-KR" sz="1200" kern="0" dirty="0">
                <a:solidFill>
                  <a:srgbClr val="000000"/>
                </a:solidFill>
              </a:rPr>
              <a:t>Set</a:t>
            </a:r>
            <a:r>
              <a:rPr lang="ko-KR" altLang="en-US" sz="1200" kern="0" dirty="0">
                <a:solidFill>
                  <a:srgbClr val="000000"/>
                </a:solidFill>
              </a:rPr>
              <a:t>되어 있는 경우 </a:t>
            </a:r>
            <a:r>
              <a:rPr lang="en-US" altLang="ko-KR" sz="1200" kern="0" dirty="0">
                <a:solidFill>
                  <a:srgbClr val="000000"/>
                </a:solidFill>
              </a:rPr>
              <a:t>“</a:t>
            </a:r>
            <a:r>
              <a:rPr lang="ko-KR" altLang="en-US" sz="1200" kern="0" dirty="0">
                <a:solidFill>
                  <a:srgbClr val="000000"/>
                </a:solidFill>
              </a:rPr>
              <a:t>입력메시지계속여부</a:t>
            </a:r>
            <a:r>
              <a:rPr lang="en-US" altLang="ko-KR" sz="1200" kern="0" dirty="0">
                <a:solidFill>
                  <a:srgbClr val="000000"/>
                </a:solidFill>
              </a:rPr>
              <a:t>“ </a:t>
            </a:r>
            <a:r>
              <a:rPr lang="ko-KR" altLang="en-US" sz="1200" kern="0" dirty="0">
                <a:solidFill>
                  <a:srgbClr val="000000"/>
                </a:solidFill>
              </a:rPr>
              <a:t>항목에 종료 </a:t>
            </a:r>
            <a:r>
              <a:rPr lang="en-US" altLang="ko-KR" sz="1200" kern="0" dirty="0">
                <a:solidFill>
                  <a:srgbClr val="000000"/>
                </a:solidFill>
              </a:rPr>
              <a:t>Flag</a:t>
            </a:r>
            <a:r>
              <a:rPr lang="ko-KR" altLang="en-US" sz="1200" kern="0" dirty="0">
                <a:solidFill>
                  <a:srgbClr val="000000"/>
                </a:solidFill>
              </a:rPr>
              <a:t>일 때까지 대량입력데이터를 별도의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입력메시지</a:t>
            </a:r>
            <a:r>
              <a:rPr lang="ko-KR" altLang="en-US" sz="1200" kern="0" dirty="0">
                <a:solidFill>
                  <a:srgbClr val="000000"/>
                </a:solidFill>
              </a:rPr>
              <a:t> 저장공간</a:t>
            </a:r>
            <a:r>
              <a:rPr lang="en-US" altLang="ko-KR" sz="1200" kern="0" dirty="0">
                <a:solidFill>
                  <a:srgbClr val="000000"/>
                </a:solidFill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</a:rPr>
              <a:t>테이블</a:t>
            </a:r>
            <a:r>
              <a:rPr lang="en-US" altLang="ko-KR" sz="1200" kern="0" dirty="0">
                <a:solidFill>
                  <a:srgbClr val="000000"/>
                </a:solidFill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</a:rPr>
              <a:t>에 계속 저장 처리</a:t>
            </a: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53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5314925"/>
            <a:ext cx="300328" cy="1102407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4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5" y="5314926"/>
            <a:ext cx="4289794" cy="110240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프레임워크는 내부표준전문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입력메시지계속여부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＂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항목에 종료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Flag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인 경우 별도의 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입력메시지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저장공간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테이블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에 저장된 데이터를 하나로 병합하여 온라인 프로그램을 호출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srgbClr val="000000"/>
                </a:solidFill>
              </a:rPr>
              <a:t>거래처래</a:t>
            </a:r>
            <a:r>
              <a:rPr lang="ko-KR" altLang="en-US" sz="1200" kern="0" dirty="0">
                <a:solidFill>
                  <a:srgbClr val="000000"/>
                </a:solidFill>
              </a:rPr>
              <a:t> 결과 </a:t>
            </a:r>
            <a:r>
              <a:rPr lang="en-US" altLang="ko-KR" sz="1200" kern="0" dirty="0">
                <a:solidFill>
                  <a:srgbClr val="000000"/>
                </a:solidFill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</a:rPr>
              <a:t>번의 </a:t>
            </a:r>
            <a:r>
              <a:rPr lang="en-US" altLang="ko-KR" sz="1200" kern="0" dirty="0">
                <a:solidFill>
                  <a:srgbClr val="000000"/>
                </a:solidFill>
              </a:rPr>
              <a:t>Commit </a:t>
            </a:r>
            <a:r>
              <a:rPr lang="ko-KR" altLang="en-US" sz="1200" kern="0" dirty="0">
                <a:solidFill>
                  <a:srgbClr val="000000"/>
                </a:solidFill>
              </a:rPr>
              <a:t>발생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3390779" y="2105765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637100" y="2105765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7725332" y="2105765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64353" y="3160983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I/O Mapping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1434037" y="269476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1434037" y="300634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897501" y="2711274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flipV="1">
            <a:off x="2897501" y="2987129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3730436" y="297638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3730436" y="2711274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V="1">
            <a:off x="4802757" y="2692442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V="1">
            <a:off x="4802757" y="29760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utoShape 256"/>
          <p:cNvSpPr>
            <a:spLocks noChangeArrowheads="1"/>
          </p:cNvSpPr>
          <p:nvPr/>
        </p:nvSpPr>
        <p:spPr bwMode="auto">
          <a:xfrm>
            <a:off x="5952576" y="2090487"/>
            <a:ext cx="716090" cy="438413"/>
          </a:xfrm>
          <a:prstGeom prst="can">
            <a:avLst>
              <a:gd name="adj" fmla="val 25000"/>
            </a:avLst>
          </a:prstGeom>
          <a:solidFill>
            <a:srgbClr val="FFCA66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입력메시지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>
                <a:latin typeface="+mn-ea"/>
                <a:ea typeface="+mn-ea"/>
              </a:rPr>
              <a:t>저장공간</a:t>
            </a:r>
            <a:endParaRPr lang="en-US" altLang="ko-KR" sz="900" b="0" dirty="0">
              <a:latin typeface="+mn-ea"/>
              <a:ea typeface="+mn-ea"/>
            </a:endParaRPr>
          </a:p>
        </p:txBody>
      </p:sp>
      <p:cxnSp>
        <p:nvCxnSpPr>
          <p:cNvPr id="68" name="직선 화살표 연결선 95"/>
          <p:cNvCxnSpPr/>
          <p:nvPr/>
        </p:nvCxnSpPr>
        <p:spPr>
          <a:xfrm flipV="1">
            <a:off x="6446121" y="2528900"/>
            <a:ext cx="6813" cy="12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95"/>
          <p:cNvCxnSpPr/>
          <p:nvPr/>
        </p:nvCxnSpPr>
        <p:spPr>
          <a:xfrm flipV="1">
            <a:off x="6310372" y="2528900"/>
            <a:ext cx="6813" cy="12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95"/>
          <p:cNvCxnSpPr/>
          <p:nvPr/>
        </p:nvCxnSpPr>
        <p:spPr>
          <a:xfrm flipV="1">
            <a:off x="6157746" y="2528900"/>
            <a:ext cx="6813" cy="12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62862" y="1868627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noProof="0">
                <a:latin typeface="+mn-ea"/>
              </a:rPr>
              <a:t>F/W </a:t>
            </a:r>
            <a:r>
              <a:rPr lang="ko-KR" altLang="en-US" sz="1000" kern="0" dirty="0">
                <a:latin typeface="+mn-ea"/>
              </a:rPr>
              <a:t>적재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1115142" y="2133414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36424" y="1972512"/>
            <a:ext cx="1304732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err="1">
                <a:ln>
                  <a:noFill/>
                </a:ln>
                <a:effectLst/>
                <a:uLnTx/>
                <a:uFillTx/>
                <a:latin typeface="+mn-ea"/>
              </a:rPr>
              <a:t>입력메시지</a:t>
            </a:r>
            <a:r>
              <a:rPr kumimoji="0" lang="ko-KR" altLang="en-US" sz="10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 </a:t>
            </a:r>
            <a:endParaRPr kumimoji="0" lang="en-US" altLang="ko-KR" sz="1000" i="0" u="none" strike="noStrike" kern="0" cap="none" spc="0" normalizeH="0" noProof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noProof="0">
                <a:latin typeface="+mn-ea"/>
              </a:rPr>
              <a:t>최대전문길이</a:t>
            </a:r>
            <a:r>
              <a:rPr lang="en-US" altLang="ko-KR" sz="1000" kern="0" noProof="0">
                <a:latin typeface="+mn-ea"/>
              </a:rPr>
              <a:t>(256KB)</a:t>
            </a:r>
            <a:r>
              <a:rPr lang="ko-KR" altLang="en-US" sz="1000" kern="0" noProof="0">
                <a:latin typeface="+mn-ea"/>
              </a:rPr>
              <a:t>로 </a:t>
            </a:r>
            <a:r>
              <a:rPr kumimoji="0" lang="ko-KR" altLang="en-US" sz="10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나누어 </a:t>
            </a: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송신</a:t>
            </a:r>
          </a:p>
        </p:txBody>
      </p:sp>
      <p:sp>
        <p:nvSpPr>
          <p:cNvPr id="7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7720" y="2448304"/>
            <a:ext cx="1025038" cy="25155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noProof="0" dirty="0">
                <a:latin typeface="+mn-ea"/>
              </a:rPr>
              <a:t>1</a:t>
            </a:r>
            <a:r>
              <a:rPr lang="ko-KR" altLang="en-US" sz="1000" kern="0" noProof="0" dirty="0">
                <a:latin typeface="+mn-ea"/>
              </a:rPr>
              <a:t>회 </a:t>
            </a:r>
            <a:r>
              <a:rPr lang="en-US" altLang="ko-KR" sz="1000" kern="0" noProof="0" dirty="0">
                <a:latin typeface="+mn-ea"/>
              </a:rPr>
              <a:t>Commit </a:t>
            </a:r>
            <a:r>
              <a:rPr lang="ko-KR" altLang="en-US" sz="1000" kern="0" noProof="0" dirty="0">
                <a:latin typeface="+mn-ea"/>
              </a:rPr>
              <a:t>발생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60267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대량 출력 처리 방안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sp>
        <p:nvSpPr>
          <p:cNvPr id="8" name="오른쪽 화살표 7"/>
          <p:cNvSpPr/>
          <p:nvPr/>
        </p:nvSpPr>
        <p:spPr>
          <a:xfrm flipH="1">
            <a:off x="1572394" y="2054122"/>
            <a:ext cx="3740646" cy="161190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 err="1"/>
              <a:t>내부채널</a:t>
            </a:r>
            <a:r>
              <a:rPr lang="ko-KR" altLang="en-US" dirty="0"/>
              <a:t> 요청 거래를 처리하여 출력 정보가 전송 구간의 메시지 </a:t>
            </a:r>
            <a:r>
              <a:rPr lang="en-US" altLang="ko-KR" dirty="0"/>
              <a:t>Size </a:t>
            </a:r>
            <a:r>
              <a:rPr lang="ko-KR" altLang="en-US" dirty="0"/>
              <a:t>제한으로 인해 </a:t>
            </a:r>
            <a:r>
              <a:rPr lang="en-US" altLang="ko-KR" dirty="0"/>
              <a:t>F/W</a:t>
            </a:r>
            <a:r>
              <a:rPr lang="ko-KR" altLang="en-US" dirty="0"/>
              <a:t>에서 여러 번 나누어 복수의 출력메시지를 처리하는 방식임</a:t>
            </a:r>
          </a:p>
        </p:txBody>
      </p:sp>
      <p:grpSp>
        <p:nvGrpSpPr>
          <p:cNvPr id="10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12875"/>
            <a:ext cx="9397997" cy="325409"/>
            <a:chOff x="4088904" y="1858259"/>
            <a:chExt cx="1796884" cy="325409"/>
          </a:xfrm>
        </p:grpSpPr>
        <p:cxnSp>
          <p:nvCxnSpPr>
            <p:cNvPr id="11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1796884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8904" y="1858259"/>
              <a:ext cx="363104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대량 전문 출력 처리 흐름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489290" y="1836888"/>
            <a:ext cx="4169282" cy="21594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업무 시스템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b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</a:br>
            <a:endParaRPr lang="en-US" altLang="ko-KR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576954" y="2218494"/>
            <a:ext cx="2605610" cy="168311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F/W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38806" y="3266007"/>
            <a:ext cx="2484000" cy="591887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내부표준전문으로 변환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121822"/>
            <a:ext cx="300328" cy="603882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1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121822"/>
            <a:ext cx="4289794" cy="60388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</a:rPr>
              <a:t>온라인 프로그램에서 </a:t>
            </a:r>
            <a:r>
              <a:rPr lang="ko-KR" altLang="en-US" sz="1200" kern="0">
                <a:solidFill>
                  <a:srgbClr val="000000"/>
                </a:solidFill>
              </a:rPr>
              <a:t>채널에 관계 없이 </a:t>
            </a:r>
            <a:r>
              <a:rPr lang="ko-KR" altLang="en-US" sz="1200" kern="0" dirty="0">
                <a:solidFill>
                  <a:srgbClr val="000000"/>
                </a:solidFill>
              </a:rPr>
              <a:t>정의된 출력개별부에 출력해야 할 </a:t>
            </a:r>
            <a:r>
              <a:rPr lang="ko-KR" altLang="en-US" sz="1200" kern="0">
                <a:solidFill>
                  <a:srgbClr val="000000"/>
                </a:solidFill>
              </a:rPr>
              <a:t>정보를 조립 </a:t>
            </a:r>
            <a:r>
              <a:rPr lang="en-US" altLang="ko-KR" sz="1200" kern="0">
                <a:solidFill>
                  <a:srgbClr val="000000"/>
                </a:solidFill>
              </a:rPr>
              <a:t>(</a:t>
            </a:r>
            <a:r>
              <a:rPr lang="ko-KR" altLang="en-US" sz="1200" kern="0">
                <a:solidFill>
                  <a:srgbClr val="000000"/>
                </a:solidFill>
              </a:rPr>
              <a:t>단일 출력메시지 조립과 마찬가지로 대량출력에 대한 의식 없이 조립</a:t>
            </a:r>
            <a:r>
              <a:rPr lang="en-US" altLang="ko-KR" sz="1200" kern="0">
                <a:solidFill>
                  <a:srgbClr val="000000"/>
                </a:solidFill>
              </a:rPr>
              <a:t>)</a:t>
            </a:r>
            <a:endParaRPr lang="en-US" altLang="ko-KR" sz="1100" kern="0" dirty="0">
              <a:solidFill>
                <a:srgbClr val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72710" y="1844675"/>
            <a:ext cx="1301080" cy="21603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480916" y="1861942"/>
            <a:ext cx="1968028" cy="2160388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채널통합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3267123" y="2638446"/>
            <a:ext cx="463313" cy="396044"/>
            <a:chOff x="3267123" y="2816932"/>
            <a:chExt cx="463313" cy="396044"/>
          </a:xfrm>
        </p:grpSpPr>
        <p:sp>
          <p:nvSpPr>
            <p:cNvPr id="21" name="직사각형 20"/>
            <p:cNvSpPr/>
            <p:nvPr/>
          </p:nvSpPr>
          <p:spPr>
            <a:xfrm>
              <a:off x="3267123" y="2816932"/>
              <a:ext cx="463313" cy="3960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30316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9118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30316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59118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cxnSp>
          <p:nvCxnSpPr>
            <p:cNvPr id="26" name="직선 연결선 25"/>
            <p:cNvCxnSpPr>
              <a:stCxn id="22" idx="3"/>
              <a:endCxn id="25" idx="1"/>
            </p:cNvCxnSpPr>
            <p:nvPr/>
          </p:nvCxnSpPr>
          <p:spPr>
            <a:xfrm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stCxn id="23" idx="1"/>
              <a:endCxn id="24" idx="3"/>
            </p:cNvCxnSpPr>
            <p:nvPr/>
          </p:nvCxnSpPr>
          <p:spPr>
            <a:xfrm flipH="1"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직사각형 27"/>
          <p:cNvSpPr/>
          <p:nvPr/>
        </p:nvSpPr>
        <p:spPr>
          <a:xfrm>
            <a:off x="8604733" y="2691832"/>
            <a:ext cx="975856" cy="29149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온라인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2462" y="2292545"/>
            <a:ext cx="102157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내부채널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85206" y="2292545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채널표준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출력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990462" y="2292544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내부표준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출력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32" name="직선 화살표 연결선 31"/>
          <p:cNvCxnSpPr>
            <a:stCxn id="29" idx="3"/>
            <a:endCxn id="30" idx="1"/>
          </p:cNvCxnSpPr>
          <p:nvPr/>
        </p:nvCxnSpPr>
        <p:spPr>
          <a:xfrm>
            <a:off x="1434037" y="2839541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30" idx="3"/>
            <a:endCxn id="21" idx="1"/>
          </p:cNvCxnSpPr>
          <p:nvPr/>
        </p:nvCxnSpPr>
        <p:spPr>
          <a:xfrm flipV="1">
            <a:off x="2897501" y="2836468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1" idx="3"/>
            <a:endCxn id="31" idx="1"/>
          </p:cNvCxnSpPr>
          <p:nvPr/>
        </p:nvCxnSpPr>
        <p:spPr>
          <a:xfrm>
            <a:off x="3730436" y="283646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31" idx="3"/>
            <a:endCxn id="36" idx="1"/>
          </p:cNvCxnSpPr>
          <p:nvPr/>
        </p:nvCxnSpPr>
        <p:spPr>
          <a:xfrm flipV="1">
            <a:off x="4802757" y="28388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5977252" y="2671324"/>
            <a:ext cx="913516" cy="335024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I/O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처리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063248" y="2671324"/>
            <a:ext cx="914088" cy="335024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서비스 처리</a:t>
            </a:r>
          </a:p>
        </p:txBody>
      </p:sp>
      <p:cxnSp>
        <p:nvCxnSpPr>
          <p:cNvPr id="38" name="직선 화살표 연결선 37"/>
          <p:cNvCxnSpPr>
            <a:stCxn id="37" idx="1"/>
            <a:endCxn id="36" idx="3"/>
          </p:cNvCxnSpPr>
          <p:nvPr/>
        </p:nvCxnSpPr>
        <p:spPr>
          <a:xfrm flipH="1">
            <a:off x="6890768" y="2838836"/>
            <a:ext cx="172480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7" idx="3"/>
            <a:endCxn id="28" idx="1"/>
          </p:cNvCxnSpPr>
          <p:nvPr/>
        </p:nvCxnSpPr>
        <p:spPr>
          <a:xfrm flipV="1">
            <a:off x="7977336" y="2837580"/>
            <a:ext cx="627397" cy="1256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5679842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헤더부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55234" y="3465512"/>
            <a:ext cx="812295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CommArea</a:t>
            </a:r>
            <a:endParaRPr lang="ko-KR" altLang="en-US" sz="9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300110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출력개별부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43" name="직선 화살표 연결선 95"/>
          <p:cNvCxnSpPr>
            <a:stCxn id="28" idx="2"/>
            <a:endCxn id="15" idx="3"/>
          </p:cNvCxnSpPr>
          <p:nvPr/>
        </p:nvCxnSpPr>
        <p:spPr>
          <a:xfrm rot="5400000">
            <a:off x="8318422" y="2787712"/>
            <a:ext cx="578624" cy="96985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95"/>
          <p:cNvCxnSpPr>
            <a:stCxn id="15" idx="0"/>
            <a:endCxn id="36" idx="2"/>
          </p:cNvCxnSpPr>
          <p:nvPr/>
        </p:nvCxnSpPr>
        <p:spPr>
          <a:xfrm rot="16200000" flipV="1">
            <a:off x="6527579" y="2912780"/>
            <a:ext cx="259659" cy="446796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93360" y="3330051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조립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81474" y="2270146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응답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2248" y="2645258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서비스 응답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778974"/>
            <a:ext cx="300328" cy="1780003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2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778974"/>
            <a:ext cx="4289794" cy="178237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>
                <a:solidFill>
                  <a:srgbClr val="000000"/>
                </a:solidFill>
              </a:rPr>
              <a:t>어플리케이션</a:t>
            </a:r>
            <a:r>
              <a:rPr kumimoji="0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처리 종료 시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프레임워크에서 대량 </a:t>
            </a:r>
            <a:r>
              <a:rPr kumimoji="0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출력 메시지를 아래의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흐름에 </a:t>
            </a:r>
            <a:r>
              <a:rPr kumimoji="0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따라 처리</a:t>
            </a:r>
            <a:endParaRPr kumimoji="0" lang="en-US" altLang="ko-KR" sz="120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eaLnBrk="0" fontAlgn="auto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kern="0">
                <a:solidFill>
                  <a:srgbClr val="000000"/>
                </a:solidFill>
              </a:rPr>
              <a:t>MCI</a:t>
            </a:r>
            <a:r>
              <a:rPr lang="ko-KR" altLang="en-US" sz="1100" kern="0">
                <a:solidFill>
                  <a:srgbClr val="000000"/>
                </a:solidFill>
              </a:rPr>
              <a:t>로 출력전문을 전송하기 위해 내부표준전문 조립한다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  <a:br>
              <a:rPr lang="en-US" altLang="ko-KR" sz="1100" kern="0">
                <a:solidFill>
                  <a:srgbClr val="000000"/>
                </a:solidFill>
              </a:rPr>
            </a:br>
            <a:r>
              <a:rPr lang="ko-KR" altLang="en-US" sz="1100" kern="0">
                <a:solidFill>
                  <a:srgbClr val="000000"/>
                </a:solidFill>
              </a:rPr>
              <a:t>헤더부와</a:t>
            </a:r>
            <a:r>
              <a:rPr lang="en-US" altLang="ko-KR" sz="1100" kern="0">
                <a:solidFill>
                  <a:srgbClr val="000000"/>
                </a:solidFill>
              </a:rPr>
              <a:t> </a:t>
            </a:r>
            <a:r>
              <a:rPr lang="ko-KR" altLang="en-US" sz="1100" kern="0">
                <a:solidFill>
                  <a:srgbClr val="000000"/>
                </a:solidFill>
              </a:rPr>
              <a:t>공통부를 조립하고</a:t>
            </a:r>
            <a:r>
              <a:rPr lang="en-US" altLang="ko-KR" sz="1100" kern="0">
                <a:solidFill>
                  <a:srgbClr val="000000"/>
                </a:solidFill>
              </a:rPr>
              <a:t>,</a:t>
            </a:r>
            <a:r>
              <a:rPr lang="ko-KR" altLang="en-US" sz="1100" kern="0">
                <a:solidFill>
                  <a:srgbClr val="000000"/>
                </a:solidFill>
              </a:rPr>
              <a:t> 어플리케이션이 조립한 출력개별부를 내부표준전문 데이터 형식에 맞게 조립한다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kern="0">
                <a:solidFill>
                  <a:srgbClr val="000000"/>
                </a:solidFill>
              </a:rPr>
              <a:t>조립한 </a:t>
            </a:r>
            <a:r>
              <a:rPr lang="ko-KR" altLang="en-US" sz="1100" kern="0">
                <a:solidFill>
                  <a:srgbClr val="000000"/>
                </a:solidFill>
                <a:latin typeface="+mn-ea"/>
              </a:rPr>
              <a:t>메시지 길이가 </a:t>
            </a:r>
            <a:r>
              <a:rPr lang="en-US" altLang="ko-KR" sz="1100" kern="0">
                <a:solidFill>
                  <a:srgbClr val="000000"/>
                </a:solidFill>
                <a:latin typeface="+mn-ea"/>
              </a:rPr>
              <a:t>256KB</a:t>
            </a:r>
            <a:r>
              <a:rPr lang="ko-KR" altLang="en-US" sz="1100" kern="0">
                <a:solidFill>
                  <a:srgbClr val="000000"/>
                </a:solidFill>
                <a:latin typeface="+mn-ea"/>
              </a:rPr>
              <a:t>를 초과하는 경우</a:t>
            </a:r>
            <a:r>
              <a:rPr lang="en-US" altLang="ko-KR" sz="1100" kern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</a:rPr>
              <a:t>별도 출력메시지 보관 장소에 저장한다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  <a:r>
              <a:rPr lang="ko-KR" altLang="en-US" sz="1100" kern="0">
                <a:solidFill>
                  <a:srgbClr val="000000"/>
                </a:solidFill>
              </a:rPr>
              <a:t>저장 단위는 내부표준전문 전송 단위 이다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kern="0">
                <a:solidFill>
                  <a:srgbClr val="000000"/>
                </a:solidFill>
              </a:rPr>
              <a:t>저장 완료 후 출력메시지 저장공간에 저장되어있는 데이터를 </a:t>
            </a:r>
            <a:r>
              <a:rPr lang="en-US" altLang="ko-KR" sz="1100" kern="0">
                <a:solidFill>
                  <a:srgbClr val="000000"/>
                </a:solidFill>
              </a:rPr>
              <a:t>Record </a:t>
            </a:r>
            <a:r>
              <a:rPr lang="ko-KR" altLang="en-US" sz="1100" kern="0">
                <a:solidFill>
                  <a:srgbClr val="000000"/>
                </a:solidFill>
              </a:rPr>
              <a:t> 단위로 </a:t>
            </a:r>
            <a:r>
              <a:rPr lang="en-US" altLang="ko-KR" sz="1100" kern="0">
                <a:solidFill>
                  <a:srgbClr val="000000"/>
                </a:solidFill>
              </a:rPr>
              <a:t>MCI</a:t>
            </a:r>
            <a:r>
              <a:rPr lang="ko-KR" altLang="en-US" sz="1100" kern="0">
                <a:solidFill>
                  <a:srgbClr val="000000"/>
                </a:solidFill>
              </a:rPr>
              <a:t>에 송신 </a:t>
            </a:r>
            <a:endParaRPr lang="en-US" altLang="ko-KR" sz="1100" kern="0" dirty="0">
              <a:solidFill>
                <a:srgbClr val="000000"/>
              </a:solidFill>
            </a:endParaRPr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4121822"/>
            <a:ext cx="300328" cy="1042703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3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4" y="4121823"/>
            <a:ext cx="4329007" cy="1042703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lvl="0" eaLnBrk="0" hangingPunct="0">
              <a:spcBef>
                <a:spcPts val="600"/>
              </a:spcBef>
              <a:buSzPct val="100000"/>
              <a:defRPr/>
            </a:pPr>
            <a:r>
              <a:rPr lang="ko-KR" altLang="en-US" sz="1200" kern="0" dirty="0"/>
              <a:t>채널통합서버</a:t>
            </a:r>
            <a:r>
              <a:rPr lang="en-US" altLang="ko-KR" sz="1200" kern="0" dirty="0"/>
              <a:t>(MCI)</a:t>
            </a:r>
            <a:r>
              <a:rPr lang="ko-KR" altLang="en-US" sz="1200" kern="0" dirty="0"/>
              <a:t>는 </a:t>
            </a:r>
            <a:r>
              <a:rPr lang="en-US" altLang="ko-KR" sz="1200" kern="0" dirty="0"/>
              <a:t>I/O </a:t>
            </a:r>
            <a:r>
              <a:rPr lang="ko-KR" altLang="en-US" sz="1200" kern="0" dirty="0"/>
              <a:t>변환</a:t>
            </a:r>
            <a:r>
              <a:rPr lang="en-US" altLang="ko-KR" sz="1200" kern="0" dirty="0"/>
              <a:t>(</a:t>
            </a:r>
            <a:r>
              <a:rPr lang="ko-KR" altLang="en-US" sz="1200" kern="0" dirty="0"/>
              <a:t>내부표준전문</a:t>
            </a:r>
            <a:r>
              <a:rPr lang="en-US" altLang="ko-KR" sz="1200" kern="0" dirty="0"/>
              <a:t>(</a:t>
            </a:r>
            <a:r>
              <a:rPr lang="ko-KR" altLang="en-US" sz="1200" kern="0" dirty="0"/>
              <a:t>출력</a:t>
            </a:r>
            <a:r>
              <a:rPr lang="en-US" altLang="ko-KR" sz="1200" kern="0" dirty="0"/>
              <a:t>) -&gt; </a:t>
            </a:r>
            <a:r>
              <a:rPr lang="ko-KR" altLang="en-US" sz="1200" kern="0" dirty="0"/>
              <a:t>채널표준전문</a:t>
            </a:r>
            <a:r>
              <a:rPr lang="en-US" altLang="ko-KR" sz="1200" kern="0" dirty="0"/>
              <a:t>(</a:t>
            </a:r>
            <a:r>
              <a:rPr lang="ko-KR" altLang="en-US" sz="1200" kern="0" dirty="0"/>
              <a:t>출력</a:t>
            </a:r>
            <a:r>
              <a:rPr lang="en-US" altLang="ko-KR" sz="1200" kern="0" dirty="0"/>
              <a:t>)) </a:t>
            </a:r>
            <a:r>
              <a:rPr lang="ko-KR" altLang="en-US" sz="1200" kern="0" dirty="0"/>
              <a:t>처리하여 채널로 전송</a:t>
            </a:r>
            <a:endParaRPr lang="en-US" altLang="ko-KR" sz="1200" kern="0" dirty="0"/>
          </a:p>
          <a:p>
            <a:pPr marL="171450" lvl="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kern="0" dirty="0"/>
              <a:t>업무시스템에서 수신된 출력메시지는 </a:t>
            </a:r>
            <a:r>
              <a:rPr lang="en-US" altLang="ko-KR" sz="1100" kern="0" dirty="0"/>
              <a:t>Buffering </a:t>
            </a:r>
            <a:r>
              <a:rPr lang="ko-KR" altLang="en-US" sz="1100" kern="0" dirty="0"/>
              <a:t>없이 </a:t>
            </a:r>
            <a:r>
              <a:rPr lang="en-US" altLang="ko-KR" sz="1100" kern="0" dirty="0"/>
              <a:t>I/O </a:t>
            </a:r>
            <a:r>
              <a:rPr lang="ko-KR" altLang="en-US" sz="1100" kern="0" dirty="0"/>
              <a:t>변환하여 채널로 전송</a:t>
            </a:r>
            <a:endParaRPr lang="en-US" altLang="ko-KR" sz="1100" kern="0" dirty="0"/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5227102"/>
            <a:ext cx="300328" cy="1334245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4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4" y="5227104"/>
            <a:ext cx="4329007" cy="133424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내부 채널은 채널표준전문의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</a:rPr>
              <a:t>출력메시지유형구분코드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”</a:t>
            </a:r>
            <a:r>
              <a:rPr lang="ko-KR" altLang="en-US" sz="1200" kern="0" dirty="0"/>
              <a:t>에 </a:t>
            </a:r>
            <a:r>
              <a:rPr lang="en-US" altLang="ko-KR" sz="1200" kern="0" dirty="0"/>
              <a:t>“</a:t>
            </a:r>
            <a:r>
              <a:rPr lang="ko-KR" altLang="en-US" sz="1200" kern="0" dirty="0" err="1"/>
              <a:t>대량출력</a:t>
            </a:r>
            <a:r>
              <a:rPr lang="en-US" altLang="ko-KR" sz="1200" kern="0" dirty="0"/>
              <a:t>” Flag</a:t>
            </a:r>
            <a:r>
              <a:rPr lang="ko-KR" altLang="en-US" sz="1200" kern="0" dirty="0"/>
              <a:t>가 </a:t>
            </a:r>
            <a:r>
              <a:rPr lang="en-US" altLang="ko-KR" sz="1200" kern="0" dirty="0"/>
              <a:t>Set</a:t>
            </a:r>
            <a:r>
              <a:rPr lang="ko-KR" altLang="en-US" sz="1200" kern="0" dirty="0"/>
              <a:t>된 경우 </a:t>
            </a:r>
            <a:r>
              <a:rPr lang="en-US" altLang="ko-KR" sz="1200" kern="0" dirty="0"/>
              <a:t>“</a:t>
            </a:r>
            <a:r>
              <a:rPr lang="ko-KR" altLang="en-US" sz="1200" kern="0" dirty="0"/>
              <a:t>출력계속여부</a:t>
            </a:r>
            <a:r>
              <a:rPr lang="en-US" altLang="ko-KR" sz="1200" kern="0" dirty="0"/>
              <a:t>＂</a:t>
            </a:r>
            <a:r>
              <a:rPr lang="ko-KR" altLang="en-US" sz="1200" kern="0" dirty="0"/>
              <a:t>항목에 종료 </a:t>
            </a:r>
            <a:r>
              <a:rPr lang="en-US" altLang="ko-KR" sz="1200" kern="0" dirty="0"/>
              <a:t>Flag </a:t>
            </a:r>
            <a:r>
              <a:rPr lang="ko-KR" altLang="en-US" sz="1200" kern="0" dirty="0"/>
              <a:t>가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체크될 때까지 나누어 수신된 출력 메시지를 병합 후 응답을 처리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1100572" y="2077940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3390779" y="2100463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6650436" y="3042582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r>
              <a:rPr lang="en-US" altLang="ko-KR" sz="1100" b="1" baseline="3000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baseline="30000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64353" y="3160983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I/O Mapping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1434037" y="269476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>
            <a:off x="1434037" y="300634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V="1">
            <a:off x="2897501" y="2711274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897501" y="2987129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3730436" y="297638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3730436" y="2711274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V="1">
            <a:off x="4802757" y="270929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V="1">
            <a:off x="4802757" y="29760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256"/>
          <p:cNvSpPr>
            <a:spLocks noChangeArrowheads="1"/>
          </p:cNvSpPr>
          <p:nvPr/>
        </p:nvSpPr>
        <p:spPr bwMode="auto">
          <a:xfrm>
            <a:off x="5952576" y="2090487"/>
            <a:ext cx="716090" cy="438413"/>
          </a:xfrm>
          <a:prstGeom prst="can">
            <a:avLst>
              <a:gd name="adj" fmla="val 25000"/>
            </a:avLst>
          </a:prstGeom>
          <a:solidFill>
            <a:srgbClr val="FFCA66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출력메시지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>
                <a:latin typeface="+mn-ea"/>
                <a:ea typeface="+mn-ea"/>
              </a:rPr>
              <a:t>저장공간</a:t>
            </a:r>
            <a:endParaRPr lang="en-US" altLang="ko-KR" sz="900" b="0" dirty="0">
              <a:latin typeface="+mn-ea"/>
              <a:ea typeface="+mn-ea"/>
            </a:endParaRPr>
          </a:p>
        </p:txBody>
      </p:sp>
      <p:cxnSp>
        <p:nvCxnSpPr>
          <p:cNvPr id="67" name="직선 화살표 연결선 95"/>
          <p:cNvCxnSpPr>
            <a:endCxn id="36" idx="0"/>
          </p:cNvCxnSpPr>
          <p:nvPr/>
        </p:nvCxnSpPr>
        <p:spPr>
          <a:xfrm flipH="1">
            <a:off x="6434010" y="2519837"/>
            <a:ext cx="1832" cy="151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1212" y="3065532"/>
            <a:ext cx="1686941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err="1">
                <a:latin typeface="+mn-ea"/>
              </a:rPr>
              <a:t>출력메시지</a:t>
            </a:r>
            <a:r>
              <a:rPr lang="ko-KR" altLang="en-US" sz="1000" kern="0">
                <a:latin typeface="+mn-ea"/>
              </a:rPr>
              <a:t> 분할 저장</a:t>
            </a:r>
            <a:br>
              <a:rPr lang="en-US" altLang="ko-KR" sz="1000" kern="0">
                <a:latin typeface="+mn-ea"/>
              </a:rPr>
            </a:br>
            <a:r>
              <a:rPr lang="en-US" altLang="ko-KR" sz="1000" kern="0">
                <a:latin typeface="+mn-ea"/>
              </a:rPr>
              <a:t>(256 KB </a:t>
            </a:r>
            <a:r>
              <a:rPr lang="ko-KR" altLang="en-US" sz="1000" kern="0">
                <a:latin typeface="+mn-ea"/>
              </a:rPr>
              <a:t>단위</a:t>
            </a:r>
            <a:r>
              <a:rPr lang="en-US" altLang="ko-KR" sz="1000" kern="0">
                <a:latin typeface="+mn-ea"/>
              </a:rPr>
              <a:t>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69" name="직선 화살표 연결선 95"/>
          <p:cNvCxnSpPr/>
          <p:nvPr/>
        </p:nvCxnSpPr>
        <p:spPr>
          <a:xfrm flipH="1">
            <a:off x="6322113" y="2519837"/>
            <a:ext cx="1832" cy="151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95"/>
          <p:cNvCxnSpPr/>
          <p:nvPr/>
        </p:nvCxnSpPr>
        <p:spPr>
          <a:xfrm flipH="1">
            <a:off x="6204594" y="2519837"/>
            <a:ext cx="1832" cy="151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62862" y="1868627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noProof="0">
                <a:latin typeface="+mn-ea"/>
              </a:rPr>
              <a:t>F/W </a:t>
            </a:r>
            <a:r>
              <a:rPr lang="ko-KR" altLang="en-US" sz="1000" kern="0" noProof="0">
                <a:latin typeface="+mn-ea"/>
              </a:rPr>
              <a:t>저장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82995" y="2079760"/>
            <a:ext cx="1304732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latin typeface="+mn-ea"/>
              </a:rPr>
              <a:t>수신된 메시지 조립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16374" y="1376772"/>
            <a:ext cx="173910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latin typeface="+mn-ea"/>
              </a:rPr>
              <a:t>최대 </a:t>
            </a:r>
            <a:r>
              <a:rPr lang="en-US" altLang="ko-KR" sz="1000" kern="0">
                <a:latin typeface="+mn-ea"/>
              </a:rPr>
              <a:t>256KB </a:t>
            </a:r>
            <a:r>
              <a:rPr lang="ko-KR" altLang="en-US" sz="1000" kern="0">
                <a:latin typeface="+mn-ea"/>
              </a:rPr>
              <a:t>단위로 출력전문 분할 저장 후 </a:t>
            </a:r>
            <a:r>
              <a:rPr lang="en-US" altLang="ko-KR" sz="1000" kern="0">
                <a:latin typeface="+mn-ea"/>
              </a:rPr>
              <a:t>Record </a:t>
            </a:r>
            <a:r>
              <a:rPr lang="ko-KR" altLang="en-US" sz="1000" kern="0">
                <a:latin typeface="+mn-ea"/>
              </a:rPr>
              <a:t>단위 전송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8288228" y="3328608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4916996" y="2513660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r>
              <a:rPr lang="en-US" altLang="ko-KR" sz="1100" b="1" baseline="3000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baseline="30000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33020" y="2501959"/>
            <a:ext cx="1686941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latin typeface="+mn-ea"/>
              </a:rPr>
              <a:t>저장</a:t>
            </a:r>
            <a:r>
              <a:rPr lang="en-US" altLang="ko-KR" sz="1000" kern="0">
                <a:latin typeface="+mn-ea"/>
              </a:rPr>
              <a:t> </a:t>
            </a:r>
            <a:r>
              <a:rPr lang="ko-KR" altLang="en-US" sz="1000" kern="0">
                <a:latin typeface="+mn-ea"/>
              </a:rPr>
              <a:t>단위별 전송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8454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프레임워크 선후 처리 필터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본 거래</a:t>
            </a:r>
            <a:r>
              <a:rPr lang="en-US" altLang="ko-KR" dirty="0"/>
              <a:t> (PM) </a:t>
            </a:r>
            <a:r>
              <a:rPr lang="ko-KR" altLang="en-US" dirty="0"/>
              <a:t>실행 전후로 </a:t>
            </a:r>
            <a:r>
              <a:rPr lang="ko-KR" altLang="en-US" dirty="0" err="1"/>
              <a:t>선후처리를</a:t>
            </a:r>
            <a:r>
              <a:rPr lang="ko-KR" altLang="en-US" dirty="0"/>
              <a:t> 실행하는 구조 제공</a:t>
            </a:r>
            <a:r>
              <a:rPr lang="en-US" altLang="ko-KR" dirty="0"/>
              <a:t>. </a:t>
            </a:r>
            <a:r>
              <a:rPr lang="ko-KR" altLang="en-US" dirty="0"/>
              <a:t>필터 체인 방식으로써 </a:t>
            </a:r>
            <a:r>
              <a:rPr lang="ko-KR" altLang="en-US" dirty="0" err="1"/>
              <a:t>거래코드</a:t>
            </a:r>
            <a:r>
              <a:rPr lang="ko-KR" altLang="en-US" dirty="0"/>
              <a:t> 패턴으로 </a:t>
            </a:r>
            <a:r>
              <a:rPr lang="ko-KR" altLang="en-US" dirty="0" err="1"/>
              <a:t>선후처리</a:t>
            </a:r>
            <a:r>
              <a:rPr lang="ko-KR" altLang="en-US" dirty="0"/>
              <a:t> 실행을 동적으로 설정함</a:t>
            </a:r>
            <a:r>
              <a:rPr lang="en-US" altLang="ko-KR" dirty="0"/>
              <a:t>. </a:t>
            </a:r>
            <a:r>
              <a:rPr lang="ko-KR" altLang="en-US" dirty="0" err="1"/>
              <a:t>선후처리는</a:t>
            </a:r>
            <a:r>
              <a:rPr lang="ko-KR" altLang="en-US" dirty="0"/>
              <a:t> </a:t>
            </a:r>
            <a:r>
              <a:rPr lang="en-US" altLang="ko-KR" dirty="0"/>
              <a:t>FM </a:t>
            </a:r>
            <a:r>
              <a:rPr lang="ko-KR" altLang="en-US" dirty="0"/>
              <a:t>으로 개발하며</a:t>
            </a:r>
            <a:r>
              <a:rPr lang="en-US" altLang="ko-KR" dirty="0"/>
              <a:t>, </a:t>
            </a:r>
            <a:r>
              <a:rPr lang="ko-KR" altLang="en-US" dirty="0" err="1"/>
              <a:t>선후처리의</a:t>
            </a:r>
            <a:r>
              <a:rPr lang="ko-KR" altLang="en-US" dirty="0"/>
              <a:t> 설정은 관리콘솔에서 설정 관리함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02423" y="2274096"/>
            <a:ext cx="4850490" cy="0"/>
          </a:xfrm>
          <a:prstGeom prst="line">
            <a:avLst/>
          </a:prstGeom>
          <a:noFill/>
          <a:ln w="12700">
            <a:solidFill>
              <a:srgbClr val="333333"/>
            </a:solidFill>
            <a:round/>
            <a:headEnd type="none" w="med" len="med"/>
            <a:tailEnd type="none" w="med" len="med"/>
          </a:ln>
        </p:spPr>
      </p:cxnSp>
      <p:sp>
        <p:nvSpPr>
          <p:cNvPr id="7" name="직사각형 6"/>
          <p:cNvSpPr/>
          <p:nvPr/>
        </p:nvSpPr>
        <p:spPr>
          <a:xfrm>
            <a:off x="5815403" y="2177418"/>
            <a:ext cx="802423" cy="207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702423" y="2376678"/>
            <a:ext cx="3194306" cy="3021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400785" y="1746777"/>
            <a:ext cx="1152128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0785" y="2379808"/>
            <a:ext cx="1152128" cy="3018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7528951" y="2842322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PM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7814701" y="3390010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FM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7816289" y="3913885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DM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7963926" y="3251898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7978214" y="3790061"/>
            <a:ext cx="247651" cy="2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7530539" y="4561310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DM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6944888" y="3832787"/>
            <a:ext cx="145705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702423" y="1740666"/>
            <a:ext cx="3190968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 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288217" y="1747661"/>
            <a:ext cx="929828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8217" y="2391861"/>
            <a:ext cx="929828" cy="3006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2415334" y="2541989"/>
            <a:ext cx="687947" cy="273019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MCI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1794266" y="2667652"/>
            <a:ext cx="49395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H="1">
            <a:off x="1823243" y="5200172"/>
            <a:ext cx="464974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8057" y="2393131"/>
            <a:ext cx="966015" cy="30047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48058" y="1747661"/>
            <a:ext cx="966015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943573" y="2487018"/>
            <a:ext cx="759728" cy="278516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통합단말</a:t>
            </a:r>
          </a:p>
        </p:txBody>
      </p:sp>
      <p:sp>
        <p:nvSpPr>
          <p:cNvPr id="29" name="Line 20"/>
          <p:cNvSpPr>
            <a:spLocks noChangeShapeType="1"/>
          </p:cNvSpPr>
          <p:nvPr/>
        </p:nvSpPr>
        <p:spPr bwMode="auto">
          <a:xfrm rot="16200000">
            <a:off x="7145422" y="3318209"/>
            <a:ext cx="0" cy="504061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rot="16200000" flipH="1" flipV="1">
            <a:off x="7148757" y="3789514"/>
            <a:ext cx="0" cy="504056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3874899" y="2511260"/>
            <a:ext cx="563880" cy="276812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FWK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맑은 고딕" pitchFamily="50" charset="-127"/>
                <a:ea typeface="맑은 고딕" pitchFamily="50" charset="-127"/>
              </a:rPr>
              <a:t>메인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4895147" y="3006175"/>
            <a:ext cx="881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000" b="1" dirty="0">
                <a:latin typeface="+mn-ea"/>
                <a:ea typeface="+mn-ea"/>
              </a:rPr>
              <a:t>선처리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5023943" y="4038080"/>
            <a:ext cx="674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1000" b="1" dirty="0">
                <a:latin typeface="+mn-ea"/>
                <a:ea typeface="+mn-ea"/>
              </a:rPr>
              <a:t>후처리</a:t>
            </a:r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3218045" y="2667652"/>
            <a:ext cx="48437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Line 20"/>
          <p:cNvSpPr>
            <a:spLocks noChangeShapeType="1"/>
          </p:cNvSpPr>
          <p:nvPr/>
        </p:nvSpPr>
        <p:spPr bwMode="auto">
          <a:xfrm flipH="1">
            <a:off x="3218045" y="5200172"/>
            <a:ext cx="48437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flipV="1">
            <a:off x="4438779" y="2686391"/>
            <a:ext cx="35024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 flipV="1">
            <a:off x="4438778" y="4578352"/>
            <a:ext cx="35024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4789022" y="2617370"/>
            <a:ext cx="404424" cy="2556314"/>
          </a:xfrm>
          <a:prstGeom prst="rect">
            <a:avLst/>
          </a:prstGeom>
          <a:solidFill>
            <a:sysClr val="window" lastClr="FFFFFF"/>
          </a:solidFill>
          <a:ln w="28575" algn="ctr">
            <a:solidFill>
              <a:schemeClr val="accent2"/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필터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5528577" y="2618962"/>
            <a:ext cx="404424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필터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276281" y="2618962"/>
            <a:ext cx="404424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필터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 rot="16200000">
            <a:off x="4676789" y="3033036"/>
            <a:ext cx="631916" cy="268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 rot="16200000">
            <a:off x="4681347" y="4186764"/>
            <a:ext cx="631916" cy="268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 rot="16200000">
            <a:off x="5410273" y="3033036"/>
            <a:ext cx="631916" cy="268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 rot="16200000">
            <a:off x="5414831" y="4186764"/>
            <a:ext cx="631916" cy="268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 rot="16200000">
            <a:off x="6157977" y="3033036"/>
            <a:ext cx="631916" cy="268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 rot="16200000">
            <a:off x="6162535" y="4186764"/>
            <a:ext cx="631916" cy="2685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>
            <a:off x="5193446" y="2778152"/>
            <a:ext cx="33513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Line 20"/>
          <p:cNvSpPr>
            <a:spLocks noChangeShapeType="1"/>
          </p:cNvSpPr>
          <p:nvPr/>
        </p:nvSpPr>
        <p:spPr bwMode="auto">
          <a:xfrm>
            <a:off x="5932576" y="2850160"/>
            <a:ext cx="33513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Line 20"/>
          <p:cNvSpPr>
            <a:spLocks noChangeShapeType="1"/>
          </p:cNvSpPr>
          <p:nvPr/>
        </p:nvSpPr>
        <p:spPr bwMode="auto">
          <a:xfrm rot="16200000" flipV="1">
            <a:off x="6104427" y="4118469"/>
            <a:ext cx="2" cy="343705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 rot="16200000" flipV="1">
            <a:off x="5361011" y="4266770"/>
            <a:ext cx="0" cy="335131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 rot="16200000">
            <a:off x="4777031" y="4761580"/>
            <a:ext cx="448012" cy="27120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734520" y="2169291"/>
            <a:ext cx="8605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800" dirty="0">
                <a:latin typeface="+mn-ea"/>
                <a:ea typeface="+mn-ea"/>
              </a:rPr>
              <a:t>1 commit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21661" y="2885599"/>
            <a:ext cx="356648" cy="6463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  <a:ea typeface="+mn-ea"/>
              </a:rPr>
              <a:t>선처리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8552913" y="2214492"/>
            <a:ext cx="0" cy="119208"/>
          </a:xfrm>
          <a:prstGeom prst="line">
            <a:avLst/>
          </a:prstGeom>
          <a:noFill/>
          <a:ln w="12700">
            <a:solidFill>
              <a:srgbClr val="333333"/>
            </a:solidFill>
            <a:round/>
            <a:headEnd type="none" w="med" len="med"/>
            <a:tailEnd type="none" w="med" len="med"/>
          </a:ln>
        </p:spPr>
      </p:cxnSp>
      <p:cxnSp>
        <p:nvCxnSpPr>
          <p:cNvPr id="66" name="직선 연결선 65"/>
          <p:cNvCxnSpPr/>
          <p:nvPr/>
        </p:nvCxnSpPr>
        <p:spPr>
          <a:xfrm>
            <a:off x="3702423" y="2223225"/>
            <a:ext cx="0" cy="115702"/>
          </a:xfrm>
          <a:prstGeom prst="line">
            <a:avLst/>
          </a:prstGeom>
          <a:noFill/>
          <a:ln w="12700">
            <a:solidFill>
              <a:srgbClr val="333333"/>
            </a:solidFill>
            <a:round/>
            <a:headEnd type="none" w="med" len="med"/>
            <a:tailEnd type="none" w="med" len="med"/>
          </a:ln>
        </p:spPr>
      </p:cxnSp>
      <p:sp>
        <p:nvSpPr>
          <p:cNvPr id="67" name="사각형 설명선 66"/>
          <p:cNvSpPr/>
          <p:nvPr/>
        </p:nvSpPr>
        <p:spPr>
          <a:xfrm>
            <a:off x="2415335" y="5556103"/>
            <a:ext cx="2778112" cy="983707"/>
          </a:xfrm>
          <a:prstGeom prst="wedgeRectCallout">
            <a:avLst>
              <a:gd name="adj1" fmla="val 27722"/>
              <a:gd name="adj2" fmla="val -4015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선후처리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 필터 단위</a:t>
            </a:r>
            <a:b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</a:b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선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후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에러 처리를 하나의 세트로 등록 관리함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.</a:t>
            </a:r>
          </a:p>
          <a:p>
            <a:pPr marL="85725" indent="-857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이 필터를 수행하는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거래코드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 패턴을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정규표현식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 문법으로 등록함</a:t>
            </a:r>
            <a:b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(.* 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전체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, ABC.* : ABC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로 시작하는 거래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)</a:t>
            </a:r>
          </a:p>
        </p:txBody>
      </p:sp>
      <p:sp>
        <p:nvSpPr>
          <p:cNvPr id="68" name="사각형 설명선 67"/>
          <p:cNvSpPr/>
          <p:nvPr/>
        </p:nvSpPr>
        <p:spPr>
          <a:xfrm>
            <a:off x="5565060" y="5564610"/>
            <a:ext cx="3276371" cy="975199"/>
          </a:xfrm>
          <a:prstGeom prst="wedgeRectCallout">
            <a:avLst>
              <a:gd name="adj1" fmla="val -43774"/>
              <a:gd name="adj2" fmla="val -37326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후처리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실행시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 선처리 역순으로 실행됨</a:t>
            </a:r>
            <a:endParaRPr lang="en-US" altLang="ko-KR" sz="1000" dirty="0">
              <a:solidFill>
                <a:schemeClr val="tx1"/>
              </a:solidFill>
              <a:latin typeface="+mn-ea"/>
              <a:cs typeface="Arial" charset="0"/>
            </a:endParaRPr>
          </a:p>
          <a:p>
            <a:pPr marL="85725" indent="-857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선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~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후처리까지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 트랜잭션 구간이며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후처리에서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charset="0"/>
              </a:rPr>
              <a:t> 에러 발생시에도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" charset="0"/>
              </a:rPr>
              <a:t>PM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charset="0"/>
              </a:rPr>
              <a:t>롤백됨</a:t>
            </a:r>
            <a:endParaRPr lang="en-US" altLang="ko-KR" sz="1000" dirty="0">
              <a:solidFill>
                <a:schemeClr val="tx1"/>
              </a:solidFill>
              <a:latin typeface="+mn-ea"/>
              <a:cs typeface="Arial" charset="0"/>
            </a:endParaRPr>
          </a:p>
          <a:p>
            <a:pPr marL="85725" indent="-857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+mn-ea"/>
                <a:cs typeface="Arial" charset="0"/>
              </a:rPr>
              <a:t>선처리에서</a:t>
            </a:r>
            <a:r>
              <a:rPr lang="ko-KR" altLang="en-US" sz="1000" dirty="0">
                <a:latin typeface="+mn-ea"/>
                <a:cs typeface="Arial" charset="0"/>
              </a:rPr>
              <a:t> </a:t>
            </a:r>
            <a:r>
              <a:rPr lang="ko-KR" altLang="en-US" sz="1000" dirty="0" err="1">
                <a:latin typeface="+mn-ea"/>
                <a:cs typeface="Arial" charset="0"/>
              </a:rPr>
              <a:t>부터</a:t>
            </a:r>
            <a:r>
              <a:rPr lang="ko-KR" altLang="en-US" sz="1000" dirty="0">
                <a:latin typeface="+mn-ea"/>
                <a:cs typeface="Arial" charset="0"/>
              </a:rPr>
              <a:t> 후처리 </a:t>
            </a:r>
            <a:r>
              <a:rPr lang="ko-KR" altLang="en-US" sz="1000" dirty="0" err="1">
                <a:latin typeface="+mn-ea"/>
                <a:cs typeface="Arial" charset="0"/>
              </a:rPr>
              <a:t>끝날때까지</a:t>
            </a:r>
            <a:r>
              <a:rPr lang="ko-KR" altLang="en-US" sz="1000" dirty="0">
                <a:latin typeface="+mn-ea"/>
                <a:cs typeface="Arial" charset="0"/>
              </a:rPr>
              <a:t> </a:t>
            </a:r>
            <a:r>
              <a:rPr lang="en-US" altLang="ko-KR" sz="1000" dirty="0" err="1">
                <a:latin typeface="+mn-ea"/>
                <a:cs typeface="Arial" charset="0"/>
              </a:rPr>
              <a:t>CommonArea</a:t>
            </a:r>
            <a:r>
              <a:rPr lang="en-US" altLang="ko-KR" sz="1000" dirty="0">
                <a:latin typeface="+mn-ea"/>
                <a:cs typeface="Arial" charset="0"/>
              </a:rPr>
              <a:t> </a:t>
            </a:r>
            <a:r>
              <a:rPr lang="ko-KR" altLang="en-US" sz="1000" dirty="0">
                <a:latin typeface="+mn-ea"/>
                <a:cs typeface="Arial" charset="0"/>
              </a:rPr>
              <a:t>공유됨</a:t>
            </a:r>
            <a:endParaRPr lang="en-US" altLang="ko-KR" sz="1000" dirty="0">
              <a:latin typeface="+mn-ea"/>
              <a:cs typeface="Arial" charset="0"/>
            </a:endParaRPr>
          </a:p>
        </p:txBody>
      </p:sp>
      <p:cxnSp>
        <p:nvCxnSpPr>
          <p:cNvPr id="69" name="직선 화살표 연결선 68"/>
          <p:cNvCxnSpPr/>
          <p:nvPr/>
        </p:nvCxnSpPr>
        <p:spPr>
          <a:xfrm flipV="1">
            <a:off x="4845372" y="5200172"/>
            <a:ext cx="107628" cy="362981"/>
          </a:xfrm>
          <a:prstGeom prst="straightConnector1">
            <a:avLst/>
          </a:prstGeom>
          <a:solidFill>
            <a:sysClr val="window" lastClr="FFFFFF"/>
          </a:solidFill>
          <a:ln w="28575" algn="ctr">
            <a:solidFill>
              <a:schemeClr val="accent2"/>
            </a:solidFill>
            <a:prstDash val="sysDash"/>
            <a:miter lim="800000"/>
            <a:headEnd type="none" w="med" len="med"/>
            <a:tailEnd type="arrow" w="med" len="med"/>
          </a:ln>
        </p:spPr>
      </p:cxnSp>
      <p:sp>
        <p:nvSpPr>
          <p:cNvPr id="70" name="TextBox 6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선후처리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544771" y="2875484"/>
            <a:ext cx="356648" cy="6463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  <a:ea typeface="+mn-ea"/>
              </a:rPr>
              <a:t>선처리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303900" y="2879874"/>
            <a:ext cx="356648" cy="6463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  <a:ea typeface="+mn-ea"/>
              </a:rPr>
              <a:t>선처리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822988" y="4029641"/>
            <a:ext cx="356648" cy="6463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</a:rPr>
              <a:t>후</a:t>
            </a:r>
            <a:r>
              <a:rPr lang="ko-KR" altLang="en-US" sz="900">
                <a:latin typeface="+mn-ea"/>
                <a:ea typeface="+mn-ea"/>
              </a:rPr>
              <a:t>처리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55814" y="4041068"/>
            <a:ext cx="356648" cy="6463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</a:rPr>
              <a:t>후</a:t>
            </a:r>
            <a:r>
              <a:rPr lang="ko-KR" altLang="en-US" sz="900">
                <a:latin typeface="+mn-ea"/>
                <a:ea typeface="+mn-ea"/>
              </a:rPr>
              <a:t>처리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303900" y="4041068"/>
            <a:ext cx="356648" cy="6463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</a:rPr>
              <a:t>후</a:t>
            </a:r>
            <a:r>
              <a:rPr lang="ko-KR" altLang="en-US" sz="900">
                <a:latin typeface="+mn-ea"/>
                <a:ea typeface="+mn-ea"/>
              </a:rPr>
              <a:t>처리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829612" y="4663600"/>
            <a:ext cx="356648" cy="5078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  <a:ea typeface="+mn-ea"/>
              </a:rPr>
              <a:t>에러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8" name="직사각형 77"/>
          <p:cNvSpPr/>
          <p:nvPr/>
        </p:nvSpPr>
        <p:spPr>
          <a:xfrm rot="16200000">
            <a:off x="5510514" y="4775803"/>
            <a:ext cx="448012" cy="27120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 rot="16200000">
            <a:off x="6251272" y="4765369"/>
            <a:ext cx="448012" cy="27120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</a:pPr>
            <a:endParaRPr kumimoji="0" lang="ko-KR" altLang="en-US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553769" y="4697857"/>
            <a:ext cx="356648" cy="5078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  <a:ea typeface="+mn-ea"/>
              </a:rPr>
              <a:t>에러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03900" y="4667445"/>
            <a:ext cx="356648" cy="5078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latinLnBrk="0"/>
            <a:r>
              <a:rPr lang="ko-KR" altLang="en-US" sz="900">
                <a:latin typeface="+mn-ea"/>
                <a:ea typeface="+mn-ea"/>
              </a:rPr>
              <a:t>에러</a:t>
            </a:r>
            <a:endParaRPr lang="en-US" altLang="ko-KR" sz="900">
              <a:latin typeface="+mn-ea"/>
              <a:ea typeface="+mn-ea"/>
            </a:endParaRPr>
          </a:p>
          <a:p>
            <a:pPr algn="ctr" latinLnBrk="0"/>
            <a:r>
              <a:rPr lang="en-US" altLang="ko-KR" sz="900">
                <a:latin typeface="+mn-ea"/>
              </a:rPr>
              <a:t>FM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7" name="Text Box 25">
            <a:extLst>
              <a:ext uri="{FF2B5EF4-FFF2-40B4-BE49-F238E27FC236}">
                <a16:creationId xmlns:a16="http://schemas.microsoft.com/office/drawing/2014/main" id="{9E32BB19-6A8E-4C62-BF1B-4A6A6EFB9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8689" y="4139171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DBM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Text Box 25">
            <a:extLst>
              <a:ext uri="{FF2B5EF4-FFF2-40B4-BE49-F238E27FC236}">
                <a16:creationId xmlns:a16="http://schemas.microsoft.com/office/drawing/2014/main" id="{4E7671C5-2AAB-4ABD-A64B-5A2D79D02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2939" y="4787243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DBM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8853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선후처리</a:t>
            </a:r>
            <a:r>
              <a:rPr lang="ko-KR" altLang="en-US" dirty="0"/>
              <a:t> 실행 흐름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에러</a:t>
            </a:r>
            <a:r>
              <a:rPr lang="en-US" altLang="ko-KR" dirty="0"/>
              <a:t> </a:t>
            </a:r>
            <a:r>
              <a:rPr lang="ko-KR" altLang="en-US" dirty="0"/>
              <a:t>발생시 해당 위치에서 가장 가까운 에러 후처리 필터가 역순으로 실행됨</a:t>
            </a:r>
            <a:r>
              <a:rPr lang="en-US" altLang="ko-KR" dirty="0"/>
              <a:t>. </a:t>
            </a:r>
            <a:r>
              <a:rPr lang="ko-KR" altLang="en-US" dirty="0"/>
              <a:t>정상 </a:t>
            </a:r>
            <a:r>
              <a:rPr lang="ko-KR" altLang="en-US" dirty="0" err="1"/>
              <a:t>후처리와</a:t>
            </a:r>
            <a:r>
              <a:rPr lang="ko-KR" altLang="en-US" dirty="0"/>
              <a:t> 에러 </a:t>
            </a:r>
            <a:r>
              <a:rPr lang="ko-KR" altLang="en-US" dirty="0" err="1"/>
              <a:t>후처리를</a:t>
            </a:r>
            <a:r>
              <a:rPr lang="ko-KR" altLang="en-US" dirty="0"/>
              <a:t> 별도의 필터로 구성</a:t>
            </a:r>
            <a:r>
              <a:rPr lang="en-US" altLang="ko-KR" dirty="0"/>
              <a:t>. </a:t>
            </a:r>
            <a:r>
              <a:rPr lang="ko-KR" altLang="en-US" dirty="0"/>
              <a:t>시스템</a:t>
            </a:r>
            <a:r>
              <a:rPr lang="en-US" altLang="ko-KR" dirty="0"/>
              <a:t>/</a:t>
            </a:r>
            <a:r>
              <a:rPr lang="ko-KR" altLang="en-US" dirty="0" err="1"/>
              <a:t>전행공통</a:t>
            </a:r>
            <a:r>
              <a:rPr lang="en-US" altLang="ko-KR" dirty="0"/>
              <a:t>/</a:t>
            </a:r>
            <a:r>
              <a:rPr lang="ko-KR" altLang="en-US" dirty="0"/>
              <a:t>업무별 </a:t>
            </a:r>
            <a:r>
              <a:rPr lang="ko-KR" altLang="en-US" dirty="0" err="1"/>
              <a:t>선후처리</a:t>
            </a:r>
            <a:r>
              <a:rPr lang="ko-KR" altLang="en-US" dirty="0"/>
              <a:t> 를 다음과 같이 설정함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496" y="1700203"/>
            <a:ext cx="7360220" cy="3021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13340" y="1703333"/>
            <a:ext cx="1152128" cy="3018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8141506" y="2427784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PM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8427256" y="2975472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8428844" y="3499347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8576481" y="2837360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8590769" y="3375523"/>
            <a:ext cx="247651" cy="2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143094" y="4134087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7546690" y="3429002"/>
            <a:ext cx="147855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29" name="Line 20"/>
          <p:cNvSpPr>
            <a:spLocks noChangeShapeType="1"/>
          </p:cNvSpPr>
          <p:nvPr/>
        </p:nvSpPr>
        <p:spPr bwMode="auto">
          <a:xfrm rot="16200000">
            <a:off x="7909440" y="2413646"/>
            <a:ext cx="0" cy="24590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rot="16200000" flipV="1">
            <a:off x="7899368" y="3139682"/>
            <a:ext cx="2" cy="227942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1456025" y="1834785"/>
            <a:ext cx="563880" cy="276812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FWK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ea typeface="맑은 고딕" pitchFamily="50" charset="-127"/>
              </a:rPr>
              <a:t>메인</a:t>
            </a: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3554494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6226160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866858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4944764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86" name="Text Box 25"/>
          <p:cNvSpPr txBox="1">
            <a:spLocks noChangeArrowheads="1"/>
          </p:cNvSpPr>
          <p:nvPr/>
        </p:nvSpPr>
        <p:spPr bwMode="auto">
          <a:xfrm>
            <a:off x="5585462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graphicFrame>
        <p:nvGraphicFramePr>
          <p:cNvPr id="105" name="표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900002"/>
              </p:ext>
            </p:extLst>
          </p:nvPr>
        </p:nvGraphicFramePr>
        <p:xfrm>
          <a:off x="704530" y="5058640"/>
          <a:ext cx="8640958" cy="1240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040">
                  <a:extLst>
                    <a:ext uri="{9D8B030D-6E8A-4147-A177-3AD203B41FA5}">
                      <a16:colId xmlns:a16="http://schemas.microsoft.com/office/drawing/2014/main" val="3507271964"/>
                    </a:ext>
                  </a:extLst>
                </a:gridCol>
                <a:gridCol w="8256918">
                  <a:extLst>
                    <a:ext uri="{9D8B030D-6E8A-4147-A177-3AD203B41FA5}">
                      <a16:colId xmlns:a16="http://schemas.microsoft.com/office/drawing/2014/main" val="655574096"/>
                    </a:ext>
                  </a:extLst>
                </a:gridCol>
              </a:tblGrid>
              <a:tr h="314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선처리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도메인 선처리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FM)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발생시 정상 후처리 실행 없이 가장 가까운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App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별 에러 후처리 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 후 역순으로 에러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후처리들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실행됨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839194"/>
                  </a:ext>
                </a:extLst>
              </a:tr>
              <a:tr h="2435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PM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발생시 정상 후처리 실행 없이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“App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별 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에러후처리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FM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 후 역순으로 에러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후처리들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실행됨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07460"/>
                  </a:ext>
                </a:extLst>
              </a:tr>
              <a:tr h="341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정상 후처리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전행공통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후처리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에러 발생시 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후속 정상 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후처리들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미실행</a:t>
                      </a:r>
                      <a:r>
                        <a:rPr lang="en-US" altLang="ko-KR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 에러 후처리 실행</a:t>
                      </a:r>
                      <a:r>
                        <a:rPr lang="en-US" altLang="ko-KR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770799"/>
                  </a:ext>
                </a:extLst>
              </a:tr>
              <a:tr h="341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후처리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에러 발생시 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후속 에러 후처리 계속 실행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 “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도메인 에러 후처리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에서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발생시 그 다음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전행공통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에러 후처리 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</a:t>
                      </a:r>
                      <a:r>
                        <a:rPr lang="en-US" altLang="ko-KR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시스템 에러 후처리 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39497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8321" y="1385078"/>
            <a:ext cx="4041485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dirty="0">
                <a:cs typeface="Arial" pitchFamily="34" charset="0"/>
              </a:rPr>
              <a:t>■ 에러 발생 위치 별 </a:t>
            </a:r>
            <a:r>
              <a:rPr lang="ko-KR" altLang="en-US" sz="1400" dirty="0" err="1">
                <a:cs typeface="Arial" pitchFamily="34" charset="0"/>
              </a:rPr>
              <a:t>선후처리</a:t>
            </a:r>
            <a:r>
              <a:rPr lang="ko-KR" altLang="en-US" sz="1400" dirty="0">
                <a:cs typeface="Arial" pitchFamily="34" charset="0"/>
              </a:rPr>
              <a:t> 실행 흐름</a:t>
            </a:r>
          </a:p>
        </p:txBody>
      </p:sp>
      <p:sp>
        <p:nvSpPr>
          <p:cNvPr id="115" name="Text Box 25"/>
          <p:cNvSpPr txBox="1">
            <a:spLocks noChangeArrowheads="1"/>
          </p:cNvSpPr>
          <p:nvPr/>
        </p:nvSpPr>
        <p:spPr bwMode="auto">
          <a:xfrm>
            <a:off x="2913796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997085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629706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278260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905750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997085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629706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278260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후처리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917304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2957174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7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3598896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700" dirty="0">
                <a:solidFill>
                  <a:schemeClr val="tx1"/>
                </a:solidFill>
                <a:cs typeface="Arial" pitchFamily="34" charset="0"/>
              </a:rPr>
              <a:t>도메인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4" name="Text Box 25"/>
          <p:cNvSpPr txBox="1">
            <a:spLocks noChangeArrowheads="1"/>
          </p:cNvSpPr>
          <p:nvPr/>
        </p:nvSpPr>
        <p:spPr bwMode="auto">
          <a:xfrm>
            <a:off x="2273098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2313718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7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7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1" name="Text Box 25"/>
          <p:cNvSpPr txBox="1">
            <a:spLocks noChangeArrowheads="1"/>
          </p:cNvSpPr>
          <p:nvPr/>
        </p:nvSpPr>
        <p:spPr bwMode="auto">
          <a:xfrm>
            <a:off x="4195192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4239027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7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2461354" y="3140968"/>
            <a:ext cx="2143802" cy="324000"/>
          </a:xfrm>
          <a:prstGeom prst="roundRect">
            <a:avLst/>
          </a:prstGeom>
          <a:solidFill>
            <a:srgbClr val="FFF6CC"/>
          </a:solidFill>
          <a:ln w="12700" cap="flat">
            <a:solidFill>
              <a:srgbClr val="9B171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후처리용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구간은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후처리 설정하지 않음</a:t>
            </a: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2461354" y="2620776"/>
            <a:ext cx="2143802" cy="340172"/>
          </a:xfrm>
          <a:prstGeom prst="roundRect">
            <a:avLst/>
          </a:prstGeom>
          <a:solidFill>
            <a:srgbClr val="FFF6CC"/>
          </a:solidFill>
          <a:ln w="12700" cap="flat">
            <a:solidFill>
              <a:srgbClr val="9B171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후처리용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구간은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선처리 설정하지 않음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5094212" y="3939452"/>
            <a:ext cx="2154866" cy="324000"/>
          </a:xfrm>
          <a:prstGeom prst="roundRect">
            <a:avLst/>
          </a:prstGeom>
          <a:solidFill>
            <a:srgbClr val="FFF6CC"/>
          </a:solidFill>
          <a:ln w="12700" cap="flat">
            <a:solidFill>
              <a:srgbClr val="9B171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후처리용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구간은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 후처리 설정하지 않음</a:t>
            </a:r>
          </a:p>
        </p:txBody>
      </p:sp>
      <p:sp>
        <p:nvSpPr>
          <p:cNvPr id="169" name="순서도: 연결자 168"/>
          <p:cNvSpPr/>
          <p:nvPr/>
        </p:nvSpPr>
        <p:spPr>
          <a:xfrm>
            <a:off x="7249078" y="3689243"/>
            <a:ext cx="99752" cy="99797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0" name="순서도: 연결자 169"/>
          <p:cNvSpPr/>
          <p:nvPr/>
        </p:nvSpPr>
        <p:spPr>
          <a:xfrm>
            <a:off x="6633737" y="3689243"/>
            <a:ext cx="99752" cy="99797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74" name="직선 화살표 연결선 173"/>
          <p:cNvCxnSpPr>
            <a:stCxn id="172" idx="1"/>
          </p:cNvCxnSpPr>
          <p:nvPr/>
        </p:nvCxnSpPr>
        <p:spPr>
          <a:xfrm flipH="1" flipV="1">
            <a:off x="2033280" y="4369756"/>
            <a:ext cx="1859998" cy="10620"/>
          </a:xfrm>
          <a:prstGeom prst="straightConnector1">
            <a:avLst/>
          </a:pr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순서도: 연결자 176"/>
          <p:cNvSpPr/>
          <p:nvPr/>
        </p:nvSpPr>
        <p:spPr>
          <a:xfrm>
            <a:off x="2648394" y="4329100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37205" y="4824272"/>
            <a:ext cx="2351176" cy="2250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 dirty="0">
                <a:cs typeface="Arial" pitchFamily="34" charset="0"/>
              </a:rPr>
              <a:t>에러 발생 </a:t>
            </a:r>
            <a:r>
              <a:rPr lang="ko-KR" altLang="en-US" sz="1100" b="1" dirty="0" err="1">
                <a:cs typeface="Arial" pitchFamily="34" charset="0"/>
              </a:rPr>
              <a:t>위치별</a:t>
            </a:r>
            <a:r>
              <a:rPr lang="ko-KR" altLang="en-US" sz="1100" b="1" dirty="0">
                <a:cs typeface="Arial" pitchFamily="34" charset="0"/>
              </a:rPr>
              <a:t> </a:t>
            </a:r>
            <a:r>
              <a:rPr lang="ko-KR" altLang="en-US" sz="1100" b="1" dirty="0" err="1">
                <a:cs typeface="Arial" pitchFamily="34" charset="0"/>
              </a:rPr>
              <a:t>선후처리</a:t>
            </a:r>
            <a:r>
              <a:rPr lang="ko-KR" altLang="en-US" sz="1100" b="1" dirty="0">
                <a:cs typeface="Arial" pitchFamily="34" charset="0"/>
              </a:rPr>
              <a:t> 실행 흐름 예</a:t>
            </a:r>
          </a:p>
        </p:txBody>
      </p:sp>
      <p:sp>
        <p:nvSpPr>
          <p:cNvPr id="180" name="폭발 1 179"/>
          <p:cNvSpPr/>
          <p:nvPr/>
        </p:nvSpPr>
        <p:spPr>
          <a:xfrm>
            <a:off x="732870" y="5058640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81" name="폭발 1 180"/>
          <p:cNvSpPr/>
          <p:nvPr/>
        </p:nvSpPr>
        <p:spPr>
          <a:xfrm>
            <a:off x="732870" y="5382678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82" name="폭발 1 181"/>
          <p:cNvSpPr/>
          <p:nvPr/>
        </p:nvSpPr>
        <p:spPr>
          <a:xfrm>
            <a:off x="738127" y="5649335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3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83" name="폭발 1 182"/>
          <p:cNvSpPr/>
          <p:nvPr/>
        </p:nvSpPr>
        <p:spPr>
          <a:xfrm>
            <a:off x="738127" y="5981103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4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90" name="자유형 189"/>
          <p:cNvSpPr/>
          <p:nvPr/>
        </p:nvSpPr>
        <p:spPr>
          <a:xfrm>
            <a:off x="2028586" y="2455073"/>
            <a:ext cx="4369601" cy="1443126"/>
          </a:xfrm>
          <a:custGeom>
            <a:avLst/>
            <a:gdLst>
              <a:gd name="connsiteX0" fmla="*/ 0 w 4819828"/>
              <a:gd name="connsiteY0" fmla="*/ 0 h 1367327"/>
              <a:gd name="connsiteX1" fmla="*/ 4819828 w 4819828"/>
              <a:gd name="connsiteY1" fmla="*/ 34183 h 1367327"/>
              <a:gd name="connsiteX2" fmla="*/ 3067940 w 4819828"/>
              <a:gd name="connsiteY2" fmla="*/ 1307507 h 1367327"/>
              <a:gd name="connsiteX3" fmla="*/ 42729 w 4819828"/>
              <a:gd name="connsiteY3" fmla="*/ 1367327 h 1367327"/>
              <a:gd name="connsiteX0" fmla="*/ 4896 w 4824724"/>
              <a:gd name="connsiteY0" fmla="*/ 0 h 1314939"/>
              <a:gd name="connsiteX1" fmla="*/ 4824724 w 4824724"/>
              <a:gd name="connsiteY1" fmla="*/ 34183 h 1314939"/>
              <a:gd name="connsiteX2" fmla="*/ 3072836 w 4824724"/>
              <a:gd name="connsiteY2" fmla="*/ 1307507 h 1314939"/>
              <a:gd name="connsiteX3" fmla="*/ 0 w 4824724"/>
              <a:gd name="connsiteY3" fmla="*/ 1314939 h 1314939"/>
              <a:gd name="connsiteX0" fmla="*/ 4896 w 4824724"/>
              <a:gd name="connsiteY0" fmla="*/ 0 h 1410102"/>
              <a:gd name="connsiteX1" fmla="*/ 4824724 w 4824724"/>
              <a:gd name="connsiteY1" fmla="*/ 34183 h 1410102"/>
              <a:gd name="connsiteX2" fmla="*/ 3107019 w 4824724"/>
              <a:gd name="connsiteY2" fmla="*/ 1410057 h 1410102"/>
              <a:gd name="connsiteX3" fmla="*/ 0 w 4824724"/>
              <a:gd name="connsiteY3" fmla="*/ 1314939 h 1410102"/>
              <a:gd name="connsiteX0" fmla="*/ 0 w 4819828"/>
              <a:gd name="connsiteY0" fmla="*/ 0 h 1477309"/>
              <a:gd name="connsiteX1" fmla="*/ 4819828 w 4819828"/>
              <a:gd name="connsiteY1" fmla="*/ 34183 h 1477309"/>
              <a:gd name="connsiteX2" fmla="*/ 3102123 w 4819828"/>
              <a:gd name="connsiteY2" fmla="*/ 1410057 h 1477309"/>
              <a:gd name="connsiteX3" fmla="*/ 12196 w 4819828"/>
              <a:gd name="connsiteY3" fmla="*/ 1477309 h 1477309"/>
              <a:gd name="connsiteX0" fmla="*/ 0 w 4819828"/>
              <a:gd name="connsiteY0" fmla="*/ 0 h 1477309"/>
              <a:gd name="connsiteX1" fmla="*/ 4819828 w 4819828"/>
              <a:gd name="connsiteY1" fmla="*/ 34183 h 1477309"/>
              <a:gd name="connsiteX2" fmla="*/ 3093577 w 4819828"/>
              <a:gd name="connsiteY2" fmla="*/ 1435694 h 1477309"/>
              <a:gd name="connsiteX3" fmla="*/ 12196 w 4819828"/>
              <a:gd name="connsiteY3" fmla="*/ 1477309 h 1477309"/>
              <a:gd name="connsiteX0" fmla="*/ 0 w 4819828"/>
              <a:gd name="connsiteY0" fmla="*/ 25638 h 1443126"/>
              <a:gd name="connsiteX1" fmla="*/ 4819828 w 4819828"/>
              <a:gd name="connsiteY1" fmla="*/ 0 h 1443126"/>
              <a:gd name="connsiteX2" fmla="*/ 3093577 w 4819828"/>
              <a:gd name="connsiteY2" fmla="*/ 1401511 h 1443126"/>
              <a:gd name="connsiteX3" fmla="*/ 12196 w 4819828"/>
              <a:gd name="connsiteY3" fmla="*/ 1443126 h 1443126"/>
              <a:gd name="connsiteX0" fmla="*/ 0 w 4819828"/>
              <a:gd name="connsiteY0" fmla="*/ 25638 h 1443126"/>
              <a:gd name="connsiteX1" fmla="*/ 4819828 w 4819828"/>
              <a:gd name="connsiteY1" fmla="*/ 0 h 1443126"/>
              <a:gd name="connsiteX2" fmla="*/ 2694334 w 4819828"/>
              <a:gd name="connsiteY2" fmla="*/ 1425324 h 1443126"/>
              <a:gd name="connsiteX3" fmla="*/ 12196 w 4819828"/>
              <a:gd name="connsiteY3" fmla="*/ 1443126 h 1443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828" h="1443126">
                <a:moveTo>
                  <a:pt x="0" y="25638"/>
                </a:moveTo>
                <a:lnTo>
                  <a:pt x="4819828" y="0"/>
                </a:lnTo>
                <a:lnTo>
                  <a:pt x="2694334" y="1425324"/>
                </a:lnTo>
                <a:lnTo>
                  <a:pt x="12196" y="1443126"/>
                </a:lnTo>
              </a:path>
            </a:pathLst>
          </a:cu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자유형 190"/>
          <p:cNvSpPr/>
          <p:nvPr/>
        </p:nvSpPr>
        <p:spPr>
          <a:xfrm>
            <a:off x="2019904" y="2333002"/>
            <a:ext cx="6141329" cy="1656772"/>
          </a:xfrm>
          <a:custGeom>
            <a:avLst/>
            <a:gdLst>
              <a:gd name="connsiteX0" fmla="*/ 0 w 7016098"/>
              <a:gd name="connsiteY0" fmla="*/ 34183 h 1709159"/>
              <a:gd name="connsiteX1" fmla="*/ 6657174 w 7016098"/>
              <a:gd name="connsiteY1" fmla="*/ 0 h 1709159"/>
              <a:gd name="connsiteX2" fmla="*/ 7016098 w 7016098"/>
              <a:gd name="connsiteY2" fmla="*/ 435835 h 1709159"/>
              <a:gd name="connsiteX3" fmla="*/ 3264494 w 7016098"/>
              <a:gd name="connsiteY3" fmla="*/ 1572426 h 1709159"/>
              <a:gd name="connsiteX4" fmla="*/ 68367 w 7016098"/>
              <a:gd name="connsiteY4" fmla="*/ 1709159 h 1709159"/>
              <a:gd name="connsiteX0" fmla="*/ 0 w 7016098"/>
              <a:gd name="connsiteY0" fmla="*/ 34183 h 1656772"/>
              <a:gd name="connsiteX1" fmla="*/ 6657174 w 7016098"/>
              <a:gd name="connsiteY1" fmla="*/ 0 h 1656772"/>
              <a:gd name="connsiteX2" fmla="*/ 7016098 w 7016098"/>
              <a:gd name="connsiteY2" fmla="*/ 435835 h 1656772"/>
              <a:gd name="connsiteX3" fmla="*/ 3264494 w 7016098"/>
              <a:gd name="connsiteY3" fmla="*/ 1572426 h 1656772"/>
              <a:gd name="connsiteX4" fmla="*/ 11217 w 7016098"/>
              <a:gd name="connsiteY4" fmla="*/ 1656772 h 1656772"/>
              <a:gd name="connsiteX0" fmla="*/ 0 w 7016098"/>
              <a:gd name="connsiteY0" fmla="*/ 34183 h 1656772"/>
              <a:gd name="connsiteX1" fmla="*/ 6657174 w 7016098"/>
              <a:gd name="connsiteY1" fmla="*/ 0 h 1656772"/>
              <a:gd name="connsiteX2" fmla="*/ 7016098 w 7016098"/>
              <a:gd name="connsiteY2" fmla="*/ 435835 h 1656772"/>
              <a:gd name="connsiteX3" fmla="*/ 2807461 w 7016098"/>
              <a:gd name="connsiteY3" fmla="*/ 1610526 h 1656772"/>
              <a:gd name="connsiteX4" fmla="*/ 11217 w 7016098"/>
              <a:gd name="connsiteY4" fmla="*/ 1656772 h 1656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6098" h="1656772">
                <a:moveTo>
                  <a:pt x="0" y="34183"/>
                </a:moveTo>
                <a:lnTo>
                  <a:pt x="6657174" y="0"/>
                </a:lnTo>
                <a:lnTo>
                  <a:pt x="7016098" y="435835"/>
                </a:lnTo>
                <a:lnTo>
                  <a:pt x="2807461" y="1610526"/>
                </a:lnTo>
                <a:lnTo>
                  <a:pt x="11217" y="1656772"/>
                </a:lnTo>
              </a:path>
            </a:pathLst>
          </a:cu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자유형 191"/>
          <p:cNvSpPr/>
          <p:nvPr/>
        </p:nvSpPr>
        <p:spPr>
          <a:xfrm>
            <a:off x="2019905" y="2238998"/>
            <a:ext cx="6508798" cy="2038528"/>
          </a:xfrm>
          <a:custGeom>
            <a:avLst/>
            <a:gdLst>
              <a:gd name="connsiteX0" fmla="*/ 0 w 7383567"/>
              <a:gd name="connsiteY0" fmla="*/ 17092 h 2076628"/>
              <a:gd name="connsiteX1" fmla="*/ 6751178 w 7383567"/>
              <a:gd name="connsiteY1" fmla="*/ 0 h 2076628"/>
              <a:gd name="connsiteX2" fmla="*/ 7383567 w 7383567"/>
              <a:gd name="connsiteY2" fmla="*/ 358923 h 2076628"/>
              <a:gd name="connsiteX3" fmla="*/ 6494804 w 7383567"/>
              <a:gd name="connsiteY3" fmla="*/ 1512606 h 2076628"/>
              <a:gd name="connsiteX4" fmla="*/ 4495088 w 7383567"/>
              <a:gd name="connsiteY4" fmla="*/ 1512606 h 2076628"/>
              <a:gd name="connsiteX5" fmla="*/ 3255948 w 7383567"/>
              <a:gd name="connsiteY5" fmla="*/ 2016808 h 2076628"/>
              <a:gd name="connsiteX6" fmla="*/ 68367 w 7383567"/>
              <a:gd name="connsiteY6" fmla="*/ 2076628 h 2076628"/>
              <a:gd name="connsiteX0" fmla="*/ 0 w 7383567"/>
              <a:gd name="connsiteY0" fmla="*/ 17092 h 2038528"/>
              <a:gd name="connsiteX1" fmla="*/ 6751178 w 7383567"/>
              <a:gd name="connsiteY1" fmla="*/ 0 h 2038528"/>
              <a:gd name="connsiteX2" fmla="*/ 7383567 w 7383567"/>
              <a:gd name="connsiteY2" fmla="*/ 358923 h 2038528"/>
              <a:gd name="connsiteX3" fmla="*/ 6494804 w 7383567"/>
              <a:gd name="connsiteY3" fmla="*/ 1512606 h 2038528"/>
              <a:gd name="connsiteX4" fmla="*/ 4495088 w 7383567"/>
              <a:gd name="connsiteY4" fmla="*/ 1512606 h 2038528"/>
              <a:gd name="connsiteX5" fmla="*/ 3255948 w 7383567"/>
              <a:gd name="connsiteY5" fmla="*/ 2016808 h 2038528"/>
              <a:gd name="connsiteX6" fmla="*/ 1692 w 7383567"/>
              <a:gd name="connsiteY6" fmla="*/ 2038528 h 2038528"/>
              <a:gd name="connsiteX0" fmla="*/ 0 w 7383567"/>
              <a:gd name="connsiteY0" fmla="*/ 17092 h 2038528"/>
              <a:gd name="connsiteX1" fmla="*/ 6751178 w 7383567"/>
              <a:gd name="connsiteY1" fmla="*/ 0 h 2038528"/>
              <a:gd name="connsiteX2" fmla="*/ 7383567 w 7383567"/>
              <a:gd name="connsiteY2" fmla="*/ 358923 h 2038528"/>
              <a:gd name="connsiteX3" fmla="*/ 6494804 w 7383567"/>
              <a:gd name="connsiteY3" fmla="*/ 1512606 h 2038528"/>
              <a:gd name="connsiteX4" fmla="*/ 4495088 w 7383567"/>
              <a:gd name="connsiteY4" fmla="*/ 1512606 h 2038528"/>
              <a:gd name="connsiteX5" fmla="*/ 2845352 w 7383567"/>
              <a:gd name="connsiteY5" fmla="*/ 2021570 h 2038528"/>
              <a:gd name="connsiteX6" fmla="*/ 1692 w 7383567"/>
              <a:gd name="connsiteY6" fmla="*/ 2038528 h 203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3567" h="2038528">
                <a:moveTo>
                  <a:pt x="0" y="17092"/>
                </a:moveTo>
                <a:lnTo>
                  <a:pt x="6751178" y="0"/>
                </a:lnTo>
                <a:lnTo>
                  <a:pt x="7383567" y="358923"/>
                </a:lnTo>
                <a:lnTo>
                  <a:pt x="6494804" y="1512606"/>
                </a:lnTo>
                <a:lnTo>
                  <a:pt x="4495088" y="1512606"/>
                </a:lnTo>
                <a:lnTo>
                  <a:pt x="2845352" y="2021570"/>
                </a:lnTo>
                <a:lnTo>
                  <a:pt x="1692" y="2038528"/>
                </a:lnTo>
              </a:path>
            </a:pathLst>
          </a:cu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폭발 1 159"/>
          <p:cNvSpPr/>
          <p:nvPr/>
        </p:nvSpPr>
        <p:spPr>
          <a:xfrm>
            <a:off x="6242225" y="2384884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4" name="폭발 1 163"/>
          <p:cNvSpPr/>
          <p:nvPr/>
        </p:nvSpPr>
        <p:spPr>
          <a:xfrm>
            <a:off x="7980704" y="2590330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5" name="폭발 1 164"/>
          <p:cNvSpPr/>
          <p:nvPr/>
        </p:nvSpPr>
        <p:spPr>
          <a:xfrm>
            <a:off x="5886914" y="3601759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2" name="폭발 1 171"/>
          <p:cNvSpPr/>
          <p:nvPr/>
        </p:nvSpPr>
        <p:spPr>
          <a:xfrm>
            <a:off x="3893278" y="4268758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5" name="순서도: 연결자 194"/>
          <p:cNvSpPr/>
          <p:nvPr/>
        </p:nvSpPr>
        <p:spPr>
          <a:xfrm>
            <a:off x="3308119" y="4313810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순서도: 연결자 67"/>
          <p:cNvSpPr/>
          <p:nvPr/>
        </p:nvSpPr>
        <p:spPr>
          <a:xfrm>
            <a:off x="4424230" y="3824861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순서도: 연결자 68"/>
          <p:cNvSpPr/>
          <p:nvPr/>
        </p:nvSpPr>
        <p:spPr>
          <a:xfrm>
            <a:off x="4568012" y="3869181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1" name="순서도: 연결자 70"/>
          <p:cNvSpPr/>
          <p:nvPr/>
        </p:nvSpPr>
        <p:spPr>
          <a:xfrm>
            <a:off x="4562218" y="4192828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선후처리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2" name="Text Box 25">
            <a:extLst>
              <a:ext uri="{FF2B5EF4-FFF2-40B4-BE49-F238E27FC236}">
                <a16:creationId xmlns:a16="http://schemas.microsoft.com/office/drawing/2014/main" id="{4FEEBBAF-C206-4288-A12A-1FAB050A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494" y="4319191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64" name="Text Box 25">
            <a:extLst>
              <a:ext uri="{FF2B5EF4-FFF2-40B4-BE49-F238E27FC236}">
                <a16:creationId xmlns:a16="http://schemas.microsoft.com/office/drawing/2014/main" id="{CDF0AAD6-8C0E-403D-A632-FF9EAB10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1244" y="3707123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9978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영역별 </a:t>
            </a:r>
            <a:r>
              <a:rPr lang="ko-KR" altLang="en-US" dirty="0" err="1"/>
              <a:t>선후처리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 err="1"/>
              <a:t>전행공통</a:t>
            </a:r>
            <a:r>
              <a:rPr lang="en-US" altLang="ko-KR" dirty="0"/>
              <a:t> </a:t>
            </a:r>
            <a:r>
              <a:rPr lang="ko-KR" altLang="en-US" dirty="0" err="1"/>
              <a:t>선처리에서</a:t>
            </a:r>
            <a:r>
              <a:rPr lang="ko-KR" altLang="en-US" dirty="0"/>
              <a:t> </a:t>
            </a:r>
            <a:r>
              <a:rPr lang="en-US" altLang="ko-KR" dirty="0" err="1"/>
              <a:t>CommonArea</a:t>
            </a:r>
            <a:r>
              <a:rPr lang="en-US" altLang="ko-KR" dirty="0"/>
              <a:t> </a:t>
            </a:r>
            <a:r>
              <a:rPr lang="ko-KR" altLang="en-US" dirty="0"/>
              <a:t>내의 영역을 초기화하는 역할을 수행하며</a:t>
            </a:r>
            <a:r>
              <a:rPr lang="en-US" altLang="ko-KR" dirty="0"/>
              <a:t>, </a:t>
            </a:r>
            <a:r>
              <a:rPr lang="ko-KR" altLang="en-US" dirty="0"/>
              <a:t>업무별 </a:t>
            </a:r>
            <a:r>
              <a:rPr lang="ko-KR" altLang="en-US" dirty="0" err="1"/>
              <a:t>선후처리는</a:t>
            </a:r>
            <a:r>
              <a:rPr lang="ko-KR" altLang="en-US" dirty="0"/>
              <a:t> 어플리케이션 </a:t>
            </a:r>
            <a:r>
              <a:rPr lang="ko-KR" altLang="en-US" dirty="0" err="1"/>
              <a:t>코드별</a:t>
            </a:r>
            <a:r>
              <a:rPr lang="en-US" altLang="ko-KR" dirty="0"/>
              <a:t>, </a:t>
            </a:r>
            <a:r>
              <a:rPr lang="ko-KR" altLang="en-US" dirty="0" err="1"/>
              <a:t>컴포넌트별</a:t>
            </a:r>
            <a:r>
              <a:rPr lang="ko-KR" altLang="en-US" dirty="0"/>
              <a:t> </a:t>
            </a:r>
            <a:r>
              <a:rPr lang="ko-KR" altLang="en-US" dirty="0" err="1"/>
              <a:t>선후처리를</a:t>
            </a:r>
            <a:r>
              <a:rPr lang="ko-KR" altLang="en-US" dirty="0"/>
              <a:t> 다음과 같은 </a:t>
            </a:r>
            <a:r>
              <a:rPr lang="ko-KR" altLang="en-US" dirty="0" err="1"/>
              <a:t>명명규칙에</a:t>
            </a:r>
            <a:r>
              <a:rPr lang="ko-KR" altLang="en-US" dirty="0"/>
              <a:t> 따라 수행함</a:t>
            </a:r>
          </a:p>
        </p:txBody>
      </p:sp>
      <p:graphicFrame>
        <p:nvGraphicFramePr>
          <p:cNvPr id="61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941372"/>
              </p:ext>
            </p:extLst>
          </p:nvPr>
        </p:nvGraphicFramePr>
        <p:xfrm>
          <a:off x="668523" y="1700807"/>
          <a:ext cx="8568953" cy="378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215">
                  <a:extLst>
                    <a:ext uri="{9D8B030D-6E8A-4147-A177-3AD203B41FA5}">
                      <a16:colId xmlns:a16="http://schemas.microsoft.com/office/drawing/2014/main" val="2914586004"/>
                    </a:ext>
                  </a:extLst>
                </a:gridCol>
                <a:gridCol w="1935215">
                  <a:extLst>
                    <a:ext uri="{9D8B030D-6E8A-4147-A177-3AD203B41FA5}">
                      <a16:colId xmlns:a16="http://schemas.microsoft.com/office/drawing/2014/main" val="4202850648"/>
                    </a:ext>
                  </a:extLst>
                </a:gridCol>
                <a:gridCol w="1935215">
                  <a:extLst>
                    <a:ext uri="{9D8B030D-6E8A-4147-A177-3AD203B41FA5}">
                      <a16:colId xmlns:a16="http://schemas.microsoft.com/office/drawing/2014/main" val="1132540864"/>
                    </a:ext>
                  </a:extLst>
                </a:gridCol>
              </a:tblGrid>
              <a:tr h="3508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특징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선처리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후처리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에러후처리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8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시스템 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모든 거래에 수행되는 프레임워크 영역의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CommonArea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거래통제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등의 역할 수행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com.kbstar.sqc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FUFworkBfAf.bfPrcss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역할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CommonArea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내의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SICOM, BICOM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거래통제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선처리 작업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com.kbstar.sqc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FUFworkBfAf.afPrcss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역할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생성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후처리 로그 생성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BOCOM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com.kbstar.sqc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FUFworkBfAf.errAfPrcss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에러로그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생성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BOCOM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생성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869718"/>
                  </a:ext>
                </a:extLst>
              </a:tr>
              <a:tr h="8335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CommonArea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내의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JICOM, DMCOM, AACOM, HCCOM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영역 생성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com.kbstar.kji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FUFworkBfAf.bfPrcss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CommonArea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거래제어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com.kbstar.kji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FUFworkBfAf.afPrcss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com.kbstar.kji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FUFworkBfAf.errAfPrcss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5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 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도메인별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비대면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상품처리계등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공통 실행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별도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협의후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프레임워크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관리콘솔의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전후처리에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별도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협의후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프레임워크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관리콘솔의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전후처리에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별도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협의후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프레임워크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관리콘솔의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전후처리에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372719"/>
                  </a:ext>
                </a:extLst>
              </a:tr>
              <a:tr h="8335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코드별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endParaRPr lang="en-US" altLang="ko-KR" sz="9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거래코드</a:t>
                      </a: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중 어플리케이션 코드로 우측 특정 이름의 </a:t>
                      </a:r>
                      <a:r>
                        <a:rPr lang="en-US" altLang="ko-KR" sz="900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u="sng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존재시</a:t>
                      </a:r>
                      <a:r>
                        <a:rPr lang="ko-KR" altLang="en-US" sz="900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그 </a:t>
                      </a:r>
                      <a:r>
                        <a:rPr lang="en-US" altLang="ko-KR" sz="900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</a:t>
                      </a:r>
                      <a:endParaRPr lang="en-US" altLang="ko-KR" sz="900" u="sng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900" b="1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###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FUFworkBfAf.bfPrcss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900" b="1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###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FUFworkBfAf.afPrcss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패키지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9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com.kbstar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900" b="1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###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bfafprcss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FU.FM : </a:t>
                      </a:r>
                      <a:r>
                        <a:rPr lang="en-US" altLang="ko-KR" sz="9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FUFworkBfAf.errAfPrcss</a:t>
                      </a:r>
                      <a:r>
                        <a:rPr lang="en-US" altLang="ko-KR" sz="9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49145" y="5613242"/>
            <a:ext cx="2772308" cy="7652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896938" algn="l"/>
              </a:tabLst>
            </a:pPr>
            <a:r>
              <a:rPr lang="en-US" altLang="ko-KR" sz="1000" b="1" dirty="0" err="1">
                <a:cs typeface="Arial" pitchFamily="34" charset="0"/>
              </a:rPr>
              <a:t>bfafprcss</a:t>
            </a:r>
            <a:r>
              <a:rPr lang="en-US" altLang="ko-KR" sz="1000" b="1" dirty="0">
                <a:cs typeface="Arial" pitchFamily="34" charset="0"/>
              </a:rPr>
              <a:t>	: </a:t>
            </a:r>
            <a:r>
              <a:rPr lang="ko-KR" altLang="en-US" sz="1000" dirty="0" err="1">
                <a:cs typeface="Arial" pitchFamily="34" charset="0"/>
              </a:rPr>
              <a:t>선후처리</a:t>
            </a:r>
            <a:r>
              <a:rPr lang="ko-KR" altLang="en-US" sz="1000" dirty="0">
                <a:cs typeface="Arial" pitchFamily="34" charset="0"/>
              </a:rPr>
              <a:t> </a:t>
            </a:r>
            <a:r>
              <a:rPr lang="ko-KR" altLang="en-US" sz="1000" dirty="0" err="1">
                <a:cs typeface="Arial" pitchFamily="34" charset="0"/>
              </a:rPr>
              <a:t>컴포넌트명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896938" algn="l"/>
              </a:tabLst>
            </a:pPr>
            <a:r>
              <a:rPr lang="en-US" altLang="ko-KR" sz="1000" b="1" dirty="0" err="1">
                <a:cs typeface="Arial" pitchFamily="34" charset="0"/>
              </a:rPr>
              <a:t>FUFworkBfAf</a:t>
            </a:r>
            <a:r>
              <a:rPr lang="en-US" altLang="ko-KR" sz="1000" dirty="0">
                <a:cs typeface="Arial" pitchFamily="34" charset="0"/>
              </a:rPr>
              <a:t>	: </a:t>
            </a:r>
            <a:r>
              <a:rPr lang="ko-KR" altLang="en-US" sz="1000" dirty="0">
                <a:cs typeface="Arial" pitchFamily="34" charset="0"/>
              </a:rPr>
              <a:t>프레임워크 </a:t>
            </a:r>
            <a:r>
              <a:rPr lang="ko-KR" altLang="en-US" sz="1000" dirty="0" err="1">
                <a:cs typeface="Arial" pitchFamily="34" charset="0"/>
              </a:rPr>
              <a:t>선후처리</a:t>
            </a:r>
            <a:r>
              <a:rPr lang="ko-KR" altLang="en-US" sz="1000" dirty="0">
                <a:cs typeface="Arial" pitchFamily="34" charset="0"/>
              </a:rPr>
              <a:t> </a:t>
            </a:r>
            <a:r>
              <a:rPr lang="en-US" altLang="ko-KR" sz="1000" dirty="0">
                <a:cs typeface="Arial" pitchFamily="34" charset="0"/>
              </a:rPr>
              <a:t>FU</a:t>
            </a: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896938" algn="l"/>
              </a:tabLst>
            </a:pPr>
            <a:r>
              <a:rPr lang="en-US" altLang="ko-KR" sz="1000" b="1" dirty="0" err="1">
                <a:cs typeface="Arial" pitchFamily="34" charset="0"/>
              </a:rPr>
              <a:t>bfPrcss</a:t>
            </a:r>
            <a:r>
              <a:rPr lang="en-US" altLang="ko-KR" sz="1000" dirty="0">
                <a:cs typeface="Arial" pitchFamily="34" charset="0"/>
              </a:rPr>
              <a:t>	: </a:t>
            </a:r>
            <a:r>
              <a:rPr lang="ko-KR" altLang="en-US" sz="1000" dirty="0">
                <a:cs typeface="Arial" pitchFamily="34" charset="0"/>
              </a:rPr>
              <a:t>선처리 </a:t>
            </a:r>
            <a:r>
              <a:rPr lang="en-US" altLang="ko-KR" sz="1000" dirty="0">
                <a:cs typeface="Arial" pitchFamily="34" charset="0"/>
              </a:rPr>
              <a:t>FM</a:t>
            </a: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896938" algn="l"/>
              </a:tabLst>
            </a:pPr>
            <a:r>
              <a:rPr lang="en-US" altLang="ko-KR" sz="1000" b="1" dirty="0" err="1">
                <a:cs typeface="Arial" pitchFamily="34" charset="0"/>
              </a:rPr>
              <a:t>afPrcss</a:t>
            </a:r>
            <a:r>
              <a:rPr lang="en-US" altLang="ko-KR" sz="1000" dirty="0">
                <a:cs typeface="Arial" pitchFamily="34" charset="0"/>
              </a:rPr>
              <a:t>	: </a:t>
            </a:r>
            <a:r>
              <a:rPr lang="ko-KR" altLang="en-US" sz="1000" dirty="0">
                <a:cs typeface="Arial" pitchFamily="34" charset="0"/>
              </a:rPr>
              <a:t>후처리 </a:t>
            </a:r>
            <a:r>
              <a:rPr lang="en-US" altLang="ko-KR" sz="1000" dirty="0">
                <a:cs typeface="Arial" pitchFamily="34" charset="0"/>
              </a:rPr>
              <a:t>FM</a:t>
            </a: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896938" algn="l"/>
              </a:tabLst>
            </a:pPr>
            <a:r>
              <a:rPr lang="en-US" altLang="ko-KR" sz="1000" b="1" dirty="0" err="1">
                <a:cs typeface="Arial" pitchFamily="34" charset="0"/>
              </a:rPr>
              <a:t>errAfPrcss</a:t>
            </a:r>
            <a:r>
              <a:rPr lang="en-US" altLang="ko-KR" sz="1000" dirty="0">
                <a:cs typeface="Arial" pitchFamily="34" charset="0"/>
              </a:rPr>
              <a:t>	: </a:t>
            </a:r>
            <a:r>
              <a:rPr lang="ko-KR" altLang="en-US" sz="1000" dirty="0" err="1">
                <a:cs typeface="Arial" pitchFamily="34" charset="0"/>
              </a:rPr>
              <a:t>에러후처리</a:t>
            </a:r>
            <a:r>
              <a:rPr lang="ko-KR" altLang="en-US" sz="1000" dirty="0">
                <a:cs typeface="Arial" pitchFamily="34" charset="0"/>
              </a:rPr>
              <a:t> </a:t>
            </a:r>
            <a:r>
              <a:rPr lang="en-US" altLang="ko-KR" sz="1000" dirty="0">
                <a:cs typeface="Arial" pitchFamily="34" charset="0"/>
              </a:rPr>
              <a:t>FM</a:t>
            </a:r>
            <a:r>
              <a:rPr lang="ko-KR" altLang="en-US" sz="1000" dirty="0">
                <a:cs typeface="Arial" pitchFamily="34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선후처리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71140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/>
          <p:cNvSpPr/>
          <p:nvPr/>
        </p:nvSpPr>
        <p:spPr>
          <a:xfrm>
            <a:off x="2029147" y="1340768"/>
            <a:ext cx="5069267" cy="26897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b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</a:b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5457056" y="1512560"/>
            <a:ext cx="1512168" cy="2318543"/>
          </a:xfrm>
          <a:prstGeom prst="roundRect">
            <a:avLst>
              <a:gd name="adj" fmla="val 10368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2218768" y="1509737"/>
            <a:ext cx="2205451" cy="2148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b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</a:b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매핑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en-US" altLang="ko-KR" dirty="0"/>
              <a:t>WAS </a:t>
            </a:r>
            <a:r>
              <a:rPr lang="ko-KR" altLang="en-US" dirty="0"/>
              <a:t>의 </a:t>
            </a: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XA, Non-XA </a:t>
            </a:r>
            <a:r>
              <a:rPr lang="ko-KR" altLang="en-US" dirty="0"/>
              <a:t>데이터 소스를 모두 생성하고</a:t>
            </a:r>
            <a:r>
              <a:rPr lang="en-US" altLang="ko-KR" dirty="0"/>
              <a:t>, </a:t>
            </a:r>
            <a:r>
              <a:rPr lang="ko-KR" altLang="en-US" dirty="0"/>
              <a:t>필요에 따라 </a:t>
            </a:r>
            <a:r>
              <a:rPr lang="en-US" altLang="ko-KR" dirty="0"/>
              <a:t>FW </a:t>
            </a:r>
            <a:r>
              <a:rPr lang="ko-KR" altLang="en-US" dirty="0"/>
              <a:t>에서 선택적으로 매핑하도록 </a:t>
            </a:r>
            <a:r>
              <a:rPr lang="en-US" altLang="ko-KR" dirty="0"/>
              <a:t>API</a:t>
            </a:r>
            <a:r>
              <a:rPr lang="ko-KR" altLang="en-US" dirty="0"/>
              <a:t> 제공</a:t>
            </a:r>
            <a:r>
              <a:rPr lang="en-US" altLang="ko-KR" dirty="0"/>
              <a:t>. </a:t>
            </a:r>
            <a:r>
              <a:rPr lang="ko-KR" altLang="en-US" dirty="0"/>
              <a:t>주 트랜잭션은 </a:t>
            </a:r>
            <a:r>
              <a:rPr lang="en-US" altLang="ko-KR" dirty="0"/>
              <a:t>XA </a:t>
            </a:r>
            <a:r>
              <a:rPr lang="ko-KR" altLang="en-US" dirty="0"/>
              <a:t>데이터 소스로 기본 </a:t>
            </a:r>
            <a:r>
              <a:rPr lang="ko-KR" altLang="en-US" dirty="0" err="1"/>
              <a:t>매핑됨</a:t>
            </a:r>
            <a:r>
              <a:rPr lang="en-US" altLang="ko-KR" dirty="0"/>
              <a:t>. </a:t>
            </a:r>
            <a:r>
              <a:rPr lang="ko-KR" altLang="en-US" dirty="0"/>
              <a:t>요건에 따라 </a:t>
            </a:r>
            <a:r>
              <a:rPr lang="en-US" altLang="ko-KR" dirty="0"/>
              <a:t>2</a:t>
            </a:r>
            <a:r>
              <a:rPr lang="ko-KR" altLang="en-US" dirty="0"/>
              <a:t>개 이상의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순서도: 자기 디스크 4"/>
          <p:cNvSpPr/>
          <p:nvPr/>
        </p:nvSpPr>
        <p:spPr>
          <a:xfrm>
            <a:off x="7603459" y="1762269"/>
            <a:ext cx="919419" cy="95271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Main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513012" y="1901786"/>
            <a:ext cx="1588674" cy="1404156"/>
          </a:xfrm>
          <a:prstGeom prst="roundRect">
            <a:avLst>
              <a:gd name="adj" fmla="val 7849"/>
            </a:avLst>
          </a:prstGeom>
          <a:solidFill>
            <a:schemeClr val="bg1">
              <a:lumMod val="95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b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컴포넌트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692250" y="1870413"/>
            <a:ext cx="1175354" cy="33430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MainDS_XA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692250" y="2340807"/>
            <a:ext cx="1175354" cy="33430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MainDS_NonXA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5" name="직선 화살표 연결선 14"/>
          <p:cNvCxnSpPr>
            <a:stCxn id="53" idx="3"/>
            <a:endCxn id="4" idx="1"/>
          </p:cNvCxnSpPr>
          <p:nvPr/>
        </p:nvCxnSpPr>
        <p:spPr>
          <a:xfrm flipV="1">
            <a:off x="3843476" y="2037565"/>
            <a:ext cx="1848774" cy="94015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53" idx="3"/>
            <a:endCxn id="13" idx="1"/>
          </p:cNvCxnSpPr>
          <p:nvPr/>
        </p:nvCxnSpPr>
        <p:spPr>
          <a:xfrm flipV="1">
            <a:off x="3843476" y="2507959"/>
            <a:ext cx="1848774" cy="46976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4" idx="3"/>
            <a:endCxn id="25" idx="1"/>
          </p:cNvCxnSpPr>
          <p:nvPr/>
        </p:nvCxnSpPr>
        <p:spPr>
          <a:xfrm>
            <a:off x="6867604" y="2037565"/>
            <a:ext cx="873979" cy="36927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3" idx="3"/>
            <a:endCxn id="25" idx="1"/>
          </p:cNvCxnSpPr>
          <p:nvPr/>
        </p:nvCxnSpPr>
        <p:spPr>
          <a:xfrm flipV="1">
            <a:off x="6867604" y="2406839"/>
            <a:ext cx="873979" cy="10112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741583" y="2280825"/>
            <a:ext cx="643169" cy="252028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 User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 rot="1079209">
            <a:off x="4498985" y="3338616"/>
            <a:ext cx="1010428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Optional </a:t>
            </a:r>
            <a:r>
              <a:rPr lang="en-US" altLang="ko-KR" sz="900" b="1" dirty="0" err="1">
                <a:cs typeface="Arial" pitchFamily="34" charset="0"/>
              </a:rPr>
              <a:t>DataSource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31" name="순서도: 자기 디스크 30"/>
          <p:cNvSpPr/>
          <p:nvPr/>
        </p:nvSpPr>
        <p:spPr>
          <a:xfrm>
            <a:off x="7603459" y="2878393"/>
            <a:ext cx="919419" cy="95271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Sub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741583" y="3396949"/>
            <a:ext cx="643169" cy="252028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 User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2878" y="3328607"/>
            <a:ext cx="1074638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>
                <a:cs typeface="Arial" pitchFamily="34" charset="0"/>
              </a:rPr>
              <a:t>예</a:t>
            </a:r>
            <a:r>
              <a:rPr lang="en-US" altLang="ko-KR" sz="900" dirty="0">
                <a:cs typeface="Arial" pitchFamily="34" charset="0"/>
              </a:rPr>
              <a:t>) </a:t>
            </a:r>
            <a:r>
              <a:rPr lang="ko-KR" altLang="en-US" sz="900" dirty="0" err="1">
                <a:cs typeface="Arial" pitchFamily="34" charset="0"/>
              </a:rPr>
              <a:t>고객통지</a:t>
            </a:r>
            <a:r>
              <a:rPr lang="ko-KR" altLang="en-US" sz="900" dirty="0">
                <a:cs typeface="Arial" pitchFamily="34" charset="0"/>
              </a:rPr>
              <a:t> </a:t>
            </a:r>
            <a:r>
              <a:rPr lang="en-US" altLang="ko-KR" sz="900" dirty="0">
                <a:cs typeface="Arial" pitchFamily="34" charset="0"/>
              </a:rPr>
              <a:t>DB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692250" y="2914397"/>
            <a:ext cx="1175354" cy="3343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NotifyDs_XA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692250" y="3384791"/>
            <a:ext cx="1175354" cy="3343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NotifyDs_NonXA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6" name="직선 화살표 연결선 35"/>
          <p:cNvCxnSpPr>
            <a:stCxn id="35" idx="3"/>
            <a:endCxn id="32" idx="1"/>
          </p:cNvCxnSpPr>
          <p:nvPr/>
        </p:nvCxnSpPr>
        <p:spPr>
          <a:xfrm flipV="1">
            <a:off x="6867604" y="3522963"/>
            <a:ext cx="873979" cy="2898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4" idx="3"/>
            <a:endCxn id="32" idx="1"/>
          </p:cNvCxnSpPr>
          <p:nvPr/>
        </p:nvCxnSpPr>
        <p:spPr>
          <a:xfrm>
            <a:off x="6867604" y="3081549"/>
            <a:ext cx="873979" cy="44141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53" idx="3"/>
            <a:endCxn id="34" idx="1"/>
          </p:cNvCxnSpPr>
          <p:nvPr/>
        </p:nvCxnSpPr>
        <p:spPr>
          <a:xfrm>
            <a:off x="3843476" y="2977719"/>
            <a:ext cx="1848774" cy="10383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53" idx="3"/>
            <a:endCxn id="35" idx="1"/>
          </p:cNvCxnSpPr>
          <p:nvPr/>
        </p:nvCxnSpPr>
        <p:spPr>
          <a:xfrm>
            <a:off x="3843476" y="2977719"/>
            <a:ext cx="1848774" cy="57422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 rot="19997144">
            <a:off x="4503442" y="2167123"/>
            <a:ext cx="1010428" cy="1975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b="1" dirty="0">
                <a:cs typeface="Arial" pitchFamily="34" charset="0"/>
              </a:rPr>
              <a:t>기본</a:t>
            </a:r>
            <a:r>
              <a:rPr lang="en-US" altLang="ko-KR" sz="900" b="1" dirty="0">
                <a:cs typeface="Arial" pitchFamily="34" charset="0"/>
              </a:rPr>
              <a:t> </a:t>
            </a:r>
            <a:r>
              <a:rPr lang="en-US" altLang="ko-KR" sz="900" b="1" dirty="0" err="1">
                <a:cs typeface="Arial" pitchFamily="34" charset="0"/>
              </a:rPr>
              <a:t>DataSource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769537" y="2800522"/>
            <a:ext cx="1073939" cy="3543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SqlManager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769537" y="2405869"/>
            <a:ext cx="1078082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DU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3" name="직선 화살표 연결선 82"/>
          <p:cNvCxnSpPr>
            <a:stCxn id="69" idx="2"/>
            <a:endCxn id="53" idx="0"/>
          </p:cNvCxnSpPr>
          <p:nvPr/>
        </p:nvCxnSpPr>
        <p:spPr>
          <a:xfrm flipH="1">
            <a:off x="3306507" y="2657869"/>
            <a:ext cx="2071" cy="14265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76050"/>
              </p:ext>
            </p:extLst>
          </p:nvPr>
        </p:nvGraphicFramePr>
        <p:xfrm>
          <a:off x="668524" y="4149080"/>
          <a:ext cx="8856828" cy="2323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0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8176">
                  <a:extLst>
                    <a:ext uri="{9D8B030D-6E8A-4147-A177-3AD203B41FA5}">
                      <a16:colId xmlns:a16="http://schemas.microsoft.com/office/drawing/2014/main" val="4057965482"/>
                    </a:ext>
                  </a:extLst>
                </a:gridCol>
              </a:tblGrid>
              <a:tr h="33083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종류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사용예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5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(XA)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/>
                        <a:t>JTA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트랜잭션 처리를 위해 </a:t>
                      </a:r>
                      <a:r>
                        <a:rPr lang="en-US" altLang="ko-KR" sz="1000" baseline="0" dirty="0"/>
                        <a:t>XA </a:t>
                      </a:r>
                      <a:r>
                        <a:rPr lang="en-US" altLang="ko-KR" sz="1000" baseline="0" dirty="0" err="1"/>
                        <a:t>Datasource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를 기본 값으로 사용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73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(Non-XA)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주 트랜잭션 처리 중</a:t>
                      </a:r>
                      <a:r>
                        <a:rPr lang="en-US" altLang="ko-KR" sz="1000" dirty="0"/>
                        <a:t>.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별도 트랜잭션이 필요한 경우를 위해 </a:t>
                      </a:r>
                      <a:r>
                        <a:rPr lang="en-US" altLang="ko-KR" sz="1000" baseline="0" dirty="0"/>
                        <a:t>Non-XA </a:t>
                      </a:r>
                      <a:r>
                        <a:rPr lang="ko-KR" altLang="en-US" sz="1000" baseline="0" dirty="0"/>
                        <a:t>데이터 소스 사용</a:t>
                      </a:r>
                      <a:r>
                        <a:rPr lang="en-US" altLang="ko-KR" sz="1000" baseline="0" dirty="0"/>
                        <a:t>. 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en-US" altLang="ko-KR" sz="1000" baseline="0" dirty="0"/>
                        <a:t>(Non-XA : JTA </a:t>
                      </a:r>
                      <a:r>
                        <a:rPr lang="ko-KR" altLang="en-US" sz="1000" baseline="0" dirty="0"/>
                        <a:t>트랜잭션에 참여하지 않고 </a:t>
                      </a:r>
                      <a:r>
                        <a:rPr lang="en-US" altLang="ko-KR" sz="1000" baseline="0" dirty="0"/>
                        <a:t>App </a:t>
                      </a:r>
                      <a:r>
                        <a:rPr lang="ko-KR" altLang="en-US" sz="1000" baseline="0" dirty="0"/>
                        <a:t>에서 직접 </a:t>
                      </a:r>
                      <a:r>
                        <a:rPr lang="en-US" altLang="ko-KR" sz="1000" baseline="0" dirty="0"/>
                        <a:t>commit </a:t>
                      </a:r>
                      <a:r>
                        <a:rPr lang="ko-KR" altLang="en-US" sz="1000" baseline="0" dirty="0"/>
                        <a:t>처리함</a:t>
                      </a:r>
                      <a:r>
                        <a:rPr lang="en-US" altLang="ko-KR" sz="1000" baseline="0" dirty="0"/>
                        <a:t>)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baseline="0" dirty="0"/>
                        <a:t>예</a:t>
                      </a:r>
                      <a:r>
                        <a:rPr lang="en-US" altLang="ko-KR" sz="1000" baseline="0" dirty="0"/>
                        <a:t>) </a:t>
                      </a:r>
                      <a:r>
                        <a:rPr lang="ko-KR" altLang="en-US" sz="1000" baseline="0" dirty="0" err="1"/>
                        <a:t>후처리에서</a:t>
                      </a:r>
                      <a:r>
                        <a:rPr lang="ko-KR" altLang="en-US" sz="1000" baseline="0" dirty="0"/>
                        <a:t> 에러 발생 되어 주트랜잭션이 </a:t>
                      </a:r>
                      <a:r>
                        <a:rPr lang="ko-KR" altLang="en-US" sz="1000" baseline="0" dirty="0" err="1"/>
                        <a:t>롤백되는</a:t>
                      </a:r>
                      <a:r>
                        <a:rPr lang="ko-KR" altLang="en-US" sz="1000" baseline="0" dirty="0"/>
                        <a:t> 경우도 </a:t>
                      </a:r>
                      <a:r>
                        <a:rPr lang="en-US" altLang="ko-KR" sz="1000" baseline="0" dirty="0"/>
                        <a:t>Non-XA </a:t>
                      </a:r>
                      <a:r>
                        <a:rPr lang="ko-KR" altLang="en-US" sz="1000" baseline="0" dirty="0"/>
                        <a:t>로 </a:t>
                      </a:r>
                      <a:r>
                        <a:rPr lang="en-US" altLang="ko-KR" sz="1000" baseline="0" dirty="0"/>
                        <a:t>CUD </a:t>
                      </a:r>
                      <a:r>
                        <a:rPr lang="ko-KR" altLang="en-US" sz="1000" baseline="0" dirty="0"/>
                        <a:t>한 것을 롤백 안됨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“</a:t>
                      </a:r>
                      <a:r>
                        <a:rPr lang="en-US" altLang="ko-KR" sz="900" b="1" dirty="0" err="1">
                          <a:solidFill>
                            <a:srgbClr val="0000FF"/>
                          </a:solidFill>
                        </a:rPr>
                        <a:t>NonXA</a:t>
                      </a:r>
                      <a:r>
                        <a:rPr lang="en-US" altLang="ko-KR" sz="900" dirty="0"/>
                        <a:t>”,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);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(XA)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이외의 별도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대상으로 동일 트랜잭션으로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CRUD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처리가 필요한 경우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 플랫폼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고객통지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Insert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경우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“</a:t>
                      </a:r>
                      <a:r>
                        <a:rPr lang="en-US" altLang="ko-KR" sz="900" b="1" dirty="0" err="1">
                          <a:solidFill>
                            <a:srgbClr val="0000FF"/>
                          </a:solidFill>
                        </a:rPr>
                        <a:t>Notify_XA</a:t>
                      </a:r>
                      <a:r>
                        <a:rPr lang="en-US" altLang="ko-KR" sz="900" dirty="0"/>
                        <a:t>”,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8525"/>
                  </a:ext>
                </a:extLst>
              </a:tr>
              <a:tr h="448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(Non-XA)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대상으로 별도 트랜잭션으로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CUD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경우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 발생시 에러 정보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insert, 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“</a:t>
                      </a:r>
                      <a:r>
                        <a:rPr lang="en-US" altLang="ko-KR" sz="900" b="1" dirty="0" err="1">
                          <a:solidFill>
                            <a:srgbClr val="0000FF"/>
                          </a:solidFill>
                        </a:rPr>
                        <a:t>Notify_NonXA</a:t>
                      </a:r>
                      <a:r>
                        <a:rPr lang="en-US" altLang="ko-KR" sz="900" dirty="0"/>
                        <a:t>”,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);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4376936" y="1395149"/>
            <a:ext cx="737118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 dirty="0">
                <a:cs typeface="Arial" pitchFamily="34" charset="0"/>
              </a:rPr>
              <a:t>WAS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751251" y="1510241"/>
            <a:ext cx="1116353" cy="3221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WAS </a:t>
            </a:r>
            <a:r>
              <a:rPr lang="ko-KR" altLang="en-US" sz="900" b="1" dirty="0">
                <a:cs typeface="Arial" pitchFamily="34" charset="0"/>
              </a:rPr>
              <a:t>자원</a:t>
            </a:r>
            <a:r>
              <a:rPr lang="en-US" altLang="ko-KR" sz="900" b="1" dirty="0">
                <a:cs typeface="Arial" pitchFamily="34" charset="0"/>
              </a:rPr>
              <a:t> </a:t>
            </a:r>
            <a:r>
              <a:rPr lang="ko-KR" altLang="en-US" sz="900" b="1" dirty="0">
                <a:cs typeface="Arial" pitchFamily="34" charset="0"/>
              </a:rPr>
              <a:t>관리 </a:t>
            </a:r>
            <a:r>
              <a:rPr lang="en-US" altLang="ko-KR" sz="900" b="1" dirty="0">
                <a:cs typeface="Arial" pitchFamily="34" charset="0"/>
              </a:rPr>
              <a:t>(</a:t>
            </a:r>
            <a:r>
              <a:rPr lang="en-US" altLang="ko-KR" sz="900" b="1" dirty="0" err="1">
                <a:cs typeface="Arial" pitchFamily="34" charset="0"/>
              </a:rPr>
              <a:t>DataSources</a:t>
            </a:r>
            <a:r>
              <a:rPr lang="en-US" altLang="ko-KR" sz="900" b="1" dirty="0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754111" y="1548529"/>
            <a:ext cx="11047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cs typeface="Arial" pitchFamily="34" charset="0"/>
              </a:rPr>
              <a:t>프레임워크 런타임</a:t>
            </a:r>
            <a:endParaRPr lang="ko-KR" alt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81883" y="1958989"/>
            <a:ext cx="1586535" cy="145769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프레임워크 설정으로 컴포넌트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별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매핑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cs typeface="Arial" pitchFamily="34" charset="0"/>
              </a:rPr>
              <a:t>AppCode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로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매핑 가능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서버당 </a:t>
            </a:r>
            <a:r>
              <a:rPr lang="ko-KR" altLang="en-US" sz="1000" dirty="0" err="1">
                <a:cs typeface="Arial" pitchFamily="34" charset="0"/>
              </a:rPr>
              <a:t>통계정으로</a:t>
            </a:r>
            <a:r>
              <a:rPr lang="ko-KR" altLang="en-US" sz="1000" dirty="0">
                <a:cs typeface="Arial" pitchFamily="34" charset="0"/>
              </a:rPr>
              <a:t> 간소화하여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구성</a:t>
            </a:r>
          </a:p>
        </p:txBody>
      </p:sp>
      <p:sp>
        <p:nvSpPr>
          <p:cNvPr id="100" name="타원 99"/>
          <p:cNvSpPr/>
          <p:nvPr/>
        </p:nvSpPr>
        <p:spPr>
          <a:xfrm>
            <a:off x="7705989" y="4967722"/>
            <a:ext cx="1008112" cy="1620180"/>
          </a:xfrm>
          <a:prstGeom prst="ellipse">
            <a:avLst/>
          </a:prstGeom>
          <a:noFill/>
          <a:ln w="6350" cap="flat">
            <a:solidFill>
              <a:schemeClr val="accent2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사각형 설명선 100"/>
          <p:cNvSpPr/>
          <p:nvPr/>
        </p:nvSpPr>
        <p:spPr>
          <a:xfrm>
            <a:off x="8989851" y="4925284"/>
            <a:ext cx="864096" cy="720080"/>
          </a:xfrm>
          <a:prstGeom prst="wedgeRectCallout">
            <a:avLst>
              <a:gd name="adj1" fmla="val -77051"/>
              <a:gd name="adj2" fmla="val 36033"/>
            </a:avLst>
          </a:prstGeom>
          <a:solidFill>
            <a:schemeClr val="tx2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매핑을 위한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키값을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파라미터로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지정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DataAccess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625463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모서리가 둥근 직사각형 166"/>
          <p:cNvSpPr/>
          <p:nvPr/>
        </p:nvSpPr>
        <p:spPr>
          <a:xfrm>
            <a:off x="7276809" y="2034204"/>
            <a:ext cx="1225795" cy="2318859"/>
          </a:xfrm>
          <a:prstGeom prst="roundRect">
            <a:avLst>
              <a:gd name="adj" fmla="val 4233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1515640" y="3731192"/>
            <a:ext cx="2764113" cy="788250"/>
          </a:xfrm>
          <a:prstGeom prst="roundRect">
            <a:avLst>
              <a:gd name="adj" fmla="val 4233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4398356" y="3169441"/>
            <a:ext cx="2787123" cy="788250"/>
          </a:xfrm>
          <a:prstGeom prst="roundRect">
            <a:avLst>
              <a:gd name="adj" fmla="val 4233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4398356" y="2024845"/>
            <a:ext cx="2787123" cy="788250"/>
          </a:xfrm>
          <a:prstGeom prst="roundRect">
            <a:avLst>
              <a:gd name="adj" fmla="val 4233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온라인 </a:t>
            </a:r>
            <a:r>
              <a:rPr lang="en-US" altLang="ko-KR" dirty="0"/>
              <a:t>FW </a:t>
            </a:r>
            <a:r>
              <a:rPr lang="ko-KR" altLang="en-US" dirty="0"/>
              <a:t>트랜잭션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온라인 </a:t>
            </a:r>
            <a:r>
              <a:rPr lang="en-US" altLang="ko-KR" dirty="0"/>
              <a:t>FW </a:t>
            </a:r>
            <a:r>
              <a:rPr lang="ko-KR" altLang="en-US" dirty="0"/>
              <a:t>은 </a:t>
            </a:r>
            <a:r>
              <a:rPr lang="en-US" altLang="ko-KR" dirty="0"/>
              <a:t>Façade Session EJB </a:t>
            </a:r>
            <a:r>
              <a:rPr lang="ko-KR" altLang="en-US" dirty="0"/>
              <a:t>에 의해 </a:t>
            </a:r>
            <a:r>
              <a:rPr lang="en-US" altLang="ko-KR" dirty="0"/>
              <a:t>CMT </a:t>
            </a:r>
            <a:r>
              <a:rPr lang="ko-KR" altLang="en-US" dirty="0"/>
              <a:t>방식으로 트랜잭션이 처리되며</a:t>
            </a:r>
            <a:r>
              <a:rPr lang="en-US" altLang="ko-KR" dirty="0"/>
              <a:t>, </a:t>
            </a:r>
            <a:r>
              <a:rPr lang="ko-KR" altLang="en-US" dirty="0"/>
              <a:t>선처리</a:t>
            </a:r>
            <a:r>
              <a:rPr lang="en-US" altLang="ko-KR"/>
              <a:t>/</a:t>
            </a:r>
            <a:r>
              <a:rPr lang="ko-KR" altLang="en-US"/>
              <a:t>본처리</a:t>
            </a:r>
            <a:r>
              <a:rPr lang="en-US" altLang="ko-KR"/>
              <a:t>/</a:t>
            </a:r>
            <a:r>
              <a:rPr lang="ko-KR" altLang="en-US" dirty="0" err="1"/>
              <a:t>후처리까지</a:t>
            </a:r>
            <a:r>
              <a:rPr lang="ko-KR" altLang="en-US" dirty="0"/>
              <a:t> 하나의 트랜잭션으로 처리됨</a:t>
            </a:r>
            <a:r>
              <a:rPr lang="en-US" altLang="ko-KR" dirty="0"/>
              <a:t>.</a:t>
            </a:r>
            <a:r>
              <a:rPr lang="ko-KR" altLang="en-US" dirty="0"/>
              <a:t> 에러 발생시 별도의 트랜잭션으로 에러 후처리 실행</a:t>
            </a:r>
          </a:p>
        </p:txBody>
      </p:sp>
      <p:sp>
        <p:nvSpPr>
          <p:cNvPr id="67" name="Text Box 25"/>
          <p:cNvSpPr txBox="1">
            <a:spLocks noChangeArrowheads="1"/>
          </p:cNvSpPr>
          <p:nvPr/>
        </p:nvSpPr>
        <p:spPr bwMode="auto">
          <a:xfrm>
            <a:off x="7498346" y="2265405"/>
            <a:ext cx="857250" cy="2619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PM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68" name="Text Box 25"/>
          <p:cNvSpPr txBox="1">
            <a:spLocks noChangeArrowheads="1"/>
          </p:cNvSpPr>
          <p:nvPr/>
        </p:nvSpPr>
        <p:spPr bwMode="auto">
          <a:xfrm>
            <a:off x="7784096" y="2813093"/>
            <a:ext cx="573088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69" name="Text Box 25"/>
          <p:cNvSpPr txBox="1">
            <a:spLocks noChangeArrowheads="1"/>
          </p:cNvSpPr>
          <p:nvPr/>
        </p:nvSpPr>
        <p:spPr bwMode="auto">
          <a:xfrm>
            <a:off x="7785684" y="3336968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70" name="Line 20"/>
          <p:cNvSpPr>
            <a:spLocks noChangeShapeType="1"/>
          </p:cNvSpPr>
          <p:nvPr/>
        </p:nvSpPr>
        <p:spPr bwMode="auto">
          <a:xfrm rot="16200000" flipH="1">
            <a:off x="7933321" y="2674981"/>
            <a:ext cx="276225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71" name="Line 20"/>
          <p:cNvSpPr>
            <a:spLocks noChangeShapeType="1"/>
          </p:cNvSpPr>
          <p:nvPr/>
        </p:nvSpPr>
        <p:spPr bwMode="auto">
          <a:xfrm rot="16200000" flipH="1">
            <a:off x="7947609" y="3213144"/>
            <a:ext cx="247651" cy="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7499934" y="3815135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73" name="Line 20"/>
          <p:cNvSpPr>
            <a:spLocks noChangeShapeType="1"/>
          </p:cNvSpPr>
          <p:nvPr/>
        </p:nvSpPr>
        <p:spPr bwMode="auto">
          <a:xfrm rot="16200000" flipH="1">
            <a:off x="7035590" y="3134562"/>
            <a:ext cx="1214437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881568" y="1854691"/>
            <a:ext cx="563880" cy="37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Façade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638085" y="215509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270706" y="215509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919260" y="215509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546750" y="215509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638085" y="327122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70706" y="327122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5919260" y="327122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후처리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6558304" y="327122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358985" y="3844454"/>
            <a:ext cx="457798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3000707" y="3844454"/>
            <a:ext cx="457798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dirty="0">
                <a:solidFill>
                  <a:schemeClr val="tx1"/>
                </a:solidFill>
                <a:cs typeface="Arial" pitchFamily="34" charset="0"/>
              </a:rPr>
              <a:t>도메인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715529" y="3844454"/>
            <a:ext cx="457798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3640838" y="3844454"/>
            <a:ext cx="457798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8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5" name="타원 124"/>
          <p:cNvSpPr/>
          <p:nvPr/>
        </p:nvSpPr>
        <p:spPr>
          <a:xfrm>
            <a:off x="1120185" y="3212976"/>
            <a:ext cx="465692" cy="428622"/>
          </a:xfrm>
          <a:prstGeom prst="ellipse">
            <a:avLst/>
          </a:prstGeom>
          <a:solidFill>
            <a:srgbClr val="92D050"/>
          </a:solidFill>
          <a:ln w="190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7" name="직선 화살표 연결선 126"/>
          <p:cNvCxnSpPr/>
          <p:nvPr/>
        </p:nvCxnSpPr>
        <p:spPr>
          <a:xfrm>
            <a:off x="1730604" y="6705364"/>
            <a:ext cx="69788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자유형 127"/>
          <p:cNvSpPr/>
          <p:nvPr/>
        </p:nvSpPr>
        <p:spPr>
          <a:xfrm>
            <a:off x="1327402" y="2104295"/>
            <a:ext cx="7056599" cy="1363142"/>
          </a:xfrm>
          <a:custGeom>
            <a:avLst/>
            <a:gdLst>
              <a:gd name="connsiteX0" fmla="*/ 0 w 7056599"/>
              <a:gd name="connsiteY0" fmla="*/ 141302 h 2238792"/>
              <a:gd name="connsiteX1" fmla="*/ 6381750 w 7056599"/>
              <a:gd name="connsiteY1" fmla="*/ 198452 h 2238792"/>
              <a:gd name="connsiteX2" fmla="*/ 6153150 w 7056599"/>
              <a:gd name="connsiteY2" fmla="*/ 2055827 h 2238792"/>
              <a:gd name="connsiteX3" fmla="*/ 38100 w 7056599"/>
              <a:gd name="connsiteY3" fmla="*/ 2170127 h 2238792"/>
              <a:gd name="connsiteX4" fmla="*/ 38100 w 7056599"/>
              <a:gd name="connsiteY4" fmla="*/ 2170127 h 223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56599" h="2238792">
                <a:moveTo>
                  <a:pt x="0" y="141302"/>
                </a:moveTo>
                <a:cubicBezTo>
                  <a:pt x="2678112" y="10333"/>
                  <a:pt x="5356225" y="-120636"/>
                  <a:pt x="6381750" y="198452"/>
                </a:cubicBezTo>
                <a:cubicBezTo>
                  <a:pt x="7407275" y="517540"/>
                  <a:pt x="7210425" y="1727215"/>
                  <a:pt x="6153150" y="2055827"/>
                </a:cubicBezTo>
                <a:cubicBezTo>
                  <a:pt x="5095875" y="2384439"/>
                  <a:pt x="38100" y="2170127"/>
                  <a:pt x="38100" y="2170127"/>
                </a:cubicBezTo>
                <a:lnTo>
                  <a:pt x="38100" y="2170127"/>
                </a:lnTo>
              </a:path>
            </a:pathLst>
          </a:cu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순서도: 자기 디스크 128"/>
          <p:cNvSpPr/>
          <p:nvPr/>
        </p:nvSpPr>
        <p:spPr>
          <a:xfrm>
            <a:off x="8714101" y="3394376"/>
            <a:ext cx="919419" cy="3946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5" name="순서도: 자기 디스크 134"/>
          <p:cNvSpPr/>
          <p:nvPr/>
        </p:nvSpPr>
        <p:spPr>
          <a:xfrm>
            <a:off x="8714101" y="4005064"/>
            <a:ext cx="919419" cy="3946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4" name="직선 화살표 연결선 143"/>
          <p:cNvCxnSpPr>
            <a:cxnSpLocks/>
            <a:stCxn id="69" idx="3"/>
            <a:endCxn id="129" idx="2"/>
          </p:cNvCxnSpPr>
          <p:nvPr/>
        </p:nvCxnSpPr>
        <p:spPr>
          <a:xfrm>
            <a:off x="8355596" y="3467937"/>
            <a:ext cx="358505" cy="12377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/>
          <p:cNvCxnSpPr>
            <a:stCxn id="72" idx="3"/>
            <a:endCxn id="135" idx="2"/>
          </p:cNvCxnSpPr>
          <p:nvPr/>
        </p:nvCxnSpPr>
        <p:spPr>
          <a:xfrm>
            <a:off x="8069846" y="3946104"/>
            <a:ext cx="644255" cy="25629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 설명선 147"/>
          <p:cNvSpPr/>
          <p:nvPr/>
        </p:nvSpPr>
        <p:spPr>
          <a:xfrm>
            <a:off x="1615246" y="2672916"/>
            <a:ext cx="1822103" cy="592547"/>
          </a:xfrm>
          <a:prstGeom prst="wedgeRectCallout">
            <a:avLst>
              <a:gd name="adj1" fmla="val -57187"/>
              <a:gd name="adj2" fmla="val 55322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-&gt; PM -&gt;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후처리까지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종료되면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한 트랜잭션으로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됨</a:t>
            </a:r>
          </a:p>
        </p:txBody>
      </p:sp>
      <p:sp>
        <p:nvSpPr>
          <p:cNvPr id="151" name="폭발 1 150"/>
          <p:cNvSpPr/>
          <p:nvPr/>
        </p:nvSpPr>
        <p:spPr>
          <a:xfrm>
            <a:off x="4969365" y="4073208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814315" y="2029665"/>
            <a:ext cx="1011303" cy="211203"/>
          </a:xfrm>
          <a:prstGeom prst="rect">
            <a:avLst/>
          </a:prstGeom>
          <a:solidFill>
            <a:schemeClr val="bg1"/>
          </a:solidFill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트랜잭션 구간</a:t>
            </a:r>
          </a:p>
        </p:txBody>
      </p:sp>
      <p:sp>
        <p:nvSpPr>
          <p:cNvPr id="155" name="타원 154"/>
          <p:cNvSpPr/>
          <p:nvPr/>
        </p:nvSpPr>
        <p:spPr>
          <a:xfrm>
            <a:off x="1633625" y="4548481"/>
            <a:ext cx="172170" cy="132480"/>
          </a:xfrm>
          <a:prstGeom prst="ellipse">
            <a:avLst/>
          </a:prstGeom>
          <a:solidFill>
            <a:srgbClr val="92D050"/>
          </a:solidFill>
          <a:ln w="190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H="1">
            <a:off x="3775886" y="4614721"/>
            <a:ext cx="385026" cy="0"/>
          </a:xfrm>
          <a:prstGeom prst="straightConnector1">
            <a:avLst/>
          </a:pr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4" name="TextBox 153"/>
          <p:cNvSpPr txBox="1"/>
          <p:nvPr/>
        </p:nvSpPr>
        <p:spPr>
          <a:xfrm>
            <a:off x="2315535" y="4693961"/>
            <a:ext cx="1011303" cy="211203"/>
          </a:xfrm>
          <a:prstGeom prst="rect">
            <a:avLst/>
          </a:prstGeom>
          <a:solidFill>
            <a:schemeClr val="bg1"/>
          </a:solidFill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트랜잭션 구간</a:t>
            </a:r>
          </a:p>
        </p:txBody>
      </p:sp>
      <p:sp>
        <p:nvSpPr>
          <p:cNvPr id="156" name="사각형 설명선 155"/>
          <p:cNvSpPr/>
          <p:nvPr/>
        </p:nvSpPr>
        <p:spPr>
          <a:xfrm>
            <a:off x="1676832" y="4872434"/>
            <a:ext cx="2421804" cy="522507"/>
          </a:xfrm>
          <a:prstGeom prst="wedgeRectCallout">
            <a:avLst>
              <a:gd name="adj1" fmla="val -57710"/>
              <a:gd name="adj2" fmla="val -53986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발생시 롤백 후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그 위치에서 에러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후처리가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역순으로 실행되며</a:t>
            </a:r>
            <a:br>
              <a:rPr lang="en-US" altLang="ko-KR" sz="10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각 에러 후처리 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FM </a:t>
            </a: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마다 트랜잭션이 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commit</a:t>
            </a: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됨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7" name="사각형 설명선 156"/>
          <p:cNvSpPr/>
          <p:nvPr/>
        </p:nvSpPr>
        <p:spPr>
          <a:xfrm>
            <a:off x="5509415" y="4813903"/>
            <a:ext cx="2921214" cy="1028200"/>
          </a:xfrm>
          <a:prstGeom prst="wedgeRectCallout">
            <a:avLst>
              <a:gd name="adj1" fmla="val 37307"/>
              <a:gd name="adj2" fmla="val -87636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XA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인 경우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후처리 정상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종료후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됨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NonXA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는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dbInsert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dbUpdate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메소드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정상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실행시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즉시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320857" y="1849645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정상</a:t>
            </a:r>
            <a:r>
              <a:rPr lang="en-US" altLang="ko-KR" sz="1000" b="1" dirty="0">
                <a:cs typeface="Arial" pitchFamily="34" charset="0"/>
              </a:rPr>
              <a:t> </a:t>
            </a:r>
            <a:r>
              <a:rPr lang="ko-KR" altLang="en-US" sz="1000" b="1" dirty="0">
                <a:cs typeface="Arial" pitchFamily="34" charset="0"/>
              </a:rPr>
              <a:t>선처리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386620" y="3001773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정상</a:t>
            </a:r>
            <a:r>
              <a:rPr lang="en-US" altLang="ko-KR" sz="1000" b="1" dirty="0">
                <a:cs typeface="Arial" pitchFamily="34" charset="0"/>
              </a:rPr>
              <a:t> </a:t>
            </a:r>
            <a:r>
              <a:rPr lang="ko-KR" altLang="en-US" sz="1000" b="1" dirty="0">
                <a:cs typeface="Arial" pitchFamily="34" charset="0"/>
              </a:rPr>
              <a:t>후처리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7626" y="5769401"/>
            <a:ext cx="3400730" cy="62695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cs typeface="Arial" pitchFamily="34" charset="0"/>
              </a:rPr>
              <a:t>Façade </a:t>
            </a:r>
            <a:r>
              <a:rPr lang="ko-KR" altLang="en-US" sz="1000" b="1" dirty="0">
                <a:cs typeface="Arial" pitchFamily="34" charset="0"/>
              </a:rPr>
              <a:t>패턴의 </a:t>
            </a:r>
            <a:r>
              <a:rPr lang="en-US" altLang="ko-KR" sz="1000" b="1" dirty="0">
                <a:cs typeface="Arial" pitchFamily="34" charset="0"/>
              </a:rPr>
              <a:t>Session EJB </a:t>
            </a:r>
            <a:r>
              <a:rPr lang="ko-KR" altLang="en-US" sz="1000" b="1" dirty="0">
                <a:cs typeface="Arial" pitchFamily="34" charset="0"/>
              </a:rPr>
              <a:t>로 방식으로</a:t>
            </a:r>
            <a:r>
              <a:rPr lang="en-US" altLang="ko-KR" sz="1000" b="1" dirty="0">
                <a:cs typeface="Arial" pitchFamily="34" charset="0"/>
              </a:rPr>
              <a:t> </a:t>
            </a:r>
            <a:r>
              <a:rPr lang="ko-KR" altLang="en-US" sz="1000" b="1" dirty="0">
                <a:cs typeface="Arial" pitchFamily="34" charset="0"/>
              </a:rPr>
              <a:t>트랜잭션 동작함</a:t>
            </a:r>
            <a:endParaRPr lang="en-US" altLang="ko-KR" sz="1000" b="1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b="1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cs typeface="Arial" pitchFamily="34" charset="0"/>
              </a:rPr>
              <a:t>CMT </a:t>
            </a:r>
            <a:r>
              <a:rPr lang="ko-KR" altLang="en-US" sz="1000" b="1" dirty="0">
                <a:cs typeface="Arial" pitchFamily="34" charset="0"/>
              </a:rPr>
              <a:t>방식의</a:t>
            </a:r>
            <a:r>
              <a:rPr lang="en-US" altLang="ko-KR" sz="1000" b="1" dirty="0">
                <a:cs typeface="Arial" pitchFamily="34" charset="0"/>
              </a:rPr>
              <a:t> </a:t>
            </a:r>
            <a:r>
              <a:rPr lang="ko-KR" altLang="en-US" sz="1000" b="1" dirty="0">
                <a:cs typeface="Arial" pitchFamily="34" charset="0"/>
              </a:rPr>
              <a:t>트랜잭션 처리</a:t>
            </a:r>
            <a:br>
              <a:rPr lang="en-US" altLang="ko-KR" sz="1000" b="1" dirty="0">
                <a:cs typeface="Arial" pitchFamily="34" charset="0"/>
              </a:rPr>
            </a:br>
            <a:r>
              <a:rPr lang="en-US" altLang="ko-KR" sz="1000" b="1" dirty="0">
                <a:cs typeface="Arial" pitchFamily="34" charset="0"/>
              </a:rPr>
              <a:t>(CMT : Container Managed Transaction) 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169886" y="4142977"/>
            <a:ext cx="1839632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에러</a:t>
            </a:r>
            <a:r>
              <a:rPr lang="en-US" altLang="ko-KR" sz="1000" b="1" dirty="0">
                <a:cs typeface="Arial" pitchFamily="34" charset="0"/>
              </a:rPr>
              <a:t> </a:t>
            </a:r>
            <a:r>
              <a:rPr lang="ko-KR" altLang="en-US" sz="1000" b="1" dirty="0">
                <a:cs typeface="Arial" pitchFamily="34" charset="0"/>
              </a:rPr>
              <a:t>발생시 그 위치에서 </a:t>
            </a:r>
            <a:r>
              <a:rPr lang="ko-KR" altLang="en-US" sz="1000" b="1" dirty="0">
                <a:solidFill>
                  <a:schemeClr val="accent2"/>
                </a:solidFill>
                <a:cs typeface="Arial" pitchFamily="34" charset="0"/>
              </a:rPr>
              <a:t>롤백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468600" y="3541705"/>
            <a:ext cx="1011303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solidFill>
                  <a:schemeClr val="accent2"/>
                </a:solidFill>
                <a:cs typeface="Arial" pitchFamily="34" charset="0"/>
              </a:rPr>
              <a:t>에러 후처리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07836" y="1849645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 err="1">
                <a:cs typeface="Arial" pitchFamily="34" charset="0"/>
              </a:rPr>
              <a:t>본처리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DataAccess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처리</a:t>
            </a:r>
          </a:p>
        </p:txBody>
      </p:sp>
      <p:cxnSp>
        <p:nvCxnSpPr>
          <p:cNvPr id="52" name="직선 화살표 연결선 51"/>
          <p:cNvCxnSpPr/>
          <p:nvPr/>
        </p:nvCxnSpPr>
        <p:spPr>
          <a:xfrm flipH="1">
            <a:off x="3111720" y="4617132"/>
            <a:ext cx="385026" cy="0"/>
          </a:xfrm>
          <a:prstGeom prst="straightConnector1">
            <a:avLst/>
          </a:pr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2450745" y="4617132"/>
            <a:ext cx="385026" cy="0"/>
          </a:xfrm>
          <a:prstGeom prst="straightConnector1">
            <a:avLst/>
          </a:pr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직선 화살표 연결선 53"/>
          <p:cNvCxnSpPr/>
          <p:nvPr/>
        </p:nvCxnSpPr>
        <p:spPr>
          <a:xfrm flipH="1">
            <a:off x="1795666" y="4617132"/>
            <a:ext cx="385026" cy="0"/>
          </a:xfrm>
          <a:prstGeom prst="straightConnector1">
            <a:avLst/>
          </a:pr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타원 54"/>
          <p:cNvSpPr/>
          <p:nvPr/>
        </p:nvSpPr>
        <p:spPr>
          <a:xfrm>
            <a:off x="2295711" y="4556660"/>
            <a:ext cx="172170" cy="132480"/>
          </a:xfrm>
          <a:prstGeom prst="ellipse">
            <a:avLst/>
          </a:prstGeom>
          <a:solidFill>
            <a:srgbClr val="92D050"/>
          </a:solidFill>
          <a:ln w="190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2964536" y="4556660"/>
            <a:ext cx="172170" cy="132480"/>
          </a:xfrm>
          <a:prstGeom prst="ellipse">
            <a:avLst/>
          </a:prstGeom>
          <a:solidFill>
            <a:srgbClr val="92D050"/>
          </a:solidFill>
          <a:ln w="190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3619734" y="4556660"/>
            <a:ext cx="172170" cy="132480"/>
          </a:xfrm>
          <a:prstGeom prst="ellipse">
            <a:avLst/>
          </a:prstGeom>
          <a:solidFill>
            <a:srgbClr val="92D050"/>
          </a:solidFill>
          <a:ln w="190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8" name="Text Box 25">
            <a:extLst>
              <a:ext uri="{FF2B5EF4-FFF2-40B4-BE49-F238E27FC236}">
                <a16:creationId xmlns:a16="http://schemas.microsoft.com/office/drawing/2014/main" id="{9592D6E8-5DA3-49F7-9ED9-83B78740A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084" y="3527103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59" name="Text Box 25">
            <a:extLst>
              <a:ext uri="{FF2B5EF4-FFF2-40B4-BE49-F238E27FC236}">
                <a16:creationId xmlns:a16="http://schemas.microsoft.com/office/drawing/2014/main" id="{30C4592B-DD54-4B71-A6A4-3D623E8C4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334" y="3995155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0893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Common Area </a:t>
            </a:r>
            <a:r>
              <a:rPr lang="ko-KR" altLang="en-US" dirty="0"/>
              <a:t>관리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거래의 시작에서 종료까지 유지되는 공통 메모리 영역 </a:t>
            </a:r>
            <a:r>
              <a:rPr lang="en-US" altLang="ko-KR" dirty="0"/>
              <a:t>Common Area </a:t>
            </a:r>
            <a:r>
              <a:rPr lang="ko-KR" altLang="en-US" dirty="0"/>
              <a:t>를 다음과 같이 구성함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Common Area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관리</a:t>
            </a:r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C76EAC52-FF5C-4B97-8EEF-CD58FA11613D}"/>
              </a:ext>
            </a:extLst>
          </p:cNvPr>
          <p:cNvSpPr/>
          <p:nvPr/>
        </p:nvSpPr>
        <p:spPr>
          <a:xfrm>
            <a:off x="504557" y="2204864"/>
            <a:ext cx="2720251" cy="641236"/>
          </a:xfrm>
          <a:prstGeom prst="roundRect">
            <a:avLst>
              <a:gd name="adj" fmla="val 8319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모서리가 둥근 직사각형 61">
            <a:extLst>
              <a:ext uri="{FF2B5EF4-FFF2-40B4-BE49-F238E27FC236}">
                <a16:creationId xmlns:a16="http://schemas.microsoft.com/office/drawing/2014/main" id="{79C1F5CE-3884-4D46-A8BF-FFB098C9B681}"/>
              </a:ext>
            </a:extLst>
          </p:cNvPr>
          <p:cNvSpPr/>
          <p:nvPr/>
        </p:nvSpPr>
        <p:spPr>
          <a:xfrm>
            <a:off x="3944887" y="2204864"/>
            <a:ext cx="5472609" cy="641236"/>
          </a:xfrm>
          <a:prstGeom prst="roundRect">
            <a:avLst>
              <a:gd name="adj" fmla="val 8319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0223CD4-9E01-4EDA-9ABC-275070FA0D23}"/>
              </a:ext>
            </a:extLst>
          </p:cNvPr>
          <p:cNvSpPr/>
          <p:nvPr/>
        </p:nvSpPr>
        <p:spPr>
          <a:xfrm>
            <a:off x="678575" y="1024818"/>
            <a:ext cx="1728192" cy="3832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&lt;&lt; NEXCORE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고유 영역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&gt;&gt;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b="1" dirty="0" err="1">
                <a:solidFill>
                  <a:schemeClr val="tx1"/>
                </a:solidFill>
                <a:cs typeface="Arial" pitchFamily="34" charset="0"/>
              </a:rPr>
              <a:t>OnlineContext</a:t>
            </a: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014A524-726B-4EF4-8EE6-5CD7FF403947}"/>
              </a:ext>
            </a:extLst>
          </p:cNvPr>
          <p:cNvSpPr/>
          <p:nvPr/>
        </p:nvSpPr>
        <p:spPr>
          <a:xfrm>
            <a:off x="912113" y="1453980"/>
            <a:ext cx="1251682" cy="472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Common Area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8644B99-9139-4914-960B-D497E74C39A2}"/>
              </a:ext>
            </a:extLst>
          </p:cNvPr>
          <p:cNvSpPr/>
          <p:nvPr/>
        </p:nvSpPr>
        <p:spPr>
          <a:xfrm>
            <a:off x="4023332" y="2320824"/>
            <a:ext cx="486366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JiCom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영역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F6C0B40-1EF3-444D-B866-FD284AC691E2}"/>
              </a:ext>
            </a:extLst>
          </p:cNvPr>
          <p:cNvSpPr/>
          <p:nvPr/>
        </p:nvSpPr>
        <p:spPr>
          <a:xfrm>
            <a:off x="560076" y="2320824"/>
            <a:ext cx="605386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SiCom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시스템공통부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F3C6492-AF60-4D85-A773-D0065858CE77}"/>
              </a:ext>
            </a:extLst>
          </p:cNvPr>
          <p:cNvSpPr/>
          <p:nvPr/>
        </p:nvSpPr>
        <p:spPr>
          <a:xfrm>
            <a:off x="6804152" y="2320824"/>
            <a:ext cx="593457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NF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금융복합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공통영역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0" name="직선 화살표 연결선 18">
            <a:extLst>
              <a:ext uri="{FF2B5EF4-FFF2-40B4-BE49-F238E27FC236}">
                <a16:creationId xmlns:a16="http://schemas.microsoft.com/office/drawing/2014/main" id="{7515723C-A8EB-4B36-9E34-755E5702427E}"/>
              </a:ext>
            </a:extLst>
          </p:cNvPr>
          <p:cNvCxnSpPr>
            <a:stCxn id="56" idx="3"/>
            <a:endCxn id="57" idx="0"/>
          </p:cNvCxnSpPr>
          <p:nvPr/>
        </p:nvCxnSpPr>
        <p:spPr>
          <a:xfrm>
            <a:off x="2163795" y="1690287"/>
            <a:ext cx="2102720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21">
            <a:extLst>
              <a:ext uri="{FF2B5EF4-FFF2-40B4-BE49-F238E27FC236}">
                <a16:creationId xmlns:a16="http://schemas.microsoft.com/office/drawing/2014/main" id="{984984F8-C18C-46D9-ACDA-C5F53149102B}"/>
              </a:ext>
            </a:extLst>
          </p:cNvPr>
          <p:cNvCxnSpPr>
            <a:stCxn id="56" idx="3"/>
            <a:endCxn id="59" idx="0"/>
          </p:cNvCxnSpPr>
          <p:nvPr/>
        </p:nvCxnSpPr>
        <p:spPr>
          <a:xfrm>
            <a:off x="2163795" y="1690287"/>
            <a:ext cx="4937086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24">
            <a:extLst>
              <a:ext uri="{FF2B5EF4-FFF2-40B4-BE49-F238E27FC236}">
                <a16:creationId xmlns:a16="http://schemas.microsoft.com/office/drawing/2014/main" id="{75584B38-C501-4D0A-9BAB-5B854E372B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7203" y="1471455"/>
            <a:ext cx="256735" cy="129963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1">
            <a:extLst>
              <a:ext uri="{FF2B5EF4-FFF2-40B4-BE49-F238E27FC236}">
                <a16:creationId xmlns:a16="http://schemas.microsoft.com/office/drawing/2014/main" id="{7F836FF3-1247-4B5F-A992-4113B3794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514189"/>
              </p:ext>
            </p:extLst>
          </p:nvPr>
        </p:nvGraphicFramePr>
        <p:xfrm>
          <a:off x="504558" y="3178429"/>
          <a:ext cx="8912938" cy="324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24">
                  <a:extLst>
                    <a:ext uri="{9D8B030D-6E8A-4147-A177-3AD203B41FA5}">
                      <a16:colId xmlns:a16="http://schemas.microsoft.com/office/drawing/2014/main" val="2407041365"/>
                    </a:ext>
                  </a:extLst>
                </a:gridCol>
                <a:gridCol w="745220">
                  <a:extLst>
                    <a:ext uri="{9D8B030D-6E8A-4147-A177-3AD203B41FA5}">
                      <a16:colId xmlns:a16="http://schemas.microsoft.com/office/drawing/2014/main" val="3382435241"/>
                    </a:ext>
                  </a:extLst>
                </a:gridCol>
                <a:gridCol w="297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3764">
                  <a:extLst>
                    <a:ext uri="{9D8B030D-6E8A-4147-A177-3AD203B41FA5}">
                      <a16:colId xmlns:a16="http://schemas.microsoft.com/office/drawing/2014/main" val="1162317341"/>
                    </a:ext>
                  </a:extLst>
                </a:gridCol>
              </a:tblGrid>
              <a:tr h="1793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클래스 유형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생성 주체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사용예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SiCom</a:t>
                      </a:r>
                      <a:endParaRPr lang="en-US" altLang="ko-KR" sz="900" b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900" b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BiCom</a:t>
                      </a:r>
                      <a:endParaRPr lang="en-US" altLang="ko-KR" sz="900" b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900" b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BoCom</a:t>
                      </a:r>
                      <a:endParaRPr lang="en-US" altLang="ko-KR" sz="900" b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900" b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IcArea</a:t>
                      </a:r>
                      <a:endParaRPr lang="ko-KR" altLang="en-US" sz="900" b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DTO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표준헤더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기반으로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SICOM, BICOM, BOCOM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영역을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DTO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클래스로 객체화 함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 시 프레임워크 패치 필요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ca.getSiCom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().</a:t>
                      </a: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getCnclTranAbilYn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취소거래가능여부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ca.getBiCom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().</a:t>
                      </a: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getUserEmpid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사용자 </a:t>
                      </a:r>
                      <a:r>
                        <a:rPr lang="ko-KR" altLang="en-US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직원번호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ca.getIcArea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().get###()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 </a:t>
                      </a:r>
                      <a:r>
                        <a:rPr lang="ko-KR" altLang="en-U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정보</a:t>
                      </a:r>
                      <a:endParaRPr lang="en-US" altLang="ko-K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DTO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 </a:t>
                      </a:r>
                      <a:r>
                        <a:rPr lang="ko-KR" altLang="en-US" sz="9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선처리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Q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테이블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상태를 조회하여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CDC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상태 정보 데이터를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Set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함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 시 프레임워크 패치 필요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ca.getSDRComm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().getCdcQue1StusNormalYn()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1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번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Q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상태 정상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ca.getSDRComm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().</a:t>
                      </a: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getCdcQueStusNormalYn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 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전체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Q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상태 정상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49739"/>
                  </a:ext>
                </a:extLst>
              </a:tr>
              <a:tr h="7990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 공통</a:t>
                      </a:r>
                      <a:endParaRPr lang="en-US" altLang="ko-K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계리 정보</a:t>
                      </a:r>
                      <a:endParaRPr lang="en-US" altLang="ko-K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ko-KR" altLang="en-US" sz="9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정보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9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 정보</a:t>
                      </a:r>
                      <a:endParaRPr lang="en-US" altLang="ko-KR" sz="9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9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계약 정보</a:t>
                      </a:r>
                      <a:endParaRPr lang="ko-KR" alt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 공통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선처리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전행공통 테이블을 참조하여 할당함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Key-Value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형태이므로 패치 필요 없음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jicom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 = </a:t>
                      </a:r>
                      <a:r>
                        <a:rPr lang="en-US" altLang="ko-KR" sz="800" b="1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</a:t>
                      </a:r>
                      <a:r>
                        <a:rPr lang="en-US" altLang="ko-KR" sz="800" b="1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getJiCom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IDataSet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리턴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jicom.get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("</a:t>
                      </a:r>
                      <a:r>
                        <a:rPr lang="en-US" altLang="ko-KR" sz="800" b="1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BZOPR-DD-DSTCD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")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영업일 </a:t>
                      </a:r>
                      <a:r>
                        <a:rPr lang="ko-KR" altLang="en-US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구분코드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ca.getJkCom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ca.getAaCom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ca.getDmCom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ca.getHcCom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80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업무별</a:t>
                      </a:r>
                      <a:r>
                        <a:rPr lang="ko-KR" altLang="en-US" sz="9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공통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 선처리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도메인별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공통 선처리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데이터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조회아여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로딩함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Key-Value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형태이므로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패치 필요 없음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bizCom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 = </a:t>
                      </a:r>
                      <a:r>
                        <a:rPr lang="en-US" altLang="ko-KR" sz="800" b="1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ca.getBizCom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("MH")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마케팅 </a:t>
                      </a: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BizArea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bizCom</a:t>
                      </a: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.get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("</a:t>
                      </a:r>
                      <a:r>
                        <a:rPr lang="ko-KR" altLang="en-US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항목키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") 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값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공통영역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 Key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: MH :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마케팅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, NF: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비대면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, GL: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글로벌</a:t>
                      </a:r>
                      <a:endParaRPr lang="ko-KR" altLang="en-US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ko-KR" altLang="en-US" sz="9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영역</a:t>
                      </a:r>
                      <a:endParaRPr lang="ko-KR" alt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각 </a:t>
                      </a:r>
                      <a:r>
                        <a:rPr lang="ko-KR" altLang="en-US" sz="9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업무팀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PM/FM</a:t>
                      </a:r>
                      <a:endParaRPr lang="ko-KR" altLang="en-US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후처리용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생성을 위해 어플리케이션에서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put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개별부</a:t>
                      </a:r>
                      <a:endParaRPr lang="en-US" altLang="ko-KR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후처리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테이블에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함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Xio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이용하여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flat </a:t>
                      </a:r>
                      <a:r>
                        <a:rPr lang="ko-KR" altLang="en-US" sz="900" b="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변환후</a:t>
                      </a:r>
                      <a:r>
                        <a:rPr lang="ko-KR" altLang="en-US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endParaRPr lang="ko-KR" altLang="en-US" sz="9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bizLog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 = </a:t>
                      </a:r>
                      <a:r>
                        <a:rPr lang="en-US" altLang="ko-KR" sz="800" b="1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ca.</a:t>
                      </a:r>
                      <a:r>
                        <a:rPr lang="en-US" altLang="ko-KR" sz="800" b="1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getBizLog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() </a:t>
                      </a:r>
                      <a:r>
                        <a:rPr lang="en-US" altLang="ko-KR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 DataSet </a:t>
                      </a:r>
                      <a:r>
                        <a:rPr lang="ko-KR" altLang="en-US" sz="800" b="0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리턴</a:t>
                      </a:r>
                      <a:endParaRPr lang="en-US" altLang="ko-KR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b="0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bizLog</a:t>
                      </a:r>
                      <a:r>
                        <a:rPr lang="en-US" altLang="ko-KR" sz="800" b="0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.put</a:t>
                      </a:r>
                      <a:r>
                        <a:rPr lang="en-US" altLang="ko-KR" sz="800" b="0" u="sng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("</a:t>
                      </a:r>
                      <a:r>
                        <a:rPr lang="ko-KR" altLang="en-US" sz="800" b="0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업무로그</a:t>
                      </a:r>
                      <a:r>
                        <a:rPr lang="ko-KR" altLang="en-US" sz="800" b="0" u="sng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800" b="0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항목키</a:t>
                      </a:r>
                      <a:r>
                        <a:rPr lang="en-US" altLang="ko-KR" sz="800" b="0" u="sng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", "</a:t>
                      </a:r>
                      <a:r>
                        <a:rPr lang="ko-KR" altLang="en-US" sz="800" b="0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업무로그</a:t>
                      </a:r>
                      <a:r>
                        <a:rPr lang="ko-KR" altLang="en-US" sz="800" b="0" u="sng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800" b="0" u="sng" kern="1200" baseline="0" dirty="0" err="1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항목값</a:t>
                      </a:r>
                      <a:r>
                        <a:rPr lang="en-US" altLang="ko-KR" sz="800" b="0" u="sng" kern="1200" baseline="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")</a:t>
                      </a:r>
                      <a:endParaRPr lang="ko-KR" altLang="en-US" sz="800" b="0" kern="1200" baseline="0" dirty="0">
                        <a:solidFill>
                          <a:schemeClr val="dk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558582"/>
                  </a:ext>
                </a:extLst>
              </a:tr>
            </a:tbl>
          </a:graphicData>
        </a:graphic>
      </p:graphicFrame>
      <p:sp>
        <p:nvSpPr>
          <p:cNvPr id="65" name="직사각형 64">
            <a:extLst>
              <a:ext uri="{FF2B5EF4-FFF2-40B4-BE49-F238E27FC236}">
                <a16:creationId xmlns:a16="http://schemas.microsoft.com/office/drawing/2014/main" id="{F881C0A2-3F31-4B0F-BBD3-59E2D23B80CB}"/>
              </a:ext>
            </a:extLst>
          </p:cNvPr>
          <p:cNvSpPr/>
          <p:nvPr/>
        </p:nvSpPr>
        <p:spPr>
          <a:xfrm>
            <a:off x="7467407" y="2320824"/>
            <a:ext cx="593457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MH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마케팅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공통영역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2908204-8F2C-4E87-B0FB-7EC14B983338}"/>
              </a:ext>
            </a:extLst>
          </p:cNvPr>
          <p:cNvSpPr/>
          <p:nvPr/>
        </p:nvSpPr>
        <p:spPr>
          <a:xfrm>
            <a:off x="8130662" y="2320824"/>
            <a:ext cx="593457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GL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글로벌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공통영역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7" name="직선 화살표 연결선 23">
            <a:extLst>
              <a:ext uri="{FF2B5EF4-FFF2-40B4-BE49-F238E27FC236}">
                <a16:creationId xmlns:a16="http://schemas.microsoft.com/office/drawing/2014/main" id="{24CDB542-69CC-4600-80EB-7A3C6739DA75}"/>
              </a:ext>
            </a:extLst>
          </p:cNvPr>
          <p:cNvCxnSpPr>
            <a:cxnSpLocks/>
            <a:stCxn id="93" idx="3"/>
            <a:endCxn id="53" idx="3"/>
          </p:cNvCxnSpPr>
          <p:nvPr/>
        </p:nvCxnSpPr>
        <p:spPr>
          <a:xfrm>
            <a:off x="9257212" y="1624846"/>
            <a:ext cx="160284" cy="900636"/>
          </a:xfrm>
          <a:prstGeom prst="curvedConnector3">
            <a:avLst>
              <a:gd name="adj1" fmla="val 242622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31891C5-C0CE-4B33-A533-BE7ED9561000}"/>
              </a:ext>
            </a:extLst>
          </p:cNvPr>
          <p:cNvSpPr/>
          <p:nvPr/>
        </p:nvSpPr>
        <p:spPr>
          <a:xfrm>
            <a:off x="8793911" y="2320824"/>
            <a:ext cx="587581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업무로그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개별부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영역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9" name="직선 화살표 연결선 21">
            <a:extLst>
              <a:ext uri="{FF2B5EF4-FFF2-40B4-BE49-F238E27FC236}">
                <a16:creationId xmlns:a16="http://schemas.microsoft.com/office/drawing/2014/main" id="{A9BB845F-925D-420B-B809-8B63DDCFE90A}"/>
              </a:ext>
            </a:extLst>
          </p:cNvPr>
          <p:cNvCxnSpPr>
            <a:stCxn id="56" idx="3"/>
            <a:endCxn id="68" idx="0"/>
          </p:cNvCxnSpPr>
          <p:nvPr/>
        </p:nvCxnSpPr>
        <p:spPr>
          <a:xfrm>
            <a:off x="2163795" y="1690287"/>
            <a:ext cx="6923907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4339A7A-9EF8-4A47-9632-A5CFE8DFC6E4}"/>
              </a:ext>
            </a:extLst>
          </p:cNvPr>
          <p:cNvSpPr/>
          <p:nvPr/>
        </p:nvSpPr>
        <p:spPr>
          <a:xfrm>
            <a:off x="1235260" y="2320824"/>
            <a:ext cx="605386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BiCom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입력공통부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5686DB9-689D-4FD5-B6E5-4CCF0AFD88D1}"/>
              </a:ext>
            </a:extLst>
          </p:cNvPr>
          <p:cNvSpPr/>
          <p:nvPr/>
        </p:nvSpPr>
        <p:spPr>
          <a:xfrm>
            <a:off x="1910444" y="2320824"/>
            <a:ext cx="605386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BoCom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출력공통부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8F6E35A-C1AC-4290-A86A-1FA1C8218728}"/>
              </a:ext>
            </a:extLst>
          </p:cNvPr>
          <p:cNvSpPr/>
          <p:nvPr/>
        </p:nvSpPr>
        <p:spPr>
          <a:xfrm>
            <a:off x="2585628" y="2320824"/>
            <a:ext cx="605386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IcArea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입력 </a:t>
            </a: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매체부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98CC0A-683A-4968-BB5F-260727CBFCF9}"/>
              </a:ext>
            </a:extLst>
          </p:cNvPr>
          <p:cNvSpPr txBox="1"/>
          <p:nvPr/>
        </p:nvSpPr>
        <p:spPr>
          <a:xfrm>
            <a:off x="1287261" y="2868784"/>
            <a:ext cx="1246366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900" b="1" dirty="0">
                <a:cs typeface="Arial" pitchFamily="34" charset="0"/>
              </a:rPr>
              <a:t>전용</a:t>
            </a:r>
            <a:r>
              <a:rPr lang="en-US" altLang="ko-KR" sz="900" b="1" dirty="0">
                <a:cs typeface="Arial" pitchFamily="34" charset="0"/>
              </a:rPr>
              <a:t> DTO </a:t>
            </a:r>
            <a:r>
              <a:rPr lang="ko-KR" altLang="en-US" sz="900" b="1" dirty="0">
                <a:cs typeface="Arial" pitchFamily="34" charset="0"/>
              </a:rPr>
              <a:t>클래스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58E3B3-4369-4E92-A3F8-83F43E58D0C5}"/>
              </a:ext>
            </a:extLst>
          </p:cNvPr>
          <p:cNvSpPr txBox="1"/>
          <p:nvPr/>
        </p:nvSpPr>
        <p:spPr>
          <a:xfrm>
            <a:off x="6131744" y="2871494"/>
            <a:ext cx="1246366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DataSet </a:t>
            </a:r>
            <a:r>
              <a:rPr lang="ko-KR" altLang="en-US" sz="900" b="1" dirty="0">
                <a:cs typeface="Arial" pitchFamily="34" charset="0"/>
              </a:rPr>
              <a:t>방식</a:t>
            </a:r>
          </a:p>
        </p:txBody>
      </p:sp>
      <p:cxnSp>
        <p:nvCxnSpPr>
          <p:cNvPr id="75" name="직선 화살표 연결선 21">
            <a:extLst>
              <a:ext uri="{FF2B5EF4-FFF2-40B4-BE49-F238E27FC236}">
                <a16:creationId xmlns:a16="http://schemas.microsoft.com/office/drawing/2014/main" id="{C0C7CFD5-6D9E-4A05-93D6-7AEA81E25317}"/>
              </a:ext>
            </a:extLst>
          </p:cNvPr>
          <p:cNvCxnSpPr>
            <a:stCxn id="56" idx="3"/>
            <a:endCxn id="65" idx="0"/>
          </p:cNvCxnSpPr>
          <p:nvPr/>
        </p:nvCxnSpPr>
        <p:spPr>
          <a:xfrm>
            <a:off x="2163795" y="1690287"/>
            <a:ext cx="5600341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21">
            <a:extLst>
              <a:ext uri="{FF2B5EF4-FFF2-40B4-BE49-F238E27FC236}">
                <a16:creationId xmlns:a16="http://schemas.microsoft.com/office/drawing/2014/main" id="{337F12A3-BE90-435E-B066-62341132D8CF}"/>
              </a:ext>
            </a:extLst>
          </p:cNvPr>
          <p:cNvCxnSpPr>
            <a:stCxn id="56" idx="3"/>
            <a:endCxn id="66" idx="0"/>
          </p:cNvCxnSpPr>
          <p:nvPr/>
        </p:nvCxnSpPr>
        <p:spPr>
          <a:xfrm>
            <a:off x="2163795" y="1690287"/>
            <a:ext cx="6263596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38D2B59-C260-4743-B857-0F970D52A48B}"/>
              </a:ext>
            </a:extLst>
          </p:cNvPr>
          <p:cNvSpPr/>
          <p:nvPr/>
        </p:nvSpPr>
        <p:spPr>
          <a:xfrm>
            <a:off x="4579496" y="2320824"/>
            <a:ext cx="486366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JkCom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계리정보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DAB273D-1ADC-4CA5-9959-300D47E0700D}"/>
              </a:ext>
            </a:extLst>
          </p:cNvPr>
          <p:cNvSpPr/>
          <p:nvPr/>
        </p:nvSpPr>
        <p:spPr>
          <a:xfrm>
            <a:off x="5135660" y="2320824"/>
            <a:ext cx="486366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AaCom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고객정보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FAB578F-6D40-4F18-A20D-5E10E661C3DE}"/>
              </a:ext>
            </a:extLst>
          </p:cNvPr>
          <p:cNvSpPr/>
          <p:nvPr/>
        </p:nvSpPr>
        <p:spPr>
          <a:xfrm>
            <a:off x="5691824" y="2320824"/>
            <a:ext cx="486366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DmCom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상품정보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6E82ABB-561E-41E1-B24B-F1B8095A148A}"/>
              </a:ext>
            </a:extLst>
          </p:cNvPr>
          <p:cNvSpPr/>
          <p:nvPr/>
        </p:nvSpPr>
        <p:spPr>
          <a:xfrm>
            <a:off x="6247988" y="2320824"/>
            <a:ext cx="486366" cy="43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HcCom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계약정보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1" name="직선 화살표 연결선 18">
            <a:extLst>
              <a:ext uri="{FF2B5EF4-FFF2-40B4-BE49-F238E27FC236}">
                <a16:creationId xmlns:a16="http://schemas.microsoft.com/office/drawing/2014/main" id="{37384561-15A3-4A61-B5DA-EDBFFAF18B45}"/>
              </a:ext>
            </a:extLst>
          </p:cNvPr>
          <p:cNvCxnSpPr>
            <a:stCxn id="56" idx="3"/>
            <a:endCxn id="77" idx="0"/>
          </p:cNvCxnSpPr>
          <p:nvPr/>
        </p:nvCxnSpPr>
        <p:spPr>
          <a:xfrm>
            <a:off x="2163795" y="1690287"/>
            <a:ext cx="2658884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18">
            <a:extLst>
              <a:ext uri="{FF2B5EF4-FFF2-40B4-BE49-F238E27FC236}">
                <a16:creationId xmlns:a16="http://schemas.microsoft.com/office/drawing/2014/main" id="{13F97A4E-D48B-414A-B970-3DC71157A789}"/>
              </a:ext>
            </a:extLst>
          </p:cNvPr>
          <p:cNvCxnSpPr>
            <a:stCxn id="56" idx="3"/>
            <a:endCxn id="78" idx="0"/>
          </p:cNvCxnSpPr>
          <p:nvPr/>
        </p:nvCxnSpPr>
        <p:spPr>
          <a:xfrm>
            <a:off x="2163795" y="1690287"/>
            <a:ext cx="3215048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18">
            <a:extLst>
              <a:ext uri="{FF2B5EF4-FFF2-40B4-BE49-F238E27FC236}">
                <a16:creationId xmlns:a16="http://schemas.microsoft.com/office/drawing/2014/main" id="{3CF14F72-BD96-4E51-974D-7610C1CA66CD}"/>
              </a:ext>
            </a:extLst>
          </p:cNvPr>
          <p:cNvCxnSpPr>
            <a:stCxn id="56" idx="3"/>
            <a:endCxn id="79" idx="0"/>
          </p:cNvCxnSpPr>
          <p:nvPr/>
        </p:nvCxnSpPr>
        <p:spPr>
          <a:xfrm>
            <a:off x="2163795" y="1690287"/>
            <a:ext cx="3771212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18">
            <a:extLst>
              <a:ext uri="{FF2B5EF4-FFF2-40B4-BE49-F238E27FC236}">
                <a16:creationId xmlns:a16="http://schemas.microsoft.com/office/drawing/2014/main" id="{63E7D112-E787-4B59-A724-78C07F0F0B9A}"/>
              </a:ext>
            </a:extLst>
          </p:cNvPr>
          <p:cNvCxnSpPr>
            <a:stCxn id="56" idx="3"/>
            <a:endCxn id="80" idx="0"/>
          </p:cNvCxnSpPr>
          <p:nvPr/>
        </p:nvCxnSpPr>
        <p:spPr>
          <a:xfrm>
            <a:off x="2163795" y="1690287"/>
            <a:ext cx="4327376" cy="63053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61">
            <a:extLst>
              <a:ext uri="{FF2B5EF4-FFF2-40B4-BE49-F238E27FC236}">
                <a16:creationId xmlns:a16="http://schemas.microsoft.com/office/drawing/2014/main" id="{02D90090-0ED1-4619-B783-A42919CE5A79}"/>
              </a:ext>
            </a:extLst>
          </p:cNvPr>
          <p:cNvSpPr/>
          <p:nvPr/>
        </p:nvSpPr>
        <p:spPr>
          <a:xfrm>
            <a:off x="3250004" y="2204864"/>
            <a:ext cx="658880" cy="641236"/>
          </a:xfrm>
          <a:prstGeom prst="roundRect">
            <a:avLst>
              <a:gd name="adj" fmla="val 8319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846DA81-5307-4A0C-8DFF-C2B01079CF6E}"/>
              </a:ext>
            </a:extLst>
          </p:cNvPr>
          <p:cNvSpPr txBox="1"/>
          <p:nvPr/>
        </p:nvSpPr>
        <p:spPr>
          <a:xfrm>
            <a:off x="2956101" y="2871494"/>
            <a:ext cx="1246366" cy="3221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900" b="1" dirty="0">
                <a:cs typeface="Arial" pitchFamily="34" charset="0"/>
              </a:rPr>
              <a:t>전용 </a:t>
            </a:r>
            <a:r>
              <a:rPr lang="en-US" altLang="ko-KR" sz="900" b="1" dirty="0">
                <a:cs typeface="Arial" pitchFamily="34" charset="0"/>
              </a:rPr>
              <a:t>DTO </a:t>
            </a:r>
            <a:r>
              <a:rPr lang="ko-KR" altLang="en-US" sz="900" b="1" dirty="0">
                <a:cs typeface="Arial" pitchFamily="34" charset="0"/>
              </a:rPr>
              <a:t>클래스</a:t>
            </a:r>
            <a:br>
              <a:rPr lang="en-US" altLang="ko-KR" sz="900" b="1" dirty="0">
                <a:cs typeface="Arial" pitchFamily="34" charset="0"/>
              </a:rPr>
            </a:br>
            <a:r>
              <a:rPr lang="en-US" altLang="ko-KR" sz="900" b="1" dirty="0">
                <a:cs typeface="Arial" pitchFamily="34" charset="0"/>
              </a:rPr>
              <a:t>(</a:t>
            </a:r>
            <a:r>
              <a:rPr lang="ko-KR" altLang="en-US" sz="900" b="1" dirty="0" err="1">
                <a:cs typeface="Arial" pitchFamily="34" charset="0"/>
              </a:rPr>
              <a:t>코어뱅킹</a:t>
            </a:r>
            <a:r>
              <a:rPr lang="ko-KR" altLang="en-US" sz="900" b="1" dirty="0">
                <a:cs typeface="Arial" pitchFamily="34" charset="0"/>
              </a:rPr>
              <a:t> 현대화</a:t>
            </a:r>
            <a:r>
              <a:rPr lang="en-US" altLang="ko-KR" sz="900" b="1" dirty="0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14A2FF-604A-49C4-947A-EFCE20E189E8}"/>
              </a:ext>
            </a:extLst>
          </p:cNvPr>
          <p:cNvSpPr/>
          <p:nvPr/>
        </p:nvSpPr>
        <p:spPr>
          <a:xfrm>
            <a:off x="3275203" y="2320824"/>
            <a:ext cx="605386" cy="432000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kern="0" dirty="0">
                <a:solidFill>
                  <a:srgbClr val="000000"/>
                </a:solidFill>
                <a:latin typeface="KB금융 본문체 Light"/>
                <a:ea typeface="KB금융 본문체 Light"/>
                <a:cs typeface="Arial" pitchFamily="34" charset="0"/>
              </a:rPr>
              <a:t>SDR</a:t>
            </a:r>
            <a:br>
              <a:rPr lang="en-US" altLang="ko-KR" sz="900" b="1" kern="0" dirty="0">
                <a:solidFill>
                  <a:srgbClr val="000000"/>
                </a:solidFill>
                <a:latin typeface="KB금융 본문체 Light"/>
                <a:ea typeface="KB금융 본문체 Light"/>
                <a:cs typeface="Arial" pitchFamily="34" charset="0"/>
              </a:rPr>
            </a:br>
            <a:r>
              <a:rPr lang="en-US" altLang="ko-KR" sz="900" kern="0" dirty="0">
                <a:solidFill>
                  <a:srgbClr val="000000"/>
                </a:solidFill>
                <a:latin typeface="KB금융 본문체 Light"/>
                <a:ea typeface="KB금융 본문체 Light"/>
                <a:cs typeface="Arial" pitchFamily="34" charset="0"/>
              </a:rPr>
              <a:t>CDC</a:t>
            </a:r>
            <a:br>
              <a:rPr lang="en-US" altLang="ko-KR" sz="900" kern="0" dirty="0">
                <a:solidFill>
                  <a:srgbClr val="000000"/>
                </a:solidFill>
                <a:latin typeface="KB금융 본문체 Light"/>
                <a:ea typeface="KB금융 본문체 Light"/>
                <a:cs typeface="Arial" pitchFamily="34" charset="0"/>
              </a:rPr>
            </a:br>
            <a:r>
              <a:rPr lang="ko-KR" altLang="en-US" sz="900" kern="0" dirty="0">
                <a:solidFill>
                  <a:srgbClr val="000000"/>
                </a:solidFill>
                <a:latin typeface="KB금융 본문체 Light"/>
                <a:ea typeface="KB금융 본문체 Light"/>
                <a:cs typeface="Arial" pitchFamily="34" charset="0"/>
              </a:rPr>
              <a:t>상태정보</a:t>
            </a:r>
            <a:endParaRPr lang="en-US" altLang="ko-KR" sz="900" kern="0" dirty="0">
              <a:solidFill>
                <a:srgbClr val="000000"/>
              </a:solidFill>
              <a:latin typeface="KB금융 본문체 Light"/>
              <a:ea typeface="KB금융 본문체 Light"/>
              <a:cs typeface="Arial" pitchFamily="34" charset="0"/>
            </a:endParaRPr>
          </a:p>
        </p:txBody>
      </p:sp>
      <p:cxnSp>
        <p:nvCxnSpPr>
          <p:cNvPr id="88" name="직선 화살표 연결선 18">
            <a:extLst>
              <a:ext uri="{FF2B5EF4-FFF2-40B4-BE49-F238E27FC236}">
                <a16:creationId xmlns:a16="http://schemas.microsoft.com/office/drawing/2014/main" id="{E7D3394D-C08B-411D-87AB-1A5C501E7474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 rot="5400000">
            <a:off x="1003247" y="1786116"/>
            <a:ext cx="394231" cy="67518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18">
            <a:extLst>
              <a:ext uri="{FF2B5EF4-FFF2-40B4-BE49-F238E27FC236}">
                <a16:creationId xmlns:a16="http://schemas.microsoft.com/office/drawing/2014/main" id="{49775368-0FF2-471B-9726-16C5E49BC87C}"/>
              </a:ext>
            </a:extLst>
          </p:cNvPr>
          <p:cNvCxnSpPr>
            <a:cxnSpLocks/>
            <a:stCxn id="56" idx="2"/>
            <a:endCxn id="70" idx="0"/>
          </p:cNvCxnSpPr>
          <p:nvPr/>
        </p:nvCxnSpPr>
        <p:spPr>
          <a:xfrm rot="5400000">
            <a:off x="1340839" y="2123708"/>
            <a:ext cx="394231" cy="1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18">
            <a:extLst>
              <a:ext uri="{FF2B5EF4-FFF2-40B4-BE49-F238E27FC236}">
                <a16:creationId xmlns:a16="http://schemas.microsoft.com/office/drawing/2014/main" id="{28BB4682-EEFD-4555-839A-7E58F2726373}"/>
              </a:ext>
            </a:extLst>
          </p:cNvPr>
          <p:cNvCxnSpPr>
            <a:cxnSpLocks/>
            <a:stCxn id="56" idx="2"/>
            <a:endCxn id="71" idx="0"/>
          </p:cNvCxnSpPr>
          <p:nvPr/>
        </p:nvCxnSpPr>
        <p:spPr>
          <a:xfrm rot="16200000" flipH="1">
            <a:off x="1678430" y="1786116"/>
            <a:ext cx="394231" cy="67518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18">
            <a:extLst>
              <a:ext uri="{FF2B5EF4-FFF2-40B4-BE49-F238E27FC236}">
                <a16:creationId xmlns:a16="http://schemas.microsoft.com/office/drawing/2014/main" id="{E792F767-B972-4EC4-B1A0-BFBFC6E0B3D6}"/>
              </a:ext>
            </a:extLst>
          </p:cNvPr>
          <p:cNvCxnSpPr>
            <a:cxnSpLocks/>
            <a:stCxn id="56" idx="2"/>
            <a:endCxn id="72" idx="0"/>
          </p:cNvCxnSpPr>
          <p:nvPr/>
        </p:nvCxnSpPr>
        <p:spPr>
          <a:xfrm rot="16200000" flipH="1">
            <a:off x="2016022" y="1448524"/>
            <a:ext cx="394231" cy="135036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18">
            <a:extLst>
              <a:ext uri="{FF2B5EF4-FFF2-40B4-BE49-F238E27FC236}">
                <a16:creationId xmlns:a16="http://schemas.microsoft.com/office/drawing/2014/main" id="{26440ECA-B0AF-4236-AB06-C1708D96A8FE}"/>
              </a:ext>
            </a:extLst>
          </p:cNvPr>
          <p:cNvCxnSpPr>
            <a:cxnSpLocks/>
            <a:stCxn id="56" idx="2"/>
            <a:endCxn id="87" idx="0"/>
          </p:cNvCxnSpPr>
          <p:nvPr/>
        </p:nvCxnSpPr>
        <p:spPr>
          <a:xfrm rot="16200000" flipH="1">
            <a:off x="2360810" y="1103737"/>
            <a:ext cx="394231" cy="203994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모서리가 둥근 직사각형 19">
            <a:extLst>
              <a:ext uri="{FF2B5EF4-FFF2-40B4-BE49-F238E27FC236}">
                <a16:creationId xmlns:a16="http://schemas.microsoft.com/office/drawing/2014/main" id="{DF8C6C1B-928A-490E-8D1C-78343BB748AE}"/>
              </a:ext>
            </a:extLst>
          </p:cNvPr>
          <p:cNvSpPr/>
          <p:nvPr/>
        </p:nvSpPr>
        <p:spPr>
          <a:xfrm>
            <a:off x="6808842" y="1358566"/>
            <a:ext cx="2448370" cy="532559"/>
          </a:xfrm>
          <a:prstGeom prst="roundRect">
            <a:avLst>
              <a:gd name="adj" fmla="val 11612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ko-KR" altLang="en-US" sz="1000" dirty="0" err="1">
                <a:solidFill>
                  <a:schemeClr val="dk1"/>
                </a:solidFill>
              </a:rPr>
              <a:t>전행공통</a:t>
            </a:r>
            <a:r>
              <a:rPr lang="en-US" altLang="ko-KR" sz="1000" dirty="0">
                <a:solidFill>
                  <a:schemeClr val="dk1"/>
                </a:solidFill>
              </a:rPr>
              <a:t>, </a:t>
            </a:r>
            <a:r>
              <a:rPr lang="ko-KR" altLang="en-US" sz="1000" dirty="0" err="1">
                <a:solidFill>
                  <a:schemeClr val="dk1"/>
                </a:solidFill>
              </a:rPr>
              <a:t>도메인별</a:t>
            </a:r>
            <a:r>
              <a:rPr lang="ko-KR" altLang="en-US" sz="1000" dirty="0">
                <a:solidFill>
                  <a:schemeClr val="dk1"/>
                </a:solidFill>
              </a:rPr>
              <a:t> </a:t>
            </a:r>
            <a:r>
              <a:rPr lang="ko-KR" altLang="en-US" sz="1000" dirty="0" err="1">
                <a:solidFill>
                  <a:schemeClr val="dk1"/>
                </a:solidFill>
              </a:rPr>
              <a:t>공통영역은</a:t>
            </a:r>
            <a:r>
              <a:rPr lang="ko-KR" altLang="en-US" sz="1000" dirty="0">
                <a:solidFill>
                  <a:schemeClr val="dk1"/>
                </a:solidFill>
              </a:rPr>
              <a:t> 항목의 추가</a:t>
            </a:r>
            <a:r>
              <a:rPr lang="en-US" altLang="ko-KR" sz="1000" dirty="0">
                <a:solidFill>
                  <a:schemeClr val="dk1"/>
                </a:solidFill>
              </a:rPr>
              <a:t>/</a:t>
            </a:r>
            <a:r>
              <a:rPr lang="ko-KR" altLang="en-US" sz="1000" dirty="0" err="1">
                <a:solidFill>
                  <a:schemeClr val="dk1"/>
                </a:solidFill>
              </a:rPr>
              <a:t>삭제시</a:t>
            </a:r>
            <a:r>
              <a:rPr lang="ko-KR" altLang="en-US" sz="1000" dirty="0">
                <a:solidFill>
                  <a:schemeClr val="dk1"/>
                </a:solidFill>
              </a:rPr>
              <a:t> 변경 영향을 최소화 하기 위해 </a:t>
            </a:r>
            <a:r>
              <a:rPr lang="en-US" altLang="ko-KR" sz="1000" dirty="0">
                <a:solidFill>
                  <a:schemeClr val="dk1"/>
                </a:solidFill>
              </a:rPr>
              <a:t>IDataSet </a:t>
            </a:r>
            <a:r>
              <a:rPr lang="ko-KR" altLang="en-US" sz="1000" dirty="0">
                <a:solidFill>
                  <a:schemeClr val="dk1"/>
                </a:solidFill>
              </a:rPr>
              <a:t>기반의 </a:t>
            </a:r>
            <a:r>
              <a:rPr lang="en-US" altLang="ko-KR" sz="1000" dirty="0">
                <a:solidFill>
                  <a:schemeClr val="dk1"/>
                </a:solidFill>
              </a:rPr>
              <a:t>Key-Value </a:t>
            </a:r>
            <a:r>
              <a:rPr lang="ko-KR" altLang="en-US" sz="1000" dirty="0">
                <a:solidFill>
                  <a:schemeClr val="dk1"/>
                </a:solidFill>
              </a:rPr>
              <a:t>로 저장</a:t>
            </a:r>
          </a:p>
        </p:txBody>
      </p:sp>
    </p:spTree>
    <p:extLst>
      <p:ext uri="{BB962C8B-B14F-4D97-AF65-F5344CB8AC3E}">
        <p14:creationId xmlns:p14="http://schemas.microsoft.com/office/powerpoint/2010/main" val="3272239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연동거래시</a:t>
            </a:r>
            <a:r>
              <a:rPr lang="ko-KR" altLang="en-US" dirty="0"/>
              <a:t> </a:t>
            </a:r>
            <a:r>
              <a:rPr lang="en-US" altLang="ko-KR" dirty="0"/>
              <a:t>Common Area </a:t>
            </a:r>
            <a:r>
              <a:rPr lang="ko-KR" altLang="en-US" dirty="0"/>
              <a:t>복제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 err="1"/>
              <a:t>연동거래시</a:t>
            </a:r>
            <a:r>
              <a:rPr lang="ko-KR" altLang="en-US" dirty="0"/>
              <a:t> </a:t>
            </a:r>
            <a:r>
              <a:rPr lang="en-US" altLang="ko-KR" dirty="0" err="1"/>
              <a:t>CommonArea</a:t>
            </a:r>
            <a:r>
              <a:rPr lang="ko-KR" altLang="en-US" dirty="0"/>
              <a:t> 영역은 일부 복제 </a:t>
            </a:r>
            <a:r>
              <a:rPr lang="en-US" altLang="ko-KR" dirty="0"/>
              <a:t>, </a:t>
            </a:r>
            <a:r>
              <a:rPr lang="ko-KR" altLang="en-US" dirty="0"/>
              <a:t>일부 참조 형태로 전달됨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Common Area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관리</a:t>
            </a:r>
          </a:p>
        </p:txBody>
      </p:sp>
      <p:graphicFrame>
        <p:nvGraphicFramePr>
          <p:cNvPr id="7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276587"/>
              </p:ext>
            </p:extLst>
          </p:nvPr>
        </p:nvGraphicFramePr>
        <p:xfrm>
          <a:off x="1160404" y="1736812"/>
          <a:ext cx="7501008" cy="4210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846">
                  <a:extLst>
                    <a:ext uri="{9D8B030D-6E8A-4147-A177-3AD203B41FA5}">
                      <a16:colId xmlns:a16="http://schemas.microsoft.com/office/drawing/2014/main" val="768030212"/>
                    </a:ext>
                  </a:extLst>
                </a:gridCol>
                <a:gridCol w="117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3801">
                  <a:extLst>
                    <a:ext uri="{9D8B030D-6E8A-4147-A177-3AD203B41FA5}">
                      <a16:colId xmlns:a16="http://schemas.microsoft.com/office/drawing/2014/main" val="1550175023"/>
                    </a:ext>
                  </a:extLst>
                </a:gridCol>
              </a:tblGrid>
              <a:tr h="429027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1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CommonArea</a:t>
                      </a:r>
                      <a:r>
                        <a:rPr lang="en-US" altLang="ko-KR" sz="1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영역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연동 </a:t>
                      </a:r>
                      <a:r>
                        <a:rPr lang="ko-KR" altLang="en-US" sz="11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호출시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복제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참조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역복제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시스템공통부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/>
                        <a:t>프레임워크에서 기동의 값을 수동으로 복제함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/>
                        <a:t>프레임워크에서 수동의 값중 일부를 기동으로 역복제함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입력공통부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 </a:t>
                      </a:r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공통부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매체 부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ICArea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851287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 선처리에서 복제 또는 생성함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 후처리에서 역복제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23175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계리정보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JKCOM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각 업무 영역 선후처리에서 복제함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getCallerCommonArea()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이용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각 업무 영역 선후처리에서 역 복제함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getCallerCommonArea()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이용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04393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고객정보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213519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상품정보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126839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계약정보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HCCOM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269065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금융복합</a:t>
                      </a: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공통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NF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60988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 공통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MH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917586"/>
                  </a:ext>
                </a:extLst>
              </a:tr>
              <a:tr h="3150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글로벌 공통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9289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모서리가 둥근 직사각형 61">
            <a:extLst>
              <a:ext uri="{FF2B5EF4-FFF2-40B4-BE49-F238E27FC236}">
                <a16:creationId xmlns:a16="http://schemas.microsoft.com/office/drawing/2014/main" id="{6CDCDAF8-B7B9-4FB4-8F56-D7855B1BD0B2}"/>
              </a:ext>
            </a:extLst>
          </p:cNvPr>
          <p:cNvSpPr/>
          <p:nvPr/>
        </p:nvSpPr>
        <p:spPr>
          <a:xfrm>
            <a:off x="314164" y="1392799"/>
            <a:ext cx="9216868" cy="1705834"/>
          </a:xfrm>
          <a:prstGeom prst="roundRect">
            <a:avLst>
              <a:gd name="adj" fmla="val 8319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/>
              <a:t>CDC </a:t>
            </a:r>
            <a:r>
              <a:rPr lang="en-US" altLang="ko-KR" dirty="0"/>
              <a:t>Common Area </a:t>
            </a:r>
            <a:r>
              <a:rPr lang="ko-KR" altLang="en-US" dirty="0"/>
              <a:t>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Common Area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관리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452F85-7AE7-4D92-AC24-FE2F3D641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SDR(CDC</a:t>
            </a:r>
            <a:r>
              <a:rPr lang="ko-KR" altLang="en-US" dirty="0"/>
              <a:t> 상태정보</a:t>
            </a:r>
            <a:r>
              <a:rPr lang="en-US" altLang="ko-KR" dirty="0"/>
              <a:t>) Common Area </a:t>
            </a:r>
            <a:r>
              <a:rPr lang="ko-KR" altLang="en-US" dirty="0"/>
              <a:t>제공 영역 및 관리 기준 </a:t>
            </a:r>
          </a:p>
        </p:txBody>
      </p:sp>
      <p:graphicFrame>
        <p:nvGraphicFramePr>
          <p:cNvPr id="85" name="표 61">
            <a:extLst>
              <a:ext uri="{FF2B5EF4-FFF2-40B4-BE49-F238E27FC236}">
                <a16:creationId xmlns:a16="http://schemas.microsoft.com/office/drawing/2014/main" id="{DE0E4D5F-9BB8-4C74-ACD6-1952117C9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457546"/>
              </p:ext>
            </p:extLst>
          </p:nvPr>
        </p:nvGraphicFramePr>
        <p:xfrm>
          <a:off x="367780" y="1442142"/>
          <a:ext cx="8852784" cy="1583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673">
                  <a:extLst>
                    <a:ext uri="{9D8B030D-6E8A-4147-A177-3AD203B41FA5}">
                      <a16:colId xmlns:a16="http://schemas.microsoft.com/office/drawing/2014/main" val="768030212"/>
                    </a:ext>
                  </a:extLst>
                </a:gridCol>
                <a:gridCol w="1209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46">
                  <a:extLst>
                    <a:ext uri="{9D8B030D-6E8A-4147-A177-3AD203B41FA5}">
                      <a16:colId xmlns:a16="http://schemas.microsoft.com/office/drawing/2014/main" val="673678641"/>
                    </a:ext>
                  </a:extLst>
                </a:gridCol>
                <a:gridCol w="1625450">
                  <a:extLst>
                    <a:ext uri="{9D8B030D-6E8A-4147-A177-3AD203B41FA5}">
                      <a16:colId xmlns:a16="http://schemas.microsoft.com/office/drawing/2014/main" val="1550175023"/>
                    </a:ext>
                  </a:extLst>
                </a:gridCol>
                <a:gridCol w="394817">
                  <a:extLst>
                    <a:ext uri="{9D8B030D-6E8A-4147-A177-3AD203B41FA5}">
                      <a16:colId xmlns:a16="http://schemas.microsoft.com/office/drawing/2014/main" val="4268079848"/>
                    </a:ext>
                  </a:extLst>
                </a:gridCol>
                <a:gridCol w="482196">
                  <a:extLst>
                    <a:ext uri="{9D8B030D-6E8A-4147-A177-3AD203B41FA5}">
                      <a16:colId xmlns:a16="http://schemas.microsoft.com/office/drawing/2014/main" val="1646414819"/>
                    </a:ext>
                  </a:extLst>
                </a:gridCol>
                <a:gridCol w="521151">
                  <a:extLst>
                    <a:ext uri="{9D8B030D-6E8A-4147-A177-3AD203B41FA5}">
                      <a16:colId xmlns:a16="http://schemas.microsoft.com/office/drawing/2014/main" val="1677611040"/>
                    </a:ext>
                  </a:extLst>
                </a:gridCol>
                <a:gridCol w="1877830">
                  <a:extLst>
                    <a:ext uri="{9D8B030D-6E8A-4147-A177-3AD203B41FA5}">
                      <a16:colId xmlns:a16="http://schemas.microsoft.com/office/drawing/2014/main" val="3820354930"/>
                    </a:ext>
                  </a:extLst>
                </a:gridCol>
                <a:gridCol w="991200">
                  <a:extLst>
                    <a:ext uri="{9D8B030D-6E8A-4147-A177-3AD203B41FA5}">
                      <a16:colId xmlns:a16="http://schemas.microsoft.com/office/drawing/2014/main" val="991445576"/>
                    </a:ext>
                  </a:extLst>
                </a:gridCol>
              </a:tblGrid>
              <a:tr h="17222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91838" marR="91838" marT="45919" marB="4591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서버변수명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길이</a:t>
                      </a:r>
                    </a:p>
                  </a:txBody>
                  <a:tcPr marL="91838" marR="91838" marT="45919" marB="45919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Host</a:t>
                      </a:r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변수명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길이</a:t>
                      </a:r>
                    </a:p>
                  </a:txBody>
                  <a:tcPr marL="91838" marR="91838" marT="45919" marB="45919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속성</a:t>
                      </a:r>
                    </a:p>
                  </a:txBody>
                  <a:tcPr marL="72313" marR="72313" marT="18078" marB="18078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</a:p>
                  </a:txBody>
                  <a:tcPr marL="72313" marR="72313" marT="18078" marB="18078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비고</a:t>
                      </a:r>
                    </a:p>
                  </a:txBody>
                  <a:tcPr marL="72313" marR="72313" marT="18078" marB="18078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5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Type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Bytes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b="1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699657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 </a:t>
                      </a:r>
                      <a:r>
                        <a:rPr lang="ko-KR" alt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큐 지연상태 확인 기본제공영역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0(</a:t>
                      </a:r>
                      <a:r>
                        <a:rPr lang="ko-KR" alt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정상</a:t>
                      </a: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),1(</a:t>
                      </a:r>
                      <a:r>
                        <a:rPr lang="ko-KR" alt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비정상</a:t>
                      </a: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cdcQue1StusDlayYn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CDC-Q1S-STUS-DLAY-YN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 </a:t>
                      </a:r>
                      <a:r>
                        <a:rPr lang="ko-KR" alt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큐 지연상태 확인 추가제공영역</a:t>
                      </a:r>
                    </a:p>
                  </a:txBody>
                  <a:tcPr marL="72313" marR="72313" marT="18078" marB="1807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313" marR="72313" marT="18078" marB="1807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cdcQue2StusDlayYn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CDC-Q2S-STUS-DLAY-YN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cdcQue3StusDlayYn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CDC-Q3S-STUS-DLAY-YN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51287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cdcQue4StusDlayYn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CDC-Q4S-STUS-DLAY-YN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022938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cdcQue5StusDlayYn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CDC-Q5S-STUS-DLAY-YN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95012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상태지연여부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cdcQue6StusDlayYn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CDC-Q6S-STUS-DLAY-YN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2948" marR="72948" marT="18237" marB="1823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658716"/>
                  </a:ext>
                </a:extLst>
              </a:tr>
            </a:tbl>
          </a:graphicData>
        </a:graphic>
      </p:graphicFrame>
      <p:sp>
        <p:nvSpPr>
          <p:cNvPr id="98" name="모서리가 둥근 직사각형 61">
            <a:extLst>
              <a:ext uri="{FF2B5EF4-FFF2-40B4-BE49-F238E27FC236}">
                <a16:creationId xmlns:a16="http://schemas.microsoft.com/office/drawing/2014/main" id="{F82D44A8-9E4B-46E0-9E85-E0064F3315E9}"/>
              </a:ext>
            </a:extLst>
          </p:cNvPr>
          <p:cNvSpPr/>
          <p:nvPr/>
        </p:nvSpPr>
        <p:spPr>
          <a:xfrm>
            <a:off x="308483" y="3425602"/>
            <a:ext cx="9227691" cy="1127306"/>
          </a:xfrm>
          <a:prstGeom prst="roundRect">
            <a:avLst>
              <a:gd name="adj" fmla="val 8319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B7971FE-0DD0-415E-9481-859AE0B4E690}"/>
              </a:ext>
            </a:extLst>
          </p:cNvPr>
          <p:cNvGrpSpPr/>
          <p:nvPr/>
        </p:nvGrpSpPr>
        <p:grpSpPr>
          <a:xfrm>
            <a:off x="390751" y="3549092"/>
            <a:ext cx="8890357" cy="895804"/>
            <a:chOff x="369821" y="3702153"/>
            <a:chExt cx="5022718" cy="895804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B287A72-4A3F-46B6-A97E-BDAC2882A249}"/>
                </a:ext>
              </a:extLst>
            </p:cNvPr>
            <p:cNvSpPr txBox="1"/>
            <p:nvPr/>
          </p:nvSpPr>
          <p:spPr>
            <a:xfrm>
              <a:off x="369821" y="4273318"/>
              <a:ext cx="628745" cy="324639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30000"/>
              </a:schemeClr>
            </a:solidFill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900" b="1" kern="0">
                  <a:solidFill>
                    <a:srgbClr val="000000"/>
                  </a:solidFill>
                  <a:latin typeface="KB금융 본문체 Light"/>
                  <a:ea typeface="KB금융 본문체 Light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ko-KR" sz="800" b="0" dirty="0"/>
                <a:t>CDC</a:t>
              </a:r>
              <a:r>
                <a:rPr lang="ko-KR" altLang="en-US" sz="800" b="0" dirty="0" err="1"/>
                <a:t>큐상태</a:t>
              </a:r>
              <a:br>
                <a:rPr lang="en-US" altLang="ko-KR" sz="800" b="0" dirty="0"/>
              </a:br>
              <a:r>
                <a:rPr lang="ko-KR" altLang="en-US" sz="800" b="0" dirty="0"/>
                <a:t>지연여부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6D1038B-3CB6-41F1-8617-9D28921A6041}"/>
                </a:ext>
              </a:extLst>
            </p:cNvPr>
            <p:cNvSpPr txBox="1"/>
            <p:nvPr/>
          </p:nvSpPr>
          <p:spPr>
            <a:xfrm>
              <a:off x="998596" y="4273318"/>
              <a:ext cx="628745" cy="32463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CDC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큐</a:t>
              </a:r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1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상태</a:t>
              </a:r>
              <a:b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</a:b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지연여부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3FABB1D-0FC3-45D9-AD1A-AB3B32DFD58D}"/>
                </a:ext>
              </a:extLst>
            </p:cNvPr>
            <p:cNvSpPr txBox="1"/>
            <p:nvPr/>
          </p:nvSpPr>
          <p:spPr>
            <a:xfrm>
              <a:off x="1626335" y="4273318"/>
              <a:ext cx="628745" cy="32463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CDC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큐</a:t>
              </a:r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2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상태</a:t>
              </a:r>
              <a:b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</a:b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지연여부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0400AA3-26FF-4046-9074-3BA3CF90C36F}"/>
                </a:ext>
              </a:extLst>
            </p:cNvPr>
            <p:cNvSpPr txBox="1"/>
            <p:nvPr/>
          </p:nvSpPr>
          <p:spPr>
            <a:xfrm>
              <a:off x="2248095" y="4273318"/>
              <a:ext cx="628745" cy="32463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CDC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큐</a:t>
              </a:r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3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상태</a:t>
              </a:r>
              <a:b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</a:b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지연여부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3E61F56-8E60-4DDA-9704-01C534005C6C}"/>
                </a:ext>
              </a:extLst>
            </p:cNvPr>
            <p:cNvSpPr txBox="1"/>
            <p:nvPr/>
          </p:nvSpPr>
          <p:spPr>
            <a:xfrm>
              <a:off x="2875834" y="4273317"/>
              <a:ext cx="628745" cy="32463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CDC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큐</a:t>
              </a:r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4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상태</a:t>
              </a:r>
              <a:b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</a:b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지연여부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9030891-D15D-46EB-A82D-D91B95BDEADF}"/>
                </a:ext>
              </a:extLst>
            </p:cNvPr>
            <p:cNvSpPr txBox="1"/>
            <p:nvPr/>
          </p:nvSpPr>
          <p:spPr>
            <a:xfrm>
              <a:off x="3504579" y="4273316"/>
              <a:ext cx="628745" cy="32463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CDC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큐</a:t>
              </a:r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5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상태</a:t>
              </a:r>
              <a:b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</a:b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지연여부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BAD0DA7-4729-426D-BA3B-A8017A62DBA0}"/>
                </a:ext>
              </a:extLst>
            </p:cNvPr>
            <p:cNvSpPr txBox="1"/>
            <p:nvPr/>
          </p:nvSpPr>
          <p:spPr>
            <a:xfrm>
              <a:off x="4130426" y="4273318"/>
              <a:ext cx="628745" cy="32463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CDC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큐</a:t>
              </a:r>
              <a: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6</a:t>
              </a: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상태</a:t>
              </a:r>
              <a:br>
                <a:rPr lang="en-US" altLang="ko-KR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</a:br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정상여부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C3C2242-7AA3-4992-B799-A2894E317FC7}"/>
                </a:ext>
              </a:extLst>
            </p:cNvPr>
            <p:cNvSpPr txBox="1"/>
            <p:nvPr/>
          </p:nvSpPr>
          <p:spPr>
            <a:xfrm>
              <a:off x="4763794" y="4273316"/>
              <a:ext cx="628745" cy="3246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defRPr sz="900" b="1">
                  <a:solidFill>
                    <a:schemeClr val="tx1"/>
                  </a:solidFill>
                  <a:cs typeface="Arial" pitchFamily="34" charset="0"/>
                </a:defRPr>
              </a:lvl1pPr>
            </a:lstStyle>
            <a:p>
              <a:r>
                <a:rPr lang="ko-KR" altLang="en-US" sz="800" b="0" dirty="0">
                  <a:latin typeface="KB금융 본문체 Medium" panose="020B0603000000000000" pitchFamily="50" charset="-127"/>
                  <a:ea typeface="KB금융 본문체 Medium" panose="020B0603000000000000" pitchFamily="50" charset="-127"/>
                </a:rPr>
                <a:t>예비영역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97FE67A-5268-42A7-930A-4E120D1B6F99}"/>
                </a:ext>
              </a:extLst>
            </p:cNvPr>
            <p:cNvSpPr txBox="1"/>
            <p:nvPr/>
          </p:nvSpPr>
          <p:spPr>
            <a:xfrm>
              <a:off x="369825" y="3702155"/>
              <a:ext cx="633737" cy="222273"/>
            </a:xfrm>
            <a:prstGeom prst="rect">
              <a:avLst/>
            </a:prstGeom>
            <a:solidFill>
              <a:srgbClr val="62574A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>
                <a:lnSpc>
                  <a:spcPct val="90000"/>
                </a:lnSpc>
                <a:spcBef>
                  <a:spcPts val="600"/>
                </a:spcBef>
                <a:defRPr sz="1000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기본제공영역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sp>
          <p:nvSpPr>
            <p:cNvPr id="120" name="오른쪽 중괄호 119">
              <a:extLst>
                <a:ext uri="{FF2B5EF4-FFF2-40B4-BE49-F238E27FC236}">
                  <a16:creationId xmlns:a16="http://schemas.microsoft.com/office/drawing/2014/main" id="{F96D26E6-40F7-498D-8222-D9CF8381C890}"/>
                </a:ext>
              </a:extLst>
            </p:cNvPr>
            <p:cNvSpPr/>
            <p:nvPr/>
          </p:nvSpPr>
          <p:spPr>
            <a:xfrm rot="16200000">
              <a:off x="526151" y="3795338"/>
              <a:ext cx="316092" cy="628744"/>
            </a:xfrm>
            <a:prstGeom prst="rightBrace">
              <a:avLst>
                <a:gd name="adj1" fmla="val 82560"/>
                <a:gd name="adj2" fmla="val 48794"/>
              </a:avLst>
            </a:prstGeom>
            <a:solidFill>
              <a:schemeClr val="accent2">
                <a:lumMod val="20000"/>
                <a:lumOff val="80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609117C-DF93-43BD-8844-B07C5D6BCC5D}"/>
                </a:ext>
              </a:extLst>
            </p:cNvPr>
            <p:cNvSpPr txBox="1"/>
            <p:nvPr/>
          </p:nvSpPr>
          <p:spPr>
            <a:xfrm>
              <a:off x="427580" y="4121091"/>
              <a:ext cx="513228" cy="125467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defRPr sz="800">
                  <a:latin typeface="KB금융 본문체 Medium" panose="020B0603000000000000" pitchFamily="50" charset="-127"/>
                  <a:ea typeface="KB금융 본문체 Medium" panose="020B0603000000000000" pitchFamily="50" charset="-127"/>
                  <a:cs typeface="Arial" pitchFamily="34" charset="0"/>
                </a:defRPr>
              </a:lvl1pPr>
            </a:lstStyle>
            <a:p>
              <a:r>
                <a:rPr lang="en-US" altLang="ko-KR" dirty="0"/>
                <a:t>1 Byte</a:t>
              </a:r>
            </a:p>
          </p:txBody>
        </p:sp>
        <p:sp>
          <p:nvSpPr>
            <p:cNvPr id="122" name="오른쪽 중괄호 121">
              <a:extLst>
                <a:ext uri="{FF2B5EF4-FFF2-40B4-BE49-F238E27FC236}">
                  <a16:creationId xmlns:a16="http://schemas.microsoft.com/office/drawing/2014/main" id="{8EEA84AC-7976-4174-AD1C-A2B2FACD2BAA}"/>
                </a:ext>
              </a:extLst>
            </p:cNvPr>
            <p:cNvSpPr/>
            <p:nvPr/>
          </p:nvSpPr>
          <p:spPr>
            <a:xfrm rot="16200000">
              <a:off x="2721527" y="2215091"/>
              <a:ext cx="324642" cy="3760573"/>
            </a:xfrm>
            <a:prstGeom prst="rightBrace">
              <a:avLst>
                <a:gd name="adj1" fmla="val 82560"/>
                <a:gd name="adj2" fmla="val 48794"/>
              </a:avLst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7E3AB82-CA78-48FD-B68D-AC887F99B870}"/>
                </a:ext>
              </a:extLst>
            </p:cNvPr>
            <p:cNvSpPr txBox="1"/>
            <p:nvPr/>
          </p:nvSpPr>
          <p:spPr>
            <a:xfrm>
              <a:off x="2536366" y="4116242"/>
              <a:ext cx="634379" cy="183696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defRPr sz="800">
                  <a:latin typeface="KB금융 본문체 Medium" panose="020B0603000000000000" pitchFamily="50" charset="-127"/>
                  <a:ea typeface="KB금융 본문체 Medium" panose="020B0603000000000000" pitchFamily="50" charset="-127"/>
                  <a:cs typeface="Arial" pitchFamily="34" charset="0"/>
                </a:defRPr>
              </a:lvl1pPr>
            </a:lstStyle>
            <a:p>
              <a:r>
                <a:rPr lang="en-US" altLang="ko-KR" dirty="0"/>
                <a:t>6 Byte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C018EBD-AE6E-44DF-83DE-38D82333EAFA}"/>
                </a:ext>
              </a:extLst>
            </p:cNvPr>
            <p:cNvSpPr txBox="1"/>
            <p:nvPr/>
          </p:nvSpPr>
          <p:spPr>
            <a:xfrm>
              <a:off x="1003562" y="3702153"/>
              <a:ext cx="3755609" cy="224572"/>
            </a:xfrm>
            <a:prstGeom prst="rect">
              <a:avLst/>
            </a:prstGeom>
            <a:solidFill>
              <a:srgbClr val="62574A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lnSpc>
                  <a:spcPct val="90000"/>
                </a:lnSpc>
                <a:spcBef>
                  <a:spcPts val="600"/>
                </a:spcBef>
                <a:defRPr sz="1000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>
                  <a:solidFill>
                    <a:schemeClr val="bg1"/>
                  </a:solidFill>
                </a:rPr>
                <a:t>추가 제공 영역</a:t>
              </a:r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r>
                <a:rPr lang="ko-KR" altLang="en-US" dirty="0">
                  <a:solidFill>
                    <a:schemeClr val="bg1"/>
                  </a:solidFill>
                </a:rPr>
                <a:t>요청 시 </a:t>
              </a:r>
              <a:r>
                <a:rPr lang="en-US" altLang="ko-KR" dirty="0">
                  <a:solidFill>
                    <a:schemeClr val="bg1"/>
                  </a:solidFill>
                </a:rPr>
                <a:t>F/W </a:t>
              </a:r>
              <a:r>
                <a:rPr lang="ko-KR" altLang="en-US" dirty="0">
                  <a:solidFill>
                    <a:schemeClr val="bg1"/>
                  </a:solidFill>
                </a:rPr>
                <a:t>및 </a:t>
              </a:r>
              <a:r>
                <a:rPr lang="en-US" altLang="ko-KR" dirty="0">
                  <a:solidFill>
                    <a:schemeClr val="bg1"/>
                  </a:solidFill>
                </a:rPr>
                <a:t>CDC </a:t>
              </a:r>
              <a:r>
                <a:rPr lang="ko-KR" altLang="en-US" dirty="0">
                  <a:solidFill>
                    <a:schemeClr val="bg1"/>
                  </a:solidFill>
                </a:rPr>
                <a:t>운영팀 협의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sp>
          <p:nvSpPr>
            <p:cNvPr id="125" name="오른쪽 중괄호 124">
              <a:extLst>
                <a:ext uri="{FF2B5EF4-FFF2-40B4-BE49-F238E27FC236}">
                  <a16:creationId xmlns:a16="http://schemas.microsoft.com/office/drawing/2014/main" id="{6DACD73D-114E-4FA7-8AA7-3D71493B38FD}"/>
                </a:ext>
              </a:extLst>
            </p:cNvPr>
            <p:cNvSpPr/>
            <p:nvPr/>
          </p:nvSpPr>
          <p:spPr>
            <a:xfrm rot="16200000">
              <a:off x="4913196" y="3802602"/>
              <a:ext cx="325657" cy="623782"/>
            </a:xfrm>
            <a:prstGeom prst="rightBrace">
              <a:avLst>
                <a:gd name="adj1" fmla="val 82560"/>
                <a:gd name="adj2" fmla="val 4879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249A31F-DAC3-49A3-BB37-B5290000B60B}"/>
                </a:ext>
              </a:extLst>
            </p:cNvPr>
            <p:cNvSpPr txBox="1"/>
            <p:nvPr/>
          </p:nvSpPr>
          <p:spPr>
            <a:xfrm>
              <a:off x="4821552" y="4095361"/>
              <a:ext cx="513228" cy="183696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defRPr sz="800">
                  <a:latin typeface="KB금융 본문체 Medium" panose="020B0603000000000000" pitchFamily="50" charset="-127"/>
                  <a:ea typeface="KB금융 본문체 Medium" panose="020B0603000000000000" pitchFamily="50" charset="-127"/>
                  <a:cs typeface="Arial" pitchFamily="34" charset="0"/>
                </a:defRPr>
              </a:lvl1pPr>
            </a:lstStyle>
            <a:p>
              <a:r>
                <a:rPr lang="en-US" altLang="ko-KR" dirty="0"/>
                <a:t>3 Byte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CACE0DD-F44A-4080-9A14-CE1CAD63A33B}"/>
                </a:ext>
              </a:extLst>
            </p:cNvPr>
            <p:cNvSpPr txBox="1"/>
            <p:nvPr/>
          </p:nvSpPr>
          <p:spPr>
            <a:xfrm>
              <a:off x="4759171" y="3703151"/>
              <a:ext cx="633368" cy="2212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800" b="0">
                  <a:solidFill>
                    <a:schemeClr val="tx1"/>
                  </a:solidFill>
                  <a:latin typeface="KB금융 본문체 Medium" panose="020B0603000000000000" pitchFamily="50" charset="-127"/>
                  <a:ea typeface="KB금융 본문체 Medium" panose="020B0603000000000000" pitchFamily="50" charset="-127"/>
                  <a:cs typeface="Arial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/>
                <a:t>예비영역</a:t>
              </a:r>
              <a:endParaRPr lang="en-US" altLang="ko-KR" dirty="0"/>
            </a:p>
          </p:txBody>
        </p:sp>
      </p:grpSp>
      <p:sp>
        <p:nvSpPr>
          <p:cNvPr id="128" name="Rectangle 5">
            <a:extLst>
              <a:ext uri="{FF2B5EF4-FFF2-40B4-BE49-F238E27FC236}">
                <a16:creationId xmlns:a16="http://schemas.microsoft.com/office/drawing/2014/main" id="{C34DC33C-0CAC-442C-9C0A-C63913178890}"/>
              </a:ext>
            </a:extLst>
          </p:cNvPr>
          <p:cNvSpPr txBox="1">
            <a:spLocks noChangeArrowheads="1"/>
          </p:cNvSpPr>
          <p:nvPr/>
        </p:nvSpPr>
        <p:spPr>
          <a:xfrm>
            <a:off x="276397" y="1101678"/>
            <a:ext cx="8984457" cy="31430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91429" tIns="45715" rIns="91429" bIns="45715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>
                <a:latin typeface="+mn-ea"/>
              </a:rPr>
              <a:t>SDR Common Area Parameter</a:t>
            </a:r>
            <a:endParaRPr lang="en-US" altLang="ko-KR" dirty="0">
              <a:latin typeface="+mn-ea"/>
            </a:endParaRPr>
          </a:p>
        </p:txBody>
      </p:sp>
      <p:sp>
        <p:nvSpPr>
          <p:cNvPr id="129" name="Rectangle 5">
            <a:extLst>
              <a:ext uri="{FF2B5EF4-FFF2-40B4-BE49-F238E27FC236}">
                <a16:creationId xmlns:a16="http://schemas.microsoft.com/office/drawing/2014/main" id="{E131B422-C36C-4919-A675-55CCF2039E22}"/>
              </a:ext>
            </a:extLst>
          </p:cNvPr>
          <p:cNvSpPr txBox="1">
            <a:spLocks noChangeArrowheads="1"/>
          </p:cNvSpPr>
          <p:nvPr/>
        </p:nvSpPr>
        <p:spPr>
          <a:xfrm>
            <a:off x="276397" y="3104964"/>
            <a:ext cx="8984457" cy="31430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91429" tIns="45715" rIns="91429" bIns="45715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제공 영역 기준</a:t>
            </a:r>
            <a:endParaRPr lang="en-US" altLang="ko-KR" dirty="0">
              <a:latin typeface="+mn-ea"/>
            </a:endParaRPr>
          </a:p>
        </p:txBody>
      </p:sp>
      <p:sp>
        <p:nvSpPr>
          <p:cNvPr id="131" name="Rectangle 5">
            <a:extLst>
              <a:ext uri="{FF2B5EF4-FFF2-40B4-BE49-F238E27FC236}">
                <a16:creationId xmlns:a16="http://schemas.microsoft.com/office/drawing/2014/main" id="{D9FAEA58-AE3D-4080-9FD9-C83611DB857B}"/>
              </a:ext>
            </a:extLst>
          </p:cNvPr>
          <p:cNvSpPr txBox="1">
            <a:spLocks noChangeArrowheads="1"/>
          </p:cNvSpPr>
          <p:nvPr/>
        </p:nvSpPr>
        <p:spPr>
          <a:xfrm>
            <a:off x="276397" y="4617132"/>
            <a:ext cx="8984457" cy="31430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91429" tIns="45715" rIns="91429" bIns="45715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제공 방식 및 관리 기준</a:t>
            </a:r>
            <a:endParaRPr lang="en-US" altLang="ko-KR" dirty="0">
              <a:latin typeface="+mn-ea"/>
            </a:endParaRPr>
          </a:p>
        </p:txBody>
      </p:sp>
      <p:sp>
        <p:nvSpPr>
          <p:cNvPr id="132" name="모서리가 둥근 직사각형 61">
            <a:extLst>
              <a:ext uri="{FF2B5EF4-FFF2-40B4-BE49-F238E27FC236}">
                <a16:creationId xmlns:a16="http://schemas.microsoft.com/office/drawing/2014/main" id="{95754160-D0B4-40FB-A6D7-281AD6B3245F}"/>
              </a:ext>
            </a:extLst>
          </p:cNvPr>
          <p:cNvSpPr/>
          <p:nvPr/>
        </p:nvSpPr>
        <p:spPr>
          <a:xfrm>
            <a:off x="308483" y="4874560"/>
            <a:ext cx="9227691" cy="1614780"/>
          </a:xfrm>
          <a:prstGeom prst="roundRect">
            <a:avLst>
              <a:gd name="adj" fmla="val 8319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1. Common Area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에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Set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 값은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0(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정상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) , 1(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비정상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,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지연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으로 데이터를 제공함</a:t>
            </a:r>
            <a:b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</a:br>
            <a:b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2.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지연 시간은 기본적으로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20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초 미만일 경우 정상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, 20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초 이상일 경우 지연으로 구분하며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지연 시간 변경이 필요한 경우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F/W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및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CDC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운영팀과 협의 필요</a:t>
            </a:r>
            <a:b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</a:br>
            <a:b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3.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기본 제공 영역인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“CDC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큐상태지연여부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”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는 모듈 사용시 기본적으로 제공하며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, Q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별 각각의 테이블에 대한 정상여부 판단이 필요한 경우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 F/W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및 </a:t>
            </a: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CDC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운영팀과 </a:t>
            </a:r>
            <a:b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dirty="0">
                <a:solidFill>
                  <a:schemeClr val="tx1"/>
                </a:solidFill>
                <a:cs typeface="Arial" pitchFamily="34" charset="0"/>
              </a:rPr>
              <a:t>    </a:t>
            </a:r>
            <a:r>
              <a:rPr lang="ko-KR" altLang="en-US" sz="1050" dirty="0">
                <a:solidFill>
                  <a:schemeClr val="tx1"/>
                </a:solidFill>
                <a:cs typeface="Arial" pitchFamily="34" charset="0"/>
              </a:rPr>
              <a:t>협의 필요</a:t>
            </a:r>
          </a:p>
        </p:txBody>
      </p:sp>
    </p:spTree>
    <p:extLst>
      <p:ext uri="{BB962C8B-B14F-4D97-AF65-F5344CB8AC3E}">
        <p14:creationId xmlns:p14="http://schemas.microsoft.com/office/powerpoint/2010/main" val="17217527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거래로그</a:t>
            </a:r>
            <a:r>
              <a:rPr lang="ko-KR" altLang="en-US" dirty="0"/>
              <a:t>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로그 처리 방안</a:t>
            </a: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각 </a:t>
            </a:r>
            <a:r>
              <a:rPr lang="en-US" altLang="ko-KR"/>
              <a:t>Biz, </a:t>
            </a:r>
            <a:r>
              <a:rPr lang="ko-KR" altLang="en-US"/>
              <a:t>서비스가 발생하는 상황에 대한 기록</a:t>
            </a:r>
            <a:r>
              <a:rPr lang="en-US" altLang="ko-KR"/>
              <a:t>, </a:t>
            </a:r>
            <a:r>
              <a:rPr lang="ko-KR" altLang="en-US"/>
              <a:t>오류에 대한 원인 규명</a:t>
            </a:r>
            <a:r>
              <a:rPr lang="en-US" altLang="ko-KR"/>
              <a:t>, </a:t>
            </a:r>
            <a:r>
              <a:rPr lang="ko-KR" altLang="en-US"/>
              <a:t>거래처리 결과의 증빙자료 및 타 시스템으로 정보 전달을 하기 위해 로깅 함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7626" y="5250571"/>
            <a:ext cx="7051718" cy="48820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cs typeface="Arial" pitchFamily="34" charset="0"/>
              </a:rPr>
              <a:t>각 </a:t>
            </a:r>
            <a:r>
              <a:rPr lang="en-US" altLang="ko-KR" sz="1000">
                <a:cs typeface="Arial" pitchFamily="34" charset="0"/>
              </a:rPr>
              <a:t>Biz. </a:t>
            </a:r>
            <a:r>
              <a:rPr lang="ko-KR" altLang="en-US" sz="1000">
                <a:cs typeface="Arial" pitchFamily="34" charset="0"/>
              </a:rPr>
              <a:t>서비스가 발생하는 상황에 대한 기록</a:t>
            </a:r>
            <a:r>
              <a:rPr lang="en-US" altLang="ko-KR" sz="1000">
                <a:cs typeface="Arial" pitchFamily="34" charset="0"/>
              </a:rPr>
              <a:t>, </a:t>
            </a:r>
            <a:r>
              <a:rPr lang="ko-KR" altLang="en-US" sz="1000">
                <a:cs typeface="Arial" pitchFamily="34" charset="0"/>
              </a:rPr>
              <a:t>오류 원인 규명</a:t>
            </a:r>
            <a:r>
              <a:rPr lang="en-US" altLang="ko-KR" sz="1000">
                <a:cs typeface="Arial" pitchFamily="34" charset="0"/>
              </a:rPr>
              <a:t>, </a:t>
            </a:r>
            <a:r>
              <a:rPr lang="ko-KR" altLang="en-US" sz="1000">
                <a:cs typeface="Arial" pitchFamily="34" charset="0"/>
              </a:rPr>
              <a:t>거래처리 결과 증빙 등 및 타 시스템으로 정보 전달을 위해 로깅 함</a:t>
            </a:r>
            <a:endParaRPr lang="en-US" altLang="ko-KR" sz="100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cs typeface="Arial" pitchFamily="34" charset="0"/>
              </a:rPr>
              <a:t>테이블에 저장되는 로그는</a:t>
            </a:r>
            <a:r>
              <a:rPr lang="en-US" altLang="ko-KR" sz="1000">
                <a:cs typeface="Arial" pitchFamily="34" charset="0"/>
              </a:rPr>
              <a:t>, </a:t>
            </a:r>
            <a:r>
              <a:rPr lang="ko-KR" altLang="en-US" sz="1000">
                <a:cs typeface="Arial" pitchFamily="34" charset="0"/>
              </a:rPr>
              <a:t>관리콘솔의 각 메뉴에서 확인 가능 함</a:t>
            </a:r>
            <a:endParaRPr lang="en-US" altLang="ko-KR" sz="1000">
              <a:cs typeface="Arial" pitchFamily="34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25571"/>
              </p:ext>
            </p:extLst>
          </p:nvPr>
        </p:nvGraphicFramePr>
        <p:xfrm>
          <a:off x="704528" y="1364766"/>
          <a:ext cx="8172909" cy="3515012"/>
        </p:xfrm>
        <a:graphic>
          <a:graphicData uri="http://schemas.openxmlformats.org/drawingml/2006/table">
            <a:tbl>
              <a:tblPr/>
              <a:tblGrid>
                <a:gridCol w="446392">
                  <a:extLst>
                    <a:ext uri="{9D8B030D-6E8A-4147-A177-3AD203B41FA5}">
                      <a16:colId xmlns:a16="http://schemas.microsoft.com/office/drawing/2014/main" val="2061369858"/>
                    </a:ext>
                  </a:extLst>
                </a:gridCol>
                <a:gridCol w="847389">
                  <a:extLst>
                    <a:ext uri="{9D8B030D-6E8A-4147-A177-3AD203B41FA5}">
                      <a16:colId xmlns:a16="http://schemas.microsoft.com/office/drawing/2014/main" val="3768902715"/>
                    </a:ext>
                  </a:extLst>
                </a:gridCol>
                <a:gridCol w="3371672">
                  <a:extLst>
                    <a:ext uri="{9D8B030D-6E8A-4147-A177-3AD203B41FA5}">
                      <a16:colId xmlns:a16="http://schemas.microsoft.com/office/drawing/2014/main" val="4252683390"/>
                    </a:ext>
                  </a:extLst>
                </a:gridCol>
                <a:gridCol w="3507456">
                  <a:extLst>
                    <a:ext uri="{9D8B030D-6E8A-4147-A177-3AD203B41FA5}">
                      <a16:colId xmlns:a16="http://schemas.microsoft.com/office/drawing/2014/main" val="2545862320"/>
                    </a:ext>
                  </a:extLst>
                </a:gridCol>
              </a:tblGrid>
              <a:tr h="285227">
                <a:tc gridSpan="2"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로그 종류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설 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429647"/>
                  </a:ext>
                </a:extLst>
              </a:tr>
              <a:tr h="401589">
                <a:tc rowSpan="6"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온</a:t>
                      </a:r>
                      <a:endParaRPr lang="en-US" altLang="ko-KR" sz="1000" b="1" dirty="0"/>
                    </a:p>
                    <a:p>
                      <a:pPr algn="ctr"/>
                      <a:r>
                        <a:rPr lang="ko-KR" altLang="en-US" sz="1000" b="1" dirty="0"/>
                        <a:t>라</a:t>
                      </a:r>
                      <a:endParaRPr lang="en-US" altLang="ko-KR" sz="1000" b="1" dirty="0"/>
                    </a:p>
                    <a:p>
                      <a:pPr algn="ctr"/>
                      <a:r>
                        <a:rPr lang="ko-KR" altLang="en-US" sz="1000" b="1" dirty="0"/>
                        <a:t>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거래 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정상 처리 된 온라인 거래의 거래처리 공통 정보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NJFK_TR00~09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테이블에 저장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.(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일자별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다른테이블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입력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4222"/>
                  </a:ext>
                </a:extLst>
              </a:tr>
              <a:tr h="401589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latin typeface="+mj-lt"/>
                        </a:rPr>
                        <a:t>전문 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nKesa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에 입력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출력되는 모든 전문 정보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NJFK_JN00~09 </a:t>
                      </a: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테이블에 저장</a:t>
                      </a:r>
                      <a:r>
                        <a:rPr kumimoji="0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.(</a:t>
                      </a:r>
                      <a:r>
                        <a:rPr kumimoji="0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일자별 다른테이블 입력</a:t>
                      </a:r>
                      <a:r>
                        <a:rPr kumimoji="0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626988"/>
                  </a:ext>
                </a:extLst>
              </a:tr>
              <a:tr h="401589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latin typeface="+mj-lt"/>
                        </a:rPr>
                        <a:t>에러 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에러 처리 된 온라인 거래에서 발생한 에러 정보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NJFK_ER00~09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테이블에 저장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.(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일자별 다른테이블 입력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863060"/>
                  </a:ext>
                </a:extLst>
              </a:tr>
              <a:tr h="401589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latin typeface="+mj-lt"/>
                        </a:rPr>
                        <a:t>플로우 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온라인 거래의 호출 관계와 스텝 정보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플로우 로그와 업무로그는 동일 매체에 기록되며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파일과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DB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에 모두 기록됨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online-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거래코드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-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일자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.log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파일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= NJFT_FLOW_LOG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테이블</a:t>
                      </a: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*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운영에서는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성능을 위해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NJFT_FLOW_LOG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에는 기록하지 않음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77823"/>
                  </a:ext>
                </a:extLst>
              </a:tr>
              <a:tr h="401589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j-lt"/>
                        </a:rPr>
                        <a:t>업무로그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온라인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업무로직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처리 중 로깅이 필요한 메시지 정보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15862"/>
                  </a:ext>
                </a:extLst>
              </a:tr>
              <a:tr h="401589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시스템로그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nKesa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내부 주요 이벤트 및 메시지 정보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온라인 거래가 실행 된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AP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서버에 로그파일 생성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fwk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-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일자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.log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23057"/>
                  </a:ext>
                </a:extLst>
              </a:tr>
              <a:tr h="401589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배</a:t>
                      </a:r>
                      <a:endParaRPr lang="en-US" altLang="ko-KR" sz="1000" b="1"/>
                    </a:p>
                    <a:p>
                      <a:pPr algn="ctr"/>
                      <a:r>
                        <a:rPr lang="ko-KR" altLang="en-US" sz="1000" b="1"/>
                        <a:t>치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itchFamily="50" charset="-127"/>
                        </a:rPr>
                        <a:t>업무로그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배치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업무로직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처리 중 로깅이 필요한 메시지 정보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배치가 동작하는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서버에 로그파일 생성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bat-JobInstanceId-threadId.log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398816"/>
                  </a:ext>
                </a:extLst>
              </a:tr>
              <a:tr h="401589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itchFamily="50" charset="-127"/>
                        </a:rPr>
                        <a:t>시스템로그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nKesa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내부 주요 이벤트 및 메시지 정보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배치가 동작하는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서버에 로그파일 생성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fwk-shellname+yyyymmdd-hhmmss-JVM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PID.log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667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26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err="1"/>
              <a:t>중계로그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전문로그</a:t>
            </a:r>
            <a:r>
              <a:rPr lang="en-US" altLang="ko-KR" dirty="0"/>
              <a:t>) </a:t>
            </a:r>
            <a:r>
              <a:rPr lang="ko-KR" altLang="en-US" dirty="0"/>
              <a:t>처리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로그 처리 방안</a:t>
            </a:r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ko-KR" altLang="en-US"/>
              <a:t>중계로그</a:t>
            </a:r>
            <a:r>
              <a:rPr lang="en-US" altLang="ko-KR"/>
              <a:t>(</a:t>
            </a:r>
            <a:r>
              <a:rPr lang="ko-KR" altLang="en-US"/>
              <a:t>전문로그</a:t>
            </a:r>
            <a:r>
              <a:rPr lang="en-US" altLang="ko-KR"/>
              <a:t>)</a:t>
            </a:r>
            <a:r>
              <a:rPr lang="ko-KR" altLang="en-US"/>
              <a:t>는 </a:t>
            </a:r>
            <a:r>
              <a:rPr lang="en-US" altLang="ko-KR"/>
              <a:t>nKESA</a:t>
            </a:r>
            <a:r>
              <a:rPr lang="ko-KR" altLang="en-US"/>
              <a:t>를 통하는 모든</a:t>
            </a:r>
            <a:r>
              <a:rPr lang="en-US" altLang="ko-KR"/>
              <a:t> </a:t>
            </a:r>
            <a:r>
              <a:rPr lang="ko-KR" altLang="en-US"/>
              <a:t>입출력 전문의 로그를 저장함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132303" y="1304764"/>
            <a:ext cx="1332148" cy="28016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20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36876" y="1304764"/>
            <a:ext cx="2052228" cy="280164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altLang="ko-KR" sz="20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endParaRPr lang="en-US" altLang="ko-KR" sz="20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endParaRPr lang="ko-KR" altLang="en-US" sz="20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257255" y="1293544"/>
            <a:ext cx="1332148" cy="28128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20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오른쪽 화살표 11"/>
          <p:cNvSpPr/>
          <p:nvPr/>
        </p:nvSpPr>
        <p:spPr>
          <a:xfrm>
            <a:off x="2504727" y="2007541"/>
            <a:ext cx="2146085" cy="432048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IQ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6860" y="1428476"/>
            <a:ext cx="667985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b="1">
                <a:cs typeface="Arial" pitchFamily="34" charset="0"/>
              </a:rPr>
              <a:t>nKESA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631966" y="1677362"/>
            <a:ext cx="460358" cy="227246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b="1">
                <a:solidFill>
                  <a:schemeClr val="tx1"/>
                </a:solidFill>
                <a:cs typeface="Arial" pitchFamily="34" charset="0"/>
              </a:rPr>
              <a:t>거</a:t>
            </a:r>
            <a:endParaRPr lang="en-US" altLang="ko-KR" sz="14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1400" b="1">
                <a:solidFill>
                  <a:schemeClr val="tx1"/>
                </a:solidFill>
                <a:cs typeface="Arial" pitchFamily="34" charset="0"/>
              </a:rPr>
              <a:t>래</a:t>
            </a:r>
            <a:endParaRPr lang="en-US" altLang="ko-KR" sz="14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오른쪽 화살표 14"/>
          <p:cNvSpPr/>
          <p:nvPr/>
        </p:nvSpPr>
        <p:spPr>
          <a:xfrm>
            <a:off x="5147175" y="2223565"/>
            <a:ext cx="2110080" cy="43204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OQ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왼쪽 화살표 15"/>
          <p:cNvSpPr/>
          <p:nvPr/>
        </p:nvSpPr>
        <p:spPr>
          <a:xfrm>
            <a:off x="5097016" y="2957531"/>
            <a:ext cx="2124236" cy="438999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OS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왼쪽 화살표 16"/>
          <p:cNvSpPr/>
          <p:nvPr/>
        </p:nvSpPr>
        <p:spPr>
          <a:xfrm>
            <a:off x="2468724" y="3548930"/>
            <a:ext cx="2124236" cy="438999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IS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13253" y="2564697"/>
            <a:ext cx="1249876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Outbound Request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31787" y="2341868"/>
            <a:ext cx="1136062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Inbound Request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07898" y="3277768"/>
            <a:ext cx="1336438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Outbound Response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21" name="순서도: 자기 디스크 20"/>
          <p:cNvSpPr/>
          <p:nvPr/>
        </p:nvSpPr>
        <p:spPr>
          <a:xfrm>
            <a:off x="4410899" y="4486654"/>
            <a:ext cx="972871" cy="45120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전문로그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 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88506" y="3894946"/>
            <a:ext cx="1222624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Inbound Response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70032" y="1428476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MCI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366329" y="1935368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366329" y="2449526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MSA Call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491281" y="1504672"/>
            <a:ext cx="864096" cy="3960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MCI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491281" y="2108815"/>
            <a:ext cx="864096" cy="3960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오른쪽으로 구부러진 화살표 27"/>
          <p:cNvSpPr/>
          <p:nvPr/>
        </p:nvSpPr>
        <p:spPr>
          <a:xfrm>
            <a:off x="3783883" y="3720779"/>
            <a:ext cx="518279" cy="1147367"/>
          </a:xfrm>
          <a:prstGeom prst="curvedRightArrow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오른쪽으로 구부러진 화살표 28"/>
          <p:cNvSpPr/>
          <p:nvPr/>
        </p:nvSpPr>
        <p:spPr>
          <a:xfrm flipH="1">
            <a:off x="5472838" y="3675455"/>
            <a:ext cx="549134" cy="1192691"/>
          </a:xfrm>
          <a:prstGeom prst="curvedRightArrow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5205685" y="1900716"/>
            <a:ext cx="498899" cy="20872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문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로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그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저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장</a:t>
            </a:r>
          </a:p>
        </p:txBody>
      </p:sp>
      <p:sp>
        <p:nvSpPr>
          <p:cNvPr id="31" name="타원 30"/>
          <p:cNvSpPr/>
          <p:nvPr/>
        </p:nvSpPr>
        <p:spPr>
          <a:xfrm>
            <a:off x="4043999" y="1900716"/>
            <a:ext cx="498899" cy="20872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문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로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그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저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5051" y="4569104"/>
            <a:ext cx="3450301" cy="7375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tx1"/>
            </a:solidFill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en-US" altLang="ko-KR" sz="1200">
                <a:cs typeface="Arial" pitchFamily="34" charset="0"/>
              </a:rPr>
              <a:t>IQ : </a:t>
            </a:r>
            <a:r>
              <a:rPr lang="ko-KR" altLang="en-US" sz="1200">
                <a:cs typeface="Arial" pitchFamily="34" charset="0"/>
              </a:rPr>
              <a:t>거래 시작 시 요청전문</a:t>
            </a:r>
            <a:endParaRPr lang="en-US" altLang="ko-KR" sz="12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en-US" altLang="ko-KR" sz="1200">
                <a:cs typeface="Arial" pitchFamily="34" charset="0"/>
              </a:rPr>
              <a:t>OQ : </a:t>
            </a:r>
            <a:r>
              <a:rPr lang="ko-KR" altLang="en-US" sz="1200">
                <a:cs typeface="Arial" pitchFamily="34" charset="0"/>
              </a:rPr>
              <a:t>거래 중에 발생하는 요청전문</a:t>
            </a:r>
            <a:endParaRPr lang="en-US" altLang="ko-KR" sz="12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en-US" altLang="ko-KR" sz="1200">
                <a:cs typeface="Arial" pitchFamily="34" charset="0"/>
              </a:rPr>
              <a:t>OS : </a:t>
            </a:r>
            <a:r>
              <a:rPr lang="ko-KR" altLang="en-US" sz="1200">
                <a:cs typeface="Arial" pitchFamily="34" charset="0"/>
              </a:rPr>
              <a:t>거래 중에 발생하는 요청전문에 대한 응답전문</a:t>
            </a:r>
            <a:endParaRPr lang="en-US" altLang="ko-KR" sz="12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en-US" altLang="ko-KR" sz="1200">
                <a:cs typeface="Arial" pitchFamily="34" charset="0"/>
              </a:rPr>
              <a:t>IS : </a:t>
            </a:r>
            <a:r>
              <a:rPr lang="ko-KR" altLang="en-US" sz="1200">
                <a:cs typeface="Arial" pitchFamily="34" charset="0"/>
              </a:rPr>
              <a:t>거래 종료 시 응답전문</a:t>
            </a:r>
            <a:endParaRPr lang="en-US" altLang="ko-KR" sz="1200">
              <a:cs typeface="Arial" pitchFamily="34" charset="0"/>
            </a:endParaRPr>
          </a:p>
        </p:txBody>
      </p:sp>
      <p:sp>
        <p:nvSpPr>
          <p:cNvPr id="33" name="Rectangle 5"/>
          <p:cNvSpPr txBox="1">
            <a:spLocks noChangeArrowheads="1"/>
          </p:cNvSpPr>
          <p:nvPr/>
        </p:nvSpPr>
        <p:spPr>
          <a:xfrm>
            <a:off x="405105" y="5435506"/>
            <a:ext cx="8984457" cy="11618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91429" tIns="45715" rIns="91429" bIns="45715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100"/>
              <a:t>중계로그</a:t>
            </a:r>
            <a:r>
              <a:rPr lang="en-US" altLang="ko-KR" sz="1100"/>
              <a:t>(</a:t>
            </a:r>
            <a:r>
              <a:rPr lang="ko-KR" altLang="en-US" sz="1100"/>
              <a:t>전문로그</a:t>
            </a:r>
            <a:r>
              <a:rPr lang="en-US" altLang="ko-KR" sz="1100"/>
              <a:t>)</a:t>
            </a:r>
            <a:r>
              <a:rPr lang="ko-KR" altLang="en-US" sz="1100"/>
              <a:t>는 </a:t>
            </a:r>
            <a:r>
              <a:rPr lang="en-US" altLang="ko-KR" sz="1100"/>
              <a:t>nKESA</a:t>
            </a:r>
            <a:r>
              <a:rPr lang="ko-KR" altLang="en-US" sz="1100"/>
              <a:t>를 통하는 모든 입출력 전문의 로그를 저장한다</a:t>
            </a:r>
            <a:r>
              <a:rPr lang="en-US" altLang="ko-KR" sz="1100"/>
              <a:t>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100"/>
              <a:t>로그가 저장되는 테이블은 </a:t>
            </a:r>
            <a:r>
              <a:rPr lang="en-US" altLang="ko-KR" sz="1100"/>
              <a:t>NJFK_JN0(0-9)</a:t>
            </a:r>
            <a:r>
              <a:rPr lang="ko-KR" altLang="en-US" sz="1100"/>
              <a:t>이며 일자별로 테이블에 나뉘어 저장한다</a:t>
            </a:r>
            <a:r>
              <a:rPr lang="en-US" altLang="ko-KR" sz="1100"/>
              <a:t>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100"/>
              <a:t>중계로그</a:t>
            </a:r>
            <a:r>
              <a:rPr lang="en-US" altLang="ko-KR" sz="1100"/>
              <a:t>(</a:t>
            </a:r>
            <a:r>
              <a:rPr lang="ko-KR" altLang="en-US" sz="1100"/>
              <a:t>전문로그</a:t>
            </a:r>
            <a:r>
              <a:rPr lang="en-US" altLang="ko-KR" sz="1100"/>
              <a:t>)</a:t>
            </a:r>
            <a:r>
              <a:rPr lang="ko-KR" altLang="en-US" sz="1100"/>
              <a:t> 로그구분</a:t>
            </a:r>
            <a:r>
              <a:rPr lang="en-US" altLang="ko-KR" sz="1100"/>
              <a:t>(IQ, OQ, OS, IS)</a:t>
            </a:r>
            <a:r>
              <a:rPr lang="ko-KR" altLang="en-US" sz="1100"/>
              <a:t>을 통해서 거래 </a:t>
            </a:r>
            <a:r>
              <a:rPr lang="en-US" altLang="ko-KR" sz="1100"/>
              <a:t>Trace </a:t>
            </a:r>
            <a:r>
              <a:rPr lang="ko-KR" altLang="en-US" sz="1100"/>
              <a:t>식별이 가능하다</a:t>
            </a:r>
            <a:r>
              <a:rPr lang="en-US" altLang="ko-KR" sz="1100"/>
              <a:t>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100">
                <a:latin typeface="+mn-ea"/>
              </a:rPr>
              <a:t>EAI Outbound sync</a:t>
            </a:r>
            <a:r>
              <a:rPr lang="ko-KR" altLang="en-US" sz="1100">
                <a:latin typeface="+mn-ea"/>
              </a:rPr>
              <a:t> 거래는 </a:t>
            </a:r>
            <a:r>
              <a:rPr lang="en-US" altLang="ko-KR" sz="1100">
                <a:latin typeface="+mn-ea"/>
              </a:rPr>
              <a:t>OQ + OS </a:t>
            </a:r>
            <a:r>
              <a:rPr lang="ko-KR" altLang="en-US" sz="1100">
                <a:latin typeface="+mn-ea"/>
              </a:rPr>
              <a:t>이며</a:t>
            </a:r>
            <a:r>
              <a:rPr lang="en-US" altLang="ko-KR" sz="1100">
                <a:latin typeface="+mn-ea"/>
              </a:rPr>
              <a:t>, Outbound Async </a:t>
            </a:r>
            <a:r>
              <a:rPr lang="ko-KR" altLang="en-US" sz="1100">
                <a:latin typeface="+mn-ea"/>
              </a:rPr>
              <a:t>거래는 </a:t>
            </a:r>
            <a:r>
              <a:rPr lang="en-US" altLang="ko-KR" sz="1100">
                <a:latin typeface="+mn-ea"/>
              </a:rPr>
              <a:t>OQ + IQ </a:t>
            </a:r>
            <a:r>
              <a:rPr lang="ko-KR" altLang="en-US" sz="1100">
                <a:latin typeface="+mn-ea"/>
              </a:rPr>
              <a:t>가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en-US" sz="1100">
                <a:latin typeface="+mn-ea"/>
              </a:rPr>
              <a:t>쌍으로 저장됨</a:t>
            </a:r>
            <a:endParaRPr lang="en-US" altLang="ko-KR" sz="110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100">
                <a:latin typeface="+mn-ea"/>
              </a:rPr>
              <a:t>개별부 저장시 </a:t>
            </a:r>
            <a:r>
              <a:rPr lang="en-US" altLang="ko-KR" sz="1100">
                <a:latin typeface="+mn-ea"/>
              </a:rPr>
              <a:t>GZIP </a:t>
            </a:r>
            <a:r>
              <a:rPr lang="ko-KR" altLang="en-US" sz="1100">
                <a:latin typeface="+mn-ea"/>
              </a:rPr>
              <a:t>으로 압축하여 저장함</a:t>
            </a:r>
            <a:endParaRPr lang="en-US" altLang="ko-KR" sz="1100"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366329" y="2957531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Remote Call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366329" y="3454594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Web API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491281" y="2751693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MSA Call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488405" y="3391539"/>
            <a:ext cx="864096" cy="3831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Remote Call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71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로그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로그 처리 방안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7935"/>
              </p:ext>
            </p:extLst>
          </p:nvPr>
        </p:nvGraphicFramePr>
        <p:xfrm>
          <a:off x="420810" y="2546916"/>
          <a:ext cx="8825953" cy="325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034">
                  <a:extLst>
                    <a:ext uri="{9D8B030D-6E8A-4147-A177-3AD203B41FA5}">
                      <a16:colId xmlns:a16="http://schemas.microsoft.com/office/drawing/2014/main" val="2334667103"/>
                    </a:ext>
                  </a:extLst>
                </a:gridCol>
                <a:gridCol w="2403859">
                  <a:extLst>
                    <a:ext uri="{9D8B030D-6E8A-4147-A177-3AD203B41FA5}">
                      <a16:colId xmlns:a16="http://schemas.microsoft.com/office/drawing/2014/main" val="3054514089"/>
                    </a:ext>
                  </a:extLst>
                </a:gridCol>
                <a:gridCol w="3848572">
                  <a:extLst>
                    <a:ext uri="{9D8B030D-6E8A-4147-A177-3AD203B41FA5}">
                      <a16:colId xmlns:a16="http://schemas.microsoft.com/office/drawing/2014/main" val="3602385616"/>
                    </a:ext>
                  </a:extLst>
                </a:gridCol>
                <a:gridCol w="1121488">
                  <a:extLst>
                    <a:ext uri="{9D8B030D-6E8A-4147-A177-3AD203B41FA5}">
                      <a16:colId xmlns:a16="http://schemas.microsoft.com/office/drawing/2014/main" val="3742344896"/>
                    </a:ext>
                  </a:extLst>
                </a:gridCol>
              </a:tblGrid>
              <a:tr h="44841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종류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파일명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비고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123661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로그</a:t>
                      </a:r>
                      <a:endParaRPr lang="en-US" altLang="ko-KR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/>
                        <a:t>fwk-{yyyyMMdd}.log</a:t>
                      </a:r>
                      <a:endParaRPr lang="ko-KR" altLang="en-US" sz="11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/>
                        <a:t>프레임워크 시스템 내부 주요 이벤트 로깅</a:t>
                      </a:r>
                      <a:endParaRPr lang="en-US" altLang="ko-KR" sz="1100"/>
                    </a:p>
                    <a:p>
                      <a:pPr algn="l" latinLnBrk="1"/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컴포넌트로딩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선후처리</a:t>
                      </a:r>
                      <a:r>
                        <a:rPr lang="en-US" altLang="ko-KR" sz="1100"/>
                        <a:t>,</a:t>
                      </a:r>
                      <a:r>
                        <a:rPr lang="en-US" altLang="ko-KR" sz="1100" baseline="0"/>
                        <a:t> HealthCheck, </a:t>
                      </a:r>
                      <a:r>
                        <a:rPr lang="ko-KR" altLang="en-US" sz="1100" baseline="0"/>
                        <a:t>모니터링 등</a:t>
                      </a:r>
                      <a:r>
                        <a:rPr lang="en-US" altLang="ko-KR" sz="1100" baseline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108137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Async Quere </a:t>
                      </a: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asyncqueue-</a:t>
                      </a:r>
                      <a:r>
                        <a:rPr lang="en-US" altLang="ko-KR" sz="1100"/>
                        <a:t>{yyyyMMdd}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.log</a:t>
                      </a:r>
                      <a:endParaRPr lang="ko-KR" altLang="en-US" sz="11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비동기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처리에 사용하는 큐 기능 관련 로깅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570020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Delay Async</a:t>
                      </a:r>
                      <a:r>
                        <a:rPr lang="en-US" altLang="ko-KR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/>
                        <a:t>delayasync-{yyyyMMdd}.log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Timer</a:t>
                      </a:r>
                      <a:r>
                        <a:rPr lang="ko-KR" altLang="en-US" sz="1100" dirty="0"/>
                        <a:t>거래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지연 비동기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에 대한 로깅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20790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디버깅로그</a:t>
                      </a:r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online-{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거래코드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}-</a:t>
                      </a:r>
                      <a:r>
                        <a:rPr lang="en-US" altLang="ko-KR" sz="1100"/>
                        <a:t>{yyyyMMdd}.log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/>
                        <a:t>업무처리 및 개발시 필요한 메시지 로깅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49796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en-US" altLang="ko-KR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sql-</a:t>
                      </a:r>
                      <a:r>
                        <a:rPr lang="en-US" altLang="ko-KR" sz="1100"/>
                        <a:t>{yyyyMMdd}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.log</a:t>
                      </a:r>
                      <a:endParaRPr lang="ko-KR" altLang="en-US" sz="11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JDBC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(statement, PreparedStatement, ResultSet)</a:t>
                      </a:r>
                      <a:endParaRPr lang="ko-KR" altLang="en-US" sz="11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779591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로그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etc-</a:t>
                      </a:r>
                      <a:r>
                        <a:rPr lang="en-US" altLang="ko-KR" sz="1100"/>
                        <a:t>{yyyyMMdd}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.log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/>
                        <a:t>오픈소스</a:t>
                      </a:r>
                      <a:r>
                        <a:rPr lang="ko-KR" altLang="en-US" sz="1100" baseline="0"/>
                        <a:t> 로그</a:t>
                      </a:r>
                      <a:r>
                        <a:rPr lang="en-US" altLang="ko-KR" sz="1100"/>
                        <a:t>(Ehcache, springframework </a:t>
                      </a:r>
                      <a:r>
                        <a:rPr lang="ko-KR" altLang="en-US" sz="1100"/>
                        <a:t>등</a:t>
                      </a:r>
                      <a:r>
                        <a:rPr lang="en-US" altLang="ko-KR" sz="110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607956"/>
                  </a:ext>
                </a:extLst>
              </a:tr>
            </a:tbl>
          </a:graphicData>
        </a:graphic>
      </p:graphicFrame>
      <p:sp>
        <p:nvSpPr>
          <p:cNvPr id="11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6397" y="886243"/>
            <a:ext cx="8984457" cy="1209552"/>
          </a:xfrm>
          <a:prstGeom prst="rect">
            <a:avLst/>
          </a:prstGeom>
        </p:spPr>
        <p:txBody>
          <a:bodyPr lIns="91429" tIns="45715" rIns="91429" bIns="45715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n-KESA </a:t>
            </a:r>
            <a:r>
              <a:rPr lang="ko-KR" altLang="en-US" dirty="0">
                <a:latin typeface="+mn-ea"/>
              </a:rPr>
              <a:t>내에서 발생하는 이벤트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에러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업무처리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디버깅 등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를 파일로 저장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 하는 로그</a:t>
            </a:r>
            <a:endParaRPr lang="en-US" altLang="ko-KR" dirty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파일 저장 로그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프레임워크 로그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업무로그</a:t>
            </a:r>
            <a:r>
              <a:rPr lang="en-US" altLang="ko-KR" dirty="0">
                <a:latin typeface="+mn-ea"/>
              </a:rPr>
              <a:t>, SQL</a:t>
            </a:r>
            <a:r>
              <a:rPr lang="ko-KR" altLang="en-US" dirty="0">
                <a:latin typeface="+mn-ea"/>
              </a:rPr>
              <a:t>로그 등</a:t>
            </a:r>
            <a:endParaRPr lang="en-US" altLang="ko-KR" dirty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DB</a:t>
            </a:r>
            <a:r>
              <a:rPr lang="ko-KR" altLang="en-US" dirty="0">
                <a:latin typeface="+mn-ea"/>
              </a:rPr>
              <a:t> 저장 로그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거래로그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에러로그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전문로그 등</a:t>
            </a:r>
            <a:endParaRPr lang="en-US" altLang="ko-KR" dirty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로그 파일 경로 </a:t>
            </a:r>
            <a:r>
              <a:rPr lang="en-US" altLang="ko-KR" dirty="0">
                <a:latin typeface="+mn-ea"/>
              </a:rPr>
              <a:t>: {</a:t>
            </a:r>
            <a:r>
              <a:rPr lang="ko-KR" altLang="en-US" dirty="0">
                <a:latin typeface="+mn-ea"/>
              </a:rPr>
              <a:t>서버 로그 디렉토리</a:t>
            </a:r>
            <a:r>
              <a:rPr lang="en-US" altLang="ko-KR" dirty="0">
                <a:latin typeface="+mn-ea"/>
              </a:rPr>
              <a:t>}/{</a:t>
            </a:r>
            <a:r>
              <a:rPr lang="en-US" altLang="ko-KR" dirty="0" err="1">
                <a:latin typeface="+mn-ea"/>
              </a:rPr>
              <a:t>wasDomainID</a:t>
            </a:r>
            <a:r>
              <a:rPr lang="en-US" altLang="ko-KR" dirty="0">
                <a:latin typeface="+mn-ea"/>
              </a:rPr>
              <a:t>}/</a:t>
            </a:r>
            <a:r>
              <a:rPr lang="en-US" altLang="ko-KR" dirty="0" err="1">
                <a:latin typeface="+mn-ea"/>
              </a:rPr>
              <a:t>sqc</a:t>
            </a:r>
            <a:r>
              <a:rPr lang="en-US" altLang="ko-KR" dirty="0">
                <a:latin typeface="+mn-ea"/>
              </a:rPr>
              <a:t>/runtime/{</a:t>
            </a:r>
            <a:r>
              <a:rPr lang="en-US" altLang="ko-KR" dirty="0" err="1">
                <a:latin typeface="+mn-ea"/>
              </a:rPr>
              <a:t>InstanceID</a:t>
            </a:r>
            <a:r>
              <a:rPr lang="en-US" altLang="ko-KR" dirty="0">
                <a:latin typeface="+mn-ea"/>
              </a:rPr>
              <a:t>}/</a:t>
            </a:r>
            <a:r>
              <a:rPr lang="en-US" altLang="ko-KR" dirty="0" err="1">
                <a:latin typeface="+mn-ea"/>
              </a:rPr>
              <a:t>yyyyMMdd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0458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디버깅 로그</a:t>
            </a:r>
            <a:r>
              <a:rPr lang="en-US" altLang="ko-KR" dirty="0"/>
              <a:t> </a:t>
            </a:r>
            <a:r>
              <a:rPr lang="ko-KR" altLang="en-US" dirty="0"/>
              <a:t>레벨 제어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로그 처리 방안</a:t>
            </a:r>
          </a:p>
        </p:txBody>
      </p:sp>
      <p:sp>
        <p:nvSpPr>
          <p:cNvPr id="26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/>
              <a:t>온라인거래 오류발생시</a:t>
            </a:r>
            <a:r>
              <a:rPr lang="en-US" altLang="ko-KR"/>
              <a:t>, </a:t>
            </a:r>
            <a:r>
              <a:rPr lang="ko-KR" altLang="en-US"/>
              <a:t>해당 거래의 로그레벨을 운영중 실시간으로 변경하여 로그확인 및 입력항목 확인가능</a:t>
            </a:r>
            <a:endParaRPr lang="ko-KR" altLang="en-US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47" y="1468171"/>
            <a:ext cx="7522437" cy="3151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직사각형 27"/>
          <p:cNvSpPr/>
          <p:nvPr/>
        </p:nvSpPr>
        <p:spPr>
          <a:xfrm>
            <a:off x="5983904" y="4993834"/>
            <a:ext cx="3397588" cy="1188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055079" y="5245396"/>
            <a:ext cx="1130067" cy="288000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nKESA FW #1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125290" y="5354885"/>
            <a:ext cx="988681" cy="3570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 err="1">
                <a:solidFill>
                  <a:schemeClr val="tx1"/>
                </a:solidFill>
                <a:cs typeface="Arial" pitchFamily="34" charset="0"/>
              </a:rPr>
              <a:t>관리콘솔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 서버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7355619" y="6021160"/>
            <a:ext cx="457809" cy="396172"/>
            <a:chOff x="567575" y="2675254"/>
            <a:chExt cx="792736" cy="660218"/>
          </a:xfrm>
        </p:grpSpPr>
        <p:pic>
          <p:nvPicPr>
            <p:cNvPr id="32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699970" y="2933216"/>
              <a:ext cx="527945" cy="3333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DB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34" name="직선 화살표 연결선 90"/>
          <p:cNvCxnSpPr>
            <a:stCxn id="30" idx="3"/>
            <a:endCxn id="32" idx="0"/>
          </p:cNvCxnSpPr>
          <p:nvPr/>
        </p:nvCxnSpPr>
        <p:spPr>
          <a:xfrm>
            <a:off x="7113971" y="5533396"/>
            <a:ext cx="470553" cy="487764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0"/>
          <p:cNvCxnSpPr>
            <a:stCxn id="29" idx="1"/>
            <a:endCxn id="32" idx="0"/>
          </p:cNvCxnSpPr>
          <p:nvPr/>
        </p:nvCxnSpPr>
        <p:spPr>
          <a:xfrm flipH="1">
            <a:off x="7584524" y="5389396"/>
            <a:ext cx="470555" cy="631764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8055078" y="5675420"/>
            <a:ext cx="1130067" cy="288000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nKESA FW #2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7" name="직선 화살표 연결선 90"/>
          <p:cNvCxnSpPr>
            <a:stCxn id="29" idx="1"/>
            <a:endCxn id="30" idx="3"/>
          </p:cNvCxnSpPr>
          <p:nvPr/>
        </p:nvCxnSpPr>
        <p:spPr>
          <a:xfrm flipH="1">
            <a:off x="7113971" y="5389396"/>
            <a:ext cx="941108" cy="144000"/>
          </a:xfrm>
          <a:prstGeom prst="straightConnector1">
            <a:avLst/>
          </a:prstGeom>
          <a:ln w="1270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90"/>
          <p:cNvCxnSpPr>
            <a:stCxn id="36" idx="1"/>
            <a:endCxn id="30" idx="3"/>
          </p:cNvCxnSpPr>
          <p:nvPr/>
        </p:nvCxnSpPr>
        <p:spPr>
          <a:xfrm flipH="1" flipV="1">
            <a:off x="7113971" y="5533396"/>
            <a:ext cx="941107" cy="286024"/>
          </a:xfrm>
          <a:prstGeom prst="straightConnector1">
            <a:avLst/>
          </a:prstGeom>
          <a:ln w="1270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 flipH="1">
            <a:off x="4664967" y="2625072"/>
            <a:ext cx="756084" cy="1379992"/>
          </a:xfrm>
          <a:prstGeom prst="rect">
            <a:avLst/>
          </a:prstGeom>
          <a:gradFill flip="none" rotWithShape="1">
            <a:gsLst>
              <a:gs pos="89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0" name="꺾인 연결선 39"/>
          <p:cNvCxnSpPr>
            <a:stCxn id="39" idx="1"/>
            <a:endCxn id="41" idx="0"/>
          </p:cNvCxnSpPr>
          <p:nvPr/>
        </p:nvCxnSpPr>
        <p:spPr>
          <a:xfrm>
            <a:off x="5421051" y="3315068"/>
            <a:ext cx="1204243" cy="1986140"/>
          </a:xfrm>
          <a:prstGeom prst="bentConnector2">
            <a:avLst/>
          </a:prstGeom>
          <a:ln w="28575" cap="flat">
            <a:solidFill>
              <a:srgbClr val="FF0000"/>
            </a:solidFill>
            <a:prstDash val="sysDot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 flipH="1">
            <a:off x="6069122" y="5301208"/>
            <a:ext cx="1112345" cy="518212"/>
          </a:xfrm>
          <a:prstGeom prst="rect">
            <a:avLst/>
          </a:prstGeom>
          <a:gradFill flip="none" rotWithShape="1">
            <a:gsLst>
              <a:gs pos="89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2" name="사각형 설명선 41"/>
          <p:cNvSpPr/>
          <p:nvPr/>
        </p:nvSpPr>
        <p:spPr>
          <a:xfrm>
            <a:off x="3458996" y="2082569"/>
            <a:ext cx="1205971" cy="495725"/>
          </a:xfrm>
          <a:prstGeom prst="wedgeRectCallout">
            <a:avLst>
              <a:gd name="adj1" fmla="val 50170"/>
              <a:gd name="adj2" fmla="val 84030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관리콘솔 화면에서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로그레벨 변경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3" name="사각형 설명선 42"/>
          <p:cNvSpPr/>
          <p:nvPr/>
        </p:nvSpPr>
        <p:spPr>
          <a:xfrm>
            <a:off x="7967945" y="4571733"/>
            <a:ext cx="1205971" cy="574761"/>
          </a:xfrm>
          <a:prstGeom prst="wedgeRectCallout">
            <a:avLst>
              <a:gd name="adj1" fmla="val -40158"/>
              <a:gd name="adj2" fmla="val 7711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거래코드별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로그레벨 실시간 반영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1972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로그에 국가별 시간대 표기 방안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로그 처리 방안</a:t>
            </a: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ko-KR" altLang="en-US"/>
              <a:t>글로벌 시스템은</a:t>
            </a:r>
            <a:r>
              <a:rPr lang="en-US" altLang="ko-KR"/>
              <a:t> </a:t>
            </a:r>
            <a:r>
              <a:rPr lang="ko-KR" altLang="en-US"/>
              <a:t> 국가별 </a:t>
            </a:r>
            <a:r>
              <a:rPr lang="en-US" altLang="ko-KR"/>
              <a:t>Timezone</a:t>
            </a:r>
            <a:r>
              <a:rPr lang="ko-KR" altLang="en-US"/>
              <a:t>을 고려하여 로그 파일에 국가별 시간대를 표시함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84" y="1232756"/>
            <a:ext cx="9129464" cy="17314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84" y="3041458"/>
            <a:ext cx="4998355" cy="2709800"/>
          </a:xfrm>
          <a:prstGeom prst="rect">
            <a:avLst/>
          </a:prstGeom>
        </p:spPr>
      </p:pic>
      <p:cxnSp>
        <p:nvCxnSpPr>
          <p:cNvPr id="12" name="꺾인 연결선 11"/>
          <p:cNvCxnSpPr>
            <a:stCxn id="14" idx="1"/>
            <a:endCxn id="16" idx="1"/>
          </p:cNvCxnSpPr>
          <p:nvPr/>
        </p:nvCxnSpPr>
        <p:spPr>
          <a:xfrm>
            <a:off x="3044788" y="4472558"/>
            <a:ext cx="2485412" cy="843749"/>
          </a:xfrm>
          <a:prstGeom prst="bentConnector3">
            <a:avLst>
              <a:gd name="adj1" fmla="val 50000"/>
            </a:avLst>
          </a:prstGeom>
          <a:ln w="28575" cap="flat">
            <a:solidFill>
              <a:srgbClr val="FF0000"/>
            </a:solidFill>
            <a:prstDash val="sysDot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 flipH="1">
            <a:off x="6501171" y="1959468"/>
            <a:ext cx="2160240" cy="641439"/>
          </a:xfrm>
          <a:prstGeom prst="rect">
            <a:avLst/>
          </a:prstGeom>
          <a:gradFill flip="none" rotWithShape="1">
            <a:gsLst>
              <a:gs pos="89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 flipH="1">
            <a:off x="884548" y="4396358"/>
            <a:ext cx="2160240" cy="152400"/>
          </a:xfrm>
          <a:prstGeom prst="rect">
            <a:avLst/>
          </a:prstGeom>
          <a:gradFill flip="none" rotWithShape="1">
            <a:gsLst>
              <a:gs pos="89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 cap="flat"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사각형 설명선 14"/>
          <p:cNvSpPr/>
          <p:nvPr/>
        </p:nvSpPr>
        <p:spPr>
          <a:xfrm>
            <a:off x="5368830" y="2646381"/>
            <a:ext cx="1205971" cy="495725"/>
          </a:xfrm>
          <a:prstGeom prst="wedgeRectCallout">
            <a:avLst>
              <a:gd name="adj1" fmla="val 123925"/>
              <a:gd name="adj2" fmla="val -53474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현지 시각 보정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0200" y="4941168"/>
            <a:ext cx="3964157" cy="75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100">
                <a:cs typeface="Arial" pitchFamily="34" charset="0"/>
              </a:rPr>
              <a:t>CommonArea (</a:t>
            </a:r>
            <a:r>
              <a:rPr lang="ko-KR" altLang="en-US" sz="1100">
                <a:cs typeface="Arial" pitchFamily="34" charset="0"/>
              </a:rPr>
              <a:t>글로벌 공통영역 </a:t>
            </a:r>
            <a:r>
              <a:rPr lang="en-US" altLang="ko-KR" sz="1100">
                <a:cs typeface="Arial" pitchFamily="34" charset="0"/>
              </a:rPr>
              <a:t>: GL) </a:t>
            </a:r>
            <a:r>
              <a:rPr lang="ko-KR" altLang="en-US" sz="1100">
                <a:cs typeface="Arial" pitchFamily="34" charset="0"/>
              </a:rPr>
              <a:t>의 </a:t>
            </a:r>
            <a:r>
              <a:rPr lang="en-US" altLang="ko-KR" sz="1100">
                <a:cs typeface="Arial" pitchFamily="34" charset="0"/>
              </a:rPr>
              <a:t>GMT </a:t>
            </a:r>
            <a:r>
              <a:rPr lang="ko-KR" altLang="en-US" sz="1100">
                <a:cs typeface="Arial" pitchFamily="34" charset="0"/>
              </a:rPr>
              <a:t>시각관련 항목 값 </a:t>
            </a:r>
            <a:r>
              <a:rPr lang="en-US" altLang="ko-KR" sz="1100">
                <a:cs typeface="Arial" pitchFamily="34" charset="0"/>
              </a:rPr>
              <a:t>: GLCOM-OG-GMT-CD-CTNT </a:t>
            </a:r>
            <a:r>
              <a:rPr lang="ko-KR" altLang="en-US" sz="1100">
                <a:cs typeface="Arial" pitchFamily="34" charset="0"/>
              </a:rPr>
              <a:t>으로 시차 보정표현</a:t>
            </a:r>
            <a:endParaRPr lang="en-US" altLang="ko-KR" sz="1100">
              <a:cs typeface="Arial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27317" y="4659096"/>
            <a:ext cx="3967040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b="1" kern="0" noProof="0">
                <a:solidFill>
                  <a:srgbClr val="000000"/>
                </a:solidFill>
              </a:rPr>
              <a:t>설명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99239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거래 프로파일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6.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제어 방안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432720" y="1741192"/>
            <a:ext cx="3276364" cy="1793509"/>
          </a:xfrm>
          <a:prstGeom prst="roundRect">
            <a:avLst/>
          </a:prstGeom>
          <a:solidFill>
            <a:schemeClr val="accent3">
              <a:lumMod val="20000"/>
              <a:lumOff val="80000"/>
              <a:alpha val="94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557742" y="3037336"/>
            <a:ext cx="1044116" cy="3960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거래 프로파일 설정 정보 조회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103469" y="1743270"/>
            <a:ext cx="1225795" cy="1791432"/>
          </a:xfrm>
          <a:prstGeom prst="roundRect">
            <a:avLst>
              <a:gd name="adj" fmla="val 4233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647085" y="2106215"/>
            <a:ext cx="2787123" cy="788250"/>
          </a:xfrm>
          <a:prstGeom prst="roundRect">
            <a:avLst>
              <a:gd name="adj" fmla="val 4233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6325006" y="1880266"/>
            <a:ext cx="857250" cy="2619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PM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6610756" y="2348318"/>
            <a:ext cx="573088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6612344" y="2803254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rot="16200000" flipH="1" flipV="1">
            <a:off x="6799006" y="2249233"/>
            <a:ext cx="196590" cy="1586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6798230" y="2706971"/>
            <a:ext cx="199738" cy="4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6326594" y="3220185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rot="16200000" flipH="1" flipV="1">
            <a:off x="5931442" y="2680231"/>
            <a:ext cx="1076051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886814" y="2236467"/>
            <a:ext cx="410335" cy="545208"/>
          </a:xfrm>
          <a:prstGeom prst="rect">
            <a:avLst/>
          </a:prstGeom>
          <a:solidFill>
            <a:srgbClr val="00B05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519435" y="223646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67989" y="223646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795479" y="2236467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69586" y="1931015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선처리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34496" y="1558709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 err="1">
                <a:cs typeface="Arial" pitchFamily="34" charset="0"/>
              </a:rPr>
              <a:t>본처리</a:t>
            </a:r>
            <a:endParaRPr lang="ko-KR" altLang="en-US" sz="1000" b="1" dirty="0">
              <a:cs typeface="Arial" pitchFamily="34" charset="0"/>
            </a:endParaRPr>
          </a:p>
        </p:txBody>
      </p:sp>
      <p:cxnSp>
        <p:nvCxnSpPr>
          <p:cNvPr id="25" name="직선 화살표 연결선 24"/>
          <p:cNvCxnSpPr>
            <a:stCxn id="19" idx="2"/>
            <a:endCxn id="9" idx="0"/>
          </p:cNvCxnSpPr>
          <p:nvPr/>
        </p:nvCxnSpPr>
        <p:spPr>
          <a:xfrm>
            <a:off x="3091982" y="2781675"/>
            <a:ext cx="987818" cy="25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순서도: 자기 디스크 25"/>
          <p:cNvSpPr/>
          <p:nvPr/>
        </p:nvSpPr>
        <p:spPr>
          <a:xfrm>
            <a:off x="3698484" y="3687870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1642" y="4907081"/>
            <a:ext cx="7051718" cy="10421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  <a:cs typeface="Arial" pitchFamily="34" charset="0"/>
              </a:rPr>
              <a:t>거래 프로파일은 온라인 거래의 필수 정보</a:t>
            </a:r>
            <a:r>
              <a:rPr lang="en-US" altLang="ko-KR" sz="1000">
                <a:latin typeface="+mn-ea"/>
                <a:cs typeface="Arial" pitchFamily="34" charset="0"/>
              </a:rPr>
              <a:t>(</a:t>
            </a:r>
            <a:r>
              <a:rPr lang="ko-KR" altLang="en-US" sz="1000">
                <a:latin typeface="+mn-ea"/>
                <a:cs typeface="Arial" pitchFamily="34" charset="0"/>
              </a:rPr>
              <a:t>거래</a:t>
            </a:r>
            <a:r>
              <a:rPr lang="en-US" altLang="ko-KR" sz="1000">
                <a:latin typeface="+mn-ea"/>
                <a:cs typeface="Arial" pitchFamily="34" charset="0"/>
              </a:rPr>
              <a:t> ID, </a:t>
            </a:r>
            <a:r>
              <a:rPr lang="ko-KR" altLang="en-US" sz="1000">
                <a:latin typeface="+mn-ea"/>
                <a:cs typeface="Arial" pitchFamily="34" charset="0"/>
              </a:rPr>
              <a:t>호출 프로그램 명</a:t>
            </a:r>
            <a:r>
              <a:rPr lang="en-US" altLang="ko-KR" sz="1000">
                <a:latin typeface="+mn-ea"/>
                <a:cs typeface="Arial" pitchFamily="34" charset="0"/>
              </a:rPr>
              <a:t> </a:t>
            </a:r>
            <a:r>
              <a:rPr lang="ko-KR" altLang="en-US" sz="1000">
                <a:latin typeface="+mn-ea"/>
                <a:cs typeface="Arial" pitchFamily="34" charset="0"/>
              </a:rPr>
              <a:t>등</a:t>
            </a:r>
            <a:r>
              <a:rPr lang="en-US" altLang="ko-KR" sz="1000">
                <a:latin typeface="+mn-ea"/>
                <a:cs typeface="Arial" pitchFamily="34" charset="0"/>
              </a:rPr>
              <a:t>)</a:t>
            </a:r>
            <a:r>
              <a:rPr lang="ko-KR" altLang="en-US" sz="1000">
                <a:latin typeface="+mn-ea"/>
                <a:cs typeface="Arial" pitchFamily="34" charset="0"/>
              </a:rPr>
              <a:t>과</a:t>
            </a:r>
            <a:r>
              <a:rPr lang="en-US" altLang="ko-KR" sz="1000">
                <a:latin typeface="+mn-ea"/>
                <a:cs typeface="Arial" pitchFamily="34" charset="0"/>
              </a:rPr>
              <a:t>, </a:t>
            </a:r>
            <a:r>
              <a:rPr lang="ko-KR" altLang="en-US" sz="1000">
                <a:latin typeface="+mn-ea"/>
                <a:cs typeface="Arial" pitchFamily="34" charset="0"/>
              </a:rPr>
              <a:t>각종 거래 속성 정보들을 거래별로 구분한다</a:t>
            </a:r>
            <a:r>
              <a:rPr lang="en-US" altLang="ko-KR" sz="1000">
                <a:latin typeface="+mn-ea"/>
                <a:cs typeface="Arial" pitchFamily="34" charset="0"/>
              </a:rPr>
              <a:t>.</a:t>
            </a: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>
              <a:latin typeface="+mn-ea"/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  <a:cs typeface="Arial" pitchFamily="34" charset="0"/>
              </a:rPr>
              <a:t>거래 프로파일의 정보는 </a:t>
            </a:r>
            <a:r>
              <a:rPr lang="en-US" altLang="ko-KR" sz="1000">
                <a:latin typeface="+mn-ea"/>
                <a:cs typeface="Arial" pitchFamily="34" charset="0"/>
              </a:rPr>
              <a:t>DB</a:t>
            </a:r>
            <a:r>
              <a:rPr lang="ko-KR" altLang="en-US" sz="1000">
                <a:latin typeface="+mn-ea"/>
                <a:cs typeface="Arial" pitchFamily="34" charset="0"/>
              </a:rPr>
              <a:t>에 프레임워크 테이블 </a:t>
            </a:r>
            <a:r>
              <a:rPr lang="en-US" altLang="ko-KR" sz="1000">
                <a:latin typeface="+mn-ea"/>
                <a:cs typeface="Arial" pitchFamily="34" charset="0"/>
              </a:rPr>
              <a:t>NJFO_TX_PROFILE</a:t>
            </a:r>
            <a:r>
              <a:rPr lang="ko-KR" altLang="en-US" sz="1000">
                <a:latin typeface="+mn-ea"/>
                <a:cs typeface="Arial" pitchFamily="34" charset="0"/>
              </a:rPr>
              <a:t>에 저장 및 관리 된다</a:t>
            </a:r>
            <a:r>
              <a:rPr lang="en-US" altLang="ko-KR" sz="1000">
                <a:latin typeface="+mn-ea"/>
                <a:cs typeface="Arial" pitchFamily="34" charset="0"/>
              </a:rPr>
              <a:t>.</a:t>
            </a: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>
              <a:latin typeface="+mn-ea"/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  <a:cs typeface="Arial" pitchFamily="34" charset="0"/>
              </a:rPr>
              <a:t>거래 시작 될 때 시스템 선처리에서 입력된 거래프로파일 정보를 </a:t>
            </a:r>
            <a:r>
              <a:rPr lang="en-US" altLang="ko-KR" sz="1000">
                <a:latin typeface="+mn-ea"/>
                <a:cs typeface="Arial" pitchFamily="34" charset="0"/>
              </a:rPr>
              <a:t>DB</a:t>
            </a:r>
            <a:r>
              <a:rPr lang="ko-KR" altLang="en-US" sz="1000">
                <a:latin typeface="+mn-ea"/>
                <a:cs typeface="Arial" pitchFamily="34" charset="0"/>
              </a:rPr>
              <a:t>에서 조회하여</a:t>
            </a:r>
            <a:r>
              <a:rPr lang="en-US" altLang="ko-KR" sz="1000">
                <a:latin typeface="+mn-ea"/>
                <a:cs typeface="Arial" pitchFamily="34" charset="0"/>
              </a:rPr>
              <a:t>, </a:t>
            </a:r>
            <a:r>
              <a:rPr lang="ko-KR" altLang="en-US" sz="1000">
                <a:latin typeface="+mn-ea"/>
                <a:cs typeface="Arial" pitchFamily="34" charset="0"/>
              </a:rPr>
              <a:t>호출해야하는 </a:t>
            </a:r>
            <a:r>
              <a:rPr lang="en-US" altLang="ko-KR" sz="1000">
                <a:latin typeface="+mn-ea"/>
                <a:cs typeface="Arial" pitchFamily="34" charset="0"/>
              </a:rPr>
              <a:t>PM</a:t>
            </a:r>
            <a:r>
              <a:rPr lang="ko-KR" altLang="en-US" sz="1000">
                <a:latin typeface="+mn-ea"/>
                <a:cs typeface="Arial" pitchFamily="34" charset="0"/>
              </a:rPr>
              <a:t>을 구분해 내고 호출 한다</a:t>
            </a:r>
            <a:r>
              <a:rPr lang="en-US" altLang="ko-KR" sz="1000">
                <a:latin typeface="+mn-ea"/>
                <a:cs typeface="Arial" pitchFamily="34" charset="0"/>
              </a:rPr>
              <a:t>.</a:t>
            </a: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>
              <a:latin typeface="+mn-ea"/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  <a:cs typeface="Arial" pitchFamily="34" charset="0"/>
              </a:rPr>
              <a:t>거래 속성 정보는 추가 요건에 따라 추가 및 삭제 될 수 있다</a:t>
            </a:r>
            <a:r>
              <a:rPr lang="en-US" altLang="ko-KR" sz="1000">
                <a:latin typeface="+mn-ea"/>
                <a:cs typeface="Arial" pitchFamily="34" charset="0"/>
              </a:rPr>
              <a:t>.</a:t>
            </a:r>
          </a:p>
        </p:txBody>
      </p:sp>
      <p:cxnSp>
        <p:nvCxnSpPr>
          <p:cNvPr id="28" name="직선 화살표 연결선 27"/>
          <p:cNvCxnSpPr>
            <a:stCxn id="9" idx="2"/>
            <a:endCxn id="26" idx="1"/>
          </p:cNvCxnSpPr>
          <p:nvPr/>
        </p:nvCxnSpPr>
        <p:spPr>
          <a:xfrm flipH="1">
            <a:off x="4075237" y="3433380"/>
            <a:ext cx="4563" cy="25449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오른쪽 화살표 28"/>
          <p:cNvSpPr/>
          <p:nvPr/>
        </p:nvSpPr>
        <p:spPr>
          <a:xfrm>
            <a:off x="2108684" y="1990757"/>
            <a:ext cx="3965882" cy="393565"/>
          </a:xfrm>
          <a:prstGeom prst="rightArrow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34994" y="1558709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FW  </a:t>
            </a:r>
            <a:r>
              <a:rPr lang="ko-KR" altLang="en-US" sz="1000" b="1">
                <a:cs typeface="Arial" pitchFamily="34" charset="0"/>
              </a:rPr>
              <a:t>레이어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31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ko-KR" altLang="en-US"/>
              <a:t>거래프로파일은 온라인 거래의 필수 정보와</a:t>
            </a:r>
            <a:r>
              <a:rPr lang="en-US" altLang="ko-KR"/>
              <a:t>, </a:t>
            </a:r>
            <a:r>
              <a:rPr lang="ko-KR" altLang="en-US"/>
              <a:t>각종 거래 속성 정보를 가지고 있음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32" name="Text Box 25">
            <a:extLst>
              <a:ext uri="{FF2B5EF4-FFF2-40B4-BE49-F238E27FC236}">
                <a16:creationId xmlns:a16="http://schemas.microsoft.com/office/drawing/2014/main" id="{60C372C5-26FD-4D45-8056-839A189DA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994" y="3455095"/>
            <a:ext cx="569912" cy="2619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11004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전행 공통 거래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6.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제어 방안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156237" y="5526840"/>
            <a:ext cx="5808652" cy="818292"/>
          </a:xfrm>
          <a:prstGeom prst="roundRect">
            <a:avLst>
              <a:gd name="adj" fmla="val 836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395286" y="5293465"/>
            <a:ext cx="5569602" cy="183234"/>
          </a:xfrm>
          <a:prstGeom prst="roundRect">
            <a:avLst>
              <a:gd name="adj" fmla="val 836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395286" y="5002408"/>
            <a:ext cx="5569602" cy="240916"/>
          </a:xfrm>
          <a:prstGeom prst="roundRect">
            <a:avLst>
              <a:gd name="adj" fmla="val 836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395286" y="2872886"/>
            <a:ext cx="5569602" cy="2079381"/>
          </a:xfrm>
          <a:prstGeom prst="roundRect">
            <a:avLst>
              <a:gd name="adj" fmla="val 2648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1156237" y="2363199"/>
            <a:ext cx="5808652" cy="459546"/>
          </a:xfrm>
          <a:prstGeom prst="roundRect">
            <a:avLst>
              <a:gd name="adj" fmla="val 836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96516" y="1845018"/>
            <a:ext cx="6368373" cy="459546"/>
          </a:xfrm>
          <a:prstGeom prst="roundRect">
            <a:avLst>
              <a:gd name="adj" fmla="val 836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924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거래제어는 설계 시 설정한 거래제어 정보를 기반으로 실 거래 처리 시 전달된 정보를 사용해서 유효성을 검증 후 에러를 처리하며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,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업무처리 시 설정 가능한 정보로 인해 업무 본처리에서 거래제어가 실행됨</a:t>
            </a:r>
            <a:endParaRPr lang="ko-KR" altLang="en-US" dirty="0">
              <a:latin typeface="+mn-ea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395286" y="1421322"/>
            <a:ext cx="1295636" cy="360000"/>
          </a:xfrm>
          <a:prstGeom prst="roundRect">
            <a:avLst/>
          </a:prstGeom>
          <a:solidFill>
            <a:schemeClr val="accent6"/>
          </a:solidFill>
          <a:ln w="28575" cap="flat">
            <a:solidFill>
              <a:schemeClr val="accent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>
                <a:solidFill>
                  <a:schemeClr val="accent5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프레임워크</a:t>
            </a:r>
            <a:endParaRPr lang="ko-KR" altLang="en-US" sz="1400" dirty="0">
              <a:solidFill>
                <a:schemeClr val="accent5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15" name="직선 연결선 14"/>
          <p:cNvCxnSpPr>
            <a:stCxn id="14" idx="2"/>
          </p:cNvCxnSpPr>
          <p:nvPr/>
        </p:nvCxnSpPr>
        <p:spPr>
          <a:xfrm>
            <a:off x="2043104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15"/>
          <p:cNvSpPr/>
          <p:nvPr/>
        </p:nvSpPr>
        <p:spPr>
          <a:xfrm>
            <a:off x="3532270" y="1421322"/>
            <a:ext cx="1295636" cy="360000"/>
          </a:xfrm>
          <a:prstGeom prst="roundRect">
            <a:avLst/>
          </a:prstGeom>
          <a:solidFill>
            <a:schemeClr val="accent6"/>
          </a:solidFill>
          <a:ln w="28575" cap="flat">
            <a:solidFill>
              <a:schemeClr val="accent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>
                <a:solidFill>
                  <a:schemeClr val="accent5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전행공통</a:t>
            </a:r>
            <a:endParaRPr lang="ko-KR" altLang="en-US" sz="1400" dirty="0">
              <a:solidFill>
                <a:schemeClr val="accent5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17" name="직선 연결선 16"/>
          <p:cNvCxnSpPr>
            <a:stCxn id="16" idx="2"/>
          </p:cNvCxnSpPr>
          <p:nvPr/>
        </p:nvCxnSpPr>
        <p:spPr>
          <a:xfrm flipH="1">
            <a:off x="4178159" y="1781322"/>
            <a:ext cx="1929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193953"/>
              </p:ext>
            </p:extLst>
          </p:nvPr>
        </p:nvGraphicFramePr>
        <p:xfrm>
          <a:off x="7287874" y="1424348"/>
          <a:ext cx="2237125" cy="4920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7125">
                  <a:extLst>
                    <a:ext uri="{9D8B030D-6E8A-4147-A177-3AD203B41FA5}">
                      <a16:colId xmlns:a16="http://schemas.microsoft.com/office/drawing/2014/main" val="3634678504"/>
                    </a:ext>
                  </a:extLst>
                </a:gridCol>
              </a:tblGrid>
              <a:tr h="359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21372"/>
                  </a:ext>
                </a:extLst>
              </a:tr>
              <a:tr h="4561701"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r>
                        <a:rPr lang="ko-KR" altLang="en-US" sz="1100" baseline="0"/>
                        <a:t>통합단말 거래제어 등록 화면을 통하여 등록</a:t>
                      </a:r>
                      <a:endParaRPr lang="en-US" altLang="ko-KR" sz="1100" baseline="0"/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en-US" altLang="ko-KR" sz="1100" baseline="0"/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r>
                        <a:rPr lang="ko-KR" altLang="en-US" sz="1100" baseline="0"/>
                        <a:t>전행공통에서 거래 선처리 시 부점</a:t>
                      </a:r>
                      <a:r>
                        <a:rPr lang="en-US" altLang="ko-KR" sz="1100" baseline="0"/>
                        <a:t>, </a:t>
                      </a:r>
                      <a:r>
                        <a:rPr lang="ko-KR" altLang="en-US" sz="1100" baseline="0"/>
                        <a:t>사용자</a:t>
                      </a:r>
                      <a:r>
                        <a:rPr lang="en-US" altLang="ko-KR" sz="1100" baseline="0"/>
                        <a:t>, </a:t>
                      </a:r>
                      <a:r>
                        <a:rPr lang="ko-KR" altLang="en-US" sz="1100" baseline="0"/>
                        <a:t>일자 정보를 </a:t>
                      </a:r>
                      <a:r>
                        <a:rPr lang="en-US" altLang="ko-KR" sz="1100" baseline="0"/>
                        <a:t>Common Area</a:t>
                      </a:r>
                      <a:r>
                        <a:rPr lang="ko-KR" altLang="en-US" sz="1100" baseline="0"/>
                        <a:t>에 등록</a:t>
                      </a:r>
                      <a:endParaRPr lang="en-US" altLang="ko-KR" sz="1100" baseline="0"/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en-US" altLang="ko-KR" sz="1100" baseline="0"/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r>
                        <a:rPr lang="ko-KR" altLang="en-US" sz="1100" baseline="0"/>
                        <a:t>업무 정보 등록</a:t>
                      </a:r>
                      <a:br>
                        <a:rPr lang="en-US" altLang="ko-KR" sz="1100" baseline="0"/>
                      </a:br>
                      <a:r>
                        <a:rPr lang="en-US" altLang="ko-KR" sz="1100" baseline="0"/>
                        <a:t>- </a:t>
                      </a:r>
                      <a:r>
                        <a:rPr lang="ko-KR" altLang="en-US" sz="1100" baseline="0"/>
                        <a:t>업무 선처리 프로그램에서 등록 </a:t>
                      </a:r>
                      <a:r>
                        <a:rPr lang="en-US" altLang="ko-KR" sz="1100" b="1" baseline="0"/>
                        <a:t>- </a:t>
                      </a:r>
                      <a:r>
                        <a:rPr lang="ko-KR" altLang="en-US" sz="1100" b="1" baseline="0"/>
                        <a:t>고객번호</a:t>
                      </a:r>
                      <a:r>
                        <a:rPr lang="en-US" altLang="ko-KR" sz="1100" b="1" baseline="0"/>
                        <a:t>, </a:t>
                      </a:r>
                      <a:r>
                        <a:rPr lang="ko-KR" altLang="en-US" sz="1100" b="1" baseline="0"/>
                        <a:t>고객명</a:t>
                      </a:r>
                      <a:r>
                        <a:rPr lang="en-US" altLang="ko-KR" sz="1100" b="1" baseline="0"/>
                        <a:t>, </a:t>
                      </a:r>
                      <a:r>
                        <a:rPr lang="ko-KR" altLang="en-US" sz="1100" b="1" baseline="0"/>
                        <a:t>상품코드</a:t>
                      </a:r>
                      <a:r>
                        <a:rPr lang="en-US" altLang="ko-KR" sz="1100" b="1" baseline="0"/>
                        <a:t>, </a:t>
                      </a:r>
                      <a:r>
                        <a:rPr lang="ko-KR" altLang="en-US" sz="1100" b="1" baseline="0"/>
                        <a:t>상품계약회차</a:t>
                      </a:r>
                      <a:r>
                        <a:rPr lang="en-US" altLang="ko-KR" sz="1100" b="1" baseline="0"/>
                        <a:t>, </a:t>
                      </a:r>
                      <a:r>
                        <a:rPr lang="ko-KR" altLang="en-US" sz="1100" b="1" baseline="0"/>
                        <a:t>카드번호</a:t>
                      </a:r>
                      <a:r>
                        <a:rPr lang="en-US" altLang="ko-KR" sz="1100" b="1" baseline="0"/>
                        <a:t>, </a:t>
                      </a:r>
                      <a:r>
                        <a:rPr lang="ko-KR" altLang="en-US" sz="1100" b="1" baseline="0"/>
                        <a:t>기산년월일 등</a:t>
                      </a:r>
                      <a:br>
                        <a:rPr lang="en-US" altLang="ko-KR" sz="1100" baseline="0"/>
                      </a:br>
                      <a:endParaRPr lang="en-US" altLang="ko-KR" sz="1100" baseline="0"/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r>
                        <a:rPr lang="ko-KR" altLang="en-US" sz="1100" baseline="0"/>
                        <a:t>업무 개별 선처리 선두에서 전행공통 거래제어 프로그램 호출</a:t>
                      </a:r>
                      <a:br>
                        <a:rPr lang="en-US" altLang="ko-KR" sz="1100" baseline="0"/>
                      </a:br>
                      <a:r>
                        <a:rPr lang="en-US" altLang="ko-KR" sz="1100" baseline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baseline="0">
                          <a:sym typeface="Wingdings" panose="05000000000000000000" pitchFamily="2" charset="2"/>
                        </a:rPr>
                        <a:t>호출되지 않은 경우 후처리에서 에러 발생</a:t>
                      </a:r>
                      <a:br>
                        <a:rPr lang="en-US" altLang="ko-KR" sz="1100" baseline="0">
                          <a:sym typeface="Wingdings" panose="05000000000000000000" pitchFamily="2" charset="2"/>
                        </a:rPr>
                      </a:br>
                      <a:endParaRPr lang="en-US" altLang="ko-KR" sz="1100" baseline="0">
                        <a:sym typeface="Wingdings" panose="05000000000000000000" pitchFamily="2" charset="2"/>
                      </a:endParaRPr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r>
                        <a:rPr lang="ko-KR" altLang="en-US" sz="1100" baseline="0">
                          <a:sym typeface="Wingdings" panose="05000000000000000000" pitchFamily="2" charset="2"/>
                        </a:rPr>
                        <a:t>전행공통 거래제어 프로그램에서 유효성 검사가 실패한 경우 에러 처리</a:t>
                      </a:r>
                      <a:br>
                        <a:rPr lang="en-US" altLang="ko-KR" sz="1100" baseline="0">
                          <a:sym typeface="Wingdings" panose="05000000000000000000" pitchFamily="2" charset="2"/>
                        </a:rPr>
                      </a:br>
                      <a:endParaRPr lang="en-US" altLang="ko-KR" sz="1100" baseline="0">
                        <a:sym typeface="Wingdings" panose="05000000000000000000" pitchFamily="2" charset="2"/>
                      </a:endParaRPr>
                    </a:p>
                    <a:p>
                      <a:pPr marL="228600" indent="-228600" latinLnBrk="1">
                        <a:buFont typeface="+mj-ea"/>
                        <a:buAutoNum type="circleNumDbPlain"/>
                      </a:pPr>
                      <a:r>
                        <a:rPr lang="ko-KR" altLang="en-US" sz="1100" baseline="0">
                          <a:sym typeface="Wingdings" panose="05000000000000000000" pitchFamily="2" charset="2"/>
                        </a:rPr>
                        <a:t>업무 후처리에서 전행공통 프로그램 호출</a:t>
                      </a:r>
                      <a:r>
                        <a:rPr lang="en-US" altLang="ko-KR" sz="1100" baseline="0"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100" baseline="0">
                          <a:sym typeface="Wingdings" panose="05000000000000000000" pitchFamily="2" charset="2"/>
                        </a:rPr>
                        <a:t>거래제어 호출여부 검사</a:t>
                      </a:r>
                      <a:endParaRPr lang="en-US" altLang="ko-KR" sz="1100" baseline="0" dirty="0"/>
                    </a:p>
                  </a:txBody>
                  <a:tcPr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060335"/>
                  </a:ext>
                </a:extLst>
              </a:tr>
            </a:tbl>
          </a:graphicData>
        </a:graphic>
      </p:graphicFrame>
      <p:sp>
        <p:nvSpPr>
          <p:cNvPr id="19" name="모서리가 둥근 직사각형 18"/>
          <p:cNvSpPr/>
          <p:nvPr/>
        </p:nvSpPr>
        <p:spPr>
          <a:xfrm>
            <a:off x="5669253" y="1421322"/>
            <a:ext cx="1295636" cy="360000"/>
          </a:xfrm>
          <a:prstGeom prst="roundRect">
            <a:avLst/>
          </a:prstGeom>
          <a:solidFill>
            <a:schemeClr val="accent6"/>
          </a:solidFill>
          <a:ln w="28575" cap="flat">
            <a:solidFill>
              <a:schemeClr val="accent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>
                <a:solidFill>
                  <a:schemeClr val="accent5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어플리케이션</a:t>
            </a:r>
            <a:endParaRPr lang="ko-KR" altLang="en-US" sz="1400" dirty="0">
              <a:solidFill>
                <a:schemeClr val="accent5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20" name="직선 연결선 19"/>
          <p:cNvCxnSpPr>
            <a:stCxn id="19" idx="2"/>
          </p:cNvCxnSpPr>
          <p:nvPr/>
        </p:nvCxnSpPr>
        <p:spPr>
          <a:xfrm>
            <a:off x="6317071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원통 20"/>
          <p:cNvSpPr/>
          <p:nvPr/>
        </p:nvSpPr>
        <p:spPr>
          <a:xfrm>
            <a:off x="4542363" y="1917225"/>
            <a:ext cx="522293" cy="360039"/>
          </a:xfrm>
          <a:prstGeom prst="can">
            <a:avLst>
              <a:gd name="adj" fmla="val 19228"/>
            </a:avLst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거래제어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68524" y="191722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4134684" y="191683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4" name="직선 화살표 연결선 23"/>
          <p:cNvCxnSpPr>
            <a:stCxn id="22" idx="6"/>
            <a:endCxn id="23" idx="2"/>
          </p:cNvCxnSpPr>
          <p:nvPr/>
        </p:nvCxnSpPr>
        <p:spPr>
          <a:xfrm flipV="1">
            <a:off x="776524" y="1970832"/>
            <a:ext cx="33581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80766" y="2016225"/>
            <a:ext cx="1712116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28600" indent="-228600">
              <a:lnSpc>
                <a:spcPct val="90000"/>
              </a:lnSpc>
              <a:buAutoNum type="arabicPeriod"/>
            </a:pPr>
            <a:r>
              <a:rPr lang="ko-KR" altLang="en-US" sz="1100">
                <a:cs typeface="Arial" pitchFamily="34" charset="0"/>
              </a:rPr>
              <a:t>거래제어 정보 등록</a:t>
            </a:r>
            <a:endParaRPr lang="ko-KR" altLang="en-US" sz="1000" dirty="0">
              <a:cs typeface="Arial" pitchFamily="34" charset="0"/>
            </a:endParaRPr>
          </a:p>
        </p:txBody>
      </p:sp>
      <p:cxnSp>
        <p:nvCxnSpPr>
          <p:cNvPr id="26" name="꺾인 연결선 25"/>
          <p:cNvCxnSpPr>
            <a:stCxn id="23" idx="6"/>
            <a:endCxn id="27" idx="6"/>
          </p:cNvCxnSpPr>
          <p:nvPr/>
        </p:nvCxnSpPr>
        <p:spPr>
          <a:xfrm>
            <a:off x="4242684" y="1970832"/>
            <a:ext cx="12700" cy="252040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4134684" y="216887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6538" y="1772982"/>
            <a:ext cx="145346" cy="6119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설</a:t>
            </a:r>
            <a:endParaRPr lang="en-US" altLang="ko-KR" sz="1000">
              <a:solidFill>
                <a:schemeClr val="bg1">
                  <a:lumMod val="6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계</a:t>
            </a:r>
            <a:br>
              <a:rPr lang="en-US" altLang="ko-KR" sz="10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</a:b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시</a:t>
            </a:r>
            <a:endParaRPr lang="en-US" altLang="ko-KR" sz="1000">
              <a:solidFill>
                <a:schemeClr val="bg1">
                  <a:lumMod val="6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점</a:t>
            </a:r>
          </a:p>
        </p:txBody>
      </p:sp>
      <p:sp>
        <p:nvSpPr>
          <p:cNvPr id="29" name="타원 28"/>
          <p:cNvSpPr/>
          <p:nvPr/>
        </p:nvSpPr>
        <p:spPr>
          <a:xfrm>
            <a:off x="1993566" y="238291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4134684" y="238252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1" name="직선 화살표 연결선 30"/>
          <p:cNvCxnSpPr>
            <a:stCxn id="29" idx="6"/>
            <a:endCxn id="30" idx="2"/>
          </p:cNvCxnSpPr>
          <p:nvPr/>
        </p:nvCxnSpPr>
        <p:spPr>
          <a:xfrm flipV="1">
            <a:off x="2101566" y="2436521"/>
            <a:ext cx="2033118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endCxn id="29" idx="2"/>
          </p:cNvCxnSpPr>
          <p:nvPr/>
        </p:nvCxnSpPr>
        <p:spPr>
          <a:xfrm>
            <a:off x="1400328" y="2436914"/>
            <a:ext cx="59323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88604" y="2464445"/>
            <a:ext cx="554547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sz="1100">
                <a:cs typeface="Arial" pitchFamily="34" charset="0"/>
              </a:rPr>
              <a:t>거래호출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34" name="원통 33"/>
          <p:cNvSpPr/>
          <p:nvPr/>
        </p:nvSpPr>
        <p:spPr>
          <a:xfrm>
            <a:off x="4542363" y="2387037"/>
            <a:ext cx="522293" cy="360039"/>
          </a:xfrm>
          <a:prstGeom prst="can">
            <a:avLst>
              <a:gd name="adj" fmla="val 19228"/>
            </a:avLst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C/A</a:t>
            </a:r>
          </a:p>
        </p:txBody>
      </p:sp>
      <p:cxnSp>
        <p:nvCxnSpPr>
          <p:cNvPr id="35" name="꺾인 연결선 34"/>
          <p:cNvCxnSpPr>
            <a:stCxn id="30" idx="6"/>
            <a:endCxn id="36" idx="6"/>
          </p:cNvCxnSpPr>
          <p:nvPr/>
        </p:nvCxnSpPr>
        <p:spPr>
          <a:xfrm>
            <a:off x="4242684" y="2436521"/>
            <a:ext cx="12700" cy="256163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/>
          <p:cNvSpPr/>
          <p:nvPr/>
        </p:nvSpPr>
        <p:spPr>
          <a:xfrm>
            <a:off x="4134684" y="263868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080766" y="2480560"/>
            <a:ext cx="2093951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2. </a:t>
            </a:r>
            <a:r>
              <a:rPr lang="ko-KR" altLang="en-US" sz="1100">
                <a:cs typeface="Arial" pitchFamily="34" charset="0"/>
              </a:rPr>
              <a:t>거래정보 등록 </a:t>
            </a:r>
            <a:r>
              <a:rPr lang="en-US" altLang="ko-KR" sz="1100">
                <a:cs typeface="Arial" pitchFamily="34" charset="0"/>
              </a:rPr>
              <a:t>(</a:t>
            </a:r>
            <a:r>
              <a:rPr lang="ko-KR" altLang="en-US" sz="1100">
                <a:cs typeface="Arial" pitchFamily="34" charset="0"/>
              </a:rPr>
              <a:t>부점</a:t>
            </a:r>
            <a:r>
              <a:rPr lang="en-US" altLang="ko-KR" sz="1100">
                <a:cs typeface="Arial" pitchFamily="34" charset="0"/>
              </a:rPr>
              <a:t>, </a:t>
            </a:r>
            <a:r>
              <a:rPr lang="ko-KR" altLang="en-US" sz="1100">
                <a:cs typeface="Arial" pitchFamily="34" charset="0"/>
              </a:rPr>
              <a:t>사용자</a:t>
            </a:r>
            <a:r>
              <a:rPr lang="en-US" altLang="ko-KR" sz="1100">
                <a:cs typeface="Arial" pitchFamily="34" charset="0"/>
              </a:rPr>
              <a:t>, </a:t>
            </a:r>
            <a:r>
              <a:rPr lang="ko-KR" altLang="en-US" sz="1100">
                <a:cs typeface="Arial" pitchFamily="34" charset="0"/>
              </a:rPr>
              <a:t>일자</a:t>
            </a:r>
            <a:r>
              <a:rPr lang="en-US" altLang="ko-KR" sz="1100">
                <a:cs typeface="Arial" pitchFamily="34" charset="0"/>
              </a:rPr>
              <a:t>)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38" name="왼쪽 중괄호 37"/>
          <p:cNvSpPr/>
          <p:nvPr/>
        </p:nvSpPr>
        <p:spPr>
          <a:xfrm>
            <a:off x="416496" y="1845018"/>
            <a:ext cx="108565" cy="459544"/>
          </a:xfrm>
          <a:prstGeom prst="leftBrace">
            <a:avLst>
              <a:gd name="adj1" fmla="val 45621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왼쪽 중괄호 38"/>
          <p:cNvSpPr/>
          <p:nvPr/>
        </p:nvSpPr>
        <p:spPr>
          <a:xfrm>
            <a:off x="416496" y="2348880"/>
            <a:ext cx="108565" cy="3996358"/>
          </a:xfrm>
          <a:prstGeom prst="leftBrace">
            <a:avLst>
              <a:gd name="adj1" fmla="val 45621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150987" y="3911091"/>
            <a:ext cx="315471" cy="8603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거</a:t>
            </a:r>
            <a:endParaRPr lang="en-US" altLang="ko-KR" sz="1100">
              <a:solidFill>
                <a:schemeClr val="bg1">
                  <a:lumMod val="6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래</a:t>
            </a:r>
            <a:endParaRPr lang="en-US" altLang="ko-KR" sz="1100">
              <a:solidFill>
                <a:schemeClr val="bg1">
                  <a:lumMod val="6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처</a:t>
            </a:r>
            <a:endParaRPr lang="en-US" altLang="ko-KR" sz="1100">
              <a:solidFill>
                <a:schemeClr val="bg1">
                  <a:lumMod val="6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리</a:t>
            </a:r>
          </a:p>
        </p:txBody>
      </p:sp>
      <p:sp>
        <p:nvSpPr>
          <p:cNvPr id="41" name="왼쪽 중괄호 40"/>
          <p:cNvSpPr/>
          <p:nvPr/>
        </p:nvSpPr>
        <p:spPr>
          <a:xfrm>
            <a:off x="1230891" y="2864466"/>
            <a:ext cx="108565" cy="2085026"/>
          </a:xfrm>
          <a:prstGeom prst="leftBrace">
            <a:avLst>
              <a:gd name="adj1" fmla="val 45621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727450" y="3677206"/>
            <a:ext cx="648010" cy="45954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업무 개별 선처리</a:t>
            </a:r>
          </a:p>
        </p:txBody>
      </p:sp>
      <p:sp>
        <p:nvSpPr>
          <p:cNvPr id="43" name="왼쪽 중괄호 42"/>
          <p:cNvSpPr/>
          <p:nvPr/>
        </p:nvSpPr>
        <p:spPr>
          <a:xfrm>
            <a:off x="1028011" y="2354351"/>
            <a:ext cx="108565" cy="454076"/>
          </a:xfrm>
          <a:prstGeom prst="leftBrace">
            <a:avLst>
              <a:gd name="adj1" fmla="val 45621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487951" y="2398668"/>
            <a:ext cx="648010" cy="45954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거래 선처리</a:t>
            </a:r>
          </a:p>
        </p:txBody>
      </p:sp>
      <p:sp>
        <p:nvSpPr>
          <p:cNvPr id="45" name="타원 44"/>
          <p:cNvSpPr/>
          <p:nvPr/>
        </p:nvSpPr>
        <p:spPr>
          <a:xfrm>
            <a:off x="1993566" y="293863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275122" y="293824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7" name="직선 화살표 연결선 46"/>
          <p:cNvCxnSpPr>
            <a:stCxn id="45" idx="6"/>
            <a:endCxn id="46" idx="2"/>
          </p:cNvCxnSpPr>
          <p:nvPr/>
        </p:nvCxnSpPr>
        <p:spPr>
          <a:xfrm flipV="1">
            <a:off x="2101566" y="2992246"/>
            <a:ext cx="4173556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원통 47"/>
          <p:cNvSpPr/>
          <p:nvPr/>
        </p:nvSpPr>
        <p:spPr>
          <a:xfrm>
            <a:off x="6391819" y="2608982"/>
            <a:ext cx="522293" cy="360039"/>
          </a:xfrm>
          <a:prstGeom prst="can">
            <a:avLst>
              <a:gd name="adj" fmla="val 19228"/>
            </a:avLst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C/A</a:t>
            </a:r>
          </a:p>
        </p:txBody>
      </p:sp>
      <p:cxnSp>
        <p:nvCxnSpPr>
          <p:cNvPr id="49" name="꺾인 연결선 48"/>
          <p:cNvCxnSpPr>
            <a:stCxn id="46" idx="6"/>
            <a:endCxn id="50" idx="6"/>
          </p:cNvCxnSpPr>
          <p:nvPr/>
        </p:nvCxnSpPr>
        <p:spPr>
          <a:xfrm>
            <a:off x="6383122" y="2992246"/>
            <a:ext cx="12700" cy="256163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6275122" y="319440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1134" y="3036285"/>
            <a:ext cx="1915975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3. </a:t>
            </a:r>
            <a:r>
              <a:rPr lang="ko-KR" altLang="en-US" sz="1100">
                <a:cs typeface="Arial" pitchFamily="34" charset="0"/>
              </a:rPr>
              <a:t>업무정보 등록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52" name="왼쪽 중괄호 51"/>
          <p:cNvSpPr/>
          <p:nvPr/>
        </p:nvSpPr>
        <p:spPr>
          <a:xfrm>
            <a:off x="1257288" y="5021489"/>
            <a:ext cx="74151" cy="425794"/>
          </a:xfrm>
          <a:prstGeom prst="leftBrace">
            <a:avLst>
              <a:gd name="adj1" fmla="val 45621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727450" y="5087874"/>
            <a:ext cx="648010" cy="28534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업무</a:t>
            </a:r>
            <a:br>
              <a:rPr lang="en-US" altLang="ko-KR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</a:b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본처리</a:t>
            </a:r>
            <a:r>
              <a:rPr lang="en-US" altLang="ko-KR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/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후처리</a:t>
            </a:r>
          </a:p>
        </p:txBody>
      </p:sp>
      <p:sp>
        <p:nvSpPr>
          <p:cNvPr id="54" name="타원 53"/>
          <p:cNvSpPr/>
          <p:nvPr/>
        </p:nvSpPr>
        <p:spPr>
          <a:xfrm>
            <a:off x="1993566" y="349404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6275122" y="349365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6" name="직선 화살표 연결선 55"/>
          <p:cNvCxnSpPr>
            <a:stCxn id="54" idx="6"/>
            <a:endCxn id="55" idx="2"/>
          </p:cNvCxnSpPr>
          <p:nvPr/>
        </p:nvCxnSpPr>
        <p:spPr>
          <a:xfrm flipV="1">
            <a:off x="2101566" y="3547654"/>
            <a:ext cx="4173556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80766" y="3615023"/>
            <a:ext cx="1435215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4. </a:t>
            </a:r>
            <a:r>
              <a:rPr lang="ko-KR" altLang="en-US" sz="1100">
                <a:cs typeface="Arial" pitchFamily="34" charset="0"/>
              </a:rPr>
              <a:t>거래 본처리 호출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4134684" y="371502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6275122" y="371463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0" name="직선 화살표 연결선 59"/>
          <p:cNvCxnSpPr>
            <a:stCxn id="58" idx="6"/>
            <a:endCxn id="59" idx="2"/>
          </p:cNvCxnSpPr>
          <p:nvPr/>
        </p:nvCxnSpPr>
        <p:spPr>
          <a:xfrm flipV="1">
            <a:off x="4242684" y="3768634"/>
            <a:ext cx="2032438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368353" y="3821413"/>
            <a:ext cx="1946395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5. </a:t>
            </a:r>
            <a:r>
              <a:rPr lang="ko-KR" altLang="en-US" sz="1100">
                <a:cs typeface="Arial" pitchFamily="34" charset="0"/>
              </a:rPr>
              <a:t>전행공통 거래제어 호출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1993566" y="463252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3" name="직선 화살표 연결선 62"/>
          <p:cNvCxnSpPr>
            <a:endCxn id="71" idx="1"/>
          </p:cNvCxnSpPr>
          <p:nvPr/>
        </p:nvCxnSpPr>
        <p:spPr>
          <a:xfrm>
            <a:off x="2097381" y="4686529"/>
            <a:ext cx="1707992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080766" y="4749376"/>
            <a:ext cx="1305840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solidFill>
                  <a:srgbClr val="FF0000"/>
                </a:solidFill>
                <a:cs typeface="Arial" pitchFamily="34" charset="0"/>
              </a:rPr>
              <a:t>6. 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</a:rPr>
              <a:t>에러 처리</a:t>
            </a:r>
            <a:endParaRPr lang="ko-KR" altLang="en-US" sz="10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4134684" y="403875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6" name="꺾인 연결선 65"/>
          <p:cNvCxnSpPr>
            <a:stCxn id="65" idx="6"/>
            <a:endCxn id="67" idx="6"/>
          </p:cNvCxnSpPr>
          <p:nvPr/>
        </p:nvCxnSpPr>
        <p:spPr>
          <a:xfrm>
            <a:off x="4242684" y="4092758"/>
            <a:ext cx="12700" cy="256163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4134684" y="429492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542363" y="4129867"/>
            <a:ext cx="1418749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6. </a:t>
            </a:r>
            <a:r>
              <a:rPr lang="ko-KR" altLang="en-US" sz="1100">
                <a:cs typeface="Arial" pitchFamily="34" charset="0"/>
              </a:rPr>
              <a:t>거래제어 유효성 검사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69" name="원통 68"/>
          <p:cNvSpPr/>
          <p:nvPr/>
        </p:nvSpPr>
        <p:spPr>
          <a:xfrm>
            <a:off x="5294803" y="4294921"/>
            <a:ext cx="522293" cy="360039"/>
          </a:xfrm>
          <a:prstGeom prst="can">
            <a:avLst>
              <a:gd name="adj" fmla="val 19228"/>
            </a:avLst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C/A</a:t>
            </a:r>
          </a:p>
        </p:txBody>
      </p:sp>
      <p:sp>
        <p:nvSpPr>
          <p:cNvPr id="70" name="원통 69"/>
          <p:cNvSpPr/>
          <p:nvPr/>
        </p:nvSpPr>
        <p:spPr>
          <a:xfrm>
            <a:off x="4700972" y="4294921"/>
            <a:ext cx="522293" cy="360039"/>
          </a:xfrm>
          <a:prstGeom prst="can">
            <a:avLst>
              <a:gd name="adj" fmla="val 19228"/>
            </a:avLst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거래제어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1" name="순서도: 판단 70"/>
          <p:cNvSpPr/>
          <p:nvPr/>
        </p:nvSpPr>
        <p:spPr>
          <a:xfrm>
            <a:off x="3805373" y="4522750"/>
            <a:ext cx="762648" cy="327558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>
                <a:solidFill>
                  <a:srgbClr val="FF0000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유효</a:t>
            </a:r>
            <a:r>
              <a:rPr lang="en-US" altLang="ko-KR" sz="1200">
                <a:solidFill>
                  <a:srgbClr val="FF0000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42982" y="5023607"/>
            <a:ext cx="1080120" cy="2517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~ </a:t>
            </a:r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업무 처리 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~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  <a:cs typeface="Arial" pitchFamily="34" charset="0"/>
            </a:endParaRPr>
          </a:p>
        </p:txBody>
      </p:sp>
      <p:sp>
        <p:nvSpPr>
          <p:cNvPr id="73" name="왼쪽 중괄호 72"/>
          <p:cNvSpPr/>
          <p:nvPr/>
        </p:nvSpPr>
        <p:spPr>
          <a:xfrm>
            <a:off x="1028011" y="5546363"/>
            <a:ext cx="108565" cy="779247"/>
          </a:xfrm>
          <a:prstGeom prst="leftBrace">
            <a:avLst>
              <a:gd name="adj1" fmla="val 45621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487951" y="5733449"/>
            <a:ext cx="648010" cy="45954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거래 후처리</a:t>
            </a:r>
          </a:p>
        </p:txBody>
      </p:sp>
      <p:sp>
        <p:nvSpPr>
          <p:cNvPr id="75" name="타원 74"/>
          <p:cNvSpPr/>
          <p:nvPr/>
        </p:nvSpPr>
        <p:spPr>
          <a:xfrm>
            <a:off x="1993566" y="569901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6" name="직선 화살표 연결선 75"/>
          <p:cNvCxnSpPr>
            <a:endCxn id="78" idx="1"/>
          </p:cNvCxnSpPr>
          <p:nvPr/>
        </p:nvCxnSpPr>
        <p:spPr>
          <a:xfrm>
            <a:off x="2097381" y="5753019"/>
            <a:ext cx="1707992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080766" y="5815866"/>
            <a:ext cx="1305840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solidFill>
                  <a:srgbClr val="FF0000"/>
                </a:solidFill>
                <a:cs typeface="Arial" pitchFamily="34" charset="0"/>
              </a:rPr>
              <a:t>8. 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</a:rPr>
              <a:t>에러 처리</a:t>
            </a:r>
            <a:endParaRPr lang="ko-KR" altLang="en-US" sz="10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78" name="순서도: 판단 77"/>
          <p:cNvSpPr/>
          <p:nvPr/>
        </p:nvSpPr>
        <p:spPr>
          <a:xfrm>
            <a:off x="3805373" y="5589240"/>
            <a:ext cx="762648" cy="327558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>
                <a:solidFill>
                  <a:srgbClr val="FF0000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유효</a:t>
            </a:r>
            <a:r>
              <a:rPr lang="en-US" altLang="ko-KR" sz="1200">
                <a:solidFill>
                  <a:srgbClr val="FF0000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79" name="모서리가 둥근 사각형 설명선 78"/>
          <p:cNvSpPr/>
          <p:nvPr/>
        </p:nvSpPr>
        <p:spPr>
          <a:xfrm>
            <a:off x="4775079" y="5584808"/>
            <a:ext cx="1481602" cy="354325"/>
          </a:xfrm>
          <a:prstGeom prst="wedgeRoundRectCallout">
            <a:avLst>
              <a:gd name="adj1" fmla="val -72592"/>
              <a:gd name="adj2" fmla="val -679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“5.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전행공통 거래제어 호출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” 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호출 여부 검사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1993566" y="606609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4134684" y="606609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2" name="직선 화살표 연결선 81"/>
          <p:cNvCxnSpPr/>
          <p:nvPr/>
        </p:nvCxnSpPr>
        <p:spPr>
          <a:xfrm>
            <a:off x="2086147" y="6120097"/>
            <a:ext cx="2038761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>
            <a:off x="1351068" y="6120097"/>
            <a:ext cx="627079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080766" y="6162495"/>
            <a:ext cx="1990365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10. </a:t>
            </a:r>
            <a:r>
              <a:rPr lang="ko-KR" altLang="en-US" sz="1100">
                <a:cs typeface="Arial" pitchFamily="34" charset="0"/>
              </a:rPr>
              <a:t>거래 응답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6275122" y="606609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6" name="직선 화살표 연결선 85"/>
          <p:cNvCxnSpPr>
            <a:stCxn id="81" idx="6"/>
          </p:cNvCxnSpPr>
          <p:nvPr/>
        </p:nvCxnSpPr>
        <p:spPr>
          <a:xfrm>
            <a:off x="4242684" y="6120097"/>
            <a:ext cx="2034401" cy="16299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381884" y="2326722"/>
            <a:ext cx="6732000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388604" y="6153722"/>
            <a:ext cx="554547" cy="225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sz="1100">
                <a:cs typeface="Arial" pitchFamily="34" charset="0"/>
              </a:rPr>
              <a:t>거래응답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61012" y="1811458"/>
            <a:ext cx="338084" cy="3390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①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061012" y="2384441"/>
            <a:ext cx="338084" cy="3390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②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40107" y="2960784"/>
            <a:ext cx="338084" cy="3390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③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385085" y="3622821"/>
            <a:ext cx="338084" cy="3390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④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539914" y="4635822"/>
            <a:ext cx="338084" cy="3390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⑤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309158" y="5810619"/>
            <a:ext cx="338084" cy="3390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⑥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76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Exception </a:t>
            </a:r>
            <a:r>
              <a:rPr lang="ko-KR" altLang="en-US" dirty="0"/>
              <a:t>처리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7.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에러 처리 방안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6762730" y="5346376"/>
            <a:ext cx="2367526" cy="766487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6771012" y="4426925"/>
            <a:ext cx="2367526" cy="756018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738201" y="3336677"/>
            <a:ext cx="2367526" cy="873137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588198" y="3347385"/>
            <a:ext cx="2367526" cy="699426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592543" y="4204235"/>
            <a:ext cx="2367526" cy="982277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658138" y="5318660"/>
            <a:ext cx="2367526" cy="819065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556931" y="3615618"/>
            <a:ext cx="621754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564117" y="4730819"/>
            <a:ext cx="60905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7548579" y="5687969"/>
            <a:ext cx="64013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7" name="직선 연결선 16"/>
          <p:cNvCxnSpPr>
            <a:stCxn id="14" idx="2"/>
            <a:endCxn id="15" idx="0"/>
          </p:cNvCxnSpPr>
          <p:nvPr/>
        </p:nvCxnSpPr>
        <p:spPr>
          <a:xfrm>
            <a:off x="7867808" y="3903618"/>
            <a:ext cx="836" cy="82720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15" idx="2"/>
            <a:endCxn id="16" idx="0"/>
          </p:cNvCxnSpPr>
          <p:nvPr/>
        </p:nvCxnSpPr>
        <p:spPr>
          <a:xfrm>
            <a:off x="7868644" y="5018819"/>
            <a:ext cx="0" cy="66915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37835" y="3419420"/>
            <a:ext cx="427990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PU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9975" y="4519081"/>
            <a:ext cx="452804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FU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62720" y="5406143"/>
            <a:ext cx="452802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DU</a:t>
            </a:r>
            <a:endParaRPr lang="ko-KR" altLang="en-US" sz="1000" i="1" dirty="0">
              <a:cs typeface="Arial" pitchFamily="34" charset="0"/>
            </a:endParaRPr>
          </a:p>
        </p:txBody>
      </p:sp>
      <p:cxnSp>
        <p:nvCxnSpPr>
          <p:cNvPr id="22" name="꺾인 연결선 21"/>
          <p:cNvCxnSpPr>
            <a:stCxn id="16" idx="3"/>
            <a:endCxn id="15" idx="3"/>
          </p:cNvCxnSpPr>
          <p:nvPr/>
        </p:nvCxnSpPr>
        <p:spPr>
          <a:xfrm flipH="1" flipV="1">
            <a:off x="8173170" y="4874819"/>
            <a:ext cx="15539" cy="957150"/>
          </a:xfrm>
          <a:prstGeom prst="bentConnector3">
            <a:avLst>
              <a:gd name="adj1" fmla="val -1471137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5" idx="1"/>
            <a:endCxn id="14" idx="1"/>
          </p:cNvCxnSpPr>
          <p:nvPr/>
        </p:nvCxnSpPr>
        <p:spPr>
          <a:xfrm rot="10800000">
            <a:off x="7556931" y="3759619"/>
            <a:ext cx="7186" cy="1115201"/>
          </a:xfrm>
          <a:prstGeom prst="bentConnector3">
            <a:avLst>
              <a:gd name="adj1" fmla="val 3281186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4" idx="3"/>
            <a:endCxn id="26" idx="3"/>
          </p:cNvCxnSpPr>
          <p:nvPr/>
        </p:nvCxnSpPr>
        <p:spPr>
          <a:xfrm flipV="1">
            <a:off x="8178685" y="2934855"/>
            <a:ext cx="53040" cy="824763"/>
          </a:xfrm>
          <a:prstGeom prst="bentConnector3">
            <a:avLst>
              <a:gd name="adj1" fmla="val 530995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6560648" y="2515609"/>
            <a:ext cx="2839227" cy="3717892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bg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685200" y="2759650"/>
            <a:ext cx="1546525" cy="35041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>
                <a:solidFill>
                  <a:schemeClr val="tx1"/>
                </a:solidFill>
                <a:cs typeface="Arial" pitchFamily="34" charset="0"/>
              </a:rPr>
              <a:t>Framework Exception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처리 모듈</a:t>
            </a:r>
          </a:p>
        </p:txBody>
      </p:sp>
      <p:sp>
        <p:nvSpPr>
          <p:cNvPr id="27" name="폭발 1 26"/>
          <p:cNvSpPr/>
          <p:nvPr/>
        </p:nvSpPr>
        <p:spPr>
          <a:xfrm>
            <a:off x="7787641" y="5663450"/>
            <a:ext cx="477230" cy="605545"/>
          </a:xfrm>
          <a:prstGeom prst="irregularSeal1">
            <a:avLst/>
          </a:prstGeom>
          <a:solidFill>
            <a:srgbClr val="FF0000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23783" y="5870711"/>
            <a:ext cx="1533511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①</a:t>
            </a:r>
            <a:r>
              <a:rPr lang="en-US" altLang="ko-KR" sz="1000" b="1" dirty="0" err="1">
                <a:cs typeface="Arial" pitchFamily="34" charset="0"/>
              </a:rPr>
              <a:t>DataException</a:t>
            </a:r>
            <a:r>
              <a:rPr lang="en-US" altLang="ko-KR" sz="1000" b="1" dirty="0">
                <a:cs typeface="Arial" pitchFamily="34" charset="0"/>
              </a:rPr>
              <a:t> catch</a:t>
            </a:r>
            <a:endParaRPr lang="ko-KR" altLang="en-US" sz="1000" b="1" dirty="0">
              <a:cs typeface="Arial" pitchFamily="34" charset="0"/>
            </a:endParaRPr>
          </a:p>
        </p:txBody>
      </p:sp>
      <p:grpSp>
        <p:nvGrpSpPr>
          <p:cNvPr id="29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6545046" y="2038825"/>
            <a:ext cx="2854829" cy="334501"/>
            <a:chOff x="4088904" y="1849167"/>
            <a:chExt cx="654719" cy="334501"/>
          </a:xfrm>
        </p:grpSpPr>
        <p:cxnSp>
          <p:nvCxnSpPr>
            <p:cNvPr id="30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113573" y="1849167"/>
              <a:ext cx="191391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ko-KR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DU </a:t>
              </a: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에러 처리</a:t>
              </a:r>
            </a:p>
          </p:txBody>
        </p:sp>
      </p:grpSp>
      <p:sp>
        <p:nvSpPr>
          <p:cNvPr id="32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93405" y="836712"/>
            <a:ext cx="8984457" cy="827909"/>
          </a:xfrm>
          <a:prstGeom prst="rect">
            <a:avLst/>
          </a:prstGeom>
        </p:spPr>
        <p:txBody>
          <a:bodyPr lIns="91429" tIns="45715" rIns="91429" bIns="45715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DU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 err="1">
                <a:latin typeface="+mn-ea"/>
              </a:rPr>
              <a:t>DataException</a:t>
            </a:r>
            <a:r>
              <a:rPr lang="en-US" altLang="ko-KR" sz="1400" dirty="0">
                <a:latin typeface="+mn-ea"/>
              </a:rPr>
              <a:t> catch </a:t>
            </a:r>
            <a:r>
              <a:rPr lang="ko-KR" altLang="en-US" sz="1400" dirty="0">
                <a:latin typeface="+mn-ea"/>
              </a:rPr>
              <a:t>후 </a:t>
            </a:r>
            <a:r>
              <a:rPr lang="en-US" altLang="ko-KR" sz="1400" dirty="0" err="1">
                <a:latin typeface="+mn-ea"/>
              </a:rPr>
              <a:t>BusinessException</a:t>
            </a:r>
            <a:r>
              <a:rPr lang="en-US" altLang="ko-KR" sz="1400" dirty="0">
                <a:latin typeface="+mn-ea"/>
              </a:rPr>
              <a:t> throw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EAI </a:t>
            </a:r>
            <a:r>
              <a:rPr lang="ko-KR" altLang="en-US" sz="1400" dirty="0">
                <a:latin typeface="+mn-ea"/>
              </a:rPr>
              <a:t>연동 거래 시 </a:t>
            </a:r>
            <a:r>
              <a:rPr lang="en-US" altLang="ko-KR" sz="1400" dirty="0">
                <a:latin typeface="+mn-ea"/>
              </a:rPr>
              <a:t>FU </a:t>
            </a:r>
            <a:r>
              <a:rPr lang="ko-KR" altLang="en-US" sz="1400">
                <a:latin typeface="+mn-ea"/>
              </a:rPr>
              <a:t>에서 </a:t>
            </a:r>
            <a:r>
              <a:rPr lang="en-US" altLang="ko-KR" sz="1400">
                <a:latin typeface="+mn-ea"/>
              </a:rPr>
              <a:t>Fw***Exception </a:t>
            </a:r>
            <a:r>
              <a:rPr lang="en-US" altLang="ko-KR" sz="1400" dirty="0">
                <a:latin typeface="+mn-ea"/>
              </a:rPr>
              <a:t>catch </a:t>
            </a:r>
            <a:r>
              <a:rPr lang="ko-KR" altLang="en-US" sz="1400" dirty="0">
                <a:latin typeface="+mn-ea"/>
              </a:rPr>
              <a:t>후 </a:t>
            </a:r>
            <a:r>
              <a:rPr lang="en-US" altLang="ko-KR" sz="1400" dirty="0" err="1">
                <a:latin typeface="+mn-ea"/>
              </a:rPr>
              <a:t>BusinessException</a:t>
            </a:r>
            <a:r>
              <a:rPr lang="en-US" altLang="ko-KR" sz="1400" dirty="0">
                <a:latin typeface="+mn-ea"/>
              </a:rPr>
              <a:t> throw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PU </a:t>
            </a:r>
            <a:r>
              <a:rPr lang="ko-KR" altLang="en-US" sz="1400" dirty="0">
                <a:latin typeface="+mn-ea"/>
              </a:rPr>
              <a:t>에서 필요시 </a:t>
            </a:r>
            <a:r>
              <a:rPr lang="en-US" altLang="ko-KR" sz="1400" dirty="0" err="1">
                <a:latin typeface="+mn-ea"/>
              </a:rPr>
              <a:t>BusinessException</a:t>
            </a:r>
            <a:r>
              <a:rPr lang="en-US" altLang="ko-KR" sz="1400" dirty="0">
                <a:latin typeface="+mn-ea"/>
              </a:rPr>
              <a:t> catch </a:t>
            </a:r>
            <a:r>
              <a:rPr lang="ko-KR" altLang="en-US" sz="1400" dirty="0">
                <a:latin typeface="+mn-ea"/>
              </a:rPr>
              <a:t>후 적합한 에러 코드 세팅 후 새로운 </a:t>
            </a:r>
            <a:r>
              <a:rPr lang="en-US" altLang="ko-KR" sz="1400" dirty="0" err="1">
                <a:latin typeface="+mn-ea"/>
              </a:rPr>
              <a:t>BusinessException</a:t>
            </a:r>
            <a:r>
              <a:rPr lang="en-US" altLang="ko-KR" sz="1400" dirty="0">
                <a:latin typeface="+mn-ea"/>
              </a:rPr>
              <a:t> throw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4482219" y="3560758"/>
            <a:ext cx="621754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482219" y="4733235"/>
            <a:ext cx="60905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223738" y="5641385"/>
            <a:ext cx="112601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EAI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연동 </a:t>
            </a: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API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6" name="직선 연결선 35"/>
          <p:cNvCxnSpPr>
            <a:stCxn id="33" idx="2"/>
            <a:endCxn id="34" idx="0"/>
          </p:cNvCxnSpPr>
          <p:nvPr/>
        </p:nvCxnSpPr>
        <p:spPr>
          <a:xfrm flipH="1">
            <a:off x="4786746" y="3848758"/>
            <a:ext cx="6350" cy="884477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34" idx="2"/>
            <a:endCxn id="35" idx="0"/>
          </p:cNvCxnSpPr>
          <p:nvPr/>
        </p:nvCxnSpPr>
        <p:spPr>
          <a:xfrm flipH="1">
            <a:off x="4786745" y="5021235"/>
            <a:ext cx="1" cy="62015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30681" y="3369385"/>
            <a:ext cx="427990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PU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72230" y="4235729"/>
            <a:ext cx="452804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FU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98959" y="5428166"/>
            <a:ext cx="452802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FW</a:t>
            </a:r>
            <a:endParaRPr lang="ko-KR" altLang="en-US" sz="1000" i="1" dirty="0">
              <a:cs typeface="Arial" pitchFamily="34" charset="0"/>
            </a:endParaRPr>
          </a:p>
        </p:txBody>
      </p:sp>
      <p:cxnSp>
        <p:nvCxnSpPr>
          <p:cNvPr id="41" name="꺾인 연결선 40"/>
          <p:cNvCxnSpPr>
            <a:stCxn id="35" idx="3"/>
            <a:endCxn id="34" idx="3"/>
          </p:cNvCxnSpPr>
          <p:nvPr/>
        </p:nvCxnSpPr>
        <p:spPr>
          <a:xfrm flipH="1" flipV="1">
            <a:off x="5091272" y="4877235"/>
            <a:ext cx="258479" cy="908150"/>
          </a:xfrm>
          <a:prstGeom prst="bentConnector3">
            <a:avLst>
              <a:gd name="adj1" fmla="val -88440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427790" y="4503701"/>
            <a:ext cx="2024790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③</a:t>
            </a:r>
            <a:r>
              <a:rPr lang="en-US" altLang="ko-KR" sz="1000" dirty="0">
                <a:latin typeface="+mn-ea"/>
                <a:cs typeface="Arial" pitchFamily="34" charset="0"/>
              </a:rPr>
              <a:t> </a:t>
            </a:r>
            <a:r>
              <a:rPr lang="en-US" altLang="ko-KR" sz="1000" dirty="0" err="1">
                <a:latin typeface="+mn-ea"/>
                <a:cs typeface="Arial" pitchFamily="34" charset="0"/>
              </a:rPr>
              <a:t>BusinessException</a:t>
            </a:r>
            <a:r>
              <a:rPr lang="en-US" altLang="ko-KR" sz="1000" dirty="0">
                <a:cs typeface="Arial" pitchFamily="34" charset="0"/>
              </a:rPr>
              <a:t> throw</a:t>
            </a:r>
            <a:endParaRPr lang="ko-KR" altLang="en-US" sz="1000" dirty="0">
              <a:cs typeface="Arial" pitchFamily="34" charset="0"/>
            </a:endParaRPr>
          </a:p>
        </p:txBody>
      </p:sp>
      <p:cxnSp>
        <p:nvCxnSpPr>
          <p:cNvPr id="43" name="꺾인 연결선 42"/>
          <p:cNvCxnSpPr>
            <a:stCxn id="34" idx="1"/>
            <a:endCxn id="33" idx="1"/>
          </p:cNvCxnSpPr>
          <p:nvPr/>
        </p:nvCxnSpPr>
        <p:spPr>
          <a:xfrm rot="10800000">
            <a:off x="4482219" y="3704759"/>
            <a:ext cx="12700" cy="1172477"/>
          </a:xfrm>
          <a:prstGeom prst="bentConnector3">
            <a:avLst>
              <a:gd name="adj1" fmla="val 1800000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3" idx="3"/>
            <a:endCxn id="46" idx="3"/>
          </p:cNvCxnSpPr>
          <p:nvPr/>
        </p:nvCxnSpPr>
        <p:spPr>
          <a:xfrm flipV="1">
            <a:off x="5103973" y="2974345"/>
            <a:ext cx="30750" cy="730413"/>
          </a:xfrm>
          <a:prstGeom prst="bentConnector3">
            <a:avLst>
              <a:gd name="adj1" fmla="val 843415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3478750" y="2537632"/>
            <a:ext cx="2839227" cy="3718072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bg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3588198" y="2799140"/>
            <a:ext cx="1546525" cy="35041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>
                <a:solidFill>
                  <a:schemeClr val="tx1"/>
                </a:solidFill>
                <a:cs typeface="Arial" pitchFamily="34" charset="0"/>
              </a:rPr>
              <a:t>Framework Exception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처리 모듈</a:t>
            </a:r>
          </a:p>
        </p:txBody>
      </p:sp>
      <p:sp>
        <p:nvSpPr>
          <p:cNvPr id="47" name="폭발 1 46"/>
          <p:cNvSpPr/>
          <p:nvPr/>
        </p:nvSpPr>
        <p:spPr>
          <a:xfrm>
            <a:off x="5037796" y="5612413"/>
            <a:ext cx="477230" cy="605545"/>
          </a:xfrm>
          <a:prstGeom prst="irregularSeal1">
            <a:avLst/>
          </a:prstGeom>
          <a:solidFill>
            <a:srgbClr val="FF0000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46839" y="5746873"/>
            <a:ext cx="1533511" cy="71410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①</a:t>
            </a:r>
            <a:r>
              <a:rPr lang="en-US" altLang="ko-KR" sz="1000" b="1">
                <a:cs typeface="Arial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FwInternalException</a:t>
            </a:r>
          </a:p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FwConfigException</a:t>
            </a:r>
          </a:p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FwEaiCommException</a:t>
            </a:r>
          </a:p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FwTelegramException</a:t>
            </a:r>
            <a:endParaRPr lang="ko-KR" altLang="en-US" sz="1000" b="1" dirty="0">
              <a:cs typeface="Arial" pitchFamily="34" charset="0"/>
            </a:endParaRPr>
          </a:p>
        </p:txBody>
      </p:sp>
      <p:grpSp>
        <p:nvGrpSpPr>
          <p:cNvPr id="49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3445602" y="2069826"/>
            <a:ext cx="2872375" cy="334501"/>
            <a:chOff x="4084880" y="1849167"/>
            <a:chExt cx="658743" cy="334501"/>
          </a:xfrm>
        </p:grpSpPr>
        <p:cxnSp>
          <p:nvCxnSpPr>
            <p:cNvPr id="50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4880" y="1849167"/>
              <a:ext cx="248777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ko-KR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FU </a:t>
              </a: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에러 처리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4832736" y="4661847"/>
            <a:ext cx="1821683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②</a:t>
            </a:r>
            <a:r>
              <a:rPr lang="en-US" altLang="ko-KR" sz="1000">
                <a:latin typeface="+mn-ea"/>
                <a:cs typeface="Arial" pitchFamily="34" charset="0"/>
              </a:rPr>
              <a:t> </a:t>
            </a:r>
            <a:r>
              <a:rPr lang="en-US" altLang="ko-KR" sz="1000" b="1">
                <a:cs typeface="Arial" pitchFamily="34" charset="0"/>
              </a:rPr>
              <a:t>Exception </a:t>
            </a:r>
            <a:r>
              <a:rPr lang="en-US" altLang="ko-KR" sz="1000" b="1" dirty="0">
                <a:cs typeface="Arial" pitchFamily="34" charset="0"/>
              </a:rPr>
              <a:t>catch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565186" y="5351803"/>
            <a:ext cx="2439590" cy="803577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482413" y="3333775"/>
            <a:ext cx="2439590" cy="742921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64482" y="4189983"/>
            <a:ext cx="2439590" cy="984500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937856" y="3588625"/>
            <a:ext cx="69909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935666" y="4579106"/>
            <a:ext cx="711791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48625" y="5761843"/>
            <a:ext cx="70147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9" name="직선 연결선 58"/>
          <p:cNvCxnSpPr>
            <a:stCxn id="56" idx="2"/>
            <a:endCxn id="57" idx="0"/>
          </p:cNvCxnSpPr>
          <p:nvPr/>
        </p:nvCxnSpPr>
        <p:spPr>
          <a:xfrm>
            <a:off x="1287401" y="3876625"/>
            <a:ext cx="4161" cy="70248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>
            <a:stCxn id="57" idx="2"/>
            <a:endCxn id="58" idx="0"/>
          </p:cNvCxnSpPr>
          <p:nvPr/>
        </p:nvCxnSpPr>
        <p:spPr>
          <a:xfrm>
            <a:off x="1291562" y="4867106"/>
            <a:ext cx="7798" cy="894737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1053" y="3415507"/>
            <a:ext cx="500503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PU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65186" y="4352806"/>
            <a:ext cx="404768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FU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2959" y="5443087"/>
            <a:ext cx="496691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DU</a:t>
            </a:r>
            <a:endParaRPr lang="ko-KR" altLang="en-US" sz="1000" i="1" dirty="0">
              <a:cs typeface="Arial" pitchFamily="34" charset="0"/>
            </a:endParaRPr>
          </a:p>
        </p:txBody>
      </p:sp>
      <p:cxnSp>
        <p:nvCxnSpPr>
          <p:cNvPr id="64" name="꺾인 연결선 63"/>
          <p:cNvCxnSpPr>
            <a:stCxn id="58" idx="3"/>
            <a:endCxn id="57" idx="3"/>
          </p:cNvCxnSpPr>
          <p:nvPr/>
        </p:nvCxnSpPr>
        <p:spPr>
          <a:xfrm flipH="1" flipV="1">
            <a:off x="1647457" y="4723106"/>
            <a:ext cx="2638" cy="1182737"/>
          </a:xfrm>
          <a:prstGeom prst="bentConnector3">
            <a:avLst>
              <a:gd name="adj1" fmla="val -8665656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-11953" y="3813703"/>
            <a:ext cx="1898190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③</a:t>
            </a:r>
            <a:r>
              <a:rPr lang="en-US" altLang="ko-KR" sz="1000" dirty="0">
                <a:latin typeface="+mn-ea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+mn-ea"/>
                <a:cs typeface="Arial" pitchFamily="34" charset="0"/>
              </a:rPr>
              <a:t>BusinessException</a:t>
            </a:r>
            <a:r>
              <a:rPr lang="en-US" altLang="ko-KR" sz="1000" b="1" dirty="0">
                <a:cs typeface="Arial" pitchFamily="34" charset="0"/>
              </a:rPr>
              <a:t> catch</a:t>
            </a:r>
            <a:endParaRPr lang="ko-KR" altLang="en-US" sz="1000" b="1" dirty="0">
              <a:cs typeface="Arial" pitchFamily="34" charset="0"/>
            </a:endParaRPr>
          </a:p>
        </p:txBody>
      </p:sp>
      <p:cxnSp>
        <p:nvCxnSpPr>
          <p:cNvPr id="66" name="꺾인 연결선 65"/>
          <p:cNvCxnSpPr>
            <a:stCxn id="57" idx="1"/>
            <a:endCxn id="56" idx="1"/>
          </p:cNvCxnSpPr>
          <p:nvPr/>
        </p:nvCxnSpPr>
        <p:spPr>
          <a:xfrm rot="10800000" flipH="1">
            <a:off x="935666" y="3732626"/>
            <a:ext cx="2190" cy="990481"/>
          </a:xfrm>
          <a:prstGeom prst="bentConnector3">
            <a:avLst>
              <a:gd name="adj1" fmla="val -10438356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598845" y="3680878"/>
            <a:ext cx="2238856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③ New </a:t>
            </a:r>
            <a:r>
              <a:rPr lang="en-US" altLang="ko-KR" sz="1000" b="1" dirty="0" err="1">
                <a:latin typeface="+mn-ea"/>
                <a:cs typeface="Arial" pitchFamily="34" charset="0"/>
              </a:rPr>
              <a:t>BusinessException</a:t>
            </a:r>
            <a:r>
              <a:rPr lang="en-US" altLang="ko-KR" sz="1000" dirty="0">
                <a:cs typeface="Arial" pitchFamily="34" charset="0"/>
              </a:rPr>
              <a:t> throw</a:t>
            </a:r>
            <a:endParaRPr lang="ko-KR" altLang="en-US" sz="1000" dirty="0">
              <a:cs typeface="Arial" pitchFamily="34" charset="0"/>
            </a:endParaRPr>
          </a:p>
        </p:txBody>
      </p:sp>
      <p:cxnSp>
        <p:nvCxnSpPr>
          <p:cNvPr id="68" name="꺾인 연결선 67"/>
          <p:cNvCxnSpPr>
            <a:stCxn id="56" idx="3"/>
            <a:endCxn id="70" idx="3"/>
          </p:cNvCxnSpPr>
          <p:nvPr/>
        </p:nvCxnSpPr>
        <p:spPr>
          <a:xfrm flipV="1">
            <a:off x="1636946" y="2994916"/>
            <a:ext cx="433853" cy="737709"/>
          </a:xfrm>
          <a:prstGeom prst="bentConnector3">
            <a:avLst>
              <a:gd name="adj1" fmla="val 152691"/>
            </a:avLst>
          </a:prstGeom>
          <a:ln w="635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68"/>
          <p:cNvSpPr/>
          <p:nvPr/>
        </p:nvSpPr>
        <p:spPr>
          <a:xfrm>
            <a:off x="383915" y="2563032"/>
            <a:ext cx="2925649" cy="3717892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bg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490223" y="2825930"/>
            <a:ext cx="1580576" cy="3379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>
                <a:solidFill>
                  <a:schemeClr val="tx1"/>
                </a:solidFill>
                <a:cs typeface="Arial" pitchFamily="34" charset="0"/>
              </a:rPr>
              <a:t>Framework Exception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처리 모듈</a:t>
            </a:r>
          </a:p>
        </p:txBody>
      </p:sp>
      <p:grpSp>
        <p:nvGrpSpPr>
          <p:cNvPr id="71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344626" y="2086248"/>
            <a:ext cx="2941726" cy="334501"/>
            <a:chOff x="4088904" y="1849167"/>
            <a:chExt cx="654719" cy="334501"/>
          </a:xfrm>
        </p:grpSpPr>
        <p:cxnSp>
          <p:nvCxnSpPr>
            <p:cNvPr id="72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110826" y="1849167"/>
              <a:ext cx="196885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ko-KR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 PU </a:t>
              </a: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에러 처리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1504882" y="6029691"/>
            <a:ext cx="1533511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①</a:t>
            </a:r>
            <a:r>
              <a:rPr lang="en-US" altLang="ko-KR" sz="1000" b="1" dirty="0" err="1">
                <a:cs typeface="Arial" pitchFamily="34" charset="0"/>
              </a:rPr>
              <a:t>DataException</a:t>
            </a:r>
            <a:r>
              <a:rPr lang="en-US" altLang="ko-KR" sz="1000" b="1" dirty="0">
                <a:cs typeface="Arial" pitchFamily="34" charset="0"/>
              </a:rPr>
              <a:t> catch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525546" y="5647771"/>
            <a:ext cx="1817757" cy="21164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</a:rPr>
              <a:t>②</a:t>
            </a:r>
            <a:r>
              <a:rPr lang="en-US" altLang="ko-KR" sz="1000" dirty="0">
                <a:latin typeface="+mn-ea"/>
                <a:cs typeface="Arial" pitchFamily="34" charset="0"/>
              </a:rPr>
              <a:t> </a:t>
            </a:r>
            <a:r>
              <a:rPr lang="en-US" altLang="ko-KR" sz="1000" dirty="0" err="1">
                <a:latin typeface="+mn-ea"/>
                <a:cs typeface="Arial" pitchFamily="34" charset="0"/>
              </a:rPr>
              <a:t>BusinessException</a:t>
            </a:r>
            <a:r>
              <a:rPr lang="en-US" altLang="ko-KR" sz="1000" dirty="0">
                <a:cs typeface="Arial" pitchFamily="34" charset="0"/>
              </a:rPr>
              <a:t> throw</a:t>
            </a:r>
            <a:endParaRPr lang="ko-KR" altLang="en-US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5435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멀티 </a:t>
            </a:r>
            <a:r>
              <a:rPr lang="en-US" altLang="ko-KR" dirty="0"/>
              <a:t>Exception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7.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에러 처리 방안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88123" y="1160748"/>
            <a:ext cx="1144497" cy="1764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기준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640632" y="1160748"/>
            <a:ext cx="7848872" cy="1764196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멀티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에러는 프로그램 계층 구조 중 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PM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에서만 사용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멀티 에러는 최대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건까지 에러 조건을 처리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멀티 에러 발생 내용이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건을 초과하는 경우 직전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건에 대한 에러 정보 편집 후 거래는 종료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멀티 에러 진행 중 책임자 승인 요건 발생 등 예외 사항이 발생되는 경우 예외 사항 발생 전 멀티 에러 정보 편집 후 거래는 종료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책임자 승인 요건보다 에러 처리가 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우선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창구 단말 입력 유효성 검증에서 사용되는 에러 패턴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89546" y="2996952"/>
            <a:ext cx="1144497" cy="68407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사용 방법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642055" y="2996952"/>
            <a:ext cx="7848872" cy="684076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개발자는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Framework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에서 제공하는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addBusinessException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 API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을 사용하여 멀티 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에러 처리</a:t>
            </a:r>
            <a:endParaRPr lang="en-US" altLang="ko-KR" sz="120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addBusinessException 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은 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BusinessException 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와 같이 사용 할 수 없음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8123" y="3789040"/>
            <a:ext cx="1144497" cy="9001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400" b="1">
                <a:solidFill>
                  <a:schemeClr val="tx1"/>
                </a:solidFill>
                <a:latin typeface="+mn-ea"/>
                <a:cs typeface="Arial" pitchFamily="34" charset="0"/>
              </a:rPr>
              <a:t>예시</a:t>
            </a:r>
            <a:endParaRPr lang="ko-KR" altLang="en-US" sz="14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40632" y="3789040"/>
            <a:ext cx="7848872" cy="900100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addBusinessException 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파라미터는 에러코드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조치코드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, {Throwable}, IOnlineContext 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addBusinessException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("B3800205", "UKAE0070“,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onlineCtx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);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addBusinessException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("B0900150", "UKAE0069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", cause, onlineCtx);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596516" y="5079308"/>
            <a:ext cx="3130925" cy="1068570"/>
          </a:xfrm>
          <a:prstGeom prst="roundRect">
            <a:avLst/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[IDataSet] (</a:t>
            </a: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프레임워크 </a:t>
            </a: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DTO)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     Kbmessage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          ErrMessage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>
                <a:solidFill>
                  <a:schemeClr val="tx1"/>
                </a:solidFill>
                <a:latin typeface="+mn-ea"/>
                <a:cs typeface="Arial" pitchFamily="34" charset="0"/>
              </a:rPr>
              <a:t>               MultiErrMsg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2" name="오른쪽 화살표 21"/>
          <p:cNvSpPr/>
          <p:nvPr/>
        </p:nvSpPr>
        <p:spPr>
          <a:xfrm>
            <a:off x="3740433" y="5508377"/>
            <a:ext cx="900100" cy="23197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08124"/>
              </p:ext>
            </p:extLst>
          </p:nvPr>
        </p:nvGraphicFramePr>
        <p:xfrm>
          <a:off x="4628018" y="5079308"/>
          <a:ext cx="4788532" cy="112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35">
                  <a:extLst>
                    <a:ext uri="{9D8B030D-6E8A-4147-A177-3AD203B41FA5}">
                      <a16:colId xmlns:a16="http://schemas.microsoft.com/office/drawing/2014/main" val="452603234"/>
                    </a:ext>
                  </a:extLst>
                </a:gridCol>
                <a:gridCol w="572895">
                  <a:extLst>
                    <a:ext uri="{9D8B030D-6E8A-4147-A177-3AD203B41FA5}">
                      <a16:colId xmlns:a16="http://schemas.microsoft.com/office/drawing/2014/main" val="1733589136"/>
                    </a:ext>
                  </a:extLst>
                </a:gridCol>
                <a:gridCol w="302010">
                  <a:extLst>
                    <a:ext uri="{9D8B030D-6E8A-4147-A177-3AD203B41FA5}">
                      <a16:colId xmlns:a16="http://schemas.microsoft.com/office/drawing/2014/main" val="1432611648"/>
                    </a:ext>
                  </a:extLst>
                </a:gridCol>
                <a:gridCol w="935564">
                  <a:extLst>
                    <a:ext uri="{9D8B030D-6E8A-4147-A177-3AD203B41FA5}">
                      <a16:colId xmlns:a16="http://schemas.microsoft.com/office/drawing/2014/main" val="3012234978"/>
                    </a:ext>
                  </a:extLst>
                </a:gridCol>
                <a:gridCol w="1334914">
                  <a:extLst>
                    <a:ext uri="{9D8B030D-6E8A-4147-A177-3AD203B41FA5}">
                      <a16:colId xmlns:a16="http://schemas.microsoft.com/office/drawing/2014/main" val="515306709"/>
                    </a:ext>
                  </a:extLst>
                </a:gridCol>
                <a:gridCol w="1319114">
                  <a:extLst>
                    <a:ext uri="{9D8B030D-6E8A-4147-A177-3AD203B41FA5}">
                      <a16:colId xmlns:a16="http://schemas.microsoft.com/office/drawing/2014/main" val="2286822453"/>
                    </a:ext>
                  </a:extLst>
                </a:gridCol>
              </a:tblGrid>
              <a:tr h="20411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표준전문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멀티에러 정보</a:t>
                      </a:r>
                    </a:p>
                    <a:p>
                      <a:pPr algn="ctr" fontAlgn="ctr"/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MultiErrInfo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  <a:latin typeface="+mn-lt"/>
                        </a:rPr>
                        <a:t>멀티에러건수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lt"/>
                        </a:rPr>
                        <a:t>ErrmsgMulErrNoitm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개 반복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z-KESA=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고정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개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n,u-KESA=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가변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(Maximum 10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61993"/>
                  </a:ext>
                </a:extLst>
              </a:tr>
              <a:tr h="20411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7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  <a:latin typeface="+mn-lt"/>
                        </a:rPr>
                        <a:t>에러코드</a:t>
                      </a:r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lt"/>
                        </a:rPr>
                        <a:t>ErrmsgErrcd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041" marR="4041" marT="4041" marB="0" anchor="ctr"/>
                </a:tc>
                <a:extLst>
                  <a:ext uri="{0D108BD9-81ED-4DB2-BD59-A6C34878D82A}">
                    <a16:rowId xmlns:a16="http://schemas.microsoft.com/office/drawing/2014/main" val="1570998964"/>
                  </a:ext>
                </a:extLst>
              </a:tr>
              <a:tr h="20411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8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  <a:latin typeface="+mn-lt"/>
                        </a:rPr>
                        <a:t>조치코드</a:t>
                      </a:r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lt"/>
                        </a:rPr>
                        <a:t>ErrmsgTreatCd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041" marR="4041" marT="4041" marB="0" anchor="ctr"/>
                </a:tc>
                <a:extLst>
                  <a:ext uri="{0D108BD9-81ED-4DB2-BD59-A6C34878D82A}">
                    <a16:rowId xmlns:a16="http://schemas.microsoft.com/office/drawing/2014/main" val="3355333366"/>
                  </a:ext>
                </a:extLst>
              </a:tr>
              <a:tr h="20411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9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  <a:latin typeface="+mn-lt"/>
                        </a:rPr>
                        <a:t>에러프로그램명</a:t>
                      </a:r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lt"/>
                        </a:rPr>
                        <a:t>ErrmsgErrPgmName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041" marR="4041" marT="4041" marB="0" anchor="ctr"/>
                </a:tc>
                <a:extLst>
                  <a:ext uri="{0D108BD9-81ED-4DB2-BD59-A6C34878D82A}">
                    <a16:rowId xmlns:a16="http://schemas.microsoft.com/office/drawing/2014/main" val="419314809"/>
                  </a:ext>
                </a:extLst>
              </a:tr>
              <a:tr h="20411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10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  <a:latin typeface="+mn-lt"/>
                        </a:rPr>
                        <a:t>에러위치번호</a:t>
                      </a:r>
                      <a:r>
                        <a:rPr lang="en-US" altLang="ko-KR" sz="1000" u="none" strike="noStrike">
                          <a:effectLst/>
                          <a:latin typeface="+mn-lt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lt"/>
                        </a:rPr>
                        <a:t>ErrmsgErrSituNo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041" marR="4041" marT="4041" marB="0" anchor="ctr"/>
                </a:tc>
                <a:extLst>
                  <a:ext uri="{0D108BD9-81ED-4DB2-BD59-A6C34878D82A}">
                    <a16:rowId xmlns:a16="http://schemas.microsoft.com/office/drawing/2014/main" val="1792844842"/>
                  </a:ext>
                </a:extLst>
              </a:tr>
            </a:tbl>
          </a:graphicData>
        </a:graphic>
      </p:graphicFrame>
      <p:cxnSp>
        <p:nvCxnSpPr>
          <p:cNvPr id="24" name="꺾인 연결선 23"/>
          <p:cNvCxnSpPr/>
          <p:nvPr/>
        </p:nvCxnSpPr>
        <p:spPr>
          <a:xfrm rot="16200000" flipH="1">
            <a:off x="773304" y="5373616"/>
            <a:ext cx="175411" cy="111821"/>
          </a:xfrm>
          <a:prstGeom prst="bentConnector3">
            <a:avLst>
              <a:gd name="adj1" fmla="val 102129"/>
            </a:avLst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/>
          <p:nvPr/>
        </p:nvCxnSpPr>
        <p:spPr>
          <a:xfrm rot="16200000" flipH="1">
            <a:off x="981614" y="5615159"/>
            <a:ext cx="175411" cy="111821"/>
          </a:xfrm>
          <a:prstGeom prst="bentConnector3">
            <a:avLst>
              <a:gd name="adj1" fmla="val 102129"/>
            </a:avLst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/>
          <p:nvPr/>
        </p:nvCxnSpPr>
        <p:spPr>
          <a:xfrm rot="16200000" flipH="1">
            <a:off x="1205346" y="5831183"/>
            <a:ext cx="175411" cy="111821"/>
          </a:xfrm>
          <a:prstGeom prst="bentConnector3">
            <a:avLst>
              <a:gd name="adj1" fmla="val 102129"/>
            </a:avLst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64704"/>
            <a:ext cx="9143468" cy="221599"/>
          </a:xfrm>
        </p:spPr>
        <p:txBody>
          <a:bodyPr/>
          <a:lstStyle/>
          <a:p>
            <a:r>
              <a:rPr lang="en-US" altLang="ko-KR"/>
              <a:t>Exception </a:t>
            </a:r>
            <a:r>
              <a:rPr lang="ko-KR" altLang="en-US"/>
              <a:t>발생 시 즉시 에러 처리를 하지 않고</a:t>
            </a:r>
            <a:r>
              <a:rPr lang="en-US" altLang="ko-KR"/>
              <a:t>, </a:t>
            </a:r>
            <a:r>
              <a:rPr lang="ko-KR" altLang="en-US"/>
              <a:t>로직 실행이 끝난 후 예외를 처리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537437" y="4874604"/>
            <a:ext cx="923175" cy="276712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100" b="1">
                <a:solidFill>
                  <a:schemeClr val="bg1"/>
                </a:solidFill>
                <a:cs typeface="Arial" pitchFamily="34" charset="0"/>
              </a:rPr>
              <a:t>Memory</a:t>
            </a: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2969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거래</a:t>
            </a:r>
            <a:r>
              <a:rPr lang="en-US" altLang="ko-KR" dirty="0"/>
              <a:t> </a:t>
            </a:r>
            <a:r>
              <a:rPr lang="ko-KR" altLang="en-US"/>
              <a:t>에러 로그 </a:t>
            </a:r>
            <a:r>
              <a:rPr lang="en-US" altLang="ko-KR"/>
              <a:t>&gt; </a:t>
            </a:r>
            <a:r>
              <a:rPr lang="ko-KR" altLang="en-US"/>
              <a:t>예외로그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예외</a:t>
            </a:r>
            <a:r>
              <a:rPr lang="en-US" altLang="ko-KR"/>
              <a:t>(Exception) </a:t>
            </a:r>
            <a:r>
              <a:rPr lang="ko-KR" altLang="en-US"/>
              <a:t>로그기록 및 실시간 에러로그 추적기능제공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7.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에러 처리 방안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160781" y="1065050"/>
            <a:ext cx="4708543" cy="538828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t" anchorCtr="0">
            <a:noAutofit/>
          </a:bodyPr>
          <a:lstStyle/>
          <a:p>
            <a:pPr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200" b="1" kern="0">
                <a:latin typeface="Arial" pitchFamily="34" charset="0"/>
                <a:cs typeface="Arial" pitchFamily="34" charset="0"/>
              </a:rPr>
              <a:t>관리콘솔</a:t>
            </a:r>
            <a:endParaRPr lang="ko-KR" altLang="en-US" sz="1200" b="1" kern="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8339334" y="3819061"/>
            <a:ext cx="718688" cy="663318"/>
            <a:chOff x="452500" y="2168860"/>
            <a:chExt cx="718688" cy="663318"/>
          </a:xfrm>
        </p:grpSpPr>
        <p:pic>
          <p:nvPicPr>
            <p:cNvPr id="16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7398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452500" y="2652946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담당자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55610" y="4080639"/>
            <a:ext cx="1337633" cy="779050"/>
          </a:xfrm>
          <a:prstGeom prst="rect">
            <a:avLst/>
          </a:prstGeom>
          <a:noFill/>
          <a:ln w="6350" cap="flat">
            <a:solidFill>
              <a:schemeClr val="accent5">
                <a:lumMod val="60000"/>
                <a:lumOff val="40000"/>
              </a:schemeClr>
            </a:solidFill>
            <a:miter lim="800000"/>
          </a:ln>
        </p:spPr>
        <p:txBody>
          <a:bodyPr wrap="square" lIns="72000" tIns="36000" rIns="72000" bIns="36000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>
                <a:cs typeface="Arial" pitchFamily="34" charset="0"/>
              </a:rPr>
              <a:t>에러로그</a:t>
            </a:r>
            <a:endParaRPr lang="en-US" altLang="ko-KR" sz="1100" b="1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cs typeface="Arial" pitchFamily="34" charset="0"/>
              </a:rPr>
              <a:t>에러로그 </a:t>
            </a:r>
            <a:r>
              <a:rPr lang="en-US" altLang="ko-KR" sz="1000">
                <a:cs typeface="Arial" pitchFamily="34" charset="0"/>
              </a:rPr>
              <a:t>Stack</a:t>
            </a:r>
            <a:r>
              <a:rPr lang="ko-KR" altLang="en-US" sz="1000">
                <a:cs typeface="Arial" pitchFamily="34" charset="0"/>
              </a:rPr>
              <a:t>정보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cs typeface="Arial" pitchFamily="34" charset="0"/>
              </a:rPr>
              <a:t>에러발생 프로그램 </a:t>
            </a:r>
            <a:endParaRPr lang="en-US" altLang="ko-KR" sz="100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cs typeface="Arial" pitchFamily="34" charset="0"/>
              </a:rPr>
              <a:t>에러발생 위치</a:t>
            </a:r>
            <a:endParaRPr lang="en-US" altLang="ko-KR" sz="1000" dirty="0">
              <a:cs typeface="Arial" pitchFamily="34" charset="0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45283" y="3473979"/>
            <a:ext cx="1463985" cy="466892"/>
            <a:chOff x="227687" y="1393003"/>
            <a:chExt cx="1463985" cy="466892"/>
          </a:xfrm>
        </p:grpSpPr>
        <p:sp>
          <p:nvSpPr>
            <p:cNvPr id="22" name="직사각형 21"/>
            <p:cNvSpPr/>
            <p:nvPr/>
          </p:nvSpPr>
          <p:spPr>
            <a:xfrm>
              <a:off x="227687" y="1393003"/>
              <a:ext cx="1463985" cy="466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1393" y="1484348"/>
              <a:ext cx="1216573" cy="288000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b="1">
                  <a:solidFill>
                    <a:schemeClr val="tx1"/>
                  </a:solidFill>
                  <a:cs typeface="Arial" pitchFamily="34" charset="0"/>
                </a:rPr>
                <a:t>업무서버 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(FW)</a:t>
              </a:r>
              <a:endParaRPr lang="ko-KR" altLang="en-US" sz="9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2214861" y="2321159"/>
            <a:ext cx="811185" cy="494415"/>
            <a:chOff x="567575" y="2675254"/>
            <a:chExt cx="792736" cy="683358"/>
          </a:xfrm>
        </p:grpSpPr>
        <p:pic>
          <p:nvPicPr>
            <p:cNvPr id="25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624629" y="2933217"/>
              <a:ext cx="678628" cy="425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에러로그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(NJFK_ERXX)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7" name="직선 화살표 연결선 26"/>
          <p:cNvCxnSpPr>
            <a:stCxn id="23" idx="3"/>
            <a:endCxn id="26" idx="1"/>
          </p:cNvCxnSpPr>
          <p:nvPr/>
        </p:nvCxnSpPr>
        <p:spPr>
          <a:xfrm flipV="1">
            <a:off x="1685562" y="2661686"/>
            <a:ext cx="587681" cy="1047638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/>
          <p:cNvGrpSpPr/>
          <p:nvPr/>
        </p:nvGrpSpPr>
        <p:grpSpPr>
          <a:xfrm>
            <a:off x="2157825" y="4923567"/>
            <a:ext cx="925254" cy="494415"/>
            <a:chOff x="511839" y="2675254"/>
            <a:chExt cx="904211" cy="683358"/>
          </a:xfrm>
        </p:grpSpPr>
        <p:pic>
          <p:nvPicPr>
            <p:cNvPr id="32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511839" y="2933217"/>
              <a:ext cx="904211" cy="425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호출관계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(NJFT_FLOW_LOG)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34" name="직선 화살표 연결선 33"/>
          <p:cNvCxnSpPr>
            <a:stCxn id="23" idx="3"/>
            <a:endCxn id="33" idx="1"/>
          </p:cNvCxnSpPr>
          <p:nvPr/>
        </p:nvCxnSpPr>
        <p:spPr>
          <a:xfrm>
            <a:off x="1685562" y="3709324"/>
            <a:ext cx="472263" cy="1554770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383" y="1328582"/>
            <a:ext cx="4016905" cy="24795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8383" y="3976310"/>
            <a:ext cx="4016905" cy="2356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모서리가 둥근 직사각형 18"/>
          <p:cNvSpPr/>
          <p:nvPr/>
        </p:nvSpPr>
        <p:spPr>
          <a:xfrm>
            <a:off x="4232920" y="1975245"/>
            <a:ext cx="2988332" cy="1734079"/>
          </a:xfrm>
          <a:prstGeom prst="roundRect">
            <a:avLst>
              <a:gd name="adj" fmla="val 7801"/>
            </a:avLst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528383" y="4357810"/>
            <a:ext cx="2612749" cy="1975034"/>
          </a:xfrm>
          <a:prstGeom prst="roundRect">
            <a:avLst>
              <a:gd name="adj" fmla="val 7801"/>
            </a:avLst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7" name="모서리가 둥근 사각형 설명선 46"/>
          <p:cNvSpPr/>
          <p:nvPr/>
        </p:nvSpPr>
        <p:spPr>
          <a:xfrm>
            <a:off x="7321640" y="2106665"/>
            <a:ext cx="1481602" cy="354325"/>
          </a:xfrm>
          <a:prstGeom prst="wedgeRoundRectCallout">
            <a:avLst>
              <a:gd name="adj1" fmla="val -72592"/>
              <a:gd name="adj2" fmla="val -679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에러 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StackTrace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정보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모서리가 둥근 사각형 설명선 47"/>
          <p:cNvSpPr/>
          <p:nvPr/>
        </p:nvSpPr>
        <p:spPr>
          <a:xfrm>
            <a:off x="6275867" y="5162403"/>
            <a:ext cx="1481602" cy="354325"/>
          </a:xfrm>
          <a:prstGeom prst="wedgeRoundRectCallout">
            <a:avLst>
              <a:gd name="adj1" fmla="val -72592"/>
              <a:gd name="adj2" fmla="val -679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호출관계와 프로그램 위치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9" name="꺾인 연결선 48"/>
          <p:cNvCxnSpPr>
            <a:cxnSpLocks/>
            <a:stCxn id="16" idx="0"/>
          </p:cNvCxnSpPr>
          <p:nvPr/>
        </p:nvCxnSpPr>
        <p:spPr>
          <a:xfrm rot="16200000" flipV="1">
            <a:off x="7474651" y="2588896"/>
            <a:ext cx="976770" cy="1483559"/>
          </a:xfrm>
          <a:prstGeom prst="bentConnector2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17" idx="2"/>
          </p:cNvCxnSpPr>
          <p:nvPr/>
        </p:nvCxnSpPr>
        <p:spPr>
          <a:xfrm rot="5400000">
            <a:off x="7179440" y="3493947"/>
            <a:ext cx="530806" cy="2507671"/>
          </a:xfrm>
          <a:prstGeom prst="bentConnector2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3584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거래</a:t>
            </a:r>
            <a:r>
              <a:rPr lang="en-US" altLang="ko-KR" dirty="0"/>
              <a:t> </a:t>
            </a:r>
            <a:r>
              <a:rPr lang="ko-KR" altLang="en-US"/>
              <a:t>에러 로그 </a:t>
            </a:r>
            <a:r>
              <a:rPr lang="en-US" altLang="ko-KR"/>
              <a:t>&gt; </a:t>
            </a:r>
            <a:r>
              <a:rPr lang="ko-KR" altLang="en-US"/>
              <a:t>전문로그</a:t>
            </a:r>
            <a:r>
              <a:rPr lang="en-US" altLang="ko-KR"/>
              <a:t>, </a:t>
            </a:r>
            <a:r>
              <a:rPr lang="ko-KR" altLang="en-US"/>
              <a:t>거래로그</a:t>
            </a:r>
            <a:r>
              <a:rPr lang="en-US" altLang="ko-KR"/>
              <a:t>, </a:t>
            </a:r>
            <a:r>
              <a:rPr lang="ko-KR" altLang="en-US"/>
              <a:t>에러로그의 통합로그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전문로그</a:t>
            </a:r>
            <a:r>
              <a:rPr lang="en-US" altLang="ko-KR"/>
              <a:t>,</a:t>
            </a:r>
            <a:r>
              <a:rPr lang="ko-KR" altLang="en-US"/>
              <a:t>거래로그</a:t>
            </a:r>
            <a:r>
              <a:rPr lang="en-US" altLang="ko-KR"/>
              <a:t>,</a:t>
            </a:r>
            <a:r>
              <a:rPr lang="ko-KR" altLang="en-US"/>
              <a:t>에러로그의 통합로그 비교로 에러상황 종합적인 유추가능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7.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에러 처리 방안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72480" y="1772815"/>
            <a:ext cx="9252872" cy="471652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t" anchorCtr="0">
            <a:noAutofit/>
          </a:bodyPr>
          <a:lstStyle/>
          <a:p>
            <a:pPr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200" b="1" kern="0">
                <a:latin typeface="Arial" pitchFamily="34" charset="0"/>
                <a:cs typeface="Arial" pitchFamily="34" charset="0"/>
              </a:rPr>
              <a:t>관리콘솔</a:t>
            </a:r>
            <a:endParaRPr lang="ko-KR" altLang="en-US" sz="1200" b="1" kern="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8517396" y="4205842"/>
            <a:ext cx="718688" cy="663318"/>
            <a:chOff x="452500" y="2168860"/>
            <a:chExt cx="718688" cy="663318"/>
          </a:xfrm>
        </p:grpSpPr>
        <p:pic>
          <p:nvPicPr>
            <p:cNvPr id="16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7398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452500" y="2652946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담당자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7053411" y="1020469"/>
            <a:ext cx="1463985" cy="466892"/>
            <a:chOff x="227687" y="1393003"/>
            <a:chExt cx="1463985" cy="466892"/>
          </a:xfrm>
        </p:grpSpPr>
        <p:sp>
          <p:nvSpPr>
            <p:cNvPr id="22" name="직사각형 21"/>
            <p:cNvSpPr/>
            <p:nvPr/>
          </p:nvSpPr>
          <p:spPr>
            <a:xfrm>
              <a:off x="227687" y="1393003"/>
              <a:ext cx="1463985" cy="466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1393" y="1484348"/>
              <a:ext cx="1216573" cy="288000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b="1">
                  <a:solidFill>
                    <a:schemeClr val="tx1"/>
                  </a:solidFill>
                  <a:cs typeface="Arial" pitchFamily="34" charset="0"/>
                </a:rPr>
                <a:t>업무서버 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(FW)</a:t>
              </a:r>
              <a:endParaRPr lang="ko-KR" altLang="en-US" sz="9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6285148" y="2601556"/>
            <a:ext cx="811185" cy="494415"/>
            <a:chOff x="567575" y="2675254"/>
            <a:chExt cx="792736" cy="683358"/>
          </a:xfrm>
        </p:grpSpPr>
        <p:pic>
          <p:nvPicPr>
            <p:cNvPr id="25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632462" y="2933217"/>
              <a:ext cx="662963" cy="425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전문로그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(NJFK_JNXX)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7" name="직선 화살표 연결선 26"/>
          <p:cNvCxnSpPr>
            <a:stCxn id="22" idx="2"/>
            <a:endCxn id="25" idx="0"/>
          </p:cNvCxnSpPr>
          <p:nvPr/>
        </p:nvCxnSpPr>
        <p:spPr>
          <a:xfrm flipH="1">
            <a:off x="6690741" y="1487361"/>
            <a:ext cx="1094663" cy="1114195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2" idx="2"/>
            <a:endCxn id="36" idx="0"/>
          </p:cNvCxnSpPr>
          <p:nvPr/>
        </p:nvCxnSpPr>
        <p:spPr>
          <a:xfrm flipH="1">
            <a:off x="7568323" y="1487361"/>
            <a:ext cx="217081" cy="1123188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16" idx="1"/>
            <a:endCxn id="58" idx="3"/>
          </p:cNvCxnSpPr>
          <p:nvPr/>
        </p:nvCxnSpPr>
        <p:spPr>
          <a:xfrm rot="10800000" flipV="1">
            <a:off x="7905328" y="4418962"/>
            <a:ext cx="766966" cy="1330688"/>
          </a:xfrm>
          <a:prstGeom prst="bentConnector3">
            <a:avLst>
              <a:gd name="adj1" fmla="val 5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7162730" y="2610549"/>
            <a:ext cx="811185" cy="494415"/>
            <a:chOff x="567575" y="2675254"/>
            <a:chExt cx="792736" cy="683358"/>
          </a:xfrm>
        </p:grpSpPr>
        <p:pic>
          <p:nvPicPr>
            <p:cNvPr id="36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Box 39"/>
            <p:cNvSpPr txBox="1"/>
            <p:nvPr/>
          </p:nvSpPr>
          <p:spPr>
            <a:xfrm>
              <a:off x="628546" y="2933217"/>
              <a:ext cx="670795" cy="425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거래로그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(NJFK_TRXX)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8033114" y="2610549"/>
            <a:ext cx="811185" cy="494415"/>
            <a:chOff x="567575" y="2675254"/>
            <a:chExt cx="792736" cy="683358"/>
          </a:xfrm>
        </p:grpSpPr>
        <p:pic>
          <p:nvPicPr>
            <p:cNvPr id="42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624629" y="2933217"/>
              <a:ext cx="678628" cy="425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에러로그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(NJFK_ERXX)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44" name="직선 화살표 연결선 43"/>
          <p:cNvCxnSpPr>
            <a:stCxn id="22" idx="2"/>
            <a:endCxn id="42" idx="0"/>
          </p:cNvCxnSpPr>
          <p:nvPr/>
        </p:nvCxnSpPr>
        <p:spPr>
          <a:xfrm>
            <a:off x="7785404" y="1487361"/>
            <a:ext cx="653303" cy="1123188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4"/>
          <a:srcRect b="25936"/>
          <a:stretch/>
        </p:blipFill>
        <p:spPr>
          <a:xfrm>
            <a:off x="516702" y="4293096"/>
            <a:ext cx="7388626" cy="193111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6" name="그룹 65"/>
          <p:cNvGrpSpPr/>
          <p:nvPr/>
        </p:nvGrpSpPr>
        <p:grpSpPr>
          <a:xfrm>
            <a:off x="509293" y="2237257"/>
            <a:ext cx="4809710" cy="1767807"/>
            <a:chOff x="3836876" y="2012491"/>
            <a:chExt cx="4809710" cy="1767807"/>
          </a:xfrm>
        </p:grpSpPr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36876" y="2012491"/>
              <a:ext cx="4809709" cy="17678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모서리가 둥근 직사각형 18"/>
            <p:cNvSpPr/>
            <p:nvPr/>
          </p:nvSpPr>
          <p:spPr>
            <a:xfrm>
              <a:off x="7688957" y="2658553"/>
              <a:ext cx="900447" cy="183737"/>
            </a:xfrm>
            <a:prstGeom prst="roundRect">
              <a:avLst>
                <a:gd name="adj" fmla="val 7801"/>
              </a:avLst>
            </a:prstGeom>
            <a:noFill/>
            <a:ln w="19050" cap="flat">
              <a:solidFill>
                <a:schemeClr val="accent2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3852092" y="3519864"/>
              <a:ext cx="4794494" cy="133252"/>
            </a:xfrm>
            <a:prstGeom prst="roundRect">
              <a:avLst>
                <a:gd name="adj" fmla="val 7801"/>
              </a:avLst>
            </a:prstGeom>
            <a:noFill/>
            <a:ln w="19050" cap="flat">
              <a:solidFill>
                <a:schemeClr val="accent2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57" name="꺾인 연결선 56"/>
          <p:cNvCxnSpPr>
            <a:stCxn id="54" idx="2"/>
            <a:endCxn id="58" idx="0"/>
          </p:cNvCxnSpPr>
          <p:nvPr/>
        </p:nvCxnSpPr>
        <p:spPr>
          <a:xfrm rot="16200000" flipH="1">
            <a:off x="2836177" y="3963461"/>
            <a:ext cx="1495334" cy="1324176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모서리가 둥근 직사각형 57"/>
          <p:cNvSpPr/>
          <p:nvPr/>
        </p:nvSpPr>
        <p:spPr>
          <a:xfrm>
            <a:off x="586535" y="5373216"/>
            <a:ext cx="7318793" cy="752868"/>
          </a:xfrm>
          <a:prstGeom prst="roundRect">
            <a:avLst>
              <a:gd name="adj" fmla="val 7801"/>
            </a:avLst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5" name="모서리가 둥근 사각형 설명선 64"/>
          <p:cNvSpPr/>
          <p:nvPr/>
        </p:nvSpPr>
        <p:spPr>
          <a:xfrm>
            <a:off x="4556678" y="4598557"/>
            <a:ext cx="1481602" cy="354325"/>
          </a:xfrm>
          <a:prstGeom prst="wedgeRoundRectCallout">
            <a:avLst>
              <a:gd name="adj1" fmla="val -72592"/>
              <a:gd name="adj2" fmla="val -679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해당 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GUID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와 관련된 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모든 전문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/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거래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/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에러 로그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2046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거래</a:t>
            </a:r>
            <a:r>
              <a:rPr lang="en-US" altLang="ko-KR" dirty="0"/>
              <a:t> </a:t>
            </a:r>
            <a:r>
              <a:rPr lang="ko-KR" altLang="en-US"/>
              <a:t>에러 로그 </a:t>
            </a:r>
            <a:r>
              <a:rPr lang="en-US" altLang="ko-KR"/>
              <a:t>&gt; </a:t>
            </a:r>
            <a:r>
              <a:rPr lang="ko-KR" altLang="en-US"/>
              <a:t>에러시 </a:t>
            </a:r>
            <a:r>
              <a:rPr lang="en-US" altLang="ko-KR"/>
              <a:t>SMS </a:t>
            </a:r>
            <a:r>
              <a:rPr lang="ko-KR" altLang="en-US"/>
              <a:t>통지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Exception Event Handler</a:t>
            </a:r>
            <a:r>
              <a:rPr lang="ko-KR" altLang="en-US"/>
              <a:t>를 통한 </a:t>
            </a:r>
            <a:r>
              <a:rPr lang="en-US" altLang="ko-KR"/>
              <a:t>SMS </a:t>
            </a:r>
            <a:r>
              <a:rPr lang="ko-KR" altLang="en-US"/>
              <a:t>통지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7.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에러 처리 방안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8590796" y="4029127"/>
            <a:ext cx="718688" cy="663318"/>
            <a:chOff x="452500" y="2168860"/>
            <a:chExt cx="718688" cy="663318"/>
          </a:xfrm>
        </p:grpSpPr>
        <p:pic>
          <p:nvPicPr>
            <p:cNvPr id="16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7398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452500" y="2652946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담당자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266667" y="3609020"/>
            <a:ext cx="1463985" cy="466892"/>
            <a:chOff x="227687" y="1393003"/>
            <a:chExt cx="1463985" cy="466892"/>
          </a:xfrm>
        </p:grpSpPr>
        <p:sp>
          <p:nvSpPr>
            <p:cNvPr id="22" name="직사각형 21"/>
            <p:cNvSpPr/>
            <p:nvPr/>
          </p:nvSpPr>
          <p:spPr>
            <a:xfrm>
              <a:off x="227687" y="1393003"/>
              <a:ext cx="1463985" cy="466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1393" y="1484348"/>
              <a:ext cx="1216573" cy="288000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b="1">
                  <a:solidFill>
                    <a:schemeClr val="tx1"/>
                  </a:solidFill>
                  <a:cs typeface="Arial" pitchFamily="34" charset="0"/>
                </a:rPr>
                <a:t>업무서버 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(FW)</a:t>
              </a:r>
              <a:endParaRPr lang="ko-KR" altLang="en-US" sz="9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2053817" y="2508179"/>
            <a:ext cx="963726" cy="494420"/>
            <a:chOff x="493042" y="2675254"/>
            <a:chExt cx="941808" cy="683366"/>
          </a:xfrm>
        </p:grpSpPr>
        <p:pic>
          <p:nvPicPr>
            <p:cNvPr id="25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493042" y="2933224"/>
              <a:ext cx="941808" cy="425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이벤트로그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(NJFC_EVENT_LOG)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7" name="직선 화살표 연결선 26"/>
          <p:cNvCxnSpPr>
            <a:stCxn id="22" idx="3"/>
            <a:endCxn id="26" idx="2"/>
          </p:cNvCxnSpPr>
          <p:nvPr/>
        </p:nvCxnSpPr>
        <p:spPr>
          <a:xfrm flipV="1">
            <a:off x="1730652" y="3002599"/>
            <a:ext cx="805028" cy="839867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46" idx="3"/>
            <a:endCxn id="17" idx="1"/>
          </p:cNvCxnSpPr>
          <p:nvPr/>
        </p:nvCxnSpPr>
        <p:spPr>
          <a:xfrm>
            <a:off x="7785785" y="4600979"/>
            <a:ext cx="805011" cy="1850"/>
          </a:xfrm>
          <a:prstGeom prst="bentConnector3">
            <a:avLst>
              <a:gd name="adj1" fmla="val 5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38" idx="2"/>
            <a:endCxn id="46" idx="1"/>
          </p:cNvCxnSpPr>
          <p:nvPr/>
        </p:nvCxnSpPr>
        <p:spPr>
          <a:xfrm rot="16200000" flipH="1">
            <a:off x="5983572" y="3316555"/>
            <a:ext cx="493630" cy="2075217"/>
          </a:xfrm>
          <a:prstGeom prst="bentConnector2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모서리가 둥근 직사각형 57"/>
          <p:cNvSpPr/>
          <p:nvPr/>
        </p:nvSpPr>
        <p:spPr>
          <a:xfrm>
            <a:off x="3499407" y="1448780"/>
            <a:ext cx="6134114" cy="1579843"/>
          </a:xfrm>
          <a:prstGeom prst="roundRect">
            <a:avLst>
              <a:gd name="adj" fmla="val 7801"/>
            </a:avLst>
          </a:prstGeom>
          <a:noFill/>
          <a:ln w="19050" cap="flat">
            <a:solidFill>
              <a:schemeClr val="accent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조건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이벤트로그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에러로그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X),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컴포넌트 배포오류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무한루프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----------------------------------------------------------------------------------------------</a:t>
            </a:r>
          </a:p>
          <a:p>
            <a:pPr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EVENT_GROUP IN ('1','2','3','4','5')</a:t>
            </a:r>
          </a:p>
          <a:p>
            <a:pPr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OR</a:t>
            </a:r>
          </a:p>
          <a:p>
            <a:pPr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EVENT_GROUP = 'COMPONENT_LOAD' AND EVENT_ID IN ('UPDATED_FAIL','REMOVED_FAIL','ADDED_FAIL')</a:t>
            </a:r>
          </a:p>
          <a:p>
            <a:pPr>
              <a:spcBef>
                <a:spcPts val="600"/>
              </a:spcBef>
            </a:pP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5" name="모서리가 둥근 사각형 설명선 64"/>
          <p:cNvSpPr/>
          <p:nvPr/>
        </p:nvSpPr>
        <p:spPr>
          <a:xfrm>
            <a:off x="3556967" y="2631526"/>
            <a:ext cx="984359" cy="354325"/>
          </a:xfrm>
          <a:prstGeom prst="wedgeRoundRectCallout">
            <a:avLst>
              <a:gd name="adj1" fmla="val -62984"/>
              <a:gd name="adj2" fmla="val 161793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이벤트로그 조회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4280430" y="3539707"/>
            <a:ext cx="1824698" cy="567642"/>
            <a:chOff x="3260812" y="3113386"/>
            <a:chExt cx="1824698" cy="567642"/>
          </a:xfrm>
        </p:grpSpPr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3260812" y="3113386"/>
              <a:ext cx="1824698" cy="567642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ysClr val="windowText" lastClr="000000">
                  <a:lumMod val="85000"/>
                  <a:lumOff val="15000"/>
                </a:sysClr>
              </a:solidFill>
              <a:miter lim="800000"/>
              <a:headEnd/>
              <a:tailEnd/>
            </a:ln>
          </p:spPr>
          <p:txBody>
            <a:bodyPr lIns="36000" tIns="18000" rIns="18000" bIns="18000"/>
            <a:lstStyle/>
            <a:p>
              <a:pPr algn="ctr" defTabSz="1905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tabLst>
                  <a:tab pos="1238250" algn="l"/>
                </a:tabLst>
                <a:defRPr/>
              </a:pPr>
              <a:endParaRPr kumimoji="0" lang="en-US" altLang="ko-KR" sz="900" kern="0" dirty="0">
                <a:latin typeface="+mn-ea"/>
              </a:endParaRPr>
            </a:p>
            <a:p>
              <a:pPr algn="ctr" defTabSz="1905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tabLst>
                  <a:tab pos="1238250" algn="l"/>
                </a:tabLst>
                <a:defRPr/>
              </a:pPr>
              <a:endParaRPr kumimoji="0" lang="en-US" altLang="ko-KR" sz="900" kern="0" dirty="0">
                <a:latin typeface="+mn-ea"/>
              </a:endParaRPr>
            </a:p>
            <a:p>
              <a:pPr algn="ctr" defTabSz="190500">
                <a:tabLst>
                  <a:tab pos="1238250" algn="l"/>
                </a:tabLst>
                <a:defRPr/>
              </a:pPr>
              <a:r>
                <a:rPr lang="ko-KR" altLang="en-US" sz="900" kern="0">
                  <a:latin typeface="+mn-ea"/>
                </a:rPr>
                <a:t>이벤트 통지 </a:t>
              </a:r>
              <a:r>
                <a:rPr lang="en-US" altLang="ko-KR" sz="900" kern="0">
                  <a:latin typeface="+mn-ea"/>
                </a:rPr>
                <a:t>SMS </a:t>
              </a:r>
              <a:r>
                <a:rPr lang="ko-KR" altLang="en-US" sz="900" kern="0">
                  <a:latin typeface="+mn-ea"/>
                </a:rPr>
                <a:t>전송배치</a:t>
              </a:r>
              <a:endParaRPr lang="en-US" altLang="ko-KR" sz="900" kern="0">
                <a:latin typeface="+mn-ea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66014" y="3118147"/>
              <a:ext cx="1819495" cy="206375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</p:spPr>
          <p:txBody>
            <a:bodyPr lIns="18000" tIns="18000" rIns="18000" bIns="18000"/>
            <a:lstStyle/>
            <a:p>
              <a:pPr algn="ctr">
                <a:defRPr/>
              </a:pPr>
              <a:r>
                <a:rPr lang="ko-KR" altLang="en-US" sz="1000" kern="0">
                  <a:solidFill>
                    <a:sysClr val="window" lastClr="FFFFFF"/>
                  </a:solidFill>
                  <a:latin typeface="+mn-ea"/>
                </a:rPr>
                <a:t>배치</a:t>
              </a:r>
              <a:r>
                <a:rPr lang="en-US" altLang="ko-KR" sz="1000" kern="0">
                  <a:solidFill>
                    <a:sysClr val="window" lastClr="FFFFFF"/>
                  </a:solidFill>
                  <a:latin typeface="+mn-ea"/>
                </a:rPr>
                <a:t>: msqcsma1</a:t>
              </a:r>
              <a:endParaRPr kumimoji="0" lang="ko-KR" altLang="en-US" sz="1000" kern="0" dirty="0">
                <a:solidFill>
                  <a:sysClr val="window" lastClr="FFFFFF"/>
                </a:solidFill>
                <a:latin typeface="+mn-ea"/>
              </a:endParaRPr>
            </a:p>
          </p:txBody>
        </p:sp>
      </p:grpSp>
      <p:cxnSp>
        <p:nvCxnSpPr>
          <p:cNvPr id="45" name="직선 화살표 연결선 44"/>
          <p:cNvCxnSpPr>
            <a:stCxn id="38" idx="1"/>
            <a:endCxn id="26" idx="2"/>
          </p:cNvCxnSpPr>
          <p:nvPr/>
        </p:nvCxnSpPr>
        <p:spPr>
          <a:xfrm flipH="1" flipV="1">
            <a:off x="2535680" y="3002599"/>
            <a:ext cx="1744750" cy="820929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7185666" y="4210229"/>
            <a:ext cx="755666" cy="957379"/>
            <a:chOff x="6386903" y="3637462"/>
            <a:chExt cx="755666" cy="957379"/>
          </a:xfrm>
        </p:grpSpPr>
        <p:pic>
          <p:nvPicPr>
            <p:cNvPr id="46" name="Picture 55" descr="C:\Users\강세환\Desktop\새 폴더\9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233" y="3637462"/>
              <a:ext cx="517789" cy="78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" name="직사각형 106"/>
            <p:cNvSpPr>
              <a:spLocks noChangeArrowheads="1"/>
            </p:cNvSpPr>
            <p:nvPr/>
          </p:nvSpPr>
          <p:spPr bwMode="auto">
            <a:xfrm>
              <a:off x="6386903" y="4391439"/>
              <a:ext cx="755666" cy="203402"/>
            </a:xfrm>
            <a:prstGeom prst="rect">
              <a:avLst/>
            </a:prstGeom>
            <a:noFill/>
            <a:ln w="3175" cmpd="sng">
              <a:noFill/>
              <a:prstDash val="solid"/>
              <a:round/>
              <a:headEnd type="none" w="sm" len="med"/>
              <a:tailEnd type="stealth" w="med" len="med"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 indent="-101600"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140000"/>
                <a:defRPr/>
              </a:pP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</a:rPr>
                <a:t>ITSM </a:t>
              </a:r>
              <a:r>
                <a:rPr lang="ko-KR" altLang="en-US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</a:rPr>
                <a:t>중계</a:t>
              </a:r>
              <a:endPara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endParaRPr>
            </a:p>
          </p:txBody>
        </p:sp>
      </p:grpSp>
      <p:sp>
        <p:nvSpPr>
          <p:cNvPr id="52" name="모서리가 둥근 사각형 설명선 51"/>
          <p:cNvSpPr/>
          <p:nvPr/>
        </p:nvSpPr>
        <p:spPr>
          <a:xfrm>
            <a:off x="6031556" y="4767113"/>
            <a:ext cx="1009676" cy="354325"/>
          </a:xfrm>
          <a:prstGeom prst="wedgeRoundRectCallout">
            <a:avLst>
              <a:gd name="adj1" fmla="val 41437"/>
              <a:gd name="adj2" fmla="val -105107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SMS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발송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2124606" y="4698776"/>
            <a:ext cx="811185" cy="494420"/>
            <a:chOff x="567575" y="2675254"/>
            <a:chExt cx="792736" cy="683366"/>
          </a:xfrm>
        </p:grpSpPr>
        <p:pic>
          <p:nvPicPr>
            <p:cNvPr id="56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75" y="2675254"/>
              <a:ext cx="792736" cy="660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TextBox 58"/>
            <p:cNvSpPr txBox="1"/>
            <p:nvPr/>
          </p:nvSpPr>
          <p:spPr>
            <a:xfrm>
              <a:off x="616017" y="2933224"/>
              <a:ext cx="695860" cy="425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SMS 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발송내역</a:t>
              </a:r>
              <a:endPara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(NJFK_SM01)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60" name="직선 화살표 연결선 59"/>
          <p:cNvCxnSpPr>
            <a:stCxn id="38" idx="1"/>
            <a:endCxn id="56" idx="3"/>
          </p:cNvCxnSpPr>
          <p:nvPr/>
        </p:nvCxnSpPr>
        <p:spPr>
          <a:xfrm flipH="1">
            <a:off x="2935791" y="3823528"/>
            <a:ext cx="1344639" cy="1114084"/>
          </a:xfrm>
          <a:prstGeom prst="straightConnector1">
            <a:avLst/>
          </a:prstGeom>
          <a:ln w="6350" cap="flat">
            <a:solidFill>
              <a:schemeClr val="tx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모서리가 둥근 사각형 설명선 60"/>
          <p:cNvSpPr/>
          <p:nvPr/>
        </p:nvSpPr>
        <p:spPr>
          <a:xfrm>
            <a:off x="3892654" y="4390629"/>
            <a:ext cx="1009676" cy="354325"/>
          </a:xfrm>
          <a:prstGeom prst="wedgeRoundRectCallout">
            <a:avLst>
              <a:gd name="adj1" fmla="val -42616"/>
              <a:gd name="adj2" fmla="val -12968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SMS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발송후 기록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7" name="모서리가 둥근 사각형 설명선 66"/>
          <p:cNvSpPr/>
          <p:nvPr/>
        </p:nvSpPr>
        <p:spPr>
          <a:xfrm>
            <a:off x="1964954" y="3802223"/>
            <a:ext cx="1009676" cy="354325"/>
          </a:xfrm>
          <a:prstGeom prst="wedgeRoundRectCallout">
            <a:avLst>
              <a:gd name="adj1" fmla="val -42616"/>
              <a:gd name="adj2" fmla="val -12968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주요 이벤트기록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1925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전행 공통 에러 메시지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7.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에러 처리 방안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44488" y="1562782"/>
            <a:ext cx="1075815" cy="308305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337127" y="1557479"/>
            <a:ext cx="908777" cy="2988484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MCI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14797" y="1577395"/>
            <a:ext cx="1254228" cy="30684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업무 시스템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23611" y="1880828"/>
            <a:ext cx="1156581" cy="276712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bg1"/>
                </a:solidFill>
                <a:cs typeface="Arial" pitchFamily="34" charset="0"/>
              </a:rPr>
              <a:t>채널 표준 전문</a:t>
            </a:r>
          </a:p>
        </p:txBody>
      </p:sp>
      <p:sp>
        <p:nvSpPr>
          <p:cNvPr id="11" name="원통 10"/>
          <p:cNvSpPr/>
          <p:nvPr/>
        </p:nvSpPr>
        <p:spPr>
          <a:xfrm>
            <a:off x="380492" y="4725144"/>
            <a:ext cx="4847912" cy="873974"/>
          </a:xfrm>
          <a:prstGeom prst="can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accent6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1200" b="1" dirty="0">
                <a:solidFill>
                  <a:schemeClr val="tx1"/>
                </a:solidFill>
                <a:cs typeface="Arial" pitchFamily="34" charset="0"/>
              </a:rPr>
              <a:t>에러코드정보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515827" y="1880828"/>
            <a:ext cx="1156581" cy="276712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cs typeface="Arial" pitchFamily="34" charset="0"/>
              </a:rPr>
              <a:t>내부 표준 전문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970976" y="2229547"/>
            <a:ext cx="1061851" cy="13445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채널 공통 헤더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564114" y="2218228"/>
            <a:ext cx="1068163" cy="2993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헤더 부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564114" y="2576237"/>
            <a:ext cx="1068163" cy="102847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공통 부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564114" y="3678475"/>
            <a:ext cx="1068163" cy="8732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데이터 부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23611" y="2155167"/>
            <a:ext cx="1156581" cy="2026313"/>
          </a:xfrm>
          <a:prstGeom prst="rect">
            <a:avLst/>
          </a:prstGeom>
          <a:noFill/>
          <a:ln w="6350" cap="flat">
            <a:solidFill>
              <a:schemeClr val="accent6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515827" y="2155167"/>
            <a:ext cx="1156581" cy="2461715"/>
          </a:xfrm>
          <a:prstGeom prst="rect">
            <a:avLst/>
          </a:prstGeom>
          <a:noFill/>
          <a:ln w="6350" cap="flat">
            <a:solidFill>
              <a:schemeClr val="accent6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오른쪽 화살표 18"/>
          <p:cNvSpPr/>
          <p:nvPr/>
        </p:nvSpPr>
        <p:spPr>
          <a:xfrm rot="10800000">
            <a:off x="2068620" y="2655195"/>
            <a:ext cx="1445792" cy="288236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663787" y="3049737"/>
            <a:ext cx="921396" cy="2029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>
                <a:solidFill>
                  <a:srgbClr val="FF0000"/>
                </a:solidFill>
                <a:cs typeface="Arial" pitchFamily="34" charset="0"/>
              </a:rPr>
              <a:t>채널구분코드</a:t>
            </a:r>
            <a:endParaRPr lang="en-US" altLang="ko-KR" sz="8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3654957" y="4103620"/>
            <a:ext cx="792000" cy="1557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조치코드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654957" y="3903617"/>
            <a:ext cx="792000" cy="15515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에러코드</a:t>
            </a:r>
            <a:endParaRPr lang="en-US" altLang="ko-KR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3654957" y="4292483"/>
            <a:ext cx="792000" cy="16113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맞춤메시지</a:t>
            </a:r>
            <a:endParaRPr lang="en-US" altLang="ko-KR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94419" y="5158357"/>
            <a:ext cx="1474605" cy="215696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b="1" dirty="0" err="1">
                <a:solidFill>
                  <a:schemeClr val="bg1"/>
                </a:solidFill>
                <a:cs typeface="Arial" pitchFamily="34" charset="0"/>
              </a:rPr>
              <a:t>출력내용</a:t>
            </a:r>
            <a:endParaRPr lang="ko-KR" altLang="en-US" sz="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041037" y="5160577"/>
            <a:ext cx="876360" cy="213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b="1" dirty="0">
                <a:solidFill>
                  <a:srgbClr val="FF0000"/>
                </a:solidFill>
                <a:latin typeface="Book Antiqua" panose="02040602050305030304" pitchFamily="18" charset="0"/>
                <a:cs typeface="Arial" pitchFamily="34" charset="0"/>
              </a:rPr>
              <a:t>메시지채널구분코드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2560878" y="2139890"/>
            <a:ext cx="463313" cy="548371"/>
            <a:chOff x="2644790" y="2167982"/>
            <a:chExt cx="463313" cy="548371"/>
          </a:xfrm>
        </p:grpSpPr>
        <p:sp>
          <p:nvSpPr>
            <p:cNvPr id="27" name="직사각형 26"/>
            <p:cNvSpPr/>
            <p:nvPr/>
          </p:nvSpPr>
          <p:spPr>
            <a:xfrm>
              <a:off x="2644790" y="2167982"/>
              <a:ext cx="463313" cy="3960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680831" y="219922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968851" y="219922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680831" y="242788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968851" y="242788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cxnSp>
          <p:nvCxnSpPr>
            <p:cNvPr id="32" name="직선 연결선 31"/>
            <p:cNvCxnSpPr>
              <a:stCxn id="28" idx="3"/>
              <a:endCxn id="31" idx="1"/>
            </p:cNvCxnSpPr>
            <p:nvPr/>
          </p:nvCxnSpPr>
          <p:spPr>
            <a:xfrm>
              <a:off x="2788831" y="225322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>
              <a:stCxn id="29" idx="1"/>
              <a:endCxn id="30" idx="3"/>
            </p:cNvCxnSpPr>
            <p:nvPr/>
          </p:nvCxnSpPr>
          <p:spPr>
            <a:xfrm flipH="1">
              <a:off x="2788831" y="225322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644790" y="2600030"/>
              <a:ext cx="463313" cy="116323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800" dirty="0">
                  <a:cs typeface="Arial" pitchFamily="34" charset="0"/>
                </a:rPr>
                <a:t>변환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매핑</a:t>
              </a:r>
            </a:p>
          </p:txBody>
        </p:sp>
      </p:grpSp>
      <p:sp>
        <p:nvSpPr>
          <p:cNvPr id="35" name="직사각형 34"/>
          <p:cNvSpPr/>
          <p:nvPr/>
        </p:nvSpPr>
        <p:spPr>
          <a:xfrm>
            <a:off x="2941167" y="5160577"/>
            <a:ext cx="727191" cy="213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b="1" dirty="0">
                <a:solidFill>
                  <a:schemeClr val="tx1"/>
                </a:solidFill>
                <a:latin typeface="Book Antiqua" panose="02040602050305030304" pitchFamily="18" charset="0"/>
                <a:cs typeface="Arial" pitchFamily="34" charset="0"/>
              </a:rPr>
              <a:t>에러메시지코드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352600" y="5157192"/>
            <a:ext cx="662374" cy="2168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b="1" dirty="0">
                <a:solidFill>
                  <a:srgbClr val="FF0000"/>
                </a:solidFill>
                <a:latin typeface="Book Antiqua" panose="02040602050305030304" pitchFamily="18" charset="0"/>
                <a:cs typeface="Arial" pitchFamily="34" charset="0"/>
              </a:rPr>
              <a:t>언어구분코드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3668357" y="2789713"/>
            <a:ext cx="916825" cy="2249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>
                <a:solidFill>
                  <a:srgbClr val="FF0000"/>
                </a:solidFill>
                <a:cs typeface="Arial" pitchFamily="34" charset="0"/>
              </a:rPr>
              <a:t>언어구분코드</a:t>
            </a:r>
            <a:endParaRPr lang="en-US" altLang="ko-KR" sz="8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1067827" y="2453037"/>
            <a:ext cx="868207" cy="21217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>
                <a:solidFill>
                  <a:schemeClr val="tx1"/>
                </a:solidFill>
                <a:cs typeface="Arial" pitchFamily="34" charset="0"/>
              </a:rPr>
              <a:t>채널구분코드</a:t>
            </a:r>
            <a:endParaRPr lang="en-US" altLang="ko-KR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9" name="오른쪽 화살표 38"/>
          <p:cNvSpPr/>
          <p:nvPr/>
        </p:nvSpPr>
        <p:spPr>
          <a:xfrm rot="16200000">
            <a:off x="2665895" y="4414461"/>
            <a:ext cx="244934" cy="578269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0" name="꺾인 연결선 39"/>
          <p:cNvCxnSpPr>
            <a:stCxn id="20" idx="1"/>
            <a:endCxn id="25" idx="0"/>
          </p:cNvCxnSpPr>
          <p:nvPr/>
        </p:nvCxnSpPr>
        <p:spPr>
          <a:xfrm rot="10800000" flipV="1">
            <a:off x="2479217" y="3151187"/>
            <a:ext cx="1184570" cy="2009389"/>
          </a:xfrm>
          <a:prstGeom prst="bentConnector2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7" idx="1"/>
            <a:endCxn id="36" idx="0"/>
          </p:cNvCxnSpPr>
          <p:nvPr/>
        </p:nvCxnSpPr>
        <p:spPr>
          <a:xfrm rot="10800000" flipV="1">
            <a:off x="1683787" y="2902190"/>
            <a:ext cx="1984570" cy="2255002"/>
          </a:xfrm>
          <a:prstGeom prst="bentConnector2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22" idx="1"/>
            <a:endCxn id="35" idx="0"/>
          </p:cNvCxnSpPr>
          <p:nvPr/>
        </p:nvCxnSpPr>
        <p:spPr>
          <a:xfrm rot="10800000" flipV="1">
            <a:off x="3304763" y="3981193"/>
            <a:ext cx="350194" cy="1179383"/>
          </a:xfrm>
          <a:prstGeom prst="bentConnector2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21" idx="3"/>
            <a:endCxn id="35" idx="2"/>
          </p:cNvCxnSpPr>
          <p:nvPr/>
        </p:nvCxnSpPr>
        <p:spPr>
          <a:xfrm flipH="1">
            <a:off x="3304763" y="4181480"/>
            <a:ext cx="1142194" cy="1192573"/>
          </a:xfrm>
          <a:prstGeom prst="bentConnector4">
            <a:avLst>
              <a:gd name="adj1" fmla="val -76053"/>
              <a:gd name="adj2" fmla="val 119169"/>
            </a:avLst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966262" y="3615753"/>
            <a:ext cx="1061851" cy="5021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accent6"/>
            </a:solidFill>
            <a:miter lim="800000"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채널 개별</a:t>
            </a:r>
          </a:p>
        </p:txBody>
      </p:sp>
      <p:sp>
        <p:nvSpPr>
          <p:cNvPr id="45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0473" y="728700"/>
            <a:ext cx="9505055" cy="634010"/>
          </a:xfrm>
          <a:prstGeom prst="rect">
            <a:avLst/>
          </a:prstGeom>
        </p:spPr>
        <p:txBody>
          <a:bodyPr lIns="91429" tIns="45715" rIns="91429" bIns="45715"/>
          <a:lstStyle/>
          <a:p>
            <a:pPr latinLnBrk="0">
              <a:lnSpc>
                <a:spcPct val="110000"/>
              </a:lnSpc>
            </a:pPr>
            <a:r>
              <a:rPr lang="en-US" altLang="ko-KR" dirty="0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MCI</a:t>
            </a:r>
            <a:r>
              <a:rPr lang="ko-KR" altLang="en-US" dirty="0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는 내부 표준 전문의 채널구분코드</a:t>
            </a:r>
            <a:r>
              <a:rPr lang="en-US" altLang="ko-KR" dirty="0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/</a:t>
            </a:r>
            <a:r>
              <a:rPr lang="ko-KR" altLang="en-US" dirty="0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언어구분코드에 </a:t>
            </a:r>
            <a:r>
              <a:rPr kumimoji="0" lang="ko-KR" altLang="en-US" dirty="0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해당하는 에러 메시지를 채널 표준 </a:t>
            </a:r>
            <a:r>
              <a:rPr kumimoji="0" lang="ko-KR" altLang="en-US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전문에 매핑 </a:t>
            </a:r>
            <a:r>
              <a:rPr lang="ko-KR" altLang="en-US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전행 공통은 표준 </a:t>
            </a:r>
            <a:r>
              <a:rPr lang="ko-KR" altLang="en-US" dirty="0"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전문의 에러 메시지 정보 관리 </a:t>
            </a:r>
          </a:p>
        </p:txBody>
      </p:sp>
      <p:sp>
        <p:nvSpPr>
          <p:cNvPr id="46" name="AutoShape 241"/>
          <p:cNvSpPr>
            <a:spLocks noChangeArrowheads="1"/>
          </p:cNvSpPr>
          <p:nvPr/>
        </p:nvSpPr>
        <p:spPr bwMode="auto">
          <a:xfrm>
            <a:off x="1995535" y="5913276"/>
            <a:ext cx="1585654" cy="539809"/>
          </a:xfrm>
          <a:prstGeom prst="flowChartDocument">
            <a:avLst/>
          </a:prstGeom>
          <a:solidFill>
            <a:schemeClr val="bg1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100" b="0" dirty="0">
                <a:latin typeface="+mn-ea"/>
                <a:ea typeface="+mn-ea"/>
              </a:rPr>
              <a:t>전행 공통 채널표준전문</a:t>
            </a:r>
            <a:endParaRPr lang="en-US" altLang="ko-KR" sz="11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100" b="0" dirty="0">
                <a:latin typeface="+mn-ea"/>
                <a:ea typeface="+mn-ea"/>
              </a:rPr>
              <a:t>에러메시지 정보</a:t>
            </a:r>
            <a:endParaRPr lang="en-US" altLang="ko-KR" sz="1100" b="0" dirty="0">
              <a:latin typeface="+mn-ea"/>
              <a:ea typeface="+mn-ea"/>
            </a:endParaRPr>
          </a:p>
        </p:txBody>
      </p:sp>
      <p:sp>
        <p:nvSpPr>
          <p:cNvPr id="47" name="오른쪽 화살표 46"/>
          <p:cNvSpPr/>
          <p:nvPr/>
        </p:nvSpPr>
        <p:spPr>
          <a:xfrm rot="16200000">
            <a:off x="2669190" y="5465670"/>
            <a:ext cx="244934" cy="578269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1096738" y="3830226"/>
            <a:ext cx="873356" cy="21251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맞춤메시지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065223" y="3222908"/>
            <a:ext cx="873356" cy="21251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MCI</a:t>
            </a: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에러메세지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graphicFrame>
        <p:nvGraphicFramePr>
          <p:cNvPr id="50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706421"/>
              </p:ext>
            </p:extLst>
          </p:nvPr>
        </p:nvGraphicFramePr>
        <p:xfrm>
          <a:off x="5547899" y="1448780"/>
          <a:ext cx="4013613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76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레이어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처리 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1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업무시스템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업무프로그램은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에러코드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조치코드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맞춤메시지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에러 처리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프레임워크는 전달받은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에러정보를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내부전문으로 조립 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전송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44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는 수신 전문의 에러 정보를 기준으로 출력 내용 참조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채널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언어구분코드와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에러코드로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출력내용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참조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내부표준전문 출력전문에 조치코드를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채널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언어구분코드와 조치코드로 </a:t>
                      </a:r>
                      <a:r>
                        <a:rPr lang="ko-KR" altLang="en-US" sz="1100" kern="1200" baseline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출력내용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참조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이때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조치코드가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에러테이블에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에러코드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키로 매핑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맞춤 메시지는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Bypass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6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채널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에러메시지와 맞춤메시지를 화면에 표시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85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언어별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채널별 에러코드 정보 관리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856444"/>
                  </a:ext>
                </a:extLst>
              </a:tr>
            </a:tbl>
          </a:graphicData>
        </a:graphic>
      </p:graphicFrame>
      <p:sp>
        <p:nvSpPr>
          <p:cNvPr id="51" name="모서리가 둥근 직사각형 50"/>
          <p:cNvSpPr/>
          <p:nvPr/>
        </p:nvSpPr>
        <p:spPr>
          <a:xfrm>
            <a:off x="200473" y="1448780"/>
            <a:ext cx="5256583" cy="5112567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3666280" y="3302213"/>
            <a:ext cx="911708" cy="2029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>
                <a:solidFill>
                  <a:srgbClr val="FF0000"/>
                </a:solidFill>
                <a:cs typeface="Arial" pitchFamily="34" charset="0"/>
              </a:rPr>
              <a:t>채널세부업무코드</a:t>
            </a:r>
            <a:endParaRPr lang="en-US" altLang="ko-KR" sz="8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1068324" y="2708361"/>
            <a:ext cx="870255" cy="21140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800" dirty="0">
                <a:solidFill>
                  <a:schemeClr val="tx1"/>
                </a:solidFill>
                <a:cs typeface="Arial" pitchFamily="34" charset="0"/>
              </a:rPr>
              <a:t>언어지원코드</a:t>
            </a:r>
            <a:endParaRPr lang="en-US" altLang="ko-KR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071119" y="2963560"/>
            <a:ext cx="867460" cy="2155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800" dirty="0">
                <a:solidFill>
                  <a:schemeClr val="tx1"/>
                </a:solidFill>
                <a:cs typeface="Arial" pitchFamily="34" charset="0"/>
              </a:rPr>
              <a:t>MCI</a:t>
            </a:r>
            <a:r>
              <a:rPr lang="ko-KR" altLang="en-US" sz="800" dirty="0" err="1">
                <a:solidFill>
                  <a:schemeClr val="tx1"/>
                </a:solidFill>
                <a:cs typeface="Arial" pitchFamily="34" charset="0"/>
              </a:rPr>
              <a:t>에러코드</a:t>
            </a:r>
            <a:endParaRPr lang="en-US" altLang="ko-KR" sz="8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214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캐시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8.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캐시 관리</a:t>
            </a: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ko-KR"/>
              <a:t>환경 설정 정보</a:t>
            </a:r>
            <a:r>
              <a:rPr lang="en-US" altLang="ko-KR"/>
              <a:t>, </a:t>
            </a:r>
            <a:r>
              <a:rPr lang="ko-KR" altLang="ko-KR"/>
              <a:t>코드성 데이터 등 어플리케이션 공통적으로 액세스가 빈번한 데이터의 경우 프레임워크의 캐시 기능을 활용</a:t>
            </a:r>
            <a:r>
              <a:rPr lang="en-US" altLang="ko-KR"/>
              <a:t> </a:t>
            </a:r>
            <a:r>
              <a:rPr lang="ko-KR" altLang="en-US"/>
              <a:t>함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99963"/>
              </p:ext>
            </p:extLst>
          </p:nvPr>
        </p:nvGraphicFramePr>
        <p:xfrm>
          <a:off x="5562876" y="1325529"/>
          <a:ext cx="4013613" cy="3471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265">
                  <a:extLst>
                    <a:ext uri="{9D8B030D-6E8A-4147-A177-3AD203B41FA5}">
                      <a16:colId xmlns:a16="http://schemas.microsoft.com/office/drawing/2014/main" val="3559116611"/>
                    </a:ext>
                  </a:extLst>
                </a:gridCol>
                <a:gridCol w="3132348">
                  <a:extLst>
                    <a:ext uri="{9D8B030D-6E8A-4147-A177-3AD203B41FA5}">
                      <a16:colId xmlns:a16="http://schemas.microsoft.com/office/drawing/2014/main" val="1656382754"/>
                    </a:ext>
                  </a:extLst>
                </a:gridCol>
              </a:tblGrid>
              <a:tr h="36543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주요</a:t>
                      </a:r>
                      <a:r>
                        <a:rPr lang="ko-KR" altLang="en-US" sz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Cache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894027"/>
                  </a:ext>
                </a:extLst>
              </a:tr>
              <a:tr h="3670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서비스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통제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서비스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통제성 정보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120424"/>
                  </a:ext>
                </a:extLst>
              </a:tr>
              <a:tr h="367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노드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WAS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기동시 노드를 관리하기 위한 정보 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72107"/>
                  </a:ext>
                </a:extLst>
              </a:tr>
              <a:tr h="30148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메시지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에러메시지 정보를 재사용하기 위한 정보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94359"/>
                  </a:ext>
                </a:extLst>
              </a:tr>
              <a:tr h="3670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서비스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프로파일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거래 프로파일 캐시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2632"/>
                  </a:ext>
                </a:extLst>
              </a:tr>
              <a:tr h="3149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로그레벨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로그레벨 정보 관리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026413"/>
                  </a:ext>
                </a:extLst>
              </a:tr>
              <a:tr h="3149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환경설정 정보 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504471"/>
                  </a:ext>
                </a:extLst>
              </a:tr>
              <a:tr h="3670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서비스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후처리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선후처리 제어관리 정보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046129"/>
                  </a:ext>
                </a:extLst>
              </a:tr>
              <a:tr h="21934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사용 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Cache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altLang="ko-KR" sz="11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프로그램에서 공통성 데이터이면서 액세스가 빈번한 데이터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(F/W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팀과 협의 후 사용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78165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454611" y="2087827"/>
            <a:ext cx="1463985" cy="466892"/>
            <a:chOff x="227687" y="1393003"/>
            <a:chExt cx="1463985" cy="466892"/>
          </a:xfrm>
        </p:grpSpPr>
        <p:sp>
          <p:nvSpPr>
            <p:cNvPr id="12" name="직사각형 11"/>
            <p:cNvSpPr/>
            <p:nvPr/>
          </p:nvSpPr>
          <p:spPr>
            <a:xfrm>
              <a:off x="227687" y="1393003"/>
              <a:ext cx="1463985" cy="466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51393" y="1484348"/>
              <a:ext cx="1216573" cy="288000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b="1">
                  <a:solidFill>
                    <a:schemeClr val="tx1"/>
                  </a:solidFill>
                  <a:cs typeface="Arial" pitchFamily="34" charset="0"/>
                </a:rPr>
                <a:t>업무서버 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(FW)</a:t>
              </a:r>
              <a:endParaRPr lang="ko-KR" altLang="en-US" sz="9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14" name="직선 화살표 연결선 13"/>
          <p:cNvCxnSpPr>
            <a:stCxn id="12" idx="3"/>
            <a:endCxn id="15" idx="2"/>
          </p:cNvCxnSpPr>
          <p:nvPr/>
        </p:nvCxnSpPr>
        <p:spPr>
          <a:xfrm>
            <a:off x="1918596" y="2321273"/>
            <a:ext cx="1918280" cy="26222"/>
          </a:xfrm>
          <a:prstGeom prst="straightConnector1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3836876" y="2094081"/>
            <a:ext cx="616364" cy="50682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메모리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캐시</a:t>
            </a:r>
          </a:p>
        </p:txBody>
      </p:sp>
      <p:sp>
        <p:nvSpPr>
          <p:cNvPr id="16" name="순서도: 자기 디스크 15"/>
          <p:cNvSpPr/>
          <p:nvPr/>
        </p:nvSpPr>
        <p:spPr>
          <a:xfrm>
            <a:off x="2432720" y="2626266"/>
            <a:ext cx="759850" cy="62271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환경설정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 공통데이터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74096" y="2567461"/>
            <a:ext cx="12250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(WAS </a:t>
            </a:r>
            <a:r>
              <a:rPr lang="ko-KR" altLang="en-US" sz="1000" b="1">
                <a:latin typeface="+mn-ea"/>
                <a:cs typeface="Arial" pitchFamily="34" charset="0"/>
              </a:rPr>
              <a:t>기동</a:t>
            </a:r>
            <a:r>
              <a:rPr lang="en-US" altLang="ko-KR" sz="1000" b="1">
                <a:latin typeface="+mn-ea"/>
                <a:cs typeface="Arial" pitchFamily="34" charset="0"/>
              </a:rPr>
              <a:t>[</a:t>
            </a:r>
            <a:r>
              <a:rPr lang="ko-KR" altLang="en-US" sz="1000" b="1">
                <a:latin typeface="+mn-ea"/>
                <a:cs typeface="Arial" pitchFamily="34" charset="0"/>
              </a:rPr>
              <a:t>초기화</a:t>
            </a:r>
            <a:r>
              <a:rPr lang="en-US" altLang="ko-KR" sz="1000" b="1">
                <a:latin typeface="+mn-ea"/>
                <a:cs typeface="Arial" pitchFamily="34" charset="0"/>
              </a:rPr>
              <a:t>])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01366" y="2122897"/>
            <a:ext cx="12618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(</a:t>
            </a:r>
            <a:r>
              <a:rPr lang="ko-KR" altLang="en-US" sz="1000" b="1">
                <a:latin typeface="+mn-ea"/>
                <a:cs typeface="Arial" pitchFamily="34" charset="0"/>
              </a:rPr>
              <a:t>조회 후 메모리 적재</a:t>
            </a:r>
            <a:r>
              <a:rPr lang="en-US" altLang="ko-KR" sz="1000" b="1">
                <a:latin typeface="+mn-ea"/>
                <a:cs typeface="Arial" pitchFamily="34" charset="0"/>
              </a:rPr>
              <a:t>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grpSp>
        <p:nvGrpSpPr>
          <p:cNvPr id="19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64244" y="1423804"/>
            <a:ext cx="4932471" cy="314379"/>
            <a:chOff x="4085431" y="1941515"/>
            <a:chExt cx="658192" cy="242153"/>
          </a:xfrm>
        </p:grpSpPr>
        <p:cxnSp>
          <p:nvCxnSpPr>
            <p:cNvPr id="20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5431" y="1941515"/>
              <a:ext cx="390036" cy="213361"/>
            </a:xfrm>
            <a:prstGeom prst="rect">
              <a:avLst/>
            </a:prstGeom>
            <a:noFill/>
          </p:spPr>
          <p:txBody>
            <a:bodyPr wrap="squar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200" b="1" kern="0">
                  <a:solidFill>
                    <a:srgbClr val="000000"/>
                  </a:solidFill>
                  <a:cs typeface="Arial" panose="020B0604020202020204" pitchFamily="34" charset="0"/>
                </a:rPr>
                <a:t>프레임워크 사용 캐시</a:t>
              </a:r>
              <a:endParaRPr lang="ko-KR" altLang="en-US" sz="12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>
            <a:off x="2266140" y="3254787"/>
            <a:ext cx="10775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(DB/properties)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cxnSp>
        <p:nvCxnSpPr>
          <p:cNvPr id="23" name="구부러진 연결선 22"/>
          <p:cNvCxnSpPr/>
          <p:nvPr/>
        </p:nvCxnSpPr>
        <p:spPr>
          <a:xfrm flipH="1">
            <a:off x="4343092" y="2508626"/>
            <a:ext cx="110148" cy="92282"/>
          </a:xfrm>
          <a:prstGeom prst="curvedConnector4">
            <a:avLst>
              <a:gd name="adj1" fmla="val -109874"/>
              <a:gd name="adj2" fmla="val 266117"/>
            </a:avLst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016896" y="2786735"/>
            <a:ext cx="1226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(</a:t>
            </a:r>
            <a:r>
              <a:rPr lang="ko-KR" altLang="en-US" sz="1000" b="1">
                <a:latin typeface="+mn-ea"/>
                <a:cs typeface="Arial" pitchFamily="34" charset="0"/>
              </a:rPr>
              <a:t>등록된 캐시 재사용</a:t>
            </a:r>
            <a:r>
              <a:rPr lang="en-US" altLang="ko-KR" sz="1000" b="1">
                <a:latin typeface="+mn-ea"/>
                <a:cs typeface="Arial" pitchFamily="34" charset="0"/>
              </a:rPr>
              <a:t>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71463" y="1842177"/>
            <a:ext cx="4972052" cy="1622827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grpSp>
        <p:nvGrpSpPr>
          <p:cNvPr id="26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2418" y="3602192"/>
            <a:ext cx="4932471" cy="314379"/>
            <a:chOff x="4085431" y="1941515"/>
            <a:chExt cx="658192" cy="242153"/>
          </a:xfrm>
        </p:grpSpPr>
        <p:cxnSp>
          <p:nvCxnSpPr>
            <p:cNvPr id="27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5431" y="1941515"/>
              <a:ext cx="390036" cy="213361"/>
            </a:xfrm>
            <a:prstGeom prst="rect">
              <a:avLst/>
            </a:prstGeom>
            <a:noFill/>
          </p:spPr>
          <p:txBody>
            <a:bodyPr wrap="squar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200" b="1" kern="0">
                  <a:solidFill>
                    <a:srgbClr val="000000"/>
                  </a:solidFill>
                  <a:cs typeface="Arial" panose="020B0604020202020204" pitchFamily="34" charset="0"/>
                </a:rPr>
                <a:t>업무 사용 캐시</a:t>
              </a:r>
              <a:endParaRPr lang="ko-KR" altLang="en-US" sz="12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9" name="모서리가 둥근 직사각형 28"/>
          <p:cNvSpPr/>
          <p:nvPr/>
        </p:nvSpPr>
        <p:spPr>
          <a:xfrm>
            <a:off x="279637" y="4020565"/>
            <a:ext cx="4972052" cy="2108735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450315" y="4329100"/>
            <a:ext cx="1463985" cy="466892"/>
            <a:chOff x="227687" y="1393003"/>
            <a:chExt cx="1463985" cy="466892"/>
          </a:xfrm>
        </p:grpSpPr>
        <p:sp>
          <p:nvSpPr>
            <p:cNvPr id="31" name="직사각형 30"/>
            <p:cNvSpPr/>
            <p:nvPr/>
          </p:nvSpPr>
          <p:spPr>
            <a:xfrm>
              <a:off x="227687" y="1393003"/>
              <a:ext cx="1463985" cy="466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51393" y="1484348"/>
              <a:ext cx="1216573" cy="288000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b="1">
                  <a:solidFill>
                    <a:schemeClr val="tx1"/>
                  </a:solidFill>
                  <a:cs typeface="Arial" pitchFamily="34" charset="0"/>
                </a:rPr>
                <a:t>업무서버 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(FW)</a:t>
              </a:r>
              <a:endParaRPr lang="ko-KR" altLang="en-US" sz="9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33" name="직선 화살표 연결선 32"/>
          <p:cNvCxnSpPr>
            <a:stCxn id="31" idx="3"/>
          </p:cNvCxnSpPr>
          <p:nvPr/>
        </p:nvCxnSpPr>
        <p:spPr>
          <a:xfrm>
            <a:off x="1914300" y="4562546"/>
            <a:ext cx="607892" cy="923"/>
          </a:xfrm>
          <a:prstGeom prst="straightConnector1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타원 33"/>
          <p:cNvSpPr/>
          <p:nvPr/>
        </p:nvSpPr>
        <p:spPr>
          <a:xfrm>
            <a:off x="2503139" y="4310055"/>
            <a:ext cx="616364" cy="50682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메모리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캐시</a:t>
            </a:r>
          </a:p>
        </p:txBody>
      </p:sp>
      <p:sp>
        <p:nvSpPr>
          <p:cNvPr id="35" name="순서도: 자기 디스크 34"/>
          <p:cNvSpPr/>
          <p:nvPr/>
        </p:nvSpPr>
        <p:spPr>
          <a:xfrm>
            <a:off x="2432720" y="5170370"/>
            <a:ext cx="759850" cy="62271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 공통성 코드 데이터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490010" y="4789239"/>
            <a:ext cx="13938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        N : (</a:t>
            </a:r>
            <a:r>
              <a:rPr lang="ko-KR" altLang="en-US" sz="1000" b="1">
                <a:latin typeface="+mn-ea"/>
                <a:cs typeface="Arial" pitchFamily="34" charset="0"/>
              </a:rPr>
              <a:t>조회 후 등록</a:t>
            </a:r>
            <a:r>
              <a:rPr lang="en-US" altLang="ko-KR" sz="1000" b="1">
                <a:latin typeface="+mn-ea"/>
                <a:cs typeface="Arial" pitchFamily="34" charset="0"/>
              </a:rPr>
              <a:t>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05244" y="5769260"/>
            <a:ext cx="4395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(DB)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cxnSp>
        <p:nvCxnSpPr>
          <p:cNvPr id="38" name="직선 화살표 연결선 37"/>
          <p:cNvCxnSpPr>
            <a:stCxn id="35" idx="1"/>
          </p:cNvCxnSpPr>
          <p:nvPr/>
        </p:nvCxnSpPr>
        <p:spPr>
          <a:xfrm flipV="1">
            <a:off x="2812645" y="4808218"/>
            <a:ext cx="0" cy="362152"/>
          </a:xfrm>
          <a:prstGeom prst="straightConnector1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795822" y="4814255"/>
            <a:ext cx="7729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>
                <a:latin typeface="+mn-ea"/>
                <a:cs typeface="Arial" pitchFamily="34" charset="0"/>
              </a:rPr>
              <a:t>온라인 거래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712267" y="4291046"/>
            <a:ext cx="10054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(</a:t>
            </a:r>
            <a:r>
              <a:rPr lang="ko-KR" altLang="en-US" sz="1000" b="1">
                <a:latin typeface="+mn-ea"/>
                <a:cs typeface="Arial" pitchFamily="34" charset="0"/>
              </a:rPr>
              <a:t>캐시 여부</a:t>
            </a:r>
            <a:r>
              <a:rPr lang="en-US" altLang="ko-KR" sz="1000" b="1">
                <a:latin typeface="+mn-ea"/>
                <a:cs typeface="Arial" pitchFamily="34" charset="0"/>
              </a:rPr>
              <a:t>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3119503" y="4572597"/>
            <a:ext cx="1063035" cy="8286"/>
          </a:xfrm>
          <a:prstGeom prst="straightConnector1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2788690" y="4334662"/>
            <a:ext cx="13938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latin typeface="+mn-ea"/>
                <a:cs typeface="Arial" pitchFamily="34" charset="0"/>
              </a:rPr>
              <a:t>       Y : (</a:t>
            </a:r>
            <a:r>
              <a:rPr lang="ko-KR" altLang="en-US" sz="1000" b="1">
                <a:latin typeface="+mn-ea"/>
                <a:cs typeface="Arial" pitchFamily="34" charset="0"/>
              </a:rPr>
              <a:t>재사용</a:t>
            </a:r>
            <a:r>
              <a:rPr lang="en-US" altLang="ko-KR" sz="1000" b="1">
                <a:latin typeface="+mn-ea"/>
                <a:cs typeface="Arial" pitchFamily="34" charset="0"/>
              </a:rPr>
              <a:t>)</a:t>
            </a:r>
            <a:endParaRPr lang="ko-KR" altLang="en-US" sz="1000" b="1" dirty="0">
              <a:latin typeface="+mn-ea"/>
              <a:cs typeface="Arial" pitchFamily="34" charset="0"/>
            </a:endParaRPr>
          </a:p>
        </p:txBody>
      </p:sp>
      <p:cxnSp>
        <p:nvCxnSpPr>
          <p:cNvPr id="43" name="직선 화살표 연결선 42"/>
          <p:cNvCxnSpPr>
            <a:endCxn id="18" idx="2"/>
          </p:cNvCxnSpPr>
          <p:nvPr/>
        </p:nvCxnSpPr>
        <p:spPr>
          <a:xfrm flipV="1">
            <a:off x="2832309" y="2369118"/>
            <a:ext cx="0" cy="198343"/>
          </a:xfrm>
          <a:prstGeom prst="straightConnector1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96677" y="4316915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>
                <a:solidFill>
                  <a:srgbClr val="000000"/>
                </a:solidFill>
                <a:latin typeface="+mn-ea"/>
              </a:rPr>
              <a:t>업무 프로그램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32098" y="3005124"/>
            <a:ext cx="1164617" cy="4093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>
                <a:solidFill>
                  <a:srgbClr val="000000"/>
                </a:solidFill>
                <a:latin typeface="+mn-ea"/>
              </a:rPr>
              <a:t>F/W Core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왼쪽 대괄호 45"/>
          <p:cNvSpPr/>
          <p:nvPr/>
        </p:nvSpPr>
        <p:spPr>
          <a:xfrm>
            <a:off x="5375623" y="1838769"/>
            <a:ext cx="131345" cy="2037014"/>
          </a:xfrm>
          <a:prstGeom prst="leftBracket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왼쪽 대괄호 46"/>
          <p:cNvSpPr/>
          <p:nvPr/>
        </p:nvSpPr>
        <p:spPr>
          <a:xfrm flipV="1">
            <a:off x="5386368" y="4208675"/>
            <a:ext cx="132475" cy="498193"/>
          </a:xfrm>
          <a:prstGeom prst="leftBracket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55536" y="5368652"/>
            <a:ext cx="3964157" cy="75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>
                <a:solidFill>
                  <a:schemeClr val="dk1"/>
                </a:solidFill>
                <a:latin typeface="+mn-ea"/>
              </a:rPr>
              <a:t>캐시 교체 알고리즘 </a:t>
            </a:r>
            <a:r>
              <a:rPr lang="en-US" altLang="ko-KR" sz="1100">
                <a:solidFill>
                  <a:schemeClr val="dk1"/>
                </a:solidFill>
                <a:latin typeface="+mn-ea"/>
              </a:rPr>
              <a:t>: LRU</a:t>
            </a: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>
                <a:solidFill>
                  <a:schemeClr val="dk1"/>
                </a:solidFill>
                <a:latin typeface="+mn-ea"/>
              </a:rPr>
              <a:t>하나의 캐쉬 내 최대 </a:t>
            </a:r>
            <a:r>
              <a:rPr lang="en-US" altLang="ko-KR" sz="1100">
                <a:solidFill>
                  <a:schemeClr val="dk1"/>
                </a:solidFill>
                <a:latin typeface="+mn-ea"/>
              </a:rPr>
              <a:t>Element </a:t>
            </a:r>
            <a:r>
              <a:rPr lang="ko-KR" altLang="en-US" sz="1100">
                <a:solidFill>
                  <a:schemeClr val="dk1"/>
                </a:solidFill>
                <a:latin typeface="+mn-ea"/>
              </a:rPr>
              <a:t>개수 </a:t>
            </a:r>
            <a:r>
              <a:rPr lang="en-US" altLang="ko-KR" sz="1100">
                <a:solidFill>
                  <a:schemeClr val="dk1"/>
                </a:solidFill>
                <a:latin typeface="+mn-ea"/>
              </a:rPr>
              <a:t>: 100000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55536" y="5086580"/>
            <a:ext cx="3967040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b="1" kern="0">
                <a:solidFill>
                  <a:srgbClr val="000000"/>
                </a:solidFill>
              </a:rPr>
              <a:t>디폴트 설정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626059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 프로그램 실행 구조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271463" y="1842176"/>
            <a:ext cx="6584878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2794" y="2935702"/>
            <a:ext cx="2842354" cy="224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" name="양쪽 모서리가 둥근 사각형 9"/>
          <p:cNvSpPr/>
          <p:nvPr/>
        </p:nvSpPr>
        <p:spPr>
          <a:xfrm>
            <a:off x="3447681" y="2611666"/>
            <a:ext cx="2834933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배치 </a:t>
            </a: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Job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프로세스</a:t>
            </a: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2668" y="2861999"/>
            <a:ext cx="2842354" cy="224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양쪽 모서리가 둥근 사각형 11"/>
          <p:cNvSpPr/>
          <p:nvPr/>
        </p:nvSpPr>
        <p:spPr>
          <a:xfrm>
            <a:off x="3415175" y="2537963"/>
            <a:ext cx="2834933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배치 </a:t>
            </a: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Job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프로세스</a:t>
            </a: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56298" y="2791686"/>
            <a:ext cx="2842354" cy="224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실행 환경은 단일 계층 프로그램으로 독립된 </a:t>
            </a:r>
            <a:r>
              <a:rPr lang="en-US" altLang="ko-KR" dirty="0"/>
              <a:t>JVM </a:t>
            </a:r>
            <a:r>
              <a:rPr lang="ko-KR" altLang="en-US" dirty="0"/>
              <a:t>기반으로 구성하며</a:t>
            </a:r>
            <a:r>
              <a:rPr lang="en-US" altLang="ko-KR" dirty="0"/>
              <a:t>, </a:t>
            </a:r>
            <a:r>
              <a:rPr lang="ko-KR" altLang="en-US" dirty="0"/>
              <a:t>프레임워크 기반의 표준화된 </a:t>
            </a:r>
            <a:r>
              <a:rPr lang="ko-KR" altLang="en-US" dirty="0" err="1"/>
              <a:t>배치잡</a:t>
            </a:r>
            <a:r>
              <a:rPr lang="ko-KR" altLang="en-US" dirty="0"/>
              <a:t> 스크립트</a:t>
            </a:r>
            <a:r>
              <a:rPr lang="en-US" altLang="ko-KR" dirty="0"/>
              <a:t>, </a:t>
            </a:r>
            <a:r>
              <a:rPr lang="ko-KR" altLang="en-US" dirty="0"/>
              <a:t>파일</a:t>
            </a:r>
            <a:r>
              <a:rPr lang="en-US" altLang="ko-KR" dirty="0"/>
              <a:t>, DB </a:t>
            </a:r>
            <a:r>
              <a:rPr lang="ko-KR" altLang="en-US" dirty="0"/>
              <a:t>처리 및 온라인 연계 처리 환경을 제공함</a:t>
            </a:r>
          </a:p>
        </p:txBody>
      </p:sp>
      <p:grpSp>
        <p:nvGrpSpPr>
          <p:cNvPr id="15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36538" y="1421700"/>
            <a:ext cx="6619804" cy="316485"/>
            <a:chOff x="4085431" y="1867183"/>
            <a:chExt cx="658192" cy="316485"/>
          </a:xfrm>
        </p:grpSpPr>
        <p:cxnSp>
          <p:nvCxnSpPr>
            <p:cNvPr id="16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5431" y="1867183"/>
              <a:ext cx="236260" cy="307777"/>
            </a:xfrm>
            <a:prstGeom prst="rect">
              <a:avLst/>
            </a:prstGeom>
            <a:noFill/>
          </p:spPr>
          <p:txBody>
            <a:bodyPr wrap="squar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프레임워크 실행 아키텍처</a:t>
              </a:r>
            </a:p>
          </p:txBody>
        </p:sp>
      </p:grpSp>
      <p:sp>
        <p:nvSpPr>
          <p:cNvPr id="1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3394" y="2456892"/>
            <a:ext cx="612000" cy="122413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상용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배치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스케쥴러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84090" y="2456892"/>
            <a:ext cx="612000" cy="122413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상용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에이전트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32358" y="3732091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0350" y="3660083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91218" y="3581231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Job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Shell Script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29238" y="4762429"/>
            <a:ext cx="2700000" cy="21014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JVM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29238" y="4464504"/>
            <a:ext cx="2700000" cy="21014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lvl="0" algn="ctr" eaLnBrk="0" hangingPunct="0">
              <a:spcBef>
                <a:spcPts val="600"/>
              </a:spcBef>
              <a:buSzPct val="100000"/>
              <a:defRPr/>
            </a:pPr>
            <a:r>
              <a:rPr lang="en-US" altLang="ko-KR" sz="1100" dirty="0"/>
              <a:t>n-KESA</a:t>
            </a: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프레임워크</a:t>
            </a:r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8005" y="3763715"/>
            <a:ext cx="756000" cy="23539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DB </a:t>
            </a:r>
            <a:r>
              <a:rPr kumimoji="0" lang="ko-KR" altLang="en-US" sz="11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핸들러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73040" y="3763715"/>
            <a:ext cx="756000" cy="23539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파일</a:t>
            </a: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1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핸들러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1759" y="2874451"/>
            <a:ext cx="1687281" cy="7856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배치 프로그램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(Java)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양쪽 모서리가 둥근 사각형 27"/>
          <p:cNvSpPr/>
          <p:nvPr/>
        </p:nvSpPr>
        <p:spPr>
          <a:xfrm>
            <a:off x="3356298" y="2467650"/>
            <a:ext cx="2847820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배치 </a:t>
            </a:r>
            <a: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  <a:t>Job </a:t>
            </a: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프로세스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0434" y="4140468"/>
            <a:ext cx="763572" cy="2353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XSQL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8974" y="3140968"/>
            <a:ext cx="720079" cy="3762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FM</a:t>
            </a:r>
            <a:br>
              <a:rPr lang="en-US" altLang="ko-KR" sz="1100" kern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31" name="AutoShape 256"/>
          <p:cNvSpPr>
            <a:spLocks noChangeArrowheads="1"/>
          </p:cNvSpPr>
          <p:nvPr/>
        </p:nvSpPr>
        <p:spPr bwMode="auto">
          <a:xfrm>
            <a:off x="2406773" y="4683235"/>
            <a:ext cx="720000" cy="482704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배치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5272" y="4441627"/>
            <a:ext cx="917103" cy="58574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 Unit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(PU, FU)</a:t>
            </a: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1897089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일반 배치 </a:t>
            </a:r>
            <a:r>
              <a:rPr lang="ko-KR" altLang="en-US" sz="1200" b="1" kern="0" dirty="0">
                <a:solidFill>
                  <a:srgbClr val="000000"/>
                </a:solidFill>
              </a:rPr>
              <a:t>실행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7052014" y="181255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6" name="직선 화살표 연결선 35"/>
          <p:cNvCxnSpPr>
            <a:stCxn id="18" idx="3"/>
            <a:endCxn id="19" idx="1"/>
          </p:cNvCxnSpPr>
          <p:nvPr/>
        </p:nvCxnSpPr>
        <p:spPr>
          <a:xfrm>
            <a:off x="1305394" y="3068961"/>
            <a:ext cx="17869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cxnSpLocks/>
            <a:stCxn id="32" idx="0"/>
            <a:endCxn id="18" idx="2"/>
          </p:cNvCxnSpPr>
          <p:nvPr/>
        </p:nvCxnSpPr>
        <p:spPr>
          <a:xfrm flipH="1" flipV="1">
            <a:off x="999394" y="3681029"/>
            <a:ext cx="4430" cy="7605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57"/>
          <p:cNvCxnSpPr>
            <a:stCxn id="19" idx="3"/>
            <a:endCxn id="22" idx="1"/>
          </p:cNvCxnSpPr>
          <p:nvPr/>
        </p:nvCxnSpPr>
        <p:spPr>
          <a:xfrm>
            <a:off x="2096090" y="3068961"/>
            <a:ext cx="295128" cy="80998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22" idx="3"/>
          </p:cNvCxnSpPr>
          <p:nvPr/>
        </p:nvCxnSpPr>
        <p:spPr>
          <a:xfrm>
            <a:off x="3061466" y="3878948"/>
            <a:ext cx="294832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5131446" y="3438685"/>
            <a:ext cx="32631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57"/>
          <p:cNvCxnSpPr>
            <a:stCxn id="31" idx="4"/>
            <a:endCxn id="24" idx="1"/>
          </p:cNvCxnSpPr>
          <p:nvPr/>
        </p:nvCxnSpPr>
        <p:spPr>
          <a:xfrm flipV="1">
            <a:off x="3126773" y="4569578"/>
            <a:ext cx="302465" cy="355009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2312182" y="321709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902108" y="509944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4458150" y="3425985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5286414" y="280244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664328" y="3132683"/>
            <a:ext cx="1247602" cy="25972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noProof="0" dirty="0">
                <a:solidFill>
                  <a:srgbClr val="000000"/>
                </a:solidFill>
                <a:latin typeface="+mn-ea"/>
              </a:rPr>
              <a:t>배치 </a:t>
            </a:r>
            <a:r>
              <a:rPr lang="ko-KR" altLang="en-US" sz="1100" kern="0" noProof="0" dirty="0" err="1">
                <a:solidFill>
                  <a:srgbClr val="000000"/>
                </a:solidFill>
                <a:latin typeface="+mn-ea"/>
              </a:rPr>
              <a:t>처리로직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47" name="직선 화살표 연결선 46"/>
          <p:cNvCxnSpPr>
            <a:endCxn id="25" idx="0"/>
          </p:cNvCxnSpPr>
          <p:nvPr/>
        </p:nvCxnSpPr>
        <p:spPr>
          <a:xfrm>
            <a:off x="3816005" y="3384117"/>
            <a:ext cx="0" cy="3795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endCxn id="26" idx="0"/>
          </p:cNvCxnSpPr>
          <p:nvPr/>
        </p:nvCxnSpPr>
        <p:spPr>
          <a:xfrm>
            <a:off x="4751040" y="3384117"/>
            <a:ext cx="0" cy="3795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5" idx="2"/>
            <a:endCxn id="29" idx="0"/>
          </p:cNvCxnSpPr>
          <p:nvPr/>
        </p:nvCxnSpPr>
        <p:spPr>
          <a:xfrm flipH="1">
            <a:off x="3812220" y="3999109"/>
            <a:ext cx="3785" cy="14135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1284" y="5138216"/>
            <a:ext cx="972040" cy="144019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  <a:latin typeface="+mn-ea"/>
              </a:rPr>
              <a:t>배치호출</a:t>
            </a:r>
            <a:endParaRPr kumimoji="0" lang="en-US" altLang="ko-KR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b="1" kern="0" dirty="0">
                <a:latin typeface="+mn-ea"/>
              </a:rPr>
              <a:t>(</a:t>
            </a:r>
            <a:r>
              <a:rPr lang="ko-KR" altLang="en-US" sz="800" b="1" kern="0" dirty="0">
                <a:latin typeface="+mn-ea"/>
              </a:rPr>
              <a:t>비동기 </a:t>
            </a:r>
            <a:r>
              <a:rPr lang="en-US" altLang="ko-KR" sz="800" b="1" kern="0" dirty="0">
                <a:latin typeface="+mn-ea"/>
              </a:rPr>
              <a:t>FW API)</a:t>
            </a:r>
            <a:endParaRPr kumimoji="0" lang="ko-KR" altLang="en-US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49722" y="324355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배치</a:t>
            </a:r>
            <a:r>
              <a:rPr lang="ko-KR" altLang="en-US" sz="800" b="1" kern="0" dirty="0">
                <a:latin typeface="+mn-ea"/>
              </a:rPr>
              <a:t>실행</a:t>
            </a:r>
            <a:endParaRPr kumimoji="0" lang="en-US" altLang="ko-KR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b="1" kern="0" dirty="0">
                <a:latin typeface="+mn-ea"/>
              </a:rPr>
              <a:t>(</a:t>
            </a:r>
            <a:r>
              <a:rPr lang="ko-KR" altLang="en-US" sz="800" b="1" kern="0" dirty="0">
                <a:latin typeface="+mn-ea"/>
              </a:rPr>
              <a:t>스크립트호출</a:t>
            </a:r>
            <a:r>
              <a:rPr lang="en-US" altLang="ko-KR" sz="800" b="1" kern="0" dirty="0">
                <a:latin typeface="+mn-ea"/>
              </a:rPr>
              <a:t>)</a:t>
            </a:r>
            <a:endParaRPr kumimoji="0" lang="ko-KR" altLang="en-US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75086" y="287295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온라인 공유 </a:t>
            </a:r>
            <a:r>
              <a:rPr kumimoji="0" lang="en-US" altLang="ko-KR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Method </a:t>
            </a: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호출</a:t>
            </a:r>
            <a:endParaRPr kumimoji="0" lang="en-US" altLang="ko-KR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b="1" kern="0" dirty="0">
                <a:latin typeface="+mn-ea"/>
              </a:rPr>
              <a:t>(FW API)</a:t>
            </a:r>
            <a:endParaRPr kumimoji="0" lang="ko-KR" altLang="en-US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53" name="구부러진 연결선 52"/>
          <p:cNvCxnSpPr/>
          <p:nvPr/>
        </p:nvCxnSpPr>
        <p:spPr>
          <a:xfrm flipH="1">
            <a:off x="4821704" y="3299934"/>
            <a:ext cx="110148" cy="92282"/>
          </a:xfrm>
          <a:prstGeom prst="curvedConnector4">
            <a:avLst>
              <a:gd name="adj1" fmla="val -109874"/>
              <a:gd name="adj2" fmla="val 266117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49696" y="3511766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데몬</a:t>
            </a:r>
            <a:r>
              <a:rPr kumimoji="0" lang="en-US" altLang="ko-KR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루프</a:t>
            </a:r>
            <a:r>
              <a:rPr kumimoji="0" lang="en-US" altLang="ko-KR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)</a:t>
            </a: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처리</a:t>
            </a:r>
          </a:p>
        </p:txBody>
      </p:sp>
      <p:grpSp>
        <p:nvGrpSpPr>
          <p:cNvPr id="55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7185884" y="1412776"/>
            <a:ext cx="2435125" cy="325409"/>
            <a:chOff x="4088904" y="1858259"/>
            <a:chExt cx="654719" cy="325409"/>
          </a:xfrm>
        </p:grpSpPr>
        <p:cxnSp>
          <p:nvCxnSpPr>
            <p:cNvPr id="56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90608" y="1858259"/>
              <a:ext cx="191755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 err="1">
                  <a:solidFill>
                    <a:srgbClr val="000000"/>
                  </a:solidFill>
                  <a:cs typeface="Arial" panose="020B0604020202020204" pitchFamily="34" charset="0"/>
                </a:rPr>
                <a:t>구성개요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009483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온디맨드</a:t>
            </a: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배치 실행</a:t>
            </a:r>
          </a:p>
        </p:txBody>
      </p:sp>
      <p:sp>
        <p:nvSpPr>
          <p:cNvPr id="59" name="타원 58"/>
          <p:cNvSpPr/>
          <p:nvPr/>
        </p:nvSpPr>
        <p:spPr>
          <a:xfrm>
            <a:off x="7052014" y="292494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4244571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데몬 배치 실행</a:t>
            </a:r>
          </a:p>
        </p:txBody>
      </p:sp>
      <p:sp>
        <p:nvSpPr>
          <p:cNvPr id="61" name="타원 60"/>
          <p:cNvSpPr/>
          <p:nvPr/>
        </p:nvSpPr>
        <p:spPr>
          <a:xfrm>
            <a:off x="7052014" y="416003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349743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온라인 호출</a:t>
            </a:r>
          </a:p>
        </p:txBody>
      </p:sp>
      <p:sp>
        <p:nvSpPr>
          <p:cNvPr id="63" name="타원 62"/>
          <p:cNvSpPr/>
          <p:nvPr/>
        </p:nvSpPr>
        <p:spPr>
          <a:xfrm>
            <a:off x="7052014" y="526520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2175659"/>
            <a:ext cx="2483578" cy="70748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배치는 별도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JVM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프로세스로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기반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쉘스크립트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파일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, DB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처리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배치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스케쥴러에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의해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쉘스크립트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289761"/>
            <a:ext cx="2483578" cy="81471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온라인 프로그램에서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를 통해 배치 프로그램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는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배치스케쥴러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명령을 통해 비동기 배치 호출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4524802"/>
            <a:ext cx="2483578" cy="68114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배치 실행 후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제공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Loop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체크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를 이용하여 정해진 조건 동안 배치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로직을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반복 처리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623985"/>
            <a:ext cx="2483578" cy="72125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제공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를 통해 공유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FM/DM/DBM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호출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8207" y="4104471"/>
            <a:ext cx="914168" cy="23754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F/W API</a:t>
            </a:r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8974" y="3546933"/>
            <a:ext cx="720079" cy="3762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DM</a:t>
            </a:r>
            <a:br>
              <a:rPr lang="en-US" altLang="ko-KR" sz="1100" kern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0" name="Rectangle 29">
            <a:extLst>
              <a:ext uri="{FF2B5EF4-FFF2-40B4-BE49-F238E27FC236}">
                <a16:creationId xmlns:a16="http://schemas.microsoft.com/office/drawing/2014/main" id="{B9C95FBB-0C18-4415-A2BB-56BDECCD61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8974" y="3952897"/>
            <a:ext cx="720079" cy="3762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DBM</a:t>
            </a:r>
            <a:br>
              <a:rPr lang="en-US" altLang="ko-KR" sz="1100" kern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51343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 어플리케이션 구조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1463" y="1842176"/>
            <a:ext cx="4681537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3" y="2417942"/>
            <a:ext cx="1000111" cy="25349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 프로그램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(Java)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4" y="4728843"/>
            <a:ext cx="828000" cy="22409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JVM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en-US" altLang="ko-KR" dirty="0"/>
              <a:t>Job </a:t>
            </a:r>
            <a:r>
              <a:rPr lang="ko-KR" altLang="en-US" dirty="0"/>
              <a:t>당 </a:t>
            </a:r>
            <a:r>
              <a:rPr lang="en-US" altLang="ko-KR" dirty="0"/>
              <a:t>Shell </a:t>
            </a:r>
            <a:r>
              <a:rPr lang="ko-KR" altLang="en-US" dirty="0"/>
              <a:t>에서 업무 배치 프로그램을 호출하는 방식으로</a:t>
            </a:r>
            <a:r>
              <a:rPr lang="en-US" altLang="ko-KR" dirty="0"/>
              <a:t>, </a:t>
            </a:r>
            <a:r>
              <a:rPr lang="ko-KR" altLang="en-US" dirty="0"/>
              <a:t>배치 프로그램은 별도 계층 구조 없이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Class/Method</a:t>
            </a:r>
            <a:r>
              <a:rPr lang="ko-KR" altLang="en-US" dirty="0"/>
              <a:t>로 구현하며</a:t>
            </a:r>
            <a:r>
              <a:rPr lang="en-US" altLang="ko-KR" dirty="0"/>
              <a:t>, </a:t>
            </a:r>
            <a:r>
              <a:rPr lang="ko-KR" altLang="en-US" dirty="0"/>
              <a:t>하나의 배치 프로그램에서 처리되는 모든 </a:t>
            </a:r>
            <a:r>
              <a:rPr lang="en-US" altLang="ko-KR" dirty="0"/>
              <a:t>SQL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XSQL </a:t>
            </a:r>
            <a:r>
              <a:rPr lang="ko-KR" altLang="en-US" dirty="0"/>
              <a:t>로 구성함</a:t>
            </a:r>
          </a:p>
        </p:txBody>
      </p:sp>
      <p:grpSp>
        <p:nvGrpSpPr>
          <p:cNvPr id="13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61129" y="1412776"/>
            <a:ext cx="4691872" cy="325409"/>
            <a:chOff x="4087876" y="1858259"/>
            <a:chExt cx="655747" cy="325409"/>
          </a:xfrm>
        </p:grpSpPr>
        <p:cxnSp>
          <p:nvCxnSpPr>
            <p:cNvPr id="14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148020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프로그램 구조</a:t>
              </a:r>
            </a:p>
          </p:txBody>
        </p:sp>
      </p:grpSp>
      <p:grpSp>
        <p:nvGrpSpPr>
          <p:cNvPr id="16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5187191" y="1412776"/>
            <a:ext cx="4491505" cy="325409"/>
            <a:chOff x="4087876" y="1858259"/>
            <a:chExt cx="655747" cy="325409"/>
          </a:xfrm>
        </p:grpSpPr>
        <p:cxnSp>
          <p:nvCxnSpPr>
            <p:cNvPr id="17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258476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프로그램 설계 규칙</a:t>
              </a:r>
            </a:p>
          </p:txBody>
        </p:sp>
      </p:grpSp>
      <p:sp>
        <p:nvSpPr>
          <p:cNvPr id="1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570" y="2417941"/>
            <a:ext cx="748044" cy="253499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쉘 스크립트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8008" y="2417942"/>
            <a:ext cx="828000" cy="9922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XSQL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4535" y="3660774"/>
            <a:ext cx="764427" cy="3252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FIO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22" name="Group 43"/>
          <p:cNvGrpSpPr>
            <a:grpSpLocks/>
          </p:cNvGrpSpPr>
          <p:nvPr/>
        </p:nvGrpSpPr>
        <p:grpSpPr bwMode="auto">
          <a:xfrm>
            <a:off x="4091807" y="3694768"/>
            <a:ext cx="723909" cy="372940"/>
            <a:chOff x="401" y="3124"/>
            <a:chExt cx="1139" cy="531"/>
          </a:xfrm>
          <a:solidFill>
            <a:schemeClr val="bg1"/>
          </a:solidFill>
        </p:grpSpPr>
        <p:sp>
          <p:nvSpPr>
            <p:cNvPr id="23" name="AutoShape 201"/>
            <p:cNvSpPr>
              <a:spLocks noChangeArrowheads="1"/>
            </p:cNvSpPr>
            <p:nvPr/>
          </p:nvSpPr>
          <p:spPr bwMode="auto">
            <a:xfrm>
              <a:off x="500" y="3173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SAM</a:t>
              </a:r>
            </a:p>
          </p:txBody>
        </p:sp>
        <p:sp>
          <p:nvSpPr>
            <p:cNvPr id="24" name="AutoShape 241"/>
            <p:cNvSpPr>
              <a:spLocks noChangeArrowheads="1"/>
            </p:cNvSpPr>
            <p:nvPr/>
          </p:nvSpPr>
          <p:spPr bwMode="auto">
            <a:xfrm>
              <a:off x="401" y="3124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File</a:t>
              </a:r>
            </a:p>
          </p:txBody>
        </p:sp>
      </p:grpSp>
      <p:sp>
        <p:nvSpPr>
          <p:cNvPr id="25" name="AutoShape 256"/>
          <p:cNvSpPr>
            <a:spLocks noChangeArrowheads="1"/>
          </p:cNvSpPr>
          <p:nvPr/>
        </p:nvSpPr>
        <p:spPr bwMode="auto">
          <a:xfrm>
            <a:off x="4091807" y="2439638"/>
            <a:ext cx="720000" cy="449267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베이스</a:t>
            </a:r>
            <a:endParaRPr lang="en-US" altLang="ko-KR" sz="1000" b="0" dirty="0">
              <a:latin typeface="+mn-ea"/>
              <a:ea typeface="+mn-ea"/>
            </a:endParaRPr>
          </a:p>
        </p:txBody>
      </p:sp>
      <p:graphicFrame>
        <p:nvGraphicFramePr>
          <p:cNvPr id="26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274022"/>
              </p:ext>
            </p:extLst>
          </p:nvPr>
        </p:nvGraphicFramePr>
        <p:xfrm>
          <a:off x="5187192" y="1808170"/>
          <a:ext cx="4482268" cy="464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3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8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 구성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마다 별도의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JVM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프로세스로 기동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배치는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무계층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구조나 최대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계층 프로그램으로 구성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 배치 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 Class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배치유닛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스탭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클래스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Main Method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XSQL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마다 배치 프로파일 정보 등록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쉘 구성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프로그램과 배치 쉘 파일은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1:1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 기본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병렬 처리를 위해 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1:N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재활용 목적으로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파라미터를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다르게히여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N:1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62837"/>
                  </a:ext>
                </a:extLst>
              </a:tr>
              <a:tr h="1129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11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배치 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구성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배치에서 사용되는 모든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등록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개발도구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설계기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이용하여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XA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불가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JDBC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가능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멀티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활용한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조회는 가능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명시적으로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Commit/Rollback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수행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1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 처리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(FIO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정의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Read/Write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위해 파일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Layout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FIO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정의 생성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FIO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통한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IRecordSet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스트림간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변환 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63552"/>
                  </a:ext>
                </a:extLst>
              </a:tr>
              <a:tr h="5244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공유모듈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호출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프로그램에서 온라인 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호출 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DM/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은 동일 어플리케이션 범위에서만 호출 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407502"/>
                  </a:ext>
                </a:extLst>
              </a:tr>
            </a:tbl>
          </a:graphicData>
        </a:graphic>
      </p:graphicFrame>
      <p:sp>
        <p:nvSpPr>
          <p:cNvPr id="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7924" y="2636912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SQL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8784" y="2888905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SQL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53052" y="3071975"/>
            <a:ext cx="720000" cy="55023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Main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Method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88604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cxnSp>
        <p:nvCxnSpPr>
          <p:cNvPr id="31" name="직선 화살표 연결선 30"/>
          <p:cNvCxnSpPr>
            <a:cxnSpLocks/>
            <a:stCxn id="19" idx="3"/>
            <a:endCxn id="10" idx="1"/>
          </p:cNvCxnSpPr>
          <p:nvPr/>
        </p:nvCxnSpPr>
        <p:spPr>
          <a:xfrm>
            <a:off x="1169614" y="3685440"/>
            <a:ext cx="326989" cy="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6"/>
          <p:cNvCxnSpPr>
            <a:stCxn id="29" idx="3"/>
            <a:endCxn id="20" idx="1"/>
          </p:cNvCxnSpPr>
          <p:nvPr/>
        </p:nvCxnSpPr>
        <p:spPr>
          <a:xfrm flipV="1">
            <a:off x="2273052" y="2914092"/>
            <a:ext cx="614956" cy="432999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7"/>
          <p:cNvCxnSpPr>
            <a:stCxn id="29" idx="3"/>
            <a:endCxn id="21" idx="1"/>
          </p:cNvCxnSpPr>
          <p:nvPr/>
        </p:nvCxnSpPr>
        <p:spPr>
          <a:xfrm>
            <a:off x="2273052" y="3347091"/>
            <a:ext cx="611483" cy="47630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36087" y="3705367"/>
            <a:ext cx="764427" cy="3252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FIO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5" name="직선 화살표 연결선 39"/>
          <p:cNvCxnSpPr>
            <a:stCxn id="27" idx="3"/>
            <a:endCxn id="25" idx="2"/>
          </p:cNvCxnSpPr>
          <p:nvPr/>
        </p:nvCxnSpPr>
        <p:spPr>
          <a:xfrm flipV="1">
            <a:off x="3564762" y="2664272"/>
            <a:ext cx="527045" cy="74574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4" idx="3"/>
            <a:endCxn id="24" idx="1"/>
          </p:cNvCxnSpPr>
          <p:nvPr/>
        </p:nvCxnSpPr>
        <p:spPr>
          <a:xfrm flipV="1">
            <a:off x="3700514" y="3864031"/>
            <a:ext cx="391293" cy="395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256"/>
          <p:cNvSpPr>
            <a:spLocks noChangeArrowheads="1"/>
          </p:cNvSpPr>
          <p:nvPr/>
        </p:nvSpPr>
        <p:spPr bwMode="auto">
          <a:xfrm>
            <a:off x="4091807" y="2992895"/>
            <a:ext cx="720000" cy="467294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베이스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38" name="직선 화살표 연결선 48"/>
          <p:cNvCxnSpPr>
            <a:stCxn id="28" idx="3"/>
            <a:endCxn id="37" idx="2"/>
          </p:cNvCxnSpPr>
          <p:nvPr/>
        </p:nvCxnSpPr>
        <p:spPr>
          <a:xfrm>
            <a:off x="3565622" y="2990839"/>
            <a:ext cx="526185" cy="23570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8784" y="3133167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…..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1689" y="3861096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DM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245689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Read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19765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Write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686617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Read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85750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Write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68497" y="340048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기본</a:t>
            </a:r>
            <a:endParaRPr lang="en-US" altLang="ko-KR" sz="800" kern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8163" y="266427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8163" y="3846744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n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381884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2838003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2838003" y="351320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187073" y="204330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187073" y="3007935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5187073" y="393305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5187073" y="504860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5187073" y="580354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68497" y="38701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noProof="0" dirty="0">
                <a:latin typeface="+mn-ea"/>
              </a:rPr>
              <a:t>필요시</a:t>
            </a:r>
            <a:endParaRPr lang="en-US" altLang="ko-KR" sz="800" kern="0" noProof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dirty="0">
                <a:ln>
                  <a:noFill/>
                </a:ln>
                <a:effectLst/>
                <a:uLnTx/>
                <a:uFillTx/>
                <a:latin typeface="+mn-ea"/>
              </a:rPr>
              <a:t>1 : n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n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AutoShape 256"/>
          <p:cNvSpPr>
            <a:spLocks noChangeArrowheads="1"/>
          </p:cNvSpPr>
          <p:nvPr/>
        </p:nvSpPr>
        <p:spPr bwMode="auto">
          <a:xfrm>
            <a:off x="426442" y="5077454"/>
            <a:ext cx="743172" cy="295762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배치 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sp>
        <p:nvSpPr>
          <p:cNvPr id="5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4" y="4509120"/>
            <a:ext cx="828000" cy="22409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lvl="0" algn="ctr" eaLnBrk="0" hangingPunct="0">
              <a:buSzPct val="100000"/>
              <a:defRPr/>
            </a:pPr>
            <a:r>
              <a:rPr lang="en-US" altLang="ko-KR" sz="900" dirty="0"/>
              <a:t>n-KESA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F/W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0" name="직선 화살표 연결선 67"/>
          <p:cNvCxnSpPr>
            <a:cxnSpLocks/>
            <a:stCxn id="29" idx="2"/>
            <a:endCxn id="40" idx="0"/>
          </p:cNvCxnSpPr>
          <p:nvPr/>
        </p:nvCxnSpPr>
        <p:spPr>
          <a:xfrm rot="16200000" flipH="1">
            <a:off x="1840616" y="3694643"/>
            <a:ext cx="238889" cy="94016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37"/>
          <p:cNvCxnSpPr>
            <a:cxnSpLocks/>
            <a:stCxn id="59" idx="1"/>
            <a:endCxn id="58" idx="4"/>
          </p:cNvCxnSpPr>
          <p:nvPr/>
        </p:nvCxnSpPr>
        <p:spPr>
          <a:xfrm rot="10800000" flipV="1">
            <a:off x="1169614" y="4621167"/>
            <a:ext cx="326990" cy="60416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45412" y="3861096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FM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3" name="직선 화살표 연결선 67"/>
          <p:cNvCxnSpPr>
            <a:cxnSpLocks/>
            <a:stCxn id="29" idx="2"/>
            <a:endCxn id="62" idx="0"/>
          </p:cNvCxnSpPr>
          <p:nvPr/>
        </p:nvCxnSpPr>
        <p:spPr>
          <a:xfrm rot="5400000">
            <a:off x="1682478" y="3630521"/>
            <a:ext cx="238889" cy="222261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/>
        </p:nvSpPr>
        <p:spPr>
          <a:xfrm>
            <a:off x="1428838" y="418510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9CE5018C-05CB-4231-81D5-A6A516800D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77966" y="3861048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700" kern="0" dirty="0">
                <a:solidFill>
                  <a:srgbClr val="000000"/>
                </a:solidFill>
                <a:latin typeface="+mn-ea"/>
              </a:rPr>
              <a:t>DBM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6" name="직선 화살표 연결선 67">
            <a:extLst>
              <a:ext uri="{FF2B5EF4-FFF2-40B4-BE49-F238E27FC236}">
                <a16:creationId xmlns:a16="http://schemas.microsoft.com/office/drawing/2014/main" id="{9F225DC0-D040-4DC3-9E9A-5F7CF6DD023C}"/>
              </a:ext>
            </a:extLst>
          </p:cNvPr>
          <p:cNvCxnSpPr>
            <a:cxnSpLocks/>
            <a:stCxn id="29" idx="2"/>
            <a:endCxn id="65" idx="0"/>
          </p:cNvCxnSpPr>
          <p:nvPr/>
        </p:nvCxnSpPr>
        <p:spPr>
          <a:xfrm rot="16200000" flipH="1">
            <a:off x="1998778" y="3536480"/>
            <a:ext cx="238841" cy="41029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4254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en-US" altLang="ko-KR" dirty="0"/>
              <a:t>FW </a:t>
            </a:r>
            <a:r>
              <a:rPr lang="ko-KR" altLang="en-US" dirty="0"/>
              <a:t>트랜잭션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en-US" altLang="ko-KR" dirty="0"/>
              <a:t>FW </a:t>
            </a:r>
            <a:r>
              <a:rPr lang="ko-KR" altLang="en-US" dirty="0"/>
              <a:t>은 </a:t>
            </a:r>
            <a:r>
              <a:rPr lang="en-US" altLang="ko-KR" dirty="0"/>
              <a:t>WAS </a:t>
            </a:r>
            <a:r>
              <a:rPr lang="ko-KR" altLang="en-US" dirty="0"/>
              <a:t>기반의 동작이 아니므로 온라인 </a:t>
            </a:r>
            <a:r>
              <a:rPr lang="en-US" altLang="ko-KR" dirty="0"/>
              <a:t>FW </a:t>
            </a:r>
            <a:r>
              <a:rPr lang="ko-KR" altLang="en-US" dirty="0"/>
              <a:t>과 다르게 동작하며</a:t>
            </a:r>
            <a:r>
              <a:rPr lang="en-US" altLang="ko-KR" dirty="0"/>
              <a:t>, </a:t>
            </a:r>
            <a:r>
              <a:rPr lang="ko-KR" altLang="en-US" dirty="0"/>
              <a:t>어플리케이션에서 </a:t>
            </a:r>
            <a:r>
              <a:rPr lang="en-US" altLang="ko-KR" dirty="0"/>
              <a:t>begin/commit </a:t>
            </a:r>
            <a:r>
              <a:rPr lang="ko-KR" altLang="en-US" dirty="0"/>
              <a:t>등의 </a:t>
            </a:r>
            <a:r>
              <a:rPr lang="en-US" altLang="ko-KR" dirty="0"/>
              <a:t>API</a:t>
            </a:r>
            <a:r>
              <a:rPr lang="ko-KR" altLang="en-US" dirty="0"/>
              <a:t>를 통해 트랜잭션을 제어함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1354743" y="1880828"/>
            <a:ext cx="1299125" cy="43106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29" name="순서도: 자기 디스크 128"/>
          <p:cNvSpPr/>
          <p:nvPr/>
        </p:nvSpPr>
        <p:spPr>
          <a:xfrm>
            <a:off x="6231179" y="3969662"/>
            <a:ext cx="919419" cy="3946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Sub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5" name="순서도: 자기 디스크 134"/>
          <p:cNvSpPr/>
          <p:nvPr/>
        </p:nvSpPr>
        <p:spPr>
          <a:xfrm>
            <a:off x="6231180" y="3051465"/>
            <a:ext cx="919419" cy="684985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Main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8" name="사각형 설명선 147"/>
          <p:cNvSpPr/>
          <p:nvPr/>
        </p:nvSpPr>
        <p:spPr>
          <a:xfrm>
            <a:off x="3454000" y="5479631"/>
            <a:ext cx="4049569" cy="781959"/>
          </a:xfrm>
          <a:prstGeom prst="wedgeRectCallout">
            <a:avLst>
              <a:gd name="adj1" fmla="val -65890"/>
              <a:gd name="adj2" fmla="val -39689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()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메소드로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수동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실행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대량 처리시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DB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부하 방지를 위해 중간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이 필요하여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api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로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제공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중간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을 자동으로 처리하는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FW API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별도 제공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45090" y="2784993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트랜잭션 구간</a:t>
            </a:r>
          </a:p>
        </p:txBody>
      </p:sp>
      <p:sp>
        <p:nvSpPr>
          <p:cNvPr id="4" name="타원 3"/>
          <p:cNvSpPr/>
          <p:nvPr/>
        </p:nvSpPr>
        <p:spPr>
          <a:xfrm>
            <a:off x="1477916" y="2204864"/>
            <a:ext cx="1044000" cy="2762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txBegin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1477916" y="5301208"/>
            <a:ext cx="1044000" cy="2762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477916" y="5709059"/>
            <a:ext cx="1044000" cy="2762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 b="1" dirty="0" err="1">
                <a:solidFill>
                  <a:schemeClr val="tx1"/>
                </a:solidFill>
                <a:cs typeface="Arial" pitchFamily="34" charset="0"/>
              </a:rPr>
              <a:t>txRollback</a:t>
            </a:r>
            <a:r>
              <a:rPr lang="en-US" altLang="ko-KR" sz="800" b="1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8202" y="1628800"/>
            <a:ext cx="1159817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 dirty="0">
                <a:cs typeface="Arial" pitchFamily="34" charset="0"/>
              </a:rPr>
              <a:t>Batch Program</a:t>
            </a:r>
            <a:endParaRPr lang="ko-KR" altLang="en-US" sz="1000" b="1" dirty="0">
              <a:cs typeface="Arial" pitchFamily="34" charset="0"/>
            </a:endParaRPr>
          </a:p>
        </p:txBody>
      </p:sp>
      <p:cxnSp>
        <p:nvCxnSpPr>
          <p:cNvPr id="9" name="직선 화살표 연결선 8"/>
          <p:cNvCxnSpPr>
            <a:endCxn id="51" idx="0"/>
          </p:cNvCxnSpPr>
          <p:nvPr/>
        </p:nvCxnSpPr>
        <p:spPr>
          <a:xfrm flipH="1">
            <a:off x="1999916" y="2973338"/>
            <a:ext cx="753" cy="232787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6"/>
          <p:cNvSpPr/>
          <p:nvPr/>
        </p:nvSpPr>
        <p:spPr>
          <a:xfrm>
            <a:off x="1487403" y="2919390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dbSelect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487403" y="3371462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dbInsert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487403" y="3792307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dbUpdate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0" name="직선 화살표 연결선 59"/>
          <p:cNvCxnSpPr>
            <a:stCxn id="7" idx="3"/>
            <a:endCxn id="135" idx="2"/>
          </p:cNvCxnSpPr>
          <p:nvPr/>
        </p:nvCxnSpPr>
        <p:spPr>
          <a:xfrm>
            <a:off x="2512430" y="3051465"/>
            <a:ext cx="3718750" cy="34249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55" idx="3"/>
            <a:endCxn id="135" idx="2"/>
          </p:cNvCxnSpPr>
          <p:nvPr/>
        </p:nvCxnSpPr>
        <p:spPr>
          <a:xfrm flipV="1">
            <a:off x="2512430" y="3393958"/>
            <a:ext cx="3718750" cy="10957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56" idx="3"/>
            <a:endCxn id="135" idx="2"/>
          </p:cNvCxnSpPr>
          <p:nvPr/>
        </p:nvCxnSpPr>
        <p:spPr>
          <a:xfrm flipV="1">
            <a:off x="2512430" y="3393958"/>
            <a:ext cx="3718750" cy="53042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82" idx="3"/>
            <a:endCxn id="129" idx="2"/>
          </p:cNvCxnSpPr>
          <p:nvPr/>
        </p:nvCxnSpPr>
        <p:spPr>
          <a:xfrm flipV="1">
            <a:off x="2512430" y="4166994"/>
            <a:ext cx="3718749" cy="12851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/>
          <p:cNvSpPr/>
          <p:nvPr/>
        </p:nvSpPr>
        <p:spPr>
          <a:xfrm>
            <a:off x="1487403" y="4163437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dbSelect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3387233" y="1836447"/>
            <a:ext cx="3509824" cy="668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배치에서는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WAS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가 아니므로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XA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트랜잭션이 지원되지 않음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멀티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필요시 개별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()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처리해야함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534430" y="4631623"/>
            <a:ext cx="960722" cy="38155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공유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FM/DM/DBIO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7" name="직선 화살표 연결선 96"/>
          <p:cNvCxnSpPr>
            <a:stCxn id="40" idx="3"/>
            <a:endCxn id="135" idx="2"/>
          </p:cNvCxnSpPr>
          <p:nvPr/>
        </p:nvCxnSpPr>
        <p:spPr>
          <a:xfrm flipV="1">
            <a:off x="2495152" y="3393958"/>
            <a:ext cx="3736028" cy="142844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43852" y="2962789"/>
            <a:ext cx="1098293" cy="3221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>
                <a:cs typeface="Arial" pitchFamily="34" charset="0"/>
              </a:rPr>
              <a:t>기본 </a:t>
            </a:r>
            <a:r>
              <a:rPr lang="en-US" altLang="ko-KR" sz="900" dirty="0" err="1">
                <a:cs typeface="Arial" pitchFamily="34" charset="0"/>
              </a:rPr>
              <a:t>DataSource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929637" y="3895455"/>
            <a:ext cx="1098293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Optional</a:t>
            </a:r>
            <a:r>
              <a:rPr lang="ko-KR" altLang="en-US" sz="900" dirty="0">
                <a:cs typeface="Arial" pitchFamily="34" charset="0"/>
              </a:rPr>
              <a:t> </a:t>
            </a:r>
            <a:r>
              <a:rPr lang="en-US" altLang="ko-KR" sz="900" dirty="0" err="1">
                <a:cs typeface="Arial" pitchFamily="34" charset="0"/>
              </a:rPr>
              <a:t>DataSource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266949" y="3933328"/>
            <a:ext cx="1777306" cy="3497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배치 환경에서는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설정을 </a:t>
            </a:r>
            <a:r>
              <a:rPr lang="en-US" altLang="ko-KR" sz="1000" dirty="0">
                <a:cs typeface="Arial" pitchFamily="34" charset="0"/>
              </a:rPr>
              <a:t>FW </a:t>
            </a:r>
            <a:r>
              <a:rPr lang="ko-KR" altLang="en-US" sz="1000" dirty="0" err="1">
                <a:cs typeface="Arial" pitchFamily="34" charset="0"/>
              </a:rPr>
              <a:t>설정파일로</a:t>
            </a:r>
            <a:r>
              <a:rPr lang="ko-KR" altLang="en-US" sz="1000" dirty="0">
                <a:cs typeface="Arial" pitchFamily="34" charset="0"/>
              </a:rPr>
              <a:t> 관리함</a:t>
            </a:r>
            <a:endParaRPr lang="en-US" altLang="ko-KR" sz="1000" dirty="0">
              <a:cs typeface="Arial" pitchFamily="34" charset="0"/>
            </a:endParaRPr>
          </a:p>
        </p:txBody>
      </p:sp>
      <p:sp>
        <p:nvSpPr>
          <p:cNvPr id="100" name="사각형 설명선 99"/>
          <p:cNvSpPr/>
          <p:nvPr/>
        </p:nvSpPr>
        <p:spPr>
          <a:xfrm>
            <a:off x="3458473" y="4492844"/>
            <a:ext cx="4049569" cy="917973"/>
          </a:xfrm>
          <a:prstGeom prst="wedgeRectCallout">
            <a:avLst>
              <a:gd name="adj1" fmla="val -53658"/>
              <a:gd name="adj2" fmla="val -37928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배치에서 온라인 공유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FM/DM/DBIO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실행 가능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FM/DM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에서 동일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로 처리되도록 매핑 설정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동일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대상의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CUD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는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()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호출시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배치와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공유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내의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CUD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가 같은 트랜잭션으로 처리됨 </a:t>
            </a:r>
          </a:p>
        </p:txBody>
      </p:sp>
      <p:sp>
        <p:nvSpPr>
          <p:cNvPr id="31" name="자유형 30"/>
          <p:cNvSpPr/>
          <p:nvPr/>
        </p:nvSpPr>
        <p:spPr>
          <a:xfrm>
            <a:off x="2419487" y="2371725"/>
            <a:ext cx="676420" cy="3052290"/>
          </a:xfrm>
          <a:custGeom>
            <a:avLst/>
            <a:gdLst>
              <a:gd name="connsiteX0" fmla="*/ 47625 w 676420"/>
              <a:gd name="connsiteY0" fmla="*/ 0 h 2438400"/>
              <a:gd name="connsiteX1" fmla="*/ 676275 w 676420"/>
              <a:gd name="connsiteY1" fmla="*/ 1485900 h 2438400"/>
              <a:gd name="connsiteX2" fmla="*/ 0 w 676420"/>
              <a:gd name="connsiteY2" fmla="*/ 243840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420" h="2438400">
                <a:moveTo>
                  <a:pt x="47625" y="0"/>
                </a:moveTo>
                <a:cubicBezTo>
                  <a:pt x="365918" y="539750"/>
                  <a:pt x="684212" y="1079500"/>
                  <a:pt x="676275" y="1485900"/>
                </a:cubicBezTo>
                <a:cubicBezTo>
                  <a:pt x="668338" y="1892300"/>
                  <a:pt x="334169" y="2165350"/>
                  <a:pt x="0" y="2438400"/>
                </a:cubicBezTo>
              </a:path>
            </a:pathLst>
          </a:cu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5529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배치에서의 변경로그 기록 및 구조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금융감독원 권고사항에 따라 배치</a:t>
            </a:r>
            <a:r>
              <a:rPr lang="en-US" altLang="ko-KR"/>
              <a:t>(Batch) </a:t>
            </a:r>
            <a:r>
              <a:rPr lang="ko-KR" altLang="en-US"/>
              <a:t>작업에서 원장</a:t>
            </a:r>
            <a:r>
              <a:rPr lang="en-US" altLang="ko-KR"/>
              <a:t>(</a:t>
            </a:r>
            <a:r>
              <a:rPr lang="ko-KR" altLang="en-US"/>
              <a:t>계좌정보</a:t>
            </a:r>
            <a:r>
              <a:rPr lang="en-US" altLang="ko-KR"/>
              <a:t>, </a:t>
            </a:r>
            <a:r>
              <a:rPr lang="ko-KR" altLang="en-US"/>
              <a:t>거래내역 등</a:t>
            </a:r>
            <a:r>
              <a:rPr lang="en-US" altLang="ko-KR"/>
              <a:t>)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변경할 때</a:t>
            </a:r>
            <a:r>
              <a:rPr lang="en-US" altLang="ko-KR"/>
              <a:t>, </a:t>
            </a:r>
            <a:r>
              <a:rPr lang="ko-KR" altLang="en-US"/>
              <a:t>변경 전</a:t>
            </a:r>
            <a:r>
              <a:rPr lang="en-US" altLang="ko-KR"/>
              <a:t>/</a:t>
            </a:r>
            <a:r>
              <a:rPr lang="ko-KR" altLang="en-US"/>
              <a:t>후 정보를 로그로 남기는 기능을 제공함</a:t>
            </a:r>
            <a:endParaRPr lang="ko-KR" altLang="en-US" dirty="0"/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1922636" y="2566968"/>
            <a:ext cx="1299125" cy="3001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2289" y="2611298"/>
            <a:ext cx="1159817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배치 프로그램 실행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Text Box 25">
            <a:extLst>
              <a:ext uri="{FF2B5EF4-FFF2-40B4-BE49-F238E27FC236}">
                <a16:creationId xmlns:a16="http://schemas.microsoft.com/office/drawing/2014/main" id="{F4D20FDC-38D8-46E3-980C-436B704A3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636" y="3128392"/>
            <a:ext cx="1299125" cy="699823"/>
          </a:xfrm>
          <a:prstGeom prst="diamond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3CEE15-1152-4A17-86A2-430F583ACAF9}"/>
              </a:ext>
            </a:extLst>
          </p:cNvPr>
          <p:cNvSpPr txBox="1"/>
          <p:nvPr/>
        </p:nvSpPr>
        <p:spPr>
          <a:xfrm>
            <a:off x="2002989" y="3372573"/>
            <a:ext cx="1159817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원장 변경 발생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18AEA5A4-6BF5-4165-AF64-2CDC7D420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608" y="4123195"/>
            <a:ext cx="1375096" cy="698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AEF3C5-DDC2-416B-B990-0E1053F8382F}"/>
              </a:ext>
            </a:extLst>
          </p:cNvPr>
          <p:cNvSpPr txBox="1"/>
          <p:nvPr/>
        </p:nvSpPr>
        <p:spPr>
          <a:xfrm>
            <a:off x="1049939" y="4203004"/>
            <a:ext cx="1159817" cy="48845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solidFill>
                  <a:srgbClr val="0070C0"/>
                </a:solidFill>
                <a:cs typeface="Arial" pitchFamily="34" charset="0"/>
              </a:rPr>
              <a:t>방법 </a:t>
            </a:r>
            <a:r>
              <a:rPr lang="en-US" altLang="ko-KR" sz="1000" b="1">
                <a:solidFill>
                  <a:srgbClr val="0070C0"/>
                </a:solidFill>
                <a:cs typeface="Arial" pitchFamily="34" charset="0"/>
              </a:rPr>
              <a:t>1</a:t>
            </a:r>
          </a:p>
          <a:p>
            <a:pPr algn="ctr"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DBM(DBIO) </a:t>
            </a:r>
            <a:r>
              <a:rPr lang="ko-KR" altLang="en-US" sz="1000" b="1">
                <a:cs typeface="Arial" pitchFamily="34" charset="0"/>
              </a:rPr>
              <a:t>모듈 호출을 통한 </a:t>
            </a:r>
            <a:r>
              <a:rPr lang="en-US" altLang="ko-KR" sz="1000" b="1">
                <a:cs typeface="Arial" pitchFamily="34" charset="0"/>
              </a:rPr>
              <a:t>FW</a:t>
            </a:r>
            <a:r>
              <a:rPr lang="ko-KR" altLang="en-US" sz="1000" b="1">
                <a:cs typeface="Arial" pitchFamily="34" charset="0"/>
              </a:rPr>
              <a:t>로깅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37" name="Text Box 25">
            <a:extLst>
              <a:ext uri="{FF2B5EF4-FFF2-40B4-BE49-F238E27FC236}">
                <a16:creationId xmlns:a16="http://schemas.microsoft.com/office/drawing/2014/main" id="{A4BEA74F-4D30-4C6F-8C9D-025CB324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3828" y="4123195"/>
            <a:ext cx="1375096" cy="69982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50D8AF-E06F-4ED1-9C7E-00B07B3AA1FF}"/>
              </a:ext>
            </a:extLst>
          </p:cNvPr>
          <p:cNvSpPr txBox="1"/>
          <p:nvPr/>
        </p:nvSpPr>
        <p:spPr>
          <a:xfrm>
            <a:off x="3001467" y="4133761"/>
            <a:ext cx="1159817" cy="62695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solidFill>
                  <a:srgbClr val="0070C0"/>
                </a:solidFill>
                <a:cs typeface="Arial" pitchFamily="34" charset="0"/>
              </a:rPr>
              <a:t>방법 </a:t>
            </a:r>
            <a:r>
              <a:rPr lang="en-US" altLang="ko-KR" sz="1000" b="1">
                <a:solidFill>
                  <a:srgbClr val="0070C0"/>
                </a:solidFill>
                <a:cs typeface="Arial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개발자가 변경로그 </a:t>
            </a:r>
            <a:r>
              <a:rPr lang="en-US" altLang="ko-KR" sz="1000" b="1">
                <a:cs typeface="Arial" pitchFamily="34" charset="0"/>
              </a:rPr>
              <a:t>API</a:t>
            </a:r>
            <a:r>
              <a:rPr lang="ko-KR" altLang="en-US" sz="1000" b="1">
                <a:cs typeface="Arial" pitchFamily="34" charset="0"/>
              </a:rPr>
              <a:t>로 직접 로깅</a:t>
            </a:r>
            <a:endParaRPr lang="en-US" altLang="ko-KR" sz="1000" b="1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(XSQL, DU(DM)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7BD9D248-F512-489F-AF6F-18FF4EADD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701" y="2395517"/>
            <a:ext cx="50006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 작업</a:t>
            </a:r>
            <a:endParaRPr lang="en-US" altLang="ko-KR" sz="800" dirty="0">
              <a:latin typeface="+mn-ea"/>
              <a:ea typeface="+mn-ea"/>
            </a:endParaRPr>
          </a:p>
        </p:txBody>
      </p:sp>
      <p:pic>
        <p:nvPicPr>
          <p:cNvPr id="44" name="Picture 6">
            <a:extLst>
              <a:ext uri="{FF2B5EF4-FFF2-40B4-BE49-F238E27FC236}">
                <a16:creationId xmlns:a16="http://schemas.microsoft.com/office/drawing/2014/main" id="{72A6652F-9D8B-4ADD-9187-7E9627BC1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808" y="2024844"/>
            <a:ext cx="3238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16CA050-797C-4EA7-86F4-1D7C2BF67125}"/>
              </a:ext>
            </a:extLst>
          </p:cNvPr>
          <p:cNvCxnSpPr>
            <a:cxnSpLocks/>
            <a:stCxn id="76" idx="2"/>
            <a:endCxn id="32" idx="0"/>
          </p:cNvCxnSpPr>
          <p:nvPr/>
        </p:nvCxnSpPr>
        <p:spPr>
          <a:xfrm>
            <a:off x="2572199" y="2867089"/>
            <a:ext cx="0" cy="26130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6F21BA42-F6E4-44D1-B6E7-3AF6EADAE8ED}"/>
              </a:ext>
            </a:extLst>
          </p:cNvPr>
          <p:cNvCxnSpPr>
            <a:stCxn id="32" idx="1"/>
            <a:endCxn id="34" idx="0"/>
          </p:cNvCxnSpPr>
          <p:nvPr/>
        </p:nvCxnSpPr>
        <p:spPr>
          <a:xfrm rot="10800000" flipV="1">
            <a:off x="1601156" y="3478303"/>
            <a:ext cx="321480" cy="644891"/>
          </a:xfrm>
          <a:prstGeom prst="curved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2E354F06-FC6C-49E4-82FA-36CB7B46484B}"/>
              </a:ext>
            </a:extLst>
          </p:cNvPr>
          <p:cNvCxnSpPr>
            <a:stCxn id="32" idx="3"/>
            <a:endCxn id="37" idx="0"/>
          </p:cNvCxnSpPr>
          <p:nvPr/>
        </p:nvCxnSpPr>
        <p:spPr>
          <a:xfrm>
            <a:off x="3221761" y="3478304"/>
            <a:ext cx="359615" cy="644891"/>
          </a:xfrm>
          <a:prstGeom prst="curved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3BAA59-8D84-4EAD-B1A1-301115A0034D}"/>
              </a:ext>
            </a:extLst>
          </p:cNvPr>
          <p:cNvSpPr/>
          <p:nvPr/>
        </p:nvSpPr>
        <p:spPr>
          <a:xfrm>
            <a:off x="1886360" y="5462395"/>
            <a:ext cx="1363298" cy="4355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753340-157A-4689-81BB-9CBA9A1A4A99}"/>
              </a:ext>
            </a:extLst>
          </p:cNvPr>
          <p:cNvSpPr txBox="1"/>
          <p:nvPr/>
        </p:nvSpPr>
        <p:spPr>
          <a:xfrm>
            <a:off x="1992289" y="5503889"/>
            <a:ext cx="1159817" cy="3499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변경 전</a:t>
            </a:r>
            <a:r>
              <a:rPr lang="en-US" altLang="ko-KR" sz="1000" b="1">
                <a:cs typeface="Arial" pitchFamily="34" charset="0"/>
              </a:rPr>
              <a:t>/</a:t>
            </a:r>
            <a:r>
              <a:rPr lang="ko-KR" altLang="en-US" sz="1000" b="1">
                <a:cs typeface="Arial" pitchFamily="34" charset="0"/>
              </a:rPr>
              <a:t>후 데이터</a:t>
            </a:r>
            <a:endParaRPr lang="en-US" altLang="ko-KR" sz="1000" b="1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(Before/After)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57" name="모서리가 둥근 직사각형 7">
            <a:extLst>
              <a:ext uri="{FF2B5EF4-FFF2-40B4-BE49-F238E27FC236}">
                <a16:creationId xmlns:a16="http://schemas.microsoft.com/office/drawing/2014/main" id="{08F27D37-3931-4C25-9E02-3EAFE2F957E4}"/>
              </a:ext>
            </a:extLst>
          </p:cNvPr>
          <p:cNvSpPr/>
          <p:nvPr/>
        </p:nvSpPr>
        <p:spPr>
          <a:xfrm>
            <a:off x="271463" y="1842176"/>
            <a:ext cx="4537521" cy="4611424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grpSp>
        <p:nvGrpSpPr>
          <p:cNvPr id="58" name="Group 284">
            <a:extLst>
              <a:ext uri="{FF2B5EF4-FFF2-40B4-BE49-F238E27FC236}">
                <a16:creationId xmlns:a16="http://schemas.microsoft.com/office/drawing/2014/main" id="{DAEE5C5D-E7A3-457C-B51C-73E3264308FD}"/>
              </a:ext>
            </a:extLst>
          </p:cNvPr>
          <p:cNvGrpSpPr/>
          <p:nvPr/>
        </p:nvGrpSpPr>
        <p:grpSpPr bwMode="gray">
          <a:xfrm>
            <a:off x="236538" y="1421700"/>
            <a:ext cx="4572446" cy="316485"/>
            <a:chOff x="4085431" y="1867183"/>
            <a:chExt cx="658192" cy="316485"/>
          </a:xfrm>
        </p:grpSpPr>
        <p:cxnSp>
          <p:nvCxnSpPr>
            <p:cNvPr id="59" name="Straight Connector 285">
              <a:extLst>
                <a:ext uri="{FF2B5EF4-FFF2-40B4-BE49-F238E27FC236}">
                  <a16:creationId xmlns:a16="http://schemas.microsoft.com/office/drawing/2014/main" id="{2095B23C-26B3-44C2-A9F2-82906D18002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10916BD-E125-477E-A0DC-FDBC9B2F821D}"/>
                </a:ext>
              </a:extLst>
            </p:cNvPr>
            <p:cNvSpPr txBox="1"/>
            <p:nvPr/>
          </p:nvSpPr>
          <p:spPr bwMode="gray">
            <a:xfrm>
              <a:off x="4085431" y="1867183"/>
              <a:ext cx="352135" cy="307777"/>
            </a:xfrm>
            <a:prstGeom prst="rect">
              <a:avLst/>
            </a:prstGeom>
            <a:noFill/>
          </p:spPr>
          <p:txBody>
            <a:bodyPr wrap="squar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배치 변경로그 기록 구조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D57CA60-E486-42EE-969B-8315B4751518}"/>
              </a:ext>
            </a:extLst>
          </p:cNvPr>
          <p:cNvSpPr/>
          <p:nvPr/>
        </p:nvSpPr>
        <p:spPr>
          <a:xfrm>
            <a:off x="668524" y="3952956"/>
            <a:ext cx="3833741" cy="1036774"/>
          </a:xfrm>
          <a:prstGeom prst="round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1" name="Text Box 25">
            <a:extLst>
              <a:ext uri="{FF2B5EF4-FFF2-40B4-BE49-F238E27FC236}">
                <a16:creationId xmlns:a16="http://schemas.microsoft.com/office/drawing/2014/main" id="{C8B546DF-885C-4E02-867E-70AF82A8A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61" y="3880948"/>
            <a:ext cx="743871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b="1">
                <a:highlight>
                  <a:srgbClr val="FFFF00"/>
                </a:highlight>
                <a:latin typeface="+mn-ea"/>
                <a:ea typeface="+mn-ea"/>
              </a:rPr>
              <a:t>로깅 방법 선택</a:t>
            </a:r>
            <a:endParaRPr lang="en-US" altLang="ko-KR" sz="800" b="1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E6D9F0D-B953-45D5-96F9-BCAE08B5BF82}"/>
              </a:ext>
            </a:extLst>
          </p:cNvPr>
          <p:cNvSpPr/>
          <p:nvPr/>
        </p:nvSpPr>
        <p:spPr>
          <a:xfrm>
            <a:off x="683242" y="5135485"/>
            <a:ext cx="3833741" cy="1055390"/>
          </a:xfrm>
          <a:prstGeom prst="round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3" name="Text Box 25">
            <a:extLst>
              <a:ext uri="{FF2B5EF4-FFF2-40B4-BE49-F238E27FC236}">
                <a16:creationId xmlns:a16="http://schemas.microsoft.com/office/drawing/2014/main" id="{CB53F1F4-73C8-482C-BB77-13AEBCA8D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63" y="5072515"/>
            <a:ext cx="743871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b="1">
                <a:highlight>
                  <a:srgbClr val="FFFF00"/>
                </a:highlight>
                <a:latin typeface="+mn-ea"/>
                <a:ea typeface="+mn-ea"/>
              </a:rPr>
              <a:t>로그 파일 저장</a:t>
            </a:r>
            <a:endParaRPr lang="en-US" altLang="ko-KR" sz="800" b="1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grpSp>
        <p:nvGrpSpPr>
          <p:cNvPr id="75" name="Group 284">
            <a:extLst>
              <a:ext uri="{FF2B5EF4-FFF2-40B4-BE49-F238E27FC236}">
                <a16:creationId xmlns:a16="http://schemas.microsoft.com/office/drawing/2014/main" id="{E9736DBD-A162-4D12-884B-010C0323CE4F}"/>
              </a:ext>
            </a:extLst>
          </p:cNvPr>
          <p:cNvGrpSpPr/>
          <p:nvPr/>
        </p:nvGrpSpPr>
        <p:grpSpPr bwMode="gray">
          <a:xfrm>
            <a:off x="5133020" y="1412776"/>
            <a:ext cx="4491505" cy="325409"/>
            <a:chOff x="4087876" y="1858259"/>
            <a:chExt cx="655747" cy="325409"/>
          </a:xfrm>
        </p:grpSpPr>
        <p:cxnSp>
          <p:nvCxnSpPr>
            <p:cNvPr id="77" name="Straight Connector 285">
              <a:extLst>
                <a:ext uri="{FF2B5EF4-FFF2-40B4-BE49-F238E27FC236}">
                  <a16:creationId xmlns:a16="http://schemas.microsoft.com/office/drawing/2014/main" id="{74A04642-2FBA-4E84-9FFD-FEB99037CE23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56D41DC-3E1E-4F3E-B5CD-64EF10D0F67B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171947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로깅 방법 비교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80" name="표 61">
            <a:extLst>
              <a:ext uri="{FF2B5EF4-FFF2-40B4-BE49-F238E27FC236}">
                <a16:creationId xmlns:a16="http://schemas.microsoft.com/office/drawing/2014/main" id="{29503DFA-755B-42A9-BBB6-B6370E856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27333"/>
              </p:ext>
            </p:extLst>
          </p:nvPr>
        </p:nvGraphicFramePr>
        <p:xfrm>
          <a:off x="5133021" y="1846366"/>
          <a:ext cx="4482268" cy="401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37">
                  <a:extLst>
                    <a:ext uri="{9D8B030D-6E8A-4147-A177-3AD203B41FA5}">
                      <a16:colId xmlns:a16="http://schemas.microsoft.com/office/drawing/2014/main" val="1922856484"/>
                    </a:ext>
                  </a:extLst>
                </a:gridCol>
                <a:gridCol w="197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8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방법 </a:t>
                      </a:r>
                      <a:r>
                        <a:rPr lang="en-US" altLang="ko-KR" sz="105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1: DBM(DBIO) </a:t>
                      </a:r>
                      <a:r>
                        <a:rPr lang="ko-KR" altLang="en-US" sz="105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모듈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방법 </a:t>
                      </a:r>
                      <a:r>
                        <a:rPr lang="en-US" altLang="ko-KR" sz="105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2: </a:t>
                      </a:r>
                      <a:r>
                        <a:rPr lang="ko-KR" altLang="en-US" sz="105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개발자 직접 로깅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 조건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배치에서 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DBIO 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모듈 호출</a:t>
                      </a:r>
                      <a:endParaRPr lang="en-US" altLang="ko-KR" sz="105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수시배치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초회차포함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자동화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초회차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setChgLogLoggingYn(true)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설정</a:t>
                      </a:r>
                      <a:endParaRPr lang="en-US" altLang="ko-KR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XSQL,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DU(DM) 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endParaRPr lang="en-US" altLang="ko-KR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로그생성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로깅 처리</a:t>
                      </a:r>
                      <a:endParaRPr lang="en-US" altLang="ko-KR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개발자가 직접 로깅</a:t>
                      </a:r>
                      <a:endParaRPr lang="en-US" altLang="ko-KR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62837"/>
                  </a:ext>
                </a:extLst>
              </a:tr>
              <a:tr h="1129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장점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편리함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누락방지</a:t>
                      </a:r>
                      <a:endParaRPr lang="en-US" altLang="ko-KR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개발자가 직접 제어</a:t>
                      </a:r>
                      <a:endParaRPr lang="en-US" altLang="ko-KR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1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선정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 시점의 모든 조건이 만족할 때 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txCommit() 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시점의 </a:t>
                      </a:r>
                      <a:r>
                        <a:rPr lang="en-US" altLang="ko-KR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CUD </a:t>
                      </a: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</a:t>
                      </a:r>
                      <a:endParaRPr lang="en-US" altLang="ko-KR" sz="105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개발자가 적용</a:t>
                      </a:r>
                      <a:endParaRPr lang="ko-KR" altLang="en-US" sz="105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63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5271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배치에서의 변경로그 기록 및 구조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1463" y="1842176"/>
            <a:ext cx="4681537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3" y="2417942"/>
            <a:ext cx="1000111" cy="25349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 프로그램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(Java)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4" y="4728843"/>
            <a:ext cx="828000" cy="22409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JVM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en-US" altLang="ko-KR" dirty="0"/>
              <a:t>Job </a:t>
            </a:r>
            <a:r>
              <a:rPr lang="ko-KR" altLang="en-US" dirty="0"/>
              <a:t>당 </a:t>
            </a:r>
            <a:r>
              <a:rPr lang="en-US" altLang="ko-KR" dirty="0"/>
              <a:t>Shell </a:t>
            </a:r>
            <a:r>
              <a:rPr lang="ko-KR" altLang="en-US" dirty="0"/>
              <a:t>에서 업무 배치 프로그램을 호출하는 방식으로</a:t>
            </a:r>
            <a:r>
              <a:rPr lang="en-US" altLang="ko-KR" dirty="0"/>
              <a:t>, </a:t>
            </a:r>
            <a:r>
              <a:rPr lang="ko-KR" altLang="en-US" dirty="0"/>
              <a:t>배치 프로그램은 별도 계층 구조 없이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Class/Method</a:t>
            </a:r>
            <a:r>
              <a:rPr lang="ko-KR" altLang="en-US" dirty="0"/>
              <a:t>로 구현하며</a:t>
            </a:r>
            <a:r>
              <a:rPr lang="en-US" altLang="ko-KR" dirty="0"/>
              <a:t>, </a:t>
            </a:r>
            <a:r>
              <a:rPr lang="ko-KR" altLang="en-US" dirty="0"/>
              <a:t>하나의 배치 프로그램에서 처리되는 모든 </a:t>
            </a:r>
            <a:r>
              <a:rPr lang="en-US" altLang="ko-KR" dirty="0"/>
              <a:t>SQL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XSQL </a:t>
            </a:r>
            <a:r>
              <a:rPr lang="ko-KR" altLang="en-US" dirty="0"/>
              <a:t>로 구성함</a:t>
            </a:r>
          </a:p>
        </p:txBody>
      </p:sp>
      <p:grpSp>
        <p:nvGrpSpPr>
          <p:cNvPr id="13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61129" y="1412776"/>
            <a:ext cx="4691872" cy="325409"/>
            <a:chOff x="4087876" y="1858259"/>
            <a:chExt cx="655747" cy="325409"/>
          </a:xfrm>
        </p:grpSpPr>
        <p:cxnSp>
          <p:nvCxnSpPr>
            <p:cNvPr id="14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148020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프로그램 구조</a:t>
              </a:r>
            </a:p>
          </p:txBody>
        </p:sp>
      </p:grpSp>
      <p:grpSp>
        <p:nvGrpSpPr>
          <p:cNvPr id="16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5187191" y="1412776"/>
            <a:ext cx="4491505" cy="325409"/>
            <a:chOff x="4087876" y="1858259"/>
            <a:chExt cx="655747" cy="325409"/>
          </a:xfrm>
        </p:grpSpPr>
        <p:cxnSp>
          <p:nvCxnSpPr>
            <p:cNvPr id="17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258476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프로그램 설계 규칙</a:t>
              </a:r>
            </a:p>
          </p:txBody>
        </p:sp>
      </p:grpSp>
      <p:sp>
        <p:nvSpPr>
          <p:cNvPr id="1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570" y="2417941"/>
            <a:ext cx="748044" cy="253499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쉘 스크립트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8008" y="2417942"/>
            <a:ext cx="828000" cy="9922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XSQL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4535" y="3660774"/>
            <a:ext cx="764427" cy="3252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FIO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22" name="Group 43"/>
          <p:cNvGrpSpPr>
            <a:grpSpLocks/>
          </p:cNvGrpSpPr>
          <p:nvPr/>
        </p:nvGrpSpPr>
        <p:grpSpPr bwMode="auto">
          <a:xfrm>
            <a:off x="4091807" y="3694768"/>
            <a:ext cx="723909" cy="372940"/>
            <a:chOff x="401" y="3124"/>
            <a:chExt cx="1139" cy="531"/>
          </a:xfrm>
          <a:solidFill>
            <a:schemeClr val="bg1"/>
          </a:solidFill>
        </p:grpSpPr>
        <p:sp>
          <p:nvSpPr>
            <p:cNvPr id="23" name="AutoShape 201"/>
            <p:cNvSpPr>
              <a:spLocks noChangeArrowheads="1"/>
            </p:cNvSpPr>
            <p:nvPr/>
          </p:nvSpPr>
          <p:spPr bwMode="auto">
            <a:xfrm>
              <a:off x="500" y="3173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SAM</a:t>
              </a:r>
            </a:p>
          </p:txBody>
        </p:sp>
        <p:sp>
          <p:nvSpPr>
            <p:cNvPr id="24" name="AutoShape 241"/>
            <p:cNvSpPr>
              <a:spLocks noChangeArrowheads="1"/>
            </p:cNvSpPr>
            <p:nvPr/>
          </p:nvSpPr>
          <p:spPr bwMode="auto">
            <a:xfrm>
              <a:off x="401" y="3124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File</a:t>
              </a:r>
            </a:p>
          </p:txBody>
        </p:sp>
      </p:grpSp>
      <p:sp>
        <p:nvSpPr>
          <p:cNvPr id="25" name="AutoShape 256"/>
          <p:cNvSpPr>
            <a:spLocks noChangeArrowheads="1"/>
          </p:cNvSpPr>
          <p:nvPr/>
        </p:nvSpPr>
        <p:spPr bwMode="auto">
          <a:xfrm>
            <a:off x="4091807" y="2439638"/>
            <a:ext cx="720000" cy="449267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베이스</a:t>
            </a:r>
            <a:endParaRPr lang="en-US" altLang="ko-KR" sz="1000" b="0" dirty="0">
              <a:latin typeface="+mn-ea"/>
              <a:ea typeface="+mn-ea"/>
            </a:endParaRPr>
          </a:p>
        </p:txBody>
      </p:sp>
      <p:graphicFrame>
        <p:nvGraphicFramePr>
          <p:cNvPr id="26" name="표 61"/>
          <p:cNvGraphicFramePr>
            <a:graphicFrameLocks noGrp="1"/>
          </p:cNvGraphicFramePr>
          <p:nvPr/>
        </p:nvGraphicFramePr>
        <p:xfrm>
          <a:off x="5187192" y="1808170"/>
          <a:ext cx="4482268" cy="464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3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8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 구성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마다 별도의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JVM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프로세스로 기동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배치는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무계층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구조나 최대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계층 프로그램으로 구성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 배치 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 Class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배치유닛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스탭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클래스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Main Method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XSQL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마다 배치 프로파일 정보 등록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쉘 구성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프로그램과 배치 쉘 파일은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1:1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 기본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병렬 처리를 위해 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1:N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재활용 목적으로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파라미터를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다르게히여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N:1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62837"/>
                  </a:ext>
                </a:extLst>
              </a:tr>
              <a:tr h="1129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11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배치 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구성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배치에서 사용되는 모든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등록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개발도구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설계기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이용하여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XA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불가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JDBC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가능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멀티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활용한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조회는 가능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명시적으로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Commit/Rollback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수행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1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 처리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(FIO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정의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Read/Write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위해 파일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Layout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FIO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정의 생성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FIO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통한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IRecordSet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스트림간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변환 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63552"/>
                  </a:ext>
                </a:extLst>
              </a:tr>
              <a:tr h="5244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공유모듈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호출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프로그램에서 온라인 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호출 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DM/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은 동일 어플리케이션 범위에서만 호출 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407502"/>
                  </a:ext>
                </a:extLst>
              </a:tr>
            </a:tbl>
          </a:graphicData>
        </a:graphic>
      </p:graphicFrame>
      <p:sp>
        <p:nvSpPr>
          <p:cNvPr id="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7924" y="2636912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SQL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8784" y="2888905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SQL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53052" y="3071975"/>
            <a:ext cx="720000" cy="55023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Main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Method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88604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cxnSp>
        <p:nvCxnSpPr>
          <p:cNvPr id="31" name="직선 화살표 연결선 30"/>
          <p:cNvCxnSpPr>
            <a:cxnSpLocks/>
            <a:stCxn id="19" idx="3"/>
            <a:endCxn id="10" idx="1"/>
          </p:cNvCxnSpPr>
          <p:nvPr/>
        </p:nvCxnSpPr>
        <p:spPr>
          <a:xfrm>
            <a:off x="1169614" y="3685440"/>
            <a:ext cx="326989" cy="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6"/>
          <p:cNvCxnSpPr>
            <a:stCxn id="29" idx="3"/>
            <a:endCxn id="20" idx="1"/>
          </p:cNvCxnSpPr>
          <p:nvPr/>
        </p:nvCxnSpPr>
        <p:spPr>
          <a:xfrm flipV="1">
            <a:off x="2273052" y="2914092"/>
            <a:ext cx="614956" cy="432999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7"/>
          <p:cNvCxnSpPr>
            <a:stCxn id="29" idx="3"/>
            <a:endCxn id="21" idx="1"/>
          </p:cNvCxnSpPr>
          <p:nvPr/>
        </p:nvCxnSpPr>
        <p:spPr>
          <a:xfrm>
            <a:off x="2273052" y="3347091"/>
            <a:ext cx="611483" cy="47630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36087" y="3705367"/>
            <a:ext cx="764427" cy="3252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FIO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5" name="직선 화살표 연결선 39"/>
          <p:cNvCxnSpPr>
            <a:stCxn id="27" idx="3"/>
            <a:endCxn id="25" idx="2"/>
          </p:cNvCxnSpPr>
          <p:nvPr/>
        </p:nvCxnSpPr>
        <p:spPr>
          <a:xfrm flipV="1">
            <a:off x="3564762" y="2664272"/>
            <a:ext cx="527045" cy="74574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4" idx="3"/>
            <a:endCxn id="24" idx="1"/>
          </p:cNvCxnSpPr>
          <p:nvPr/>
        </p:nvCxnSpPr>
        <p:spPr>
          <a:xfrm flipV="1">
            <a:off x="3700514" y="3864031"/>
            <a:ext cx="391293" cy="395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256"/>
          <p:cNvSpPr>
            <a:spLocks noChangeArrowheads="1"/>
          </p:cNvSpPr>
          <p:nvPr/>
        </p:nvSpPr>
        <p:spPr bwMode="auto">
          <a:xfrm>
            <a:off x="4091807" y="2992895"/>
            <a:ext cx="720000" cy="467294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베이스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38" name="직선 화살표 연결선 48"/>
          <p:cNvCxnSpPr>
            <a:stCxn id="28" idx="3"/>
            <a:endCxn id="37" idx="2"/>
          </p:cNvCxnSpPr>
          <p:nvPr/>
        </p:nvCxnSpPr>
        <p:spPr>
          <a:xfrm>
            <a:off x="3565622" y="2990839"/>
            <a:ext cx="526185" cy="23570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8784" y="3133167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…..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1689" y="3861096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DM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245689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Read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19765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Write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686617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Read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85750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Write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68497" y="340048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기본</a:t>
            </a:r>
            <a:endParaRPr lang="en-US" altLang="ko-KR" sz="800" kern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8163" y="266427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8163" y="3846744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n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381884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2838003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2838003" y="351320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187073" y="204330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187073" y="3007935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5187073" y="393305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5187073" y="504860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5187073" y="580354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68497" y="38701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noProof="0" dirty="0">
                <a:latin typeface="+mn-ea"/>
              </a:rPr>
              <a:t>필요시</a:t>
            </a:r>
            <a:endParaRPr lang="en-US" altLang="ko-KR" sz="800" kern="0" noProof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dirty="0">
                <a:ln>
                  <a:noFill/>
                </a:ln>
                <a:effectLst/>
                <a:uLnTx/>
                <a:uFillTx/>
                <a:latin typeface="+mn-ea"/>
              </a:rPr>
              <a:t>1 : n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n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AutoShape 256"/>
          <p:cNvSpPr>
            <a:spLocks noChangeArrowheads="1"/>
          </p:cNvSpPr>
          <p:nvPr/>
        </p:nvSpPr>
        <p:spPr bwMode="auto">
          <a:xfrm>
            <a:off x="426442" y="5077454"/>
            <a:ext cx="743172" cy="295762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배치 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sp>
        <p:nvSpPr>
          <p:cNvPr id="5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4" y="4509120"/>
            <a:ext cx="828000" cy="22409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lvl="0" algn="ctr" eaLnBrk="0" hangingPunct="0">
              <a:buSzPct val="100000"/>
              <a:defRPr/>
            </a:pPr>
            <a:r>
              <a:rPr lang="en-US" altLang="ko-KR" sz="900" dirty="0"/>
              <a:t>n-KESA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F/W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0" name="직선 화살표 연결선 67"/>
          <p:cNvCxnSpPr>
            <a:cxnSpLocks/>
            <a:stCxn id="29" idx="2"/>
            <a:endCxn id="40" idx="0"/>
          </p:cNvCxnSpPr>
          <p:nvPr/>
        </p:nvCxnSpPr>
        <p:spPr>
          <a:xfrm rot="16200000" flipH="1">
            <a:off x="1840616" y="3694643"/>
            <a:ext cx="238889" cy="94016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37"/>
          <p:cNvCxnSpPr>
            <a:cxnSpLocks/>
            <a:stCxn id="59" idx="1"/>
            <a:endCxn id="58" idx="4"/>
          </p:cNvCxnSpPr>
          <p:nvPr/>
        </p:nvCxnSpPr>
        <p:spPr>
          <a:xfrm rot="10800000" flipV="1">
            <a:off x="1169614" y="4621167"/>
            <a:ext cx="326990" cy="60416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45412" y="3861096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FM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3" name="직선 화살표 연결선 67"/>
          <p:cNvCxnSpPr>
            <a:cxnSpLocks/>
            <a:stCxn id="29" idx="2"/>
            <a:endCxn id="62" idx="0"/>
          </p:cNvCxnSpPr>
          <p:nvPr/>
        </p:nvCxnSpPr>
        <p:spPr>
          <a:xfrm rot="5400000">
            <a:off x="1682478" y="3630521"/>
            <a:ext cx="238889" cy="222261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/>
        </p:nvSpPr>
        <p:spPr>
          <a:xfrm>
            <a:off x="1428838" y="418510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9CE5018C-05CB-4231-81D5-A6A516800D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77966" y="3861048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700" kern="0" dirty="0">
                <a:solidFill>
                  <a:srgbClr val="000000"/>
                </a:solidFill>
                <a:latin typeface="+mn-ea"/>
              </a:rPr>
              <a:t>DBM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6" name="직선 화살표 연결선 67">
            <a:extLst>
              <a:ext uri="{FF2B5EF4-FFF2-40B4-BE49-F238E27FC236}">
                <a16:creationId xmlns:a16="http://schemas.microsoft.com/office/drawing/2014/main" id="{9F225DC0-D040-4DC3-9E9A-5F7CF6DD023C}"/>
              </a:ext>
            </a:extLst>
          </p:cNvPr>
          <p:cNvCxnSpPr>
            <a:cxnSpLocks/>
            <a:stCxn id="29" idx="2"/>
            <a:endCxn id="65" idx="0"/>
          </p:cNvCxnSpPr>
          <p:nvPr/>
        </p:nvCxnSpPr>
        <p:spPr>
          <a:xfrm rot="16200000" flipH="1">
            <a:off x="1998778" y="3536480"/>
            <a:ext cx="238841" cy="41029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4064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센터컷 처리 </a:t>
            </a:r>
            <a:r>
              <a:rPr lang="en-US" altLang="ko-KR"/>
              <a:t>Flow – </a:t>
            </a:r>
            <a:r>
              <a:rPr lang="ko-KR" altLang="en-US"/>
              <a:t>주기적 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ko-KR" altLang="en-US" dirty="0" err="1"/>
              <a:t>스케쥴러에</a:t>
            </a:r>
            <a:r>
              <a:rPr lang="ko-KR" altLang="en-US" dirty="0"/>
              <a:t> 의해 정기적으로 실행된 업무 배치 프로그램에 의해 </a:t>
            </a:r>
            <a:r>
              <a:rPr lang="ko-KR" altLang="en-US" dirty="0" err="1"/>
              <a:t>입력데이터</a:t>
            </a:r>
            <a:r>
              <a:rPr lang="ko-KR" altLang="en-US" dirty="0"/>
              <a:t> 생성 완료 후 </a:t>
            </a:r>
            <a:r>
              <a:rPr lang="ko-KR" altLang="en-US" dirty="0" err="1"/>
              <a:t>센터컷이</a:t>
            </a:r>
            <a:r>
              <a:rPr lang="ko-KR" altLang="en-US" dirty="0"/>
              <a:t> 실행되는 처리 </a:t>
            </a:r>
            <a:r>
              <a:rPr lang="ko-KR" altLang="en-US" dirty="0" err="1"/>
              <a:t>흐름임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271463" y="1842176"/>
            <a:ext cx="6584878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grpSp>
        <p:nvGrpSpPr>
          <p:cNvPr id="12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36542" y="1409145"/>
            <a:ext cx="6619804" cy="329040"/>
            <a:chOff x="4085431" y="1854628"/>
            <a:chExt cx="658192" cy="329040"/>
          </a:xfrm>
        </p:grpSpPr>
        <p:cxnSp>
          <p:nvCxnSpPr>
            <p:cNvPr id="13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5431" y="1854628"/>
              <a:ext cx="286524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자동화에 의한 주기적 </a:t>
              </a:r>
              <a:r>
                <a:rPr lang="ko-KR" altLang="en-US" sz="1400" b="1" kern="0" dirty="0" err="1">
                  <a:solidFill>
                    <a:srgbClr val="000000"/>
                  </a:solidFill>
                  <a:cs typeface="Arial" panose="020B0604020202020204" pitchFamily="34" charset="0"/>
                </a:rPr>
                <a:t>센터컷</a:t>
              </a: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 처리</a:t>
              </a:r>
            </a:p>
          </p:txBody>
        </p:sp>
      </p:grpSp>
      <p:sp>
        <p:nvSpPr>
          <p:cNvPr id="1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1897089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배치 </a:t>
            </a:r>
            <a:r>
              <a:rPr kumimoji="0" lang="ko-KR" altLang="en-US" sz="1200" b="1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스케쥴러에서</a:t>
            </a: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배치 실행</a:t>
            </a:r>
          </a:p>
        </p:txBody>
      </p:sp>
      <p:sp>
        <p:nvSpPr>
          <p:cNvPr id="16" name="타원 15"/>
          <p:cNvSpPr/>
          <p:nvPr/>
        </p:nvSpPr>
        <p:spPr>
          <a:xfrm>
            <a:off x="7052014" y="181255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18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7140294" y="1412776"/>
            <a:ext cx="2480717" cy="325409"/>
            <a:chOff x="4076646" y="1858259"/>
            <a:chExt cx="666977" cy="325409"/>
          </a:xfrm>
        </p:grpSpPr>
        <p:cxnSp>
          <p:nvCxnSpPr>
            <p:cNvPr id="19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76646" y="1858259"/>
              <a:ext cx="219680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처리 흐름</a:t>
              </a:r>
            </a:p>
          </p:txBody>
        </p:sp>
      </p:grpSp>
      <p:sp>
        <p:nvSpPr>
          <p:cNvPr id="2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428325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200" b="1" kern="0" dirty="0">
                <a:solidFill>
                  <a:srgbClr val="000000"/>
                </a:solidFill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</a:rPr>
              <a:t>배치프로그램에서 </a:t>
            </a:r>
            <a:r>
              <a:rPr kumimoji="0" lang="ko-KR" altLang="en-US" sz="1200" b="1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센터컷</a:t>
            </a:r>
            <a:r>
              <a:rPr lang="en-US" altLang="ko-KR" sz="1200" b="1" kern="0" dirty="0">
                <a:solidFill>
                  <a:srgbClr val="000000"/>
                </a:solidFill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</a:rPr>
              <a:t>요청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7052014" y="334378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2175658"/>
            <a:ext cx="2483578" cy="1044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등록된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작업실행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정보에 기반하여 배치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스케쥴러에서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해당 업무 배치 프로그램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업무 배치 프로그램은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입력 데이터를 적재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717148"/>
            <a:ext cx="2483578" cy="1044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업무 배치 프로그램은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입력 데이터 적재 완료 후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실행 스크립트를 호출하여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요청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26" name="Group 43"/>
          <p:cNvGrpSpPr>
            <a:grpSpLocks/>
          </p:cNvGrpSpPr>
          <p:nvPr/>
        </p:nvGrpSpPr>
        <p:grpSpPr bwMode="auto">
          <a:xfrm>
            <a:off x="1299722" y="4928268"/>
            <a:ext cx="723909" cy="372940"/>
            <a:chOff x="401" y="3124"/>
            <a:chExt cx="1139" cy="531"/>
          </a:xfrm>
          <a:solidFill>
            <a:schemeClr val="bg1"/>
          </a:solidFill>
        </p:grpSpPr>
        <p:sp>
          <p:nvSpPr>
            <p:cNvPr id="27" name="AutoShape 201"/>
            <p:cNvSpPr>
              <a:spLocks noChangeArrowheads="1"/>
            </p:cNvSpPr>
            <p:nvPr/>
          </p:nvSpPr>
          <p:spPr bwMode="auto">
            <a:xfrm>
              <a:off x="500" y="3173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SAM</a:t>
              </a:r>
            </a:p>
          </p:txBody>
        </p:sp>
        <p:sp>
          <p:nvSpPr>
            <p:cNvPr id="28" name="AutoShape 241"/>
            <p:cNvSpPr>
              <a:spLocks noChangeArrowheads="1"/>
            </p:cNvSpPr>
            <p:nvPr/>
          </p:nvSpPr>
          <p:spPr bwMode="auto">
            <a:xfrm>
              <a:off x="401" y="3124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File</a:t>
              </a:r>
            </a:p>
          </p:txBody>
        </p:sp>
      </p:grpSp>
      <p:sp>
        <p:nvSpPr>
          <p:cNvPr id="29" name="AutoShape 256"/>
          <p:cNvSpPr>
            <a:spLocks noChangeArrowheads="1"/>
          </p:cNvSpPr>
          <p:nvPr/>
        </p:nvSpPr>
        <p:spPr bwMode="auto">
          <a:xfrm>
            <a:off x="1280672" y="3573016"/>
            <a:ext cx="701158" cy="301514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000" b="0" dirty="0">
                <a:latin typeface="+mn-ea"/>
                <a:ea typeface="+mn-ea"/>
              </a:rPr>
              <a:t>DB</a:t>
            </a:r>
          </a:p>
        </p:txBody>
      </p:sp>
      <p:sp>
        <p:nvSpPr>
          <p:cNvPr id="30" name="AutoShape 256"/>
          <p:cNvSpPr>
            <a:spLocks noChangeArrowheads="1"/>
          </p:cNvSpPr>
          <p:nvPr/>
        </p:nvSpPr>
        <p:spPr bwMode="auto">
          <a:xfrm>
            <a:off x="2470850" y="3401625"/>
            <a:ext cx="720000" cy="587150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센터컷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입력테이블</a:t>
            </a:r>
            <a:endParaRPr lang="en-US" altLang="ko-KR" sz="900" b="0" dirty="0">
              <a:latin typeface="+mn-ea"/>
              <a:ea typeface="+mn-ea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15460" y="2812561"/>
            <a:ext cx="821215" cy="5871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입력데이터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생성배치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15460" y="4179298"/>
            <a:ext cx="821215" cy="5871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입력데이터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생성배치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53941" y="3043337"/>
            <a:ext cx="1573892" cy="164542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4" name="양쪽 모서리가 둥근 사각형 33"/>
          <p:cNvSpPr/>
          <p:nvPr/>
        </p:nvSpPr>
        <p:spPr>
          <a:xfrm>
            <a:off x="3556050" y="2719300"/>
            <a:ext cx="1571782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 err="1">
                <a:solidFill>
                  <a:schemeClr val="tx1"/>
                </a:solidFill>
                <a:cs typeface="Arial" pitchFamily="34" charset="0"/>
              </a:rPr>
              <a:t>센터컷</a:t>
            </a: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 프레임워크</a:t>
            </a: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730910" y="3333053"/>
            <a:ext cx="745717" cy="103293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b="1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100" b="1" kern="0" dirty="0">
                <a:solidFill>
                  <a:srgbClr val="000000"/>
                </a:solidFill>
                <a:latin typeface="+mn-ea"/>
              </a:rPr>
              <a:t> 실행 서비스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CC Runner</a:t>
            </a:r>
            <a:endParaRPr kumimoji="0" lang="ko-KR" altLang="en-US" sz="11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29064" y="3043337"/>
            <a:ext cx="1146134" cy="164542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양쪽 모서리가 둥근 사각형 36"/>
          <p:cNvSpPr/>
          <p:nvPr/>
        </p:nvSpPr>
        <p:spPr>
          <a:xfrm>
            <a:off x="5529065" y="2719300"/>
            <a:ext cx="1146133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온라인 서비스</a:t>
            </a:r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85700" y="3176594"/>
            <a:ext cx="670248" cy="118939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71442" y="3247385"/>
            <a:ext cx="670248" cy="118939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66928" y="3342871"/>
            <a:ext cx="670248" cy="118939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41" name="사다리꼴 40"/>
          <p:cNvSpPr/>
          <p:nvPr/>
        </p:nvSpPr>
        <p:spPr>
          <a:xfrm rot="5400000">
            <a:off x="4634741" y="3470632"/>
            <a:ext cx="623110" cy="363072"/>
          </a:xfrm>
          <a:prstGeom prst="trapezoid">
            <a:avLst/>
          </a:prstGeom>
          <a:solidFill>
            <a:schemeClr val="bg1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멀티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쓰레드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2" name="직선 화살표 연결선 41"/>
          <p:cNvCxnSpPr>
            <a:stCxn id="29" idx="1"/>
            <a:endCxn id="31" idx="2"/>
          </p:cNvCxnSpPr>
          <p:nvPr/>
        </p:nvCxnSpPr>
        <p:spPr>
          <a:xfrm flipH="1" flipV="1">
            <a:off x="1626068" y="3399711"/>
            <a:ext cx="5183" cy="17330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8" idx="0"/>
            <a:endCxn id="32" idx="2"/>
          </p:cNvCxnSpPr>
          <p:nvPr/>
        </p:nvCxnSpPr>
        <p:spPr>
          <a:xfrm flipH="1" flipV="1">
            <a:off x="1626068" y="4766448"/>
            <a:ext cx="4148" cy="16182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103"/>
          <p:cNvCxnSpPr>
            <a:stCxn id="31" idx="3"/>
            <a:endCxn id="30" idx="2"/>
          </p:cNvCxnSpPr>
          <p:nvPr/>
        </p:nvCxnSpPr>
        <p:spPr>
          <a:xfrm>
            <a:off x="2036675" y="3106136"/>
            <a:ext cx="434175" cy="589064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103"/>
          <p:cNvCxnSpPr>
            <a:stCxn id="32" idx="3"/>
            <a:endCxn id="30" idx="2"/>
          </p:cNvCxnSpPr>
          <p:nvPr/>
        </p:nvCxnSpPr>
        <p:spPr>
          <a:xfrm flipV="1">
            <a:off x="2036675" y="3695200"/>
            <a:ext cx="434175" cy="77767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103"/>
          <p:cNvCxnSpPr>
            <a:stCxn id="30" idx="1"/>
            <a:endCxn id="35" idx="0"/>
          </p:cNvCxnSpPr>
          <p:nvPr/>
        </p:nvCxnSpPr>
        <p:spPr>
          <a:xfrm rot="5400000" flipH="1" flipV="1">
            <a:off x="3433023" y="2730880"/>
            <a:ext cx="68572" cy="1272919"/>
          </a:xfrm>
          <a:prstGeom prst="bentConnector3">
            <a:avLst>
              <a:gd name="adj1" fmla="val 342035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4476627" y="3448689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476627" y="3551455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4476627" y="3654221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4476627" y="3756987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>
            <a:off x="4476627" y="3859752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5127832" y="3575813"/>
            <a:ext cx="55786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5120494" y="3682237"/>
            <a:ext cx="65094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5133020" y="3788662"/>
            <a:ext cx="73390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>
            <a:off x="4476627" y="4037346"/>
            <a:ext cx="120907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4476627" y="4143770"/>
            <a:ext cx="12948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4476627" y="4250195"/>
            <a:ext cx="139030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103"/>
          <p:cNvCxnSpPr>
            <a:stCxn id="35" idx="2"/>
            <a:endCxn id="30" idx="3"/>
          </p:cNvCxnSpPr>
          <p:nvPr/>
        </p:nvCxnSpPr>
        <p:spPr>
          <a:xfrm rot="5400000" flipH="1">
            <a:off x="3278702" y="3540924"/>
            <a:ext cx="377215" cy="1272919"/>
          </a:xfrm>
          <a:prstGeom prst="bentConnector3">
            <a:avLst>
              <a:gd name="adj1" fmla="val -60602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16138" y="2855436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DB2DB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6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16138" y="46027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File2DB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61" name="AutoShape 256"/>
          <p:cNvSpPr>
            <a:spLocks noChangeArrowheads="1"/>
          </p:cNvSpPr>
          <p:nvPr/>
        </p:nvSpPr>
        <p:spPr bwMode="auto">
          <a:xfrm>
            <a:off x="2972780" y="4076694"/>
            <a:ext cx="527184" cy="425974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센터컷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>
                <a:latin typeface="+mn-ea"/>
                <a:ea typeface="+mn-ea"/>
              </a:rPr>
              <a:t>프로파일</a:t>
            </a:r>
            <a:endParaRPr lang="en-US" altLang="ko-KR" sz="900" b="0" dirty="0">
              <a:latin typeface="+mn-ea"/>
              <a:ea typeface="+mn-ea"/>
            </a:endParaRPr>
          </a:p>
        </p:txBody>
      </p:sp>
      <p:cxnSp>
        <p:nvCxnSpPr>
          <p:cNvPr id="62" name="직선 화살표 연결선 103"/>
          <p:cNvCxnSpPr>
            <a:stCxn id="61" idx="4"/>
            <a:endCxn id="35" idx="1"/>
          </p:cNvCxnSpPr>
          <p:nvPr/>
        </p:nvCxnSpPr>
        <p:spPr>
          <a:xfrm flipV="1">
            <a:off x="3499964" y="3849522"/>
            <a:ext cx="230946" cy="440159"/>
          </a:xfrm>
          <a:prstGeom prst="curvedConnector3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5898" y="2812560"/>
            <a:ext cx="525808" cy="199711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4" name="직선 화살표 연결선 63"/>
          <p:cNvCxnSpPr>
            <a:endCxn id="31" idx="1"/>
          </p:cNvCxnSpPr>
          <p:nvPr/>
        </p:nvCxnSpPr>
        <p:spPr>
          <a:xfrm>
            <a:off x="951706" y="3106136"/>
            <a:ext cx="263754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endCxn id="32" idx="1"/>
          </p:cNvCxnSpPr>
          <p:nvPr/>
        </p:nvCxnSpPr>
        <p:spPr>
          <a:xfrm>
            <a:off x="951706" y="4472873"/>
            <a:ext cx="263754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/>
          <p:cNvSpPr/>
          <p:nvPr/>
        </p:nvSpPr>
        <p:spPr>
          <a:xfrm>
            <a:off x="975428" y="267875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3445654" y="263746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5217752" y="263390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013181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센터컷</a:t>
            </a: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수행</a:t>
            </a:r>
          </a:p>
        </p:txBody>
      </p:sp>
      <p:sp>
        <p:nvSpPr>
          <p:cNvPr id="70" name="타원 69"/>
          <p:cNvSpPr/>
          <p:nvPr/>
        </p:nvSpPr>
        <p:spPr>
          <a:xfrm>
            <a:off x="7052014" y="492864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301957"/>
            <a:ext cx="2483578" cy="1044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프로그램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(CC Runner)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에서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프로파일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실행정보를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참조하여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입력데이터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전문 변환 후 온라인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병렬 호출 처리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38715" y="4634096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  <a:latin typeface="+mn-ea"/>
              </a:rPr>
              <a:t>결과저장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38715" y="2949074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처리대상 데이터 조회</a:t>
            </a:r>
          </a:p>
        </p:txBody>
      </p:sp>
      <p:sp>
        <p:nvSpPr>
          <p:cNvPr id="7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44495" y="3125916"/>
            <a:ext cx="931566" cy="209435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표준입력전문 변환</a:t>
            </a:r>
          </a:p>
        </p:txBody>
      </p:sp>
      <p:sp>
        <p:nvSpPr>
          <p:cNvPr id="7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49620" y="3344531"/>
            <a:ext cx="931566" cy="209435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온라인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호출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71267" y="38701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  <a:latin typeface="+mn-ea"/>
              </a:rPr>
              <a:t>실행정보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참조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77" name="직선 화살표 연결선 103"/>
          <p:cNvCxnSpPr>
            <a:stCxn id="31" idx="0"/>
            <a:endCxn id="34" idx="3"/>
          </p:cNvCxnSpPr>
          <p:nvPr/>
        </p:nvCxnSpPr>
        <p:spPr>
          <a:xfrm rot="5400000" flipH="1" flipV="1">
            <a:off x="2937374" y="1407995"/>
            <a:ext cx="93261" cy="2715873"/>
          </a:xfrm>
          <a:prstGeom prst="bentConnector3">
            <a:avLst>
              <a:gd name="adj1" fmla="val 345119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2450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센터컷 처리 </a:t>
            </a:r>
            <a:r>
              <a:rPr lang="en-US" altLang="ko-KR"/>
              <a:t>Flow – </a:t>
            </a:r>
            <a:r>
              <a:rPr lang="ko-KR" altLang="en-US"/>
              <a:t>실시간 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소량의 데이터를 대상으로 사용자의 요청에 의해 즉시 처리되는 </a:t>
            </a:r>
            <a:r>
              <a:rPr lang="ko-KR" altLang="en-US" dirty="0" err="1"/>
              <a:t>센터컷으로</a:t>
            </a:r>
            <a:r>
              <a:rPr lang="ko-KR" altLang="en-US" dirty="0"/>
              <a:t> 온라인 거래에서 </a:t>
            </a:r>
            <a:r>
              <a:rPr lang="ko-KR" altLang="en-US" dirty="0" err="1"/>
              <a:t>온디맨드</a:t>
            </a:r>
            <a:r>
              <a:rPr lang="ko-KR" altLang="en-US" dirty="0"/>
              <a:t> 배치로 입력데이터를 생성하거나</a:t>
            </a:r>
            <a:r>
              <a:rPr lang="en-US" altLang="ko-KR" dirty="0"/>
              <a:t>, </a:t>
            </a:r>
            <a:r>
              <a:rPr lang="ko-KR" altLang="en-US" dirty="0"/>
              <a:t>온라인에서 직접 </a:t>
            </a:r>
            <a:r>
              <a:rPr lang="ko-KR" altLang="en-US" dirty="0" err="1"/>
              <a:t>입력데이터</a:t>
            </a:r>
            <a:r>
              <a:rPr lang="ko-KR" altLang="en-US" dirty="0"/>
              <a:t> 생성하여 </a:t>
            </a:r>
            <a:r>
              <a:rPr lang="ko-KR" altLang="en-US" dirty="0" err="1"/>
              <a:t>센터컷이</a:t>
            </a:r>
            <a:r>
              <a:rPr lang="ko-KR" altLang="en-US" dirty="0"/>
              <a:t> 실행되는 </a:t>
            </a:r>
            <a:r>
              <a:rPr lang="ko-KR" altLang="en-US" dirty="0" err="1"/>
              <a:t>흐름임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71463" y="1842176"/>
            <a:ext cx="6584878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grpSp>
        <p:nvGrpSpPr>
          <p:cNvPr id="8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36542" y="1421700"/>
            <a:ext cx="6619804" cy="316485"/>
            <a:chOff x="4085431" y="1867183"/>
            <a:chExt cx="658192" cy="316485"/>
          </a:xfrm>
        </p:grpSpPr>
        <p:cxnSp>
          <p:nvCxnSpPr>
            <p:cNvPr id="10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5431" y="1867183"/>
              <a:ext cx="250663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온라인에 의한 실시간 </a:t>
              </a:r>
              <a:r>
                <a:rPr lang="ko-KR" altLang="en-US" sz="1400" b="1" kern="0" dirty="0" err="1">
                  <a:solidFill>
                    <a:srgbClr val="000000"/>
                  </a:solidFill>
                  <a:cs typeface="Arial" panose="020B0604020202020204" pitchFamily="34" charset="0"/>
                </a:rPr>
                <a:t>센터컷</a:t>
              </a: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 처리</a:t>
              </a:r>
            </a:p>
          </p:txBody>
        </p:sp>
      </p:grpSp>
      <p:sp>
        <p:nvSpPr>
          <p:cNvPr id="1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1897089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b="1" kern="0" noProof="0" dirty="0">
                <a:solidFill>
                  <a:srgbClr val="000000"/>
                </a:solidFill>
              </a:rPr>
              <a:t>온라인에서 입력 데이터 생성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7052014" y="181255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15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7140294" y="1412776"/>
            <a:ext cx="2480717" cy="325409"/>
            <a:chOff x="4076646" y="1858259"/>
            <a:chExt cx="666977" cy="325409"/>
          </a:xfrm>
        </p:grpSpPr>
        <p:cxnSp>
          <p:nvCxnSpPr>
            <p:cNvPr id="16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76646" y="1858259"/>
              <a:ext cx="219680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처리 흐름</a:t>
              </a:r>
            </a:p>
          </p:txBody>
        </p:sp>
      </p:grpSp>
      <p:sp>
        <p:nvSpPr>
          <p:cNvPr id="1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405527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b="1" kern="0" dirty="0" err="1">
                <a:solidFill>
                  <a:srgbClr val="000000"/>
                </a:solidFill>
              </a:rPr>
              <a:t>온디맨드</a:t>
            </a:r>
            <a:r>
              <a:rPr lang="ko-KR" altLang="en-US" sz="1200" b="1" kern="0" dirty="0">
                <a:solidFill>
                  <a:srgbClr val="000000"/>
                </a:solidFill>
              </a:rPr>
              <a:t> </a:t>
            </a:r>
            <a:r>
              <a:rPr lang="ko-KR" altLang="en-US" sz="1200" b="1" kern="0" dirty="0" err="1">
                <a:solidFill>
                  <a:srgbClr val="000000"/>
                </a:solidFill>
              </a:rPr>
              <a:t>센터컷</a:t>
            </a:r>
            <a:r>
              <a:rPr lang="ko-KR" altLang="en-US" sz="1200" b="1" kern="0" dirty="0">
                <a:solidFill>
                  <a:srgbClr val="000000"/>
                </a:solidFill>
              </a:rPr>
              <a:t> 또는 </a:t>
            </a:r>
            <a:r>
              <a:rPr lang="ko-KR" altLang="en-US" sz="1200" b="1" kern="0" dirty="0" err="1">
                <a:solidFill>
                  <a:srgbClr val="000000"/>
                </a:solidFill>
              </a:rPr>
              <a:t>데몬센터컷</a:t>
            </a:r>
            <a:r>
              <a:rPr lang="ko-KR" altLang="en-US" sz="1200" b="1" kern="0" dirty="0">
                <a:solidFill>
                  <a:srgbClr val="000000"/>
                </a:solidFill>
              </a:rPr>
              <a:t> 실행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052014" y="332098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4954155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센터컷</a:t>
            </a: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수행</a:t>
            </a:r>
          </a:p>
        </p:txBody>
      </p:sp>
      <p:sp>
        <p:nvSpPr>
          <p:cNvPr id="21" name="타원 20"/>
          <p:cNvSpPr/>
          <p:nvPr/>
        </p:nvSpPr>
        <p:spPr>
          <a:xfrm>
            <a:off x="7052014" y="486961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2175657"/>
            <a:ext cx="2483578" cy="1116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온라인에서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온디맨드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배치로 입력 데이터 생성하거나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,</a:t>
            </a: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온라인에서 직접 입력 데이터를 생성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681823"/>
            <a:ext cx="2483578" cy="1116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온라인 프로그램에서 직접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입력데이터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적재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온디맨드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배치로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실행하거나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배치스케쥴러에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의해 데몬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기동 후 입력 데이터 생성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완료시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230404"/>
            <a:ext cx="2483578" cy="1116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호출된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프로그램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(CC Runner)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센터컷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프로파일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실행정보를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참조하여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입력데이터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전문 변환 후 온라인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병렬 호출 처리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26" name="Group 43"/>
          <p:cNvGrpSpPr>
            <a:grpSpLocks/>
          </p:cNvGrpSpPr>
          <p:nvPr/>
        </p:nvGrpSpPr>
        <p:grpSpPr bwMode="auto">
          <a:xfrm>
            <a:off x="1357976" y="4928268"/>
            <a:ext cx="594166" cy="372940"/>
            <a:chOff x="401" y="3124"/>
            <a:chExt cx="1139" cy="531"/>
          </a:xfrm>
          <a:solidFill>
            <a:schemeClr val="bg1"/>
          </a:solidFill>
        </p:grpSpPr>
        <p:sp>
          <p:nvSpPr>
            <p:cNvPr id="27" name="AutoShape 201"/>
            <p:cNvSpPr>
              <a:spLocks noChangeArrowheads="1"/>
            </p:cNvSpPr>
            <p:nvPr/>
          </p:nvSpPr>
          <p:spPr bwMode="auto">
            <a:xfrm>
              <a:off x="500" y="3173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SAM</a:t>
              </a:r>
            </a:p>
          </p:txBody>
        </p:sp>
        <p:sp>
          <p:nvSpPr>
            <p:cNvPr id="28" name="AutoShape 241"/>
            <p:cNvSpPr>
              <a:spLocks noChangeArrowheads="1"/>
            </p:cNvSpPr>
            <p:nvPr/>
          </p:nvSpPr>
          <p:spPr bwMode="auto">
            <a:xfrm>
              <a:off x="401" y="3124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File</a:t>
              </a:r>
            </a:p>
          </p:txBody>
        </p:sp>
      </p:grpSp>
      <p:sp>
        <p:nvSpPr>
          <p:cNvPr id="29" name="AutoShape 256"/>
          <p:cNvSpPr>
            <a:spLocks noChangeArrowheads="1"/>
          </p:cNvSpPr>
          <p:nvPr/>
        </p:nvSpPr>
        <p:spPr bwMode="auto">
          <a:xfrm>
            <a:off x="1334330" y="3789040"/>
            <a:ext cx="575492" cy="301514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ko-KR" sz="1000" b="0" dirty="0">
                <a:latin typeface="+mn-ea"/>
                <a:ea typeface="+mn-ea"/>
              </a:rPr>
              <a:t>DB</a:t>
            </a:r>
          </a:p>
        </p:txBody>
      </p:sp>
      <p:sp>
        <p:nvSpPr>
          <p:cNvPr id="30" name="AutoShape 256"/>
          <p:cNvSpPr>
            <a:spLocks noChangeArrowheads="1"/>
          </p:cNvSpPr>
          <p:nvPr/>
        </p:nvSpPr>
        <p:spPr bwMode="auto">
          <a:xfrm>
            <a:off x="2470850" y="3401625"/>
            <a:ext cx="720000" cy="587150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센터컷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입력테이블</a:t>
            </a:r>
            <a:endParaRPr lang="en-US" altLang="ko-KR" sz="900" b="0" dirty="0">
              <a:latin typeface="+mn-ea"/>
              <a:ea typeface="+mn-ea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90635" y="3247385"/>
            <a:ext cx="674032" cy="39087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입력데이터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생성배치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90635" y="4375576"/>
            <a:ext cx="674032" cy="39087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입력데이터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생성배치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53941" y="3043337"/>
            <a:ext cx="1573892" cy="164542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4" name="양쪽 모서리가 둥근 사각형 33"/>
          <p:cNvSpPr/>
          <p:nvPr/>
        </p:nvSpPr>
        <p:spPr>
          <a:xfrm>
            <a:off x="3556050" y="2719300"/>
            <a:ext cx="1571782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 err="1">
                <a:solidFill>
                  <a:schemeClr val="tx1"/>
                </a:solidFill>
                <a:cs typeface="Arial" pitchFamily="34" charset="0"/>
              </a:rPr>
              <a:t>센터컷</a:t>
            </a: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 프레임워크</a:t>
            </a: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730910" y="3333053"/>
            <a:ext cx="745717" cy="103293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lvl="0" algn="ctr" eaLnBrk="0" hangingPunct="0">
              <a:buSzPct val="100000"/>
              <a:defRPr/>
            </a:pPr>
            <a:r>
              <a:rPr lang="ko-KR" altLang="en-US" sz="1100" b="1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100" b="1" kern="0" dirty="0">
                <a:solidFill>
                  <a:srgbClr val="000000"/>
                </a:solidFill>
                <a:latin typeface="+mn-ea"/>
              </a:rPr>
              <a:t> 실행 서비스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lvl="0" algn="ctr" eaLnBrk="0" hangingPunct="0">
              <a:buSzPct val="100000"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CC Runner</a:t>
            </a:r>
            <a:endParaRPr lang="ko-KR" altLang="en-US" sz="11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29064" y="3043337"/>
            <a:ext cx="1146134" cy="164542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양쪽 모서리가 둥근 사각형 36"/>
          <p:cNvSpPr/>
          <p:nvPr/>
        </p:nvSpPr>
        <p:spPr>
          <a:xfrm>
            <a:off x="5529065" y="2719300"/>
            <a:ext cx="1146133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온라인 서비스</a:t>
            </a:r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85700" y="3176594"/>
            <a:ext cx="670248" cy="118939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71442" y="3247385"/>
            <a:ext cx="670248" cy="118939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66928" y="3342871"/>
            <a:ext cx="670248" cy="118939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41" name="사다리꼴 40"/>
          <p:cNvSpPr/>
          <p:nvPr/>
        </p:nvSpPr>
        <p:spPr>
          <a:xfrm rot="5400000">
            <a:off x="4634741" y="3470632"/>
            <a:ext cx="623110" cy="363072"/>
          </a:xfrm>
          <a:prstGeom prst="trapezoid">
            <a:avLst/>
          </a:prstGeom>
          <a:solidFill>
            <a:schemeClr val="bg1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멀티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쓰레드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2" name="직선 화살표 연결선 41"/>
          <p:cNvCxnSpPr>
            <a:stCxn id="29" idx="1"/>
            <a:endCxn id="31" idx="2"/>
          </p:cNvCxnSpPr>
          <p:nvPr/>
        </p:nvCxnSpPr>
        <p:spPr>
          <a:xfrm flipV="1">
            <a:off x="1622076" y="3638257"/>
            <a:ext cx="5575" cy="15078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8" idx="0"/>
            <a:endCxn id="32" idx="2"/>
          </p:cNvCxnSpPr>
          <p:nvPr/>
        </p:nvCxnSpPr>
        <p:spPr>
          <a:xfrm flipH="1" flipV="1">
            <a:off x="1627651" y="4766448"/>
            <a:ext cx="1586" cy="16182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103"/>
          <p:cNvCxnSpPr>
            <a:stCxn id="31" idx="3"/>
            <a:endCxn id="30" idx="2"/>
          </p:cNvCxnSpPr>
          <p:nvPr/>
        </p:nvCxnSpPr>
        <p:spPr>
          <a:xfrm>
            <a:off x="1964667" y="3442821"/>
            <a:ext cx="506183" cy="252379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103"/>
          <p:cNvCxnSpPr>
            <a:stCxn id="32" idx="3"/>
            <a:endCxn id="30" idx="2"/>
          </p:cNvCxnSpPr>
          <p:nvPr/>
        </p:nvCxnSpPr>
        <p:spPr>
          <a:xfrm flipV="1">
            <a:off x="1964667" y="3695200"/>
            <a:ext cx="506183" cy="87581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103"/>
          <p:cNvCxnSpPr>
            <a:stCxn id="30" idx="1"/>
            <a:endCxn id="35" idx="0"/>
          </p:cNvCxnSpPr>
          <p:nvPr/>
        </p:nvCxnSpPr>
        <p:spPr>
          <a:xfrm rot="5400000" flipH="1" flipV="1">
            <a:off x="3433023" y="2730880"/>
            <a:ext cx="68572" cy="1272919"/>
          </a:xfrm>
          <a:prstGeom prst="bentConnector3">
            <a:avLst>
              <a:gd name="adj1" fmla="val 342035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4476627" y="3448689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476627" y="3551455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4476627" y="3654221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4476627" y="3756987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>
            <a:off x="4476627" y="3859752"/>
            <a:ext cx="28813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5127832" y="3575813"/>
            <a:ext cx="55786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5120494" y="3682237"/>
            <a:ext cx="65094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5133020" y="3788662"/>
            <a:ext cx="73390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>
            <a:off x="4476627" y="4037346"/>
            <a:ext cx="120907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4476627" y="4143770"/>
            <a:ext cx="12948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4476627" y="4250195"/>
            <a:ext cx="139030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103"/>
          <p:cNvCxnSpPr>
            <a:stCxn id="35" idx="2"/>
            <a:endCxn id="30" idx="3"/>
          </p:cNvCxnSpPr>
          <p:nvPr/>
        </p:nvCxnSpPr>
        <p:spPr>
          <a:xfrm rot="5400000" flipH="1">
            <a:off x="3278702" y="3540924"/>
            <a:ext cx="377215" cy="1272919"/>
          </a:xfrm>
          <a:prstGeom prst="bentConnector3">
            <a:avLst>
              <a:gd name="adj1" fmla="val -60602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44130" y="3258043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DB2DB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6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44130" y="46027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File2DB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61" name="AutoShape 256"/>
          <p:cNvSpPr>
            <a:spLocks noChangeArrowheads="1"/>
          </p:cNvSpPr>
          <p:nvPr/>
        </p:nvSpPr>
        <p:spPr bwMode="auto">
          <a:xfrm>
            <a:off x="2972780" y="4076694"/>
            <a:ext cx="527184" cy="425974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센터컷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>
                <a:latin typeface="+mn-ea"/>
                <a:ea typeface="+mn-ea"/>
              </a:rPr>
              <a:t>프로파일</a:t>
            </a:r>
            <a:endParaRPr lang="en-US" altLang="ko-KR" sz="900" b="0" dirty="0">
              <a:latin typeface="+mn-ea"/>
              <a:ea typeface="+mn-ea"/>
            </a:endParaRPr>
          </a:p>
        </p:txBody>
      </p:sp>
      <p:cxnSp>
        <p:nvCxnSpPr>
          <p:cNvPr id="62" name="직선 화살표 연결선 103"/>
          <p:cNvCxnSpPr>
            <a:stCxn id="61" idx="4"/>
            <a:endCxn id="35" idx="1"/>
          </p:cNvCxnSpPr>
          <p:nvPr/>
        </p:nvCxnSpPr>
        <p:spPr>
          <a:xfrm flipV="1">
            <a:off x="3499964" y="3849522"/>
            <a:ext cx="230946" cy="440159"/>
          </a:xfrm>
          <a:prstGeom prst="curvedConnector3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0512" y="3258043"/>
            <a:ext cx="525808" cy="15516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4" name="직선 화살표 연결선 63"/>
          <p:cNvCxnSpPr>
            <a:endCxn id="31" idx="1"/>
          </p:cNvCxnSpPr>
          <p:nvPr/>
        </p:nvCxnSpPr>
        <p:spPr>
          <a:xfrm>
            <a:off x="1086320" y="3442821"/>
            <a:ext cx="2043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endCxn id="32" idx="1"/>
          </p:cNvCxnSpPr>
          <p:nvPr/>
        </p:nvCxnSpPr>
        <p:spPr>
          <a:xfrm>
            <a:off x="1086320" y="4571012"/>
            <a:ext cx="2043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/>
          <p:cNvSpPr/>
          <p:nvPr/>
        </p:nvSpPr>
        <p:spPr>
          <a:xfrm>
            <a:off x="2282016" y="258629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5205065" y="2652621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38715" y="4634096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  <a:latin typeface="+mn-ea"/>
              </a:rPr>
              <a:t>결과저장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38715" y="3195560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처리대상 데이터 조회</a:t>
            </a:r>
          </a:p>
        </p:txBody>
      </p:sp>
      <p:sp>
        <p:nvSpPr>
          <p:cNvPr id="7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44495" y="3125916"/>
            <a:ext cx="931566" cy="209435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표준입력전문 변환</a:t>
            </a:r>
          </a:p>
        </p:txBody>
      </p:sp>
      <p:sp>
        <p:nvSpPr>
          <p:cNvPr id="7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49620" y="3344531"/>
            <a:ext cx="931566" cy="209435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온라인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호출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71267" y="38701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  <a:latin typeface="+mn-ea"/>
              </a:rPr>
              <a:t>실행정보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참조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54984" y="2720204"/>
            <a:ext cx="525808" cy="3231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0512" y="2706659"/>
            <a:ext cx="525808" cy="34642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온라인</a:t>
            </a:r>
            <a:endParaRPr lang="en-US" altLang="ko-KR" sz="9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PM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75" name="직선 화살표 연결선 74"/>
          <p:cNvCxnSpPr>
            <a:stCxn id="74" idx="2"/>
            <a:endCxn id="63" idx="0"/>
          </p:cNvCxnSpPr>
          <p:nvPr/>
        </p:nvCxnSpPr>
        <p:spPr>
          <a:xfrm>
            <a:off x="823416" y="3053083"/>
            <a:ext cx="0" cy="20496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103"/>
          <p:cNvCxnSpPr>
            <a:stCxn id="74" idx="2"/>
            <a:endCxn id="30" idx="1"/>
          </p:cNvCxnSpPr>
          <p:nvPr/>
        </p:nvCxnSpPr>
        <p:spPr>
          <a:xfrm rot="16200000" flipH="1">
            <a:off x="1652862" y="2223637"/>
            <a:ext cx="348542" cy="2007434"/>
          </a:xfrm>
          <a:prstGeom prst="curvedConnector3">
            <a:avLst>
              <a:gd name="adj1" fmla="val 21249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74" idx="3"/>
            <a:endCxn id="73" idx="1"/>
          </p:cNvCxnSpPr>
          <p:nvPr/>
        </p:nvCxnSpPr>
        <p:spPr>
          <a:xfrm>
            <a:off x="1086320" y="2879871"/>
            <a:ext cx="1468664" cy="190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73" idx="3"/>
            <a:endCxn id="34" idx="2"/>
          </p:cNvCxnSpPr>
          <p:nvPr/>
        </p:nvCxnSpPr>
        <p:spPr>
          <a:xfrm flipV="1">
            <a:off x="3080792" y="2881318"/>
            <a:ext cx="475258" cy="45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>
            <a:off x="414184" y="292168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01129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센터컷 에러 재처리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46001" y="2384425"/>
            <a:ext cx="4681537" cy="3960812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989004" y="2384425"/>
            <a:ext cx="4681537" cy="3960812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81884" y="5685184"/>
            <a:ext cx="4463102" cy="5547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센터컷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사후작업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88788" y="5763820"/>
            <a:ext cx="1523952" cy="43173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업무팀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사후처리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배치 프로그램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080425" y="5685184"/>
            <a:ext cx="4463102" cy="5547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센터컷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사후작업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787329" y="5763820"/>
            <a:ext cx="1523952" cy="43173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업무팀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사후처리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배치 프로그램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 err="1"/>
              <a:t>센터컷</a:t>
            </a:r>
            <a:r>
              <a:rPr lang="ko-KR" altLang="en-US" dirty="0"/>
              <a:t> 오류 발생시 </a:t>
            </a:r>
            <a:r>
              <a:rPr lang="ko-KR" altLang="en-US" dirty="0" err="1"/>
              <a:t>에러건에</a:t>
            </a:r>
            <a:r>
              <a:rPr lang="ko-KR" altLang="en-US" dirty="0"/>
              <a:t> 대한 재처리 수행은 일괄 재처리 및 자동 재처리로 </a:t>
            </a:r>
            <a:r>
              <a:rPr lang="ko-KR" altLang="en-US"/>
              <a:t>구분하여 처리함</a:t>
            </a:r>
            <a:r>
              <a:rPr lang="en-US" altLang="ko-KR"/>
              <a:t>. </a:t>
            </a:r>
            <a:r>
              <a:rPr lang="ko-KR" altLang="en-US"/>
              <a:t>자동</a:t>
            </a:r>
            <a:r>
              <a:rPr lang="en-US" altLang="ko-KR"/>
              <a:t> </a:t>
            </a:r>
            <a:r>
              <a:rPr lang="ko-KR" altLang="en-US"/>
              <a:t>재처리인 경우 </a:t>
            </a:r>
            <a:r>
              <a:rPr lang="en-US" altLang="ko-KR"/>
              <a:t>JOB </a:t>
            </a:r>
            <a:r>
              <a:rPr lang="ko-KR" altLang="en-US"/>
              <a:t>파라미터에 </a:t>
            </a:r>
            <a:r>
              <a:rPr lang="en-US" altLang="ko-KR"/>
              <a:t>RERUN_PREV_ERROR_TRAN </a:t>
            </a:r>
            <a:r>
              <a:rPr lang="ko-KR" altLang="en-US"/>
              <a:t>값으로 재처리 실행 여부를 설정함</a:t>
            </a:r>
            <a:endParaRPr lang="ko-KR" altLang="en-US" dirty="0"/>
          </a:p>
        </p:txBody>
      </p:sp>
      <p:grpSp>
        <p:nvGrpSpPr>
          <p:cNvPr id="14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21700"/>
            <a:ext cx="4573523" cy="316485"/>
            <a:chOff x="4088904" y="1867183"/>
            <a:chExt cx="454735" cy="316485"/>
          </a:xfrm>
        </p:grpSpPr>
        <p:cxnSp>
          <p:nvCxnSpPr>
            <p:cNvPr id="15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454735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267950" y="1867183"/>
              <a:ext cx="96699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일괄 재처리</a:t>
              </a:r>
            </a:p>
          </p:txBody>
        </p:sp>
      </p:grpSp>
      <p:grpSp>
        <p:nvGrpSpPr>
          <p:cNvPr id="17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4989004" y="1412776"/>
            <a:ext cx="4631996" cy="325409"/>
            <a:chOff x="3488562" y="1858259"/>
            <a:chExt cx="1255061" cy="325409"/>
          </a:xfrm>
        </p:grpSpPr>
        <p:cxnSp>
          <p:nvCxnSpPr>
            <p:cNvPr id="18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3488562" y="2183668"/>
              <a:ext cx="1255061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3986811" y="1858259"/>
              <a:ext cx="261486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자동 재처리</a:t>
              </a:r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236538" y="1830042"/>
            <a:ext cx="787622" cy="446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300" b="1" kern="0" dirty="0">
                <a:solidFill>
                  <a:srgbClr val="000000"/>
                </a:solidFill>
              </a:rPr>
              <a:t>개요</a:t>
            </a:r>
            <a:endParaRPr lang="en-US" altLang="ko-KR" sz="1300" b="1" kern="0" dirty="0">
              <a:solidFill>
                <a:srgbClr val="00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88788" y="1832781"/>
            <a:ext cx="3838750" cy="44279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업무팀에서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오류에 대한 재처리 데이터를 생성하여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재실행 요청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979541" y="1830042"/>
            <a:ext cx="787622" cy="446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300" b="1" kern="0" dirty="0">
                <a:solidFill>
                  <a:srgbClr val="000000"/>
                </a:solidFill>
              </a:rPr>
              <a:t>개요</a:t>
            </a:r>
            <a:endParaRPr lang="en-US" altLang="ko-KR" sz="1300" b="1" kern="0" dirty="0">
              <a:solidFill>
                <a:srgbClr val="00000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831791" y="1832781"/>
            <a:ext cx="3838750" cy="44279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업무 요건에 따라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Error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발생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Data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에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대하여 자동 재처리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재처리 대상 및 주기는 데몬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속성으로 정의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81884" y="2514249"/>
            <a:ext cx="4463102" cy="5547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배치자동화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88788" y="2565219"/>
            <a:ext cx="3648188" cy="43173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배치 자동화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배치스케쥴러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에 정의된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스케쥴에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의해 실행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80425" y="2514249"/>
            <a:ext cx="4463102" cy="5547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배치자동화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884" y="3181448"/>
            <a:ext cx="4463102" cy="5547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센터컷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사전작업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088788" y="3232418"/>
            <a:ext cx="1523952" cy="43173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업무팀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입력 데이터 생성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배치 프로그램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80425" y="3181448"/>
            <a:ext cx="4463102" cy="5547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센터컷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사전작업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7361707" y="3232418"/>
            <a:ext cx="2055788" cy="43173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50" kern="0">
                <a:solidFill>
                  <a:srgbClr val="000000"/>
                </a:solidFill>
                <a:latin typeface="+mn-ea"/>
              </a:rPr>
              <a:t>재처리 대상 데이터 재생성 작업 없음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" name="AutoShape 256"/>
          <p:cNvSpPr>
            <a:spLocks noChangeArrowheads="1"/>
          </p:cNvSpPr>
          <p:nvPr/>
        </p:nvSpPr>
        <p:spPr bwMode="auto">
          <a:xfrm>
            <a:off x="3425518" y="3292866"/>
            <a:ext cx="1295484" cy="309748"/>
          </a:xfrm>
          <a:prstGeom prst="can">
            <a:avLst>
              <a:gd name="adj" fmla="val 28474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 err="1">
                <a:latin typeface="+mn-ea"/>
                <a:ea typeface="+mn-ea"/>
              </a:rPr>
              <a:t>입력데이터</a:t>
            </a:r>
            <a:r>
              <a:rPr lang="ko-KR" altLang="en-US" sz="1000" b="0" dirty="0">
                <a:latin typeface="+mn-ea"/>
                <a:ea typeface="+mn-ea"/>
              </a:rPr>
              <a:t> 테이블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32" name="직선 화살표 연결선 31"/>
          <p:cNvCxnSpPr>
            <a:stCxn id="28" idx="3"/>
            <a:endCxn id="31" idx="2"/>
          </p:cNvCxnSpPr>
          <p:nvPr/>
        </p:nvCxnSpPr>
        <p:spPr>
          <a:xfrm flipV="1">
            <a:off x="2612740" y="3447740"/>
            <a:ext cx="812778" cy="54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08198" y="3501008"/>
            <a:ext cx="1017718" cy="168884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재처리 대상</a:t>
            </a:r>
            <a:endParaRPr lang="en-US" altLang="ko-KR" sz="800" kern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데이터 적재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81884" y="3836546"/>
            <a:ext cx="4463102" cy="174062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센터컷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본작업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80425" y="3836546"/>
            <a:ext cx="4463102" cy="174062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센터컷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  <a:p>
            <a:pPr eaLnBrk="0" hangingPunct="0">
              <a:spcBef>
                <a:spcPts val="600"/>
              </a:spcBef>
              <a:buSzPct val="100000"/>
            </a:pPr>
            <a:r>
              <a:rPr lang="ko-KR" altLang="en-US" sz="1050" b="1" kern="0" dirty="0" err="1">
                <a:solidFill>
                  <a:srgbClr val="000000"/>
                </a:solidFill>
                <a:latin typeface="+mn-ea"/>
              </a:rPr>
              <a:t>본작업</a:t>
            </a:r>
            <a:endParaRPr lang="en-US" altLang="ko-KR" sz="1050" b="1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>
            <a:stCxn id="28" idx="2"/>
          </p:cNvCxnSpPr>
          <p:nvPr/>
        </p:nvCxnSpPr>
        <p:spPr>
          <a:xfrm>
            <a:off x="1850764" y="3664152"/>
            <a:ext cx="0" cy="33184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93143" y="3789040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noProof="0" dirty="0" err="1">
                <a:latin typeface="+mn-ea"/>
              </a:rPr>
              <a:t>센터컷</a:t>
            </a:r>
            <a:r>
              <a:rPr lang="ko-KR" altLang="en-US" sz="800" kern="0" noProof="0" dirty="0">
                <a:latin typeface="+mn-ea"/>
              </a:rPr>
              <a:t> 요청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49721" y="4567100"/>
            <a:ext cx="1054751" cy="19264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재처리 대상 </a:t>
            </a:r>
            <a:r>
              <a:rPr lang="ko-KR" altLang="en-US" sz="800" kern="0" noProof="0" dirty="0">
                <a:latin typeface="+mn-ea"/>
              </a:rPr>
              <a:t>데이터 조회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6769" y="5058243"/>
            <a:ext cx="939147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dirty="0">
                <a:ln>
                  <a:noFill/>
                </a:ln>
                <a:effectLst/>
                <a:uLnTx/>
                <a:uFillTx/>
                <a:latin typeface="+mn-ea"/>
              </a:rPr>
              <a:t>병렬처리</a:t>
            </a:r>
            <a:endParaRPr kumimoji="0" lang="en-US" altLang="ko-KR" sz="800" i="0" u="none" strike="noStrike" kern="0" cap="none" spc="0" normalizeH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유량제어</a:t>
            </a:r>
            <a:endParaRPr kumimoji="0" lang="en-US" altLang="ko-KR" sz="800" i="0" u="none" strike="noStrike" kern="0" cap="none" spc="0" normalizeH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831790" y="2575737"/>
            <a:ext cx="3585705" cy="43173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배치 자동화에 의해 데몬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스케쥴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정의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088788" y="3975560"/>
            <a:ext cx="1523952" cy="151795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eaLnBrk="0" hangingPunct="0">
              <a:spcBef>
                <a:spcPts val="600"/>
              </a:spcBef>
              <a:buSzPct val="100000"/>
            </a:pP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189534" y="4041194"/>
            <a:ext cx="1332148" cy="287873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0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실행 서비스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89534" y="4437113"/>
            <a:ext cx="1332148" cy="972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0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처리 서비스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" name="AutoShape 26"/>
          <p:cNvSpPr>
            <a:spLocks noChangeArrowheads="1"/>
          </p:cNvSpPr>
          <p:nvPr/>
        </p:nvSpPr>
        <p:spPr bwMode="auto">
          <a:xfrm>
            <a:off x="1255489" y="4634560"/>
            <a:ext cx="1152000" cy="70265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>
            <a:outerShdw sx="1000" sy="1000" algn="ctr" rotWithShape="0">
              <a:schemeClr val="bg1"/>
            </a:outerShdw>
          </a:effectLst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ko-KR" altLang="en-US" sz="900" dirty="0" err="1">
                <a:latin typeface="맑은 고딕" pitchFamily="50" charset="-127"/>
                <a:ea typeface="맑은 고딕" pitchFamily="50" charset="-127"/>
              </a:rPr>
              <a:t>센터컷</a:t>
            </a: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 err="1">
                <a:latin typeface="맑은 고딕" pitchFamily="50" charset="-127"/>
                <a:ea typeface="맑은 고딕" pitchFamily="50" charset="-127"/>
              </a:rPr>
              <a:t>본처리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AutoShape 256"/>
          <p:cNvSpPr>
            <a:spLocks noChangeArrowheads="1"/>
          </p:cNvSpPr>
          <p:nvPr/>
        </p:nvSpPr>
        <p:spPr bwMode="auto">
          <a:xfrm>
            <a:off x="2962600" y="3933056"/>
            <a:ext cx="730260" cy="479024"/>
          </a:xfrm>
          <a:prstGeom prst="can">
            <a:avLst>
              <a:gd name="adj" fmla="val 28474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 err="1">
                <a:latin typeface="+mn-ea"/>
                <a:ea typeface="+mn-ea"/>
              </a:rPr>
              <a:t>센터컷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46" name="직선 화살표 연결선 45"/>
          <p:cNvCxnSpPr>
            <a:stCxn id="45" idx="2"/>
          </p:cNvCxnSpPr>
          <p:nvPr/>
        </p:nvCxnSpPr>
        <p:spPr>
          <a:xfrm flipH="1">
            <a:off x="2521682" y="4172568"/>
            <a:ext cx="440918" cy="291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113"/>
          <p:cNvCxnSpPr>
            <a:stCxn id="31" idx="3"/>
          </p:cNvCxnSpPr>
          <p:nvPr/>
        </p:nvCxnSpPr>
        <p:spPr>
          <a:xfrm rot="5400000">
            <a:off x="2838983" y="3310845"/>
            <a:ext cx="942509" cy="1526046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425517" y="4868103"/>
            <a:ext cx="1234165" cy="2280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온라인 </a:t>
            </a: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PM</a:t>
            </a:r>
          </a:p>
        </p:txBody>
      </p:sp>
      <p:cxnSp>
        <p:nvCxnSpPr>
          <p:cNvPr id="49" name="직선 화살표 연결선 48"/>
          <p:cNvCxnSpPr>
            <a:stCxn id="44" idx="3"/>
            <a:endCxn id="48" idx="1"/>
          </p:cNvCxnSpPr>
          <p:nvPr/>
        </p:nvCxnSpPr>
        <p:spPr>
          <a:xfrm flipV="1">
            <a:off x="2407489" y="4982120"/>
            <a:ext cx="1018028" cy="3766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endCxn id="28" idx="0"/>
          </p:cNvCxnSpPr>
          <p:nvPr/>
        </p:nvCxnSpPr>
        <p:spPr>
          <a:xfrm>
            <a:off x="1850764" y="2996953"/>
            <a:ext cx="0" cy="23546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256"/>
          <p:cNvSpPr>
            <a:spLocks noChangeArrowheads="1"/>
          </p:cNvSpPr>
          <p:nvPr/>
        </p:nvSpPr>
        <p:spPr bwMode="auto">
          <a:xfrm>
            <a:off x="8602796" y="3933056"/>
            <a:ext cx="853795" cy="479023"/>
          </a:xfrm>
          <a:prstGeom prst="can">
            <a:avLst>
              <a:gd name="adj" fmla="val 28474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 err="1">
                <a:latin typeface="+mn-ea"/>
                <a:ea typeface="+mn-ea"/>
              </a:rPr>
              <a:t>입력데이터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테이블</a:t>
            </a:r>
            <a:endParaRPr lang="en-US" altLang="ko-KR" sz="1000" b="0" dirty="0">
              <a:latin typeface="+mn-ea"/>
              <a:ea typeface="+mn-ea"/>
            </a:endParaRPr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34128" y="4666101"/>
            <a:ext cx="1629746" cy="154529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주기적인 재처리 대상 </a:t>
            </a:r>
            <a:r>
              <a:rPr lang="ko-KR" altLang="en-US" sz="800" kern="0" noProof="0" dirty="0">
                <a:latin typeface="+mn-ea"/>
              </a:rPr>
              <a:t>데이터 조회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837755" y="3975560"/>
            <a:ext cx="1523952" cy="151795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eaLnBrk="0" hangingPunct="0">
              <a:spcBef>
                <a:spcPts val="600"/>
              </a:spcBef>
              <a:buSzPct val="100000"/>
            </a:pP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938501" y="4041194"/>
            <a:ext cx="1332148" cy="287873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0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실행 서비스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938501" y="4437113"/>
            <a:ext cx="1332148" cy="97200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00" kern="0" dirty="0" err="1">
                <a:solidFill>
                  <a:srgbClr val="000000"/>
                </a:solidFill>
                <a:latin typeface="+mn-ea"/>
              </a:rPr>
              <a:t>센터컷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처리 서비스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7" name="AutoShape 26"/>
          <p:cNvSpPr>
            <a:spLocks noChangeArrowheads="1"/>
          </p:cNvSpPr>
          <p:nvPr/>
        </p:nvSpPr>
        <p:spPr bwMode="auto">
          <a:xfrm>
            <a:off x="6004456" y="4634560"/>
            <a:ext cx="1152000" cy="70265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>
            <a:outerShdw sx="1000" sy="1000" algn="ctr" rotWithShape="0">
              <a:schemeClr val="bg1"/>
            </a:outerShdw>
          </a:effectLst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ko-KR" altLang="en-US" sz="900" dirty="0" err="1">
                <a:latin typeface="맑은 고딕" pitchFamily="50" charset="-127"/>
                <a:ea typeface="맑은 고딕" pitchFamily="50" charset="-127"/>
              </a:rPr>
              <a:t>센터컷</a:t>
            </a:r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 err="1">
                <a:latin typeface="맑은 고딕" pitchFamily="50" charset="-127"/>
                <a:ea typeface="맑은 고딕" pitchFamily="50" charset="-127"/>
              </a:rPr>
              <a:t>본처리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AutoShape 256"/>
          <p:cNvSpPr>
            <a:spLocks noChangeArrowheads="1"/>
          </p:cNvSpPr>
          <p:nvPr/>
        </p:nvSpPr>
        <p:spPr bwMode="auto">
          <a:xfrm>
            <a:off x="7711567" y="3933056"/>
            <a:ext cx="730260" cy="479024"/>
          </a:xfrm>
          <a:prstGeom prst="can">
            <a:avLst>
              <a:gd name="adj" fmla="val 28474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 err="1">
                <a:latin typeface="+mn-ea"/>
                <a:ea typeface="+mn-ea"/>
              </a:rPr>
              <a:t>센터컷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/>
          <p:cNvCxnSpPr>
            <a:stCxn id="58" idx="2"/>
          </p:cNvCxnSpPr>
          <p:nvPr/>
        </p:nvCxnSpPr>
        <p:spPr>
          <a:xfrm flipH="1">
            <a:off x="7270649" y="4172568"/>
            <a:ext cx="440918" cy="291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113"/>
          <p:cNvCxnSpPr>
            <a:stCxn id="51" idx="3"/>
          </p:cNvCxnSpPr>
          <p:nvPr/>
        </p:nvCxnSpPr>
        <p:spPr>
          <a:xfrm rot="5400000">
            <a:off x="8013114" y="3646843"/>
            <a:ext cx="251344" cy="178181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8174484" y="4868103"/>
            <a:ext cx="1234165" cy="2280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온라인 </a:t>
            </a: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PM</a:t>
            </a:r>
          </a:p>
        </p:txBody>
      </p:sp>
      <p:cxnSp>
        <p:nvCxnSpPr>
          <p:cNvPr id="62" name="직선 화살표 연결선 61"/>
          <p:cNvCxnSpPr>
            <a:stCxn id="57" idx="3"/>
            <a:endCxn id="61" idx="1"/>
          </p:cNvCxnSpPr>
          <p:nvPr/>
        </p:nvCxnSpPr>
        <p:spPr>
          <a:xfrm flipV="1">
            <a:off x="7156456" y="4982120"/>
            <a:ext cx="1018028" cy="3766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8650652" y="3937893"/>
            <a:ext cx="730260" cy="13639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ko-KR" altLang="en-US" sz="1000" kern="0" dirty="0" err="1">
                <a:solidFill>
                  <a:srgbClr val="000000"/>
                </a:solidFill>
                <a:latin typeface="+mn-ea"/>
              </a:rPr>
              <a:t>오류건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4" name="직선 화살표 연결선 63"/>
          <p:cNvCxnSpPr>
            <a:endCxn id="54" idx="0"/>
          </p:cNvCxnSpPr>
          <p:nvPr/>
        </p:nvCxnSpPr>
        <p:spPr>
          <a:xfrm>
            <a:off x="6599731" y="3007471"/>
            <a:ext cx="0" cy="96808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구부러진 연결선 64"/>
          <p:cNvCxnSpPr/>
          <p:nvPr/>
        </p:nvCxnSpPr>
        <p:spPr>
          <a:xfrm flipH="1">
            <a:off x="7221252" y="4632862"/>
            <a:ext cx="110148" cy="92282"/>
          </a:xfrm>
          <a:prstGeom prst="curvedConnector4">
            <a:avLst>
              <a:gd name="adj1" fmla="val -109874"/>
              <a:gd name="adj2" fmla="val 266117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7610656" y="5216663"/>
            <a:ext cx="1873297" cy="830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JOB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 파라미터에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 </a:t>
            </a:r>
          </a:p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RERUN_PREV_ERROR_TRAN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값이 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1,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또는 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Y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일 경우 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이전 실행의 재처리 건도 다시 실행함</a:t>
            </a:r>
          </a:p>
        </p:txBody>
      </p:sp>
    </p:spTree>
    <p:extLst>
      <p:ext uri="{BB962C8B-B14F-4D97-AF65-F5344CB8AC3E}">
        <p14:creationId xmlns:p14="http://schemas.microsoft.com/office/powerpoint/2010/main" val="19187256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센터컷 실행 프로그램 및 모니터링 구성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118966" y="1844675"/>
            <a:ext cx="1610837" cy="29371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t" anchorCtr="0">
            <a:noAutofit/>
          </a:bodyPr>
          <a:lstStyle/>
          <a:p>
            <a:pPr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200" b="1" kern="0">
                <a:latin typeface="Arial" pitchFamily="34" charset="0"/>
                <a:cs typeface="Arial" pitchFamily="34" charset="0"/>
              </a:rPr>
              <a:t>센터컷 사전 </a:t>
            </a:r>
            <a:r>
              <a:rPr lang="ko-KR" altLang="en-US" sz="1200" b="1" kern="0" dirty="0">
                <a:latin typeface="Arial" pitchFamily="34" charset="0"/>
                <a:cs typeface="Arial" pitchFamily="34" charset="0"/>
              </a:rPr>
              <a:t>작업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048578" y="1844675"/>
            <a:ext cx="1997088" cy="29371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t" anchorCtr="0">
            <a:noAutofit/>
          </a:bodyPr>
          <a:lstStyle/>
          <a:p>
            <a:pPr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200" b="1" kern="0">
                <a:latin typeface="Arial" pitchFamily="34" charset="0"/>
                <a:cs typeface="Arial" pitchFamily="34" charset="0"/>
              </a:rPr>
              <a:t>센터컷 본 작업</a:t>
            </a:r>
            <a:endParaRPr lang="ko-KR" altLang="en-US" sz="12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048577" y="5115397"/>
            <a:ext cx="1997088" cy="12298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t" anchorCtr="0">
            <a:noAutofit/>
          </a:bodyPr>
          <a:lstStyle/>
          <a:p>
            <a:pPr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200" b="1" kern="0">
                <a:latin typeface="Arial" pitchFamily="34" charset="0"/>
                <a:cs typeface="Arial" pitchFamily="34" charset="0"/>
              </a:rPr>
              <a:t>센터컷 사후 작업</a:t>
            </a:r>
            <a:endParaRPr lang="ko-KR" altLang="en-US" sz="12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/>
              <a:t>업무시스템 센터컷 담당은 배치</a:t>
            </a:r>
            <a:r>
              <a:rPr lang="en-US" altLang="ko-KR"/>
              <a:t>/</a:t>
            </a:r>
            <a:r>
              <a:rPr lang="ko-KR" altLang="en-US"/>
              <a:t>온라인 프로그램에서 </a:t>
            </a:r>
            <a:r>
              <a:rPr lang="en-US" altLang="ko-KR"/>
              <a:t>FW </a:t>
            </a:r>
            <a:r>
              <a:rPr lang="ko-KR" altLang="en-US"/>
              <a:t>제공 </a:t>
            </a:r>
            <a:r>
              <a:rPr lang="en-US" altLang="ko-KR"/>
              <a:t>API</a:t>
            </a:r>
            <a:r>
              <a:rPr lang="ko-KR" altLang="en-US"/>
              <a:t>를 통해 개별데이터부를 전환 후 입력테이블에 </a:t>
            </a:r>
            <a:r>
              <a:rPr lang="en-US" altLang="ko-KR"/>
              <a:t>Insert </a:t>
            </a:r>
            <a:r>
              <a:rPr lang="ko-KR" altLang="en-US"/>
              <a:t>처리하며</a:t>
            </a:r>
            <a:r>
              <a:rPr lang="en-US" altLang="ko-KR"/>
              <a:t>, FW </a:t>
            </a:r>
            <a:r>
              <a:rPr lang="ko-KR" altLang="en-US"/>
              <a:t>웹관리 화면에서 배치</a:t>
            </a:r>
            <a:r>
              <a:rPr lang="en-US" altLang="ko-KR"/>
              <a:t>/</a:t>
            </a:r>
            <a:r>
              <a:rPr lang="ko-KR" altLang="en-US"/>
              <a:t>센터컷 실행 로그를 조회함</a:t>
            </a:r>
            <a:endParaRPr lang="ko-KR" altLang="en-US" dirty="0"/>
          </a:p>
        </p:txBody>
      </p:sp>
      <p:grpSp>
        <p:nvGrpSpPr>
          <p:cNvPr id="70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61127" y="1412776"/>
            <a:ext cx="9408333" cy="325409"/>
            <a:chOff x="4087876" y="1858259"/>
            <a:chExt cx="1006108" cy="325409"/>
          </a:xfrm>
        </p:grpSpPr>
        <p:cxnSp>
          <p:nvCxnSpPr>
            <p:cNvPr id="71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1005080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308167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센터컷 실행 프로그램 및 모니터링 구성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73" name="AutoShape 256"/>
          <p:cNvSpPr>
            <a:spLocks noChangeArrowheads="1"/>
          </p:cNvSpPr>
          <p:nvPr/>
        </p:nvSpPr>
        <p:spPr bwMode="auto">
          <a:xfrm>
            <a:off x="2856308" y="2924944"/>
            <a:ext cx="1080000" cy="1856904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ko-KR" sz="900" b="0" dirty="0">
              <a:latin typeface="+mn-ea"/>
              <a:ea typeface="+mn-ea"/>
            </a:endParaRPr>
          </a:p>
        </p:txBody>
      </p:sp>
      <p:sp>
        <p:nvSpPr>
          <p:cNvPr id="74" name="AutoShape 256"/>
          <p:cNvSpPr>
            <a:spLocks noChangeArrowheads="1"/>
          </p:cNvSpPr>
          <p:nvPr/>
        </p:nvSpPr>
        <p:spPr bwMode="auto">
          <a:xfrm>
            <a:off x="2856308" y="2159335"/>
            <a:ext cx="1080000" cy="715423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ko-KR" sz="900" b="0" dirty="0">
              <a:latin typeface="+mn-ea"/>
              <a:ea typeface="+mn-ea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950832" y="3320988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 입력 기본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950832" y="3609020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전문 헤더부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950832" y="3897052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입력 데이터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950832" y="4185084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센터컷결과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79" name="그림 7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66" y="5577136"/>
            <a:ext cx="2217618" cy="768188"/>
          </a:xfrm>
          <a:prstGeom prst="rect">
            <a:avLst/>
          </a:prstGeom>
        </p:spPr>
      </p:pic>
      <p:pic>
        <p:nvPicPr>
          <p:cNvPr id="80" name="그림 7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14" y="2240501"/>
            <a:ext cx="1294896" cy="756451"/>
          </a:xfrm>
          <a:prstGeom prst="rect">
            <a:avLst/>
          </a:prstGeom>
        </p:spPr>
      </p:pic>
      <p:sp>
        <p:nvSpPr>
          <p:cNvPr id="81" name="직사각형 80"/>
          <p:cNvSpPr/>
          <p:nvPr/>
        </p:nvSpPr>
        <p:spPr>
          <a:xfrm>
            <a:off x="2922257" y="2978974"/>
            <a:ext cx="971060" cy="21600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 입력데이터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922257" y="2168860"/>
            <a:ext cx="971060" cy="21600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 프로파일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950832" y="2384884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 기본 속성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950832" y="2619655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 실행 속성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406560" y="3370537"/>
            <a:ext cx="1008000" cy="31049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배치 프로그램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406560" y="3813760"/>
            <a:ext cx="1008000" cy="31049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온라인 </a:t>
            </a:r>
            <a:r>
              <a:rPr lang="en-US" altLang="ko-KR" sz="1000" b="1" kern="0">
                <a:latin typeface="Arial" pitchFamily="34" charset="0"/>
                <a:cs typeface="Arial" pitchFamily="34" charset="0"/>
              </a:rPr>
              <a:t>PM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169728" y="3556062"/>
            <a:ext cx="869455" cy="31049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센터컷 처리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en-US" altLang="ko-KR" sz="1000" b="1" kern="0">
                <a:latin typeface="Arial" pitchFamily="34" charset="0"/>
                <a:cs typeface="Arial" pitchFamily="34" charset="0"/>
              </a:rPr>
              <a:t>(CCRunner)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186868" y="3556062"/>
            <a:ext cx="765113" cy="31049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온라인 </a:t>
            </a:r>
            <a:r>
              <a:rPr lang="en-US" altLang="ko-KR" sz="1000" b="1" kern="0">
                <a:latin typeface="Arial" pitchFamily="34" charset="0"/>
                <a:cs typeface="Arial" pitchFamily="34" charset="0"/>
              </a:rPr>
              <a:t>PM</a:t>
            </a:r>
          </a:p>
        </p:txBody>
      </p:sp>
      <p:cxnSp>
        <p:nvCxnSpPr>
          <p:cNvPr id="89" name="직선 화살표 연결선 96"/>
          <p:cNvCxnSpPr>
            <a:stCxn id="75" idx="3"/>
            <a:endCxn id="87" idx="1"/>
          </p:cNvCxnSpPr>
          <p:nvPr/>
        </p:nvCxnSpPr>
        <p:spPr>
          <a:xfrm>
            <a:off x="3850932" y="3428988"/>
            <a:ext cx="318796" cy="28232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96"/>
          <p:cNvCxnSpPr>
            <a:stCxn id="76" idx="3"/>
            <a:endCxn id="87" idx="1"/>
          </p:cNvCxnSpPr>
          <p:nvPr/>
        </p:nvCxnSpPr>
        <p:spPr>
          <a:xfrm flipV="1">
            <a:off x="3850932" y="3711308"/>
            <a:ext cx="318796" cy="571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6"/>
          <p:cNvCxnSpPr>
            <a:stCxn id="77" idx="3"/>
            <a:endCxn id="87" idx="1"/>
          </p:cNvCxnSpPr>
          <p:nvPr/>
        </p:nvCxnSpPr>
        <p:spPr>
          <a:xfrm flipV="1">
            <a:off x="3850932" y="3711308"/>
            <a:ext cx="318796" cy="29374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6"/>
          <p:cNvCxnSpPr>
            <a:stCxn id="87" idx="2"/>
            <a:endCxn id="78" idx="3"/>
          </p:cNvCxnSpPr>
          <p:nvPr/>
        </p:nvCxnSpPr>
        <p:spPr>
          <a:xfrm rot="5400000">
            <a:off x="4014429" y="3703056"/>
            <a:ext cx="426531" cy="75352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6"/>
          <p:cNvCxnSpPr>
            <a:stCxn id="87" idx="2"/>
            <a:endCxn id="122" idx="3"/>
          </p:cNvCxnSpPr>
          <p:nvPr/>
        </p:nvCxnSpPr>
        <p:spPr>
          <a:xfrm rot="5400000">
            <a:off x="3870413" y="3847072"/>
            <a:ext cx="714563" cy="75352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6"/>
          <p:cNvCxnSpPr>
            <a:stCxn id="87" idx="3"/>
            <a:endCxn id="88" idx="1"/>
          </p:cNvCxnSpPr>
          <p:nvPr/>
        </p:nvCxnSpPr>
        <p:spPr>
          <a:xfrm>
            <a:off x="5039183" y="3711308"/>
            <a:ext cx="147685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6"/>
          <p:cNvCxnSpPr>
            <a:stCxn id="83" idx="3"/>
            <a:endCxn id="87" idx="0"/>
          </p:cNvCxnSpPr>
          <p:nvPr/>
        </p:nvCxnSpPr>
        <p:spPr>
          <a:xfrm>
            <a:off x="3850932" y="2492884"/>
            <a:ext cx="753524" cy="106317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6"/>
          <p:cNvCxnSpPr>
            <a:stCxn id="84" idx="3"/>
            <a:endCxn id="87" idx="0"/>
          </p:cNvCxnSpPr>
          <p:nvPr/>
        </p:nvCxnSpPr>
        <p:spPr>
          <a:xfrm>
            <a:off x="3850932" y="2727655"/>
            <a:ext cx="753524" cy="82840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80" idx="3"/>
            <a:endCxn id="83" idx="1"/>
          </p:cNvCxnSpPr>
          <p:nvPr/>
        </p:nvCxnSpPr>
        <p:spPr>
          <a:xfrm flipV="1">
            <a:off x="2544910" y="2492884"/>
            <a:ext cx="405922" cy="12584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6"/>
          <p:cNvCxnSpPr>
            <a:stCxn id="80" idx="3"/>
            <a:endCxn id="84" idx="1"/>
          </p:cNvCxnSpPr>
          <p:nvPr/>
        </p:nvCxnSpPr>
        <p:spPr>
          <a:xfrm>
            <a:off x="2544910" y="2618727"/>
            <a:ext cx="405922" cy="10892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313084" y="3370536"/>
            <a:ext cx="769328" cy="31049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배치스케쥴러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0" name="직선 화살표 연결선 96"/>
          <p:cNvCxnSpPr>
            <a:stCxn id="85" idx="3"/>
            <a:endCxn id="75" idx="1"/>
          </p:cNvCxnSpPr>
          <p:nvPr/>
        </p:nvCxnSpPr>
        <p:spPr>
          <a:xfrm flipV="1">
            <a:off x="2414560" y="3428988"/>
            <a:ext cx="536272" cy="9679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96"/>
          <p:cNvCxnSpPr>
            <a:stCxn id="85" idx="3"/>
            <a:endCxn id="76" idx="1"/>
          </p:cNvCxnSpPr>
          <p:nvPr/>
        </p:nvCxnSpPr>
        <p:spPr>
          <a:xfrm>
            <a:off x="2414560" y="3525783"/>
            <a:ext cx="536272" cy="19123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96"/>
          <p:cNvCxnSpPr>
            <a:stCxn id="85" idx="3"/>
            <a:endCxn id="77" idx="1"/>
          </p:cNvCxnSpPr>
          <p:nvPr/>
        </p:nvCxnSpPr>
        <p:spPr>
          <a:xfrm>
            <a:off x="2414560" y="3525783"/>
            <a:ext cx="536272" cy="47926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96"/>
          <p:cNvCxnSpPr>
            <a:stCxn id="86" idx="3"/>
            <a:endCxn id="75" idx="1"/>
          </p:cNvCxnSpPr>
          <p:nvPr/>
        </p:nvCxnSpPr>
        <p:spPr>
          <a:xfrm flipV="1">
            <a:off x="2414560" y="3428988"/>
            <a:ext cx="536272" cy="54001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96"/>
          <p:cNvCxnSpPr>
            <a:stCxn id="99" idx="3"/>
            <a:endCxn id="85" idx="1"/>
          </p:cNvCxnSpPr>
          <p:nvPr/>
        </p:nvCxnSpPr>
        <p:spPr>
          <a:xfrm>
            <a:off x="1082412" y="3525782"/>
            <a:ext cx="324148" cy="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4169728" y="5350757"/>
            <a:ext cx="869455" cy="31049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배치 프로그램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6" name="직선 화살표 연결선 96"/>
          <p:cNvCxnSpPr>
            <a:stCxn id="79" idx="3"/>
            <a:endCxn id="123" idx="3"/>
          </p:cNvCxnSpPr>
          <p:nvPr/>
        </p:nvCxnSpPr>
        <p:spPr>
          <a:xfrm flipV="1">
            <a:off x="3336584" y="5191586"/>
            <a:ext cx="59724" cy="76964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1364086" y="2542072"/>
            <a:ext cx="1149785" cy="198324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센터컷 프로파일 등록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535017" y="5575695"/>
            <a:ext cx="1216187" cy="198324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센터컷 실행로그 조회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308484" y="2407738"/>
            <a:ext cx="718688" cy="663318"/>
            <a:chOff x="452500" y="2168860"/>
            <a:chExt cx="718688" cy="663318"/>
          </a:xfrm>
        </p:grpSpPr>
        <p:pic>
          <p:nvPicPr>
            <p:cNvPr id="110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7398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직사각형 110"/>
            <p:cNvSpPr/>
            <p:nvPr/>
          </p:nvSpPr>
          <p:spPr>
            <a:xfrm>
              <a:off x="452500" y="2652946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업무시스템</a:t>
              </a:r>
              <a:endParaRPr lang="en-US" altLang="ko-KR" sz="10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  <a:p>
              <a:pPr algn="ctr">
                <a:buClr>
                  <a:schemeClr val="bg2"/>
                </a:buClr>
              </a:pP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센터컷 담당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12" name="직선 화살표 연결선 96"/>
          <p:cNvCxnSpPr>
            <a:stCxn id="128" idx="3"/>
            <a:endCxn id="86" idx="1"/>
          </p:cNvCxnSpPr>
          <p:nvPr/>
        </p:nvCxnSpPr>
        <p:spPr>
          <a:xfrm flipV="1">
            <a:off x="1082412" y="3969006"/>
            <a:ext cx="324148" cy="250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96"/>
          <p:cNvCxnSpPr>
            <a:stCxn id="110" idx="3"/>
            <a:endCxn id="80" idx="1"/>
          </p:cNvCxnSpPr>
          <p:nvPr/>
        </p:nvCxnSpPr>
        <p:spPr>
          <a:xfrm flipV="1">
            <a:off x="884548" y="2618727"/>
            <a:ext cx="365466" cy="2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96"/>
          <p:cNvCxnSpPr>
            <a:stCxn id="110" idx="1"/>
            <a:endCxn id="79" idx="1"/>
          </p:cNvCxnSpPr>
          <p:nvPr/>
        </p:nvCxnSpPr>
        <p:spPr>
          <a:xfrm rot="10800000" flipH="1" flipV="1">
            <a:off x="463382" y="2620858"/>
            <a:ext cx="655584" cy="3340372"/>
          </a:xfrm>
          <a:prstGeom prst="bentConnector3">
            <a:avLst>
              <a:gd name="adj1" fmla="val -3487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1154420" y="4396867"/>
            <a:ext cx="1546281" cy="123116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업무팀에서 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센터컷 처리 대상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데이터를 적재하는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배치 또는 온라인 프로그램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286768" y="5970180"/>
            <a:ext cx="1546281" cy="123116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업무팀에서 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센터컷 오류 관리 또는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후속 작업 실행을 위해 필요시</a:t>
            </a:r>
            <a:endParaRPr lang="en-US" altLang="ko-KR" sz="1000" b="1" kern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작성하는 배치 프로그램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34780" y="3193926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처리대상 데이터 조회</a:t>
            </a:r>
          </a:p>
        </p:txBody>
      </p:sp>
      <p:sp>
        <p:nvSpPr>
          <p:cNvPr id="11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18816" y="3293477"/>
            <a:ext cx="1026199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표준전문</a:t>
            </a:r>
            <a:endParaRPr kumimoji="0" lang="en-US" altLang="ko-KR" sz="800" i="0" u="none" strike="noStrike" kern="0" cap="none" spc="0" normalizeH="0" noProof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latin typeface="+mn-ea"/>
              </a:rPr>
              <a:t>조립 후 온라인 호출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12984" y="2250904"/>
            <a:ext cx="1026199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센터컷 실행정보 참조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44888" y="4098290"/>
            <a:ext cx="1026199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센터컷 결과 저장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121" name="직선 화살표 연결선 96"/>
          <p:cNvCxnSpPr>
            <a:stCxn id="105" idx="1"/>
            <a:endCxn id="78" idx="2"/>
          </p:cNvCxnSpPr>
          <p:nvPr/>
        </p:nvCxnSpPr>
        <p:spPr>
          <a:xfrm rot="10800000">
            <a:off x="3400882" y="4401085"/>
            <a:ext cx="768846" cy="1104919"/>
          </a:xfrm>
          <a:prstGeom prst="curved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/>
          <p:cNvSpPr/>
          <p:nvPr/>
        </p:nvSpPr>
        <p:spPr>
          <a:xfrm>
            <a:off x="2950832" y="4473116"/>
            <a:ext cx="9001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결과 메시지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3" name="AutoShape 256"/>
          <p:cNvSpPr>
            <a:spLocks noChangeArrowheads="1"/>
          </p:cNvSpPr>
          <p:nvPr/>
        </p:nvSpPr>
        <p:spPr bwMode="auto">
          <a:xfrm>
            <a:off x="2856308" y="4830055"/>
            <a:ext cx="1080000" cy="361531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t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ko-KR" sz="900" b="0" dirty="0">
              <a:latin typeface="+mn-ea"/>
              <a:ea typeface="+mn-ea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828764" y="4884136"/>
            <a:ext cx="1158046" cy="330064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배치</a:t>
            </a: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/</a:t>
            </a: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센터컷 실행결과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5" name="직선 화살표 연결선 96"/>
          <p:cNvCxnSpPr>
            <a:stCxn id="87" idx="2"/>
            <a:endCxn id="123" idx="4"/>
          </p:cNvCxnSpPr>
          <p:nvPr/>
        </p:nvCxnSpPr>
        <p:spPr>
          <a:xfrm rot="5400000">
            <a:off x="3698248" y="4104613"/>
            <a:ext cx="1144268" cy="66814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936547"/>
              </p:ext>
            </p:extLst>
          </p:nvPr>
        </p:nvGraphicFramePr>
        <p:xfrm>
          <a:off x="6161350" y="1838345"/>
          <a:ext cx="3508113" cy="4506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884">
                  <a:extLst>
                    <a:ext uri="{9D8B030D-6E8A-4147-A177-3AD203B41FA5}">
                      <a16:colId xmlns:a16="http://schemas.microsoft.com/office/drawing/2014/main" val="883531391"/>
                    </a:ext>
                  </a:extLst>
                </a:gridCol>
                <a:gridCol w="186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11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담당자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프로파일 등록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업무시스템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센터컷담당자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 웹화면에서 등록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입력테이블명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호출간격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병렬쓰레드 수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업무에러 무시여부 등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78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입력데이터 생성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업무시스템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센터컷담당자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또는 온라인 프로그램에서 입력테이블 데이터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 기본 및 헤더부는 개별 컬럼별로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개별데이터부는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제공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통해 통전문으로 전환 후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22269"/>
                  </a:ext>
                </a:extLst>
              </a:tr>
              <a:tr h="783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 입력 테이블의 기본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헤더 컬럼 및 입력 데이터 컬럼의 데이터를 표준전문으로 조립 후 온라인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호출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92033"/>
                  </a:ext>
                </a:extLst>
              </a:tr>
              <a:tr h="783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업무시스템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센터컷담당자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 웹화면에서 배치실행 로그 및 센터컷 실행 로그 조회를 통해 센터컷 결과 모니터링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192647"/>
                  </a:ext>
                </a:extLst>
              </a:tr>
              <a:tr h="783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사후 배치 실행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업무시스템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센터컷담당자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 본처리 완료후 센터컷 오류 또는 처리 결과에 대한 원장 반영 등의 후속 배치 프로그램을 실행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01605"/>
                  </a:ext>
                </a:extLst>
              </a:tr>
            </a:tbl>
          </a:graphicData>
        </a:graphic>
      </p:graphicFrame>
      <p:sp>
        <p:nvSpPr>
          <p:cNvPr id="1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14851" y="3192817"/>
            <a:ext cx="913913" cy="23618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latin typeface="+mn-ea"/>
              </a:rPr>
              <a:t>입력데이터 적재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313084" y="3816267"/>
            <a:ext cx="769328" cy="31049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통합단말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5182653" y="5350759"/>
            <a:ext cx="769328" cy="31049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배치스케쥴러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0" name="직선 화살표 연결선 96"/>
          <p:cNvCxnSpPr>
            <a:endCxn id="105" idx="3"/>
          </p:cNvCxnSpPr>
          <p:nvPr/>
        </p:nvCxnSpPr>
        <p:spPr>
          <a:xfrm flipH="1" flipV="1">
            <a:off x="5039183" y="5506003"/>
            <a:ext cx="143470" cy="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6538" y="5545807"/>
            <a:ext cx="913913" cy="23618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latin typeface="+mn-ea"/>
              </a:rPr>
              <a:t>배치</a:t>
            </a:r>
            <a:r>
              <a:rPr lang="en-US" altLang="ko-KR" sz="800" kern="0">
                <a:latin typeface="+mn-ea"/>
              </a:rPr>
              <a:t>/</a:t>
            </a:r>
            <a:r>
              <a:rPr lang="ko-KR" altLang="en-US" sz="800" kern="0">
                <a:latin typeface="+mn-ea"/>
              </a:rPr>
              <a:t>센터컷 실행로그 </a:t>
            </a:r>
            <a:r>
              <a:rPr kumimoji="0" lang="ko-KR" altLang="en-US" sz="8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모니터링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pic>
        <p:nvPicPr>
          <p:cNvPr id="132" name="그림 131"/>
          <p:cNvPicPr/>
          <p:nvPr/>
        </p:nvPicPr>
        <p:blipFill>
          <a:blip r:embed="rId5"/>
          <a:stretch>
            <a:fillRect/>
          </a:stretch>
        </p:blipFill>
        <p:spPr>
          <a:xfrm>
            <a:off x="1154420" y="5217249"/>
            <a:ext cx="2196045" cy="352941"/>
          </a:xfrm>
          <a:prstGeom prst="rect">
            <a:avLst/>
          </a:prstGeom>
        </p:spPr>
      </p:pic>
      <p:sp>
        <p:nvSpPr>
          <p:cNvPr id="133" name="직사각형 132"/>
          <p:cNvSpPr/>
          <p:nvPr/>
        </p:nvSpPr>
        <p:spPr>
          <a:xfrm>
            <a:off x="1535017" y="5207202"/>
            <a:ext cx="1216187" cy="198324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3600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buClr>
                <a:srgbClr val="FFD200"/>
              </a:buClr>
              <a:buSzPct val="75000"/>
            </a:pPr>
            <a:r>
              <a:rPr lang="ko-KR" altLang="en-US" sz="1000" b="1" kern="0">
                <a:latin typeface="Arial" pitchFamily="34" charset="0"/>
                <a:cs typeface="Arial" pitchFamily="34" charset="0"/>
              </a:rPr>
              <a:t>배치 실행로그 조회</a:t>
            </a:r>
            <a:endParaRPr lang="en-US" altLang="ko-KR" sz="1000" b="1" kern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1787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364506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024844"/>
            <a:ext cx="6848453" cy="3589050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어플리케이션 구성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통합 개발 환경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>
                <a:solidFill>
                  <a:prstClr val="black"/>
                </a:solidFill>
              </a:rPr>
              <a:t>MMI </a:t>
            </a:r>
            <a:r>
              <a:rPr lang="ko-KR" altLang="en-US" dirty="0">
                <a:solidFill>
                  <a:prstClr val="black"/>
                </a:solidFill>
              </a:rPr>
              <a:t>연계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>
                <a:solidFill>
                  <a:prstClr val="black"/>
                </a:solidFill>
              </a:rPr>
              <a:t>MCI </a:t>
            </a:r>
            <a:r>
              <a:rPr lang="ko-KR" altLang="en-US" dirty="0">
                <a:solidFill>
                  <a:prstClr val="black"/>
                </a:solidFill>
              </a:rPr>
              <a:t>연계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>
                <a:solidFill>
                  <a:prstClr val="black"/>
                </a:solidFill>
              </a:rPr>
              <a:t>EAI </a:t>
            </a:r>
            <a:r>
              <a:rPr lang="ko-KR" altLang="en-US" dirty="0">
                <a:solidFill>
                  <a:prstClr val="black"/>
                </a:solidFill>
              </a:rPr>
              <a:t>연계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원격 호출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>
                <a:solidFill>
                  <a:prstClr val="black"/>
                </a:solidFill>
                <a:latin typeface="+mn-lt"/>
              </a:rPr>
              <a:t>서비스 </a:t>
            </a: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57975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직사각형 143"/>
          <p:cNvSpPr/>
          <p:nvPr/>
        </p:nvSpPr>
        <p:spPr>
          <a:xfrm>
            <a:off x="3700266" y="1501646"/>
            <a:ext cx="2246212" cy="216822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MMI </a:t>
            </a:r>
            <a:r>
              <a:rPr lang="ko-KR" altLang="en-US" dirty="0"/>
              <a:t>연계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MMI 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배포한 전문 정보를 받아 프레임워크 테이블에 저장 후</a:t>
            </a:r>
            <a:r>
              <a:rPr lang="en-US" altLang="ko-KR" dirty="0"/>
              <a:t>, IDE </a:t>
            </a:r>
            <a:r>
              <a:rPr lang="ko-KR" altLang="en-US" dirty="0"/>
              <a:t>에서 </a:t>
            </a:r>
            <a:r>
              <a:rPr lang="ko-KR" altLang="en-US" dirty="0" err="1"/>
              <a:t>전문정보</a:t>
            </a:r>
            <a:r>
              <a:rPr lang="ko-KR" altLang="en-US" dirty="0"/>
              <a:t> 조회 하여 </a:t>
            </a:r>
            <a:r>
              <a:rPr lang="en-US" altLang="ko-KR" dirty="0"/>
              <a:t>PM IO </a:t>
            </a:r>
            <a:r>
              <a:rPr lang="ko-KR" altLang="en-US" dirty="0"/>
              <a:t>작성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MMI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902973" y="1607842"/>
            <a:ext cx="851878" cy="9385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  <a:t>IDE</a:t>
            </a: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 서버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52777" y="1268760"/>
            <a:ext cx="2093571" cy="21838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50" b="1" dirty="0">
                <a:cs typeface="Arial" pitchFamily="34" charset="0"/>
              </a:rPr>
              <a:t>프레임워크 개발도구 서버</a:t>
            </a:r>
          </a:p>
        </p:txBody>
      </p:sp>
      <p:cxnSp>
        <p:nvCxnSpPr>
          <p:cNvPr id="46" name="직선 화살표 연결선 45"/>
          <p:cNvCxnSpPr>
            <a:stCxn id="108" idx="3"/>
            <a:endCxn id="5" idx="1"/>
          </p:cNvCxnSpPr>
          <p:nvPr/>
        </p:nvCxnSpPr>
        <p:spPr>
          <a:xfrm>
            <a:off x="2619723" y="1677568"/>
            <a:ext cx="1224844" cy="39956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844567" y="1607842"/>
            <a:ext cx="910764" cy="93858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MMI</a:t>
            </a:r>
            <a:b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b="1" dirty="0">
                <a:solidFill>
                  <a:schemeClr val="tx1"/>
                </a:solidFill>
                <a:cs typeface="Arial" pitchFamily="34" charset="0"/>
              </a:rPr>
              <a:t>연계 서버</a:t>
            </a:r>
            <a:endParaRPr lang="en-US" altLang="ko-K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2" name="직선 화살표 연결선 101"/>
          <p:cNvCxnSpPr>
            <a:stCxn id="5" idx="1"/>
            <a:endCxn id="9" idx="1"/>
          </p:cNvCxnSpPr>
          <p:nvPr/>
        </p:nvCxnSpPr>
        <p:spPr>
          <a:xfrm flipH="1">
            <a:off x="1455163" y="2077135"/>
            <a:ext cx="2389404" cy="82256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24" idx="2"/>
            <a:endCxn id="9" idx="4"/>
          </p:cNvCxnSpPr>
          <p:nvPr/>
        </p:nvCxnSpPr>
        <p:spPr>
          <a:xfrm flipH="1">
            <a:off x="1941598" y="2546427"/>
            <a:ext cx="3387314" cy="67679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/>
        </p:nvGrpSpPr>
        <p:grpSpPr>
          <a:xfrm>
            <a:off x="968727" y="1190680"/>
            <a:ext cx="2497909" cy="3022660"/>
            <a:chOff x="6307519" y="1294975"/>
            <a:chExt cx="2497909" cy="3022660"/>
          </a:xfrm>
        </p:grpSpPr>
        <p:sp>
          <p:nvSpPr>
            <p:cNvPr id="9" name="순서도: 자기 디스크 8"/>
            <p:cNvSpPr/>
            <p:nvPr/>
          </p:nvSpPr>
          <p:spPr>
            <a:xfrm>
              <a:off x="6307519" y="3003998"/>
              <a:ext cx="972871" cy="647037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>
                  <a:solidFill>
                    <a:schemeClr val="tx1"/>
                  </a:solidFill>
                  <a:cs typeface="Arial" pitchFamily="34" charset="0"/>
                </a:rPr>
                <a:t>프레임워크</a:t>
              </a:r>
              <a:b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</a:b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개발 </a:t>
              </a: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DB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418000" y="3327517"/>
              <a:ext cx="1387428" cy="44665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ko-KR" altLang="en-US" sz="900" dirty="0">
                  <a:cs typeface="Arial" pitchFamily="34" charset="0"/>
                </a:rPr>
                <a:t>테이블 </a:t>
              </a:r>
              <a:r>
                <a:rPr lang="en-US" altLang="ko-KR" sz="900" dirty="0">
                  <a:cs typeface="Arial" pitchFamily="34" charset="0"/>
                </a:rPr>
                <a:t>: </a:t>
              </a:r>
            </a:p>
            <a:p>
              <a:pPr marL="85725" indent="-85725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b="1" dirty="0">
                  <a:cs typeface="Arial" pitchFamily="34" charset="0"/>
                </a:rPr>
                <a:t>NJFC_IO_LAYOUT</a:t>
              </a:r>
            </a:p>
            <a:p>
              <a:pPr marL="85725" indent="-85725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b="1" dirty="0">
                  <a:cs typeface="Arial" pitchFamily="34" charset="0"/>
                </a:rPr>
                <a:t>NJFC_IO_LAYOUT_IO</a:t>
              </a:r>
              <a:endParaRPr lang="ko-KR" altLang="en-US" sz="900" b="1" dirty="0">
                <a:cs typeface="Arial" pitchFamily="34" charset="0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938895" y="1294975"/>
              <a:ext cx="1019620" cy="973776"/>
            </a:xfrm>
            <a:prstGeom prst="rect">
              <a:avLst/>
            </a:prstGeom>
            <a:solidFill>
              <a:srgbClr val="FFC000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  <a:t>MMI</a:t>
              </a:r>
              <a:endParaRPr lang="en-US" altLang="ko-KR" sz="1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8081000" y="2060068"/>
              <a:ext cx="720080" cy="211203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ko-KR" altLang="en-US" sz="1000" b="1">
                  <a:cs typeface="Arial" pitchFamily="34" charset="0"/>
                </a:rPr>
                <a:t>전문 배포</a:t>
              </a:r>
              <a:endParaRPr lang="ko-KR" altLang="en-US" sz="1000" b="1" dirty="0">
                <a:cs typeface="Arial" pitchFamily="34" charset="0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359233" y="3829434"/>
              <a:ext cx="2117533" cy="488201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1000" dirty="0">
                  <a:cs typeface="Arial" pitchFamily="34" charset="0"/>
                </a:rPr>
                <a:t>MMI </a:t>
              </a:r>
              <a:r>
                <a:rPr lang="ko-KR" altLang="en-US" sz="1000" dirty="0">
                  <a:cs typeface="Arial" pitchFamily="34" charset="0"/>
                </a:rPr>
                <a:t>에서 배포한 전문 정보는 즉시 </a:t>
              </a:r>
              <a:r>
                <a:rPr lang="en-US" altLang="ko-KR" sz="1000" dirty="0">
                  <a:cs typeface="Arial" pitchFamily="34" charset="0"/>
                </a:rPr>
                <a:t>AP </a:t>
              </a:r>
              <a:r>
                <a:rPr lang="ko-KR" altLang="en-US" sz="1000" dirty="0">
                  <a:cs typeface="Arial" pitchFamily="34" charset="0"/>
                </a:rPr>
                <a:t>서버에 반영되는 것이 아니고 </a:t>
              </a:r>
              <a:endParaRPr lang="en-US" altLang="ko-KR" sz="1000" dirty="0">
                <a:cs typeface="Arial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ko-KR" sz="1000" dirty="0">
                  <a:cs typeface="Arial" pitchFamily="34" charset="0"/>
                </a:rPr>
                <a:t>PU/PM </a:t>
              </a:r>
              <a:r>
                <a:rPr lang="ko-KR" altLang="en-US" sz="1000" dirty="0" err="1">
                  <a:cs typeface="Arial" pitchFamily="34" charset="0"/>
                </a:rPr>
                <a:t>배포시</a:t>
              </a:r>
              <a:r>
                <a:rPr lang="ko-KR" altLang="en-US" sz="1000" dirty="0">
                  <a:cs typeface="Arial" pitchFamily="34" charset="0"/>
                </a:rPr>
                <a:t> 적용됨</a:t>
              </a:r>
            </a:p>
          </p:txBody>
        </p:sp>
      </p:grpSp>
      <p:sp>
        <p:nvSpPr>
          <p:cNvPr id="138" name="타원 137"/>
          <p:cNvSpPr/>
          <p:nvPr/>
        </p:nvSpPr>
        <p:spPr>
          <a:xfrm>
            <a:off x="2958145" y="1607842"/>
            <a:ext cx="216000" cy="221249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2330300" y="2374542"/>
            <a:ext cx="164943" cy="217571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3101987" y="2702012"/>
            <a:ext cx="216000" cy="216000"/>
          </a:xfrm>
          <a:prstGeom prst="ellipse">
            <a:avLst/>
          </a:prstGeom>
          <a:solidFill>
            <a:schemeClr val="tx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4</a:t>
            </a:r>
            <a:endParaRPr lang="ko-KR" altLang="en-US" sz="1000" b="1" dirty="0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5328912" y="1136157"/>
            <a:ext cx="3816198" cy="2973578"/>
            <a:chOff x="-480587" y="1411675"/>
            <a:chExt cx="3816198" cy="2973578"/>
          </a:xfrm>
        </p:grpSpPr>
        <p:pic>
          <p:nvPicPr>
            <p:cNvPr id="126" name="그림 1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4" y="1673140"/>
              <a:ext cx="2189200" cy="1820091"/>
            </a:xfrm>
            <a:prstGeom prst="rect">
              <a:avLst/>
            </a:prstGeom>
          </p:spPr>
        </p:pic>
        <p:cxnSp>
          <p:nvCxnSpPr>
            <p:cNvPr id="118" name="직선 화살표 연결선 117"/>
            <p:cNvCxnSpPr>
              <a:endCxn id="24" idx="2"/>
            </p:cNvCxnSpPr>
            <p:nvPr/>
          </p:nvCxnSpPr>
          <p:spPr>
            <a:xfrm flipH="1" flipV="1">
              <a:off x="-480587" y="2821945"/>
              <a:ext cx="2882572" cy="278762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1213200" y="1411675"/>
              <a:ext cx="1263876" cy="21812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 dirty="0">
                  <a:cs typeface="Arial" pitchFamily="34" charset="0"/>
                </a:rPr>
                <a:t>IDE </a:t>
              </a:r>
              <a:r>
                <a:rPr lang="ko-KR" altLang="en-US" sz="1050" b="1" dirty="0">
                  <a:cs typeface="Arial" pitchFamily="34" charset="0"/>
                </a:rPr>
                <a:t>개발 환경</a:t>
              </a:r>
            </a:p>
          </p:txBody>
        </p:sp>
        <p:sp>
          <p:nvSpPr>
            <p:cNvPr id="132" name="모서리가 둥근 직사각형 131"/>
            <p:cNvSpPr/>
            <p:nvPr/>
          </p:nvSpPr>
          <p:spPr>
            <a:xfrm>
              <a:off x="837646" y="1800328"/>
              <a:ext cx="2166657" cy="665941"/>
            </a:xfrm>
            <a:prstGeom prst="roundRect">
              <a:avLst/>
            </a:prstGeom>
            <a:noFill/>
            <a:ln w="19050" cap="flat">
              <a:solidFill>
                <a:schemeClr val="accent2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33" name="모서리가 둥근 직사각형 132"/>
            <p:cNvSpPr/>
            <p:nvPr/>
          </p:nvSpPr>
          <p:spPr>
            <a:xfrm>
              <a:off x="815104" y="2954478"/>
              <a:ext cx="2166657" cy="665941"/>
            </a:xfrm>
            <a:prstGeom prst="roundRect">
              <a:avLst/>
            </a:prstGeom>
            <a:noFill/>
            <a:ln w="19050" cap="flat">
              <a:solidFill>
                <a:schemeClr val="accent2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8" name="오른쪽 화살표 127"/>
            <p:cNvSpPr/>
            <p:nvPr/>
          </p:nvSpPr>
          <p:spPr>
            <a:xfrm rot="16200000">
              <a:off x="1405626" y="2581784"/>
              <a:ext cx="857416" cy="164452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936688" y="2552944"/>
              <a:ext cx="1367213" cy="32200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900" dirty="0">
                  <a:cs typeface="Arial" pitchFamily="34" charset="0"/>
                </a:rPr>
                <a:t>IO Assist </a:t>
              </a:r>
              <a:r>
                <a:rPr lang="ko-KR" altLang="en-US" sz="900" dirty="0">
                  <a:cs typeface="Arial" pitchFamily="34" charset="0"/>
                </a:rPr>
                <a:t>에서 </a:t>
              </a:r>
              <a:r>
                <a:rPr lang="en-US" altLang="ko-KR" sz="900" dirty="0">
                  <a:cs typeface="Arial" pitchFamily="34" charset="0"/>
                </a:rPr>
                <a:t>PM </a:t>
              </a:r>
              <a:r>
                <a:rPr lang="ko-KR" altLang="en-US" sz="900" dirty="0">
                  <a:cs typeface="Arial" pitchFamily="34" charset="0"/>
                </a:rPr>
                <a:t>입력</a:t>
              </a:r>
              <a:r>
                <a:rPr lang="en-US" altLang="ko-KR" sz="900" dirty="0">
                  <a:cs typeface="Arial" pitchFamily="34" charset="0"/>
                </a:rPr>
                <a:t>/</a:t>
              </a:r>
              <a:r>
                <a:rPr lang="ko-KR" altLang="en-US" sz="900" dirty="0">
                  <a:cs typeface="Arial" pitchFamily="34" charset="0"/>
                </a:rPr>
                <a:t>출력 구조로 복사</a:t>
              </a:r>
            </a:p>
          </p:txBody>
        </p:sp>
        <p:sp>
          <p:nvSpPr>
            <p:cNvPr id="135" name="굽은 화살표 134"/>
            <p:cNvSpPr/>
            <p:nvPr/>
          </p:nvSpPr>
          <p:spPr>
            <a:xfrm flipV="1">
              <a:off x="984394" y="3609020"/>
              <a:ext cx="1292451" cy="312384"/>
            </a:xfrm>
            <a:prstGeom prst="ben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218078" y="3897052"/>
              <a:ext cx="2117533" cy="488201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ko-KR" altLang="en-US" sz="1000" dirty="0">
                  <a:cs typeface="Arial" pitchFamily="34" charset="0"/>
                </a:rPr>
                <a:t>이렇게 작성한 </a:t>
              </a:r>
              <a:r>
                <a:rPr lang="en-US" altLang="ko-KR" sz="1000" dirty="0">
                  <a:cs typeface="Arial" pitchFamily="34" charset="0"/>
                </a:rPr>
                <a:t>PU/PM </a:t>
              </a:r>
              <a:r>
                <a:rPr lang="ko-KR" altLang="en-US" sz="1000" dirty="0" err="1">
                  <a:cs typeface="Arial" pitchFamily="34" charset="0"/>
                </a:rPr>
                <a:t>레아아웃</a:t>
              </a:r>
              <a:r>
                <a:rPr lang="ko-KR" altLang="en-US" sz="1000" dirty="0">
                  <a:cs typeface="Arial" pitchFamily="34" charset="0"/>
                </a:rPr>
                <a:t> 정보는 온라인 어플리케이션 배포를 한 후에 실제 </a:t>
              </a:r>
              <a:r>
                <a:rPr lang="en-US" altLang="ko-KR" sz="1000" dirty="0">
                  <a:cs typeface="Arial" pitchFamily="34" charset="0"/>
                </a:rPr>
                <a:t>AP </a:t>
              </a:r>
              <a:r>
                <a:rPr lang="ko-KR" altLang="en-US" sz="1000" dirty="0">
                  <a:cs typeface="Arial" pitchFamily="34" charset="0"/>
                </a:rPr>
                <a:t>서버에 반영됨</a:t>
              </a:r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9023" y="2605945"/>
              <a:ext cx="216000" cy="216000"/>
            </a:xfrm>
            <a:prstGeom prst="ellipse">
              <a:avLst/>
            </a:prstGeom>
            <a:solidFill>
              <a:schemeClr val="tx1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1000" b="1" dirty="0">
                  <a:solidFill>
                    <a:schemeClr val="bg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3</a:t>
              </a:r>
              <a:endParaRPr lang="ko-KR" altLang="en-US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142" name="타원 141"/>
            <p:cNvSpPr/>
            <p:nvPr/>
          </p:nvSpPr>
          <p:spPr>
            <a:xfrm>
              <a:off x="1515980" y="2485457"/>
              <a:ext cx="216000" cy="216000"/>
            </a:xfrm>
            <a:prstGeom prst="ellipse">
              <a:avLst/>
            </a:prstGeom>
            <a:solidFill>
              <a:schemeClr val="tx1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1000" b="1" dirty="0">
                  <a:solidFill>
                    <a:schemeClr val="bg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5</a:t>
              </a:r>
              <a:endParaRPr lang="ko-KR" altLang="en-US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002784" y="3969060"/>
              <a:ext cx="216000" cy="216000"/>
            </a:xfrm>
            <a:prstGeom prst="ellipse">
              <a:avLst/>
            </a:prstGeom>
            <a:solidFill>
              <a:schemeClr val="tx1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1000" b="1" dirty="0">
                  <a:solidFill>
                    <a:schemeClr val="bg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6</a:t>
              </a:r>
              <a:endParaRPr lang="ko-KR" altLang="en-US" sz="1000" b="1" dirty="0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graphicFrame>
        <p:nvGraphicFramePr>
          <p:cNvPr id="145" name="표 1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185078"/>
              </p:ext>
            </p:extLst>
          </p:nvPr>
        </p:nvGraphicFramePr>
        <p:xfrm>
          <a:off x="1204930" y="4446839"/>
          <a:ext cx="7632849" cy="2046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012">
                  <a:extLst>
                    <a:ext uri="{9D8B030D-6E8A-4147-A177-3AD203B41FA5}">
                      <a16:colId xmlns:a16="http://schemas.microsoft.com/office/drawing/2014/main" val="3507271964"/>
                    </a:ext>
                  </a:extLst>
                </a:gridCol>
                <a:gridCol w="5056854">
                  <a:extLst>
                    <a:ext uri="{9D8B030D-6E8A-4147-A177-3AD203B41FA5}">
                      <a16:colId xmlns:a16="http://schemas.microsoft.com/office/drawing/2014/main" val="655574096"/>
                    </a:ext>
                  </a:extLst>
                </a:gridCol>
                <a:gridCol w="1974983">
                  <a:extLst>
                    <a:ext uri="{9D8B030D-6E8A-4147-A177-3AD203B41FA5}">
                      <a16:colId xmlns:a16="http://schemas.microsoft.com/office/drawing/2014/main" val="2029066582"/>
                    </a:ext>
                  </a:extLst>
                </a:gridCol>
              </a:tblGrid>
              <a:tr h="2109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No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02518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MMI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에서 전문 배포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개발도구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서버의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MMI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연계 서버에서 수신하여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파싱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HTTP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, XML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포멧으로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수신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642213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MMI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연계 서버에서는 수신한 전문 정보를 </a:t>
                      </a:r>
                      <a:r>
                        <a:rPr lang="ko-KR" altLang="en-US" sz="900" b="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프레임워크 공용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개발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DB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테이블에 저장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NJFC_IO_LAYOUT</a:t>
                      </a: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NJFC_IO_LAYOUT_IO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839194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IDE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에서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PM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작성시 </a:t>
                      </a:r>
                      <a:r>
                        <a:rPr lang="en-US" altLang="ko-KR" sz="900" b="1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IO Assist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기능을 이용하여 등록된 전문 정보 조회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07460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IDE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서버에서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전문 정보 쿼리하여 리턴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770799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조회된 전문 정보를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PM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의 입력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출력 레이아웃에 적용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uio</a:t>
                      </a:r>
                      <a:r>
                        <a:rPr lang="en-US" altLang="ko-KR" sz="9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파일에 전문 정보 기록됨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394976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컴포넌트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배포후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그 전문 정보가 프레임워크 런타임의 메모리 영역에 배포되어 최종 적용됨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3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9755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/>
              <a:t>MMI </a:t>
            </a:r>
            <a:r>
              <a:rPr lang="ko-KR" altLang="en-US"/>
              <a:t>수신 주소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/>
              <a:t>MMI </a:t>
            </a:r>
            <a:r>
              <a:rPr lang="ko-KR" altLang="en-US"/>
              <a:t>배포는 각 도메인별 프레임워크 테이블에 저장되며 도메인별로 구분하여 수신하되</a:t>
            </a:r>
            <a:r>
              <a:rPr lang="en-US" altLang="ko-KR"/>
              <a:t>, </a:t>
            </a:r>
            <a:r>
              <a:rPr lang="ko-KR" altLang="en-US"/>
              <a:t>수신 서버 자체는 프레임워크 개발 서버에서 수신함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MMI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graphicFrame>
        <p:nvGraphicFramePr>
          <p:cNvPr id="9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927218"/>
              </p:ext>
            </p:extLst>
          </p:nvPr>
        </p:nvGraphicFramePr>
        <p:xfrm>
          <a:off x="596516" y="1553729"/>
          <a:ext cx="8676963" cy="4050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514153680"/>
                    </a:ext>
                  </a:extLst>
                </a:gridCol>
                <a:gridCol w="2232247">
                  <a:extLst>
                    <a:ext uri="{9D8B030D-6E8A-4147-A177-3AD203B41FA5}">
                      <a16:colId xmlns:a16="http://schemas.microsoft.com/office/drawing/2014/main" val="4057965482"/>
                    </a:ext>
                  </a:extLst>
                </a:gridCol>
              </a:tblGrid>
              <a:tr h="46388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도메인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MMI 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배포 수신 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URL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포트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 (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참고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비고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상품처리지원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http://10.38.117.24:21811/nkesa_mmi/receive_from_mmi.jsp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21811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개발 서버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사업 프레임워크 서버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동일서버에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포트로 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397535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616346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766178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996660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190326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737735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594368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786943"/>
                  </a:ext>
                </a:extLst>
              </a:tr>
              <a:tr h="298851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8242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84648" y="6205873"/>
            <a:ext cx="5976664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기본 포트는 </a:t>
            </a:r>
            <a:r>
              <a:rPr lang="en-US" altLang="ko-KR" sz="1000" dirty="0">
                <a:cs typeface="Arial" pitchFamily="34" charset="0"/>
              </a:rPr>
              <a:t>21811.  </a:t>
            </a:r>
            <a:r>
              <a:rPr lang="ko-KR" altLang="en-US" sz="1000" dirty="0">
                <a:cs typeface="Arial" pitchFamily="34" charset="0"/>
              </a:rPr>
              <a:t>동일 서버에 여러 서비스를 기동할 경우 </a:t>
            </a:r>
            <a:r>
              <a:rPr lang="en-US" altLang="ko-KR" sz="1000" dirty="0">
                <a:cs typeface="Arial" pitchFamily="34" charset="0"/>
              </a:rPr>
              <a:t>21801 ~ 218xx </a:t>
            </a:r>
            <a:r>
              <a:rPr lang="ko-KR" altLang="en-US" sz="1000" dirty="0">
                <a:cs typeface="Arial" pitchFamily="34" charset="0"/>
              </a:rPr>
              <a:t>로 확장함</a:t>
            </a:r>
          </a:p>
        </p:txBody>
      </p:sp>
    </p:spTree>
    <p:extLst>
      <p:ext uri="{BB962C8B-B14F-4D97-AF65-F5344CB8AC3E}">
        <p14:creationId xmlns:p14="http://schemas.microsoft.com/office/powerpoint/2010/main" val="18433806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직사각형 107"/>
          <p:cNvSpPr/>
          <p:nvPr/>
        </p:nvSpPr>
        <p:spPr>
          <a:xfrm>
            <a:off x="4257101" y="3508836"/>
            <a:ext cx="4685948" cy="10722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104701" y="3204612"/>
            <a:ext cx="4685948" cy="10722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MCI </a:t>
            </a:r>
            <a:r>
              <a:rPr lang="ko-KR" altLang="en-US"/>
              <a:t>연계 방안 </a:t>
            </a:r>
            <a:r>
              <a:rPr lang="en-US" altLang="ko-KR"/>
              <a:t>– Inbound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en-US" altLang="ko-KR"/>
              <a:t>MCI </a:t>
            </a:r>
            <a:r>
              <a:rPr lang="en-US" altLang="ko-KR">
                <a:sym typeface="Wingdings" panose="05000000000000000000" pitchFamily="2" charset="2"/>
              </a:rPr>
              <a:t></a:t>
            </a:r>
            <a:r>
              <a:rPr lang="en-US" altLang="ko-KR"/>
              <a:t> nKESA </a:t>
            </a:r>
            <a:r>
              <a:rPr lang="ko-KR" altLang="en-US"/>
              <a:t>구간 모두 </a:t>
            </a:r>
            <a:r>
              <a:rPr lang="en-US" altLang="ko-KR"/>
              <a:t>HTTP / JSON </a:t>
            </a:r>
            <a:r>
              <a:rPr lang="ko-KR" altLang="en-US"/>
              <a:t>방식으로 전문 통신함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MCI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3933644" y="1844824"/>
            <a:ext cx="4651913" cy="2052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049054" y="2355646"/>
            <a:ext cx="1116124" cy="336056"/>
          </a:xfrm>
          <a:prstGeom prst="rect">
            <a:avLst/>
          </a:prstGeom>
          <a:solidFill>
            <a:srgbClr val="FFFF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Standard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Servlet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480802" y="2355645"/>
            <a:ext cx="975954" cy="1368152"/>
          </a:xfrm>
          <a:prstGeom prst="roundRect">
            <a:avLst>
              <a:gd name="adj" fmla="val 6643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Text Box 25"/>
          <p:cNvSpPr txBox="1">
            <a:spLocks noChangeArrowheads="1"/>
          </p:cNvSpPr>
          <p:nvPr/>
        </p:nvSpPr>
        <p:spPr bwMode="auto">
          <a:xfrm>
            <a:off x="7617296" y="2518990"/>
            <a:ext cx="799244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7617296" y="2888665"/>
            <a:ext cx="79924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6" name="Text Box 25"/>
          <p:cNvSpPr txBox="1">
            <a:spLocks noChangeArrowheads="1"/>
          </p:cNvSpPr>
          <p:nvPr/>
        </p:nvSpPr>
        <p:spPr bwMode="auto">
          <a:xfrm>
            <a:off x="7617296" y="3275075"/>
            <a:ext cx="36480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464232" y="2733106"/>
            <a:ext cx="864108" cy="390926"/>
          </a:xfrm>
          <a:prstGeom prst="roundRect">
            <a:avLst/>
          </a:prstGeom>
          <a:solidFill>
            <a:srgbClr val="FFFF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rgbClr val="FF0000"/>
                </a:solidFill>
                <a:cs typeface="Arial" pitchFamily="34" charset="0"/>
              </a:rPr>
              <a:t>JsonHandler</a:t>
            </a:r>
          </a:p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rgbClr val="FF0000"/>
                </a:solidFill>
                <a:cs typeface="Arial" pitchFamily="34" charset="0"/>
              </a:rPr>
              <a:t>JsonView</a:t>
            </a:r>
            <a:r>
              <a:rPr lang="ko-KR" altLang="en-US" sz="900" b="1">
                <a:solidFill>
                  <a:srgbClr val="FF0000"/>
                </a:solidFill>
                <a:cs typeface="Arial" pitchFamily="34" charset="0"/>
              </a:rPr>
              <a:t> 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8" name="직선 화살표 연결선 67"/>
          <p:cNvCxnSpPr>
            <a:stCxn id="62" idx="3"/>
          </p:cNvCxnSpPr>
          <p:nvPr/>
        </p:nvCxnSpPr>
        <p:spPr>
          <a:xfrm flipV="1">
            <a:off x="5165178" y="2522946"/>
            <a:ext cx="2315624" cy="72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68"/>
          <p:cNvSpPr/>
          <p:nvPr/>
        </p:nvSpPr>
        <p:spPr>
          <a:xfrm>
            <a:off x="6313460" y="2442870"/>
            <a:ext cx="986172" cy="465882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OnlineContext </a:t>
            </a:r>
            <a:br>
              <a:rPr lang="en-US" altLang="ko-KR" sz="8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DataSet </a:t>
            </a: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객체</a:t>
            </a:r>
            <a:endParaRPr lang="en-US" altLang="ko-KR" sz="8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464233" y="3140290"/>
            <a:ext cx="1457448" cy="1835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800">
                <a:cs typeface="Arial" pitchFamily="34" charset="0"/>
              </a:rPr>
              <a:t>Json </a:t>
            </a:r>
            <a:r>
              <a:rPr lang="en-US" altLang="ko-KR" sz="800">
                <a:cs typeface="Arial" pitchFamily="34" charset="0"/>
                <a:sym typeface="Wingdings" panose="05000000000000000000" pitchFamily="2" charset="2"/>
              </a:rPr>
              <a:t> DataSet </a:t>
            </a:r>
            <a:r>
              <a:rPr lang="ko-KR" altLang="en-US" sz="800">
                <a:cs typeface="Arial" pitchFamily="34" charset="0"/>
                <a:sym typeface="Wingdings" panose="05000000000000000000" pitchFamily="2" charset="2"/>
              </a:rPr>
              <a:t>변환</a:t>
            </a:r>
            <a:endParaRPr lang="ko-KR" altLang="en-US" sz="800" dirty="0">
              <a:cs typeface="Arial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05438" y="2138435"/>
            <a:ext cx="97595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업무 컴포넌트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460612" y="1879613"/>
            <a:ext cx="774496" cy="717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MCI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통합단말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3" name="자유형 72"/>
          <p:cNvSpPr/>
          <p:nvPr/>
        </p:nvSpPr>
        <p:spPr>
          <a:xfrm>
            <a:off x="2410250" y="2835296"/>
            <a:ext cx="1498321" cy="233025"/>
          </a:xfrm>
          <a:custGeom>
            <a:avLst/>
            <a:gdLst>
              <a:gd name="connsiteX0" fmla="*/ 0 w 1663354"/>
              <a:gd name="connsiteY0" fmla="*/ 0 h 496389"/>
              <a:gd name="connsiteX1" fmla="*/ 1663337 w 1663354"/>
              <a:gd name="connsiteY1" fmla="*/ 287383 h 496389"/>
              <a:gd name="connsiteX2" fmla="*/ 26125 w 1663354"/>
              <a:gd name="connsiteY2" fmla="*/ 496389 h 496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3354" h="496389">
                <a:moveTo>
                  <a:pt x="0" y="0"/>
                </a:moveTo>
                <a:cubicBezTo>
                  <a:pt x="829491" y="102326"/>
                  <a:pt x="1658983" y="204652"/>
                  <a:pt x="1663337" y="287383"/>
                </a:cubicBezTo>
                <a:cubicBezTo>
                  <a:pt x="1667691" y="370114"/>
                  <a:pt x="846908" y="433251"/>
                  <a:pt x="26125" y="496389"/>
                </a:cubicBezTo>
              </a:path>
            </a:pathLst>
          </a:custGeom>
          <a:noFill/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평행 사변형 73"/>
          <p:cNvSpPr/>
          <p:nvPr/>
        </p:nvSpPr>
        <p:spPr>
          <a:xfrm>
            <a:off x="2864456" y="2812616"/>
            <a:ext cx="864096" cy="319743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92870" y="2384884"/>
            <a:ext cx="762725" cy="44665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Inbound</a:t>
            </a:r>
          </a:p>
          <a:p>
            <a:pPr algn="ctr"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HTTP </a:t>
            </a:r>
            <a:r>
              <a:rPr lang="ko-KR" altLang="en-US" sz="900">
                <a:cs typeface="Arial" pitchFamily="34" charset="0"/>
              </a:rPr>
              <a:t>통신</a:t>
            </a:r>
            <a:endParaRPr lang="en-US" altLang="ko-KR" sz="900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거래 호출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988726" y="2098070"/>
            <a:ext cx="2628292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http://xx.xx.xx.xx:port/nkesa/</a:t>
            </a:r>
            <a:r>
              <a:rPr lang="ko-KR" altLang="en-US" sz="1000" b="1">
                <a:cs typeface="Arial" pitchFamily="34" charset="0"/>
              </a:rPr>
              <a:t>거래코드</a:t>
            </a:r>
            <a:r>
              <a:rPr lang="en-US" altLang="ko-KR" sz="1000" b="1">
                <a:cs typeface="Arial" pitchFamily="34" charset="0"/>
              </a:rPr>
              <a:t>.</a:t>
            </a:r>
            <a:r>
              <a:rPr lang="en-US" altLang="ko-KR" sz="1000" b="1">
                <a:solidFill>
                  <a:srgbClr val="FF0000"/>
                </a:solidFill>
                <a:cs typeface="Arial" pitchFamily="34" charset="0"/>
              </a:rPr>
              <a:t>jmd</a:t>
            </a:r>
            <a:endParaRPr lang="ko-KR" altLang="en-US" sz="1000" b="1" dirty="0">
              <a:solidFill>
                <a:srgbClr val="FF0000"/>
              </a:solidFill>
              <a:cs typeface="Arial" pitchFamily="34" charset="0"/>
            </a:endParaRPr>
          </a:p>
        </p:txBody>
      </p:sp>
      <p:cxnSp>
        <p:nvCxnSpPr>
          <p:cNvPr id="77" name="꺾인 연결선 76"/>
          <p:cNvCxnSpPr>
            <a:endCxn id="67" idx="1"/>
          </p:cNvCxnSpPr>
          <p:nvPr/>
        </p:nvCxnSpPr>
        <p:spPr>
          <a:xfrm>
            <a:off x="4193070" y="2691702"/>
            <a:ext cx="271162" cy="236867"/>
          </a:xfrm>
          <a:prstGeom prst="bentConnector3">
            <a:avLst>
              <a:gd name="adj1" fmla="val -13031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149020" y="2030211"/>
            <a:ext cx="396044" cy="322282"/>
          </a:xfrm>
          <a:prstGeom prst="ellipse">
            <a:avLst/>
          </a:prstGeom>
          <a:noFill/>
          <a:ln w="6350" cap="flat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460612" y="2709625"/>
            <a:ext cx="774496" cy="717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MCI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자동화기기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460612" y="3539637"/>
            <a:ext cx="774496" cy="717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MCI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인터넷뱅킹</a:t>
            </a:r>
            <a:endParaRPr lang="en-US" altLang="ko-KR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2" name="오른쪽 대괄호 81"/>
          <p:cNvSpPr/>
          <p:nvPr/>
        </p:nvSpPr>
        <p:spPr>
          <a:xfrm>
            <a:off x="2235108" y="2220650"/>
            <a:ext cx="175142" cy="1838530"/>
          </a:xfrm>
          <a:prstGeom prst="rightBracket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1656068" y="5334892"/>
            <a:ext cx="6694451" cy="68235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cs typeface="Arial" pitchFamily="34" charset="0"/>
              </a:rPr>
              <a:t>통신방식은 </a:t>
            </a:r>
            <a:r>
              <a:rPr lang="en-US" altLang="ko-KR" sz="1100" dirty="0">
                <a:cs typeface="Arial" pitchFamily="34" charset="0"/>
              </a:rPr>
              <a:t>Http / Json </a:t>
            </a:r>
            <a:r>
              <a:rPr lang="ko-KR" altLang="en-US" sz="1100" dirty="0">
                <a:cs typeface="Arial" pitchFamily="34" charset="0"/>
              </a:rPr>
              <a:t>으로 모두 표준화됨</a:t>
            </a: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cs typeface="Arial" pitchFamily="34" charset="0"/>
              </a:rPr>
              <a:t>MCI </a:t>
            </a:r>
            <a:r>
              <a:rPr lang="ko-KR" altLang="en-US" sz="1100" dirty="0">
                <a:cs typeface="Arial" pitchFamily="34" charset="0"/>
              </a:rPr>
              <a:t>에서</a:t>
            </a:r>
            <a:r>
              <a:rPr lang="en-US" altLang="ko-KR" sz="1100" dirty="0">
                <a:cs typeface="Arial" pitchFamily="34" charset="0"/>
              </a:rPr>
              <a:t> </a:t>
            </a:r>
            <a:r>
              <a:rPr lang="ko-KR" altLang="en-US" sz="1100" dirty="0" err="1">
                <a:cs typeface="Arial" pitchFamily="34" charset="0"/>
              </a:rPr>
              <a:t>거래코드별</a:t>
            </a:r>
            <a:r>
              <a:rPr lang="ko-KR" altLang="en-US" sz="1100" dirty="0">
                <a:cs typeface="Arial" pitchFamily="34" charset="0"/>
              </a:rPr>
              <a:t> </a:t>
            </a:r>
            <a:r>
              <a:rPr lang="en-US" altLang="ko-KR" sz="1100" dirty="0">
                <a:cs typeface="Arial" pitchFamily="34" charset="0"/>
              </a:rPr>
              <a:t>WAS </a:t>
            </a:r>
            <a:r>
              <a:rPr lang="ko-KR" altLang="en-US" sz="1100" dirty="0">
                <a:cs typeface="Arial" pitchFamily="34" charset="0"/>
              </a:rPr>
              <a:t>분기 호출</a:t>
            </a: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cs typeface="Arial" pitchFamily="34" charset="0"/>
              </a:rPr>
              <a:t>Http Post </a:t>
            </a:r>
            <a:r>
              <a:rPr lang="ko-KR" altLang="en-US" sz="1100" dirty="0">
                <a:cs typeface="Arial" pitchFamily="34" charset="0"/>
              </a:rPr>
              <a:t>방식으로 </a:t>
            </a:r>
            <a:r>
              <a:rPr lang="en-US" altLang="ko-KR" sz="1100" dirty="0">
                <a:cs typeface="Arial" pitchFamily="34" charset="0"/>
              </a:rPr>
              <a:t>context-type : application/json </a:t>
            </a:r>
            <a:r>
              <a:rPr lang="ko-KR" altLang="en-US" sz="1100" dirty="0">
                <a:cs typeface="Arial" pitchFamily="34" charset="0"/>
              </a:rPr>
              <a:t>으로</a:t>
            </a:r>
            <a:r>
              <a:rPr lang="en-US" altLang="ko-KR" sz="1100" dirty="0">
                <a:cs typeface="Arial" pitchFamily="34" charset="0"/>
              </a:rPr>
              <a:t> </a:t>
            </a:r>
            <a:r>
              <a:rPr lang="ko-KR" altLang="en-US" sz="1100" dirty="0">
                <a:cs typeface="Arial" pitchFamily="34" charset="0"/>
              </a:rPr>
              <a:t>전문 전송</a:t>
            </a: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cs typeface="Arial" pitchFamily="34" charset="0"/>
              </a:rPr>
              <a:t>시스템들의 </a:t>
            </a:r>
            <a:r>
              <a:rPr lang="en-US" altLang="ko-KR" sz="1100" dirty="0">
                <a:cs typeface="Arial" pitchFamily="34" charset="0"/>
              </a:rPr>
              <a:t>MCI JSON </a:t>
            </a:r>
            <a:r>
              <a:rPr lang="ko-KR" altLang="en-US" sz="1100" dirty="0">
                <a:cs typeface="Arial" pitchFamily="34" charset="0"/>
              </a:rPr>
              <a:t>전문 인코딩 </a:t>
            </a:r>
            <a:r>
              <a:rPr lang="en-US" altLang="ko-KR" sz="1100" dirty="0">
                <a:cs typeface="Arial" pitchFamily="34" charset="0"/>
              </a:rPr>
              <a:t>UTF-8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11" name="왼쪽 중괄호 10"/>
          <p:cNvSpPr/>
          <p:nvPr/>
        </p:nvSpPr>
        <p:spPr>
          <a:xfrm>
            <a:off x="3548844" y="3467958"/>
            <a:ext cx="333358" cy="1154048"/>
          </a:xfrm>
          <a:prstGeom prst="lef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225010" y="4314811"/>
            <a:ext cx="1586034" cy="62695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통합품질에 등록된 </a:t>
            </a:r>
            <a:r>
              <a:rPr lang="en-US" altLang="ko-KR" sz="1000">
                <a:cs typeface="Arial" pitchFamily="34" charset="0"/>
              </a:rPr>
              <a:t>MCI </a:t>
            </a:r>
            <a:r>
              <a:rPr lang="ko-KR" altLang="en-US" sz="1000">
                <a:cs typeface="Arial" pitchFamily="34" charset="0"/>
              </a:rPr>
              <a:t>시스템 구분코드에 따라 </a:t>
            </a:r>
            <a:br>
              <a:rPr lang="en-US" altLang="ko-KR" sz="1000">
                <a:cs typeface="Arial" pitchFamily="34" charset="0"/>
              </a:rPr>
            </a:br>
            <a:r>
              <a:rPr lang="en-US" altLang="ko-KR" sz="1000">
                <a:cs typeface="Arial" pitchFamily="34" charset="0"/>
              </a:rPr>
              <a:t>MCI </a:t>
            </a:r>
            <a:r>
              <a:rPr lang="ko-KR" altLang="en-US" sz="1000">
                <a:cs typeface="Arial" pitchFamily="34" charset="0"/>
              </a:rPr>
              <a:t>에서 </a:t>
            </a:r>
            <a:r>
              <a:rPr lang="en-US" altLang="ko-KR" sz="1000">
                <a:cs typeface="Arial" pitchFamily="34" charset="0"/>
              </a:rPr>
              <a:t>WAS </a:t>
            </a:r>
            <a:r>
              <a:rPr lang="ko-KR" altLang="en-US" sz="1000">
                <a:cs typeface="Arial" pitchFamily="34" charset="0"/>
              </a:rPr>
              <a:t>인스턴스 분기하여 호출함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31" name="Text Box 25">
            <a:extLst>
              <a:ext uri="{FF2B5EF4-FFF2-40B4-BE49-F238E27FC236}">
                <a16:creationId xmlns:a16="http://schemas.microsoft.com/office/drawing/2014/main" id="{516C9386-AEEE-44A9-A1D3-4E3ED0D8C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3340" y="3275075"/>
            <a:ext cx="36480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34675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/>
              <a:t>MCI </a:t>
            </a:r>
            <a:r>
              <a:rPr lang="ko-KR" altLang="en-US"/>
              <a:t>연계 방안 </a:t>
            </a:r>
            <a:r>
              <a:rPr lang="en-US" altLang="ko-KR"/>
              <a:t>- Outbound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en-US" altLang="ko-KR"/>
              <a:t>MCI </a:t>
            </a:r>
            <a:r>
              <a:rPr lang="en-US" altLang="ko-KR">
                <a:sym typeface="Wingdings" panose="05000000000000000000" pitchFamily="2" charset="2"/>
              </a:rPr>
              <a:t></a:t>
            </a:r>
            <a:r>
              <a:rPr lang="en-US" altLang="ko-KR"/>
              <a:t> nKESA </a:t>
            </a:r>
            <a:r>
              <a:rPr lang="ko-KR" altLang="en-US"/>
              <a:t>구간 모두 </a:t>
            </a:r>
            <a:r>
              <a:rPr lang="en-US" altLang="ko-KR"/>
              <a:t>HTTP / JSON </a:t>
            </a:r>
            <a:r>
              <a:rPr lang="ko-KR" altLang="en-US"/>
              <a:t>으로 통신함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MCI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grpSp>
        <p:nvGrpSpPr>
          <p:cNvPr id="114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21700"/>
            <a:ext cx="4573523" cy="316485"/>
            <a:chOff x="4088904" y="1867183"/>
            <a:chExt cx="454735" cy="316485"/>
          </a:xfrm>
        </p:grpSpPr>
        <p:cxnSp>
          <p:nvCxnSpPr>
            <p:cNvPr id="115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454735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267951" y="1867183"/>
              <a:ext cx="96699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비동기 응답</a:t>
              </a:r>
            </a:p>
          </p:txBody>
        </p:sp>
      </p:grpSp>
      <p:grpSp>
        <p:nvGrpSpPr>
          <p:cNvPr id="117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4989004" y="1412776"/>
            <a:ext cx="4631996" cy="325409"/>
            <a:chOff x="3488562" y="1858259"/>
            <a:chExt cx="1255061" cy="325409"/>
          </a:xfrm>
        </p:grpSpPr>
        <p:cxnSp>
          <p:nvCxnSpPr>
            <p:cNvPr id="118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3488562" y="2183668"/>
              <a:ext cx="1255061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3987098" y="1858259"/>
              <a:ext cx="260913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ko-KR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BID, PUSH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21" name="직사각형 120"/>
          <p:cNvSpPr/>
          <p:nvPr/>
        </p:nvSpPr>
        <p:spPr>
          <a:xfrm>
            <a:off x="452500" y="1832781"/>
            <a:ext cx="4140460" cy="23642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 anchor="t"/>
          <a:lstStyle/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MCI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 FW (APP)  EAI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비동기 호출 후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, EAI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로부터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수신받은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 비동기 응답 거래에서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로 비동기 응답 전문 전송</a:t>
            </a:r>
            <a:endParaRPr lang="en-US" altLang="ko-KR" sz="1050" kern="0" dirty="0">
              <a:solidFill>
                <a:srgbClr val="000000"/>
              </a:solidFill>
              <a:latin typeface="+mn-ea"/>
              <a:sym typeface="Wingdings" panose="05000000000000000000" pitchFamily="2" charset="2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로 응답 전문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전송시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, FW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에서 원 요청전문을 송신한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를 찾아 그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노드로 응답 전송함</a:t>
            </a:r>
            <a:endParaRPr lang="en-US" altLang="ko-KR" sz="1050" kern="0" dirty="0">
              <a:solidFill>
                <a:srgbClr val="000000"/>
              </a:solidFill>
              <a:latin typeface="+mn-ea"/>
              <a:sym typeface="Wingdings" panose="05000000000000000000" pitchFamily="2" charset="2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최초 요청전문 헤더의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“</a:t>
            </a:r>
            <a:r>
              <a:rPr lang="ko-KR" altLang="en-US" sz="1050" b="1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수신</a:t>
            </a:r>
            <a:r>
              <a:rPr lang="en-US" altLang="ko-KR" sz="1050" b="1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LU</a:t>
            </a:r>
            <a:r>
              <a:rPr lang="ko-KR" altLang="en-US" sz="1050" b="1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명</a:t>
            </a:r>
            <a:r>
              <a:rPr lang="en-US" altLang="ko-KR" sz="1050" b="1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050" b="1" kern="0" dirty="0" err="1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StndRecvLuName</a:t>
            </a:r>
            <a:r>
              <a:rPr lang="en-US" altLang="ko-KR" sz="1050" b="1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)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”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의 값에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노드 정보 포함됨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. </a:t>
            </a:r>
            <a:b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</a:br>
            <a:b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"76:17906"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 7 :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번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서버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응답 회신 포트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: 17906</a:t>
            </a:r>
            <a:b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</a:br>
            <a:endParaRPr lang="en-US" altLang="ko-KR" sz="1050" kern="0" dirty="0">
              <a:solidFill>
                <a:srgbClr val="000000"/>
              </a:solidFill>
              <a:latin typeface="+mn-ea"/>
              <a:sym typeface="Wingdings" panose="05000000000000000000" pitchFamily="2" charset="2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업무에서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050" b="1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new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050" b="1" kern="0" dirty="0" err="1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AsyncResponseHeader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()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생성시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FW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전문로그 테이블 참조하여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원전문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 헤더 복원</a:t>
            </a:r>
            <a:br>
              <a:rPr lang="en-US" altLang="ko-KR" sz="1050" kern="0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</a:b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195502" y="1832781"/>
            <a:ext cx="4113981" cy="23642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어플리키에션에서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채널로 일방 전문 전송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마케팅의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싱글뷰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50" kern="0" dirty="0" err="1">
                <a:solidFill>
                  <a:srgbClr val="000000"/>
                </a:solidFill>
                <a:latin typeface="+mn-ea"/>
              </a:rPr>
              <a:t>미니싱글뷰를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BID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와 구분하기 위해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PUSH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 로 명명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원 거래가 있는 것이 아니므로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MCI L4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로 전송함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MCI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부하 분산을 위해 도메인 별로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L4 </a:t>
            </a:r>
            <a:r>
              <a:rPr lang="ko-KR" altLang="en-US" sz="1050" kern="0" dirty="0">
                <a:solidFill>
                  <a:srgbClr val="000000"/>
                </a:solidFill>
                <a:latin typeface="+mn-ea"/>
              </a:rPr>
              <a:t>포트 분리</a:t>
            </a: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endParaRPr lang="en-US" altLang="ko-KR" sz="1050" kern="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821416"/>
              </p:ext>
            </p:extLst>
          </p:nvPr>
        </p:nvGraphicFramePr>
        <p:xfrm>
          <a:off x="1460612" y="4329100"/>
          <a:ext cx="2877276" cy="1934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9319">
                  <a:extLst>
                    <a:ext uri="{9D8B030D-6E8A-4147-A177-3AD203B41FA5}">
                      <a16:colId xmlns:a16="http://schemas.microsoft.com/office/drawing/2014/main" val="3683414706"/>
                    </a:ext>
                  </a:extLst>
                </a:gridCol>
                <a:gridCol w="719319">
                  <a:extLst>
                    <a:ext uri="{9D8B030D-6E8A-4147-A177-3AD203B41FA5}">
                      <a16:colId xmlns:a16="http://schemas.microsoft.com/office/drawing/2014/main" val="2965602776"/>
                    </a:ext>
                  </a:extLst>
                </a:gridCol>
                <a:gridCol w="719319">
                  <a:extLst>
                    <a:ext uri="{9D8B030D-6E8A-4147-A177-3AD203B41FA5}">
                      <a16:colId xmlns:a16="http://schemas.microsoft.com/office/drawing/2014/main" val="2342417980"/>
                    </a:ext>
                  </a:extLst>
                </a:gridCol>
                <a:gridCol w="719319">
                  <a:extLst>
                    <a:ext uri="{9D8B030D-6E8A-4147-A177-3AD203B41FA5}">
                      <a16:colId xmlns:a16="http://schemas.microsoft.com/office/drawing/2014/main" val="2051122652"/>
                    </a:ext>
                  </a:extLst>
                </a:gridCol>
              </a:tblGrid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노드번호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서버명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노드번호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서버명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87148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imcapod1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imcapoj1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77115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imcapod2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imcapoj2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427879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imcapod3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imcapoj3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477140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imcapod4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imcapoj4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6576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imcapoc1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60775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imcapoc2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032835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imcapoc3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700815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imcapoc4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38006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imcapom1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466079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234191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J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8356"/>
                  </a:ext>
                </a:extLst>
              </a:tr>
              <a:tr h="148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K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imcapoi8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5578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532" y="5049300"/>
            <a:ext cx="756084" cy="3499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MCI </a:t>
            </a:r>
            <a:r>
              <a:rPr lang="ko-KR" altLang="en-US" sz="1000" b="1">
                <a:cs typeface="Arial" pitchFamily="34" charset="0"/>
              </a:rPr>
              <a:t>노드별 </a:t>
            </a:r>
            <a:endParaRPr lang="en-US" altLang="ko-KR" sz="1000" b="1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서버 매핑</a:t>
            </a:r>
            <a:endParaRPr lang="ko-KR" altLang="en-US" sz="1000" b="1" dirty="0">
              <a:cs typeface="Arial" pitchFamily="34" charset="0"/>
            </a:endParaRPr>
          </a:p>
        </p:txBody>
      </p:sp>
      <p:graphicFrame>
        <p:nvGraphicFramePr>
          <p:cNvPr id="124" name="표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452621"/>
              </p:ext>
            </p:extLst>
          </p:nvPr>
        </p:nvGraphicFramePr>
        <p:xfrm>
          <a:off x="6271949" y="4454974"/>
          <a:ext cx="2808312" cy="1538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3683414706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965602776"/>
                    </a:ext>
                  </a:extLst>
                </a:gridCol>
              </a:tblGrid>
              <a:tr h="2965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노드번호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서버명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81" marR="1481" marT="1481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87148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마케팅 허브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16900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77115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마케팅허브 미니싱글뷰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16910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427879"/>
                  </a:ext>
                </a:extLst>
              </a:tr>
              <a:tr h="1535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금융복합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16920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477140"/>
                  </a:ext>
                </a:extLst>
              </a:tr>
              <a:tr h="1535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기타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16930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6576"/>
                  </a:ext>
                </a:extLst>
              </a:tr>
              <a:tr h="309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기타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16940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461" marR="66461" marT="18000" marB="180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60775"/>
                  </a:ext>
                </a:extLst>
              </a:tr>
            </a:tbl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5457056" y="4910801"/>
            <a:ext cx="756084" cy="48845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>
                <a:cs typeface="Arial" pitchFamily="34" charset="0"/>
              </a:rPr>
              <a:t>도메인 별 </a:t>
            </a:r>
            <a:r>
              <a:rPr lang="en-US" altLang="ko-KR" sz="1000" b="1">
                <a:cs typeface="Arial" pitchFamily="34" charset="0"/>
              </a:rPr>
              <a:t>PUSH </a:t>
            </a:r>
            <a:r>
              <a:rPr lang="ko-KR" altLang="en-US" sz="1000" b="1">
                <a:cs typeface="Arial" pitchFamily="34" charset="0"/>
              </a:rPr>
              <a:t>포트 구분</a:t>
            </a:r>
            <a:endParaRPr lang="ko-KR" altLang="en-US" sz="10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0954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EAI </a:t>
            </a:r>
            <a:r>
              <a:rPr lang="ko-KR" altLang="en-US"/>
              <a:t>연계 방안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en-US" altLang="ko-KR" dirty="0"/>
              <a:t>TCP socket </a:t>
            </a:r>
            <a:r>
              <a:rPr lang="ko-KR" altLang="en-US" dirty="0"/>
              <a:t>으로 </a:t>
            </a:r>
            <a:r>
              <a:rPr lang="en-US" altLang="ko-KR" dirty="0"/>
              <a:t>EAI</a:t>
            </a:r>
            <a:r>
              <a:rPr lang="ko-KR" altLang="en-US" dirty="0"/>
              <a:t> </a:t>
            </a:r>
            <a:r>
              <a:rPr lang="en-US" altLang="ko-KR" dirty="0"/>
              <a:t>outbound </a:t>
            </a:r>
            <a:r>
              <a:rPr lang="ko-KR" altLang="en-US" dirty="0"/>
              <a:t>호출하며</a:t>
            </a:r>
            <a:r>
              <a:rPr lang="en-US" altLang="ko-KR" dirty="0"/>
              <a:t>, Inbound </a:t>
            </a:r>
            <a:r>
              <a:rPr lang="ko-KR" altLang="en-US" dirty="0"/>
              <a:t>수신은 </a:t>
            </a:r>
            <a:r>
              <a:rPr lang="en-US" altLang="ko-KR" dirty="0"/>
              <a:t>HTTP </a:t>
            </a:r>
            <a:r>
              <a:rPr lang="ko-KR" altLang="en-US" dirty="0"/>
              <a:t>로 거래 호출됨</a:t>
            </a:r>
            <a:r>
              <a:rPr lang="en-US" altLang="ko-KR" dirty="0"/>
              <a:t>.</a:t>
            </a:r>
            <a:r>
              <a:rPr lang="ko-KR" altLang="en-US" dirty="0"/>
              <a:t> 전문양식은 </a:t>
            </a:r>
            <a:r>
              <a:rPr lang="en-US" altLang="ko-KR" dirty="0"/>
              <a:t>JSON </a:t>
            </a:r>
            <a:r>
              <a:rPr lang="ko-KR" altLang="en-US" dirty="0" err="1"/>
              <a:t>포멧으로</a:t>
            </a:r>
            <a:r>
              <a:rPr lang="ko-KR" altLang="en-US" dirty="0"/>
              <a:t> 통신함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EAI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graphicFrame>
        <p:nvGraphicFramePr>
          <p:cNvPr id="10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067545"/>
              </p:ext>
            </p:extLst>
          </p:nvPr>
        </p:nvGraphicFramePr>
        <p:xfrm>
          <a:off x="776536" y="1490906"/>
          <a:ext cx="8388932" cy="4974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4271">
                  <a:extLst>
                    <a:ext uri="{9D8B030D-6E8A-4147-A177-3AD203B41FA5}">
                      <a16:colId xmlns:a16="http://schemas.microsoft.com/office/drawing/2014/main" val="4057965482"/>
                    </a:ext>
                  </a:extLst>
                </a:gridCol>
              </a:tblGrid>
              <a:tr h="33241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7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000" baseline="0"/>
                        <a:t>무인공과금</a:t>
                      </a:r>
                      <a:r>
                        <a:rPr lang="en-US" altLang="ko-KR" sz="1000" baseline="0"/>
                        <a:t>, </a:t>
                      </a:r>
                      <a:r>
                        <a:rPr lang="ko-KR" altLang="en-US" sz="1000" baseline="0"/>
                        <a:t>이미지콜드</a:t>
                      </a:r>
                      <a:r>
                        <a:rPr lang="en-US" altLang="ko-KR" sz="1000" baseline="0"/>
                        <a:t>, </a:t>
                      </a:r>
                      <a:r>
                        <a:rPr lang="ko-KR" altLang="en-US" sz="1000" baseline="0"/>
                        <a:t>금융복합플랫폼</a:t>
                      </a:r>
                      <a:r>
                        <a:rPr lang="en-US" altLang="ko-KR" sz="1000" baseline="0"/>
                        <a:t>, </a:t>
                      </a:r>
                      <a:r>
                        <a:rPr lang="ko-KR" altLang="en-US" sz="1000" baseline="0"/>
                        <a:t>마케팅플랫폼 모두</a:t>
                      </a:r>
                      <a:r>
                        <a:rPr lang="en-US" altLang="ko-KR" sz="1000" baseline="0"/>
                        <a:t> JSON </a:t>
                      </a:r>
                      <a:r>
                        <a:rPr lang="ko-KR" altLang="en-US" sz="1000" baseline="0"/>
                        <a:t>전문</a:t>
                      </a:r>
                      <a:endParaRPr lang="en-US" altLang="ko-KR" sz="1000" baseline="0"/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000"/>
                        <a:t>무인공과금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이미지콜드 인코딩</a:t>
                      </a:r>
                      <a:r>
                        <a:rPr lang="en-US" altLang="ko-KR" sz="1000" baseline="0"/>
                        <a:t> </a:t>
                      </a:r>
                      <a:r>
                        <a:rPr lang="en-US" altLang="ko-KR" sz="1000"/>
                        <a:t>: euc-kr</a:t>
                      </a: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000"/>
                        <a:t>그외 도메인 인코딩 </a:t>
                      </a:r>
                      <a:r>
                        <a:rPr lang="en-US" altLang="ko-KR" sz="1000"/>
                        <a:t>: utf-8 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34267"/>
                  </a:ext>
                </a:extLst>
              </a:tr>
              <a:tr h="8307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통신 </a:t>
                      </a:r>
                      <a:r>
                        <a:rPr lang="en-US" altLang="ko-KR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(Outbound)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</a:t>
                      </a:r>
                      <a:b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개별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서버와 직접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socket connect</a:t>
                      </a:r>
                      <a:b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한번 거래후 해당 세션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Pooling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하여 재사용</a:t>
                      </a:r>
                      <a:b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최초 기동시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만큼 세션 생성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 pooling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Non-perm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</a:t>
                      </a:r>
                      <a:b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EAI L4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서버로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socket connect</a:t>
                      </a:r>
                      <a:b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한번 거래후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socket close</a:t>
                      </a:r>
                      <a:b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Pool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없음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7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통신</a:t>
                      </a:r>
                      <a:r>
                        <a:rPr lang="en-US" altLang="ko-KR" sz="12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(Inbound)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/>
                        <a:t>EAI</a:t>
                      </a:r>
                      <a:r>
                        <a:rPr lang="en-US" altLang="ko-KR" sz="1000" baseline="0"/>
                        <a:t> </a:t>
                      </a:r>
                      <a:r>
                        <a:rPr lang="ko-KR" altLang="en-US" sz="1000" baseline="0"/>
                        <a:t>에서 </a:t>
                      </a:r>
                      <a:r>
                        <a:rPr lang="en-US" altLang="ko-KR" sz="1000" baseline="0"/>
                        <a:t>Http/Json </a:t>
                      </a:r>
                      <a:r>
                        <a:rPr lang="ko-KR" altLang="en-US" sz="1000" baseline="0"/>
                        <a:t>형태로 </a:t>
                      </a:r>
                      <a:r>
                        <a:rPr lang="en-US" altLang="ko-KR" sz="1000" baseline="0"/>
                        <a:t>FW </a:t>
                      </a:r>
                      <a:r>
                        <a:rPr lang="ko-KR" altLang="en-US" sz="1000" baseline="0"/>
                        <a:t>거래 호출</a:t>
                      </a:r>
                      <a:r>
                        <a:rPr lang="en-US" altLang="ko-KR" sz="1000" baseline="0"/>
                        <a:t>.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/>
                        <a:t>URL : </a:t>
                      </a:r>
                      <a:r>
                        <a:rPr lang="en-US" altLang="ko-KR" sz="1000" b="1">
                          <a:cs typeface="Arial" pitchFamily="34" charset="0"/>
                        </a:rPr>
                        <a:t>http://xx.xx.xx.xx:port/nkesa/</a:t>
                      </a:r>
                      <a:r>
                        <a:rPr lang="ko-KR" altLang="en-US" sz="1000" b="1">
                          <a:solidFill>
                            <a:srgbClr val="0000FF"/>
                          </a:solidFill>
                          <a:cs typeface="Arial" pitchFamily="34" charset="0"/>
                        </a:rPr>
                        <a:t>거래코드</a:t>
                      </a:r>
                      <a:r>
                        <a:rPr lang="en-US" altLang="ko-KR" sz="1000" b="1">
                          <a:solidFill>
                            <a:srgbClr val="0000FF"/>
                          </a:solidFill>
                          <a:cs typeface="Arial" pitchFamily="34" charset="0"/>
                        </a:rPr>
                        <a:t>.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  <a:cs typeface="Arial" pitchFamily="34" charset="0"/>
                        </a:rPr>
                        <a:t>j</a:t>
                      </a:r>
                      <a:r>
                        <a:rPr lang="en-US" altLang="ko-KR" sz="1000" b="1">
                          <a:solidFill>
                            <a:srgbClr val="0000FF"/>
                          </a:solidFill>
                          <a:cs typeface="Arial" pitchFamily="34" charset="0"/>
                        </a:rPr>
                        <a:t>md</a:t>
                      </a:r>
                      <a:endParaRPr lang="ko-KR" altLang="en-US" sz="1000" b="1">
                        <a:solidFill>
                          <a:srgbClr val="0000FF"/>
                        </a:solidFill>
                        <a:cs typeface="Arial" pitchFamily="34" charset="0"/>
                      </a:endParaRP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/>
                        <a:t>Async </a:t>
                      </a:r>
                      <a:r>
                        <a:rPr lang="ko-KR" altLang="en-US" sz="1000" baseline="0"/>
                        <a:t>거래 호출시 </a:t>
                      </a:r>
                      <a:r>
                        <a:rPr lang="en-US" altLang="ko-KR" sz="1000" baseline="0"/>
                        <a:t>http url</a:t>
                      </a:r>
                      <a:r>
                        <a:rPr lang="ko-KR" altLang="en-US" sz="1000" baseline="0"/>
                        <a:t> 중 </a:t>
                      </a:r>
                      <a:r>
                        <a:rPr lang="en-US" altLang="ko-KR" sz="1000" baseline="0"/>
                        <a:t>*.ajmd </a:t>
                      </a:r>
                      <a:r>
                        <a:rPr lang="ko-KR" altLang="en-US" sz="1000" baseline="0"/>
                        <a:t>로 호출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266110"/>
                  </a:ext>
                </a:extLst>
              </a:tr>
              <a:tr h="834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Outbound</a:t>
                      </a:r>
                      <a:r>
                        <a:rPr lang="en-US" altLang="ko-KR" sz="12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포트</a:t>
                      </a:r>
                      <a:endParaRPr lang="ko-KR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코드별 포트 분리 관리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송신 컴포넌트의 어플리케이션 코드별로 분리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포트 변경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세션수 관리는 설정 파일로 관리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 변경의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hotdeploy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Inbound</a:t>
                      </a:r>
                      <a:r>
                        <a:rPr lang="en-US" altLang="ko-KR" sz="12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포트</a:t>
                      </a:r>
                      <a:endParaRPr lang="ko-KR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Web/Was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수신 포트로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분리하여 호출하며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FW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Imnound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포트 관리 없음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92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2441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EAI </a:t>
            </a:r>
            <a:r>
              <a:rPr lang="ko-KR" altLang="en-US"/>
              <a:t>연계 방안</a:t>
            </a:r>
            <a:r>
              <a:rPr lang="en-US" altLang="ko-KR"/>
              <a:t>(2/2)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EAI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sp>
        <p:nvSpPr>
          <p:cNvPr id="68" name="텍스트 개체 틀 2"/>
          <p:cNvSpPr txBox="1">
            <a:spLocks/>
          </p:cNvSpPr>
          <p:nvPr/>
        </p:nvSpPr>
        <p:spPr>
          <a:xfrm>
            <a:off x="363264" y="770543"/>
            <a:ext cx="9143468" cy="22198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  <a:buNone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10896" indent="-128016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 kern="120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Topic </a:t>
            </a:r>
            <a:r>
              <a:rPr lang="ko-KR" altLang="en-US"/>
              <a:t>등의 대외거래시 </a:t>
            </a:r>
            <a:r>
              <a:rPr lang="en-US" altLang="ko-KR"/>
              <a:t>Async </a:t>
            </a:r>
            <a:r>
              <a:rPr lang="ko-KR" altLang="en-US"/>
              <a:t>거래의 메시지 응답 매칭 기능 </a:t>
            </a:r>
            <a:endParaRPr lang="en-US" altLang="ko-KR"/>
          </a:p>
        </p:txBody>
      </p:sp>
      <p:sp>
        <p:nvSpPr>
          <p:cNvPr id="69" name="직사각형 68"/>
          <p:cNvSpPr/>
          <p:nvPr/>
        </p:nvSpPr>
        <p:spPr>
          <a:xfrm rot="5400000">
            <a:off x="3535952" y="1014641"/>
            <a:ext cx="1825985" cy="27363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0" name="직사각형 69"/>
          <p:cNvSpPr/>
          <p:nvPr/>
        </p:nvSpPr>
        <p:spPr>
          <a:xfrm rot="5400000">
            <a:off x="4092110" y="3077546"/>
            <a:ext cx="742737" cy="27363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712106" y="1485582"/>
            <a:ext cx="720000" cy="151462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MCI </a:t>
            </a:r>
          </a:p>
          <a:p>
            <a:pPr algn="ctr">
              <a:lnSpc>
                <a:spcPct val="90000"/>
              </a:lnSpc>
            </a:pPr>
            <a:endParaRPr lang="ko-KR" altLang="en-US" sz="900" b="1">
              <a:cs typeface="Arial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486132" y="1521871"/>
            <a:ext cx="612308" cy="3221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TCP/Flat</a:t>
            </a:r>
          </a:p>
          <a:p>
            <a:pPr>
              <a:lnSpc>
                <a:spcPct val="90000"/>
              </a:lnSpc>
            </a:pP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980581" y="1469801"/>
            <a:ext cx="644828" cy="33472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 </a:t>
            </a:r>
            <a:endParaRPr lang="en-US" altLang="ko-KR" sz="900" b="1" dirty="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3800408" y="1705339"/>
            <a:ext cx="1068053" cy="26206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PM1 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요청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8" name="직선 화살표 연결선 77"/>
          <p:cNvCxnSpPr>
            <a:stCxn id="77" idx="3"/>
          </p:cNvCxnSpPr>
          <p:nvPr/>
        </p:nvCxnSpPr>
        <p:spPr>
          <a:xfrm>
            <a:off x="4868461" y="1836372"/>
            <a:ext cx="3036648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모서리가 둥근 직사각형 80"/>
          <p:cNvSpPr/>
          <p:nvPr/>
        </p:nvSpPr>
        <p:spPr>
          <a:xfrm>
            <a:off x="4592888" y="2517901"/>
            <a:ext cx="1061182" cy="26206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PM2 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응답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2" name="직선 화살표 연결선 81"/>
          <p:cNvCxnSpPr>
            <a:stCxn id="89" idx="1"/>
            <a:endCxn id="81" idx="3"/>
          </p:cNvCxnSpPr>
          <p:nvPr/>
        </p:nvCxnSpPr>
        <p:spPr>
          <a:xfrm flipH="1" flipV="1">
            <a:off x="5654070" y="2648934"/>
            <a:ext cx="862083" cy="746527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694052" y="1428408"/>
            <a:ext cx="743469" cy="277786"/>
          </a:xfrm>
          <a:prstGeom prst="ellipse">
            <a:avLst/>
          </a:prstGeom>
          <a:solidFill>
            <a:schemeClr val="bg2"/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TCP(</a:t>
            </a:r>
            <a:r>
              <a:rPr lang="ko-KR" altLang="en-US" sz="900" b="1">
                <a:cs typeface="Arial" pitchFamily="34" charset="0"/>
              </a:rPr>
              <a:t>요청</a:t>
            </a:r>
            <a:r>
              <a:rPr lang="en-US" altLang="ko-KR" sz="900" b="1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605860" y="4189945"/>
            <a:ext cx="1061182" cy="26206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PM2 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응답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185493" y="3499574"/>
            <a:ext cx="743469" cy="453067"/>
          </a:xfrm>
          <a:prstGeom prst="ellipse">
            <a:avLst/>
          </a:prstGeom>
          <a:solidFill>
            <a:schemeClr val="bg2"/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Http </a:t>
            </a:r>
          </a:p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(</a:t>
            </a:r>
            <a:r>
              <a:rPr lang="ko-KR" altLang="en-US" sz="900" b="1">
                <a:cs typeface="Arial" pitchFamily="34" charset="0"/>
              </a:rPr>
              <a:t>응답</a:t>
            </a:r>
            <a:r>
              <a:rPr lang="en-US" altLang="ko-KR" sz="900" b="1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516153" y="1973855"/>
            <a:ext cx="606062" cy="2843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L4</a:t>
            </a:r>
          </a:p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/</a:t>
            </a:r>
          </a:p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Web</a:t>
            </a:r>
            <a:br>
              <a:rPr lang="en-US" altLang="ko-KR" sz="900" b="1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Server</a:t>
            </a:r>
            <a:br>
              <a:rPr lang="en-US" altLang="ko-KR" sz="900" b="1">
                <a:solidFill>
                  <a:schemeClr val="tx1"/>
                </a:solidFill>
                <a:cs typeface="Arial" pitchFamily="34" charset="0"/>
              </a:rPr>
            </a:b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0" name="직선 화살표 연결선 89"/>
          <p:cNvCxnSpPr>
            <a:stCxn id="89" idx="1"/>
            <a:endCxn id="87" idx="3"/>
          </p:cNvCxnSpPr>
          <p:nvPr/>
        </p:nvCxnSpPr>
        <p:spPr>
          <a:xfrm flipH="1">
            <a:off x="5667042" y="3395461"/>
            <a:ext cx="849111" cy="925517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endCxn id="89" idx="3"/>
          </p:cNvCxnSpPr>
          <p:nvPr/>
        </p:nvCxnSpPr>
        <p:spPr>
          <a:xfrm flipH="1">
            <a:off x="7122215" y="3379974"/>
            <a:ext cx="858366" cy="15487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/>
          <p:cNvSpPr/>
          <p:nvPr/>
        </p:nvSpPr>
        <p:spPr>
          <a:xfrm>
            <a:off x="6573425" y="2773672"/>
            <a:ext cx="274395" cy="226533"/>
          </a:xfrm>
          <a:prstGeom prst="ellipse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3" name="타원 92"/>
          <p:cNvSpPr/>
          <p:nvPr/>
        </p:nvSpPr>
        <p:spPr>
          <a:xfrm>
            <a:off x="6501417" y="4547906"/>
            <a:ext cx="274395" cy="226533"/>
          </a:xfrm>
          <a:prstGeom prst="ellipse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080792" y="1485582"/>
            <a:ext cx="1512168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AP </a:t>
            </a:r>
            <a:r>
              <a:rPr lang="ko-KR" altLang="en-US" sz="1000" b="1">
                <a:cs typeface="Arial" pitchFamily="34" charset="0"/>
              </a:rPr>
              <a:t>서버 </a:t>
            </a:r>
            <a:r>
              <a:rPr lang="en-US" altLang="ko-KR" sz="1000" b="1">
                <a:cs typeface="Arial" pitchFamily="34" charset="0"/>
              </a:rPr>
              <a:t>#1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098440" y="4389265"/>
            <a:ext cx="1512168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</a:rPr>
              <a:t>AP </a:t>
            </a:r>
            <a:r>
              <a:rPr lang="ko-KR" altLang="en-US" sz="1000" b="1">
                <a:cs typeface="Arial" pitchFamily="34" charset="0"/>
              </a:rPr>
              <a:t>서버 </a:t>
            </a:r>
            <a:r>
              <a:rPr lang="en-US" altLang="ko-KR" sz="1000" b="1">
                <a:cs typeface="Arial" pitchFamily="34" charset="0"/>
              </a:rPr>
              <a:t>#2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3938390" y="2117871"/>
            <a:ext cx="792088" cy="276581"/>
          </a:xfrm>
          <a:prstGeom prst="ellipse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응답</a:t>
            </a:r>
            <a:br>
              <a:rPr lang="en-US" altLang="ko-KR" sz="900" b="1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Polling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 </a:t>
            </a:r>
          </a:p>
        </p:txBody>
      </p:sp>
      <p:cxnSp>
        <p:nvCxnSpPr>
          <p:cNvPr id="99" name="직선 연결선 98"/>
          <p:cNvCxnSpPr>
            <a:stCxn id="77" idx="2"/>
            <a:endCxn id="98" idx="0"/>
          </p:cNvCxnSpPr>
          <p:nvPr/>
        </p:nvCxnSpPr>
        <p:spPr>
          <a:xfrm flipH="1">
            <a:off x="4334434" y="1967405"/>
            <a:ext cx="1" cy="150466"/>
          </a:xfrm>
          <a:prstGeom prst="line">
            <a:avLst/>
          </a:prstGeom>
          <a:ln w="190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122023" y="2026564"/>
            <a:ext cx="642845" cy="515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5">
                <a:lumMod val="75000"/>
              </a:schemeClr>
            </a:solidFill>
            <a:miter lim="800000"/>
          </a:ln>
        </p:spPr>
        <p:txBody>
          <a:bodyPr wrap="square" lIns="36000" tIns="36000" rIns="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800">
                <a:cs typeface="Arial" pitchFamily="34" charset="0"/>
              </a:defRPr>
            </a:lvl1pPr>
          </a:lstStyle>
          <a:p>
            <a:r>
              <a:rPr lang="en-US" altLang="ko-KR"/>
              <a:t>WaitingPool</a:t>
            </a:r>
            <a:r>
              <a:rPr lang="ko-KR" altLang="en-US"/>
              <a:t>에서 응답</a:t>
            </a:r>
            <a:br>
              <a:rPr lang="en-US" altLang="ko-KR"/>
            </a:br>
            <a:r>
              <a:rPr lang="ko-KR" altLang="en-US"/>
              <a:t>데이터 폴링후</a:t>
            </a:r>
            <a:endParaRPr lang="en-US" altLang="ko-KR"/>
          </a:p>
          <a:p>
            <a:r>
              <a:rPr lang="ko-KR" altLang="en-US"/>
              <a:t>존재하면 리턴</a:t>
            </a:r>
            <a:endParaRPr lang="ko-KR" altLang="en-US" dirty="0"/>
          </a:p>
        </p:txBody>
      </p:sp>
      <p:cxnSp>
        <p:nvCxnSpPr>
          <p:cNvPr id="110" name="꺾인 연결선 109"/>
          <p:cNvCxnSpPr/>
          <p:nvPr/>
        </p:nvCxnSpPr>
        <p:spPr>
          <a:xfrm rot="16200000" flipV="1">
            <a:off x="3850851" y="2026520"/>
            <a:ext cx="399905" cy="312642"/>
          </a:xfrm>
          <a:prstGeom prst="bentConnector3">
            <a:avLst>
              <a:gd name="adj1" fmla="val -37334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 flipV="1">
            <a:off x="2446685" y="1793835"/>
            <a:ext cx="1344376" cy="217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 flipH="1">
            <a:off x="2434779" y="1896018"/>
            <a:ext cx="1359693" cy="1666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592335" y="2418225"/>
            <a:ext cx="981090" cy="2943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5">
                <a:lumMod val="75000"/>
              </a:schemeClr>
            </a:solidFill>
            <a:miter lim="800000"/>
          </a:ln>
        </p:spPr>
        <p:txBody>
          <a:bodyPr wrap="square" lIns="36000" tIns="36000" rIns="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800">
                <a:cs typeface="Arial" pitchFamily="34" charset="0"/>
              </a:defRPr>
            </a:lvl1pPr>
          </a:lstStyle>
          <a:p>
            <a:r>
              <a:rPr lang="ko-KR" altLang="en-US"/>
              <a:t>요청 </a:t>
            </a:r>
            <a:r>
              <a:rPr lang="en-US" altLang="ko-KR"/>
              <a:t>/ </a:t>
            </a:r>
            <a:r>
              <a:rPr lang="ko-KR" altLang="en-US"/>
              <a:t>응답이 같은 서버에서 실행된 경우</a:t>
            </a:r>
            <a:endParaRPr lang="ko-KR" altLang="en-US" dirty="0"/>
          </a:p>
        </p:txBody>
      </p:sp>
      <p:sp>
        <p:nvSpPr>
          <p:cNvPr id="115" name="TextBox 114"/>
          <p:cNvSpPr txBox="1"/>
          <p:nvPr/>
        </p:nvSpPr>
        <p:spPr>
          <a:xfrm>
            <a:off x="5794722" y="4320978"/>
            <a:ext cx="981090" cy="2944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5">
                <a:lumMod val="75000"/>
              </a:schemeClr>
            </a:solidFill>
            <a:miter lim="800000"/>
          </a:ln>
        </p:spPr>
        <p:txBody>
          <a:bodyPr wrap="square" lIns="36000" tIns="36000" rIns="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800">
                <a:cs typeface="Arial" pitchFamily="34" charset="0"/>
              </a:defRPr>
            </a:lvl1pPr>
          </a:lstStyle>
          <a:p>
            <a:r>
              <a:rPr lang="ko-KR" altLang="en-US"/>
              <a:t>요청 </a:t>
            </a:r>
            <a:r>
              <a:rPr lang="en-US" altLang="ko-KR"/>
              <a:t>/ </a:t>
            </a:r>
            <a:r>
              <a:rPr lang="ko-KR" altLang="en-US"/>
              <a:t>응답이 다른  서버에서 실행된 경우</a:t>
            </a:r>
            <a:endParaRPr lang="en-US" altLang="ko-KR"/>
          </a:p>
        </p:txBody>
      </p:sp>
      <p:sp>
        <p:nvSpPr>
          <p:cNvPr id="116" name="타원 115"/>
          <p:cNvSpPr/>
          <p:nvPr/>
        </p:nvSpPr>
        <p:spPr>
          <a:xfrm>
            <a:off x="4953084" y="1578764"/>
            <a:ext cx="174713" cy="187147"/>
          </a:xfrm>
          <a:prstGeom prst="ellipse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9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3937793" y="2192861"/>
            <a:ext cx="174713" cy="187147"/>
          </a:xfrm>
          <a:prstGeom prst="ellipse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9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5785155" y="2756943"/>
            <a:ext cx="174713" cy="187147"/>
          </a:xfrm>
          <a:prstGeom prst="ellipse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9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1" name="타원 120"/>
          <p:cNvSpPr/>
          <p:nvPr/>
        </p:nvSpPr>
        <p:spPr>
          <a:xfrm>
            <a:off x="5775914" y="4033590"/>
            <a:ext cx="174713" cy="187147"/>
          </a:xfrm>
          <a:prstGeom prst="ellipse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9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865776" y="3334261"/>
            <a:ext cx="563388" cy="1975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900" b="1">
                <a:cs typeface="Arial" pitchFamily="34" charset="0"/>
              </a:rPr>
              <a:t>분산호출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3224822" y="2648934"/>
            <a:ext cx="990483" cy="4366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Waiting Pool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3" name="자유형 82"/>
          <p:cNvSpPr/>
          <p:nvPr/>
        </p:nvSpPr>
        <p:spPr>
          <a:xfrm rot="21300000">
            <a:off x="3702426" y="2347253"/>
            <a:ext cx="319966" cy="307870"/>
          </a:xfrm>
          <a:custGeom>
            <a:avLst/>
            <a:gdLst>
              <a:gd name="connsiteX0" fmla="*/ 520337 w 669807"/>
              <a:gd name="connsiteY0" fmla="*/ 0 h 862698"/>
              <a:gd name="connsiteX1" fmla="*/ 1591 w 669807"/>
              <a:gd name="connsiteY1" fmla="*/ 861646 h 862698"/>
              <a:gd name="connsiteX2" fmla="*/ 669807 w 669807"/>
              <a:gd name="connsiteY2" fmla="*/ 140677 h 86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9807" h="862698">
                <a:moveTo>
                  <a:pt x="520337" y="0"/>
                </a:moveTo>
                <a:cubicBezTo>
                  <a:pt x="248508" y="419100"/>
                  <a:pt x="-23321" y="838200"/>
                  <a:pt x="1591" y="861646"/>
                </a:cubicBezTo>
                <a:cubicBezTo>
                  <a:pt x="26503" y="885092"/>
                  <a:pt x="348155" y="512884"/>
                  <a:pt x="669807" y="140677"/>
                </a:cubicBezTo>
              </a:path>
            </a:pathLst>
          </a:custGeom>
          <a:ln w="6350" cap="flat">
            <a:solidFill>
              <a:srgbClr val="0000FF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/>
          <p:cNvSpPr/>
          <p:nvPr/>
        </p:nvSpPr>
        <p:spPr>
          <a:xfrm>
            <a:off x="4598145" y="2932073"/>
            <a:ext cx="1076612" cy="29304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Socket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서버 </a:t>
            </a:r>
          </a:p>
        </p:txBody>
      </p:sp>
      <p:cxnSp>
        <p:nvCxnSpPr>
          <p:cNvPr id="128" name="직선 화살표 연결선 127"/>
          <p:cNvCxnSpPr>
            <a:stCxn id="87" idx="0"/>
            <a:endCxn id="127" idx="4"/>
          </p:cNvCxnSpPr>
          <p:nvPr/>
        </p:nvCxnSpPr>
        <p:spPr>
          <a:xfrm flipV="1">
            <a:off x="5136451" y="3225118"/>
            <a:ext cx="0" cy="964827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4318809" y="4724749"/>
            <a:ext cx="50758" cy="65440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b="1">
                <a:cs typeface="Arial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ko-KR" sz="1400" b="1">
                <a:cs typeface="Arial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ko-KR" sz="1400" b="1">
                <a:cs typeface="Arial" pitchFamily="34" charset="0"/>
              </a:rPr>
              <a:t>.</a:t>
            </a:r>
            <a:endParaRPr lang="ko-KR" altLang="en-US" sz="1400" b="1" dirty="0">
              <a:cs typeface="Arial" pitchFamily="34" charset="0"/>
            </a:endParaRPr>
          </a:p>
        </p:txBody>
      </p:sp>
      <p:cxnSp>
        <p:nvCxnSpPr>
          <p:cNvPr id="155" name="꺾인 연결선 154"/>
          <p:cNvCxnSpPr/>
          <p:nvPr/>
        </p:nvCxnSpPr>
        <p:spPr>
          <a:xfrm rot="5400000" flipH="1">
            <a:off x="4209878" y="2638767"/>
            <a:ext cx="171978" cy="976559"/>
          </a:xfrm>
          <a:prstGeom prst="bentConnector4">
            <a:avLst>
              <a:gd name="adj1" fmla="val -132924"/>
              <a:gd name="adj2" fmla="val 100013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3756361" y="3477722"/>
            <a:ext cx="1043448" cy="6267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accent5">
                <a:lumMod val="75000"/>
              </a:schemeClr>
            </a:solidFill>
            <a:miter lim="800000"/>
          </a:ln>
        </p:spPr>
        <p:txBody>
          <a:bodyPr wrap="square" lIns="36000" tIns="36000" rIns="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800">
                <a:cs typeface="Arial" pitchFamily="34" charset="0"/>
              </a:defRPr>
            </a:lvl1pPr>
          </a:lstStyle>
          <a:p>
            <a:r>
              <a:rPr lang="ko-KR" altLang="en-US"/>
              <a:t>소켓 서버를 통해 받은 </a:t>
            </a:r>
            <a:r>
              <a:rPr lang="en-US" altLang="ko-KR"/>
              <a:t>Guid</a:t>
            </a:r>
            <a:r>
              <a:rPr lang="ko-KR" altLang="en-US"/>
              <a:t>로 </a:t>
            </a:r>
            <a:r>
              <a:rPr lang="en-US" altLang="ko-KR"/>
              <a:t>waiting pool</a:t>
            </a:r>
            <a:r>
              <a:rPr lang="ko-KR" altLang="en-US"/>
              <a:t>에서 비교 후 존재하면 </a:t>
            </a:r>
            <a:r>
              <a:rPr lang="en-US" altLang="ko-KR"/>
              <a:t>Response</a:t>
            </a:r>
            <a:r>
              <a:rPr lang="ko-KR" altLang="en-US"/>
              <a:t>데이터 전송</a:t>
            </a:r>
            <a:endParaRPr lang="en-US" altLang="ko-KR"/>
          </a:p>
        </p:txBody>
      </p:sp>
      <p:sp>
        <p:nvSpPr>
          <p:cNvPr id="164" name="타원 163"/>
          <p:cNvSpPr/>
          <p:nvPr/>
        </p:nvSpPr>
        <p:spPr>
          <a:xfrm>
            <a:off x="5034299" y="3631124"/>
            <a:ext cx="174713" cy="187147"/>
          </a:xfrm>
          <a:prstGeom prst="ellipse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9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3719886" y="3193758"/>
            <a:ext cx="174713" cy="187147"/>
          </a:xfrm>
          <a:prstGeom prst="ellipse">
            <a:avLst/>
          </a:prstGeom>
          <a:solidFill>
            <a:srgbClr val="9B1717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bg1"/>
                </a:solidFill>
                <a:cs typeface="Arial" pitchFamily="34" charset="0"/>
              </a:rPr>
              <a:t>5</a:t>
            </a:r>
            <a:endParaRPr lang="ko-KR" altLang="en-US" sz="9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7" name="Rectangle 5"/>
          <p:cNvSpPr txBox="1">
            <a:spLocks noChangeArrowheads="1"/>
          </p:cNvSpPr>
          <p:nvPr/>
        </p:nvSpPr>
        <p:spPr>
          <a:xfrm>
            <a:off x="542070" y="5589240"/>
            <a:ext cx="8984457" cy="91100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91429" tIns="45715" rIns="91429" bIns="45715" rtlCol="0">
            <a:spAutoFit/>
          </a:bodyPr>
          <a:lstStyle>
            <a:defPPr>
              <a:defRPr lang="de-DE"/>
            </a:defPPr>
            <a:lvl1pPr marL="285750" indent="-285750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SzPct val="100000"/>
              <a:buFont typeface="Wingdings" panose="05000000000000000000" pitchFamily="2" charset="2"/>
              <a:buChar char="§"/>
              <a:defRPr sz="1600" b="0" baseline="0">
                <a:cs typeface="Arial" pitchFamily="34" charset="0"/>
              </a:defRPr>
            </a:lvl1pPr>
            <a:lvl2pPr marL="310896" indent="-128016">
              <a:lnSpc>
                <a:spcPct val="90000"/>
              </a:lnSpc>
              <a:spcBef>
                <a:spcPts val="900"/>
              </a:spcBef>
              <a:buClr>
                <a:srgbClr val="FFA600"/>
              </a:buClr>
              <a:buFont typeface="Arial" pitchFamily="34" charset="0"/>
              <a:buChar char="•"/>
              <a:defRPr sz="2200"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489600" indent="-180000">
              <a:lnSpc>
                <a:spcPct val="90000"/>
              </a:lnSpc>
              <a:spcBef>
                <a:spcPts val="600"/>
              </a:spcBef>
              <a:buClr>
                <a:srgbClr val="FFA600"/>
              </a:buClr>
              <a:buFont typeface="Arial" pitchFamily="34" charset="0"/>
              <a:buChar char="–"/>
              <a:defRPr sz="2200"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633600" indent="-137160">
              <a:lnSpc>
                <a:spcPct val="90000"/>
              </a:lnSpc>
              <a:spcBef>
                <a:spcPts val="200"/>
              </a:spcBef>
              <a:buClr>
                <a:srgbClr val="FFA600"/>
              </a:buClr>
              <a:buFont typeface="Arial" pitchFamily="34" charset="0"/>
              <a:buChar char="-"/>
              <a:defRPr sz="2200"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4pPr>
            <a:lvl5pPr marL="770400" indent="-136800">
              <a:lnSpc>
                <a:spcPct val="90000"/>
              </a:lnSpc>
              <a:spcBef>
                <a:spcPts val="100"/>
              </a:spcBef>
              <a:buClr>
                <a:srgbClr val="FFA600"/>
              </a:buClr>
              <a:buFont typeface="Arial" pitchFamily="34" charset="0"/>
              <a:buChar char="-"/>
              <a:defRPr sz="2200"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5pPr>
            <a:lvl6pPr marL="2514600" indent="-228600" latinLnBrk="1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latinLnBrk="1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latinLnBrk="1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latinLnBrk="1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200"/>
              <a:t>EAI</a:t>
            </a:r>
            <a:r>
              <a:rPr lang="ko-KR" altLang="en-US" sz="1200"/>
              <a:t>로 요청한 서버와 응답받은 서버가 다른 경우 인스턴스</a:t>
            </a:r>
            <a:r>
              <a:rPr lang="en-US" altLang="ko-KR" sz="1200"/>
              <a:t>ID</a:t>
            </a:r>
            <a:r>
              <a:rPr lang="ko-KR" altLang="en-US" sz="1200"/>
              <a:t>로 서버</a:t>
            </a:r>
            <a:r>
              <a:rPr lang="en-US" altLang="ko-KR" sz="1200"/>
              <a:t>, </a:t>
            </a:r>
            <a:r>
              <a:rPr lang="ko-KR" altLang="en-US" sz="1200"/>
              <a:t>포트를 찾아 최초 요청받은 서버로 </a:t>
            </a:r>
            <a:r>
              <a:rPr lang="en-US" altLang="ko-KR" sz="1200"/>
              <a:t>Socket </a:t>
            </a:r>
            <a:r>
              <a:rPr lang="ko-KR" altLang="en-US" sz="1200"/>
              <a:t>전송함</a:t>
            </a:r>
            <a:endParaRPr lang="en-US" altLang="ko-KR" sz="12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/>
              <a:t>Socket </a:t>
            </a:r>
            <a:r>
              <a:rPr lang="ko-KR" altLang="en-US" sz="1200"/>
              <a:t>서버로 전달 받은 값 중 </a:t>
            </a:r>
            <a:r>
              <a:rPr lang="en-US" altLang="ko-KR" sz="1200"/>
              <a:t>guid</a:t>
            </a:r>
            <a:r>
              <a:rPr lang="ko-KR" altLang="en-US" sz="1200"/>
              <a:t>를 </a:t>
            </a:r>
            <a:r>
              <a:rPr lang="en-US" altLang="ko-KR" sz="1200"/>
              <a:t>key</a:t>
            </a:r>
            <a:r>
              <a:rPr lang="ko-KR" altLang="en-US" sz="1200"/>
              <a:t>값으로 </a:t>
            </a:r>
            <a:r>
              <a:rPr lang="en-US" altLang="ko-KR" sz="1200"/>
              <a:t>waiting pool</a:t>
            </a:r>
            <a:r>
              <a:rPr lang="ko-KR" altLang="en-US" sz="1200"/>
              <a:t>에 있는 값과 비교하여 존재하면 응답데이터를 받아 </a:t>
            </a:r>
            <a:r>
              <a:rPr lang="en-US" altLang="ko-KR" sz="1200"/>
              <a:t>PM1</a:t>
            </a:r>
            <a:r>
              <a:rPr lang="ko-KR" altLang="en-US" sz="1200"/>
              <a:t>이 리턴함</a:t>
            </a:r>
            <a:endParaRPr lang="en-US" altLang="ko-KR" sz="12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/>
              <a:t>전문 로그 테이블에 </a:t>
            </a:r>
            <a:r>
              <a:rPr lang="en-US" altLang="ko-KR" sz="1200"/>
              <a:t>EAI OQ</a:t>
            </a:r>
            <a:r>
              <a:rPr lang="ko-KR" altLang="en-US" sz="1200"/>
              <a:t> 전문저장시 </a:t>
            </a:r>
            <a:r>
              <a:rPr lang="en-US" altLang="ko-KR" sz="1200"/>
              <a:t>WAS</a:t>
            </a:r>
            <a:r>
              <a:rPr lang="ko-KR" altLang="en-US" sz="1200"/>
              <a:t>인스턴스 정보도 저장하며</a:t>
            </a:r>
            <a:r>
              <a:rPr lang="en-US" altLang="ko-KR" sz="1200"/>
              <a:t>, </a:t>
            </a:r>
            <a:r>
              <a:rPr lang="ko-KR" altLang="en-US" sz="1200"/>
              <a:t>응답 </a:t>
            </a:r>
            <a:r>
              <a:rPr lang="en-US" altLang="ko-KR" sz="1200"/>
              <a:t>IQ </a:t>
            </a:r>
            <a:r>
              <a:rPr lang="ko-KR" altLang="en-US" sz="1200"/>
              <a:t>전문 수신시 그 </a:t>
            </a:r>
            <a:r>
              <a:rPr lang="en-US" altLang="ko-KR" sz="1200"/>
              <a:t>WAS</a:t>
            </a:r>
            <a:r>
              <a:rPr lang="ko-KR" altLang="en-US" sz="1200"/>
              <a:t>인스턴스</a:t>
            </a:r>
            <a:r>
              <a:rPr lang="en-US" altLang="ko-KR" sz="1200"/>
              <a:t>(NEXCORE_ID) </a:t>
            </a:r>
            <a:r>
              <a:rPr lang="ko-KR" altLang="en-US" sz="1200"/>
              <a:t>로 해당 노드의 </a:t>
            </a:r>
            <a:r>
              <a:rPr lang="en-US" altLang="ko-KR" sz="1200"/>
              <a:t>IP:Port </a:t>
            </a:r>
            <a:r>
              <a:rPr lang="ko-KR" altLang="en-US" sz="1200"/>
              <a:t>정보를 찾아옴</a:t>
            </a:r>
            <a:endParaRPr lang="en-US" altLang="ko-KR" sz="1200"/>
          </a:p>
        </p:txBody>
      </p:sp>
      <p:cxnSp>
        <p:nvCxnSpPr>
          <p:cNvPr id="47" name="직선 화살표 연결선 46"/>
          <p:cNvCxnSpPr>
            <a:stCxn id="81" idx="1"/>
            <a:endCxn id="125" idx="3"/>
          </p:cNvCxnSpPr>
          <p:nvPr/>
        </p:nvCxnSpPr>
        <p:spPr>
          <a:xfrm flipH="1">
            <a:off x="4215305" y="2648934"/>
            <a:ext cx="377583" cy="218333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0463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3349358" y="2049765"/>
            <a:ext cx="905956" cy="13390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/>
              <a:t>IR / SAF </a:t>
            </a:r>
            <a:r>
              <a:rPr lang="ko-KR" altLang="en-US"/>
              <a:t>방식 구분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en-US" altLang="ko-KR" dirty="0"/>
              <a:t>IR </a:t>
            </a:r>
            <a:r>
              <a:rPr lang="ko-KR" altLang="en-US" dirty="0"/>
              <a:t>방식은 </a:t>
            </a:r>
            <a:r>
              <a:rPr lang="ko-KR" altLang="en-US" dirty="0" err="1"/>
              <a:t>단건</a:t>
            </a:r>
            <a:r>
              <a:rPr lang="ko-KR" altLang="en-US" dirty="0"/>
              <a:t> 비동기 송신</a:t>
            </a:r>
            <a:r>
              <a:rPr lang="en-US" altLang="ko-KR" dirty="0"/>
              <a:t>/</a:t>
            </a:r>
            <a:r>
              <a:rPr lang="ko-KR" altLang="en-US" dirty="0"/>
              <a:t>응답 방식이고</a:t>
            </a:r>
            <a:r>
              <a:rPr lang="en-US" altLang="ko-KR" dirty="0"/>
              <a:t>, SAF </a:t>
            </a:r>
            <a:r>
              <a:rPr lang="ko-KR" altLang="en-US" dirty="0"/>
              <a:t>방식은 </a:t>
            </a:r>
            <a:r>
              <a:rPr lang="ko-KR" altLang="en-US" dirty="0" err="1"/>
              <a:t>다건</a:t>
            </a:r>
            <a:r>
              <a:rPr lang="ko-KR" altLang="en-US" dirty="0"/>
              <a:t> 전송 후</a:t>
            </a:r>
            <a:r>
              <a:rPr lang="en-US" altLang="ko-KR" dirty="0"/>
              <a:t> </a:t>
            </a:r>
            <a:r>
              <a:rPr lang="ko-KR" altLang="en-US" dirty="0" err="1"/>
              <a:t>다건</a:t>
            </a:r>
            <a:r>
              <a:rPr lang="ko-KR" altLang="en-US" dirty="0"/>
              <a:t> 응답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EAI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483574" y="2127413"/>
            <a:ext cx="636360" cy="5524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송신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 PM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041502" y="2049766"/>
            <a:ext cx="630070" cy="13390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MCI</a:t>
            </a:r>
            <a:endParaRPr lang="ko-KR" altLang="en-US" sz="1000" b="1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4119934" y="2416693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2671572" y="2416693"/>
            <a:ext cx="812002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5565068" y="2416693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rot="10800000">
            <a:off x="5529064" y="3068961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483574" y="2836837"/>
            <a:ext cx="636360" cy="484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응답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 PM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3" name="직선 화살표 연결선 32"/>
          <p:cNvCxnSpPr/>
          <p:nvPr/>
        </p:nvCxnSpPr>
        <p:spPr>
          <a:xfrm rot="10800000">
            <a:off x="2653571" y="2569093"/>
            <a:ext cx="812002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rot="10800000">
            <a:off x="4129734" y="3104963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rot="10800000">
            <a:off x="2689575" y="3140967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rot="10800000" flipH="1">
            <a:off x="1588524" y="2456892"/>
            <a:ext cx="396627" cy="1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818396" y="2049766"/>
            <a:ext cx="686903" cy="133903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MyStar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단말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 flipH="1">
            <a:off x="1599281" y="3140968"/>
            <a:ext cx="38587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3343502" y="4613208"/>
            <a:ext cx="905956" cy="13390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885818" y="4617132"/>
            <a:ext cx="636360" cy="1310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035646" y="4613209"/>
            <a:ext cx="630070" cy="13390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MCI</a:t>
            </a:r>
            <a:endParaRPr lang="ko-KR" altLang="en-US" sz="1000" b="1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4114078" y="4905164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2665716" y="4941168"/>
            <a:ext cx="812002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5559212" y="4905164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rot="10800000">
            <a:off x="2647715" y="5085184"/>
            <a:ext cx="812002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 rot="10800000">
            <a:off x="4123878" y="5517231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 rot="10800000">
            <a:off x="2683719" y="5625244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rot="10800000" flipH="1">
            <a:off x="1582668" y="4941168"/>
            <a:ext cx="396627" cy="1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812540" y="4613209"/>
            <a:ext cx="686903" cy="133903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MyStar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단말</a:t>
            </a:r>
          </a:p>
        </p:txBody>
      </p:sp>
      <p:cxnSp>
        <p:nvCxnSpPr>
          <p:cNvPr id="59" name="직선 화살표 연결선 58"/>
          <p:cNvCxnSpPr/>
          <p:nvPr/>
        </p:nvCxnSpPr>
        <p:spPr>
          <a:xfrm flipH="1">
            <a:off x="1593425" y="5085184"/>
            <a:ext cx="38587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4112907" y="5013176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>
            <a:off x="4112907" y="5121188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3474109" y="4689140"/>
            <a:ext cx="636360" cy="5524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송신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 PM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474109" y="5398564"/>
            <a:ext cx="636360" cy="484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응답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 PM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 rot="10800000">
            <a:off x="4128564" y="5625243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rot="10800000">
            <a:off x="4128564" y="5733256"/>
            <a:ext cx="77174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5563897" y="5013176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>
            <a:off x="5563897" y="5121188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 rot="10800000">
            <a:off x="5543556" y="5517232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 rot="10800000">
            <a:off x="5548241" y="5625244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 rot="10800000">
            <a:off x="5548241" y="5733256"/>
            <a:ext cx="46925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58353"/>
              </p:ext>
            </p:extLst>
          </p:nvPr>
        </p:nvGraphicFramePr>
        <p:xfrm>
          <a:off x="6226060" y="1844824"/>
          <a:ext cx="3443404" cy="419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거래 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거래처리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18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한번의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EAI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호출과 한번의 비동기 응답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동일한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경로번호만 증가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전송시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경로번호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+10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증가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최초 송신전문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화면으로는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더미리턴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응답 전문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수신후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단말로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본응답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전송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18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SAF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다건의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호출과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다건의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비동기 응답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최초 거래의 응답은 더미가 아닌 일반응답으로 회신하여 단말을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풀어줌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전송시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각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건별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재채번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건별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응답은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재채변된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경로 번호 증가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재채번시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원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최조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요청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응답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원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값을 확인하여 필요시 단말로 전송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</a:tbl>
          </a:graphicData>
        </a:graphic>
      </p:graphicFrame>
      <p:cxnSp>
        <p:nvCxnSpPr>
          <p:cNvPr id="72" name="직선 화살표 연결선 71"/>
          <p:cNvCxnSpPr/>
          <p:nvPr/>
        </p:nvCxnSpPr>
        <p:spPr>
          <a:xfrm flipH="1">
            <a:off x="1604628" y="5661248"/>
            <a:ext cx="385870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685174" y="1589304"/>
            <a:ext cx="1806938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400" b="1">
                <a:cs typeface="Arial" pitchFamily="34" charset="0"/>
              </a:rPr>
              <a:t>IR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685174" y="4227720"/>
            <a:ext cx="1806938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400" b="1">
                <a:cs typeface="Arial" pitchFamily="34" charset="0"/>
              </a:rPr>
              <a:t>SAF</a:t>
            </a:r>
            <a:endParaRPr lang="ko-KR" altLang="en-US" sz="1400" b="1" dirty="0">
              <a:cs typeface="Arial" pitchFamily="34" charset="0"/>
            </a:endParaRPr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4124908" y="3212976"/>
            <a:ext cx="788121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4891674" y="2053689"/>
            <a:ext cx="636360" cy="1310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9736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타원 23"/>
          <p:cNvSpPr/>
          <p:nvPr/>
        </p:nvSpPr>
        <p:spPr>
          <a:xfrm>
            <a:off x="1568053" y="1891732"/>
            <a:ext cx="106165" cy="3134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/>
              <a:t>EAI </a:t>
            </a:r>
            <a:r>
              <a:rPr lang="ko-KR" altLang="en-US"/>
              <a:t>인터페이스 구현 상세 </a:t>
            </a:r>
            <a:r>
              <a:rPr lang="en-US" altLang="ko-KR"/>
              <a:t>– Outbound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/>
              <a:t>EAI Outbound </a:t>
            </a:r>
            <a:r>
              <a:rPr lang="ko-KR" altLang="en-US"/>
              <a:t>인터페이스는 </a:t>
            </a:r>
            <a:r>
              <a:rPr lang="en-US" altLang="ko-KR"/>
              <a:t>async / sync </a:t>
            </a:r>
            <a:r>
              <a:rPr lang="ko-KR" altLang="en-US"/>
              <a:t>방식 모두 가능</a:t>
            </a:r>
            <a:r>
              <a:rPr lang="en-US" altLang="ko-KR"/>
              <a:t>. FW </a:t>
            </a:r>
            <a:r>
              <a:rPr lang="ko-KR" altLang="en-US"/>
              <a:t>가 </a:t>
            </a:r>
            <a:r>
              <a:rPr lang="en-US" altLang="ko-KR"/>
              <a:t>socket client</a:t>
            </a:r>
            <a:r>
              <a:rPr lang="ko-KR" altLang="en-US"/>
              <a:t> 가 되어 </a:t>
            </a:r>
            <a:r>
              <a:rPr lang="en-US" altLang="ko-KR"/>
              <a:t>EAI connect </a:t>
            </a:r>
            <a:r>
              <a:rPr lang="ko-KR" altLang="en-US"/>
              <a:t>함</a:t>
            </a:r>
            <a:r>
              <a:rPr lang="en-US" altLang="ko-KR"/>
              <a:t>. FW </a:t>
            </a:r>
            <a:r>
              <a:rPr lang="en-US" altLang="ko-KR">
                <a:sym typeface="Wingdings" panose="05000000000000000000" pitchFamily="2" charset="2"/>
              </a:rPr>
              <a:t> EAI </a:t>
            </a:r>
            <a:r>
              <a:rPr lang="ko-KR" altLang="en-US">
                <a:sym typeface="Wingdings" panose="05000000000000000000" pitchFamily="2" charset="2"/>
              </a:rPr>
              <a:t>는 </a:t>
            </a:r>
            <a:r>
              <a:rPr lang="en-US" altLang="ko-KR"/>
              <a:t>Http </a:t>
            </a:r>
            <a:r>
              <a:rPr lang="ko-KR" altLang="en-US"/>
              <a:t>가 아닌 </a:t>
            </a:r>
            <a:r>
              <a:rPr lang="en-US" altLang="ko-KR"/>
              <a:t>TCP </a:t>
            </a:r>
            <a:r>
              <a:rPr lang="ko-KR" altLang="en-US"/>
              <a:t>방식으로 통신함</a:t>
            </a:r>
            <a:r>
              <a:rPr lang="en-US" altLang="ko-KR"/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6. EAI Outbound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88504" y="1460344"/>
            <a:ext cx="4680520" cy="21252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704522" y="1794226"/>
            <a:ext cx="975954" cy="1368152"/>
          </a:xfrm>
          <a:prstGeom prst="roundRect">
            <a:avLst>
              <a:gd name="adj" fmla="val 6643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3" name="Text Box 25"/>
          <p:cNvSpPr txBox="1">
            <a:spLocks noChangeArrowheads="1"/>
          </p:cNvSpPr>
          <p:nvPr/>
        </p:nvSpPr>
        <p:spPr bwMode="auto">
          <a:xfrm>
            <a:off x="862734" y="1961527"/>
            <a:ext cx="68829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5" name="Text Box 25"/>
          <p:cNvSpPr txBox="1">
            <a:spLocks noChangeArrowheads="1"/>
          </p:cNvSpPr>
          <p:nvPr/>
        </p:nvSpPr>
        <p:spPr bwMode="auto">
          <a:xfrm>
            <a:off x="862734" y="2347333"/>
            <a:ext cx="689877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1208584" y="2743377"/>
            <a:ext cx="340321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2684" y="1578202"/>
            <a:ext cx="97595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업무 컴포넌트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312675" y="1460344"/>
            <a:ext cx="715752" cy="21252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" name="직선 화살표 연결선 4"/>
          <p:cNvCxnSpPr>
            <a:stCxn id="24" idx="6"/>
            <a:endCxn id="50" idx="1"/>
          </p:cNvCxnSpPr>
          <p:nvPr/>
        </p:nvCxnSpPr>
        <p:spPr>
          <a:xfrm flipV="1">
            <a:off x="1674218" y="1749091"/>
            <a:ext cx="418291" cy="29937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49"/>
          <p:cNvSpPr/>
          <p:nvPr/>
        </p:nvSpPr>
        <p:spPr>
          <a:xfrm>
            <a:off x="2092509" y="1581349"/>
            <a:ext cx="1063922" cy="335483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OutboundHeader </a:t>
            </a:r>
            <a:br>
              <a:rPr lang="en-US" altLang="ko-KR" sz="8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DataSet </a:t>
            </a: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객체</a:t>
            </a:r>
            <a:endParaRPr lang="en-US" altLang="ko-KR" sz="8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" name="직선 화살표 연결선 13"/>
          <p:cNvCxnSpPr>
            <a:stCxn id="50" idx="2"/>
            <a:endCxn id="63" idx="0"/>
          </p:cNvCxnSpPr>
          <p:nvPr/>
        </p:nvCxnSpPr>
        <p:spPr>
          <a:xfrm>
            <a:off x="2624470" y="1916832"/>
            <a:ext cx="0" cy="40154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6"/>
          <p:cNvSpPr/>
          <p:nvPr/>
        </p:nvSpPr>
        <p:spPr>
          <a:xfrm>
            <a:off x="2192416" y="1988840"/>
            <a:ext cx="864108" cy="21951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변환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967855" y="2216495"/>
            <a:ext cx="1337067" cy="1975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rgbClr val="FF0000"/>
                </a:solidFill>
                <a:cs typeface="Arial" pitchFamily="34" charset="0"/>
              </a:rPr>
              <a:t>callOutbound</a:t>
            </a:r>
            <a:r>
              <a:rPr lang="en-US" altLang="ko-KR" sz="900">
                <a:cs typeface="Arial" pitchFamily="34" charset="0"/>
              </a:rPr>
              <a:t>()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2092509" y="3140968"/>
            <a:ext cx="1063922" cy="335483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KBMessage</a:t>
            </a:r>
            <a:br>
              <a:rPr lang="en-US" altLang="ko-KR" sz="8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DataSet </a:t>
            </a: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응답 객체</a:t>
            </a:r>
            <a:endParaRPr lang="en-US" altLang="ko-KR" sz="8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9" name="직선 화살표 연결선 68"/>
          <p:cNvCxnSpPr>
            <a:stCxn id="72" idx="4"/>
            <a:endCxn id="68" idx="0"/>
          </p:cNvCxnSpPr>
          <p:nvPr/>
        </p:nvCxnSpPr>
        <p:spPr>
          <a:xfrm>
            <a:off x="2624470" y="2775428"/>
            <a:ext cx="0" cy="36554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/>
          <p:cNvSpPr/>
          <p:nvPr/>
        </p:nvSpPr>
        <p:spPr>
          <a:xfrm>
            <a:off x="2192416" y="2813149"/>
            <a:ext cx="864108" cy="2027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변환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2" name="평행 사변형 71"/>
          <p:cNvSpPr/>
          <p:nvPr/>
        </p:nvSpPr>
        <p:spPr>
          <a:xfrm>
            <a:off x="2117859" y="2564904"/>
            <a:ext cx="1013222" cy="210524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응답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4" name="직선 화살표 연결선 73"/>
          <p:cNvCxnSpPr>
            <a:stCxn id="68" idx="1"/>
          </p:cNvCxnSpPr>
          <p:nvPr/>
        </p:nvCxnSpPr>
        <p:spPr>
          <a:xfrm flipH="1" flipV="1">
            <a:off x="1680476" y="2591138"/>
            <a:ext cx="412033" cy="7175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9" idx="3"/>
            <a:endCxn id="88" idx="1"/>
          </p:cNvCxnSpPr>
          <p:nvPr/>
        </p:nvCxnSpPr>
        <p:spPr>
          <a:xfrm>
            <a:off x="1680476" y="2478302"/>
            <a:ext cx="2524608" cy="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평행 사변형 62"/>
          <p:cNvSpPr/>
          <p:nvPr/>
        </p:nvSpPr>
        <p:spPr>
          <a:xfrm>
            <a:off x="2137627" y="2318376"/>
            <a:ext cx="973686" cy="210524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요청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</a:p>
        </p:txBody>
      </p:sp>
      <p:cxnSp>
        <p:nvCxnSpPr>
          <p:cNvPr id="80" name="직선 화살표 연결선 79"/>
          <p:cNvCxnSpPr/>
          <p:nvPr/>
        </p:nvCxnSpPr>
        <p:spPr>
          <a:xfrm flipH="1">
            <a:off x="5030488" y="2514306"/>
            <a:ext cx="127103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모서리가 둥근 직사각형 87"/>
          <p:cNvSpPr/>
          <p:nvPr/>
        </p:nvSpPr>
        <p:spPr>
          <a:xfrm>
            <a:off x="4205084" y="2292296"/>
            <a:ext cx="834126" cy="3729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sync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session</a:t>
            </a:r>
          </a:p>
        </p:txBody>
      </p:sp>
      <p:cxnSp>
        <p:nvCxnSpPr>
          <p:cNvPr id="90" name="직선 화살표 연결선 89"/>
          <p:cNvCxnSpPr/>
          <p:nvPr/>
        </p:nvCxnSpPr>
        <p:spPr>
          <a:xfrm>
            <a:off x="5050781" y="2407158"/>
            <a:ext cx="1255210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endCxn id="72" idx="2"/>
          </p:cNvCxnSpPr>
          <p:nvPr/>
        </p:nvCxnSpPr>
        <p:spPr>
          <a:xfrm flipH="1">
            <a:off x="3104766" y="2548468"/>
            <a:ext cx="1101880" cy="1216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40567" y="1781006"/>
            <a:ext cx="743469" cy="453067"/>
          </a:xfrm>
          <a:prstGeom prst="ellipse">
            <a:avLst/>
          </a:prstGeom>
          <a:solidFill>
            <a:schemeClr val="bg2"/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TCP/Json </a:t>
            </a:r>
          </a:p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(</a:t>
            </a:r>
            <a:r>
              <a:rPr lang="ko-KR" altLang="en-US" sz="900" b="1">
                <a:cs typeface="Arial" pitchFamily="34" charset="0"/>
              </a:rPr>
              <a:t>요청</a:t>
            </a:r>
            <a:r>
              <a:rPr lang="en-US" altLang="ko-KR" sz="900" b="1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42788" y="2645102"/>
            <a:ext cx="752553" cy="453067"/>
          </a:xfrm>
          <a:prstGeom prst="ellipse">
            <a:avLst/>
          </a:prstGeom>
          <a:solidFill>
            <a:schemeClr val="bg2"/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TCP/Json </a:t>
            </a:r>
          </a:p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(</a:t>
            </a:r>
            <a:r>
              <a:rPr lang="ko-KR" altLang="en-US" sz="900" b="1">
                <a:cs typeface="Arial" pitchFamily="34" charset="0"/>
              </a:rPr>
              <a:t>응답</a:t>
            </a:r>
            <a:r>
              <a:rPr lang="en-US" altLang="ko-KR" sz="900" b="1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80886" y="2021361"/>
            <a:ext cx="949687" cy="1835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cs typeface="Arial" pitchFamily="34" charset="0"/>
              </a:rPr>
              <a:t>Sync </a:t>
            </a:r>
            <a:r>
              <a:rPr lang="ko-KR" altLang="en-US" sz="800">
                <a:cs typeface="Arial" pitchFamily="34" charset="0"/>
              </a:rPr>
              <a:t>방식 </a:t>
            </a:r>
            <a:r>
              <a:rPr lang="en-US" altLang="ko-KR" sz="800">
                <a:cs typeface="Arial" pitchFamily="34" charset="0"/>
              </a:rPr>
              <a:t>FW API</a:t>
            </a:r>
            <a:endParaRPr lang="ko-KR" altLang="en-US" sz="800" dirty="0">
              <a:cs typeface="Arial" pitchFamily="34" charset="0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1568053" y="4292436"/>
            <a:ext cx="106165" cy="3134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88504" y="3861048"/>
            <a:ext cx="4680520" cy="2484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704522" y="4194929"/>
            <a:ext cx="975954" cy="1898367"/>
          </a:xfrm>
          <a:prstGeom prst="roundRect">
            <a:avLst>
              <a:gd name="adj" fmla="val 6643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8" name="Text Box 25"/>
          <p:cNvSpPr txBox="1">
            <a:spLocks noChangeArrowheads="1"/>
          </p:cNvSpPr>
          <p:nvPr/>
        </p:nvSpPr>
        <p:spPr bwMode="auto">
          <a:xfrm>
            <a:off x="862734" y="4362231"/>
            <a:ext cx="68829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+mn-ea"/>
              </a:rPr>
              <a:t>PM (</a:t>
            </a:r>
            <a:r>
              <a:rPr kumimoji="0" lang="ko-KR" altLang="en-US" sz="1000" kern="0">
                <a:latin typeface="+mn-ea"/>
              </a:rPr>
              <a:t>요청</a:t>
            </a:r>
            <a:r>
              <a:rPr lang="en-US" altLang="ko-KR" sz="1000" kern="0">
                <a:latin typeface="+mn-ea"/>
              </a:rPr>
              <a:t>)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99" name="Text Box 25"/>
          <p:cNvSpPr txBox="1">
            <a:spLocks noChangeArrowheads="1"/>
          </p:cNvSpPr>
          <p:nvPr/>
        </p:nvSpPr>
        <p:spPr bwMode="auto">
          <a:xfrm>
            <a:off x="862734" y="4748037"/>
            <a:ext cx="689877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72684" y="3978906"/>
            <a:ext cx="97595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업무 컴포넌트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312675" y="3861048"/>
            <a:ext cx="715752" cy="2484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EAI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3" name="직선 화살표 연결선 4"/>
          <p:cNvCxnSpPr>
            <a:stCxn id="95" idx="6"/>
            <a:endCxn id="104" idx="1"/>
          </p:cNvCxnSpPr>
          <p:nvPr/>
        </p:nvCxnSpPr>
        <p:spPr>
          <a:xfrm flipV="1">
            <a:off x="1674218" y="4149795"/>
            <a:ext cx="418291" cy="29937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모서리가 둥근 직사각형 103"/>
          <p:cNvSpPr/>
          <p:nvPr/>
        </p:nvSpPr>
        <p:spPr>
          <a:xfrm>
            <a:off x="2092509" y="3982053"/>
            <a:ext cx="1063922" cy="335483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OutboundHeader </a:t>
            </a:r>
            <a:br>
              <a:rPr lang="en-US" altLang="ko-KR" sz="8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DataSet </a:t>
            </a: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객체</a:t>
            </a:r>
            <a:endParaRPr lang="en-US" altLang="ko-KR" sz="8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6" name="직선 화살표 연결선 105"/>
          <p:cNvCxnSpPr>
            <a:stCxn id="104" idx="2"/>
            <a:endCxn id="115" idx="0"/>
          </p:cNvCxnSpPr>
          <p:nvPr/>
        </p:nvCxnSpPr>
        <p:spPr>
          <a:xfrm>
            <a:off x="2624470" y="4317536"/>
            <a:ext cx="0" cy="45332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모서리가 둥근 직사각형 106"/>
          <p:cNvSpPr/>
          <p:nvPr/>
        </p:nvSpPr>
        <p:spPr>
          <a:xfrm>
            <a:off x="2192416" y="4389544"/>
            <a:ext cx="864108" cy="21951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변환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967855" y="4617199"/>
            <a:ext cx="1337067" cy="1975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rgbClr val="FF0000"/>
                </a:solidFill>
                <a:cs typeface="Arial" pitchFamily="34" charset="0"/>
              </a:rPr>
              <a:t>sendOutbound</a:t>
            </a:r>
            <a:r>
              <a:rPr lang="en-US" altLang="ko-KR" sz="900">
                <a:cs typeface="Arial" pitchFamily="34" charset="0"/>
              </a:rPr>
              <a:t>()</a:t>
            </a:r>
          </a:p>
        </p:txBody>
      </p:sp>
      <p:cxnSp>
        <p:nvCxnSpPr>
          <p:cNvPr id="114" name="직선 화살표 연결선 113"/>
          <p:cNvCxnSpPr>
            <a:endCxn id="117" idx="1"/>
          </p:cNvCxnSpPr>
          <p:nvPr/>
        </p:nvCxnSpPr>
        <p:spPr>
          <a:xfrm>
            <a:off x="1680476" y="4879493"/>
            <a:ext cx="2524608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평행 사변형 114"/>
          <p:cNvSpPr/>
          <p:nvPr/>
        </p:nvSpPr>
        <p:spPr>
          <a:xfrm>
            <a:off x="2142447" y="4770865"/>
            <a:ext cx="964046" cy="210524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요청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4205084" y="4693000"/>
            <a:ext cx="834126" cy="3729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async</a:t>
            </a:r>
            <a:br>
              <a:rPr lang="en-US" altLang="ko-KR" sz="90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session</a:t>
            </a:r>
          </a:p>
        </p:txBody>
      </p:sp>
      <p:cxnSp>
        <p:nvCxnSpPr>
          <p:cNvPr id="118" name="직선 화살표 연결선 117"/>
          <p:cNvCxnSpPr/>
          <p:nvPr/>
        </p:nvCxnSpPr>
        <p:spPr>
          <a:xfrm>
            <a:off x="5043039" y="4807862"/>
            <a:ext cx="126963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358770" y="4306156"/>
            <a:ext cx="752553" cy="453067"/>
          </a:xfrm>
          <a:prstGeom prst="ellipse">
            <a:avLst/>
          </a:prstGeom>
          <a:solidFill>
            <a:schemeClr val="bg2"/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>
            <a:defPPr>
              <a:defRPr lang="de-DE"/>
            </a:defPPr>
            <a:lvl1pPr algn="ctr">
              <a:lnSpc>
                <a:spcPct val="90000"/>
              </a:lnSpc>
              <a:defRPr sz="900" b="1">
                <a:cs typeface="Arial" pitchFamily="34" charset="0"/>
              </a:defRPr>
            </a:lvl1pPr>
          </a:lstStyle>
          <a:p>
            <a:r>
              <a:rPr lang="en-US" altLang="ko-KR"/>
              <a:t>TCP/Json </a:t>
            </a:r>
          </a:p>
          <a:p>
            <a:r>
              <a:rPr lang="en-US" altLang="ko-KR"/>
              <a:t>(</a:t>
            </a:r>
            <a:r>
              <a:rPr lang="ko-KR" altLang="en-US"/>
              <a:t>요청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3951673" y="4366666"/>
            <a:ext cx="1008112" cy="2943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cs typeface="Arial" pitchFamily="34" charset="0"/>
              </a:rPr>
              <a:t>Async </a:t>
            </a:r>
            <a:r>
              <a:rPr lang="ko-KR" altLang="en-US" sz="800">
                <a:cs typeface="Arial" pitchFamily="34" charset="0"/>
              </a:rPr>
              <a:t>방식 </a:t>
            </a:r>
            <a:r>
              <a:rPr lang="en-US" altLang="ko-KR" sz="800">
                <a:cs typeface="Arial" pitchFamily="34" charset="0"/>
              </a:rPr>
              <a:t>FW API</a:t>
            </a:r>
            <a:endParaRPr lang="ko-KR" altLang="en-US" sz="800" dirty="0">
              <a:cs typeface="Arial" pitchFamily="34" charset="0"/>
            </a:endParaRPr>
          </a:p>
        </p:txBody>
      </p:sp>
      <p:sp>
        <p:nvSpPr>
          <p:cNvPr id="123" name="Text Box 25"/>
          <p:cNvSpPr txBox="1">
            <a:spLocks noChangeArrowheads="1"/>
          </p:cNvSpPr>
          <p:nvPr/>
        </p:nvSpPr>
        <p:spPr bwMode="auto">
          <a:xfrm>
            <a:off x="854058" y="5629477"/>
            <a:ext cx="68829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+mn-ea"/>
              </a:rPr>
              <a:t>PM (</a:t>
            </a:r>
            <a:r>
              <a:rPr kumimoji="0" lang="ko-KR" altLang="en-US" sz="1000" kern="0">
                <a:latin typeface="+mn-ea"/>
              </a:rPr>
              <a:t>응답</a:t>
            </a:r>
            <a:r>
              <a:rPr kumimoji="0" lang="en-US" altLang="ko-KR" sz="1000" kern="0">
                <a:latin typeface="+mn-ea"/>
              </a:rPr>
              <a:t>)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836876" y="5494946"/>
            <a:ext cx="756084" cy="3360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Servlet (FW)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5" name="직선 화살표 연결선 124"/>
          <p:cNvCxnSpPr>
            <a:endCxn id="124" idx="3"/>
          </p:cNvCxnSpPr>
          <p:nvPr/>
        </p:nvCxnSpPr>
        <p:spPr>
          <a:xfrm flipH="1">
            <a:off x="4592960" y="5662974"/>
            <a:ext cx="17197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358770" y="5756702"/>
            <a:ext cx="831598" cy="45279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HTTP/Json</a:t>
            </a:r>
          </a:p>
          <a:p>
            <a:pPr algn="ctr">
              <a:lnSpc>
                <a:spcPct val="90000"/>
              </a:lnSpc>
            </a:pPr>
            <a:r>
              <a:rPr lang="en-US" altLang="ko-KR" sz="900" b="1">
                <a:cs typeface="Arial" pitchFamily="34" charset="0"/>
              </a:rPr>
              <a:t>(</a:t>
            </a:r>
            <a:r>
              <a:rPr lang="ko-KR" altLang="en-US" sz="900" b="1">
                <a:cs typeface="Arial" pitchFamily="34" charset="0"/>
              </a:rPr>
              <a:t>응답</a:t>
            </a:r>
            <a:r>
              <a:rPr lang="en-US" altLang="ko-KR" sz="900" b="1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cxnSp>
        <p:nvCxnSpPr>
          <p:cNvPr id="127" name="직선 화살표 연결선 126"/>
          <p:cNvCxnSpPr>
            <a:stCxn id="124" idx="1"/>
            <a:endCxn id="123" idx="3"/>
          </p:cNvCxnSpPr>
          <p:nvPr/>
        </p:nvCxnSpPr>
        <p:spPr>
          <a:xfrm flipH="1">
            <a:off x="1542348" y="5662974"/>
            <a:ext cx="2294528" cy="974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115" idx="4"/>
          </p:cNvCxnSpPr>
          <p:nvPr/>
        </p:nvCxnSpPr>
        <p:spPr>
          <a:xfrm rot="5400000">
            <a:off x="2071142" y="4590753"/>
            <a:ext cx="162693" cy="94396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37244" y="5126941"/>
            <a:ext cx="1002468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요청 거래 종료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719165" y="5571907"/>
            <a:ext cx="821567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응답 거래 기동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32" name="평행 사변형 131"/>
          <p:cNvSpPr/>
          <p:nvPr/>
        </p:nvSpPr>
        <p:spPr>
          <a:xfrm>
            <a:off x="4764503" y="5530922"/>
            <a:ext cx="936104" cy="210524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응답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)</a:t>
            </a: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2727711" y="5589240"/>
            <a:ext cx="574097" cy="197986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>
                <a:solidFill>
                  <a:schemeClr val="tx1"/>
                </a:solidFill>
                <a:cs typeface="Arial" pitchFamily="34" charset="0"/>
              </a:rPr>
              <a:t>DataSet</a:t>
            </a:r>
          </a:p>
        </p:txBody>
      </p:sp>
      <p:sp>
        <p:nvSpPr>
          <p:cNvPr id="136" name="자유형 135"/>
          <p:cNvSpPr/>
          <p:nvPr/>
        </p:nvSpPr>
        <p:spPr>
          <a:xfrm>
            <a:off x="3066492" y="5808154"/>
            <a:ext cx="933450" cy="222321"/>
          </a:xfrm>
          <a:custGeom>
            <a:avLst/>
            <a:gdLst>
              <a:gd name="connsiteX0" fmla="*/ 933450 w 933450"/>
              <a:gd name="connsiteY0" fmla="*/ 19050 h 222321"/>
              <a:gd name="connsiteX1" fmla="*/ 533400 w 933450"/>
              <a:gd name="connsiteY1" fmla="*/ 222250 h 222321"/>
              <a:gd name="connsiteX2" fmla="*/ 0 w 933450"/>
              <a:gd name="connsiteY2" fmla="*/ 0 h 22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3450" h="222321">
                <a:moveTo>
                  <a:pt x="933450" y="19050"/>
                </a:moveTo>
                <a:cubicBezTo>
                  <a:pt x="811212" y="122237"/>
                  <a:pt x="688975" y="225425"/>
                  <a:pt x="533400" y="222250"/>
                </a:cubicBezTo>
                <a:cubicBezTo>
                  <a:pt x="377825" y="219075"/>
                  <a:pt x="188912" y="109537"/>
                  <a:pt x="0" y="0"/>
                </a:cubicBezTo>
              </a:path>
            </a:pathLst>
          </a:cu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3156431" y="5918790"/>
            <a:ext cx="864108" cy="21951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Json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변환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7284783" y="2213878"/>
            <a:ext cx="2279656" cy="32442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400" b="1" dirty="0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상세 내용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330298" y="2712461"/>
            <a:ext cx="2240484" cy="32624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de-DE"/>
            </a:defPPr>
            <a:lvl1pPr marL="85725" indent="-85725">
              <a:spcBef>
                <a:spcPts val="300"/>
              </a:spcBef>
              <a:buFont typeface="Arial" panose="020B0604020202020204" pitchFamily="34" charset="0"/>
              <a:buChar char="•"/>
              <a:defRPr sz="1100">
                <a:latin typeface="KB금융 본문체 Medium" panose="020B0603000000000000" pitchFamily="50" charset="-127"/>
                <a:ea typeface="KB금융 본문체 Medium" panose="020B0603000000000000" pitchFamily="50" charset="-127"/>
                <a:cs typeface="Arial" pitchFamily="34" charset="0"/>
              </a:defRPr>
            </a:lvl1pPr>
          </a:lstStyle>
          <a:p>
            <a:r>
              <a:rPr lang="en-US" altLang="ko-KR">
                <a:sym typeface="Monotype Sorts"/>
              </a:rPr>
              <a:t>FW </a:t>
            </a:r>
            <a:r>
              <a:rPr lang="en-US" altLang="ko-KR">
                <a:sym typeface="Wingdings" panose="05000000000000000000" pitchFamily="2" charset="2"/>
              </a:rPr>
              <a:t> EAI </a:t>
            </a:r>
            <a:r>
              <a:rPr lang="ko-KR" altLang="en-US">
                <a:sym typeface="Wingdings" panose="05000000000000000000" pitchFamily="2" charset="2"/>
              </a:rPr>
              <a:t>요청은 </a:t>
            </a:r>
            <a:r>
              <a:rPr lang="en-US" altLang="ko-KR">
                <a:sym typeface="Wingdings" panose="05000000000000000000" pitchFamily="2" charset="2"/>
              </a:rPr>
              <a:t>sync/async </a:t>
            </a:r>
            <a:r>
              <a:rPr lang="ko-KR" altLang="en-US">
                <a:sym typeface="Wingdings" panose="05000000000000000000" pitchFamily="2" charset="2"/>
              </a:rPr>
              <a:t>모두 </a:t>
            </a:r>
            <a:r>
              <a:rPr lang="en-US" altLang="ko-KR">
                <a:sym typeface="Wingdings" panose="05000000000000000000" pitchFamily="2" charset="2"/>
              </a:rPr>
              <a:t>TCP </a:t>
            </a:r>
            <a:r>
              <a:rPr lang="ko-KR" altLang="en-US">
                <a:sym typeface="Wingdings" panose="05000000000000000000" pitchFamily="2" charset="2"/>
              </a:rPr>
              <a:t>방식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TCP Socket </a:t>
            </a:r>
            <a:r>
              <a:rPr lang="ko-KR" altLang="en-US">
                <a:sym typeface="Wingdings" panose="05000000000000000000" pitchFamily="2" charset="2"/>
              </a:rPr>
              <a:t>연결은 </a:t>
            </a:r>
            <a:r>
              <a:rPr lang="en-US" altLang="ko-KR">
                <a:sym typeface="Wingdings" panose="05000000000000000000" pitchFamily="2" charset="2"/>
              </a:rPr>
              <a:t>FW </a:t>
            </a:r>
            <a:r>
              <a:rPr lang="ko-KR" altLang="en-US">
                <a:sym typeface="Wingdings" panose="05000000000000000000" pitchFamily="2" charset="2"/>
              </a:rPr>
              <a:t>이 </a:t>
            </a:r>
            <a:r>
              <a:rPr lang="en-US" altLang="ko-KR">
                <a:sym typeface="Wingdings" panose="05000000000000000000" pitchFamily="2" charset="2"/>
              </a:rPr>
              <a:t>Socket Client </a:t>
            </a:r>
            <a:r>
              <a:rPr lang="ko-KR" altLang="en-US">
                <a:sym typeface="Wingdings" panose="05000000000000000000" pitchFamily="2" charset="2"/>
              </a:rPr>
              <a:t>로 </a:t>
            </a:r>
            <a:r>
              <a:rPr lang="en-US" altLang="ko-KR">
                <a:sym typeface="Wingdings" panose="05000000000000000000" pitchFamily="2" charset="2"/>
              </a:rPr>
              <a:t>EAI </a:t>
            </a:r>
            <a:r>
              <a:rPr lang="ko-KR" altLang="en-US">
                <a:sym typeface="Wingdings" panose="05000000000000000000" pitchFamily="2" charset="2"/>
              </a:rPr>
              <a:t>서버에 </a:t>
            </a:r>
            <a:r>
              <a:rPr lang="en-US" altLang="ko-KR">
                <a:sym typeface="Wingdings" panose="05000000000000000000" pitchFamily="2" charset="2"/>
              </a:rPr>
              <a:t>connect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Sync</a:t>
            </a:r>
            <a:r>
              <a:rPr lang="ko-KR" altLang="en-US">
                <a:sym typeface="Wingdings" panose="05000000000000000000" pitchFamily="2" charset="2"/>
              </a:rPr>
              <a:t> 방식 응답은 요청한 그 세션으로 응답 전문 수신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Monotype Sorts"/>
              </a:rPr>
              <a:t>Async </a:t>
            </a:r>
            <a:r>
              <a:rPr lang="ko-KR" altLang="en-US">
                <a:sym typeface="Monotype Sorts"/>
              </a:rPr>
              <a:t>의 응답은 </a:t>
            </a:r>
            <a:r>
              <a:rPr lang="en-US" altLang="ko-KR">
                <a:sym typeface="Monotype Sorts"/>
              </a:rPr>
              <a:t>Http </a:t>
            </a:r>
            <a:r>
              <a:rPr lang="ko-KR" altLang="en-US">
                <a:sym typeface="Monotype Sorts"/>
              </a:rPr>
              <a:t>통신으로 </a:t>
            </a:r>
            <a:r>
              <a:rPr lang="en-US" altLang="ko-KR">
                <a:sym typeface="Monotype Sorts"/>
              </a:rPr>
              <a:t>Inbound </a:t>
            </a:r>
            <a:r>
              <a:rPr lang="ko-KR" altLang="en-US">
                <a:sym typeface="Monotype Sorts"/>
              </a:rPr>
              <a:t>거래와 동일 방식으로 수신</a:t>
            </a:r>
            <a:endParaRPr lang="en-US" altLang="ko-KR">
              <a:sym typeface="Monotype Sorts"/>
            </a:endParaRPr>
          </a:p>
          <a:p>
            <a:endParaRPr lang="en-US" altLang="ko-KR">
              <a:sym typeface="Monotype Sorts"/>
            </a:endParaRPr>
          </a:p>
          <a:p>
            <a:r>
              <a:rPr lang="en-US" altLang="ko-KR">
                <a:sym typeface="Monotype Sorts"/>
              </a:rPr>
              <a:t>Socket</a:t>
            </a:r>
            <a:r>
              <a:rPr lang="ko-KR" altLang="en-US">
                <a:sym typeface="Monotype Sorts"/>
              </a:rPr>
              <a:t> 세션은 </a:t>
            </a:r>
            <a:r>
              <a:rPr lang="en-US" altLang="ko-KR">
                <a:sym typeface="Monotype Sorts"/>
              </a:rPr>
              <a:t>Perm, Non-Perm </a:t>
            </a:r>
            <a:r>
              <a:rPr lang="ko-KR" altLang="en-US">
                <a:sym typeface="Monotype Sorts"/>
              </a:rPr>
              <a:t>방식 지원</a:t>
            </a:r>
            <a:endParaRPr lang="en-US" altLang="ko-KR">
              <a:sym typeface="Monotype Sorts"/>
            </a:endParaRPr>
          </a:p>
          <a:p>
            <a:endParaRPr lang="en-US" altLang="ko-KR">
              <a:sym typeface="Monotype Sorts"/>
            </a:endParaRPr>
          </a:p>
          <a:p>
            <a:r>
              <a:rPr lang="ko-KR" altLang="en-US">
                <a:sym typeface="Monotype Sorts"/>
              </a:rPr>
              <a:t>어플리케이션 코드 별로 접속 포트 구분함</a:t>
            </a:r>
            <a:endParaRPr lang="en-US" altLang="ko-KR" dirty="0"/>
          </a:p>
        </p:txBody>
      </p:sp>
      <p:sp>
        <p:nvSpPr>
          <p:cNvPr id="42" name="TextBox 41"/>
          <p:cNvSpPr txBox="1"/>
          <p:nvPr/>
        </p:nvSpPr>
        <p:spPr>
          <a:xfrm>
            <a:off x="3396450" y="5233969"/>
            <a:ext cx="2628292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b="1">
                <a:cs typeface="Arial" pitchFamily="34" charset="0"/>
                <a:hlinkClick r:id="rId2"/>
              </a:rPr>
              <a:t>http://xx.xx.xx.xx:9081/nkesa/</a:t>
            </a:r>
            <a:r>
              <a:rPr lang="ko-KR" altLang="en-US" sz="1000" b="1">
                <a:solidFill>
                  <a:srgbClr val="9B1717"/>
                </a:solidFill>
                <a:cs typeface="Arial" pitchFamily="34" charset="0"/>
              </a:rPr>
              <a:t>거래코드</a:t>
            </a:r>
            <a:r>
              <a:rPr lang="en-US" altLang="ko-KR" sz="1000" b="1">
                <a:solidFill>
                  <a:srgbClr val="9B1717"/>
                </a:solidFill>
                <a:cs typeface="Arial" pitchFamily="34" charset="0"/>
              </a:rPr>
              <a:t>.jmd</a:t>
            </a:r>
            <a:endParaRPr lang="ko-KR" altLang="en-US" sz="1000" b="1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88504" y="1249255"/>
            <a:ext cx="2479351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ko-KR" sz="1400" b="1">
                <a:cs typeface="Arial" pitchFamily="34" charset="0"/>
              </a:rPr>
              <a:t>EAI Sync </a:t>
            </a:r>
            <a:r>
              <a:rPr lang="ko-KR" altLang="en-US" sz="1400" b="1">
                <a:cs typeface="Arial" pitchFamily="34" charset="0"/>
              </a:rPr>
              <a:t>연계 흐름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08962" y="3668987"/>
            <a:ext cx="2479351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ko-KR" sz="1400" b="1">
                <a:cs typeface="Arial" pitchFamily="34" charset="0"/>
              </a:rPr>
              <a:t>EAI Async </a:t>
            </a:r>
            <a:r>
              <a:rPr lang="ko-KR" altLang="en-US" sz="1400" b="1">
                <a:cs typeface="Arial" pitchFamily="34" charset="0"/>
              </a:rPr>
              <a:t>연계 흐름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70" name="Text Box 25">
            <a:extLst>
              <a:ext uri="{FF2B5EF4-FFF2-40B4-BE49-F238E27FC236}">
                <a16:creationId xmlns:a16="http://schemas.microsoft.com/office/drawing/2014/main" id="{6495AE19-8604-4531-8907-71E752961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20" y="2745349"/>
            <a:ext cx="340321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1" name="Text Box 25">
            <a:extLst>
              <a:ext uri="{FF2B5EF4-FFF2-40B4-BE49-F238E27FC236}">
                <a16:creationId xmlns:a16="http://schemas.microsoft.com/office/drawing/2014/main" id="{2D9DACC9-16A1-4828-9F64-2FD049B72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67" y="5181315"/>
            <a:ext cx="340321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82" name="Text Box 25">
            <a:extLst>
              <a:ext uri="{FF2B5EF4-FFF2-40B4-BE49-F238E27FC236}">
                <a16:creationId xmlns:a16="http://schemas.microsoft.com/office/drawing/2014/main" id="{EC7FB17B-FF92-447F-BB17-C2F56A59F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603" y="5183287"/>
            <a:ext cx="340321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86358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전송요구 </a:t>
            </a:r>
            <a:r>
              <a:rPr lang="en-US" altLang="ko-KR"/>
              <a:t>ID</a:t>
            </a:r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EAI </a:t>
            </a:r>
            <a:r>
              <a:rPr lang="ko-KR" altLang="en-US"/>
              <a:t>전문 전송시 송신 측에서 </a:t>
            </a:r>
            <a:r>
              <a:rPr lang="en-US" altLang="ko-KR"/>
              <a:t>8</a:t>
            </a:r>
            <a:r>
              <a:rPr lang="ko-KR" altLang="en-US"/>
              <a:t>자리 고유의</a:t>
            </a:r>
            <a:r>
              <a:rPr lang="en-US" altLang="ko-KR"/>
              <a:t> ID </a:t>
            </a:r>
            <a:r>
              <a:rPr lang="ko-KR" altLang="en-US"/>
              <a:t>채번</a:t>
            </a:r>
            <a:r>
              <a:rPr lang="en-US" altLang="ko-KR"/>
              <a:t>. </a:t>
            </a:r>
            <a:r>
              <a:rPr lang="ko-KR" altLang="en-US"/>
              <a:t>이 값을 이용하여 </a:t>
            </a:r>
            <a:r>
              <a:rPr lang="en-US" altLang="ko-KR"/>
              <a:t>Timer </a:t>
            </a:r>
            <a:r>
              <a:rPr lang="ko-KR" altLang="en-US"/>
              <a:t>해제에 활용</a:t>
            </a:r>
            <a:r>
              <a:rPr lang="en-US" altLang="ko-KR"/>
              <a:t>. </a:t>
            </a:r>
            <a:r>
              <a:rPr lang="ko-KR" altLang="en-US"/>
              <a:t>송신측 </a:t>
            </a:r>
            <a:r>
              <a:rPr lang="en-US" altLang="ko-KR"/>
              <a:t>WAS </a:t>
            </a:r>
            <a:r>
              <a:rPr lang="ko-KR" altLang="en-US"/>
              <a:t>번호 판단</a:t>
            </a:r>
            <a:endParaRPr lang="en-US" altLang="ko-KR"/>
          </a:p>
        </p:txBody>
      </p:sp>
      <p:sp>
        <p:nvSpPr>
          <p:cNvPr id="13" name="TextBox 12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EAI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연계 방안</a:t>
            </a:r>
          </a:p>
        </p:txBody>
      </p:sp>
      <p:graphicFrame>
        <p:nvGraphicFramePr>
          <p:cNvPr id="14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862680"/>
              </p:ext>
            </p:extLst>
          </p:nvPr>
        </p:nvGraphicFramePr>
        <p:xfrm>
          <a:off x="884548" y="1628800"/>
          <a:ext cx="7884877" cy="2299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515">
                  <a:extLst>
                    <a:ext uri="{9D8B030D-6E8A-4147-A177-3AD203B41FA5}">
                      <a16:colId xmlns:a16="http://schemas.microsoft.com/office/drawing/2014/main" val="2534670813"/>
                    </a:ext>
                  </a:extLst>
                </a:gridCol>
                <a:gridCol w="508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12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항목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 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값 예제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nKESA </a:t>
                      </a: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지시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돋움체" panose="020B0609000101010101" pitchFamily="49" charset="-127"/>
                          <a:ea typeface="돋움체" panose="020B0609000101010101" pitchFamily="49" charset="-127"/>
                          <a:cs typeface="+mn-cs"/>
                        </a:rPr>
                        <a:t>“N”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돋움체" panose="020B0609000101010101" pitchFamily="49" charset="-127"/>
                        <a:ea typeface="돋움체" panose="020B0609000101010101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nKESA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임을 나타내는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“N”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IR/SAF</a:t>
                      </a:r>
                      <a:r>
                        <a:rPr lang="en-US" altLang="ko-KR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 baseline="0">
                          <a:solidFill>
                            <a:schemeClr val="dk1"/>
                          </a:solidFill>
                          <a:latin typeface="돋움체" panose="020B0609000101010101" pitchFamily="49" charset="-127"/>
                          <a:ea typeface="돋움체" panose="020B0609000101010101" pitchFamily="49" charset="-127"/>
                          <a:cs typeface="+mn-cs"/>
                        </a:rPr>
                        <a:t>“I”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돋움체" panose="020B0609000101010101" pitchFamily="49" charset="-127"/>
                        <a:ea typeface="돋움체" panose="020B0609000101010101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방식인 경우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altLang="ko-KR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”, SAF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방식인 경우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altLang="ko-KR" sz="11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74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인스턴스 구분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돋움체" panose="020B0609000101010101" pitchFamily="49" charset="-127"/>
                          <a:ea typeface="돋움체" panose="020B0609000101010101" pitchFamily="49" charset="-127"/>
                          <a:cs typeface="+mn-cs"/>
                        </a:rPr>
                        <a:t>“S1317”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돋움체" panose="020B0609000101010101" pitchFamily="49" charset="-127"/>
                        <a:ea typeface="돋움체" panose="020B0609000101010101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내의 서버번호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자리중 뒤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</a:t>
                      </a:r>
                      <a:endParaRPr lang="en-US" altLang="ko-KR" sz="11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앞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서버호스트명 끝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S1)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뒤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FW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인스턴스별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unique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일련번호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(317)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  <a:tr h="538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필러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돋움체" panose="020B0609000101010101" pitchFamily="49" charset="-127"/>
                          <a:ea typeface="돋움체" panose="020B0609000101010101" pitchFamily="49" charset="-127"/>
                          <a:cs typeface="+mn-cs"/>
                        </a:rPr>
                        <a:t>“0”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돋움체" panose="020B0609000101010101" pitchFamily="49" charset="-127"/>
                        <a:ea typeface="돋움체" panose="020B0609000101010101" pitchFamily="49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 채우기 위해 </a:t>
                      </a:r>
                      <a:r>
                        <a:rPr lang="en-US" altLang="ko-KR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“0” </a:t>
                      </a:r>
                      <a:r>
                        <a:rPr lang="ko-KR" altLang="en-US" sz="11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붙임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89582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42396" y="4320767"/>
            <a:ext cx="7671043" cy="144384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cs typeface="Arial" pitchFamily="34" charset="0"/>
              </a:rPr>
              <a:t>비동기 </a:t>
            </a:r>
            <a:r>
              <a:rPr lang="en-US" altLang="ko-KR" sz="1100" dirty="0">
                <a:cs typeface="Arial" pitchFamily="34" charset="0"/>
              </a:rPr>
              <a:t>EAI </a:t>
            </a:r>
            <a:r>
              <a:rPr lang="ko-KR" altLang="en-US" sz="1100" dirty="0">
                <a:cs typeface="Arial" pitchFamily="34" charset="0"/>
              </a:rPr>
              <a:t>전문 </a:t>
            </a:r>
            <a:r>
              <a:rPr lang="ko-KR" altLang="en-US" sz="1100" dirty="0" err="1">
                <a:cs typeface="Arial" pitchFamily="34" charset="0"/>
              </a:rPr>
              <a:t>전송후</a:t>
            </a:r>
            <a:r>
              <a:rPr lang="ko-KR" altLang="en-US" sz="1100" dirty="0">
                <a:cs typeface="Arial" pitchFamily="34" charset="0"/>
              </a:rPr>
              <a:t> 시간내 응답이 오지 않을 경우</a:t>
            </a:r>
            <a:r>
              <a:rPr lang="en-US" altLang="ko-KR" sz="1100" dirty="0">
                <a:cs typeface="Arial" pitchFamily="34" charset="0"/>
              </a:rPr>
              <a:t>, </a:t>
            </a:r>
            <a:r>
              <a:rPr lang="ko-KR" altLang="en-US" sz="1100" dirty="0">
                <a:cs typeface="Arial" pitchFamily="34" charset="0"/>
              </a:rPr>
              <a:t>취소처리를 위해 </a:t>
            </a:r>
            <a:r>
              <a:rPr lang="en-US" altLang="ko-KR" sz="1100" dirty="0" err="1">
                <a:cs typeface="Arial" pitchFamily="34" charset="0"/>
              </a:rPr>
              <a:t>callDelayAsyncService</a:t>
            </a:r>
            <a:r>
              <a:rPr lang="en-US" altLang="ko-KR" sz="1100" dirty="0">
                <a:cs typeface="Arial" pitchFamily="34" charset="0"/>
              </a:rPr>
              <a:t> </a:t>
            </a:r>
            <a:r>
              <a:rPr lang="ko-KR" altLang="en-US" sz="1100" dirty="0">
                <a:cs typeface="Arial" pitchFamily="34" charset="0"/>
              </a:rPr>
              <a:t>로 타이머 거래 기동</a:t>
            </a: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cs typeface="Arial" pitchFamily="34" charset="0"/>
              </a:rPr>
              <a:t>정상 시간 내에 응답 거래가 수신되는 경우</a:t>
            </a:r>
            <a:r>
              <a:rPr lang="en-US" altLang="ko-KR" sz="1100" dirty="0">
                <a:cs typeface="Arial" pitchFamily="34" charset="0"/>
              </a:rPr>
              <a:t>, </a:t>
            </a:r>
            <a:r>
              <a:rPr lang="ko-KR" altLang="en-US" sz="1100" dirty="0">
                <a:cs typeface="Arial" pitchFamily="34" charset="0"/>
              </a:rPr>
              <a:t>타이머 거래가 돌아가지 않도록 </a:t>
            </a:r>
            <a:r>
              <a:rPr lang="en-US" altLang="ko-KR" sz="1100" dirty="0" err="1">
                <a:cs typeface="Arial" pitchFamily="34" charset="0"/>
              </a:rPr>
              <a:t>callDelayAsyncService</a:t>
            </a:r>
            <a:r>
              <a:rPr lang="en-US" altLang="ko-KR" sz="1100" dirty="0">
                <a:cs typeface="Arial" pitchFamily="34" charset="0"/>
              </a:rPr>
              <a:t> </a:t>
            </a:r>
            <a:r>
              <a:rPr lang="ko-KR" altLang="en-US" sz="1100" dirty="0">
                <a:cs typeface="Arial" pitchFamily="34" charset="0"/>
              </a:rPr>
              <a:t>한 거래를 </a:t>
            </a:r>
            <a:r>
              <a:rPr lang="ko-KR" altLang="en-US" sz="1100" dirty="0" err="1">
                <a:cs typeface="Arial" pitchFamily="34" charset="0"/>
              </a:rPr>
              <a:t>취소해야함</a:t>
            </a: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cs typeface="Arial" pitchFamily="34" charset="0"/>
              </a:rPr>
              <a:t>EAI async</a:t>
            </a:r>
            <a:r>
              <a:rPr lang="ko-KR" altLang="en-US" sz="1100" dirty="0">
                <a:cs typeface="Arial" pitchFamily="34" charset="0"/>
              </a:rPr>
              <a:t> 응답 전문에 타이머 취소를 위한 </a:t>
            </a:r>
            <a:r>
              <a:rPr lang="en-US" altLang="ko-KR" sz="1100" dirty="0">
                <a:cs typeface="Arial" pitchFamily="34" charset="0"/>
              </a:rPr>
              <a:t>Key </a:t>
            </a:r>
            <a:r>
              <a:rPr lang="ko-KR" altLang="en-US" sz="1100" dirty="0">
                <a:cs typeface="Arial" pitchFamily="34" charset="0"/>
              </a:rPr>
              <a:t>값이 필요하며</a:t>
            </a:r>
            <a:r>
              <a:rPr lang="en-US" altLang="ko-KR" sz="1100" dirty="0">
                <a:cs typeface="Arial" pitchFamily="34" charset="0"/>
              </a:rPr>
              <a:t>, </a:t>
            </a:r>
            <a:r>
              <a:rPr lang="ko-KR" altLang="en-US" sz="1100" dirty="0">
                <a:cs typeface="Arial" pitchFamily="34" charset="0"/>
              </a:rPr>
              <a:t>전송요구</a:t>
            </a:r>
            <a:r>
              <a:rPr lang="en-US" altLang="ko-KR" sz="1100" dirty="0">
                <a:cs typeface="Arial" pitchFamily="34" charset="0"/>
              </a:rPr>
              <a:t>ID </a:t>
            </a:r>
            <a:r>
              <a:rPr lang="ko-KR" altLang="en-US" sz="1100" dirty="0">
                <a:cs typeface="Arial" pitchFamily="34" charset="0"/>
              </a:rPr>
              <a:t>가 이 역할을 수행함</a:t>
            </a: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cs typeface="Arial" pitchFamily="34" charset="0"/>
              </a:rPr>
              <a:t>Timer Key full</a:t>
            </a:r>
            <a:r>
              <a:rPr lang="ko-KR" altLang="en-US" sz="1100" b="1" dirty="0">
                <a:cs typeface="Arial" pitchFamily="34" charset="0"/>
              </a:rPr>
              <a:t> 값</a:t>
            </a:r>
            <a:r>
              <a:rPr lang="en-US" altLang="ko-KR" sz="1100" b="1" dirty="0">
                <a:cs typeface="Arial" pitchFamily="34" charset="0"/>
              </a:rPr>
              <a:t> : DATE(8) + GUID (33) + </a:t>
            </a:r>
            <a:r>
              <a:rPr lang="ko-KR" altLang="en-US" sz="1100" b="1" dirty="0">
                <a:cs typeface="Arial" pitchFamily="34" charset="0"/>
              </a:rPr>
              <a:t>전송 요구 </a:t>
            </a:r>
            <a:r>
              <a:rPr lang="en-US" altLang="ko-KR" sz="1100" b="1" dirty="0">
                <a:cs typeface="Arial" pitchFamily="34" charset="0"/>
              </a:rPr>
              <a:t>ID (8) =&gt; char(49)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100" b="1" dirty="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cs typeface="Arial" pitchFamily="34" charset="0"/>
              </a:rPr>
              <a:t>예</a:t>
            </a:r>
            <a:r>
              <a:rPr lang="en-US" altLang="ko-KR" sz="1100" dirty="0">
                <a:cs typeface="Arial" pitchFamily="34" charset="0"/>
              </a:rPr>
              <a:t>) 20201110KB0MFC3OS131720201110221341092142NIS13170</a:t>
            </a:r>
            <a:endParaRPr lang="ko-KR" altLang="en-US" sz="11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46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원격 호출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인터페이스 연계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원격 호출 방안</a:t>
            </a: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같은</a:t>
            </a:r>
            <a:r>
              <a:rPr lang="en-US" altLang="ko-KR" dirty="0"/>
              <a:t> </a:t>
            </a:r>
            <a:r>
              <a:rPr lang="ko-KR" altLang="en-US" dirty="0"/>
              <a:t>도메인 내의 </a:t>
            </a:r>
            <a:r>
              <a:rPr lang="en-US" altLang="ko-KR" dirty="0"/>
              <a:t>NEXCORE </a:t>
            </a:r>
            <a:r>
              <a:rPr lang="ko-KR" altLang="en-US" dirty="0"/>
              <a:t>어플리케이션 간에는 </a:t>
            </a:r>
            <a:r>
              <a:rPr lang="en-US" altLang="ko-KR" dirty="0"/>
              <a:t>EAI </a:t>
            </a:r>
            <a:r>
              <a:rPr lang="ko-KR" altLang="en-US" dirty="0"/>
              <a:t>를 거치지 않고 직접 호출할 수 있는 </a:t>
            </a:r>
            <a:r>
              <a:rPr lang="ko-KR" altLang="en-US" dirty="0" err="1"/>
              <a:t>원격호출</a:t>
            </a:r>
            <a:r>
              <a:rPr lang="ko-KR" altLang="en-US" dirty="0"/>
              <a:t> </a:t>
            </a:r>
            <a:r>
              <a:rPr lang="ko-KR" altLang="en-US"/>
              <a:t>기능 제공</a:t>
            </a:r>
            <a:endParaRPr lang="en-US" altLang="ko-KR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345549"/>
              </p:ext>
            </p:extLst>
          </p:nvPr>
        </p:nvGraphicFramePr>
        <p:xfrm>
          <a:off x="453814" y="4334963"/>
          <a:ext cx="8999608" cy="2046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631">
                  <a:extLst>
                    <a:ext uri="{9D8B030D-6E8A-4147-A177-3AD203B41FA5}">
                      <a16:colId xmlns:a16="http://schemas.microsoft.com/office/drawing/2014/main" val="3507271964"/>
                    </a:ext>
                  </a:extLst>
                </a:gridCol>
                <a:gridCol w="5050695">
                  <a:extLst>
                    <a:ext uri="{9D8B030D-6E8A-4147-A177-3AD203B41FA5}">
                      <a16:colId xmlns:a16="http://schemas.microsoft.com/office/drawing/2014/main" val="655574096"/>
                    </a:ext>
                  </a:extLst>
                </a:gridCol>
                <a:gridCol w="3240282">
                  <a:extLst>
                    <a:ext uri="{9D8B030D-6E8A-4147-A177-3AD203B41FA5}">
                      <a16:colId xmlns:a16="http://schemas.microsoft.com/office/drawing/2014/main" val="2029066582"/>
                    </a:ext>
                  </a:extLst>
                </a:gridCol>
              </a:tblGrid>
              <a:tr h="2109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No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02518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aseline="0">
                          <a:latin typeface="+mn-ea"/>
                          <a:ea typeface="+mn-ea"/>
                        </a:rPr>
                        <a:t>같은 도메인 내에서 </a:t>
                      </a:r>
                      <a:r>
                        <a:rPr lang="en-US" altLang="ko-KR" sz="900" baseline="0">
                          <a:latin typeface="+mn-ea"/>
                          <a:ea typeface="+mn-ea"/>
                        </a:rPr>
                        <a:t>HTTP </a:t>
                      </a:r>
                      <a:r>
                        <a:rPr lang="ko-KR" altLang="en-US" sz="900" baseline="0">
                          <a:latin typeface="+mn-ea"/>
                          <a:ea typeface="+mn-ea"/>
                        </a:rPr>
                        <a:t>통신으로 거래코드 단위로 호출을 지원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HTTP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>
                          <a:latin typeface="+mn-ea"/>
                          <a:ea typeface="+mn-ea"/>
                        </a:rPr>
                        <a:t>, JSON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포멧으로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수신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642213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이중화 된 스테이징</a:t>
                      </a:r>
                      <a:r>
                        <a:rPr lang="en-US" altLang="ko-KR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운영 환경은 분산처리를 위해 </a:t>
                      </a:r>
                      <a:r>
                        <a:rPr lang="en-US" altLang="ko-KR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L4 </a:t>
                      </a: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를 호출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839194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내부표준전문 기반</a:t>
                      </a:r>
                      <a:r>
                        <a:rPr lang="en-US" altLang="ko-KR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동기 방식만 지원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비동기</a:t>
                      </a:r>
                      <a:r>
                        <a:rPr lang="ko-KR" altLang="en-US" sz="9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미지원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07460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조회된 전문 정보를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PM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의 입력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출력 </a:t>
                      </a: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레이아웃에 적용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uio</a:t>
                      </a:r>
                      <a:r>
                        <a:rPr lang="en-US" altLang="ko-KR" sz="9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파일에 전문 정보 기록됨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770799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에러전문 응답을 받게 되면 업무소스에서 오류를 위한 처리 필수</a:t>
                      </a:r>
                      <a:endParaRPr lang="ko-KR" altLang="en-US" sz="9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표준전문 에러부 형태로 에러 여부 판단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394976"/>
                  </a:ext>
                </a:extLst>
              </a:tr>
              <a:tr h="281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원칙상 조회거래 만 허용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도메인내 일부 업무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CUD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허용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Transaction</a:t>
                      </a:r>
                      <a:r>
                        <a:rPr lang="en-US" altLang="ko-KR" sz="9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보장하지 않음</a:t>
                      </a:r>
                      <a:r>
                        <a:rPr lang="en-US" altLang="ko-KR" sz="9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35597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155064" y="1385695"/>
            <a:ext cx="7037581" cy="25833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동기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(Sync)</a:t>
            </a: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483653" y="2116230"/>
            <a:ext cx="1518853" cy="12601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altLang="ko-K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3442" y="2375080"/>
            <a:ext cx="410067" cy="77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F/W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3035446" y="2744924"/>
            <a:ext cx="275244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658787" y="2480477"/>
            <a:ext cx="386001" cy="5524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2895594" y="2963666"/>
            <a:ext cx="596171" cy="367823"/>
            <a:chOff x="654226" y="5850732"/>
            <a:chExt cx="596171" cy="367823"/>
          </a:xfrm>
        </p:grpSpPr>
        <p:sp>
          <p:nvSpPr>
            <p:cNvPr id="17" name="직사각형 16"/>
            <p:cNvSpPr/>
            <p:nvPr/>
          </p:nvSpPr>
          <p:spPr>
            <a:xfrm>
              <a:off x="660911" y="5850732"/>
              <a:ext cx="587883" cy="135730"/>
            </a:xfrm>
            <a:prstGeom prst="rect">
              <a:avLst/>
            </a:prstGeom>
            <a:solidFill>
              <a:srgbClr val="EA002C"/>
            </a:solidFill>
            <a:ln w="6350" cap="flat">
              <a:solidFill>
                <a:srgbClr val="EA002C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800">
                  <a:solidFill>
                    <a:schemeClr val="bg1"/>
                  </a:solidFill>
                  <a:cs typeface="Arial" pitchFamily="34" charset="0"/>
                </a:rPr>
                <a:t>API</a:t>
              </a:r>
              <a:endParaRPr lang="ko-KR" altLang="en-US" sz="8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60911" y="5979320"/>
              <a:ext cx="587883" cy="239235"/>
            </a:xfrm>
            <a:prstGeom prst="rect">
              <a:avLst/>
            </a:prstGeom>
            <a:solidFill>
              <a:schemeClr val="bg1"/>
            </a:solidFill>
            <a:ln w="6350" cap="flat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8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4226" y="5987412"/>
              <a:ext cx="596171" cy="183503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none" lIns="72000" tIns="36000" rIns="72000" bIns="36000" rtlCol="0" anchor="t" anchorCtr="0">
              <a:spAutoFit/>
            </a:bodyPr>
            <a:lstStyle/>
            <a:p>
              <a:pPr marL="90488" indent="-9048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>
                  <a:cs typeface="Arial" pitchFamily="34" charset="0"/>
                </a:rPr>
                <a:t>거래코드</a:t>
              </a:r>
              <a:endParaRPr lang="en-US" altLang="ko-KR" sz="800">
                <a:cs typeface="Arial" pitchFamily="34" charset="0"/>
              </a:endParaRPr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3425982" y="1556789"/>
            <a:ext cx="2384169" cy="230784"/>
          </a:xfrm>
          <a:prstGeom prst="rect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L4(VIP)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V="1">
            <a:off x="3748629" y="1796595"/>
            <a:ext cx="909593" cy="931264"/>
          </a:xfrm>
          <a:prstGeom prst="straightConnector1">
            <a:avLst/>
          </a:prstGeom>
          <a:ln w="63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/>
          <p:cNvGrpSpPr/>
          <p:nvPr/>
        </p:nvGrpSpPr>
        <p:grpSpPr>
          <a:xfrm>
            <a:off x="4448944" y="2024844"/>
            <a:ext cx="386041" cy="386041"/>
            <a:chOff x="164468" y="4135659"/>
            <a:chExt cx="386041" cy="386041"/>
          </a:xfrm>
        </p:grpSpPr>
        <p:sp>
          <p:nvSpPr>
            <p:cNvPr id="23" name="타원 22"/>
            <p:cNvSpPr/>
            <p:nvPr/>
          </p:nvSpPr>
          <p:spPr>
            <a:xfrm>
              <a:off x="164468" y="4135659"/>
              <a:ext cx="386041" cy="386041"/>
            </a:xfrm>
            <a:prstGeom prst="ellipse">
              <a:avLst/>
            </a:prstGeom>
            <a:solidFill>
              <a:schemeClr val="tx1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051" y="4173225"/>
              <a:ext cx="347385" cy="32219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none" lIns="72000" tIns="36000" rIns="72000" bIns="36000" rtlCol="0" anchor="t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ko-KR" altLang="en-US" sz="900">
                  <a:solidFill>
                    <a:schemeClr val="bg1"/>
                  </a:solidFill>
                  <a:cs typeface="Arial" pitchFamily="34" charset="0"/>
                </a:rPr>
                <a:t>내부</a:t>
              </a:r>
              <a:endParaRPr lang="en-US" altLang="ko-KR" sz="900">
                <a:solidFill>
                  <a:schemeClr val="bg1"/>
                </a:solidFill>
                <a:cs typeface="Arial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900">
                  <a:solidFill>
                    <a:schemeClr val="bg1"/>
                  </a:solidFill>
                  <a:cs typeface="Arial" pitchFamily="34" charset="0"/>
                </a:rPr>
                <a:t>전문</a:t>
              </a:r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5332238" y="2096852"/>
            <a:ext cx="1518853" cy="12601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altLang="ko-K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529064" y="2348880"/>
            <a:ext cx="410067" cy="77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F/W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223183" y="2456892"/>
            <a:ext cx="386001" cy="5524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8" name="직선 화살표 연결선 27"/>
          <p:cNvCxnSpPr>
            <a:stCxn id="26" idx="3"/>
            <a:endCxn id="27" idx="1"/>
          </p:cNvCxnSpPr>
          <p:nvPr/>
        </p:nvCxnSpPr>
        <p:spPr>
          <a:xfrm flipV="1">
            <a:off x="5939131" y="2733132"/>
            <a:ext cx="284052" cy="3593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4624277" y="1813660"/>
            <a:ext cx="887856" cy="931264"/>
          </a:xfrm>
          <a:prstGeom prst="straightConnector1">
            <a:avLst/>
          </a:prstGeom>
          <a:ln w="63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1618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404106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024844"/>
            <a:ext cx="6848453" cy="4512380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어플리케이션 구성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</a:rPr>
              <a:t>통합 개발 환경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서버</a:t>
            </a:r>
            <a:r>
              <a:rPr lang="en-US" altLang="ko-KR" dirty="0">
                <a:solidFill>
                  <a:prstClr val="black"/>
                </a:solidFill>
              </a:rPr>
              <a:t>/</a:t>
            </a:r>
            <a:r>
              <a:rPr lang="ko-KR" altLang="en-US" dirty="0">
                <a:solidFill>
                  <a:prstClr val="black"/>
                </a:solidFill>
              </a:rPr>
              <a:t>디렉토리 구성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>
                <a:solidFill>
                  <a:prstClr val="black"/>
                </a:solidFill>
              </a:rPr>
              <a:t>WAS </a:t>
            </a:r>
            <a:r>
              <a:rPr lang="ko-KR" altLang="en-US" dirty="0">
                <a:solidFill>
                  <a:prstClr val="black"/>
                </a:solidFill>
              </a:rPr>
              <a:t>구성 방안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프레임워크 관리콘솔 구성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모니터링 구성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en-US" altLang="ko-KR" dirty="0">
                <a:solidFill>
                  <a:prstClr val="black"/>
                </a:solidFill>
              </a:rPr>
              <a:t>24*365 </a:t>
            </a:r>
            <a:r>
              <a:rPr lang="ko-KR" altLang="en-US" dirty="0">
                <a:solidFill>
                  <a:prstClr val="black"/>
                </a:solidFill>
              </a:rPr>
              <a:t>지원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>
                <a:solidFill>
                  <a:prstClr val="black"/>
                </a:solidFill>
              </a:rPr>
              <a:t>계획정지 지원</a:t>
            </a:r>
            <a:endParaRPr lang="en-US" altLang="ko-KR" dirty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45498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en-US" altLang="ko-KR" dirty="0"/>
              <a:t>AP </a:t>
            </a:r>
            <a:r>
              <a:rPr lang="ko-KR" altLang="en-US" dirty="0"/>
              <a:t>서버 디렉토리 </a:t>
            </a:r>
            <a:r>
              <a:rPr lang="en-US" altLang="ko-KR" dirty="0"/>
              <a:t>(n-KESA 2.0)</a:t>
            </a:r>
            <a:r>
              <a:rPr lang="ko-KR" altLang="en-US" dirty="0"/>
              <a:t>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/>
              <a:t>AP </a:t>
            </a:r>
            <a:r>
              <a:rPr lang="ko-KR" altLang="en-US"/>
              <a:t>서버에는 서비스가 실행되는 런타임 모듈과 로그 수집기 데몬이 실행되고 </a:t>
            </a:r>
            <a:r>
              <a:rPr lang="en-US" altLang="ko-KR"/>
              <a:t>TA </a:t>
            </a:r>
            <a:r>
              <a:rPr lang="ko-KR" altLang="en-US"/>
              <a:t>디렉토리 표준에 따라 </a:t>
            </a:r>
            <a:r>
              <a:rPr lang="en-US" altLang="ko-KR"/>
              <a:t>/fsapp, /fsconfig, /fslog </a:t>
            </a:r>
            <a:r>
              <a:rPr lang="ko-KR" altLang="en-US"/>
              <a:t>하위에 설치</a:t>
            </a:r>
            <a:r>
              <a:rPr lang="en-US" altLang="ko-KR"/>
              <a:t>/</a:t>
            </a:r>
            <a:r>
              <a:rPr lang="ko-KR" altLang="en-US"/>
              <a:t>생성됨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서버 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디렉토리 구성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aphicFrame>
        <p:nvGraphicFramePr>
          <p:cNvPr id="7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64733"/>
              </p:ext>
            </p:extLst>
          </p:nvPr>
        </p:nvGraphicFramePr>
        <p:xfrm>
          <a:off x="381884" y="1232756"/>
          <a:ext cx="9143467" cy="484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452">
                  <a:extLst>
                    <a:ext uri="{9D8B030D-6E8A-4147-A177-3AD203B41FA5}">
                      <a16:colId xmlns:a16="http://schemas.microsoft.com/office/drawing/2014/main" val="1849414042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58529576"/>
                    </a:ext>
                  </a:extLst>
                </a:gridCol>
                <a:gridCol w="2988175">
                  <a:extLst>
                    <a:ext uri="{9D8B030D-6E8A-4147-A177-3AD203B41FA5}">
                      <a16:colId xmlns:a16="http://schemas.microsoft.com/office/drawing/2014/main" val="4057965482"/>
                    </a:ext>
                  </a:extLst>
                </a:gridCol>
              </a:tblGrid>
              <a:tr h="24389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종류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디렉토리 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&amp;</a:t>
                      </a:r>
                      <a:r>
                        <a:rPr lang="en-US" altLang="ko-KR" sz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파일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계정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비고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03">
                <a:tc rowSpan="6"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런타임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실행 파일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fsapp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xxxx_dev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sqc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b="1" dirty="0"/>
                        <a:t>runtime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nkesa.war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/>
                        <a:t> wasadm</a:t>
                      </a:r>
                      <a:endParaRPr lang="ko-KR" altLang="en-US" sz="100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프레임워크 코어 </a:t>
                      </a:r>
                      <a:r>
                        <a:rPr lang="en-US" altLang="ko-KR" sz="1000"/>
                        <a:t>ear. </a:t>
                      </a:r>
                      <a:r>
                        <a:rPr lang="ko-KR" altLang="en-US" sz="1000"/>
                        <a:t>프레임워크</a:t>
                      </a:r>
                      <a:r>
                        <a:rPr lang="en-US" altLang="ko-KR" sz="1000"/>
                        <a:t> ejb </a:t>
                      </a:r>
                      <a:r>
                        <a:rPr lang="ko-KR" altLang="en-US" sz="1000"/>
                        <a:t>파일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실행 파일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fsapp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xxxx_dev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sqc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b="1" dirty="0"/>
                        <a:t>runtime</a:t>
                      </a:r>
                      <a:r>
                        <a:rPr lang="en-US" altLang="ko-KR" sz="1000" b="0" dirty="0"/>
                        <a:t>/</a:t>
                      </a:r>
                      <a:r>
                        <a:rPr lang="en-US" altLang="ko-KR" sz="1000" b="0" dirty="0" err="1"/>
                        <a:t>nkesa.war</a:t>
                      </a:r>
                      <a:r>
                        <a:rPr lang="en-US" altLang="ko-KR" sz="1000" b="0" dirty="0"/>
                        <a:t>/WEB-INF/</a:t>
                      </a:r>
                      <a:r>
                        <a:rPr lang="en-US" altLang="ko-KR" sz="1000" dirty="0"/>
                        <a:t>lib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/>
                        <a:t> wasadm</a:t>
                      </a:r>
                      <a:endParaRPr lang="ko-KR" altLang="en-US" sz="100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프레임워크 코어 </a:t>
                      </a:r>
                      <a:r>
                        <a:rPr lang="en-US" altLang="ko-KR" sz="1000"/>
                        <a:t>jar </a:t>
                      </a:r>
                      <a:r>
                        <a:rPr lang="ko-KR" altLang="en-US" sz="1000"/>
                        <a:t>파일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외부 라이브러리 </a:t>
                      </a:r>
                      <a:r>
                        <a:rPr lang="en-US" altLang="ko-KR" sz="1000"/>
                        <a:t>jar </a:t>
                      </a:r>
                      <a:r>
                        <a:rPr lang="ko-KR" altLang="en-US" sz="1000"/>
                        <a:t>파일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70591"/>
                  </a:ext>
                </a:extLst>
              </a:tr>
              <a:tr h="271703">
                <a:tc vMerge="1">
                  <a:txBody>
                    <a:bodyPr/>
                    <a:lstStyle/>
                    <a:p>
                      <a:pPr algn="ctr"/>
                      <a:endParaRPr lang="ko-KR" altLang="en-US" sz="1000" b="1"/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 파일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fsapp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xxxx_dev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sqc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b="1" dirty="0"/>
                        <a:t>runtime</a:t>
                      </a:r>
                      <a:r>
                        <a:rPr lang="en-US" altLang="ko-KR" sz="1000" dirty="0"/>
                        <a:t>/</a:t>
                      </a:r>
                      <a:r>
                        <a:rPr lang="en-US" altLang="ko-KR" sz="1000" dirty="0" err="1"/>
                        <a:t>nkesa.war</a:t>
                      </a:r>
                      <a:r>
                        <a:rPr lang="en-US" altLang="ko-KR" sz="1000" dirty="0"/>
                        <a:t>/WEB-INF/classes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en-US" altLang="ko-KR" sz="1000" baseline="0"/>
                        <a:t>wasadm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*.xml</a:t>
                      </a:r>
                      <a:r>
                        <a:rPr lang="en-US" altLang="ko-KR" sz="1000" baseline="0"/>
                        <a:t> , *.properties *.xsql </a:t>
                      </a:r>
                      <a:r>
                        <a:rPr lang="ko-KR" altLang="en-US" sz="1000" baseline="0"/>
                        <a:t>등 </a:t>
                      </a:r>
                      <a:r>
                        <a:rPr lang="en-US" altLang="ko-KR" sz="1000" baseline="0"/>
                        <a:t>FW </a:t>
                      </a:r>
                      <a:r>
                        <a:rPr lang="ko-KR" altLang="en-US" sz="1000" baseline="0"/>
                        <a:t>전용 설정 파일들</a:t>
                      </a:r>
                      <a:r>
                        <a:rPr lang="en-US" altLang="ko-KR" sz="1000" baseline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43">
                <a:tc vMerge="1">
                  <a:txBody>
                    <a:bodyPr/>
                    <a:lstStyle/>
                    <a:p>
                      <a:pPr algn="ctr"/>
                      <a:endParaRPr lang="ko-KR" altLang="en-US" sz="1000" b="1"/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Apps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/fsapp/xxxx_dev/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nkesa-online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/ooo</a:t>
                      </a:r>
                      <a:endParaRPr lang="en-US" altLang="ko-KR" sz="100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/fsapp/xxxx_dev/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nkesa-batch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/ooo</a:t>
                      </a: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/>
                        <a:t>sqc000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ooo : application code 3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AppCode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별로 분리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928">
                <a:tc vMerge="1">
                  <a:txBody>
                    <a:bodyPr/>
                    <a:lstStyle/>
                    <a:p>
                      <a:pPr algn="ctr"/>
                      <a:endParaRPr lang="ko-KR" altLang="en-US" sz="1000" b="1"/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/fslog/xxxx_dev/sqc/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runtime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000" i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node_id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/YYYYMMDD/*.log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/>
                        <a:t>wasadm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node_id : WAS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인스턴스 고유 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노드 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625486"/>
                  </a:ext>
                </a:extLst>
              </a:tr>
              <a:tr h="209928">
                <a:tc vMerge="1">
                  <a:txBody>
                    <a:bodyPr/>
                    <a:lstStyle/>
                    <a:p>
                      <a:pPr algn="ctr"/>
                      <a:endParaRPr lang="ko-KR" altLang="en-US" sz="1000" b="1"/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 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/fslog/chglog/xxx/YYYYMMDD/CHGLOG.*.log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/fslog/chglog/xxx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부터는 각 업무계정의 소유</a:t>
                      </a:r>
                      <a:endParaRPr lang="en-US" altLang="ko-KR" sz="1000" b="0" i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914506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노드매니저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노드매니저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/>
                        <a:t>/fsutil/sqc/</a:t>
                      </a:r>
                      <a:r>
                        <a:rPr lang="en-US" altLang="ko-KR" sz="1000" b="1"/>
                        <a:t>nodemanager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/fslog/sqc/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nodemanager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/YYYYMMDD/*.log</a:t>
                      </a: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sqc000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모든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AP,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서버에 기동되는 프레임워크 데몬</a:t>
                      </a:r>
                      <a:endParaRPr lang="en-US" altLang="ko-KR" sz="1000" b="0" i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067945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분석기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분석 에이전트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/>
                        <a:t>/fsutil/sqc/</a:t>
                      </a:r>
                      <a:r>
                        <a:rPr lang="en-US" altLang="ko-KR" sz="1000" b="1"/>
                        <a:t>analysis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/fslog/sqc/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/YYYYMMDD/*.log</a:t>
                      </a: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/>
                        <a:t>sqc000</a:t>
                      </a:r>
                      <a:endParaRPr lang="ko-KR" altLang="en-US" sz="1000" b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소스코드 분석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서버에서만 동작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40147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배포 에이전트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개발전용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배포 에이전트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/>
                        <a:t>/fsutil/sqc/</a:t>
                      </a:r>
                      <a:r>
                        <a:rPr lang="en-US" altLang="ko-KR" sz="1000" b="1"/>
                        <a:t>deployagent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/fslog/sqc/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deployagent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/YYYYMMDD/*.log</a:t>
                      </a:r>
                      <a:endParaRPr lang="ko-KR" altLang="en-US" sz="1000" b="1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sqc000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개발계에만 실행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7012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CM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에이전트</a:t>
                      </a: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스테이징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운영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)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에이전트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/>
                        <a:t>/fsutil/sqc/</a:t>
                      </a:r>
                      <a:r>
                        <a:rPr lang="en-US" altLang="ko-KR" sz="1000" b="1"/>
                        <a:t>cmagent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/fslog/sqc/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cmagent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/YYYYMMDD/*.log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/fsbuild/</a:t>
                      </a:r>
                      <a:endParaRPr lang="ko-KR" altLang="en-US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sqc000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스테이징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동작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00021"/>
                  </a:ext>
                </a:extLst>
              </a:tr>
              <a:tr h="5495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/>
                        <a:t>Config</a:t>
                      </a:r>
                      <a:endParaRPr lang="ko-KR" altLang="en-US" sz="1000" b="1"/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/fsconfig/sqc/*.properties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sqc000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cmadmin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runtime/**/classes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하위의 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*.properties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파일은 업무별로 공통적인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부분들을 설정함</a:t>
                      </a:r>
                      <a:endParaRPr lang="en-US" altLang="ko-KR" sz="1000" b="0" i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업무별 달라지는 설정값은 </a:t>
                      </a:r>
                      <a:r>
                        <a:rPr lang="en-US" altLang="ko-KR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/fsconfig  </a:t>
                      </a:r>
                      <a:r>
                        <a:rPr lang="ko-KR" altLang="en-US" sz="1000" b="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하위에 재정의</a:t>
                      </a:r>
                      <a:endParaRPr lang="en-US" altLang="ko-KR" sz="1000" b="0" i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23333"/>
                  </a:ext>
                </a:extLst>
              </a:tr>
              <a:tr h="379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Config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/fsutil/sql/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shell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/setWasDomainId.sh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sqc000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업무별로 달라지는 설정 값 처리릉 위해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WAS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인코딩 값등 설정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789370"/>
                  </a:ext>
                </a:extLst>
              </a:tr>
              <a:tr h="2099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B금융 본문체 Light"/>
                          <a:ea typeface="KB금융 본문체 Light"/>
                          <a:cs typeface="+mn-cs"/>
                        </a:rPr>
                        <a:t>보안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B금융 본문체 Light"/>
                        <a:ea typeface="KB금융 본문체 Light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암호화모듈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/fsutil/sql/encryption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sqc000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내부 암호화에 사용되는 툴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240017"/>
                  </a:ext>
                </a:extLst>
              </a:tr>
              <a:tr h="20992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보안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/fsscp/pav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보안모듈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라이브러리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설정파일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53706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03992" y="6309320"/>
            <a:ext cx="565326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>
                <a:cs typeface="Arial" pitchFamily="34" charset="0"/>
              </a:rPr>
              <a:t>* xxxx : WAS</a:t>
            </a:r>
            <a:r>
              <a:rPr lang="ko-KR" altLang="en-US" sz="1000">
                <a:cs typeface="Arial" pitchFamily="34" charset="0"/>
              </a:rPr>
              <a:t>도메인</a:t>
            </a:r>
            <a:r>
              <a:rPr lang="en-US" altLang="ko-KR" sz="1000">
                <a:cs typeface="Arial" pitchFamily="34" charset="0"/>
              </a:rPr>
              <a:t>ID, </a:t>
            </a:r>
            <a:r>
              <a:rPr lang="ko-KR" altLang="en-US" sz="1000">
                <a:cs typeface="Arial" pitchFamily="34" charset="0"/>
              </a:rPr>
              <a:t>시스템도메인코드</a:t>
            </a:r>
            <a:r>
              <a:rPr lang="en-US" altLang="ko-KR" sz="1000">
                <a:cs typeface="Arial" pitchFamily="34" charset="0"/>
              </a:rPr>
              <a:t>3</a:t>
            </a:r>
            <a:r>
              <a:rPr lang="ko-KR" altLang="en-US" sz="1000">
                <a:cs typeface="Arial" pitchFamily="34" charset="0"/>
              </a:rPr>
              <a:t>자리 </a:t>
            </a:r>
            <a:r>
              <a:rPr lang="en-US" altLang="ko-KR" sz="1000">
                <a:cs typeface="Arial" pitchFamily="34" charset="0"/>
              </a:rPr>
              <a:t>+ </a:t>
            </a:r>
            <a:r>
              <a:rPr lang="ko-KR" altLang="en-US" sz="1000">
                <a:cs typeface="Arial" pitchFamily="34" charset="0"/>
              </a:rPr>
              <a:t>일련번호 </a:t>
            </a:r>
            <a:r>
              <a:rPr lang="en-US" altLang="ko-KR" sz="1000">
                <a:cs typeface="Arial" pitchFamily="34" charset="0"/>
              </a:rPr>
              <a:t>1</a:t>
            </a:r>
            <a:r>
              <a:rPr lang="ko-KR" altLang="en-US" sz="1000">
                <a:cs typeface="Arial" pitchFamily="34" charset="0"/>
              </a:rPr>
              <a:t>자리</a:t>
            </a:r>
            <a:r>
              <a:rPr lang="en-US" altLang="ko-KR" sz="1000">
                <a:cs typeface="Arial" pitchFamily="34" charset="0"/>
              </a:rPr>
              <a:t>. (FW </a:t>
            </a:r>
            <a:r>
              <a:rPr lang="ko-KR" altLang="en-US" sz="1000">
                <a:cs typeface="Arial" pitchFamily="34" charset="0"/>
              </a:rPr>
              <a:t>설치 단위</a:t>
            </a:r>
            <a:r>
              <a:rPr lang="en-US" altLang="ko-KR" sz="1000">
                <a:cs typeface="Arial" pitchFamily="34" charset="0"/>
              </a:rPr>
              <a:t>)</a:t>
            </a:r>
            <a:endParaRPr lang="ko-KR" altLang="en-US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0633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런타임 노드 </a:t>
            </a:r>
            <a:r>
              <a:rPr lang="en-US" altLang="ko-KR" dirty="0"/>
              <a:t>/ </a:t>
            </a:r>
            <a:r>
              <a:rPr lang="ko-KR" altLang="en-US" dirty="0"/>
              <a:t>서비스 그룹 </a:t>
            </a:r>
            <a:r>
              <a:rPr lang="en-US" altLang="ko-KR" dirty="0"/>
              <a:t>/ </a:t>
            </a:r>
            <a:r>
              <a:rPr lang="ko-KR" altLang="en-US" dirty="0"/>
              <a:t>프레임워크 도메인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프레임워크 런타임 환경의 </a:t>
            </a:r>
            <a:r>
              <a:rPr lang="ko-KR" altLang="en-US" dirty="0" err="1"/>
              <a:t>그룹핑은</a:t>
            </a:r>
            <a:r>
              <a:rPr lang="ko-KR" altLang="en-US" dirty="0"/>
              <a:t> 노드</a:t>
            </a:r>
            <a:r>
              <a:rPr lang="en-US" altLang="ko-KR" dirty="0"/>
              <a:t>, </a:t>
            </a:r>
            <a:r>
              <a:rPr lang="ko-KR" altLang="en-US" dirty="0"/>
              <a:t>서비스 그룹</a:t>
            </a:r>
            <a:r>
              <a:rPr lang="en-US" altLang="ko-KR" dirty="0"/>
              <a:t>, </a:t>
            </a:r>
            <a:r>
              <a:rPr lang="ko-KR" altLang="en-US" dirty="0"/>
              <a:t>프레임워크 도메인으로 구성됨</a:t>
            </a:r>
          </a:p>
        </p:txBody>
      </p:sp>
      <p:graphicFrame>
        <p:nvGraphicFramePr>
          <p:cNvPr id="180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19831"/>
              </p:ext>
            </p:extLst>
          </p:nvPr>
        </p:nvGraphicFramePr>
        <p:xfrm>
          <a:off x="4160912" y="1736812"/>
          <a:ext cx="5185593" cy="4163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169">
                  <a:extLst>
                    <a:ext uri="{9D8B030D-6E8A-4147-A177-3AD203B41FA5}">
                      <a16:colId xmlns:a16="http://schemas.microsoft.com/office/drawing/2014/main" val="4057965482"/>
                    </a:ext>
                  </a:extLst>
                </a:gridCol>
              </a:tblGrid>
              <a:tr h="471408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비고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91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</a:t>
                      </a:r>
                      <a:endParaRPr lang="en-US" altLang="ko-K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도메인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프레임워크 리포지토리를 공유하는 업무</a:t>
                      </a:r>
                      <a:r>
                        <a:rPr lang="ko-KR" altLang="en-US" sz="1000" baseline="0" dirty="0"/>
                        <a:t> 도메인의 단위</a:t>
                      </a:r>
                      <a:r>
                        <a:rPr lang="en-US" altLang="ko-KR" sz="1000" baseline="0" dirty="0"/>
                        <a:t>.</a:t>
                      </a: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프레임워크 </a:t>
                      </a:r>
                      <a:r>
                        <a:rPr lang="ko-KR" altLang="en-US" sz="1000" dirty="0" err="1"/>
                        <a:t>리포지토리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DB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를 공유할 수 없는 경우 동일 도메인으로 묶을 수 없음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프레임워크 </a:t>
                      </a:r>
                      <a:r>
                        <a:rPr lang="ko-KR" altLang="en-US" sz="1000" dirty="0" err="1"/>
                        <a:t>도메인별로</a:t>
                      </a:r>
                      <a:r>
                        <a:rPr lang="ko-KR" altLang="en-US" sz="1000" dirty="0"/>
                        <a:t> 개발 환경을 공유함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/>
                        <a:t>금융복합</a:t>
                      </a:r>
                      <a:r>
                        <a:rPr lang="ko-KR" altLang="en-US" sz="1000" dirty="0"/>
                        <a:t> 플랫폼 도메인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ko-KR" altLang="en-US" sz="1000" dirty="0"/>
                        <a:t>마케팅 플랫폼 도메인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ko-KR" altLang="en-US" sz="1000" dirty="0"/>
                        <a:t>상품서비스계 도메인</a:t>
                      </a:r>
                      <a:r>
                        <a:rPr lang="en-US" altLang="ko-KR" sz="1000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000" dirty="0" err="1"/>
                        <a:t>이미지콜드</a:t>
                      </a:r>
                      <a:r>
                        <a:rPr lang="ko-KR" altLang="en-US" sz="1000" dirty="0"/>
                        <a:t> 도메인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ko-KR" altLang="en-US" sz="1000" dirty="0"/>
                        <a:t>콜센터 도메인</a:t>
                      </a:r>
                      <a:r>
                        <a:rPr lang="en-US" altLang="ko-KR" sz="1000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000" dirty="0"/>
                        <a:t>글로벌 플랫폼 도메인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9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런타임 노드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프레임워크 런타임의 </a:t>
                      </a:r>
                      <a:r>
                        <a:rPr lang="ko-KR" altLang="en-US" sz="1000" dirty="0" err="1"/>
                        <a:t>최소단위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000" u="sng" dirty="0"/>
                        <a:t>하나의 </a:t>
                      </a:r>
                      <a:r>
                        <a:rPr lang="en-US" altLang="ko-KR" sz="1000" u="sng" dirty="0"/>
                        <a:t>WAS </a:t>
                      </a:r>
                      <a:r>
                        <a:rPr lang="ko-KR" altLang="en-US" sz="1000" u="sng" dirty="0"/>
                        <a:t>인스턴스가 하나의 런타임 노드임</a:t>
                      </a:r>
                      <a:endParaRPr lang="en-US" altLang="ko-KR" sz="1000" u="sng" dirty="0"/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하나의 서버에 멀티</a:t>
                      </a:r>
                      <a:r>
                        <a:rPr lang="en-US" altLang="ko-KR" sz="1000" baseline="0" dirty="0"/>
                        <a:t> WAS </a:t>
                      </a:r>
                      <a:r>
                        <a:rPr lang="ko-KR" altLang="en-US" sz="1000" baseline="0" dirty="0"/>
                        <a:t>구성 가능</a:t>
                      </a:r>
                      <a:endParaRPr lang="en-US" altLang="ko-KR" sz="1000" dirty="0"/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en-US" altLang="ko-KR" sz="1000" dirty="0"/>
                        <a:t>JVM </a:t>
                      </a:r>
                      <a:r>
                        <a:rPr lang="ko-KR" altLang="en-US" sz="1000" dirty="0"/>
                        <a:t>환경 변수에 </a:t>
                      </a:r>
                      <a:r>
                        <a:rPr lang="en-US" altLang="ko-KR" sz="1000" dirty="0"/>
                        <a:t>-DNEXCORE_ID=&lt;id&gt; </a:t>
                      </a:r>
                      <a:r>
                        <a:rPr lang="ko-KR" altLang="en-US" sz="1000" dirty="0"/>
                        <a:t>로 설정</a:t>
                      </a:r>
                      <a:endParaRPr lang="en-US" altLang="ko-KR" sz="1000" dirty="0"/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en-US" altLang="ko-KR" sz="1000" dirty="0"/>
                        <a:t>NEXCORE_ID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미설정시에는 </a:t>
                      </a:r>
                      <a:r>
                        <a:rPr lang="en-US" altLang="ko-KR" sz="1000" baseline="0" dirty="0"/>
                        <a:t>&lt;hostname&gt;_&lt;</a:t>
                      </a:r>
                      <a:r>
                        <a:rPr lang="en-US" altLang="ko-KR" sz="1000" baseline="0" dirty="0" err="1"/>
                        <a:t>jvmpid</a:t>
                      </a:r>
                      <a:r>
                        <a:rPr lang="en-US" altLang="ko-KR" sz="1000" baseline="0" dirty="0"/>
                        <a:t>&gt; </a:t>
                      </a:r>
                      <a:r>
                        <a:rPr lang="ko-KR" altLang="en-US" sz="1000" baseline="0" dirty="0"/>
                        <a:t>로 </a:t>
                      </a:r>
                      <a:r>
                        <a:rPr lang="en-US" altLang="ko-KR" sz="1000" baseline="0" dirty="0"/>
                        <a:t>start </a:t>
                      </a:r>
                      <a:r>
                        <a:rPr lang="ko-KR" altLang="en-US" sz="1000" baseline="0" dirty="0"/>
                        <a:t>시마다 </a:t>
                      </a:r>
                      <a:r>
                        <a:rPr lang="en-US" altLang="ko-KR" sz="1000" baseline="0" dirty="0"/>
                        <a:t>ID </a:t>
                      </a:r>
                      <a:r>
                        <a:rPr lang="ko-KR" altLang="en-US" sz="1000" baseline="0" dirty="0"/>
                        <a:t>부여됨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PaaS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환경의 경우 </a:t>
                      </a:r>
                      <a:endParaRPr lang="en-US" altLang="ko-KR" sz="1000" baseline="0" dirty="0"/>
                    </a:p>
                    <a:p>
                      <a:pPr algn="l" latinLnBrk="1"/>
                      <a:r>
                        <a:rPr lang="ko-KR" altLang="en-US" sz="1000" baseline="0" dirty="0"/>
                        <a:t>컨테이너 내에 하나의 </a:t>
                      </a:r>
                      <a:r>
                        <a:rPr lang="en-US" altLang="ko-KR" sz="1000" baseline="0" dirty="0"/>
                        <a:t>JVM WAS </a:t>
                      </a:r>
                      <a:r>
                        <a:rPr lang="ko-KR" altLang="en-US" sz="1000" baseline="0" dirty="0"/>
                        <a:t>실행되고</a:t>
                      </a:r>
                      <a:endParaRPr lang="en-US" altLang="ko-KR" sz="1000" baseline="0" dirty="0"/>
                    </a:p>
                    <a:p>
                      <a:pPr algn="l" latinLnBrk="1"/>
                      <a:r>
                        <a:rPr lang="ko-KR" altLang="en-US" sz="1000" baseline="0" dirty="0"/>
                        <a:t>컨테이너마다 </a:t>
                      </a:r>
                      <a:r>
                        <a:rPr lang="en-US" altLang="ko-KR" sz="1000" baseline="0" dirty="0"/>
                        <a:t>unique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hostname </a:t>
                      </a:r>
                      <a:r>
                        <a:rPr lang="ko-KR" altLang="en-US" sz="1000" baseline="0" dirty="0"/>
                        <a:t>부여됨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94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서비스 그룹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도메인 내의 </a:t>
                      </a:r>
                      <a:r>
                        <a:rPr lang="ko-KR" altLang="en-US" sz="1000" u="sng" dirty="0"/>
                        <a:t>어플리케이션 로딩</a:t>
                      </a:r>
                      <a:r>
                        <a:rPr lang="ko-KR" altLang="en-US" sz="1000" u="sng" baseline="0" dirty="0"/>
                        <a:t>과</a:t>
                      </a:r>
                      <a:r>
                        <a:rPr lang="en-US" altLang="ko-KR" sz="1000" u="sng" baseline="0" dirty="0"/>
                        <a:t> </a:t>
                      </a:r>
                      <a:r>
                        <a:rPr lang="ko-KR" altLang="en-US" sz="1000" u="sng" baseline="0" dirty="0"/>
                        <a:t>서비스의 논리 단위</a:t>
                      </a:r>
                      <a:r>
                        <a:rPr lang="en-US" altLang="ko-KR" sz="1000" baseline="0" dirty="0"/>
                        <a:t>.</a:t>
                      </a: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단일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서비스 그룹의 경우 </a:t>
                      </a:r>
                      <a:r>
                        <a:rPr lang="en-US" altLang="ko-KR" sz="1000" dirty="0"/>
                        <a:t>application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디렉토리에 배포되는 모든 </a:t>
                      </a:r>
                      <a:r>
                        <a:rPr lang="en-US" altLang="ko-KR" sz="1000" baseline="0" dirty="0"/>
                        <a:t>component jar </a:t>
                      </a:r>
                      <a:r>
                        <a:rPr lang="ko-KR" altLang="en-US" sz="1000" baseline="0" dirty="0"/>
                        <a:t>파일 로딩되고 서비스됨</a:t>
                      </a:r>
                      <a:endParaRPr lang="en-US" altLang="ko-KR" sz="1000" baseline="0" dirty="0"/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멀티 서비스 그룹의 경우 각 서비스 그룹별로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component 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명 등록 설정함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논리적인 단위이며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하나의 물리 서버에 여러 개의 서비스 그룹 설정 가능하며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여러 물리 서버를 하나의 서비스 그룹으로 설정도 가능함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Component jar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명은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altLang="ko-KR" sz="1000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.*\.</a:t>
                      </a:r>
                      <a:r>
                        <a:rPr lang="en-US" altLang="ko-KR" sz="1000" u="sng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appcode</a:t>
                      </a:r>
                      <a:r>
                        <a:rPr lang="en-US" altLang="ko-KR" sz="1000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\..*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행태의 정규표현식으로 정의함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1" name="직사각형 180"/>
          <p:cNvSpPr/>
          <p:nvPr/>
        </p:nvSpPr>
        <p:spPr>
          <a:xfrm>
            <a:off x="1276629" y="1914633"/>
            <a:ext cx="1376079" cy="5444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프레임워크 도메인</a:t>
            </a:r>
          </a:p>
        </p:txBody>
      </p:sp>
      <p:sp>
        <p:nvSpPr>
          <p:cNvPr id="182" name="직사각형 181"/>
          <p:cNvSpPr/>
          <p:nvPr/>
        </p:nvSpPr>
        <p:spPr>
          <a:xfrm>
            <a:off x="2284741" y="3148082"/>
            <a:ext cx="1376079" cy="5444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런타임 노드</a:t>
            </a:r>
          </a:p>
        </p:txBody>
      </p:sp>
      <p:sp>
        <p:nvSpPr>
          <p:cNvPr id="183" name="직사각형 182"/>
          <p:cNvSpPr/>
          <p:nvPr/>
        </p:nvSpPr>
        <p:spPr>
          <a:xfrm>
            <a:off x="1276629" y="4254893"/>
            <a:ext cx="1376079" cy="5444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>
                <a:solidFill>
                  <a:schemeClr val="tx1"/>
                </a:solidFill>
                <a:cs typeface="Arial" pitchFamily="34" charset="0"/>
              </a:rPr>
              <a:t>서비스 그룹</a:t>
            </a: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85" name="직선 연결선 184"/>
          <p:cNvCxnSpPr>
            <a:stCxn id="181" idx="3"/>
            <a:endCxn id="182" idx="0"/>
          </p:cNvCxnSpPr>
          <p:nvPr/>
        </p:nvCxnSpPr>
        <p:spPr>
          <a:xfrm>
            <a:off x="2652708" y="2186862"/>
            <a:ext cx="320073" cy="961220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4"/>
          <p:cNvCxnSpPr>
            <a:stCxn id="183" idx="3"/>
            <a:endCxn id="182" idx="2"/>
          </p:cNvCxnSpPr>
          <p:nvPr/>
        </p:nvCxnSpPr>
        <p:spPr>
          <a:xfrm flipV="1">
            <a:off x="2652708" y="3692540"/>
            <a:ext cx="320073" cy="834582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/>
          <p:cNvSpPr/>
          <p:nvPr/>
        </p:nvSpPr>
        <p:spPr>
          <a:xfrm>
            <a:off x="381884" y="3148082"/>
            <a:ext cx="1376079" cy="5444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서버</a:t>
            </a:r>
          </a:p>
        </p:txBody>
      </p:sp>
      <p:cxnSp>
        <p:nvCxnSpPr>
          <p:cNvPr id="190" name="직선 연결선 184"/>
          <p:cNvCxnSpPr>
            <a:stCxn id="181" idx="1"/>
            <a:endCxn id="189" idx="0"/>
          </p:cNvCxnSpPr>
          <p:nvPr/>
        </p:nvCxnSpPr>
        <p:spPr>
          <a:xfrm rot="10800000" flipV="1">
            <a:off x="1069925" y="2186862"/>
            <a:ext cx="206705" cy="961220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84"/>
          <p:cNvCxnSpPr>
            <a:stCxn id="183" idx="1"/>
            <a:endCxn id="189" idx="2"/>
          </p:cNvCxnSpPr>
          <p:nvPr/>
        </p:nvCxnSpPr>
        <p:spPr>
          <a:xfrm rot="10800000">
            <a:off x="1069925" y="3692540"/>
            <a:ext cx="206705" cy="834582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그룹 200"/>
          <p:cNvGrpSpPr/>
          <p:nvPr/>
        </p:nvGrpSpPr>
        <p:grpSpPr>
          <a:xfrm>
            <a:off x="2848512" y="3036512"/>
            <a:ext cx="247706" cy="72009"/>
            <a:chOff x="2848512" y="3036512"/>
            <a:chExt cx="247706" cy="72009"/>
          </a:xfrm>
        </p:grpSpPr>
        <p:cxnSp>
          <p:nvCxnSpPr>
            <p:cNvPr id="197" name="직선 연결선 196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그룹 201"/>
          <p:cNvGrpSpPr/>
          <p:nvPr/>
        </p:nvGrpSpPr>
        <p:grpSpPr>
          <a:xfrm>
            <a:off x="946072" y="3036512"/>
            <a:ext cx="247706" cy="72009"/>
            <a:chOff x="2848512" y="3036512"/>
            <a:chExt cx="247706" cy="72009"/>
          </a:xfrm>
        </p:grpSpPr>
        <p:cxnSp>
          <p:nvCxnSpPr>
            <p:cNvPr id="203" name="직선 연결선 202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그룹 204"/>
          <p:cNvGrpSpPr/>
          <p:nvPr/>
        </p:nvGrpSpPr>
        <p:grpSpPr>
          <a:xfrm rot="10800000">
            <a:off x="946072" y="3727992"/>
            <a:ext cx="247706" cy="72009"/>
            <a:chOff x="2848512" y="3036512"/>
            <a:chExt cx="247706" cy="72009"/>
          </a:xfrm>
        </p:grpSpPr>
        <p:cxnSp>
          <p:nvCxnSpPr>
            <p:cNvPr id="206" name="직선 연결선 205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그룹 207"/>
          <p:cNvGrpSpPr/>
          <p:nvPr/>
        </p:nvGrpSpPr>
        <p:grpSpPr>
          <a:xfrm rot="16200000">
            <a:off x="1077803" y="4491118"/>
            <a:ext cx="247706" cy="72009"/>
            <a:chOff x="2848512" y="3036512"/>
            <a:chExt cx="247706" cy="72009"/>
          </a:xfrm>
        </p:grpSpPr>
        <p:cxnSp>
          <p:nvCxnSpPr>
            <p:cNvPr id="209" name="직선 연결선 208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그룹 210"/>
          <p:cNvGrpSpPr/>
          <p:nvPr/>
        </p:nvGrpSpPr>
        <p:grpSpPr>
          <a:xfrm rot="10800000">
            <a:off x="2848927" y="3727991"/>
            <a:ext cx="247706" cy="72009"/>
            <a:chOff x="2848512" y="3036512"/>
            <a:chExt cx="247706" cy="72009"/>
          </a:xfrm>
        </p:grpSpPr>
        <p:cxnSp>
          <p:nvCxnSpPr>
            <p:cNvPr id="212" name="직선 연결선 211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4" name="직선 연결선 184"/>
          <p:cNvCxnSpPr>
            <a:stCxn id="181" idx="2"/>
            <a:endCxn id="183" idx="0"/>
          </p:cNvCxnSpPr>
          <p:nvPr/>
        </p:nvCxnSpPr>
        <p:spPr>
          <a:xfrm>
            <a:off x="1964669" y="2459091"/>
            <a:ext cx="0" cy="179580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그룹 216"/>
          <p:cNvGrpSpPr/>
          <p:nvPr/>
        </p:nvGrpSpPr>
        <p:grpSpPr>
          <a:xfrm>
            <a:off x="1843625" y="4155700"/>
            <a:ext cx="247706" cy="72009"/>
            <a:chOff x="2848512" y="3036512"/>
            <a:chExt cx="247706" cy="72009"/>
          </a:xfrm>
        </p:grpSpPr>
        <p:cxnSp>
          <p:nvCxnSpPr>
            <p:cNvPr id="218" name="직선 연결선 217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4" name="직선 연결선 223"/>
          <p:cNvCxnSpPr>
            <a:stCxn id="189" idx="3"/>
            <a:endCxn id="182" idx="1"/>
          </p:cNvCxnSpPr>
          <p:nvPr/>
        </p:nvCxnSpPr>
        <p:spPr>
          <a:xfrm>
            <a:off x="1757963" y="3420311"/>
            <a:ext cx="526778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그룹 224"/>
          <p:cNvGrpSpPr/>
          <p:nvPr/>
        </p:nvGrpSpPr>
        <p:grpSpPr>
          <a:xfrm rot="16200000">
            <a:off x="2097317" y="3387320"/>
            <a:ext cx="247706" cy="72009"/>
            <a:chOff x="2848512" y="3036512"/>
            <a:chExt cx="247706" cy="72009"/>
          </a:xfrm>
        </p:grpSpPr>
        <p:cxnSp>
          <p:nvCxnSpPr>
            <p:cNvPr id="226" name="직선 연결선 225"/>
            <p:cNvCxnSpPr/>
            <p:nvPr/>
          </p:nvCxnSpPr>
          <p:spPr>
            <a:xfrm rot="14400000">
              <a:off x="2888072" y="2996952"/>
              <a:ext cx="72009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 rot="7200000" flipV="1">
              <a:off x="2984649" y="2996952"/>
              <a:ext cx="72007" cy="151130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WAS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구성 방안</a:t>
            </a:r>
          </a:p>
        </p:txBody>
      </p:sp>
    </p:spTree>
    <p:extLst>
      <p:ext uri="{BB962C8B-B14F-4D97-AF65-F5344CB8AC3E}">
        <p14:creationId xmlns:p14="http://schemas.microsoft.com/office/powerpoint/2010/main" val="31704268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/>
          <p:cNvSpPr/>
          <p:nvPr/>
        </p:nvSpPr>
        <p:spPr>
          <a:xfrm>
            <a:off x="398005" y="1808819"/>
            <a:ext cx="3459913" cy="2739383"/>
          </a:xfrm>
          <a:prstGeom prst="roundRect">
            <a:avLst>
              <a:gd name="adj" fmla="val 4360"/>
            </a:avLst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4" name="직사각형 103"/>
          <p:cNvSpPr/>
          <p:nvPr/>
        </p:nvSpPr>
        <p:spPr>
          <a:xfrm rot="5400000">
            <a:off x="135501" y="2421747"/>
            <a:ext cx="2268252" cy="152076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5" name="직사각형 104"/>
          <p:cNvSpPr/>
          <p:nvPr/>
        </p:nvSpPr>
        <p:spPr>
          <a:xfrm rot="5400000">
            <a:off x="1807296" y="2429417"/>
            <a:ext cx="2261509" cy="15121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6" name="꺾인 연결선 65"/>
          <p:cNvCxnSpPr/>
          <p:nvPr/>
        </p:nvCxnSpPr>
        <p:spPr>
          <a:xfrm rot="16200000" flipV="1">
            <a:off x="1914289" y="5685289"/>
            <a:ext cx="597529" cy="9834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7"/>
          <p:cNvSpPr/>
          <p:nvPr/>
        </p:nvSpPr>
        <p:spPr>
          <a:xfrm rot="16200000">
            <a:off x="1628178" y="1239739"/>
            <a:ext cx="935013" cy="3069158"/>
          </a:xfrm>
          <a:prstGeom prst="roundRect">
            <a:avLst>
              <a:gd name="adj" fmla="val 9092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61708" y="3292977"/>
            <a:ext cx="3068555" cy="892108"/>
          </a:xfrm>
          <a:prstGeom prst="roundRect">
            <a:avLst>
              <a:gd name="adj" fmla="val 9092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멀티 서비스 그룹 구성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도메인 별로 프레임워크 리포지토리를 공유하고</a:t>
            </a:r>
            <a:r>
              <a:rPr lang="en-US" altLang="ko-KR" dirty="0"/>
              <a:t>, </a:t>
            </a:r>
            <a:r>
              <a:rPr lang="ko-KR" altLang="en-US" dirty="0"/>
              <a:t>도메인 내에 다수의 서비스 그룹 구성 가능</a:t>
            </a:r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673743" y="2511846"/>
            <a:ext cx="1192076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4" name="직사각형 3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Applications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2322039" y="2511846"/>
            <a:ext cx="1192076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3" name="직사각형 22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Applications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30" name="순서도: 자기 디스크 29"/>
          <p:cNvSpPr/>
          <p:nvPr/>
        </p:nvSpPr>
        <p:spPr>
          <a:xfrm>
            <a:off x="1533895" y="4728221"/>
            <a:ext cx="1044116" cy="663219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 DB</a:t>
            </a:r>
          </a:p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어플리케이션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269628" y="5596163"/>
            <a:ext cx="1598234" cy="2659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관리콘솔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263712" y="5988970"/>
            <a:ext cx="1604150" cy="2659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IDE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서버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200" y="2320686"/>
            <a:ext cx="2168700" cy="16381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서비스 그룹</a:t>
            </a:r>
            <a:r>
              <a:rPr lang="en-US" altLang="ko-KR" sz="1000" b="1" dirty="0">
                <a:cs typeface="Arial" pitchFamily="34" charset="0"/>
              </a:rPr>
              <a:t>1</a:t>
            </a:r>
            <a:r>
              <a:rPr lang="ko-KR" altLang="en-US" sz="1000" b="1" dirty="0">
                <a:cs typeface="Arial" pitchFamily="34" charset="0"/>
              </a:rPr>
              <a:t> </a:t>
            </a:r>
            <a:r>
              <a:rPr lang="en-US" altLang="ko-KR" sz="1000" dirty="0">
                <a:cs typeface="Arial" pitchFamily="34" charset="0"/>
              </a:rPr>
              <a:t>(</a:t>
            </a:r>
            <a:r>
              <a:rPr lang="en-US" altLang="ko-KR" sz="1000" dirty="0" err="1">
                <a:cs typeface="Arial" pitchFamily="34" charset="0"/>
              </a:rPr>
              <a:t>AppCode</a:t>
            </a:r>
            <a:r>
              <a:rPr lang="en-US" altLang="ko-KR" sz="1000" dirty="0">
                <a:cs typeface="Arial" pitchFamily="34" charset="0"/>
              </a:rPr>
              <a:t> : </a:t>
            </a:r>
            <a:r>
              <a:rPr lang="en-US" altLang="ko-KR" sz="1000" b="1" dirty="0">
                <a:solidFill>
                  <a:srgbClr val="0000FF"/>
                </a:solidFill>
                <a:cs typeface="Arial" pitchFamily="34" charset="0"/>
              </a:rPr>
              <a:t>AAA, BBB</a:t>
            </a:r>
            <a:r>
              <a:rPr lang="en-US" altLang="ko-KR" sz="1000" dirty="0">
                <a:cs typeface="Arial" pitchFamily="34" charset="0"/>
              </a:rPr>
              <a:t>)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7525" y="3320987"/>
            <a:ext cx="2162155" cy="1894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서비스 그룹</a:t>
            </a:r>
            <a:r>
              <a:rPr lang="en-US" altLang="ko-KR" sz="1000" b="1" dirty="0">
                <a:cs typeface="Arial" pitchFamily="34" charset="0"/>
              </a:rPr>
              <a:t>2</a:t>
            </a:r>
            <a:r>
              <a:rPr lang="ko-KR" altLang="en-US" sz="1000" b="1" dirty="0">
                <a:cs typeface="Arial" pitchFamily="34" charset="0"/>
              </a:rPr>
              <a:t> </a:t>
            </a:r>
            <a:r>
              <a:rPr lang="en-US" altLang="ko-KR" sz="1000" dirty="0">
                <a:cs typeface="Arial" pitchFamily="34" charset="0"/>
              </a:rPr>
              <a:t>(</a:t>
            </a:r>
            <a:r>
              <a:rPr lang="en-US" altLang="ko-KR" sz="1000" dirty="0" err="1">
                <a:cs typeface="Arial" pitchFamily="34" charset="0"/>
              </a:rPr>
              <a:t>AppCode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en-US" altLang="ko-KR" sz="1000">
                <a:cs typeface="Arial" pitchFamily="34" charset="0"/>
              </a:rPr>
              <a:t>: </a:t>
            </a:r>
            <a:r>
              <a:rPr lang="en-US" altLang="ko-KR" sz="1000" b="1">
                <a:solidFill>
                  <a:srgbClr val="0000FF"/>
                </a:solidFill>
                <a:cs typeface="Arial" pitchFamily="34" charset="0"/>
              </a:rPr>
              <a:t>AAA , </a:t>
            </a:r>
            <a:r>
              <a:rPr lang="en-US" altLang="ko-KR" sz="1000" b="1">
                <a:solidFill>
                  <a:srgbClr val="C00000"/>
                </a:solidFill>
                <a:cs typeface="Arial" pitchFamily="34" charset="0"/>
              </a:rPr>
              <a:t>CCC</a:t>
            </a:r>
            <a:r>
              <a:rPr lang="en-US" altLang="ko-KR" sz="1000" b="1">
                <a:cs typeface="Arial" pitchFamily="34" charset="0"/>
              </a:rPr>
              <a:t>)</a:t>
            </a:r>
            <a:endParaRPr lang="ko-KR" altLang="en-US" sz="1000" dirty="0">
              <a:cs typeface="Arial" pitchFamily="34" charset="0"/>
            </a:endParaRPr>
          </a:p>
        </p:txBody>
      </p:sp>
      <p:cxnSp>
        <p:nvCxnSpPr>
          <p:cNvPr id="43" name="꺾인 연결선 42"/>
          <p:cNvCxnSpPr>
            <a:stCxn id="20" idx="2"/>
            <a:endCxn id="30" idx="2"/>
          </p:cNvCxnSpPr>
          <p:nvPr/>
        </p:nvCxnSpPr>
        <p:spPr>
          <a:xfrm rot="16200000" flipH="1">
            <a:off x="931522" y="4457458"/>
            <a:ext cx="936688" cy="268058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endCxn id="30" idx="2"/>
          </p:cNvCxnSpPr>
          <p:nvPr/>
        </p:nvCxnSpPr>
        <p:spPr>
          <a:xfrm rot="16200000" flipH="1">
            <a:off x="350724" y="3812226"/>
            <a:ext cx="1892374" cy="47396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669799" y="3530025"/>
            <a:ext cx="1192076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9" name="직사각형 18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Applications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51" name="꺾인 연결선 50"/>
          <p:cNvCxnSpPr>
            <a:stCxn id="28" idx="2"/>
            <a:endCxn id="30" idx="4"/>
          </p:cNvCxnSpPr>
          <p:nvPr/>
        </p:nvCxnSpPr>
        <p:spPr>
          <a:xfrm rot="5400000">
            <a:off x="2276625" y="4418378"/>
            <a:ext cx="942839" cy="340066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endCxn id="30" idx="4"/>
          </p:cNvCxnSpPr>
          <p:nvPr/>
        </p:nvCxnSpPr>
        <p:spPr>
          <a:xfrm rot="5400000">
            <a:off x="1921290" y="3759745"/>
            <a:ext cx="1892374" cy="57893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/>
          <p:cNvGrpSpPr/>
          <p:nvPr/>
        </p:nvGrpSpPr>
        <p:grpSpPr>
          <a:xfrm>
            <a:off x="2322039" y="3523874"/>
            <a:ext cx="1192076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7" name="직사각형 26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Applications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57" name="꺾인 연결선 56"/>
          <p:cNvCxnSpPr/>
          <p:nvPr/>
        </p:nvCxnSpPr>
        <p:spPr>
          <a:xfrm flipV="1">
            <a:off x="1814578" y="5389823"/>
            <a:ext cx="0" cy="20634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80492" y="1536703"/>
            <a:ext cx="3536444" cy="27956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프레임워크 도메인 </a:t>
            </a:r>
            <a:r>
              <a:rPr lang="en-US" altLang="ko-KR" sz="1000" dirty="0">
                <a:cs typeface="Arial" pitchFamily="34" charset="0"/>
              </a:rPr>
              <a:t>(</a:t>
            </a:r>
            <a:r>
              <a:rPr lang="ko-KR" altLang="en-US" sz="1000" dirty="0" err="1">
                <a:cs typeface="Arial" pitchFamily="34" charset="0"/>
              </a:rPr>
              <a:t>금융복합</a:t>
            </a:r>
            <a:r>
              <a:rPr lang="ko-KR" altLang="en-US" sz="1000" dirty="0">
                <a:cs typeface="Arial" pitchFamily="34" charset="0"/>
              </a:rPr>
              <a:t> 플랫폼 등</a:t>
            </a:r>
            <a:r>
              <a:rPr lang="en-US" altLang="ko-KR" sz="1000" dirty="0">
                <a:cs typeface="Arial" pitchFamily="34" charset="0"/>
              </a:rPr>
              <a:t>. </a:t>
            </a:r>
            <a:r>
              <a:rPr lang="ko-KR" altLang="en-US" sz="1000" dirty="0">
                <a:cs typeface="Arial" pitchFamily="34" charset="0"/>
              </a:rPr>
              <a:t>멀티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서비스 그룹 구성 예</a:t>
            </a:r>
            <a:r>
              <a:rPr lang="en-US" altLang="ko-KR" sz="1000" dirty="0">
                <a:cs typeface="Arial" pitchFamily="34" charset="0"/>
              </a:rPr>
              <a:t>)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21827" y="2078850"/>
            <a:ext cx="752140" cy="1080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AP </a:t>
            </a:r>
            <a:r>
              <a:rPr lang="ko-KR" altLang="en-US" sz="900" dirty="0">
                <a:cs typeface="Arial" pitchFamily="34" charset="0"/>
              </a:rPr>
              <a:t>서버 </a:t>
            </a:r>
            <a:r>
              <a:rPr lang="en-US" altLang="ko-KR" sz="900" dirty="0">
                <a:cs typeface="Arial" pitchFamily="34" charset="0"/>
              </a:rPr>
              <a:t>#1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45951" y="2078850"/>
            <a:ext cx="752140" cy="1080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AP </a:t>
            </a:r>
            <a:r>
              <a:rPr lang="ko-KR" altLang="en-US" sz="900" dirty="0">
                <a:cs typeface="Arial" pitchFamily="34" charset="0"/>
              </a:rPr>
              <a:t>서버 </a:t>
            </a:r>
            <a:r>
              <a:rPr lang="en-US" altLang="ko-KR" sz="900" dirty="0">
                <a:cs typeface="Arial" pitchFamily="34" charset="0"/>
              </a:rPr>
              <a:t>#2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734891" y="1953344"/>
            <a:ext cx="1474741" cy="1887046"/>
          </a:xfrm>
          <a:prstGeom prst="rect">
            <a:avLst/>
          </a:prstGeom>
          <a:noFill/>
          <a:ln w="6350" cap="flat">
            <a:solidFill>
              <a:schemeClr val="accent5">
                <a:lumMod val="60000"/>
                <a:lumOff val="40000"/>
              </a:schemeClr>
            </a:solidFill>
            <a:miter lim="800000"/>
          </a:ln>
        </p:spPr>
        <p:txBody>
          <a:bodyPr wrap="square" lIns="72000" tIns="36000" rIns="72000" bIns="36000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 dirty="0">
                <a:cs typeface="Arial" pitchFamily="34" charset="0"/>
              </a:rPr>
              <a:t>단일 서비스 그룹</a:t>
            </a:r>
            <a:endParaRPr lang="en-US" altLang="ko-KR" sz="1100" b="1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u="sng" dirty="0">
                <a:cs typeface="Arial" pitchFamily="34" charset="0"/>
              </a:rPr>
              <a:t>모든 </a:t>
            </a:r>
            <a:r>
              <a:rPr lang="en-US" altLang="ko-KR" sz="1000" u="sng" dirty="0">
                <a:cs typeface="Arial" pitchFamily="34" charset="0"/>
              </a:rPr>
              <a:t>WAS </a:t>
            </a:r>
            <a:r>
              <a:rPr lang="ko-KR" altLang="en-US" sz="1000" u="sng" dirty="0">
                <a:cs typeface="Arial" pitchFamily="34" charset="0"/>
              </a:rPr>
              <a:t>에 동일</a:t>
            </a:r>
            <a:r>
              <a:rPr lang="en-US" altLang="ko-KR" sz="1000" u="sng" dirty="0">
                <a:cs typeface="Arial" pitchFamily="34" charset="0"/>
              </a:rPr>
              <a:t> </a:t>
            </a:r>
            <a:r>
              <a:rPr lang="ko-KR" altLang="en-US" sz="1000" u="sng" dirty="0">
                <a:cs typeface="Arial" pitchFamily="34" charset="0"/>
              </a:rPr>
              <a:t>어플리케이션 로딩되고 서비스 됨</a:t>
            </a:r>
            <a:endParaRPr lang="en-US" altLang="ko-KR" sz="1000" u="sng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모든 </a:t>
            </a:r>
            <a:r>
              <a:rPr lang="en-US" altLang="ko-KR" sz="1000" dirty="0">
                <a:cs typeface="Arial" pitchFamily="34" charset="0"/>
              </a:rPr>
              <a:t>App </a:t>
            </a:r>
            <a:r>
              <a:rPr lang="ko-KR" altLang="en-US" sz="1000" dirty="0">
                <a:cs typeface="Arial" pitchFamily="34" charset="0"/>
              </a:rPr>
              <a:t>들이 동일하게 로딩되므로 원격 호출 필요 없음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cs typeface="Arial" pitchFamily="34" charset="0"/>
              </a:rPr>
              <a:t>금융복합 플랫폼 이외의 업무들은 모두 단일 서비스 그룹</a:t>
            </a:r>
            <a:endParaRPr lang="en-US" altLang="ko-KR" sz="1000" dirty="0">
              <a:cs typeface="Arial" pitchFamily="34" charset="0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5570660" y="1808819"/>
            <a:ext cx="2003835" cy="2739383"/>
          </a:xfrm>
          <a:prstGeom prst="roundRect">
            <a:avLst>
              <a:gd name="adj" fmla="val 4360"/>
            </a:avLst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>
          <a:xfrm rot="5400000">
            <a:off x="5396402" y="2362586"/>
            <a:ext cx="2268252" cy="152076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9" name="직사각형 118"/>
          <p:cNvSpPr/>
          <p:nvPr/>
        </p:nvSpPr>
        <p:spPr>
          <a:xfrm rot="5400000">
            <a:off x="5512238" y="2577265"/>
            <a:ext cx="2256114" cy="15121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0" name="꺾인 연결선 119"/>
          <p:cNvCxnSpPr/>
          <p:nvPr/>
        </p:nvCxnSpPr>
        <p:spPr>
          <a:xfrm rot="5400000" flipH="1" flipV="1">
            <a:off x="6530569" y="5719776"/>
            <a:ext cx="538391" cy="12704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모서리가 둥근 직사각형 120"/>
          <p:cNvSpPr/>
          <p:nvPr/>
        </p:nvSpPr>
        <p:spPr>
          <a:xfrm rot="16200000">
            <a:off x="5790005" y="2684181"/>
            <a:ext cx="1700581" cy="1301226"/>
          </a:xfrm>
          <a:prstGeom prst="roundRect">
            <a:avLst>
              <a:gd name="adj" fmla="val 9092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6057747" y="2727870"/>
            <a:ext cx="1192076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24" name="직사각형 123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Applications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131" name="순서도: 자기 디스크 130"/>
          <p:cNvSpPr/>
          <p:nvPr/>
        </p:nvSpPr>
        <p:spPr>
          <a:xfrm>
            <a:off x="6118237" y="4774633"/>
            <a:ext cx="1044116" cy="694673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프레임워크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 DB</a:t>
            </a:r>
          </a:p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어플리케이션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5998908" y="5596163"/>
            <a:ext cx="1322923" cy="2659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관리콘솔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5993502" y="5988970"/>
            <a:ext cx="1327819" cy="2659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IDE 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서버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93382" y="2501121"/>
            <a:ext cx="870379" cy="19955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서비스 그룹</a:t>
            </a:r>
            <a:endParaRPr lang="ko-KR" altLang="en-US" sz="1000" dirty="0">
              <a:cs typeface="Arial" pitchFamily="34" charset="0"/>
            </a:endParaRPr>
          </a:p>
        </p:txBody>
      </p:sp>
      <p:cxnSp>
        <p:nvCxnSpPr>
          <p:cNvPr id="136" name="꺾인 연결선 135"/>
          <p:cNvCxnSpPr>
            <a:stCxn id="140" idx="2"/>
          </p:cNvCxnSpPr>
          <p:nvPr/>
        </p:nvCxnSpPr>
        <p:spPr>
          <a:xfrm rot="16200000" flipH="1">
            <a:off x="6369648" y="4338315"/>
            <a:ext cx="682495" cy="12210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/>
          <p:nvPr/>
        </p:nvCxnSpPr>
        <p:spPr>
          <a:xfrm rot="5400000">
            <a:off x="5586710" y="4050013"/>
            <a:ext cx="1449239" cy="1270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그룹 137"/>
          <p:cNvGrpSpPr/>
          <p:nvPr/>
        </p:nvGrpSpPr>
        <p:grpSpPr>
          <a:xfrm>
            <a:off x="6053803" y="3465004"/>
            <a:ext cx="1192076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39" name="직사각형 138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Applications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148" name="꺾인 연결선 147"/>
          <p:cNvCxnSpPr/>
          <p:nvPr/>
        </p:nvCxnSpPr>
        <p:spPr>
          <a:xfrm flipV="1">
            <a:off x="6420858" y="5430374"/>
            <a:ext cx="1" cy="16579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5351428" y="1536703"/>
            <a:ext cx="2697916" cy="27956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프레임워크 도메인 </a:t>
            </a:r>
            <a:r>
              <a:rPr lang="en-US" altLang="ko-KR" sz="1000" dirty="0">
                <a:cs typeface="Arial" pitchFamily="34" charset="0"/>
              </a:rPr>
              <a:t>(</a:t>
            </a:r>
            <a:r>
              <a:rPr lang="ko-KR" altLang="en-US" sz="1000" dirty="0">
                <a:cs typeface="Arial" pitchFamily="34" charset="0"/>
              </a:rPr>
              <a:t>단일 서비스 그룹 구성 예</a:t>
            </a:r>
            <a:r>
              <a:rPr lang="en-US" altLang="ko-KR" sz="1000" dirty="0">
                <a:cs typeface="Arial" pitchFamily="34" charset="0"/>
              </a:rPr>
              <a:t>)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6182728" y="2024844"/>
            <a:ext cx="752140" cy="1080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AP </a:t>
            </a:r>
            <a:r>
              <a:rPr lang="ko-KR" altLang="en-US" sz="900" dirty="0">
                <a:cs typeface="Arial" pitchFamily="34" charset="0"/>
              </a:rPr>
              <a:t>서버 </a:t>
            </a:r>
            <a:r>
              <a:rPr lang="en-US" altLang="ko-KR" sz="900" dirty="0">
                <a:cs typeface="Arial" pitchFamily="34" charset="0"/>
              </a:rPr>
              <a:t>#1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42921" y="2266680"/>
            <a:ext cx="752140" cy="1080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AP </a:t>
            </a:r>
            <a:r>
              <a:rPr lang="ko-KR" altLang="en-US" sz="900" dirty="0">
                <a:cs typeface="Arial" pitchFamily="34" charset="0"/>
              </a:rPr>
              <a:t>서버 </a:t>
            </a:r>
            <a:r>
              <a:rPr lang="en-US" altLang="ko-KR" sz="900" dirty="0">
                <a:cs typeface="Arial" pitchFamily="34" charset="0"/>
              </a:rPr>
              <a:t>#2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3913706" y="1953344"/>
            <a:ext cx="1349636" cy="2302544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accent5">
                <a:lumMod val="60000"/>
                <a:lumOff val="40000"/>
              </a:schemeClr>
            </a:solidFill>
            <a:miter lim="800000"/>
          </a:ln>
        </p:spPr>
        <p:txBody>
          <a:bodyPr wrap="square" lIns="72000" tIns="36000" rIns="72000" bIns="36000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 dirty="0">
                <a:cs typeface="Arial" pitchFamily="34" charset="0"/>
              </a:rPr>
              <a:t>멀티 서비스 그룹</a:t>
            </a:r>
            <a:endParaRPr lang="en-US" altLang="ko-KR" sz="1100" b="1" dirty="0"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동일 </a:t>
            </a:r>
            <a:r>
              <a:rPr lang="ko-KR" altLang="en-US" sz="1000" dirty="0" err="1">
                <a:cs typeface="Arial" pitchFamily="34" charset="0"/>
              </a:rPr>
              <a:t>리포지토리</a:t>
            </a:r>
            <a:r>
              <a:rPr lang="ko-KR" altLang="en-US" sz="1000" dirty="0">
                <a:cs typeface="Arial" pitchFamily="34" charset="0"/>
              </a:rPr>
              <a:t> 구성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런타임 설정 </a:t>
            </a:r>
            <a:r>
              <a:rPr lang="ko-KR" altLang="en-US" sz="1000" dirty="0" err="1">
                <a:cs typeface="Arial" pitchFamily="34" charset="0"/>
              </a:rPr>
              <a:t>파라미터</a:t>
            </a:r>
            <a:r>
              <a:rPr lang="ko-KR" altLang="en-US" sz="1000" dirty="0">
                <a:cs typeface="Arial" pitchFamily="34" charset="0"/>
              </a:rPr>
              <a:t> 동일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서비스 그룹별로 </a:t>
            </a:r>
            <a:r>
              <a:rPr lang="en-US" altLang="ko-KR" sz="1000" dirty="0">
                <a:cs typeface="Arial" pitchFamily="34" charset="0"/>
              </a:rPr>
              <a:t>App </a:t>
            </a:r>
            <a:r>
              <a:rPr lang="ko-KR" altLang="en-US" sz="1000" dirty="0">
                <a:cs typeface="Arial" pitchFamily="34" charset="0"/>
              </a:rPr>
              <a:t>들이 선별적으로 로딩되고 서비스 됨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동일 프레임워크 도메인 내의 타 서비스 그룹의 서비스 호출은 원격 호출로 가능함</a:t>
            </a:r>
            <a:r>
              <a:rPr lang="en-US" altLang="ko-KR" sz="1000" dirty="0">
                <a:cs typeface="Arial" pitchFamily="34" charset="0"/>
              </a:rPr>
              <a:t>.</a:t>
            </a:r>
            <a:br>
              <a:rPr lang="en-US" altLang="ko-KR" sz="1000" dirty="0">
                <a:cs typeface="Arial" pitchFamily="34" charset="0"/>
              </a:rPr>
            </a:br>
            <a:endParaRPr lang="en-US" altLang="ko-KR" sz="1000" dirty="0">
              <a:cs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WAS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구성 방안</a:t>
            </a:r>
          </a:p>
        </p:txBody>
      </p:sp>
    </p:spTree>
    <p:extLst>
      <p:ext uri="{BB962C8B-B14F-4D97-AF65-F5344CB8AC3E}">
        <p14:creationId xmlns:p14="http://schemas.microsoft.com/office/powerpoint/2010/main" val="10612628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화살표 연결선 140"/>
          <p:cNvCxnSpPr>
            <a:stCxn id="255" idx="2"/>
            <a:endCxn id="115" idx="0"/>
          </p:cNvCxnSpPr>
          <p:nvPr/>
        </p:nvCxnSpPr>
        <p:spPr>
          <a:xfrm>
            <a:off x="3379779" y="1736780"/>
            <a:ext cx="815424" cy="378211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/>
          <p:cNvCxnSpPr>
            <a:stCxn id="255" idx="2"/>
            <a:endCxn id="116" idx="0"/>
          </p:cNvCxnSpPr>
          <p:nvPr/>
        </p:nvCxnSpPr>
        <p:spPr>
          <a:xfrm flipH="1">
            <a:off x="2564128" y="1736780"/>
            <a:ext cx="815651" cy="378211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/>
          <p:cNvSpPr/>
          <p:nvPr/>
        </p:nvSpPr>
        <p:spPr>
          <a:xfrm rot="5400000">
            <a:off x="141599" y="2923071"/>
            <a:ext cx="3508940" cy="26125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5" name="직사각형 84"/>
          <p:cNvSpPr/>
          <p:nvPr/>
        </p:nvSpPr>
        <p:spPr>
          <a:xfrm rot="5400000">
            <a:off x="3100964" y="2922710"/>
            <a:ext cx="3508318" cy="26125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704528" y="3592624"/>
            <a:ext cx="5310345" cy="1037720"/>
          </a:xfrm>
          <a:prstGeom prst="roundRect">
            <a:avLst>
              <a:gd name="adj" fmla="val 8432"/>
            </a:avLst>
          </a:prstGeom>
          <a:solidFill>
            <a:srgbClr val="C00000">
              <a:alpha val="20000"/>
            </a:srgbClr>
          </a:solidFill>
          <a:ln w="19050" cap="flat">
            <a:solidFill>
              <a:srgbClr val="9B171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720424" y="4736883"/>
            <a:ext cx="5310345" cy="830204"/>
          </a:xfrm>
          <a:prstGeom prst="roundRect">
            <a:avLst>
              <a:gd name="adj" fmla="val 8432"/>
            </a:avLst>
          </a:prstGeom>
          <a:solidFill>
            <a:srgbClr val="289055">
              <a:alpha val="20000"/>
            </a:srgbClr>
          </a:solidFill>
          <a:ln w="19050" cap="flat">
            <a:solidFill>
              <a:srgbClr val="28905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776536" y="2780960"/>
            <a:ext cx="1023243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IBM HTTP Server 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8081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3692861" y="2780960"/>
            <a:ext cx="1104164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IBM HTTP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Server 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8081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89" name="직선 화살표 연결선 188"/>
          <p:cNvCxnSpPr>
            <a:stCxn id="104" idx="2"/>
            <a:endCxn id="84" idx="0"/>
          </p:cNvCxnSpPr>
          <p:nvPr/>
        </p:nvCxnSpPr>
        <p:spPr>
          <a:xfrm flipH="1">
            <a:off x="1907791" y="3068960"/>
            <a:ext cx="553368" cy="1812172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/>
          <p:cNvCxnSpPr>
            <a:stCxn id="104" idx="2"/>
            <a:endCxn id="97" idx="0"/>
          </p:cNvCxnSpPr>
          <p:nvPr/>
        </p:nvCxnSpPr>
        <p:spPr>
          <a:xfrm>
            <a:off x="2461159" y="3068960"/>
            <a:ext cx="2335865" cy="1810865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/>
          <p:cNvCxnSpPr>
            <a:stCxn id="105" idx="2"/>
            <a:endCxn id="84" idx="0"/>
          </p:cNvCxnSpPr>
          <p:nvPr/>
        </p:nvCxnSpPr>
        <p:spPr>
          <a:xfrm flipH="1">
            <a:off x="1907791" y="3068960"/>
            <a:ext cx="3532115" cy="1812172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/>
          <p:cNvCxnSpPr>
            <a:stCxn id="105" idx="2"/>
            <a:endCxn id="97" idx="0"/>
          </p:cNvCxnSpPr>
          <p:nvPr/>
        </p:nvCxnSpPr>
        <p:spPr>
          <a:xfrm flipH="1">
            <a:off x="4797024" y="3068960"/>
            <a:ext cx="642882" cy="1810865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7271416" cy="553998"/>
          </a:xfrm>
        </p:spPr>
        <p:txBody>
          <a:bodyPr/>
          <a:lstStyle/>
          <a:p>
            <a:r>
              <a:rPr lang="en-US" altLang="ko-KR" dirty="0"/>
              <a:t>VM </a:t>
            </a:r>
            <a:r>
              <a:rPr lang="ko-KR" altLang="en-US" dirty="0"/>
              <a:t>방식 멀티 </a:t>
            </a:r>
            <a:r>
              <a:rPr lang="en-US" altLang="ko-KR" dirty="0"/>
              <a:t>WAS </a:t>
            </a:r>
            <a:r>
              <a:rPr lang="ko-KR" altLang="en-US" dirty="0"/>
              <a:t>환경에서 프레임워크 구성 방안 </a:t>
            </a:r>
            <a:r>
              <a:rPr lang="en-US" altLang="ko-KR" dirty="0"/>
              <a:t>(WEB </a:t>
            </a:r>
            <a:r>
              <a:rPr lang="ko-KR" altLang="en-US" dirty="0"/>
              <a:t>포트 분리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 dirty="0"/>
              <a:t>VM </a:t>
            </a:r>
            <a:r>
              <a:rPr lang="ko-KR" altLang="en-US" dirty="0"/>
              <a:t>방식</a:t>
            </a:r>
            <a:r>
              <a:rPr lang="en-US" altLang="ko-KR" dirty="0"/>
              <a:t> </a:t>
            </a:r>
            <a:r>
              <a:rPr lang="ko-KR" altLang="en-US" dirty="0"/>
              <a:t>멀티 </a:t>
            </a:r>
            <a:r>
              <a:rPr lang="en-US" altLang="ko-KR" dirty="0"/>
              <a:t>WAS </a:t>
            </a:r>
            <a:r>
              <a:rPr lang="ko-KR" altLang="en-US" dirty="0"/>
              <a:t>의 구성은 업무별로 </a:t>
            </a:r>
            <a:r>
              <a:rPr lang="en-US" altLang="ko-KR" dirty="0"/>
              <a:t>WAS </a:t>
            </a:r>
            <a:r>
              <a:rPr lang="ko-KR" altLang="en-US" dirty="0"/>
              <a:t>구성 후 </a:t>
            </a:r>
            <a:r>
              <a:rPr lang="en-US" altLang="ko-KR" dirty="0"/>
              <a:t>IBM HTTP </a:t>
            </a:r>
            <a:r>
              <a:rPr lang="ko-KR" altLang="en-US" dirty="0"/>
              <a:t>서버를</a:t>
            </a:r>
            <a:r>
              <a:rPr lang="en-US" altLang="ko-KR" dirty="0"/>
              <a:t> </a:t>
            </a:r>
            <a:r>
              <a:rPr lang="ko-KR" altLang="en-US" dirty="0"/>
              <a:t>포트로 구분하여 업무별로 구성하여 </a:t>
            </a:r>
            <a:r>
              <a:rPr lang="en-US" altLang="ko-KR" dirty="0"/>
              <a:t>MCI/EAI </a:t>
            </a:r>
            <a:r>
              <a:rPr lang="ko-KR" altLang="en-US" dirty="0"/>
              <a:t>에서는 포트로 업무 라우팅을 하도록 함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824623" y="3803568"/>
            <a:ext cx="960025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9" name="직사각형 28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WAS11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Apps (</a:t>
              </a:r>
              <a:r>
                <a:rPr lang="en-US" altLang="ko-KR" sz="900" b="1" dirty="0">
                  <a:solidFill>
                    <a:schemeClr val="tx1"/>
                  </a:solidFill>
                  <a:cs typeface="Arial" pitchFamily="34" charset="0"/>
                </a:rPr>
                <a:t>AAA, BBB</a:t>
              </a: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)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60512" y="2240717"/>
            <a:ext cx="1043960" cy="25217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AP </a:t>
            </a:r>
            <a:r>
              <a:rPr lang="ko-KR" altLang="en-US" sz="900" b="1" dirty="0">
                <a:cs typeface="Arial" pitchFamily="34" charset="0"/>
              </a:rPr>
              <a:t>서버 </a:t>
            </a:r>
            <a:r>
              <a:rPr lang="en-US" altLang="ko-KR" sz="900" b="1" dirty="0">
                <a:cs typeface="Arial" pitchFamily="34" charset="0"/>
              </a:rPr>
              <a:t>#1 (VM)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567" y="2259370"/>
            <a:ext cx="964569" cy="21487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AP </a:t>
            </a:r>
            <a:r>
              <a:rPr lang="ko-KR" altLang="en-US" sz="900" b="1" dirty="0">
                <a:cs typeface="Arial" pitchFamily="34" charset="0"/>
              </a:rPr>
              <a:t>서버 </a:t>
            </a:r>
            <a:r>
              <a:rPr lang="en-US" altLang="ko-KR" sz="900" b="1" dirty="0">
                <a:cs typeface="Arial" pitchFamily="34" charset="0"/>
              </a:rPr>
              <a:t>#2 (VM)</a:t>
            </a:r>
            <a:endParaRPr lang="ko-KR" altLang="en-US" sz="900" b="1" dirty="0">
              <a:cs typeface="Arial" pitchFamily="34" charset="0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2048759" y="3803568"/>
            <a:ext cx="960025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78" name="직사각형 77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WAS12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Apps (</a:t>
              </a:r>
              <a:r>
                <a:rPr lang="en-US" altLang="ko-KR" sz="900" b="1" dirty="0">
                  <a:solidFill>
                    <a:schemeClr val="tx1"/>
                  </a:solidFill>
                  <a:cs typeface="Arial" pitchFamily="34" charset="0"/>
                </a:rPr>
                <a:t>AAA, BBB</a:t>
              </a: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)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3704943" y="3803568"/>
            <a:ext cx="960025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87" name="직사각형 86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WAS21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Apps (</a:t>
              </a:r>
              <a:r>
                <a:rPr lang="en-US" altLang="ko-KR" sz="900" b="1" dirty="0">
                  <a:solidFill>
                    <a:schemeClr val="tx1"/>
                  </a:solidFill>
                  <a:cs typeface="Arial" pitchFamily="34" charset="0"/>
                </a:rPr>
                <a:t>AAA, BBB</a:t>
              </a: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)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4916996" y="3803568"/>
            <a:ext cx="960025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91" name="직사각형 90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WAS22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Apps (</a:t>
              </a:r>
              <a:r>
                <a:rPr lang="en-US" altLang="ko-KR" sz="900" b="1" dirty="0">
                  <a:solidFill>
                    <a:schemeClr val="tx1"/>
                  </a:solidFill>
                  <a:cs typeface="Arial" pitchFamily="34" charset="0"/>
                </a:rPr>
                <a:t>AAA, BBB</a:t>
              </a: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)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151" name="직선 화살표 연결선 150"/>
          <p:cNvCxnSpPr>
            <a:stCxn id="101" idx="2"/>
            <a:endCxn id="31" idx="0"/>
          </p:cNvCxnSpPr>
          <p:nvPr/>
        </p:nvCxnSpPr>
        <p:spPr>
          <a:xfrm>
            <a:off x="1288158" y="3068960"/>
            <a:ext cx="16478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/>
          <p:cNvCxnSpPr>
            <a:stCxn id="101" idx="2"/>
            <a:endCxn id="80" idx="0"/>
          </p:cNvCxnSpPr>
          <p:nvPr/>
        </p:nvCxnSpPr>
        <p:spPr>
          <a:xfrm>
            <a:off x="1288158" y="3068960"/>
            <a:ext cx="1240614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/>
          <p:cNvCxnSpPr>
            <a:stCxn id="101" idx="2"/>
            <a:endCxn id="89" idx="0"/>
          </p:cNvCxnSpPr>
          <p:nvPr/>
        </p:nvCxnSpPr>
        <p:spPr>
          <a:xfrm>
            <a:off x="1288158" y="3068960"/>
            <a:ext cx="2896798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/>
          <p:cNvCxnSpPr>
            <a:stCxn id="101" idx="2"/>
            <a:endCxn id="93" idx="0"/>
          </p:cNvCxnSpPr>
          <p:nvPr/>
        </p:nvCxnSpPr>
        <p:spPr>
          <a:xfrm>
            <a:off x="1288158" y="3068960"/>
            <a:ext cx="4108851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102" idx="2"/>
            <a:endCxn id="31" idx="0"/>
          </p:cNvCxnSpPr>
          <p:nvPr/>
        </p:nvCxnSpPr>
        <p:spPr>
          <a:xfrm flipH="1">
            <a:off x="1304636" y="3068960"/>
            <a:ext cx="2940307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/>
          <p:cNvCxnSpPr>
            <a:stCxn id="102" idx="2"/>
            <a:endCxn id="80" idx="0"/>
          </p:cNvCxnSpPr>
          <p:nvPr/>
        </p:nvCxnSpPr>
        <p:spPr>
          <a:xfrm flipH="1">
            <a:off x="2528772" y="3068960"/>
            <a:ext cx="1716171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stCxn id="102" idx="2"/>
            <a:endCxn id="89" idx="0"/>
          </p:cNvCxnSpPr>
          <p:nvPr/>
        </p:nvCxnSpPr>
        <p:spPr>
          <a:xfrm flipH="1">
            <a:off x="4184956" y="3068960"/>
            <a:ext cx="59987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/>
          <p:cNvCxnSpPr>
            <a:stCxn id="102" idx="2"/>
            <a:endCxn id="93" idx="0"/>
          </p:cNvCxnSpPr>
          <p:nvPr/>
        </p:nvCxnSpPr>
        <p:spPr>
          <a:xfrm>
            <a:off x="4244943" y="3068960"/>
            <a:ext cx="1152066" cy="734608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모서리가 둥근 직사각형 241"/>
          <p:cNvSpPr/>
          <p:nvPr/>
        </p:nvSpPr>
        <p:spPr>
          <a:xfrm>
            <a:off x="6494886" y="3786924"/>
            <a:ext cx="2670582" cy="6755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 u="sng" dirty="0">
                <a:solidFill>
                  <a:schemeClr val="dk1"/>
                </a:solidFill>
              </a:rPr>
              <a:t>서비스</a:t>
            </a:r>
            <a:r>
              <a:rPr lang="en-US" altLang="ko-KR" sz="1100" b="1" u="sng" dirty="0">
                <a:solidFill>
                  <a:schemeClr val="dk1"/>
                </a:solidFill>
              </a:rPr>
              <a:t> </a:t>
            </a:r>
            <a:r>
              <a:rPr lang="ko-KR" altLang="en-US" sz="1100" b="1" u="sng" dirty="0">
                <a:solidFill>
                  <a:schemeClr val="dk1"/>
                </a:solidFill>
              </a:rPr>
              <a:t>그룹 </a:t>
            </a:r>
            <a:r>
              <a:rPr lang="en-US" altLang="ko-KR" sz="1100" b="1" u="sng" dirty="0">
                <a:solidFill>
                  <a:schemeClr val="dk1"/>
                </a:solidFill>
              </a:rPr>
              <a:t>1</a:t>
            </a:r>
          </a:p>
          <a:p>
            <a:pPr>
              <a:lnSpc>
                <a:spcPct val="90000"/>
              </a:lnSpc>
            </a:pPr>
            <a:r>
              <a:rPr lang="en-US" altLang="ko-KR" sz="1000" dirty="0">
                <a:solidFill>
                  <a:schemeClr val="dk1"/>
                </a:solidFill>
              </a:rPr>
              <a:t>App</a:t>
            </a:r>
            <a:r>
              <a:rPr lang="ko-KR" altLang="en-US" sz="1000" dirty="0">
                <a:solidFill>
                  <a:schemeClr val="dk1"/>
                </a:solidFill>
              </a:rPr>
              <a:t>코드 </a:t>
            </a:r>
            <a:r>
              <a:rPr lang="en-US" altLang="ko-KR" sz="1000" dirty="0">
                <a:solidFill>
                  <a:schemeClr val="dk1"/>
                </a:solidFill>
              </a:rPr>
              <a:t>(AAA, BBB) </a:t>
            </a:r>
            <a:r>
              <a:rPr lang="ko-KR" altLang="en-US" sz="1000" dirty="0">
                <a:solidFill>
                  <a:schemeClr val="dk1"/>
                </a:solidFill>
              </a:rPr>
              <a:t>의 컴포넌트 </a:t>
            </a:r>
            <a:r>
              <a:rPr lang="ko-KR" altLang="en-US" sz="1000" dirty="0" err="1">
                <a:solidFill>
                  <a:schemeClr val="dk1"/>
                </a:solidFill>
              </a:rPr>
              <a:t>로딩하여</a:t>
            </a:r>
            <a:r>
              <a:rPr lang="ko-KR" altLang="en-US" sz="1000" dirty="0">
                <a:solidFill>
                  <a:schemeClr val="dk1"/>
                </a:solidFill>
              </a:rPr>
              <a:t> 어플리케이션 실행 서비스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244" name="모서리가 둥근 직사각형 243"/>
          <p:cNvSpPr/>
          <p:nvPr/>
        </p:nvSpPr>
        <p:spPr>
          <a:xfrm>
            <a:off x="6494886" y="2001565"/>
            <a:ext cx="2703112" cy="1525588"/>
          </a:xfrm>
          <a:prstGeom prst="roundRect">
            <a:avLst>
              <a:gd name="adj" fmla="val 6584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50" b="1" u="sng" dirty="0">
                <a:solidFill>
                  <a:schemeClr val="dk1"/>
                </a:solidFill>
              </a:rPr>
              <a:t>HTTP </a:t>
            </a:r>
            <a:r>
              <a:rPr lang="ko-KR" altLang="en-US" sz="1050" b="1" u="sng" dirty="0">
                <a:solidFill>
                  <a:schemeClr val="dk1"/>
                </a:solidFill>
              </a:rPr>
              <a:t>서버에서 </a:t>
            </a:r>
            <a:r>
              <a:rPr lang="en-US" altLang="ko-KR" sz="1050" b="1" u="sng" dirty="0">
                <a:solidFill>
                  <a:schemeClr val="dk1"/>
                </a:solidFill>
              </a:rPr>
              <a:t>URL </a:t>
            </a:r>
            <a:r>
              <a:rPr lang="ko-KR" altLang="en-US" sz="1050" b="1" u="sng" dirty="0">
                <a:solidFill>
                  <a:schemeClr val="dk1"/>
                </a:solidFill>
              </a:rPr>
              <a:t>기반의 동적 라우팅</a:t>
            </a:r>
          </a:p>
          <a:p>
            <a:pPr>
              <a:lnSpc>
                <a:spcPct val="90000"/>
              </a:lnSpc>
            </a:pPr>
            <a:endParaRPr lang="en-US" altLang="ko-KR" sz="900" dirty="0">
              <a:solidFill>
                <a:schemeClr val="dk1"/>
              </a:solidFill>
              <a:hlinkClick r:id="rId2"/>
            </a:endParaRPr>
          </a:p>
          <a:p>
            <a:pPr>
              <a:lnSpc>
                <a:spcPct val="90000"/>
              </a:lnSpc>
            </a:pPr>
            <a:r>
              <a:rPr lang="en-US" altLang="ko-KR" sz="900" dirty="0">
                <a:solidFill>
                  <a:schemeClr val="dk1"/>
                </a:solidFill>
                <a:hlinkClick r:id="rId2"/>
              </a:rPr>
              <a:t>http://***:</a:t>
            </a:r>
            <a:r>
              <a:rPr lang="en-US" altLang="ko-KR" sz="900" b="1" dirty="0">
                <a:solidFill>
                  <a:schemeClr val="dk1"/>
                </a:solidFill>
                <a:hlinkClick r:id="rId2"/>
              </a:rPr>
              <a:t>8081</a:t>
            </a:r>
            <a:r>
              <a:rPr lang="en-US" altLang="ko-KR" sz="900" dirty="0">
                <a:solidFill>
                  <a:schemeClr val="dk1"/>
                </a:solidFill>
                <a:hlinkClick r:id="rId2"/>
              </a:rPr>
              <a:t>/nkesa/&lt;</a:t>
            </a:r>
            <a:r>
              <a:rPr lang="ko-KR" altLang="en-US" sz="900" dirty="0" err="1">
                <a:solidFill>
                  <a:schemeClr val="dk1"/>
                </a:solidFill>
                <a:hlinkClick r:id="rId2"/>
              </a:rPr>
              <a:t>거래코드</a:t>
            </a:r>
            <a:r>
              <a:rPr lang="en-US" altLang="ko-KR" sz="900" dirty="0">
                <a:solidFill>
                  <a:schemeClr val="dk1"/>
                </a:solidFill>
                <a:hlinkClick r:id="rId2"/>
              </a:rPr>
              <a:t>&gt;.</a:t>
            </a:r>
            <a:r>
              <a:rPr lang="en-US" altLang="ko-KR" sz="900" dirty="0" err="1">
                <a:solidFill>
                  <a:schemeClr val="dk1"/>
                </a:solidFill>
                <a:hlinkClick r:id="rId2"/>
              </a:rPr>
              <a:t>jmd</a:t>
            </a:r>
            <a:r>
              <a:rPr lang="en-US" altLang="ko-KR" sz="900" dirty="0">
                <a:solidFill>
                  <a:schemeClr val="dk1"/>
                </a:solidFill>
              </a:rPr>
              <a:t> </a:t>
            </a:r>
            <a:r>
              <a:rPr lang="en-US" altLang="ko-KR" sz="900" dirty="0" err="1">
                <a:solidFill>
                  <a:schemeClr val="dk1"/>
                </a:solidFill>
              </a:rPr>
              <a:t>Url</a:t>
            </a:r>
            <a:r>
              <a:rPr lang="en-US" altLang="ko-KR" sz="900" dirty="0">
                <a:solidFill>
                  <a:schemeClr val="dk1"/>
                </a:solidFill>
              </a:rPr>
              <a:t> </a:t>
            </a:r>
            <a:r>
              <a:rPr lang="ko-KR" altLang="en-US" sz="900" dirty="0">
                <a:solidFill>
                  <a:schemeClr val="dk1"/>
                </a:solidFill>
              </a:rPr>
              <a:t>로</a:t>
            </a:r>
            <a:endParaRPr lang="en-US" altLang="ko-KR" sz="900" dirty="0">
              <a:solidFill>
                <a:schemeClr val="dk1"/>
              </a:solidFill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dk1"/>
                </a:solidFill>
              </a:rPr>
              <a:t>들어오는 거래는 </a:t>
            </a:r>
            <a:r>
              <a:rPr lang="ko-KR" altLang="en-US" sz="1000" b="1" u="sng" dirty="0">
                <a:solidFill>
                  <a:schemeClr val="dk1"/>
                </a:solidFill>
              </a:rPr>
              <a:t>서비스 그룹 </a:t>
            </a:r>
            <a:r>
              <a:rPr lang="en-US" altLang="ko-KR" sz="1000" b="1" u="sng" dirty="0">
                <a:solidFill>
                  <a:schemeClr val="dk1"/>
                </a:solidFill>
              </a:rPr>
              <a:t>1</a:t>
            </a:r>
            <a:r>
              <a:rPr lang="en-US" altLang="ko-KR" sz="1000" dirty="0">
                <a:solidFill>
                  <a:schemeClr val="dk1"/>
                </a:solidFill>
              </a:rPr>
              <a:t> </a:t>
            </a:r>
            <a:r>
              <a:rPr lang="ko-KR" altLang="en-US" sz="1000" dirty="0">
                <a:solidFill>
                  <a:schemeClr val="dk1"/>
                </a:solidFill>
              </a:rPr>
              <a:t>로 라우팅  </a:t>
            </a:r>
            <a:endParaRPr lang="en-US" altLang="ko-KR" sz="1000" dirty="0">
              <a:solidFill>
                <a:schemeClr val="dk1"/>
              </a:solidFill>
            </a:endParaRPr>
          </a:p>
          <a:p>
            <a:pPr>
              <a:lnSpc>
                <a:spcPct val="90000"/>
              </a:lnSpc>
            </a:pPr>
            <a:endParaRPr lang="en-US" altLang="ko-KR" sz="900" dirty="0">
              <a:solidFill>
                <a:schemeClr val="dk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ko-KR" sz="900" dirty="0">
                <a:solidFill>
                  <a:schemeClr val="dk1"/>
                </a:solidFill>
                <a:hlinkClick r:id="rId2"/>
              </a:rPr>
              <a:t>http://***:</a:t>
            </a:r>
            <a:r>
              <a:rPr lang="en-US" altLang="ko-KR" sz="900" b="1" dirty="0">
                <a:solidFill>
                  <a:schemeClr val="dk1"/>
                </a:solidFill>
                <a:hlinkClick r:id="rId2"/>
              </a:rPr>
              <a:t>8082</a:t>
            </a:r>
            <a:r>
              <a:rPr lang="en-US" altLang="ko-KR" sz="900" dirty="0">
                <a:solidFill>
                  <a:schemeClr val="dk1"/>
                </a:solidFill>
                <a:hlinkClick r:id="rId2"/>
              </a:rPr>
              <a:t>/nkesa/&lt;</a:t>
            </a:r>
            <a:r>
              <a:rPr lang="ko-KR" altLang="en-US" sz="900" dirty="0" err="1">
                <a:solidFill>
                  <a:schemeClr val="dk1"/>
                </a:solidFill>
                <a:hlinkClick r:id="rId2"/>
              </a:rPr>
              <a:t>거래코드</a:t>
            </a:r>
            <a:r>
              <a:rPr lang="en-US" altLang="ko-KR" sz="900" dirty="0">
                <a:solidFill>
                  <a:schemeClr val="dk1"/>
                </a:solidFill>
                <a:hlinkClick r:id="rId2"/>
              </a:rPr>
              <a:t>&gt;.</a:t>
            </a:r>
            <a:r>
              <a:rPr lang="en-US" altLang="ko-KR" sz="900" dirty="0" err="1">
                <a:solidFill>
                  <a:schemeClr val="dk1"/>
                </a:solidFill>
                <a:hlinkClick r:id="rId2"/>
              </a:rPr>
              <a:t>jmd</a:t>
            </a:r>
            <a:r>
              <a:rPr lang="en-US" altLang="ko-KR" sz="900" dirty="0">
                <a:solidFill>
                  <a:schemeClr val="dk1"/>
                </a:solidFill>
              </a:rPr>
              <a:t> </a:t>
            </a:r>
            <a:r>
              <a:rPr lang="en-US" altLang="ko-KR" sz="900" dirty="0" err="1">
                <a:solidFill>
                  <a:schemeClr val="dk1"/>
                </a:solidFill>
              </a:rPr>
              <a:t>Url</a:t>
            </a:r>
            <a:r>
              <a:rPr lang="en-US" altLang="ko-KR" sz="900" dirty="0">
                <a:solidFill>
                  <a:schemeClr val="dk1"/>
                </a:solidFill>
              </a:rPr>
              <a:t> </a:t>
            </a:r>
            <a:r>
              <a:rPr lang="ko-KR" altLang="en-US" sz="900" dirty="0">
                <a:solidFill>
                  <a:schemeClr val="dk1"/>
                </a:solidFill>
              </a:rPr>
              <a:t>로</a:t>
            </a:r>
            <a:endParaRPr lang="en-US" altLang="ko-KR" sz="900" dirty="0">
              <a:solidFill>
                <a:schemeClr val="dk1"/>
              </a:solidFill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dk1"/>
                </a:solidFill>
              </a:rPr>
              <a:t>들어오는 거래는 </a:t>
            </a:r>
            <a:r>
              <a:rPr lang="ko-KR" altLang="en-US" sz="1000" b="1" u="sng" dirty="0">
                <a:solidFill>
                  <a:schemeClr val="dk1"/>
                </a:solidFill>
              </a:rPr>
              <a:t>서비스 그룹 </a:t>
            </a:r>
            <a:r>
              <a:rPr lang="en-US" altLang="ko-KR" sz="1000" b="1" u="sng" dirty="0">
                <a:solidFill>
                  <a:schemeClr val="dk1"/>
                </a:solidFill>
              </a:rPr>
              <a:t>2</a:t>
            </a:r>
            <a:r>
              <a:rPr lang="en-US" altLang="ko-KR" sz="1000" dirty="0">
                <a:solidFill>
                  <a:schemeClr val="dk1"/>
                </a:solidFill>
              </a:rPr>
              <a:t> </a:t>
            </a:r>
            <a:r>
              <a:rPr lang="ko-KR" altLang="en-US" sz="1000" dirty="0">
                <a:solidFill>
                  <a:schemeClr val="dk1"/>
                </a:solidFill>
              </a:rPr>
              <a:t>로 라우팅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245" name="모서리가 둥근 직사각형 244"/>
          <p:cNvSpPr/>
          <p:nvPr/>
        </p:nvSpPr>
        <p:spPr>
          <a:xfrm>
            <a:off x="6494886" y="4759010"/>
            <a:ext cx="2670582" cy="6755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 u="sng" dirty="0">
                <a:solidFill>
                  <a:schemeClr val="dk1"/>
                </a:solidFill>
              </a:rPr>
              <a:t>서비스 그룹</a:t>
            </a:r>
            <a:r>
              <a:rPr lang="en-US" altLang="ko-KR" sz="1100" b="1" u="sng" dirty="0">
                <a:solidFill>
                  <a:schemeClr val="dk1"/>
                </a:solidFill>
              </a:rPr>
              <a:t>2</a:t>
            </a:r>
          </a:p>
          <a:p>
            <a:pPr>
              <a:lnSpc>
                <a:spcPct val="90000"/>
              </a:lnSpc>
            </a:pPr>
            <a:r>
              <a:rPr lang="en-US" altLang="ko-KR" sz="1000" dirty="0">
                <a:solidFill>
                  <a:schemeClr val="dk1"/>
                </a:solidFill>
              </a:rPr>
              <a:t>App</a:t>
            </a:r>
            <a:r>
              <a:rPr lang="ko-KR" altLang="en-US" sz="1000">
                <a:solidFill>
                  <a:schemeClr val="dk1"/>
                </a:solidFill>
              </a:rPr>
              <a:t>코드 </a:t>
            </a:r>
            <a:r>
              <a:rPr lang="en-US" altLang="ko-KR" sz="1000">
                <a:solidFill>
                  <a:schemeClr val="dk1"/>
                </a:solidFill>
              </a:rPr>
              <a:t>(AAA, CCC) </a:t>
            </a:r>
            <a:r>
              <a:rPr lang="ko-KR" altLang="en-US" sz="1000" dirty="0">
                <a:solidFill>
                  <a:schemeClr val="dk1"/>
                </a:solidFill>
              </a:rPr>
              <a:t>의 컴포넌트 </a:t>
            </a:r>
            <a:r>
              <a:rPr lang="ko-KR" altLang="en-US" sz="1000" dirty="0" err="1">
                <a:solidFill>
                  <a:schemeClr val="dk1"/>
                </a:solidFill>
              </a:rPr>
              <a:t>로딩하여</a:t>
            </a:r>
            <a:r>
              <a:rPr lang="ko-KR" altLang="en-US" sz="1000" dirty="0">
                <a:solidFill>
                  <a:schemeClr val="dk1"/>
                </a:solidFill>
              </a:rPr>
              <a:t> 어플리케이션 실행 서비스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246" name="아래쪽 화살표 245"/>
          <p:cNvSpPr/>
          <p:nvPr/>
        </p:nvSpPr>
        <p:spPr>
          <a:xfrm rot="5400000">
            <a:off x="6171123" y="3951904"/>
            <a:ext cx="217836" cy="29824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7" name="아래쪽 화살표 246"/>
          <p:cNvSpPr/>
          <p:nvPr/>
        </p:nvSpPr>
        <p:spPr>
          <a:xfrm rot="5400000">
            <a:off x="6171123" y="4997453"/>
            <a:ext cx="217836" cy="29824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8" name="아래쪽 화살표 247"/>
          <p:cNvSpPr/>
          <p:nvPr/>
        </p:nvSpPr>
        <p:spPr>
          <a:xfrm rot="5400000">
            <a:off x="6131722" y="2724155"/>
            <a:ext cx="217836" cy="29824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50" name="직선 화살표 연결선 249"/>
          <p:cNvCxnSpPr/>
          <p:nvPr/>
        </p:nvCxnSpPr>
        <p:spPr>
          <a:xfrm>
            <a:off x="8662426" y="2764359"/>
            <a:ext cx="395030" cy="0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화살표 연결선 251"/>
          <p:cNvCxnSpPr/>
          <p:nvPr/>
        </p:nvCxnSpPr>
        <p:spPr>
          <a:xfrm>
            <a:off x="8662426" y="3176972"/>
            <a:ext cx="395030" cy="0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화살표 연결선 256"/>
          <p:cNvCxnSpPr>
            <a:stCxn id="115" idx="2"/>
            <a:endCxn id="104" idx="0"/>
          </p:cNvCxnSpPr>
          <p:nvPr/>
        </p:nvCxnSpPr>
        <p:spPr>
          <a:xfrm flipH="1">
            <a:off x="2461159" y="2314273"/>
            <a:ext cx="1734044" cy="466687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/>
          <p:cNvCxnSpPr>
            <a:stCxn id="115" idx="2"/>
            <a:endCxn id="105" idx="0"/>
          </p:cNvCxnSpPr>
          <p:nvPr/>
        </p:nvCxnSpPr>
        <p:spPr>
          <a:xfrm>
            <a:off x="4195203" y="2314273"/>
            <a:ext cx="1244703" cy="466687"/>
          </a:xfrm>
          <a:prstGeom prst="straightConnector1">
            <a:avLst/>
          </a:prstGeom>
          <a:ln w="19050" cap="flat">
            <a:solidFill>
              <a:srgbClr val="00B050"/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4569" y="6123774"/>
            <a:ext cx="7236804" cy="36789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marL="146050" indent="-146050">
              <a:lnSpc>
                <a:spcPct val="90000"/>
              </a:lnSpc>
            </a:pPr>
            <a:r>
              <a:rPr lang="en-US" altLang="ko-KR" sz="1050" dirty="0">
                <a:cs typeface="Arial" pitchFamily="34" charset="0"/>
              </a:rPr>
              <a:t>※ </a:t>
            </a:r>
            <a:r>
              <a:rPr lang="ko-KR" altLang="en-US" sz="1050" dirty="0">
                <a:cs typeface="Arial" pitchFamily="34" charset="0"/>
              </a:rPr>
              <a:t>위 구성 방안은 하나의 프레임워크 도메인에 여러 개의 서비스 그룹이 존재하는 경우의 구성 방안이며 </a:t>
            </a:r>
            <a:r>
              <a:rPr lang="en-US" altLang="ko-KR" sz="1050" dirty="0">
                <a:cs typeface="Arial" pitchFamily="34" charset="0"/>
              </a:rPr>
              <a:t>(</a:t>
            </a:r>
            <a:r>
              <a:rPr lang="ko-KR" altLang="en-US" sz="1050" dirty="0">
                <a:cs typeface="Arial" pitchFamily="34" charset="0"/>
              </a:rPr>
              <a:t>금융복합플랫폼</a:t>
            </a:r>
            <a:r>
              <a:rPr lang="en-US" altLang="ko-KR" sz="1050" dirty="0">
                <a:cs typeface="Arial" pitchFamily="34" charset="0"/>
              </a:rPr>
              <a:t>)</a:t>
            </a:r>
            <a:br>
              <a:rPr lang="en-US" altLang="ko-KR" sz="1050">
                <a:cs typeface="Arial" pitchFamily="34" charset="0"/>
              </a:rPr>
            </a:br>
            <a:r>
              <a:rPr lang="ko-KR" altLang="en-US" sz="1050">
                <a:cs typeface="Arial" pitchFamily="34" charset="0"/>
              </a:rPr>
              <a:t>단일 </a:t>
            </a:r>
            <a:r>
              <a:rPr lang="ko-KR" altLang="en-US" sz="1050" dirty="0">
                <a:cs typeface="Arial" pitchFamily="34" charset="0"/>
              </a:rPr>
              <a:t>서비스 그룹의 경우 </a:t>
            </a:r>
            <a:r>
              <a:rPr lang="en-US" altLang="ko-KR" sz="1050" dirty="0">
                <a:cs typeface="Arial" pitchFamily="34" charset="0"/>
              </a:rPr>
              <a:t>HTTP </a:t>
            </a:r>
            <a:r>
              <a:rPr lang="ko-KR" altLang="en-US" sz="1050" dirty="0">
                <a:cs typeface="Arial" pitchFamily="34" charset="0"/>
              </a:rPr>
              <a:t>서버에서 해당 도메인 내의 모든 </a:t>
            </a:r>
            <a:r>
              <a:rPr lang="en-US" altLang="ko-KR" sz="1050" dirty="0">
                <a:cs typeface="Arial" pitchFamily="34" charset="0"/>
              </a:rPr>
              <a:t>WAS </a:t>
            </a:r>
            <a:r>
              <a:rPr lang="ko-KR" altLang="en-US" sz="1050" dirty="0">
                <a:cs typeface="Arial" pitchFamily="34" charset="0"/>
              </a:rPr>
              <a:t>로 라우팅 되도록 구성합니다</a:t>
            </a:r>
            <a:r>
              <a:rPr lang="en-US" altLang="ko-KR" sz="1050" dirty="0">
                <a:cs typeface="Arial" pitchFamily="34" charset="0"/>
              </a:rPr>
              <a:t>.</a:t>
            </a:r>
            <a:endParaRPr lang="ko-KR" altLang="en-US" sz="1050" dirty="0">
              <a:cs typeface="Arial" pitchFamily="34" charset="0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2290208" y="1448780"/>
            <a:ext cx="2179141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MCI / EAI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956556" y="5667859"/>
            <a:ext cx="2052227" cy="2507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BBB.jar, AAA.jar, CCC.jar)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3763658" y="5667859"/>
            <a:ext cx="2180417" cy="2507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BBB.jar, AAA.jar, CCC.jar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1068042" y="5623106"/>
            <a:ext cx="1126195" cy="315556"/>
          </a:xfrm>
          <a:prstGeom prst="ellipse">
            <a:avLst/>
          </a:prstGeom>
          <a:noFill/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1711221" y="5623106"/>
            <a:ext cx="1161661" cy="315556"/>
          </a:xfrm>
          <a:prstGeom prst="ellipse">
            <a:avLst/>
          </a:prstGeom>
          <a:noFill/>
          <a:ln w="6350" cap="flat">
            <a:solidFill>
              <a:srgbClr val="28905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4118003" y="5623106"/>
            <a:ext cx="979012" cy="315556"/>
          </a:xfrm>
          <a:prstGeom prst="ellipse">
            <a:avLst/>
          </a:prstGeom>
          <a:noFill/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4615721" y="5623106"/>
            <a:ext cx="1165371" cy="315556"/>
          </a:xfrm>
          <a:prstGeom prst="ellipse">
            <a:avLst/>
          </a:prstGeom>
          <a:noFill/>
          <a:ln w="6350" cap="flat">
            <a:solidFill>
              <a:srgbClr val="28905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" name="직선 화살표 연결선 8"/>
          <p:cNvCxnSpPr>
            <a:stCxn id="7" idx="1"/>
          </p:cNvCxnSpPr>
          <p:nvPr/>
        </p:nvCxnSpPr>
        <p:spPr>
          <a:xfrm flipH="1" flipV="1">
            <a:off x="1016233" y="4209946"/>
            <a:ext cx="216736" cy="1459372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7" idx="1"/>
            <a:endCxn id="78" idx="1"/>
          </p:cNvCxnSpPr>
          <p:nvPr/>
        </p:nvCxnSpPr>
        <p:spPr>
          <a:xfrm flipV="1">
            <a:off x="1232969" y="4111449"/>
            <a:ext cx="815790" cy="1557869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64" idx="7"/>
            <a:endCxn id="82" idx="3"/>
          </p:cNvCxnSpPr>
          <p:nvPr/>
        </p:nvCxnSpPr>
        <p:spPr>
          <a:xfrm flipH="1" flipV="1">
            <a:off x="2387803" y="5189013"/>
            <a:ext cx="314958" cy="480305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65" idx="1"/>
          </p:cNvCxnSpPr>
          <p:nvPr/>
        </p:nvCxnSpPr>
        <p:spPr>
          <a:xfrm flipH="1" flipV="1">
            <a:off x="3912854" y="4203194"/>
            <a:ext cx="348522" cy="1466124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>
            <a:stCxn id="65" idx="1"/>
            <a:endCxn id="91" idx="1"/>
          </p:cNvCxnSpPr>
          <p:nvPr/>
        </p:nvCxnSpPr>
        <p:spPr>
          <a:xfrm flipV="1">
            <a:off x="4261376" y="4111449"/>
            <a:ext cx="655620" cy="1557869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66" idx="7"/>
            <a:endCxn id="95" idx="3"/>
          </p:cNvCxnSpPr>
          <p:nvPr/>
        </p:nvCxnSpPr>
        <p:spPr>
          <a:xfrm flipH="1" flipV="1">
            <a:off x="5277036" y="5187706"/>
            <a:ext cx="333391" cy="481612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12840" y="4831018"/>
            <a:ext cx="618189" cy="24668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dirty="0"/>
              <a:t>선택적 </a:t>
            </a:r>
            <a:endParaRPr lang="en-US" altLang="ko-KR" sz="800" dirty="0"/>
          </a:p>
          <a:p>
            <a:pPr algn="ctr">
              <a:lnSpc>
                <a:spcPct val="90000"/>
              </a:lnSpc>
            </a:pPr>
            <a:r>
              <a:rPr lang="ko-KR" altLang="en-US" sz="800" dirty="0"/>
              <a:t>클래스 로딩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6494886" y="5551075"/>
            <a:ext cx="2703112" cy="54222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50" dirty="0">
                <a:solidFill>
                  <a:schemeClr val="dk1"/>
                </a:solidFill>
              </a:rPr>
              <a:t>동일 도메인 내의 모든 </a:t>
            </a:r>
            <a:r>
              <a:rPr lang="en-US" altLang="ko-KR" sz="1050" dirty="0">
                <a:solidFill>
                  <a:schemeClr val="dk1"/>
                </a:solidFill>
              </a:rPr>
              <a:t>AP</a:t>
            </a:r>
            <a:r>
              <a:rPr lang="ko-KR" altLang="en-US" sz="1050" dirty="0">
                <a:solidFill>
                  <a:schemeClr val="dk1"/>
                </a:solidFill>
              </a:rPr>
              <a:t>서버에는 </a:t>
            </a:r>
            <a:endParaRPr lang="en-US" altLang="ko-KR" sz="1050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ko-KR" altLang="en-US" sz="1050" dirty="0">
                <a:solidFill>
                  <a:schemeClr val="dk1"/>
                </a:solidFill>
              </a:rPr>
              <a:t>모두 동일하게 배포되지만</a:t>
            </a:r>
            <a:endParaRPr lang="en-US" altLang="ko-KR" sz="1050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ko-KR" altLang="en-US" sz="1050" dirty="0">
                <a:solidFill>
                  <a:schemeClr val="dk1"/>
                </a:solidFill>
              </a:rPr>
              <a:t>서비스 그룹별로 선택적으로 </a:t>
            </a:r>
            <a:r>
              <a:rPr lang="ko-KR" altLang="en-US" sz="1050" dirty="0" err="1">
                <a:solidFill>
                  <a:schemeClr val="dk1"/>
                </a:solidFill>
              </a:rPr>
              <a:t>로딩함</a:t>
            </a:r>
            <a:endParaRPr lang="en-US" altLang="ko-KR" sz="1050" dirty="0">
              <a:solidFill>
                <a:schemeClr val="dk1"/>
              </a:solidFill>
            </a:endParaRPr>
          </a:p>
        </p:txBody>
      </p:sp>
      <p:sp>
        <p:nvSpPr>
          <p:cNvPr id="103" name="아래쪽 화살표 102"/>
          <p:cNvSpPr/>
          <p:nvPr/>
        </p:nvSpPr>
        <p:spPr>
          <a:xfrm rot="5400000">
            <a:off x="6131722" y="5680622"/>
            <a:ext cx="217836" cy="29824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1427778" y="4881132"/>
            <a:ext cx="960025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82" name="직사각형 81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WAS13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Apps (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AAA</a:t>
              </a: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, 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CCC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4317011" y="4879825"/>
            <a:ext cx="960025" cy="593118"/>
            <a:chOff x="2180692" y="4770623"/>
            <a:chExt cx="1192076" cy="59311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95" name="직사각형 94"/>
            <p:cNvSpPr/>
            <p:nvPr/>
          </p:nvSpPr>
          <p:spPr>
            <a:xfrm>
              <a:off x="2180692" y="4975229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900" dirty="0">
                  <a:solidFill>
                    <a:schemeClr val="tx1"/>
                  </a:solidFill>
                  <a:cs typeface="Arial" pitchFamily="34" charset="0"/>
                </a:rPr>
                <a:t>프레임워크 런타임</a:t>
              </a: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2180692" y="5157192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WAS23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180692" y="4770623"/>
              <a:ext cx="1192076" cy="206549"/>
            </a:xfrm>
            <a:prstGeom prst="rect">
              <a:avLst/>
            </a:prstGeom>
            <a:grpFill/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Apps (</a:t>
              </a:r>
              <a:r>
                <a:rPr lang="en-US" altLang="ko-KR" sz="900" b="1">
                  <a:solidFill>
                    <a:schemeClr val="tx1"/>
                  </a:solidFill>
                  <a:cs typeface="Arial" pitchFamily="34" charset="0"/>
                </a:rPr>
                <a:t>AAA, CCC</a:t>
              </a: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)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104" name="직사각형 103"/>
          <p:cNvSpPr/>
          <p:nvPr/>
        </p:nvSpPr>
        <p:spPr>
          <a:xfrm>
            <a:off x="1949537" y="2780960"/>
            <a:ext cx="1023243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IBM HTTP Server 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8082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887824" y="2780960"/>
            <a:ext cx="1104164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IBM HTTP 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Server (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8082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6" name="직선 화살표 연결선 105"/>
          <p:cNvCxnSpPr>
            <a:stCxn id="116" idx="2"/>
            <a:endCxn id="102" idx="0"/>
          </p:cNvCxnSpPr>
          <p:nvPr/>
        </p:nvCxnSpPr>
        <p:spPr>
          <a:xfrm>
            <a:off x="2564128" y="2314273"/>
            <a:ext cx="1680815" cy="466687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116" idx="2"/>
            <a:endCxn id="101" idx="0"/>
          </p:cNvCxnSpPr>
          <p:nvPr/>
        </p:nvCxnSpPr>
        <p:spPr>
          <a:xfrm flipH="1">
            <a:off x="1288158" y="2314273"/>
            <a:ext cx="1275970" cy="466687"/>
          </a:xfrm>
          <a:prstGeom prst="straightConnector1">
            <a:avLst/>
          </a:prstGeom>
          <a:ln w="19050" cap="flat">
            <a:solidFill>
              <a:schemeClr val="accent2">
                <a:lumMod val="75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3792837" y="2114991"/>
            <a:ext cx="804732" cy="1992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L4 (8082)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2173596" y="2114991"/>
            <a:ext cx="781064" cy="1992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L4 (8081)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150274" y="1735473"/>
            <a:ext cx="3503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>
                <a:solidFill>
                  <a:schemeClr val="dk1"/>
                </a:solidFill>
                <a:hlinkClick r:id="rId3"/>
              </a:rPr>
              <a:t>http://</a:t>
            </a:r>
            <a:r>
              <a:rPr lang="en-US" altLang="ko-KR" sz="900" b="1">
                <a:solidFill>
                  <a:schemeClr val="dk1"/>
                </a:solidFill>
                <a:hlinkClick r:id="rId3"/>
              </a:rPr>
              <a:t>nf</a:t>
            </a:r>
            <a:r>
              <a:rPr lang="en-US" altLang="ko-KR" sz="900">
                <a:solidFill>
                  <a:schemeClr val="dk1"/>
                </a:solidFill>
                <a:hlinkClick r:id="rId3"/>
              </a:rPr>
              <a:t>.kbstar.com:8081</a:t>
            </a:r>
            <a:r>
              <a:rPr lang="en-US" altLang="ko-KR" sz="900" dirty="0">
                <a:solidFill>
                  <a:schemeClr val="dk1"/>
                </a:solidFill>
                <a:hlinkClick r:id="rId3"/>
              </a:rPr>
              <a:t>/~~~</a:t>
            </a:r>
            <a:r>
              <a:rPr lang="en-US" altLang="ko-KR" sz="900" dirty="0">
                <a:solidFill>
                  <a:schemeClr val="dk1"/>
                </a:solidFill>
              </a:rPr>
              <a:t>   (</a:t>
            </a:r>
            <a:r>
              <a:rPr lang="en-US" altLang="ko-KR" sz="900" dirty="0" err="1">
                <a:solidFill>
                  <a:schemeClr val="dk1"/>
                </a:solidFill>
              </a:rPr>
              <a:t>nf</a:t>
            </a:r>
            <a:r>
              <a:rPr lang="en-US" altLang="ko-KR" sz="900" dirty="0">
                <a:solidFill>
                  <a:schemeClr val="dk1"/>
                </a:solidFill>
              </a:rPr>
              <a:t> : </a:t>
            </a:r>
            <a:r>
              <a:rPr lang="ko-KR" altLang="en-US" sz="900" dirty="0">
                <a:solidFill>
                  <a:schemeClr val="dk1"/>
                </a:solidFill>
              </a:rPr>
              <a:t>비대면 업무명 약어 예시</a:t>
            </a:r>
            <a:r>
              <a:rPr lang="en-US" altLang="ko-KR" sz="900" dirty="0">
                <a:solidFill>
                  <a:schemeClr val="dk1"/>
                </a:solidFill>
              </a:rPr>
              <a:t>)</a:t>
            </a:r>
            <a:endParaRPr lang="ko-KR" altLang="en-US" sz="900" dirty="0"/>
          </a:p>
          <a:p>
            <a:r>
              <a:rPr lang="en-US" altLang="ko-KR" sz="900" dirty="0">
                <a:solidFill>
                  <a:schemeClr val="dk1"/>
                </a:solidFill>
                <a:hlinkClick r:id="rId4"/>
              </a:rPr>
              <a:t>http://</a:t>
            </a:r>
            <a:r>
              <a:rPr lang="en-US" altLang="ko-KR" sz="900" b="1" dirty="0">
                <a:solidFill>
                  <a:schemeClr val="dk1"/>
                </a:solidFill>
                <a:hlinkClick r:id="rId4"/>
              </a:rPr>
              <a:t>nf</a:t>
            </a:r>
            <a:r>
              <a:rPr lang="en-US" altLang="ko-KR" sz="900" dirty="0">
                <a:solidFill>
                  <a:schemeClr val="dk1"/>
                </a:solidFill>
                <a:hlinkClick r:id="rId4"/>
              </a:rPr>
              <a:t>.kbstar.com</a:t>
            </a:r>
            <a:r>
              <a:rPr lang="en-US" altLang="ko-KR" sz="900" dirty="0">
                <a:solidFill>
                  <a:schemeClr val="dk1"/>
                </a:solidFill>
              </a:rPr>
              <a:t>:8082/~~~</a:t>
            </a:r>
            <a:endParaRPr lang="ko-KR" altLang="en-US" sz="900" dirty="0"/>
          </a:p>
        </p:txBody>
      </p:sp>
      <p:sp>
        <p:nvSpPr>
          <p:cNvPr id="109" name="TextBox 10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WAS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구성 방안</a:t>
            </a:r>
          </a:p>
        </p:txBody>
      </p:sp>
    </p:spTree>
    <p:extLst>
      <p:ext uri="{BB962C8B-B14F-4D97-AF65-F5344CB8AC3E}">
        <p14:creationId xmlns:p14="http://schemas.microsoft.com/office/powerpoint/2010/main" val="314999488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 모바일 모니터링 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4.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모니터링 구성</a:t>
            </a:r>
          </a:p>
        </p:txBody>
      </p:sp>
      <p:sp>
        <p:nvSpPr>
          <p:cNvPr id="6" name="순서도: 데이터 5"/>
          <p:cNvSpPr/>
          <p:nvPr/>
        </p:nvSpPr>
        <p:spPr>
          <a:xfrm>
            <a:off x="2954778" y="2132856"/>
            <a:ext cx="3762418" cy="468052"/>
          </a:xfrm>
          <a:prstGeom prst="flowChartInputOutpu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18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순서도: 데이터 6"/>
          <p:cNvSpPr/>
          <p:nvPr/>
        </p:nvSpPr>
        <p:spPr>
          <a:xfrm>
            <a:off x="2954778" y="3591018"/>
            <a:ext cx="3762418" cy="468052"/>
          </a:xfrm>
          <a:prstGeom prst="flowChartInputOutpu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18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en-US" altLang="ko-KR" dirty="0" err="1"/>
              <a:t>WiseNet</a:t>
            </a:r>
            <a:r>
              <a:rPr lang="ko-KR" altLang="en-US" dirty="0"/>
              <a:t> </a:t>
            </a:r>
            <a:r>
              <a:rPr lang="ko-KR" altLang="en-US" dirty="0" err="1"/>
              <a:t>모바일앱을</a:t>
            </a:r>
            <a:r>
              <a:rPr lang="ko-KR" altLang="en-US" dirty="0"/>
              <a:t> 통해서</a:t>
            </a:r>
            <a:r>
              <a:rPr lang="en-US" altLang="ko-KR" dirty="0"/>
              <a:t>, </a:t>
            </a:r>
            <a:r>
              <a:rPr lang="ko-KR" altLang="en-US" dirty="0"/>
              <a:t>사무장비활용이 불가한 외부에서도 신속히 장애관련정보 파악가능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9" r="22152"/>
          <a:stretch/>
        </p:blipFill>
        <p:spPr>
          <a:xfrm>
            <a:off x="2972780" y="1140629"/>
            <a:ext cx="3744416" cy="511256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684748" y="6057292"/>
            <a:ext cx="1696979" cy="288000"/>
          </a:xfrm>
          <a:prstGeom prst="rect">
            <a:avLst/>
          </a:prstGeom>
          <a:solidFill>
            <a:schemeClr val="bg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비대면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마케팅 등등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946280" y="1253514"/>
            <a:ext cx="718688" cy="663318"/>
            <a:chOff x="452500" y="2168860"/>
            <a:chExt cx="718688" cy="663318"/>
          </a:xfrm>
        </p:grpSpPr>
        <p:pic>
          <p:nvPicPr>
            <p:cNvPr id="12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7398" y="2168860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직사각형 12"/>
            <p:cNvSpPr/>
            <p:nvPr/>
          </p:nvSpPr>
          <p:spPr>
            <a:xfrm>
              <a:off x="452500" y="2652946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2"/>
                </a:buClr>
              </a:pPr>
              <a:r>
                <a:rPr lang="en-US" altLang="ko-KR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FW</a:t>
              </a: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담당자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sp>
        <p:nvSpPr>
          <p:cNvPr id="14" name="사각형 설명선 13"/>
          <p:cNvSpPr/>
          <p:nvPr/>
        </p:nvSpPr>
        <p:spPr>
          <a:xfrm>
            <a:off x="812540" y="4941168"/>
            <a:ext cx="1764196" cy="756084"/>
          </a:xfrm>
          <a:prstGeom prst="wedgeRectCallout">
            <a:avLst>
              <a:gd name="adj1" fmla="val 59261"/>
              <a:gd name="adj2" fmla="val 75074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UDP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소켓을 통해서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u="sng">
                <a:solidFill>
                  <a:schemeClr val="tx1"/>
                </a:solidFill>
                <a:cs typeface="Arial" pitchFamily="34" charset="0"/>
              </a:rPr>
              <a:t>실시간 모니터링 정보 수집</a:t>
            </a:r>
            <a:endParaRPr lang="en-US" altLang="ko-KR" sz="900" u="sng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총거래건수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에러건수 등 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)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648744" y="4941168"/>
            <a:ext cx="1764196" cy="1499630"/>
          </a:xfrm>
          <a:prstGeom prst="roundRect">
            <a:avLst>
              <a:gd name="adj" fmla="val 5532"/>
            </a:avLst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41032" y="6057292"/>
            <a:ext cx="1696979" cy="288000"/>
          </a:xfrm>
          <a:prstGeom prst="rect">
            <a:avLst/>
          </a:prstGeom>
          <a:solidFill>
            <a:schemeClr val="bg1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비대면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마케팅 등등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205028" y="4941168"/>
            <a:ext cx="1764196" cy="1499630"/>
          </a:xfrm>
          <a:prstGeom prst="roundRect">
            <a:avLst>
              <a:gd name="adj" fmla="val 5532"/>
            </a:avLst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96405" y="5409220"/>
            <a:ext cx="109837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1600" b="1" i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nKESA AP</a:t>
            </a:r>
          </a:p>
        </p:txBody>
      </p:sp>
      <p:sp>
        <p:nvSpPr>
          <p:cNvPr id="19" name="사각형 설명선 18"/>
          <p:cNvSpPr/>
          <p:nvPr/>
        </p:nvSpPr>
        <p:spPr>
          <a:xfrm>
            <a:off x="7041232" y="4941168"/>
            <a:ext cx="1764196" cy="756084"/>
          </a:xfrm>
          <a:prstGeom prst="wedgeRectCallout">
            <a:avLst>
              <a:gd name="adj1" fmla="val -60693"/>
              <a:gd name="adj2" fmla="val 84934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HTTP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통신을 통해서</a:t>
            </a:r>
            <a:endParaRPr lang="en-US" altLang="ko-KR" sz="900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900" u="sng">
                <a:solidFill>
                  <a:schemeClr val="tx1"/>
                </a:solidFill>
                <a:cs typeface="Arial" pitchFamily="34" charset="0"/>
              </a:rPr>
              <a:t>관리콘솔에 기존 구현된 </a:t>
            </a:r>
            <a:r>
              <a:rPr lang="en-US" altLang="ko-KR" sz="900" u="sng">
                <a:solidFill>
                  <a:schemeClr val="tx1"/>
                </a:solidFill>
                <a:cs typeface="Arial" pitchFamily="34" charset="0"/>
              </a:rPr>
              <a:t>API</a:t>
            </a:r>
            <a:r>
              <a:rPr lang="ko-KR" altLang="en-US" sz="900" u="sng">
                <a:solidFill>
                  <a:schemeClr val="tx1"/>
                </a:solidFill>
                <a:cs typeface="Arial" pitchFamily="34" charset="0"/>
              </a:rPr>
              <a:t>조회</a:t>
            </a:r>
            <a:endParaRPr lang="en-US" altLang="ko-KR" sz="900" u="sng">
              <a:solidFill>
                <a:schemeClr val="tx1"/>
              </a:solidFill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전문로그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에러로그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노드정보 등</a:t>
            </a: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)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469001" y="5409220"/>
            <a:ext cx="121219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1600" b="1" i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관리콘솔 </a:t>
            </a:r>
            <a:r>
              <a:rPr lang="en-US" altLang="ko-KR" sz="1600" b="1" i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AP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461533" y="5381167"/>
            <a:ext cx="747082" cy="288000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모니터링서버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31522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직선 연결선 96"/>
          <p:cNvCxnSpPr/>
          <p:nvPr/>
        </p:nvCxnSpPr>
        <p:spPr>
          <a:xfrm>
            <a:off x="709374" y="1995536"/>
            <a:ext cx="3203010" cy="0"/>
          </a:xfrm>
          <a:prstGeom prst="line">
            <a:avLst/>
          </a:prstGeom>
          <a:ln w="50800" cap="flat">
            <a:solidFill>
              <a:schemeClr val="accent1">
                <a:lumMod val="60000"/>
                <a:lumOff val="4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10926" y="1962512"/>
            <a:ext cx="499298" cy="234017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101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온라인</a:t>
            </a:r>
            <a:br>
              <a:rPr lang="en-US" altLang="ko-KR" sz="1101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</a:br>
            <a:r>
              <a:rPr lang="ko-KR" altLang="en-US" sz="1101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서버</a:t>
            </a:r>
            <a:endParaRPr lang="ko-KR" altLang="en-US" sz="1101" b="1" dirty="0">
              <a:solidFill>
                <a:schemeClr val="bg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02924" y="4604464"/>
            <a:ext cx="496258" cy="16855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en-US" altLang="ko-KR" sz="1101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D-1</a:t>
            </a:r>
          </a:p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101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서버</a:t>
            </a:r>
            <a:endParaRPr lang="ko-KR" altLang="en-US" sz="1101" b="1" dirty="0">
              <a:solidFill>
                <a:schemeClr val="bg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1146388" y="3118366"/>
            <a:ext cx="910658" cy="375445"/>
            <a:chOff x="1187870" y="5949152"/>
            <a:chExt cx="992822" cy="409319"/>
          </a:xfrm>
        </p:grpSpPr>
        <p:pic>
          <p:nvPicPr>
            <p:cNvPr id="101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870" y="5949152"/>
              <a:ext cx="992822" cy="396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" name="TextBox 101"/>
            <p:cNvSpPr txBox="1"/>
            <p:nvPr/>
          </p:nvSpPr>
          <p:spPr>
            <a:xfrm>
              <a:off x="1456041" y="6103945"/>
              <a:ext cx="456482" cy="254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운영</a:t>
              </a:r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 </a:t>
              </a:r>
              <a:endParaRPr lang="ko-KR" altLang="en-US" sz="917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</p:txBody>
        </p:sp>
      </p:grpSp>
      <p:pic>
        <p:nvPicPr>
          <p:cNvPr id="104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730" y="3743491"/>
            <a:ext cx="686804" cy="363386"/>
          </a:xfrm>
          <a:prstGeom prst="rect">
            <a:avLst/>
          </a:prstGeom>
          <a:blipFill>
            <a:blip r:embed="rId3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2106200" y="3812263"/>
            <a:ext cx="3978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2719247" y="2879974"/>
            <a:ext cx="870751" cy="700734"/>
            <a:chOff x="5008654" y="4766955"/>
            <a:chExt cx="949314" cy="763957"/>
          </a:xfrm>
        </p:grpSpPr>
        <p:pic>
          <p:nvPicPr>
            <p:cNvPr id="107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05" y="4953501"/>
              <a:ext cx="623956" cy="55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직사각형 107"/>
            <p:cNvSpPr>
              <a:spLocks noChangeArrowheads="1"/>
            </p:cNvSpPr>
            <p:nvPr/>
          </p:nvSpPr>
          <p:spPr bwMode="auto">
            <a:xfrm>
              <a:off x="5025008" y="5055192"/>
              <a:ext cx="828000" cy="21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round/>
              <a:headEnd/>
              <a:tailEnd type="none" w="sm" len="sm"/>
            </a:ln>
            <a:effectLst>
              <a:innerShdw blurRad="88900">
                <a:schemeClr val="bg1">
                  <a:lumMod val="50000"/>
                </a:schemeClr>
              </a:innerShdw>
            </a:effectLst>
          </p:spPr>
          <p:txBody>
            <a:bodyPr wrap="square" lIns="0" tIns="0" rIns="0" bIns="0" anchor="ctr"/>
            <a:lstStyle/>
            <a:p>
              <a:pPr marL="0" lvl="1" algn="ctr" defTabSz="1390712"/>
              <a:r>
                <a:rPr lang="en-US" altLang="ko-KR" sz="82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  <a:sym typeface="Monotype Sorts"/>
                </a:rPr>
                <a:t>Before Image</a:t>
              </a:r>
            </a:p>
          </p:txBody>
        </p:sp>
        <p:sp>
          <p:nvSpPr>
            <p:cNvPr id="109" name="직사각형 108"/>
            <p:cNvSpPr>
              <a:spLocks noChangeArrowheads="1"/>
            </p:cNvSpPr>
            <p:nvPr/>
          </p:nvSpPr>
          <p:spPr bwMode="auto">
            <a:xfrm>
              <a:off x="5025008" y="5314912"/>
              <a:ext cx="828000" cy="21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round/>
              <a:headEnd/>
              <a:tailEnd type="none" w="sm" len="sm"/>
            </a:ln>
            <a:effectLst>
              <a:innerShdw blurRad="88900">
                <a:schemeClr val="bg1">
                  <a:lumMod val="50000"/>
                </a:schemeClr>
              </a:innerShdw>
            </a:effectLst>
          </p:spPr>
          <p:txBody>
            <a:bodyPr wrap="square" lIns="0" tIns="0" rIns="0" bIns="0" anchor="ctr"/>
            <a:lstStyle/>
            <a:p>
              <a:pPr marL="0" lvl="1" algn="ctr" defTabSz="1390712"/>
              <a:r>
                <a:rPr lang="en-US" altLang="ko-KR" sz="82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  <a:sym typeface="Monotype Sorts"/>
                </a:rPr>
                <a:t>After Image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008654" y="4766955"/>
              <a:ext cx="949314" cy="254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거래</a:t>
              </a:r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(</a:t>
              </a:r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보정</a:t>
              </a:r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)</a:t>
              </a:r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로그</a:t>
              </a:r>
              <a:endParaRPr lang="ko-KR" altLang="en-US" sz="917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</p:txBody>
        </p:sp>
      </p:grpSp>
      <p:sp>
        <p:nvSpPr>
          <p:cNvPr id="111" name="직사각형 110"/>
          <p:cNvSpPr/>
          <p:nvPr/>
        </p:nvSpPr>
        <p:spPr>
          <a:xfrm>
            <a:off x="6939296" y="1566220"/>
            <a:ext cx="2554275" cy="29758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101" b="1" dirty="0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상세 내용</a:t>
            </a:r>
          </a:p>
        </p:txBody>
      </p:sp>
      <p:sp>
        <p:nvSpPr>
          <p:cNvPr id="112" name="위로 구부러진 화살표 111"/>
          <p:cNvSpPr/>
          <p:nvPr/>
        </p:nvSpPr>
        <p:spPr>
          <a:xfrm flipV="1">
            <a:off x="3482195" y="1794421"/>
            <a:ext cx="892125" cy="135067"/>
          </a:xfrm>
          <a:prstGeom prst="curvedUpArrow">
            <a:avLst/>
          </a:prstGeom>
          <a:solidFill>
            <a:schemeClr val="accent2">
              <a:lumMod val="40000"/>
              <a:lumOff val="60000"/>
            </a:schemeClr>
          </a:solidFill>
          <a:ln w="6350" cap="flat">
            <a:solidFill>
              <a:schemeClr val="accent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626786" y="1647644"/>
            <a:ext cx="588623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일자전환</a:t>
            </a:r>
          </a:p>
        </p:txBody>
      </p:sp>
      <p:sp>
        <p:nvSpPr>
          <p:cNvPr id="114" name="직사각형 113"/>
          <p:cNvSpPr/>
          <p:nvPr/>
        </p:nvSpPr>
        <p:spPr>
          <a:xfrm>
            <a:off x="6949757" y="1925448"/>
            <a:ext cx="2540163" cy="43645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66041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 시점에 보정로그 저장 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Flag On (M/F 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 전환 준비 모드 수신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일자전환 시점 온라인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1009" dirty="0" err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거래시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1009" dirty="0" err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본원장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1009" dirty="0" err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갱신후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보정거래 원장에 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Before/After image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저장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일자전환완료후 보정로그 저장  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Flag Off 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및 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D-1 </a:t>
            </a:r>
            <a:r>
              <a:rPr lang="en-US" altLang="ko-KR" sz="1009" dirty="0" err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SnapShot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수행</a:t>
            </a:r>
            <a:endParaRPr lang="en-US" altLang="ko-KR" sz="1009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거래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(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보정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)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로그 원장으로 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D-1 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배치</a:t>
            </a: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DB </a:t>
            </a: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원장에서 보정작업 수행</a:t>
            </a:r>
            <a:b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</a:br>
            <a:r>
              <a:rPr lang="en-US" altLang="ko-KR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- </a:t>
            </a: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Insert : delete</a:t>
            </a:r>
            <a:b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- Update : insert/delete</a:t>
            </a:r>
            <a:b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- Delete : insert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 </a:t>
            </a: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원장을 이용한 </a:t>
            </a:r>
            <a:r>
              <a:rPr lang="ko-KR" altLang="en-US" sz="100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일일결산등</a:t>
            </a: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배치수행</a:t>
            </a:r>
            <a:endParaRPr lang="en-US" altLang="ko-KR" sz="1009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endParaRPr lang="en-US" altLang="ko-KR" sz="1009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  <a:p>
            <a:pPr>
              <a:spcBef>
                <a:spcPts val="550"/>
              </a:spcBef>
            </a:pP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   제공된 </a:t>
            </a: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DBIO </a:t>
            </a: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기능 통한 거래</a:t>
            </a:r>
            <a:endParaRPr lang="en-US" altLang="ko-KR" sz="1009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  <a:p>
            <a:pPr>
              <a:spcBef>
                <a:spcPts val="550"/>
              </a:spcBef>
            </a:pP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   DBIO </a:t>
            </a: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기능 통해 거래된 내역의                     보정로그 기록</a:t>
            </a:r>
            <a:endParaRPr lang="en-US" altLang="ko-KR" sz="1009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  <a:p>
            <a:pPr>
              <a:spcBef>
                <a:spcPts val="550"/>
              </a:spcBef>
            </a:pP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   기록된 보정로그로 보정작업 수행</a:t>
            </a: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(</a:t>
            </a:r>
            <a:r>
              <a:rPr lang="ko-KR" altLang="en-US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배치 </a:t>
            </a:r>
            <a:r>
              <a:rPr lang="en-US" altLang="ko-KR" sz="1009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JOB)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endParaRPr lang="en-US" altLang="ko-KR" sz="1009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  <a:p>
            <a:pPr marL="161623" indent="-161623">
              <a:spcBef>
                <a:spcPts val="550"/>
              </a:spcBef>
            </a:pPr>
            <a:r>
              <a:rPr lang="ko-KR" altLang="en-US" sz="1009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주</a:t>
            </a:r>
            <a:r>
              <a:rPr lang="en-US" altLang="ko-KR" sz="1009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) </a:t>
            </a:r>
            <a:r>
              <a:rPr lang="ko-KR" altLang="en-US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코어</a:t>
            </a:r>
            <a:r>
              <a:rPr lang="en-US" altLang="ko-KR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#2 </a:t>
            </a:r>
            <a:r>
              <a:rPr lang="ko-KR" altLang="en-US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시스템은 반드시 </a:t>
            </a:r>
            <a:r>
              <a:rPr lang="en-US" altLang="ko-KR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DBIO </a:t>
            </a:r>
            <a:r>
              <a:rPr lang="ko-KR" altLang="en-US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로만 </a:t>
            </a:r>
            <a:r>
              <a:rPr lang="en-US" altLang="ko-KR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CRUD </a:t>
            </a:r>
            <a:r>
              <a:rPr lang="ko-KR" altLang="en-US" sz="1009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하도록 제한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endParaRPr lang="en-US" altLang="ko-KR" sz="1009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  <a:p>
            <a:pPr>
              <a:spcBef>
                <a:spcPts val="550"/>
              </a:spcBef>
            </a:pPr>
            <a:r>
              <a:rPr lang="ko-KR" altLang="en-US" sz="1009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endParaRPr lang="en-US" altLang="ko-KR" sz="1009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endParaRPr lang="en-US" altLang="ko-KR" sz="1009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  <a:p>
            <a:pPr>
              <a:spcBef>
                <a:spcPts val="550"/>
              </a:spcBef>
            </a:pPr>
            <a:r>
              <a:rPr lang="ko-KR" altLang="en-US" sz="1009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endParaRPr lang="en-US" altLang="ko-KR" sz="1009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endParaRPr lang="en-US" altLang="ko-KR" sz="1009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cxnSp>
        <p:nvCxnSpPr>
          <p:cNvPr id="115" name="직선 연결선 114"/>
          <p:cNvCxnSpPr/>
          <p:nvPr/>
        </p:nvCxnSpPr>
        <p:spPr>
          <a:xfrm flipH="1">
            <a:off x="3915891" y="1995804"/>
            <a:ext cx="9584" cy="2542596"/>
          </a:xfrm>
          <a:prstGeom prst="line">
            <a:avLst/>
          </a:prstGeom>
          <a:ln w="15875" cap="flat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>
            <a:off x="3911512" y="1995536"/>
            <a:ext cx="2806762" cy="0"/>
          </a:xfrm>
          <a:prstGeom prst="line">
            <a:avLst/>
          </a:prstGeom>
          <a:ln w="50800" cap="flat">
            <a:solidFill>
              <a:schemeClr val="accent1">
                <a:lumMod val="60000"/>
                <a:lumOff val="4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1996098" y="1764366"/>
            <a:ext cx="990732" cy="1764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영업일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(D</a:t>
            </a: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5199464" y="1764366"/>
            <a:ext cx="990732" cy="1764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영업일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(D</a:t>
            </a: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141895" y="2490902"/>
            <a:ext cx="924683" cy="2359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DBIO</a:t>
            </a:r>
            <a:endParaRPr lang="ko-KR" altLang="en-US" sz="825" b="1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971861" y="2879974"/>
            <a:ext cx="2684575" cy="1422711"/>
          </a:xfrm>
          <a:prstGeom prst="rect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pic>
        <p:nvPicPr>
          <p:cNvPr id="122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14" y="4936928"/>
            <a:ext cx="686804" cy="363386"/>
          </a:xfrm>
          <a:prstGeom prst="rect">
            <a:avLst/>
          </a:prstGeom>
          <a:blipFill>
            <a:blip r:embed="rId3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1658976" y="5005699"/>
            <a:ext cx="1067921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 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배치용 스냅샷</a:t>
            </a:r>
          </a:p>
        </p:txBody>
      </p:sp>
      <p:pic>
        <p:nvPicPr>
          <p:cNvPr id="125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456" y="4965394"/>
            <a:ext cx="686804" cy="363386"/>
          </a:xfrm>
          <a:prstGeom prst="rect">
            <a:avLst/>
          </a:prstGeom>
          <a:blipFill>
            <a:blip r:embed="rId3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  <a:ln>
            <a:noFill/>
          </a:ln>
        </p:spPr>
      </p:pic>
      <p:sp>
        <p:nvSpPr>
          <p:cNvPr id="126" name="TextBox 125"/>
          <p:cNvSpPr txBox="1"/>
          <p:nvPr/>
        </p:nvSpPr>
        <p:spPr>
          <a:xfrm>
            <a:off x="4313898" y="5034165"/>
            <a:ext cx="1067921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 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배치용 스냅샷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grpSp>
        <p:nvGrpSpPr>
          <p:cNvPr id="127" name="그룹 126"/>
          <p:cNvGrpSpPr/>
          <p:nvPr/>
        </p:nvGrpSpPr>
        <p:grpSpPr>
          <a:xfrm>
            <a:off x="4279687" y="3092563"/>
            <a:ext cx="910658" cy="375445"/>
            <a:chOff x="1187870" y="5949152"/>
            <a:chExt cx="992822" cy="409319"/>
          </a:xfrm>
        </p:grpSpPr>
        <p:pic>
          <p:nvPicPr>
            <p:cNvPr id="128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870" y="5949152"/>
              <a:ext cx="992822" cy="396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" name="TextBox 128"/>
            <p:cNvSpPr txBox="1"/>
            <p:nvPr/>
          </p:nvSpPr>
          <p:spPr>
            <a:xfrm>
              <a:off x="1400988" y="6103945"/>
              <a:ext cx="566583" cy="254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본원장</a:t>
              </a:r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 </a:t>
              </a:r>
              <a:endParaRPr lang="ko-KR" altLang="en-US" sz="917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5056905" y="3715468"/>
            <a:ext cx="686804" cy="375445"/>
            <a:chOff x="2756756" y="5949152"/>
            <a:chExt cx="1033873" cy="409319"/>
          </a:xfrm>
        </p:grpSpPr>
        <p:pic>
          <p:nvPicPr>
            <p:cNvPr id="131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6756" y="5949152"/>
              <a:ext cx="1033873" cy="396172"/>
            </a:xfrm>
            <a:prstGeom prst="rect">
              <a:avLst/>
            </a:prstGeom>
            <a:blipFill>
              <a:blip r:embed="rId3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tile tx="0" ty="0" sx="100000" sy="100000" flip="none" algn="tl"/>
            </a:blipFill>
            <a:ln>
              <a:noFill/>
            </a:ln>
          </p:spPr>
        </p:pic>
        <p:sp>
          <p:nvSpPr>
            <p:cNvPr id="132" name="TextBox 131"/>
            <p:cNvSpPr txBox="1"/>
            <p:nvPr/>
          </p:nvSpPr>
          <p:spPr>
            <a:xfrm>
              <a:off x="2924287" y="6103945"/>
              <a:ext cx="598923" cy="254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D-1</a:t>
              </a:r>
              <a:endParaRPr lang="ko-KR" altLang="en-US" sz="917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</p:txBody>
        </p:sp>
      </p:grpSp>
      <p:pic>
        <p:nvPicPr>
          <p:cNvPr id="133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239" y="3025279"/>
            <a:ext cx="572319" cy="51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" name="직사각형 133"/>
          <p:cNvSpPr>
            <a:spLocks noChangeArrowheads="1"/>
          </p:cNvSpPr>
          <p:nvPr/>
        </p:nvSpPr>
        <p:spPr bwMode="auto">
          <a:xfrm>
            <a:off x="5829420" y="3118554"/>
            <a:ext cx="759477" cy="1981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round/>
            <a:headEnd/>
            <a:tailEnd type="none" w="sm" len="sm"/>
          </a:ln>
          <a:effectLst>
            <a:innerShdw blurRad="88900">
              <a:schemeClr val="bg1">
                <a:lumMod val="50000"/>
              </a:schemeClr>
            </a:innerShdw>
          </a:effectLst>
        </p:spPr>
        <p:txBody>
          <a:bodyPr wrap="square" lIns="0" tIns="0" rIns="0" bIns="0" anchor="ctr"/>
          <a:lstStyle/>
          <a:p>
            <a:pPr marL="0" lvl="1" algn="ctr" defTabSz="1390712"/>
            <a:r>
              <a:rPr lang="en-US" altLang="ko-KR" sz="825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Before Image</a:t>
            </a:r>
          </a:p>
        </p:txBody>
      </p:sp>
      <p:sp>
        <p:nvSpPr>
          <p:cNvPr id="135" name="직사각형 134"/>
          <p:cNvSpPr>
            <a:spLocks noChangeArrowheads="1"/>
          </p:cNvSpPr>
          <p:nvPr/>
        </p:nvSpPr>
        <p:spPr bwMode="auto">
          <a:xfrm>
            <a:off x="5829420" y="3356780"/>
            <a:ext cx="759477" cy="1981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round/>
            <a:headEnd/>
            <a:tailEnd type="none" w="sm" len="sm"/>
          </a:ln>
          <a:effectLst>
            <a:innerShdw blurRad="88900">
              <a:schemeClr val="bg1">
                <a:lumMod val="50000"/>
              </a:schemeClr>
            </a:innerShdw>
          </a:effectLst>
        </p:spPr>
        <p:txBody>
          <a:bodyPr wrap="square" lIns="0" tIns="0" rIns="0" bIns="0" anchor="ctr"/>
          <a:lstStyle/>
          <a:p>
            <a:pPr marL="0" lvl="1" algn="ctr" defTabSz="1390712"/>
            <a:r>
              <a:rPr lang="en-US" altLang="ko-KR" sz="825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After Image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14420" y="2854171"/>
            <a:ext cx="870751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거래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(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보정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)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로그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4067036" y="2854170"/>
            <a:ext cx="2684575" cy="1448515"/>
          </a:xfrm>
          <a:prstGeom prst="rect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3443067" y="2463204"/>
            <a:ext cx="822662" cy="374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보정로그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저장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Flag On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4406878" y="2490902"/>
            <a:ext cx="924683" cy="2359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825" b="1" baseline="30000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주</a:t>
            </a:r>
            <a:r>
              <a:rPr lang="en-US" altLang="ko-KR" sz="825" b="1" baseline="30000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r>
              <a:rPr lang="en-US" altLang="ko-KR" sz="825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DBIO</a:t>
            </a:r>
            <a:endParaRPr lang="ko-KR" altLang="en-US" sz="825" b="1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grpSp>
        <p:nvGrpSpPr>
          <p:cNvPr id="140" name="그룹 139"/>
          <p:cNvGrpSpPr/>
          <p:nvPr/>
        </p:nvGrpSpPr>
        <p:grpSpPr>
          <a:xfrm>
            <a:off x="5919379" y="4828413"/>
            <a:ext cx="870751" cy="700734"/>
            <a:chOff x="5008654" y="4766955"/>
            <a:chExt cx="949314" cy="763957"/>
          </a:xfrm>
        </p:grpSpPr>
        <p:pic>
          <p:nvPicPr>
            <p:cNvPr id="141" name="Picture 39" descr="\\10.250.177.62\###   개별 제안팀   ###\### Design Library ###\900. 개인폴더\916.박  성\DB\DB_05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05" y="4953501"/>
              <a:ext cx="623956" cy="55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직사각형 141"/>
            <p:cNvSpPr>
              <a:spLocks noChangeArrowheads="1"/>
            </p:cNvSpPr>
            <p:nvPr/>
          </p:nvSpPr>
          <p:spPr bwMode="auto">
            <a:xfrm>
              <a:off x="5025008" y="5055192"/>
              <a:ext cx="828000" cy="21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round/>
              <a:headEnd/>
              <a:tailEnd type="none" w="sm" len="sm"/>
            </a:ln>
            <a:effectLst>
              <a:innerShdw blurRad="88900">
                <a:schemeClr val="bg1">
                  <a:lumMod val="50000"/>
                </a:schemeClr>
              </a:innerShdw>
            </a:effectLst>
          </p:spPr>
          <p:txBody>
            <a:bodyPr wrap="square" lIns="0" tIns="0" rIns="0" bIns="0" anchor="ctr"/>
            <a:lstStyle/>
            <a:p>
              <a:pPr marL="0" lvl="1" algn="ctr" defTabSz="1390712"/>
              <a:r>
                <a:rPr lang="en-US" altLang="ko-KR" sz="82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  <a:sym typeface="Monotype Sorts"/>
                </a:rPr>
                <a:t>Before Image</a:t>
              </a:r>
            </a:p>
          </p:txBody>
        </p:sp>
        <p:sp>
          <p:nvSpPr>
            <p:cNvPr id="143" name="직사각형 142"/>
            <p:cNvSpPr>
              <a:spLocks noChangeArrowheads="1"/>
            </p:cNvSpPr>
            <p:nvPr/>
          </p:nvSpPr>
          <p:spPr bwMode="auto">
            <a:xfrm>
              <a:off x="5025008" y="5314912"/>
              <a:ext cx="828000" cy="21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round/>
              <a:headEnd/>
              <a:tailEnd type="none" w="sm" len="sm"/>
            </a:ln>
            <a:effectLst>
              <a:innerShdw blurRad="88900">
                <a:schemeClr val="bg1">
                  <a:lumMod val="50000"/>
                </a:schemeClr>
              </a:innerShdw>
            </a:effectLst>
          </p:spPr>
          <p:txBody>
            <a:bodyPr wrap="square" lIns="0" tIns="0" rIns="0" bIns="0" anchor="ctr"/>
            <a:lstStyle/>
            <a:p>
              <a:pPr marL="0" lvl="1" algn="ctr" defTabSz="1390712"/>
              <a:r>
                <a:rPr lang="en-US" altLang="ko-KR" sz="82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  <a:sym typeface="Monotype Sorts"/>
                </a:rPr>
                <a:t>After Image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008654" y="4766955"/>
              <a:ext cx="949314" cy="254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거래</a:t>
              </a:r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(</a:t>
              </a:r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보정</a:t>
              </a:r>
              <a:r>
                <a:rPr lang="en-US" altLang="ko-KR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)</a:t>
              </a:r>
              <a:r>
                <a:rPr lang="ko-KR" altLang="en-US" sz="917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로그</a:t>
              </a:r>
              <a:endParaRPr lang="ko-KR" altLang="en-US" sz="917" b="1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</p:txBody>
        </p:sp>
      </p:grpSp>
      <p:cxnSp>
        <p:nvCxnSpPr>
          <p:cNvPr id="145" name="직선 화살표 연결선 144"/>
          <p:cNvCxnSpPr>
            <a:endCxn id="119" idx="0"/>
          </p:cNvCxnSpPr>
          <p:nvPr/>
        </p:nvCxnSpPr>
        <p:spPr>
          <a:xfrm>
            <a:off x="1599805" y="1995536"/>
            <a:ext cx="4431" cy="495366"/>
          </a:xfrm>
          <a:prstGeom prst="straightConnector1">
            <a:avLst/>
          </a:prstGeom>
          <a:ln w="12700" cap="flat">
            <a:solidFill>
              <a:srgbClr val="0000FF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/>
          <p:cNvCxnSpPr>
            <a:stCxn id="119" idx="2"/>
            <a:endCxn id="101" idx="0"/>
          </p:cNvCxnSpPr>
          <p:nvPr/>
        </p:nvCxnSpPr>
        <p:spPr>
          <a:xfrm flipH="1">
            <a:off x="1601717" y="2726837"/>
            <a:ext cx="2519" cy="391529"/>
          </a:xfrm>
          <a:prstGeom prst="straightConnector1">
            <a:avLst/>
          </a:prstGeom>
          <a:ln w="12700" cap="flat">
            <a:solidFill>
              <a:srgbClr val="0000FF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873268" y="2061585"/>
            <a:ext cx="792604" cy="37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거래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Operation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559527" y="2623000"/>
            <a:ext cx="566182" cy="515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Insert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Update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Delete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1395890" y="5680504"/>
            <a:ext cx="1660453" cy="4100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D-1 </a:t>
            </a:r>
            <a:r>
              <a:rPr lang="ko-KR" altLang="en-US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배치 수행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34316" y="2023320"/>
            <a:ext cx="787898" cy="37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거래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Operation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cxnSp>
        <p:nvCxnSpPr>
          <p:cNvPr id="151" name="직선 화살표 연결선 150"/>
          <p:cNvCxnSpPr/>
          <p:nvPr/>
        </p:nvCxnSpPr>
        <p:spPr>
          <a:xfrm>
            <a:off x="4798741" y="1995536"/>
            <a:ext cx="4431" cy="495366"/>
          </a:xfrm>
          <a:prstGeom prst="straightConnector1">
            <a:avLst/>
          </a:prstGeom>
          <a:ln w="12700" cap="flat">
            <a:solidFill>
              <a:srgbClr val="0000FF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/>
          <p:cNvCxnSpPr/>
          <p:nvPr/>
        </p:nvCxnSpPr>
        <p:spPr>
          <a:xfrm flipH="1">
            <a:off x="4800652" y="2726837"/>
            <a:ext cx="2519" cy="391529"/>
          </a:xfrm>
          <a:prstGeom prst="straightConnector1">
            <a:avLst/>
          </a:prstGeom>
          <a:ln w="12700" cap="flat">
            <a:solidFill>
              <a:srgbClr val="0000FF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4838684" y="2762788"/>
            <a:ext cx="566182" cy="515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Insert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Update</a:t>
            </a:r>
            <a:b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</a:b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Delete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54" name="오른쪽 화살표 153"/>
          <p:cNvSpPr/>
          <p:nvPr/>
        </p:nvSpPr>
        <p:spPr>
          <a:xfrm>
            <a:off x="3656436" y="3580707"/>
            <a:ext cx="552261" cy="528390"/>
          </a:xfrm>
          <a:prstGeom prst="rightArrow">
            <a:avLst/>
          </a:prstGeom>
          <a:solidFill>
            <a:srgbClr val="9999FF">
              <a:alpha val="82000"/>
            </a:srgbClr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55" name="오른쪽 화살표 154"/>
          <p:cNvSpPr/>
          <p:nvPr/>
        </p:nvSpPr>
        <p:spPr>
          <a:xfrm rot="5400000">
            <a:off x="5175593" y="4295309"/>
            <a:ext cx="552261" cy="528390"/>
          </a:xfrm>
          <a:prstGeom prst="rightArrow">
            <a:avLst/>
          </a:prstGeom>
          <a:solidFill>
            <a:srgbClr val="9999FF">
              <a:alpha val="82000"/>
            </a:srgbClr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56" name="오른쪽 화살표 155"/>
          <p:cNvSpPr/>
          <p:nvPr/>
        </p:nvSpPr>
        <p:spPr>
          <a:xfrm flipH="1">
            <a:off x="3463912" y="4802610"/>
            <a:ext cx="612723" cy="528390"/>
          </a:xfrm>
          <a:prstGeom prst="rightArrow">
            <a:avLst/>
          </a:prstGeom>
          <a:solidFill>
            <a:srgbClr val="9999FF">
              <a:alpha val="82000"/>
            </a:srgbClr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cxnSp>
        <p:nvCxnSpPr>
          <p:cNvPr id="157" name="꺾인 연결선 156"/>
          <p:cNvCxnSpPr>
            <a:stCxn id="139" idx="3"/>
            <a:endCxn id="134" idx="0"/>
          </p:cNvCxnSpPr>
          <p:nvPr/>
        </p:nvCxnSpPr>
        <p:spPr>
          <a:xfrm>
            <a:off x="5331562" y="2608870"/>
            <a:ext cx="877597" cy="509684"/>
          </a:xfrm>
          <a:prstGeom prst="bentConnector2">
            <a:avLst/>
          </a:prstGeom>
          <a:ln w="12700" cap="flat">
            <a:solidFill>
              <a:srgbClr val="FF0000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/>
          <p:cNvSpPr/>
          <p:nvPr/>
        </p:nvSpPr>
        <p:spPr>
          <a:xfrm>
            <a:off x="5327584" y="2391830"/>
            <a:ext cx="1351653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defTabSz="1390712"/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Before/After Image </a:t>
            </a:r>
            <a:r>
              <a:rPr lang="ko-KR" altLang="en-US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저장</a:t>
            </a:r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endParaRPr lang="en-US" altLang="ko-KR" sz="825" b="1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5126240" y="4384978"/>
            <a:ext cx="857927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defTabSz="1390712"/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D-1 </a:t>
            </a:r>
            <a:r>
              <a:rPr lang="en-US" altLang="ko-KR" sz="825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SnapShot</a:t>
            </a:r>
            <a:endParaRPr lang="en-US" altLang="ko-KR" sz="825" b="1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3169211" y="5370107"/>
            <a:ext cx="101181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defTabSz="1390712"/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D-1 </a:t>
            </a:r>
            <a:r>
              <a:rPr lang="ko-KR" altLang="en-US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배치</a:t>
            </a:r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서버 기동</a:t>
            </a:r>
            <a:endParaRPr lang="en-US" altLang="ko-KR" sz="825" b="1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</p:txBody>
      </p:sp>
      <p:cxnSp>
        <p:nvCxnSpPr>
          <p:cNvPr id="161" name="직선 화살표 연결선 160"/>
          <p:cNvCxnSpPr>
            <a:stCxn id="149" idx="0"/>
            <a:endCxn id="122" idx="2"/>
          </p:cNvCxnSpPr>
          <p:nvPr/>
        </p:nvCxnSpPr>
        <p:spPr>
          <a:xfrm flipV="1">
            <a:off x="2226116" y="5300314"/>
            <a:ext cx="0" cy="38019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/>
          <p:cNvSpPr/>
          <p:nvPr/>
        </p:nvSpPr>
        <p:spPr>
          <a:xfrm>
            <a:off x="4263007" y="4802610"/>
            <a:ext cx="2520499" cy="877895"/>
          </a:xfrm>
          <a:prstGeom prst="rect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3" name="위로 구부러진 화살표 162"/>
          <p:cNvSpPr/>
          <p:nvPr/>
        </p:nvSpPr>
        <p:spPr>
          <a:xfrm rot="836095" flipH="1">
            <a:off x="5093053" y="5424738"/>
            <a:ext cx="1097142" cy="363268"/>
          </a:xfrm>
          <a:prstGeom prst="curvedUpArrow">
            <a:avLst/>
          </a:prstGeom>
          <a:solidFill>
            <a:srgbClr val="FF33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5027946" y="5892415"/>
            <a:ext cx="138050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defTabSz="1390712"/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Before/After Image </a:t>
            </a:r>
            <a:r>
              <a:rPr lang="ko-KR" altLang="en-US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보정</a:t>
            </a:r>
            <a:r>
              <a:rPr lang="en-US" altLang="ko-KR" sz="825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</a:t>
            </a:r>
            <a:endParaRPr lang="en-US" altLang="ko-KR" sz="825" b="1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  <a:sym typeface="Monotype Sorts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4010586" y="2292774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6" name="타원 165"/>
          <p:cNvSpPr/>
          <p:nvPr/>
        </p:nvSpPr>
        <p:spPr>
          <a:xfrm>
            <a:off x="4572000" y="2821164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7" name="타원 166"/>
          <p:cNvSpPr/>
          <p:nvPr/>
        </p:nvSpPr>
        <p:spPr>
          <a:xfrm>
            <a:off x="6289269" y="2623000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3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8" name="타원 167"/>
          <p:cNvSpPr/>
          <p:nvPr/>
        </p:nvSpPr>
        <p:spPr>
          <a:xfrm>
            <a:off x="4094096" y="4404800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4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5141105" y="5727311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5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0" name="타원 169"/>
          <p:cNvSpPr/>
          <p:nvPr/>
        </p:nvSpPr>
        <p:spPr>
          <a:xfrm>
            <a:off x="1484228" y="5793342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6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1" name="타원 170"/>
          <p:cNvSpPr/>
          <p:nvPr/>
        </p:nvSpPr>
        <p:spPr>
          <a:xfrm>
            <a:off x="6982799" y="1962512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2" name="타원 171"/>
          <p:cNvSpPr/>
          <p:nvPr/>
        </p:nvSpPr>
        <p:spPr>
          <a:xfrm>
            <a:off x="6982799" y="2363236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3" name="타원 172"/>
          <p:cNvSpPr/>
          <p:nvPr/>
        </p:nvSpPr>
        <p:spPr>
          <a:xfrm>
            <a:off x="6982781" y="2556969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3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917118" y="4326298"/>
            <a:ext cx="1530880" cy="37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보정로그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저장 </a:t>
            </a:r>
            <a:endParaRPr lang="en-US" altLang="ko-KR" sz="917" b="1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Flag Off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6982781" y="2887213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4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6" name="타원 175"/>
          <p:cNvSpPr/>
          <p:nvPr/>
        </p:nvSpPr>
        <p:spPr>
          <a:xfrm>
            <a:off x="6973250" y="3250482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5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7" name="타원 176"/>
          <p:cNvSpPr/>
          <p:nvPr/>
        </p:nvSpPr>
        <p:spPr>
          <a:xfrm>
            <a:off x="6982799" y="4109116"/>
            <a:ext cx="165104" cy="16510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bg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6</a:t>
            </a:r>
            <a:endParaRPr lang="ko-KR" altLang="en-US" sz="825" b="1">
              <a:solidFill>
                <a:schemeClr val="bg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4373547" y="2427997"/>
            <a:ext cx="986912" cy="3442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5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5707477" y="2844739"/>
            <a:ext cx="1044134" cy="8019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5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5743861" y="4821512"/>
            <a:ext cx="1044134" cy="8019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5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4368416" y="2250844"/>
            <a:ext cx="183084" cy="1576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1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1</a:t>
            </a:r>
            <a:endParaRPr lang="ko-KR" altLang="en-US" sz="1101" b="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5705766" y="2680034"/>
            <a:ext cx="183084" cy="1576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1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2</a:t>
            </a:r>
            <a:endParaRPr lang="ko-KR" altLang="en-US" sz="1101" b="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5743709" y="4657398"/>
            <a:ext cx="183084" cy="1576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1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3</a:t>
            </a:r>
            <a:endParaRPr lang="ko-KR" altLang="en-US" sz="1101" b="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6978418" y="4557631"/>
            <a:ext cx="183084" cy="1576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1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1</a:t>
            </a:r>
            <a:endParaRPr lang="ko-KR" altLang="en-US" sz="1101" b="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6981652" y="4764823"/>
            <a:ext cx="183084" cy="1576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1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2</a:t>
            </a:r>
            <a:endParaRPr lang="ko-KR" altLang="en-US" sz="1101" b="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6973791" y="5125128"/>
            <a:ext cx="183084" cy="1576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1" b="1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3</a:t>
            </a:r>
            <a:endParaRPr lang="ko-KR" altLang="en-US" sz="1101" b="1"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91" name="제목 1"/>
          <p:cNvSpPr txBox="1">
            <a:spLocks/>
          </p:cNvSpPr>
          <p:nvPr/>
        </p:nvSpPr>
        <p:spPr>
          <a:xfrm>
            <a:off x="292549" y="261545"/>
            <a:ext cx="7271416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indent="0">
              <a:lnSpc>
                <a:spcPct val="90000"/>
              </a:lnSpc>
              <a:spcBef>
                <a:spcPct val="0"/>
              </a:spcBef>
              <a:buNone/>
              <a:defRPr lang="en-US" sz="2000" b="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ko-KR" altLang="en-US" dirty="0"/>
              <a:t>일자전환 및 보정기능</a:t>
            </a:r>
            <a:r>
              <a:rPr lang="en-US" altLang="ko-KR" dirty="0"/>
              <a:t> – DBIO </a:t>
            </a:r>
            <a:r>
              <a:rPr lang="ko-KR" altLang="en-US" dirty="0"/>
              <a:t>기능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24*365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지원</a:t>
            </a:r>
          </a:p>
        </p:txBody>
      </p:sp>
      <p:sp>
        <p:nvSpPr>
          <p:cNvPr id="92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/>
              <a:t>일자전환 시점의 시점정보를 확보하기 위하여 일자 전환 동안에 발생된 거래의 </a:t>
            </a:r>
            <a:r>
              <a:rPr lang="en-US" altLang="ko-KR"/>
              <a:t>Before Image/After Image</a:t>
            </a:r>
            <a:r>
              <a:rPr lang="ko-KR" altLang="en-US"/>
              <a:t>를 이용한 원장 보정작업을 수행하여 전일자 시점 원장 데이터를 확보함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807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텍스트 개체 틀 4"/>
          <p:cNvSpPr txBox="1">
            <a:spLocks/>
          </p:cNvSpPr>
          <p:nvPr/>
        </p:nvSpPr>
        <p:spPr>
          <a:xfrm>
            <a:off x="307977" y="1284071"/>
            <a:ext cx="9290050" cy="5057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809976" rtl="0" eaLnBrk="1" latinLnBrk="0" hangingPunct="1">
              <a:lnSpc>
                <a:spcPct val="100000"/>
              </a:lnSpc>
              <a:spcBef>
                <a:spcPts val="886"/>
              </a:spcBef>
              <a:buFontTx/>
              <a:buNone/>
              <a:defRPr sz="1594" kern="1200" spc="-75" baseline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B금융 제목체 Medium" panose="020B0603000000000000" pitchFamily="50" charset="-127"/>
                <a:ea typeface="KB금융 제목체 Medium" panose="020B0603000000000000" pitchFamily="50" charset="-127"/>
                <a:cs typeface="+mn-cs"/>
              </a:defRPr>
            </a:lvl1pPr>
            <a:lvl2pPr marL="428579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21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159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17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5738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317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27433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32420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37408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42396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2090" indent="-262090">
              <a:buFont typeface="KB금융 본문체 Light" panose="020B0303000000000000" pitchFamily="50" charset="-127"/>
              <a:buChar char="▣"/>
              <a:defRPr/>
            </a:pPr>
            <a:endParaRPr lang="ko-KR" altLang="en-US" sz="1376">
              <a:ln>
                <a:solidFill>
                  <a:sysClr val="window" lastClr="FFFFFF">
                    <a:lumMod val="95000"/>
                    <a:alpha val="0"/>
                  </a:sysClr>
                </a:solidFill>
              </a:ln>
              <a:solidFill>
                <a:sysClr val="windowText" lastClr="000000">
                  <a:lumMod val="85000"/>
                  <a:lumOff val="15000"/>
                </a:sysClr>
              </a:solidFill>
              <a:cs typeface="Arial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96110" y="1700176"/>
            <a:ext cx="9301917" cy="4764270"/>
          </a:xfrm>
          <a:prstGeom prst="rect">
            <a:avLst/>
          </a:prstGeom>
          <a:solidFill>
            <a:sysClr val="window" lastClr="FFFFFF"/>
          </a:solidFill>
          <a:ln w="28575">
            <a:solidFill>
              <a:srgbClr val="C3B8A9">
                <a:lumMod val="60000"/>
                <a:lumOff val="40000"/>
              </a:srgbClr>
            </a:solidFill>
          </a:ln>
          <a:effectLst/>
        </p:spPr>
        <p:txBody>
          <a:bodyPr wrap="square" lIns="81715" tIns="40858" rIns="32172" bIns="40858" rtlCol="0" anchor="ctr">
            <a:noAutofit/>
          </a:bodyPr>
          <a:lstStyle/>
          <a:p>
            <a:pPr algn="ctr" defTabSz="888880">
              <a:lnSpc>
                <a:spcPct val="110000"/>
              </a:lnSpc>
              <a:spcBef>
                <a:spcPts val="269"/>
              </a:spcBef>
              <a:defRPr/>
            </a:pPr>
            <a:endParaRPr lang="ko-KR" altLang="en-US" sz="1192" b="1" kern="0" dirty="0" err="1">
              <a:ln>
                <a:solidFill>
                  <a:srgbClr val="FCAF17">
                    <a:lumMod val="75000"/>
                    <a:alpha val="0"/>
                  </a:srgbClr>
                </a:solidFill>
              </a:ln>
              <a:solidFill>
                <a:prstClr val="white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  <p:sp>
        <p:nvSpPr>
          <p:cNvPr id="69" name="Rectangle 79">
            <a:extLst>
              <a:ext uri="{FF2B5EF4-FFF2-40B4-BE49-F238E27FC236}">
                <a16:creationId xmlns:a16="http://schemas.microsoft.com/office/drawing/2014/main" id="{A3AD406F-BFD1-4068-95AD-BB8CE869E065}"/>
              </a:ext>
            </a:extLst>
          </p:cNvPr>
          <p:cNvSpPr/>
          <p:nvPr/>
        </p:nvSpPr>
        <p:spPr bwMode="gray">
          <a:xfrm>
            <a:off x="318193" y="1700176"/>
            <a:ext cx="9291700" cy="290688"/>
          </a:xfrm>
          <a:prstGeom prst="rect">
            <a:avLst/>
          </a:prstGeom>
          <a:solidFill>
            <a:srgbClr val="645B4C"/>
          </a:solidFill>
          <a:ln w="25400" algn="ctr">
            <a:noFill/>
            <a:miter lim="800000"/>
            <a:headEnd/>
            <a:tailEnd/>
          </a:ln>
        </p:spPr>
        <p:txBody>
          <a:bodyPr lIns="82552" tIns="66041" rIns="82552" bIns="66041" rtlCol="0" anchor="ctr"/>
          <a:lstStyle/>
          <a:p>
            <a:pPr algn="ctr" defTabSz="888880" fontAlgn="base" latinLnBrk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ko-KR" altLang="en-US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정기 반영 </a:t>
            </a:r>
            <a:r>
              <a:rPr lang="en-US" altLang="ko-KR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: </a:t>
            </a:r>
            <a:r>
              <a:rPr lang="ko-KR" altLang="en-US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일자전환 용 별도 인스턴스</a:t>
            </a:r>
            <a:endParaRPr lang="en-US" sz="1192" b="1" spc="-37">
              <a:ln>
                <a:solidFill>
                  <a:srgbClr val="FCAF17">
                    <a:lumMod val="75000"/>
                    <a:alpha val="0"/>
                  </a:srgbClr>
                </a:solidFill>
              </a:ln>
              <a:solidFill>
                <a:prstClr val="white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399231" y="4082311"/>
            <a:ext cx="782652" cy="231012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284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정기반영</a:t>
            </a:r>
            <a:endParaRPr lang="ko-KR" altLang="en-US" sz="1284" b="1" dirty="0">
              <a:solidFill>
                <a:schemeClr val="bg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85004" y="4077030"/>
            <a:ext cx="7798908" cy="23154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66041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현재 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M/F(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상품처리계 시스템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은 일괄적으로 일자전환 시 프로그램 변경 적용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. (100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개 이상의 프로그램 모듈 변경이 동시에 반영되는 구조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b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- I/O Map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배포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,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프로그램 배포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,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중요 데이터의 변경점의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동시성 확보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를 위한 프로세스</a:t>
            </a:r>
            <a:endParaRPr lang="en-US" altLang="ko-KR" sz="1009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코어뱅킹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#2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는 대량의 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I/O Map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의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일괄적용 시점 확보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와 중요 데이터 변경의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동시성 확보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를 위해 일자전환 시 프로그램 모듈을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일괄변경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적용 수행이 원칙</a:t>
            </a:r>
            <a:endParaRPr lang="en-US" altLang="ko-KR" sz="1009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 전에 당일 적용 대상 프로그램 모듈을 복사 후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일자전환용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인스턴스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에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사전 적용</a:t>
            </a:r>
            <a:b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이때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WAS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인스턴스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에도 자원은 함께 복사하되 적용을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유보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일자전환이 시작되면 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WAS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앞단의 </a:t>
            </a:r>
            <a:r>
              <a:rPr lang="en-US" altLang="ko-KR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WebServer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에서 인입된 거래를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WAS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인스턴스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에서 받아서 처리만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일자전환용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인스턴스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로 거래를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분기</a:t>
            </a:r>
            <a:b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- </a:t>
            </a:r>
            <a:r>
              <a:rPr lang="ko-KR" altLang="en-US" sz="1009" b="1">
                <a:solidFill>
                  <a:srgbClr val="0000FF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프레임워크 자체 기능 개발 라우팅 </a:t>
            </a:r>
            <a:endParaRPr lang="en-US" altLang="ko-KR" sz="1009" b="1">
              <a:solidFill>
                <a:srgbClr val="0000FF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시스템에 유보되었던 프로그램 모듈을 일괄 적용</a:t>
            </a:r>
            <a:endParaRPr lang="en-US" altLang="ko-KR" sz="1009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절차에 따라 일자전환이 완료 되면 거래 인입을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일자전환용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인스턴스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에서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</a:t>
            </a:r>
            <a:r>
              <a:rPr lang="en-US" altLang="ko-KR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WAS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인스턴스 </a:t>
            </a:r>
            <a:r>
              <a:rPr lang="ko-KR" altLang="en-US" sz="1009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로 거래를 </a:t>
            </a:r>
            <a:r>
              <a:rPr lang="ko-KR" altLang="en-US" sz="1009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재분기</a:t>
            </a:r>
            <a:endParaRPr lang="en-US" altLang="ko-KR" sz="1009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72" name="오른쪽 화살표 71"/>
          <p:cNvSpPr/>
          <p:nvPr/>
        </p:nvSpPr>
        <p:spPr>
          <a:xfrm>
            <a:off x="1456927" y="2131824"/>
            <a:ext cx="6099236" cy="229565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515578" y="2262926"/>
            <a:ext cx="5752886" cy="13198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cxnSp>
        <p:nvCxnSpPr>
          <p:cNvPr id="74" name="직선 연결선 73"/>
          <p:cNvCxnSpPr/>
          <p:nvPr/>
        </p:nvCxnSpPr>
        <p:spPr>
          <a:xfrm>
            <a:off x="2941149" y="2262926"/>
            <a:ext cx="13752" cy="1600497"/>
          </a:xfrm>
          <a:prstGeom prst="line">
            <a:avLst/>
          </a:prstGeom>
          <a:ln w="15875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>
            <a:stCxn id="73" idx="0"/>
          </p:cNvCxnSpPr>
          <p:nvPr/>
        </p:nvCxnSpPr>
        <p:spPr>
          <a:xfrm flipH="1">
            <a:off x="4386185" y="2262926"/>
            <a:ext cx="5837" cy="1591503"/>
          </a:xfrm>
          <a:prstGeom prst="line">
            <a:avLst/>
          </a:prstGeom>
          <a:ln w="15875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5822668" y="2283177"/>
            <a:ext cx="13461" cy="1588246"/>
          </a:xfrm>
          <a:prstGeom prst="line">
            <a:avLst/>
          </a:prstGeom>
          <a:ln w="15875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왼쪽/오른쪽 화살표 76"/>
          <p:cNvSpPr/>
          <p:nvPr/>
        </p:nvSpPr>
        <p:spPr>
          <a:xfrm>
            <a:off x="1556762" y="3777283"/>
            <a:ext cx="929422" cy="112281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78" name="왼쪽/오른쪽 화살표 77"/>
          <p:cNvSpPr/>
          <p:nvPr/>
        </p:nvSpPr>
        <p:spPr>
          <a:xfrm>
            <a:off x="2489139" y="3777283"/>
            <a:ext cx="929422" cy="112281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rgbClr val="FF0000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변경관리 적용</a:t>
            </a:r>
          </a:p>
        </p:txBody>
      </p:sp>
      <p:sp>
        <p:nvSpPr>
          <p:cNvPr id="79" name="왼쪽/오른쪽 화살표 78"/>
          <p:cNvSpPr/>
          <p:nvPr/>
        </p:nvSpPr>
        <p:spPr>
          <a:xfrm>
            <a:off x="3931145" y="3778020"/>
            <a:ext cx="929422" cy="112281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0" name="왼쪽/오른쪽 화살표 79"/>
          <p:cNvSpPr/>
          <p:nvPr/>
        </p:nvSpPr>
        <p:spPr>
          <a:xfrm>
            <a:off x="5371417" y="3778020"/>
            <a:ext cx="929422" cy="112281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rgbClr val="FF0000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 종료</a:t>
            </a:r>
          </a:p>
        </p:txBody>
      </p:sp>
      <p:sp>
        <p:nvSpPr>
          <p:cNvPr id="81" name="왼쪽/오른쪽 화살표 80"/>
          <p:cNvSpPr/>
          <p:nvPr/>
        </p:nvSpPr>
        <p:spPr>
          <a:xfrm>
            <a:off x="6310751" y="3774577"/>
            <a:ext cx="929422" cy="112281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572414" y="2518277"/>
            <a:ext cx="1302252" cy="10132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621571" y="2764288"/>
            <a:ext cx="502917" cy="734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633789" y="3354011"/>
            <a:ext cx="472837" cy="129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003239" y="2519561"/>
            <a:ext cx="1326886" cy="10132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3052396" y="2764288"/>
            <a:ext cx="502917" cy="736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3069377" y="3256170"/>
            <a:ext cx="472837" cy="129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3719519" y="2764289"/>
            <a:ext cx="544124" cy="73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</a:t>
            </a: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748496" y="3349062"/>
            <a:ext cx="472836" cy="1295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439371" y="2515592"/>
            <a:ext cx="1322111" cy="10132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488528" y="2764290"/>
            <a:ext cx="502917" cy="7322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5887431" y="2520795"/>
            <a:ext cx="1319847" cy="10132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5936588" y="2771840"/>
            <a:ext cx="502917" cy="729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5887430" y="2518277"/>
            <a:ext cx="1319848" cy="1429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</a:p>
        </p:txBody>
      </p:sp>
      <p:sp>
        <p:nvSpPr>
          <p:cNvPr id="125" name="위로 구부러진 화살표 124"/>
          <p:cNvSpPr/>
          <p:nvPr/>
        </p:nvSpPr>
        <p:spPr>
          <a:xfrm rot="10800000" flipH="1">
            <a:off x="3917174" y="3658542"/>
            <a:ext cx="897348" cy="84969"/>
          </a:xfrm>
          <a:prstGeom prst="curvedUpArrow">
            <a:avLst/>
          </a:prstGeom>
          <a:solidFill>
            <a:schemeClr val="accent2">
              <a:lumMod val="40000"/>
              <a:lumOff val="60000"/>
            </a:schemeClr>
          </a:solidFill>
          <a:ln w="6350" cap="flat">
            <a:solidFill>
              <a:schemeClr val="accent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3066187" y="3367013"/>
            <a:ext cx="472836" cy="129560"/>
          </a:xfrm>
          <a:prstGeom prst="rect">
            <a:avLst/>
          </a:prstGeom>
          <a:pattFill prst="wdUpDiag">
            <a:fgClr>
              <a:schemeClr val="accent3">
                <a:lumMod val="40000"/>
                <a:lumOff val="60000"/>
              </a:schemeClr>
            </a:fgClr>
            <a:bgClr>
              <a:schemeClr val="bg1"/>
            </a:bgClr>
          </a:patt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4501878" y="3241509"/>
            <a:ext cx="472837" cy="129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4502895" y="3352353"/>
            <a:ext cx="472836" cy="129560"/>
          </a:xfrm>
          <a:prstGeom prst="rect">
            <a:avLst/>
          </a:prstGeom>
          <a:pattFill prst="wdUpDiag">
            <a:fgClr>
              <a:schemeClr val="accent3">
                <a:lumMod val="40000"/>
                <a:lumOff val="60000"/>
              </a:schemeClr>
            </a:fgClr>
            <a:bgClr>
              <a:schemeClr val="bg1"/>
            </a:bgClr>
          </a:patt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5951510" y="3236393"/>
            <a:ext cx="472837" cy="12956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5956327" y="3356992"/>
            <a:ext cx="472837" cy="1295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7803742" y="2531713"/>
            <a:ext cx="472837" cy="12956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7803744" y="2878932"/>
            <a:ext cx="472836" cy="129560"/>
          </a:xfrm>
          <a:prstGeom prst="rect">
            <a:avLst/>
          </a:prstGeom>
          <a:pattFill prst="wdUpDiag">
            <a:fgClr>
              <a:schemeClr val="accent3">
                <a:lumMod val="40000"/>
                <a:lumOff val="60000"/>
              </a:schemeClr>
            </a:fgClr>
            <a:bgClr>
              <a:schemeClr val="bg1"/>
            </a:bgClr>
          </a:patt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797148" y="2707911"/>
            <a:ext cx="472836" cy="1295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7797146" y="2358680"/>
            <a:ext cx="472837" cy="129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253601" y="2330763"/>
            <a:ext cx="127431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/>
              <a:t>변경 전 모듈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54168" y="2491711"/>
            <a:ext cx="127431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/>
              <a:t>변경 전 모듈 폐기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51873" y="2670662"/>
            <a:ext cx="127431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/>
              <a:t>변경 모듈 사전 적용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52796" y="2848002"/>
            <a:ext cx="127431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/>
              <a:t>변경 모듈 적용 유보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4435447" y="2513075"/>
            <a:ext cx="1319848" cy="1429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5177337" y="2759979"/>
            <a:ext cx="544124" cy="73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일자전환</a:t>
            </a: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WAS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3012771" y="2529649"/>
            <a:ext cx="1319848" cy="1429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</a:p>
        </p:txBody>
      </p:sp>
      <p:sp>
        <p:nvSpPr>
          <p:cNvPr id="147" name="직사각형 146"/>
          <p:cNvSpPr/>
          <p:nvPr/>
        </p:nvSpPr>
        <p:spPr>
          <a:xfrm>
            <a:off x="1568624" y="2529921"/>
            <a:ext cx="1319848" cy="1429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4702715" y="2795863"/>
            <a:ext cx="705189" cy="267352"/>
          </a:xfrm>
          <a:prstGeom prst="rightArrow">
            <a:avLst/>
          </a:prstGeom>
          <a:solidFill>
            <a:srgbClr val="FF0000">
              <a:alpha val="50000"/>
            </a:srgbClr>
          </a:solidFill>
          <a:ln w="6350" cap="flat">
            <a:solidFill>
              <a:srgbClr val="3803FB">
                <a:alpha val="50000"/>
              </a:srgb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209078" y="3354353"/>
            <a:ext cx="472836" cy="1295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24*365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지원</a:t>
            </a:r>
          </a:p>
        </p:txBody>
      </p:sp>
      <p:sp>
        <p:nvSpPr>
          <p:cNvPr id="63" name="제목 1"/>
          <p:cNvSpPr txBox="1">
            <a:spLocks/>
          </p:cNvSpPr>
          <p:nvPr/>
        </p:nvSpPr>
        <p:spPr>
          <a:xfrm>
            <a:off x="292549" y="261545"/>
            <a:ext cx="7271416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indent="0">
              <a:lnSpc>
                <a:spcPct val="90000"/>
              </a:lnSpc>
              <a:spcBef>
                <a:spcPct val="0"/>
              </a:spcBef>
              <a:buNone/>
              <a:defRPr lang="en-US" sz="2000" b="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ko-KR" altLang="en-US"/>
              <a:t>업무 프로그램 적용 </a:t>
            </a:r>
            <a:r>
              <a:rPr lang="en-US" altLang="ko-KR"/>
              <a:t>– </a:t>
            </a:r>
            <a:r>
              <a:rPr lang="ko-KR" altLang="en-US"/>
              <a:t>정기반영</a:t>
            </a:r>
            <a:r>
              <a:rPr lang="en-US" altLang="ko-KR"/>
              <a:t>(1/2)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471" y="2764290"/>
            <a:ext cx="554784" cy="743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184" y="2757232"/>
            <a:ext cx="554784" cy="743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16" name="직사각형 115"/>
          <p:cNvSpPr/>
          <p:nvPr/>
        </p:nvSpPr>
        <p:spPr>
          <a:xfrm>
            <a:off x="6645188" y="3359556"/>
            <a:ext cx="472836" cy="1295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New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308778" y="3357038"/>
            <a:ext cx="472836" cy="129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Old</a:t>
            </a:r>
            <a:endParaRPr lang="ko-KR" altLang="en-US" sz="825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64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정기 반영 </a:t>
            </a:r>
            <a:r>
              <a:rPr lang="en-US" altLang="ko-KR"/>
              <a:t>: </a:t>
            </a:r>
            <a:r>
              <a:rPr lang="ko-KR" altLang="en-US"/>
              <a:t>일자전환을 위한 별도의 일자전환용 인스턴스에 사전 반영하고 일자전환 시 변경된 모듈로 서비스 수행</a:t>
            </a:r>
            <a:r>
              <a:rPr lang="en-US" altLang="ko-KR"/>
              <a:t>, </a:t>
            </a:r>
            <a:r>
              <a:rPr lang="ko-KR" altLang="en-US"/>
              <a:t>일자 전환 중 온라인 </a:t>
            </a:r>
            <a:r>
              <a:rPr lang="en-US" altLang="ko-KR"/>
              <a:t>AP</a:t>
            </a:r>
            <a:r>
              <a:rPr lang="ko-KR" altLang="en-US"/>
              <a:t>에 변경된 </a:t>
            </a:r>
            <a:r>
              <a:rPr lang="en-US" altLang="ko-KR"/>
              <a:t>I/O </a:t>
            </a:r>
            <a:r>
              <a:rPr lang="ko-KR" altLang="en-US"/>
              <a:t>및 프로그램 반영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255" y="2279948"/>
            <a:ext cx="292633" cy="6100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654" y="2276140"/>
            <a:ext cx="292633" cy="60965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953" y="2279287"/>
            <a:ext cx="292633" cy="609653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666" y="2884888"/>
            <a:ext cx="292633" cy="35150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70" y="2895756"/>
            <a:ext cx="292633" cy="340638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314" y="2881723"/>
            <a:ext cx="292633" cy="340638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869" y="2283177"/>
            <a:ext cx="292633" cy="61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651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직사각형 399"/>
          <p:cNvSpPr/>
          <p:nvPr/>
        </p:nvSpPr>
        <p:spPr>
          <a:xfrm>
            <a:off x="5441870" y="2249670"/>
            <a:ext cx="4156155" cy="3900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57254" indent="-157254">
              <a:spcAft>
                <a:spcPts val="459"/>
              </a:spcAft>
              <a:buFont typeface="Wingdings" panose="05000000000000000000" pitchFamily="2" charset="2"/>
              <a:buChar char="§"/>
            </a:pP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평상 시 온라인 거래 서비스용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Web/WAS 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구성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일자전환 시 사용하게되는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WAS 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구성</a:t>
            </a:r>
            <a:endParaRPr lang="en-US" altLang="ko-KR" sz="1200">
              <a:solidFill>
                <a:prstClr val="black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pPr marL="157254" indent="-157254">
              <a:spcAft>
                <a:spcPts val="459"/>
              </a:spcAft>
              <a:buFont typeface="Wingdings" panose="05000000000000000000" pitchFamily="2" charset="2"/>
              <a:buChar char="§"/>
            </a:pP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일자 전환용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WAS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는 평상 시 온라인 거래 서비스 용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WAS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와 동일하게 설정</a:t>
            </a:r>
            <a:endParaRPr lang="en-US" altLang="ko-KR" sz="1200">
              <a:solidFill>
                <a:prstClr val="black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pPr marL="157254" indent="-157254">
              <a:spcAft>
                <a:spcPts val="459"/>
              </a:spcAft>
              <a:buFont typeface="Wingdings" panose="05000000000000000000" pitchFamily="2" charset="2"/>
              <a:buChar char="§"/>
            </a:pP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일자 전환용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 WAS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는 온라인 거래 서비스용과 동일한 분류로 실행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실행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WAS 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인스턴스 개수는 분류별로 최소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1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개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)</a:t>
            </a:r>
          </a:p>
          <a:p>
            <a:pPr marL="157254" indent="-157254">
              <a:spcAft>
                <a:spcPts val="459"/>
              </a:spcAft>
              <a:buFont typeface="Wingdings" panose="05000000000000000000" pitchFamily="2" charset="2"/>
              <a:buChar char="§"/>
            </a:pP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온라인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AP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의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CPU, 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메모리 자원 추가 적용 필요</a:t>
            </a:r>
            <a:b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-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예시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) 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현재 운영 시스템은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8vCore, 64GB (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최대 할당 가능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Memory</a:t>
            </a:r>
            <a:r>
              <a:rPr lang="ko-KR" altLang="en-US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는 </a:t>
            </a:r>
            <a:r>
              <a:rPr lang="en-US" altLang="ko-KR" sz="1200">
                <a:solidFill>
                  <a:prstClr val="black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128 GB)</a:t>
            </a: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33019" y="1423833"/>
            <a:ext cx="4776103" cy="286507"/>
          </a:xfrm>
          <a:prstGeom prst="rect">
            <a:avLst/>
          </a:prstGeom>
          <a:solidFill>
            <a:srgbClr val="585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84" b="1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프레임워크 라우팅</a:t>
            </a:r>
            <a:r>
              <a:rPr lang="en-US" altLang="ko-KR" sz="1284" b="1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 </a:t>
            </a:r>
            <a:r>
              <a:rPr lang="ko-KR" altLang="en-US" sz="1284" b="1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기능을 통한 처리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24*365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지원</a:t>
            </a:r>
          </a:p>
        </p:txBody>
      </p:sp>
      <p:sp>
        <p:nvSpPr>
          <p:cNvPr id="96" name="제목 1"/>
          <p:cNvSpPr txBox="1">
            <a:spLocks/>
          </p:cNvSpPr>
          <p:nvPr/>
        </p:nvSpPr>
        <p:spPr>
          <a:xfrm>
            <a:off x="292549" y="261545"/>
            <a:ext cx="7271416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indent="0">
              <a:lnSpc>
                <a:spcPct val="90000"/>
              </a:lnSpc>
              <a:spcBef>
                <a:spcPct val="0"/>
              </a:spcBef>
              <a:buNone/>
              <a:defRPr lang="en-US" sz="2000" b="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ko-KR" altLang="en-US"/>
              <a:t>업무 프로그램 적용 </a:t>
            </a:r>
            <a:r>
              <a:rPr lang="en-US" altLang="ko-KR"/>
              <a:t>– </a:t>
            </a:r>
            <a:r>
              <a:rPr lang="ko-KR" altLang="en-US"/>
              <a:t>정기반영</a:t>
            </a:r>
            <a:r>
              <a:rPr lang="en-US" altLang="ko-KR"/>
              <a:t>(2/2) </a:t>
            </a:r>
          </a:p>
        </p:txBody>
      </p:sp>
      <p:sp>
        <p:nvSpPr>
          <p:cNvPr id="9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/>
              <a:t>일자 전환 진행 시 프레임워크의 기능을 이용한 동일 </a:t>
            </a:r>
            <a:r>
              <a:rPr lang="en-US" altLang="ko-KR"/>
              <a:t>VM</a:t>
            </a:r>
            <a:r>
              <a:rPr lang="ko-KR" altLang="en-US"/>
              <a:t>내 일자전환 </a:t>
            </a:r>
            <a:r>
              <a:rPr lang="en-US" altLang="ko-KR"/>
              <a:t>WAS</a:t>
            </a:r>
            <a:r>
              <a:rPr lang="ko-KR" altLang="en-US"/>
              <a:t>로 </a:t>
            </a:r>
            <a:r>
              <a:rPr lang="en-US" altLang="ko-KR"/>
              <a:t>ReRouting </a:t>
            </a:r>
            <a:r>
              <a:rPr lang="ko-KR" altLang="en-US"/>
              <a:t>처리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461643" y="1919594"/>
            <a:ext cx="4743385" cy="4317717"/>
            <a:chOff x="335763" y="1998558"/>
            <a:chExt cx="4834094" cy="4428618"/>
          </a:xfrm>
        </p:grpSpPr>
        <p:sp>
          <p:nvSpPr>
            <p:cNvPr id="95" name="직사각형 94"/>
            <p:cNvSpPr/>
            <p:nvPr/>
          </p:nvSpPr>
          <p:spPr>
            <a:xfrm>
              <a:off x="513387" y="3475705"/>
              <a:ext cx="2675062" cy="2951471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36000" tIns="33231" rIns="36000" bIns="33231" rtlCol="0" anchor="b" anchorCtr="0"/>
            <a:lstStyle/>
            <a:p>
              <a:pPr algn="ctr" eaLnBrk="0" hangingPunct="0">
                <a:lnSpc>
                  <a:spcPct val="90000"/>
                </a:lnSpc>
                <a:buClr>
                  <a:srgbClr val="7D0900"/>
                </a:buClr>
              </a:pPr>
              <a:r>
                <a:rPr lang="ko-KR" altLang="en-US" sz="1200" b="1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온라인 </a:t>
              </a:r>
              <a:r>
                <a:rPr lang="en-US" altLang="ko-KR" sz="1200" b="1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AP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779709" y="4232850"/>
              <a:ext cx="621694" cy="4963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1 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779710" y="4916319"/>
              <a:ext cx="621694" cy="4963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2 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779709" y="5703954"/>
              <a:ext cx="621694" cy="49634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3 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513387" y="2456869"/>
              <a:ext cx="2675062" cy="865610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36000" tIns="33231" rIns="36000" bIns="33231" rtlCol="0" anchor="t" anchorCtr="0"/>
            <a:lstStyle/>
            <a:p>
              <a:pPr algn="ctr" eaLnBrk="0" hangingPunct="0">
                <a:lnSpc>
                  <a:spcPct val="90000"/>
                </a:lnSpc>
                <a:buClr>
                  <a:srgbClr val="7D0900"/>
                </a:buClr>
              </a:pPr>
              <a:r>
                <a:rPr lang="en-US" altLang="ko-KR" sz="1050" b="1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Web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1358617" y="2741447"/>
              <a:ext cx="1120138" cy="3228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Web Server</a:t>
              </a:r>
              <a:endParaRPr lang="ko-KR" altLang="en-US" sz="105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1953900" y="4232848"/>
              <a:ext cx="621694" cy="49634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1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일자전환</a:t>
              </a:r>
              <a:endParaRPr lang="en-US" altLang="ko-KR" sz="8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  <a:p>
              <a:pPr algn="ctr"/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2111076" y="4916317"/>
              <a:ext cx="621694" cy="4963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2 </a:t>
              </a:r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일자전환</a:t>
              </a:r>
              <a:endParaRPr lang="en-US" altLang="ko-KR" sz="8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  <a:p>
              <a:pPr algn="ctr"/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2268256" y="5703952"/>
              <a:ext cx="621694" cy="49634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3 </a:t>
              </a:r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일자전환</a:t>
              </a:r>
              <a:endParaRPr lang="en-US" altLang="ko-KR" sz="8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endParaRPr>
            </a:p>
            <a:p>
              <a:pPr algn="ctr"/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cxnSp>
          <p:nvCxnSpPr>
            <p:cNvPr id="105" name="직선 화살표 연결선 104"/>
            <p:cNvCxnSpPr/>
            <p:nvPr/>
          </p:nvCxnSpPr>
          <p:spPr>
            <a:xfrm>
              <a:off x="430272" y="2887325"/>
              <a:ext cx="928345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" name="직선 화살표 연결선 105"/>
            <p:cNvCxnSpPr>
              <a:stCxn id="101" idx="1"/>
              <a:endCxn id="97" idx="0"/>
            </p:cNvCxnSpPr>
            <p:nvPr/>
          </p:nvCxnSpPr>
          <p:spPr>
            <a:xfrm flipH="1">
              <a:off x="1090557" y="2902872"/>
              <a:ext cx="268060" cy="1329978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7" name="직사각형 106"/>
            <p:cNvSpPr/>
            <p:nvPr/>
          </p:nvSpPr>
          <p:spPr>
            <a:xfrm>
              <a:off x="4166097" y="2456869"/>
              <a:ext cx="1003760" cy="3970307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36000" tIns="33231" rIns="36000" bIns="33231" rtlCol="0" anchor="ctr" anchorCtr="0"/>
            <a:lstStyle/>
            <a:p>
              <a:pPr algn="ctr" eaLnBrk="0" hangingPunct="0">
                <a:lnSpc>
                  <a:spcPct val="90000"/>
                </a:lnSpc>
                <a:buClr>
                  <a:srgbClr val="7D0900"/>
                </a:buClr>
              </a:pPr>
              <a:r>
                <a:rPr lang="en-US" altLang="ko-KR" sz="1200" b="1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EAI</a:t>
              </a:r>
            </a:p>
            <a:p>
              <a:pPr algn="ctr" eaLnBrk="0" hangingPunct="0">
                <a:lnSpc>
                  <a:spcPct val="90000"/>
                </a:lnSpc>
                <a:buClr>
                  <a:srgbClr val="7D0900"/>
                </a:buClr>
              </a:pPr>
              <a:r>
                <a:rPr lang="en-US" altLang="ko-KR" sz="1200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(</a:t>
              </a:r>
              <a:r>
                <a:rPr lang="ko-KR" altLang="en-US" sz="1200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대외</a:t>
              </a:r>
              <a:r>
                <a:rPr lang="en-US" altLang="ko-KR" sz="1200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 or </a:t>
              </a:r>
              <a:r>
                <a:rPr lang="ko-KR" altLang="en-US" sz="1200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대내</a:t>
              </a:r>
              <a:r>
                <a:rPr lang="en-US" altLang="ko-KR" sz="1200" kern="0">
                  <a:latin typeface="KB금융 제목체 Light" panose="020B0303000000000000" pitchFamily="50" charset="-127"/>
                  <a:ea typeface="KB금융 제목체 Light" panose="020B0303000000000000" pitchFamily="50" charset="-127"/>
                  <a:cs typeface="Arial" pitchFamily="34" charset="0"/>
                </a:rPr>
                <a:t>)</a:t>
              </a:r>
            </a:p>
          </p:txBody>
        </p:sp>
        <p:cxnSp>
          <p:nvCxnSpPr>
            <p:cNvPr id="108" name="직선 화살표 연결선 107"/>
            <p:cNvCxnSpPr>
              <a:endCxn id="101" idx="3"/>
            </p:cNvCxnSpPr>
            <p:nvPr/>
          </p:nvCxnSpPr>
          <p:spPr>
            <a:xfrm flipH="1">
              <a:off x="2478755" y="2902872"/>
              <a:ext cx="1713094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/>
            <p:cNvCxnSpPr/>
            <p:nvPr/>
          </p:nvCxnSpPr>
          <p:spPr>
            <a:xfrm flipH="1">
              <a:off x="1390489" y="3115093"/>
              <a:ext cx="202621" cy="1109389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/>
            <p:cNvCxnSpPr/>
            <p:nvPr/>
          </p:nvCxnSpPr>
          <p:spPr>
            <a:xfrm>
              <a:off x="1410766" y="4388283"/>
              <a:ext cx="541699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/>
            <p:cNvCxnSpPr/>
            <p:nvPr/>
          </p:nvCxnSpPr>
          <p:spPr>
            <a:xfrm flipH="1">
              <a:off x="430272" y="2970633"/>
              <a:ext cx="928345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/>
            <p:cNvCxnSpPr/>
            <p:nvPr/>
          </p:nvCxnSpPr>
          <p:spPr>
            <a:xfrm flipV="1">
              <a:off x="1433310" y="4284045"/>
              <a:ext cx="471152" cy="5529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4" name="직선 화살표 연결선 113"/>
            <p:cNvCxnSpPr/>
            <p:nvPr/>
          </p:nvCxnSpPr>
          <p:spPr>
            <a:xfrm flipV="1">
              <a:off x="2608721" y="4289575"/>
              <a:ext cx="1400200" cy="2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/>
            <p:cNvCxnSpPr/>
            <p:nvPr/>
          </p:nvCxnSpPr>
          <p:spPr>
            <a:xfrm flipV="1">
              <a:off x="1310654" y="3123860"/>
              <a:ext cx="205139" cy="1059428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/>
            <p:cNvCxnSpPr/>
            <p:nvPr/>
          </p:nvCxnSpPr>
          <p:spPr>
            <a:xfrm flipH="1">
              <a:off x="1358337" y="4495762"/>
              <a:ext cx="594128" cy="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직사각형 118"/>
            <p:cNvSpPr/>
            <p:nvPr/>
          </p:nvSpPr>
          <p:spPr>
            <a:xfrm>
              <a:off x="885575" y="5819970"/>
              <a:ext cx="621694" cy="49634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3 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701851" y="2114407"/>
              <a:ext cx="367447" cy="106856"/>
              <a:chOff x="430272" y="2176651"/>
              <a:chExt cx="928345" cy="106856"/>
            </a:xfrm>
          </p:grpSpPr>
          <p:cxnSp>
            <p:nvCxnSpPr>
              <p:cNvPr id="130" name="직선 화살표 연결선 129"/>
              <p:cNvCxnSpPr/>
              <p:nvPr/>
            </p:nvCxnSpPr>
            <p:spPr>
              <a:xfrm>
                <a:off x="430272" y="2176651"/>
                <a:ext cx="92834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1" name="직선 화살표 연결선 130"/>
              <p:cNvCxnSpPr/>
              <p:nvPr/>
            </p:nvCxnSpPr>
            <p:spPr>
              <a:xfrm>
                <a:off x="430272" y="2283507"/>
                <a:ext cx="928345" cy="0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2" name="직선 화살표 연결선 131"/>
            <p:cNvCxnSpPr>
              <a:stCxn id="136" idx="3"/>
              <a:endCxn id="103" idx="1"/>
            </p:cNvCxnSpPr>
            <p:nvPr/>
          </p:nvCxnSpPr>
          <p:spPr>
            <a:xfrm flipV="1">
              <a:off x="1655397" y="5164490"/>
              <a:ext cx="455679" cy="22289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화살표 연결선 132"/>
            <p:cNvCxnSpPr>
              <a:stCxn id="135" idx="3"/>
              <a:endCxn id="103" idx="1"/>
            </p:cNvCxnSpPr>
            <p:nvPr/>
          </p:nvCxnSpPr>
          <p:spPr>
            <a:xfrm flipV="1">
              <a:off x="1528401" y="5164490"/>
              <a:ext cx="582675" cy="11145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화살표 연결선 133"/>
            <p:cNvCxnSpPr>
              <a:stCxn id="98" idx="3"/>
              <a:endCxn id="103" idx="1"/>
            </p:cNvCxnSpPr>
            <p:nvPr/>
          </p:nvCxnSpPr>
          <p:spPr>
            <a:xfrm flipV="1">
              <a:off x="1401404" y="5164490"/>
              <a:ext cx="709672" cy="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직사각형 134"/>
            <p:cNvSpPr/>
            <p:nvPr/>
          </p:nvSpPr>
          <p:spPr>
            <a:xfrm>
              <a:off x="906707" y="5027767"/>
              <a:ext cx="621694" cy="4963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2 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1033703" y="5139216"/>
              <a:ext cx="621694" cy="4963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업무 </a:t>
              </a:r>
              <a:r>
                <a:rPr lang="en-US" altLang="ko-KR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2 WAS</a:t>
              </a:r>
            </a:p>
            <a:p>
              <a:pPr algn="ctr"/>
              <a:r>
                <a:rPr lang="ko-KR" altLang="en-US" sz="8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인스턴스</a:t>
              </a:r>
            </a:p>
          </p:txBody>
        </p:sp>
        <p:cxnSp>
          <p:nvCxnSpPr>
            <p:cNvPr id="137" name="직선 화살표 연결선 136"/>
            <p:cNvCxnSpPr>
              <a:stCxn id="119" idx="3"/>
              <a:endCxn id="104" idx="1"/>
            </p:cNvCxnSpPr>
            <p:nvPr/>
          </p:nvCxnSpPr>
          <p:spPr>
            <a:xfrm flipV="1">
              <a:off x="1507269" y="5952125"/>
              <a:ext cx="760987" cy="11601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화살표 연결선 137"/>
            <p:cNvCxnSpPr>
              <a:stCxn id="99" idx="3"/>
              <a:endCxn id="104" idx="1"/>
            </p:cNvCxnSpPr>
            <p:nvPr/>
          </p:nvCxnSpPr>
          <p:spPr>
            <a:xfrm flipV="1">
              <a:off x="1401403" y="5952125"/>
              <a:ext cx="866853" cy="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/>
            <p:cNvSpPr txBox="1"/>
            <p:nvPr/>
          </p:nvSpPr>
          <p:spPr>
            <a:xfrm>
              <a:off x="335763" y="1998558"/>
              <a:ext cx="3642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요청</a:t>
              </a:r>
              <a:br>
                <a:rPr lang="en-US" altLang="ko-KR" sz="8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</a:br>
              <a:r>
                <a:rPr lang="ko-KR" altLang="en-US" sz="8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응답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542505" y="2603140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요청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542505" y="3039125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응답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3569942" y="4009038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요청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69942" y="2654882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응답</a:t>
              </a:r>
            </a:p>
          </p:txBody>
        </p:sp>
        <p:sp>
          <p:nvSpPr>
            <p:cNvPr id="144" name="설명선 2 143"/>
            <p:cNvSpPr/>
            <p:nvPr/>
          </p:nvSpPr>
          <p:spPr>
            <a:xfrm>
              <a:off x="2137383" y="3442236"/>
              <a:ext cx="942675" cy="57537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45484"/>
                <a:gd name="adj6" fmla="val -6039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일자전환 시 라우팅 처리</a:t>
              </a:r>
            </a:p>
          </p:txBody>
        </p:sp>
        <p:cxnSp>
          <p:nvCxnSpPr>
            <p:cNvPr id="145" name="직선 화살표 연결선 144"/>
            <p:cNvCxnSpPr>
              <a:stCxn id="103" idx="3"/>
            </p:cNvCxnSpPr>
            <p:nvPr/>
          </p:nvCxnSpPr>
          <p:spPr>
            <a:xfrm>
              <a:off x="2732770" y="5164490"/>
              <a:ext cx="1276151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화살표 연결선 145"/>
            <p:cNvCxnSpPr>
              <a:stCxn id="104" idx="3"/>
            </p:cNvCxnSpPr>
            <p:nvPr/>
          </p:nvCxnSpPr>
          <p:spPr>
            <a:xfrm>
              <a:off x="2889950" y="5952125"/>
              <a:ext cx="1118971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/>
            <p:cNvSpPr txBox="1"/>
            <p:nvPr/>
          </p:nvSpPr>
          <p:spPr>
            <a:xfrm>
              <a:off x="3569942" y="4892995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요청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569942" y="5676279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KB금융 본문체 Light" panose="020B0303000000000000" pitchFamily="50" charset="-127"/>
                  <a:ea typeface="KB금융 본문체 Light" panose="020B0303000000000000" pitchFamily="50" charset="-127"/>
                </a:rPr>
                <a:t>요청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0906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304866" y="1700176"/>
            <a:ext cx="9239569" cy="4764270"/>
          </a:xfrm>
          <a:prstGeom prst="rect">
            <a:avLst/>
          </a:prstGeom>
          <a:solidFill>
            <a:sysClr val="window" lastClr="FFFFFF"/>
          </a:solidFill>
          <a:ln w="28575">
            <a:solidFill>
              <a:srgbClr val="C3B8A9">
                <a:lumMod val="60000"/>
                <a:lumOff val="40000"/>
              </a:srgbClr>
            </a:solidFill>
          </a:ln>
          <a:effectLst/>
        </p:spPr>
        <p:txBody>
          <a:bodyPr wrap="square" lIns="81715" tIns="40858" rIns="32172" bIns="40858" rtlCol="0" anchor="ctr">
            <a:noAutofit/>
          </a:bodyPr>
          <a:lstStyle/>
          <a:p>
            <a:pPr algn="ctr" defTabSz="888880">
              <a:lnSpc>
                <a:spcPct val="110000"/>
              </a:lnSpc>
              <a:spcBef>
                <a:spcPts val="269"/>
              </a:spcBef>
              <a:defRPr/>
            </a:pPr>
            <a:endParaRPr lang="ko-KR" altLang="en-US" sz="825" b="1" kern="0" dirty="0" err="1">
              <a:ln>
                <a:solidFill>
                  <a:srgbClr val="FCAF17">
                    <a:lumMod val="75000"/>
                    <a:alpha val="0"/>
                  </a:srgbClr>
                </a:solidFill>
              </a:ln>
              <a:solidFill>
                <a:prstClr val="white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  <p:sp>
        <p:nvSpPr>
          <p:cNvPr id="33" name="Rectangle 79">
            <a:extLst>
              <a:ext uri="{FF2B5EF4-FFF2-40B4-BE49-F238E27FC236}">
                <a16:creationId xmlns:a16="http://schemas.microsoft.com/office/drawing/2014/main" id="{A3AD406F-BFD1-4068-95AD-BB8CE869E065}"/>
              </a:ext>
            </a:extLst>
          </p:cNvPr>
          <p:cNvSpPr/>
          <p:nvPr/>
        </p:nvSpPr>
        <p:spPr bwMode="gray">
          <a:xfrm>
            <a:off x="276592" y="1700176"/>
            <a:ext cx="9223890" cy="290688"/>
          </a:xfrm>
          <a:prstGeom prst="rect">
            <a:avLst/>
          </a:prstGeom>
          <a:solidFill>
            <a:srgbClr val="645B4C"/>
          </a:solidFill>
          <a:ln w="25400" algn="ctr">
            <a:noFill/>
            <a:miter lim="800000"/>
            <a:headEnd/>
            <a:tailEnd/>
          </a:ln>
        </p:spPr>
        <p:txBody>
          <a:bodyPr lIns="82552" tIns="66041" rIns="82552" bIns="66041" rtlCol="0" anchor="ctr"/>
          <a:lstStyle/>
          <a:p>
            <a:pPr algn="ctr" defTabSz="888880" fontAlgn="base" latinLnBrk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ko-KR" altLang="en-US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긴급반영 </a:t>
            </a:r>
            <a:r>
              <a:rPr lang="en-US" altLang="ko-KR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: Hot Deploy</a:t>
            </a:r>
            <a:endParaRPr lang="en-US" sz="1192" b="1" spc="-37">
              <a:ln>
                <a:solidFill>
                  <a:srgbClr val="FCAF17">
                    <a:lumMod val="75000"/>
                    <a:alpha val="0"/>
                  </a:srgbClr>
                </a:solidFill>
              </a:ln>
              <a:solidFill>
                <a:prstClr val="white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53273" y="4263069"/>
            <a:ext cx="782652" cy="210528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284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긴급반영</a:t>
            </a:r>
            <a:endParaRPr lang="ko-KR" altLang="en-US" sz="1284" b="1" dirty="0">
              <a:solidFill>
                <a:schemeClr val="bg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272740" y="4263069"/>
            <a:ext cx="8014249" cy="2105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66041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Hot Deploy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의 배포 단위는 컴포넌트 단위의 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jar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파일 단위 배포가 수행됨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(WAS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재기동 없이 적용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endParaRPr lang="ko-KR" altLang="en-US" sz="110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Hot Deploy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배포 시 모듈적용시간 전에 인입된 거래는 기존 모듈에서 처리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,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적용 후 인입된 거래는 새로 배포된 모듈에서 처리</a:t>
            </a:r>
            <a:endParaRPr lang="en-US" altLang="ko-KR" sz="110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en-US" altLang="ko-KR" sz="11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Hot Deploy </a:t>
            </a:r>
            <a:r>
              <a:rPr lang="ko-KR" altLang="en-US" sz="11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소요시간</a:t>
            </a:r>
            <a:br>
              <a:rPr lang="en-US" altLang="ko-KR" sz="11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1100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-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컴포넌트 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jar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실제 파일 크기에 따라 로딩되는 시간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적용 시간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이 적용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(1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개의 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jar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파일이 수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초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 </a:t>
            </a:r>
            <a:r>
              <a:rPr lang="ko-KR" altLang="en-US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내에 배포</a:t>
            </a:r>
            <a:r>
              <a:rPr lang="en-US" altLang="ko-KR" sz="11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</a:p>
        </p:txBody>
      </p:sp>
      <p:grpSp>
        <p:nvGrpSpPr>
          <p:cNvPr id="36" name="그룹 35"/>
          <p:cNvGrpSpPr/>
          <p:nvPr/>
        </p:nvGrpSpPr>
        <p:grpSpPr>
          <a:xfrm>
            <a:off x="884475" y="2137843"/>
            <a:ext cx="5324661" cy="2018840"/>
            <a:chOff x="964276" y="2021349"/>
            <a:chExt cx="5805075" cy="2200989"/>
          </a:xfrm>
        </p:grpSpPr>
        <p:sp>
          <p:nvSpPr>
            <p:cNvPr id="37" name="순서도: 처리 36"/>
            <p:cNvSpPr/>
            <p:nvPr/>
          </p:nvSpPr>
          <p:spPr>
            <a:xfrm>
              <a:off x="2294312" y="2021349"/>
              <a:ext cx="4098175" cy="1791703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endPara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163439" y="2399814"/>
              <a:ext cx="2400342" cy="13672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r>
                <a:rPr lang="en-US" altLang="ko-KR" sz="825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 </a:t>
              </a:r>
              <a:r>
                <a:rPr lang="en-US" altLang="ko-KR" sz="917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WAS</a:t>
              </a:r>
              <a:endParaRPr lang="ko-KR" altLang="en-US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237418" y="2860523"/>
              <a:ext cx="2224044" cy="83224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r>
                <a:rPr lang="en-US" altLang="ko-KR" sz="825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 F/W </a:t>
              </a:r>
              <a:r>
                <a:rPr lang="ko-KR" altLang="en-US" sz="825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런타임</a:t>
              </a:r>
            </a:p>
          </p:txBody>
        </p:sp>
        <p:cxnSp>
          <p:nvCxnSpPr>
            <p:cNvPr id="40" name="직선 화살표 연결선 39"/>
            <p:cNvCxnSpPr>
              <a:stCxn id="43" idx="1"/>
            </p:cNvCxnSpPr>
            <p:nvPr/>
          </p:nvCxnSpPr>
          <p:spPr>
            <a:xfrm flipV="1">
              <a:off x="3374581" y="3140697"/>
              <a:ext cx="3394770" cy="8014"/>
            </a:xfrm>
            <a:prstGeom prst="straightConnector1">
              <a:avLst/>
            </a:prstGeom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>
              <a:stCxn id="42" idx="1"/>
            </p:cNvCxnSpPr>
            <p:nvPr/>
          </p:nvCxnSpPr>
          <p:spPr>
            <a:xfrm flipV="1">
              <a:off x="4349165" y="3538448"/>
              <a:ext cx="2420186" cy="1"/>
            </a:xfrm>
            <a:prstGeom prst="straightConnector1">
              <a:avLst/>
            </a:prstGeom>
            <a:ln w="12700" cap="flat" cmpd="sng" algn="ctr">
              <a:solidFill>
                <a:srgbClr val="3803FB"/>
              </a:solidFill>
              <a:prstDash val="dash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2" name="직사각형 41"/>
            <p:cNvSpPr/>
            <p:nvPr/>
          </p:nvSpPr>
          <p:spPr>
            <a:xfrm>
              <a:off x="4349165" y="3435568"/>
              <a:ext cx="911399" cy="20576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r>
                <a:rPr lang="ko-KR" altLang="en-US" sz="825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변경후 </a:t>
              </a:r>
              <a:r>
                <a:rPr lang="en-US" altLang="ko-KR" sz="825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JAR v2</a:t>
              </a:r>
              <a:endParaRPr lang="ko-KR" altLang="en-US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374581" y="3045831"/>
              <a:ext cx="916094" cy="20576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550"/>
                </a:spcBef>
              </a:pPr>
              <a:r>
                <a:rPr lang="ko-KR" altLang="en-US" sz="825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변경전 </a:t>
              </a:r>
              <a:r>
                <a:rPr lang="en-US" altLang="ko-KR" sz="825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JAR v1</a:t>
              </a:r>
              <a:endParaRPr lang="ko-KR" altLang="en-US" sz="825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44" name="왼쪽/오른쪽 화살표 43"/>
            <p:cNvSpPr/>
            <p:nvPr/>
          </p:nvSpPr>
          <p:spPr>
            <a:xfrm>
              <a:off x="3752264" y="2125728"/>
              <a:ext cx="1107767" cy="178319"/>
            </a:xfrm>
            <a:prstGeom prst="leftRightArrow">
              <a:avLst>
                <a:gd name="adj1" fmla="val 86076"/>
                <a:gd name="adj2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r>
                <a:rPr lang="ko-KR" altLang="en-US" sz="917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모듈 적용시간</a:t>
              </a:r>
              <a:r>
                <a:rPr lang="en-US" altLang="ko-KR" sz="917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 </a:t>
              </a:r>
              <a:endPara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cxnSp>
          <p:nvCxnSpPr>
            <p:cNvPr id="45" name="직선 화살표 연결선 44"/>
            <p:cNvCxnSpPr/>
            <p:nvPr/>
          </p:nvCxnSpPr>
          <p:spPr>
            <a:xfrm>
              <a:off x="4334718" y="2325506"/>
              <a:ext cx="14447" cy="1896832"/>
            </a:xfrm>
            <a:prstGeom prst="straightConnector1">
              <a:avLst/>
            </a:prstGeom>
            <a:ln>
              <a:prstDash val="sysDash"/>
              <a:headEnd type="none" w="med" len="med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>
              <a:off x="2472302" y="3140697"/>
              <a:ext cx="867988" cy="0"/>
            </a:xfrm>
            <a:prstGeom prst="straightConnector1">
              <a:avLst/>
            </a:prstGeom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>
              <a:off x="2472302" y="3539691"/>
              <a:ext cx="1838849" cy="0"/>
            </a:xfrm>
            <a:prstGeom prst="straightConnector1">
              <a:avLst/>
            </a:prstGeom>
            <a:ln w="12700" cap="flat" cmpd="sng" algn="ctr">
              <a:solidFill>
                <a:srgbClr val="3803FB"/>
              </a:solidFill>
              <a:prstDash val="dash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8" name="아래로 구부러진 화살표 47"/>
            <p:cNvSpPr/>
            <p:nvPr/>
          </p:nvSpPr>
          <p:spPr>
            <a:xfrm rot="5400000">
              <a:off x="4316538" y="3092749"/>
              <a:ext cx="416124" cy="357872"/>
            </a:xfrm>
            <a:prstGeom prst="curvedDownArrow">
              <a:avLst/>
            </a:prstGeom>
            <a:solidFill>
              <a:srgbClr val="FF0000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endPara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49" name="사각형 설명선 48"/>
            <p:cNvSpPr/>
            <p:nvPr/>
          </p:nvSpPr>
          <p:spPr>
            <a:xfrm>
              <a:off x="964276" y="3898097"/>
              <a:ext cx="2203829" cy="324241"/>
            </a:xfrm>
            <a:prstGeom prst="wedgeRectCallout">
              <a:avLst>
                <a:gd name="adj1" fmla="val 87125"/>
                <a:gd name="adj2" fmla="val -254545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550"/>
                </a:spcBef>
              </a:pPr>
              <a:r>
                <a:rPr lang="ko-KR" altLang="en-US" sz="917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더 이상 참조되지 않는 리소스 폐기 처리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30554" y="3055456"/>
            <a:ext cx="1761357" cy="24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63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&lt;</a:t>
            </a:r>
            <a:r>
              <a:rPr lang="ko-KR" altLang="en-US" sz="963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모듈배포 적용 전 인입 된 거래</a:t>
            </a:r>
            <a:r>
              <a:rPr lang="en-US" altLang="ko-KR" sz="963" b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&gt;</a:t>
            </a:r>
            <a:endParaRPr lang="ko-KR" altLang="en-US" sz="963" b="1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57748" y="3406832"/>
            <a:ext cx="1842609" cy="24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63" b="1">
                <a:solidFill>
                  <a:srgbClr val="3803FB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&lt;</a:t>
            </a:r>
            <a:r>
              <a:rPr lang="ko-KR" altLang="en-US" sz="963" b="1">
                <a:solidFill>
                  <a:srgbClr val="3803FB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모듈배포 적용 후 인입 된 거래</a:t>
            </a:r>
            <a:r>
              <a:rPr lang="en-US" altLang="ko-KR" sz="963" b="1">
                <a:solidFill>
                  <a:srgbClr val="3803FB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&gt;</a:t>
            </a:r>
            <a:endParaRPr lang="ko-KR" altLang="en-US" sz="963" b="1">
              <a:solidFill>
                <a:srgbClr val="3803FB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742777" y="2644843"/>
            <a:ext cx="629900" cy="76029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EAI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53" name="순서도: 자기 디스크 52"/>
          <p:cNvSpPr/>
          <p:nvPr/>
        </p:nvSpPr>
        <p:spPr>
          <a:xfrm>
            <a:off x="6320778" y="3143073"/>
            <a:ext cx="679764" cy="65831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DB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665182"/>
          </a:xfrm>
        </p:spPr>
        <p:txBody>
          <a:bodyPr/>
          <a:lstStyle/>
          <a:p>
            <a:r>
              <a:rPr lang="ko-KR" altLang="en-US"/>
              <a:t>긴급반영 </a:t>
            </a:r>
            <a:r>
              <a:rPr lang="en-US" altLang="ko-KR"/>
              <a:t>: </a:t>
            </a:r>
            <a:r>
              <a:rPr lang="ko-KR" altLang="en-US"/>
              <a:t>장애 발생에 따른 </a:t>
            </a:r>
            <a:r>
              <a:rPr lang="en-US" altLang="ko-KR"/>
              <a:t>I/O </a:t>
            </a:r>
            <a:r>
              <a:rPr lang="ko-KR" altLang="en-US"/>
              <a:t>및 프로그램 긴급 반영 필요 시 </a:t>
            </a:r>
            <a:r>
              <a:rPr lang="en-US" altLang="ko-KR"/>
              <a:t>nKESA</a:t>
            </a:r>
            <a:r>
              <a:rPr lang="ko-KR" altLang="en-US"/>
              <a:t>의 </a:t>
            </a:r>
            <a:r>
              <a:rPr lang="en-US" altLang="ko-KR"/>
              <a:t>HotDeploy </a:t>
            </a:r>
            <a:r>
              <a:rPr lang="ko-KR" altLang="en-US"/>
              <a:t>기능을 이용한 실시간 반영</a:t>
            </a:r>
          </a:p>
          <a:p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5. 24*365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지원</a:t>
            </a:r>
          </a:p>
        </p:txBody>
      </p:sp>
      <p:sp>
        <p:nvSpPr>
          <p:cNvPr id="29" name="제목 1"/>
          <p:cNvSpPr txBox="1">
            <a:spLocks/>
          </p:cNvSpPr>
          <p:nvPr/>
        </p:nvSpPr>
        <p:spPr>
          <a:xfrm>
            <a:off x="292549" y="261545"/>
            <a:ext cx="7271416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indent="0">
              <a:lnSpc>
                <a:spcPct val="90000"/>
              </a:lnSpc>
              <a:spcBef>
                <a:spcPct val="0"/>
              </a:spcBef>
              <a:buNone/>
              <a:defRPr lang="en-US" sz="2000" b="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ko-KR" altLang="en-US"/>
              <a:t>업무 프로그램 적용 </a:t>
            </a:r>
            <a:r>
              <a:rPr lang="en-US" altLang="ko-KR"/>
              <a:t>– </a:t>
            </a:r>
            <a:r>
              <a:rPr lang="ko-KR" altLang="en-US"/>
              <a:t>긴급반영</a:t>
            </a:r>
            <a:r>
              <a:rPr lang="en-US" altLang="ko-K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33841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텍스트 개체 틀 4"/>
          <p:cNvSpPr txBox="1">
            <a:spLocks/>
          </p:cNvSpPr>
          <p:nvPr/>
        </p:nvSpPr>
        <p:spPr>
          <a:xfrm>
            <a:off x="283520" y="1333030"/>
            <a:ext cx="9290050" cy="5057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809976" rtl="0" eaLnBrk="1" latinLnBrk="0" hangingPunct="1">
              <a:lnSpc>
                <a:spcPct val="100000"/>
              </a:lnSpc>
              <a:spcBef>
                <a:spcPts val="886"/>
              </a:spcBef>
              <a:buFontTx/>
              <a:buNone/>
              <a:defRPr sz="1594" kern="1200" spc="-75" baseline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B금융 제목체 Medium" panose="020B0603000000000000" pitchFamily="50" charset="-127"/>
                <a:ea typeface="KB금융 제목체 Medium" panose="020B0603000000000000" pitchFamily="50" charset="-127"/>
                <a:cs typeface="+mn-cs"/>
              </a:defRPr>
            </a:lvl1pPr>
            <a:lvl2pPr marL="428579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21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159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17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5738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317" indent="0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Tx/>
              <a:buNone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27433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32420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37408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42396" indent="-202494" algn="l" defTabSz="809976" rtl="0" eaLnBrk="1" latinLnBrk="1" hangingPunct="1">
              <a:lnSpc>
                <a:spcPct val="90000"/>
              </a:lnSpc>
              <a:spcBef>
                <a:spcPts val="443"/>
              </a:spcBef>
              <a:buFont typeface="Arial" panose="020B0604020202020204" pitchFamily="34" charset="0"/>
              <a:buChar char="•"/>
              <a:defRPr sz="15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2090" indent="-262090">
              <a:buFont typeface="KB금융 본문체 Light" panose="020B0303000000000000" pitchFamily="50" charset="-127"/>
              <a:buChar char="▣"/>
              <a:defRPr/>
            </a:pPr>
            <a:endParaRPr lang="ko-KR" altLang="en-US" sz="1376">
              <a:ln>
                <a:solidFill>
                  <a:sysClr val="window" lastClr="FFFFFF">
                    <a:lumMod val="95000"/>
                    <a:alpha val="0"/>
                  </a:sysClr>
                </a:solidFill>
              </a:ln>
              <a:solidFill>
                <a:sysClr val="windowText" lastClr="000000">
                  <a:lumMod val="85000"/>
                  <a:lumOff val="15000"/>
                </a:sysClr>
              </a:solidFill>
              <a:cs typeface="Arial" pitchFamily="34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51618" y="1686881"/>
            <a:ext cx="9358275" cy="4764270"/>
          </a:xfrm>
          <a:prstGeom prst="rect">
            <a:avLst/>
          </a:prstGeom>
          <a:solidFill>
            <a:sysClr val="window" lastClr="FFFFFF"/>
          </a:solidFill>
          <a:ln w="28575">
            <a:solidFill>
              <a:srgbClr val="C3B8A9">
                <a:lumMod val="60000"/>
                <a:lumOff val="40000"/>
              </a:srgbClr>
            </a:solidFill>
          </a:ln>
          <a:effectLst/>
        </p:spPr>
        <p:txBody>
          <a:bodyPr wrap="square" lIns="81715" tIns="40858" rIns="32172" bIns="40858" rtlCol="0" anchor="ctr">
            <a:noAutofit/>
          </a:bodyPr>
          <a:lstStyle/>
          <a:p>
            <a:pPr algn="ctr" defTabSz="888880">
              <a:lnSpc>
                <a:spcPct val="110000"/>
              </a:lnSpc>
              <a:spcBef>
                <a:spcPts val="269"/>
              </a:spcBef>
              <a:defRPr/>
            </a:pPr>
            <a:endParaRPr lang="ko-KR" altLang="en-US" sz="1192" b="1" kern="0" dirty="0" err="1">
              <a:ln>
                <a:solidFill>
                  <a:srgbClr val="FCAF17">
                    <a:lumMod val="75000"/>
                    <a:alpha val="0"/>
                  </a:srgbClr>
                </a:solidFill>
              </a:ln>
              <a:solidFill>
                <a:prstClr val="white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  <p:sp>
        <p:nvSpPr>
          <p:cNvPr id="75" name="Rectangle 79">
            <a:extLst>
              <a:ext uri="{FF2B5EF4-FFF2-40B4-BE49-F238E27FC236}">
                <a16:creationId xmlns:a16="http://schemas.microsoft.com/office/drawing/2014/main" id="{A3AD406F-BFD1-4068-95AD-BB8CE869E065}"/>
              </a:ext>
            </a:extLst>
          </p:cNvPr>
          <p:cNvSpPr/>
          <p:nvPr/>
        </p:nvSpPr>
        <p:spPr bwMode="gray">
          <a:xfrm>
            <a:off x="283520" y="1700176"/>
            <a:ext cx="9326373" cy="290688"/>
          </a:xfrm>
          <a:prstGeom prst="rect">
            <a:avLst/>
          </a:prstGeom>
          <a:solidFill>
            <a:srgbClr val="645B4C"/>
          </a:solidFill>
          <a:ln w="25400" algn="ctr">
            <a:noFill/>
            <a:miter lim="800000"/>
            <a:headEnd/>
            <a:tailEnd/>
          </a:ln>
        </p:spPr>
        <p:txBody>
          <a:bodyPr lIns="82552" tIns="66041" rIns="82552" bIns="66041" rtlCol="0" anchor="ctr"/>
          <a:lstStyle/>
          <a:p>
            <a:pPr algn="ctr" defTabSz="888880" fontAlgn="base" latinLnBrk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M/F </a:t>
            </a:r>
            <a:r>
              <a:rPr lang="ko-KR" altLang="en-US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방식 </a:t>
            </a:r>
            <a:r>
              <a:rPr lang="en-US" altLang="ko-KR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: D-1 </a:t>
            </a:r>
            <a:r>
              <a:rPr lang="ko-KR" altLang="en-US" sz="1192" b="1" spc="-37">
                <a:ln>
                  <a:solidFill>
                    <a:srgbClr val="FCAF17">
                      <a:lumMod val="75000"/>
                      <a:alpha val="0"/>
                    </a:srgbClr>
                  </a:solidFill>
                </a:ln>
                <a:solidFill>
                  <a:prstClr val="white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배치 서버 온라인 서비스 이용</a:t>
            </a:r>
            <a:endParaRPr lang="en-US" sz="1192" b="1" spc="-37">
              <a:ln>
                <a:solidFill>
                  <a:srgbClr val="FCAF17">
                    <a:lumMod val="75000"/>
                    <a:alpha val="0"/>
                  </a:srgbClr>
                </a:solidFill>
              </a:ln>
              <a:solidFill>
                <a:prstClr val="white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7252431" y="2032345"/>
            <a:ext cx="2224993" cy="24745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284" b="1" dirty="0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상세 내용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719377" y="2193379"/>
            <a:ext cx="6063838" cy="12517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ㅣ한 </a:t>
            </a:r>
          </a:p>
        </p:txBody>
      </p:sp>
      <p:sp>
        <p:nvSpPr>
          <p:cNvPr id="78" name="모서리가 둥근 직사각형 77"/>
          <p:cNvSpPr/>
          <p:nvPr/>
        </p:nvSpPr>
        <p:spPr>
          <a:xfrm>
            <a:off x="719377" y="2169743"/>
            <a:ext cx="1186029" cy="2837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ts val="550"/>
              </a:spcBef>
            </a:pPr>
            <a:r>
              <a:rPr lang="en-US" altLang="ko-KR" sz="917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~ 24:00</a:t>
            </a:r>
            <a:endParaRPr lang="ko-KR" altLang="en-US" sz="917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938829" y="2169743"/>
            <a:ext cx="1186029" cy="2837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17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00:00 ~ 00:30</a:t>
            </a:r>
            <a:endParaRPr lang="ko-KR" altLang="en-US" sz="917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3158281" y="2169743"/>
            <a:ext cx="1186029" cy="2837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17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00:30 ~ 05:00</a:t>
            </a:r>
            <a:endParaRPr lang="ko-KR" altLang="en-US" sz="917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377733" y="2169743"/>
            <a:ext cx="1186029" cy="2837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17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05:00 ~ 05:30</a:t>
            </a:r>
            <a:endParaRPr lang="ko-KR" altLang="en-US" sz="917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5597185" y="2170306"/>
            <a:ext cx="1186029" cy="2837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917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05:30 ~</a:t>
            </a:r>
            <a:endParaRPr lang="ko-KR" altLang="en-US" sz="917" dirty="0">
              <a:solidFill>
                <a:schemeClr val="tx1">
                  <a:lumMod val="85000"/>
                  <a:lumOff val="1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36152" y="2328923"/>
            <a:ext cx="283225" cy="111616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ko-KR" altLang="en-US" sz="1284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온라인거래</a:t>
            </a:r>
            <a:endParaRPr lang="ko-KR" altLang="en-US" sz="1284" b="1" dirty="0">
              <a:solidFill>
                <a:schemeClr val="bg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37377" y="3466078"/>
            <a:ext cx="283225" cy="111616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550"/>
              </a:spcBef>
              <a:buClr>
                <a:schemeClr val="bg2"/>
              </a:buClr>
            </a:pPr>
            <a:r>
              <a:rPr lang="en-US" altLang="ko-KR" sz="1284" b="1">
                <a:solidFill>
                  <a:schemeClr val="bg1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24X365</a:t>
            </a:r>
            <a:endParaRPr lang="ko-KR" altLang="en-US" sz="1284" b="1" dirty="0">
              <a:solidFill>
                <a:schemeClr val="bg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pic>
        <p:nvPicPr>
          <p:cNvPr id="85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63" y="5603688"/>
            <a:ext cx="869917" cy="31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85"/>
          <p:cNvSpPr txBox="1"/>
          <p:nvPr/>
        </p:nvSpPr>
        <p:spPr>
          <a:xfrm>
            <a:off x="1368436" y="5725687"/>
            <a:ext cx="296877" cy="191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42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t>DB</a:t>
            </a:r>
            <a:endParaRPr lang="ko-KR" altLang="en-US" sz="642" dirty="0">
              <a:solidFill>
                <a:schemeClr val="tx1">
                  <a:lumMod val="75000"/>
                  <a:lumOff val="25000"/>
                </a:schemeClr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pic>
        <p:nvPicPr>
          <p:cNvPr id="87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788" y="5745568"/>
            <a:ext cx="908832" cy="31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87"/>
          <p:cNvSpPr txBox="1"/>
          <p:nvPr/>
        </p:nvSpPr>
        <p:spPr>
          <a:xfrm>
            <a:off x="1389357" y="5867567"/>
            <a:ext cx="519694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본원장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pic>
        <p:nvPicPr>
          <p:cNvPr id="89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950" y="5745568"/>
            <a:ext cx="946411" cy="312238"/>
          </a:xfrm>
          <a:prstGeom prst="rect">
            <a:avLst/>
          </a:prstGeom>
          <a:blipFill>
            <a:blip r:embed="rId3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2859502" y="5867567"/>
            <a:ext cx="3978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pic>
        <p:nvPicPr>
          <p:cNvPr id="91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907" y="4960857"/>
            <a:ext cx="571171" cy="441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직사각형 91"/>
          <p:cNvSpPr>
            <a:spLocks noChangeArrowheads="1"/>
          </p:cNvSpPr>
          <p:nvPr/>
        </p:nvSpPr>
        <p:spPr bwMode="auto">
          <a:xfrm>
            <a:off x="4722919" y="5149793"/>
            <a:ext cx="757953" cy="1702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round/>
            <a:headEnd/>
            <a:tailEnd type="none" w="sm" len="sm"/>
          </a:ln>
          <a:effectLst>
            <a:innerShdw blurRad="88900">
              <a:schemeClr val="bg1">
                <a:lumMod val="50000"/>
              </a:schemeClr>
            </a:innerShdw>
          </a:effectLst>
        </p:spPr>
        <p:txBody>
          <a:bodyPr wrap="square" lIns="0" tIns="0" rIns="0" bIns="0" anchor="ctr"/>
          <a:lstStyle/>
          <a:p>
            <a:pPr marL="0" lvl="1" algn="ctr" defTabSz="1390712"/>
            <a:r>
              <a:rPr lang="en-US" altLang="ko-KR" sz="825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After Image</a:t>
            </a:r>
          </a:p>
        </p:txBody>
      </p:sp>
      <p:pic>
        <p:nvPicPr>
          <p:cNvPr id="93" name="Picture 69" descr="Picture3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2488" y="4960857"/>
            <a:ext cx="434061" cy="50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" name="직사각형 93"/>
          <p:cNvSpPr/>
          <p:nvPr/>
        </p:nvSpPr>
        <p:spPr>
          <a:xfrm>
            <a:off x="1180792" y="4809256"/>
            <a:ext cx="823954" cy="1190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시스템</a:t>
            </a:r>
          </a:p>
        </p:txBody>
      </p:sp>
      <p:pic>
        <p:nvPicPr>
          <p:cNvPr id="95" name="Picture 69" descr="Picture37"/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741765" y="4989335"/>
            <a:ext cx="375567" cy="50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" name="직사각형 95"/>
          <p:cNvSpPr/>
          <p:nvPr/>
        </p:nvSpPr>
        <p:spPr>
          <a:xfrm>
            <a:off x="3487862" y="4837733"/>
            <a:ext cx="988745" cy="15160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24X365</a:t>
            </a: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시스템</a:t>
            </a:r>
          </a:p>
        </p:txBody>
      </p:sp>
      <p:pic>
        <p:nvPicPr>
          <p:cNvPr id="97" name="Picture 39" descr="\\10.250.177.62\###   개별 제안팀   ###\### Design Library ###\900. 개인폴더\916.박  성\DB\DB_0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51" y="5745669"/>
            <a:ext cx="908832" cy="31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69" descr="Picture3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61634" y="5017711"/>
            <a:ext cx="501790" cy="50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" name="직사각형 98"/>
          <p:cNvSpPr/>
          <p:nvPr/>
        </p:nvSpPr>
        <p:spPr>
          <a:xfrm>
            <a:off x="5893810" y="4837634"/>
            <a:ext cx="823954" cy="1190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시스템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71343" y="5859174"/>
            <a:ext cx="519694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본원장</a:t>
            </a:r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832535" y="4813833"/>
            <a:ext cx="588623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거래로그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cxnSp>
        <p:nvCxnSpPr>
          <p:cNvPr id="102" name="직선 화살표 연결선 101"/>
          <p:cNvCxnSpPr>
            <a:stCxn id="93" idx="2"/>
            <a:endCxn id="85" idx="0"/>
          </p:cNvCxnSpPr>
          <p:nvPr/>
        </p:nvCxnSpPr>
        <p:spPr>
          <a:xfrm flipH="1">
            <a:off x="1583721" y="5461807"/>
            <a:ext cx="5797" cy="14188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89" idx="3"/>
            <a:endCxn id="95" idx="2"/>
          </p:cNvCxnSpPr>
          <p:nvPr/>
        </p:nvCxnSpPr>
        <p:spPr>
          <a:xfrm flipV="1">
            <a:off x="3577362" y="5490286"/>
            <a:ext cx="352187" cy="411402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95" idx="3"/>
          </p:cNvCxnSpPr>
          <p:nvPr/>
        </p:nvCxnSpPr>
        <p:spPr>
          <a:xfrm flipV="1">
            <a:off x="4117332" y="5239616"/>
            <a:ext cx="589983" cy="19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92" idx="2"/>
            <a:endCxn id="97" idx="1"/>
          </p:cNvCxnSpPr>
          <p:nvPr/>
        </p:nvCxnSpPr>
        <p:spPr>
          <a:xfrm rot="16200000" flipH="1">
            <a:off x="5190494" y="5231432"/>
            <a:ext cx="581757" cy="758956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855025" y="5915927"/>
            <a:ext cx="822662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반영로그 반영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cxnSp>
        <p:nvCxnSpPr>
          <p:cNvPr id="107" name="직선 화살표 연결선 106"/>
          <p:cNvCxnSpPr>
            <a:stCxn id="87" idx="3"/>
            <a:endCxn id="89" idx="1"/>
          </p:cNvCxnSpPr>
          <p:nvPr/>
        </p:nvCxnSpPr>
        <p:spPr>
          <a:xfrm>
            <a:off x="2103620" y="5901688"/>
            <a:ext cx="52733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719377" y="3454092"/>
            <a:ext cx="6063838" cy="111854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On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09" name="위로 구부러진 화살표 108"/>
          <p:cNvSpPr/>
          <p:nvPr/>
        </p:nvSpPr>
        <p:spPr>
          <a:xfrm>
            <a:off x="1905406" y="6053231"/>
            <a:ext cx="890335" cy="118081"/>
          </a:xfrm>
          <a:prstGeom prst="curvedUpArrow">
            <a:avLst/>
          </a:prstGeom>
          <a:solidFill>
            <a:schemeClr val="accent2">
              <a:lumMod val="40000"/>
              <a:lumOff val="60000"/>
            </a:schemeClr>
          </a:solidFill>
          <a:ln w="6350" cap="flat">
            <a:solidFill>
              <a:schemeClr val="accent2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831375" y="6188065"/>
            <a:ext cx="928460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17" b="1">
                <a:solidFill>
                  <a:schemeClr val="tx1">
                    <a:lumMod val="75000"/>
                    <a:lumOff val="2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 SnapShot</a:t>
            </a:r>
            <a:endParaRPr lang="ko-KR" altLang="en-US" sz="917" b="1" dirty="0">
              <a:solidFill>
                <a:schemeClr val="tx1">
                  <a:lumMod val="75000"/>
                  <a:lumOff val="25000"/>
                </a:schemeClr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</a:endParaRPr>
          </a:p>
        </p:txBody>
      </p:sp>
      <p:sp>
        <p:nvSpPr>
          <p:cNvPr id="112" name="&quot;없음&quot; 기호 111"/>
          <p:cNvSpPr/>
          <p:nvPr/>
        </p:nvSpPr>
        <p:spPr>
          <a:xfrm>
            <a:off x="1444482" y="5149793"/>
            <a:ext cx="230682" cy="198611"/>
          </a:xfrm>
          <a:prstGeom prst="noSmoking">
            <a:avLst/>
          </a:prstGeom>
          <a:solidFill>
            <a:srgbClr val="FF0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  <a:cs typeface="Arial" pitchFamily="34" charset="0"/>
            </a:endParaRPr>
          </a:p>
        </p:txBody>
      </p:sp>
      <p:cxnSp>
        <p:nvCxnSpPr>
          <p:cNvPr id="113" name="직선 연결선 112"/>
          <p:cNvCxnSpPr/>
          <p:nvPr/>
        </p:nvCxnSpPr>
        <p:spPr>
          <a:xfrm flipH="1">
            <a:off x="1903943" y="2316751"/>
            <a:ext cx="1462" cy="229821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flipH="1">
            <a:off x="3125323" y="2312156"/>
            <a:ext cx="1462" cy="229821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 flipH="1">
            <a:off x="4366759" y="2303966"/>
            <a:ext cx="1462" cy="229821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H="1">
            <a:off x="5572277" y="2312156"/>
            <a:ext cx="1462" cy="229821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98" idx="2"/>
            <a:endCxn id="97" idx="0"/>
          </p:cNvCxnSpPr>
          <p:nvPr/>
        </p:nvCxnSpPr>
        <p:spPr>
          <a:xfrm>
            <a:off x="6312530" y="5518661"/>
            <a:ext cx="2738" cy="22700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오각형 117"/>
          <p:cNvSpPr/>
          <p:nvPr/>
        </p:nvSpPr>
        <p:spPr>
          <a:xfrm>
            <a:off x="741826" y="2686186"/>
            <a:ext cx="1064722" cy="538989"/>
          </a:xfrm>
          <a:prstGeom prst="homePlate">
            <a:avLst>
              <a:gd name="adj" fmla="val 13380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1.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작업 시작</a:t>
            </a:r>
          </a:p>
        </p:txBody>
      </p:sp>
      <p:cxnSp>
        <p:nvCxnSpPr>
          <p:cNvPr id="119" name="직선 연결선 118"/>
          <p:cNvCxnSpPr/>
          <p:nvPr/>
        </p:nvCxnSpPr>
        <p:spPr>
          <a:xfrm flipH="1">
            <a:off x="719377" y="2340532"/>
            <a:ext cx="1462" cy="229821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H="1">
            <a:off x="6782217" y="2340532"/>
            <a:ext cx="1462" cy="2298212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왼쪽/오른쪽 화살표 120"/>
          <p:cNvSpPr/>
          <p:nvPr/>
        </p:nvSpPr>
        <p:spPr>
          <a:xfrm>
            <a:off x="785293" y="4497138"/>
            <a:ext cx="1064722" cy="170238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2" name="왼쪽/오른쪽 화살표 121"/>
          <p:cNvSpPr/>
          <p:nvPr/>
        </p:nvSpPr>
        <p:spPr>
          <a:xfrm>
            <a:off x="2004745" y="4497137"/>
            <a:ext cx="1064722" cy="170238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17" b="1">
                <a:solidFill>
                  <a:srgbClr val="FF0000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Down Time</a:t>
            </a:r>
            <a:endParaRPr lang="ko-KR" altLang="en-US" sz="917" b="1">
              <a:solidFill>
                <a:srgbClr val="FF0000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3" name="왼쪽/오른쪽 화살표 122"/>
          <p:cNvSpPr/>
          <p:nvPr/>
        </p:nvSpPr>
        <p:spPr>
          <a:xfrm>
            <a:off x="3224197" y="4497137"/>
            <a:ext cx="1064722" cy="170238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4" name="왼쪽/오른쪽 화살표 123"/>
          <p:cNvSpPr/>
          <p:nvPr/>
        </p:nvSpPr>
        <p:spPr>
          <a:xfrm>
            <a:off x="4443649" y="4497137"/>
            <a:ext cx="1064722" cy="170238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en-US" altLang="ko-KR" sz="917" b="1">
                <a:solidFill>
                  <a:srgbClr val="FF0000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Down Time</a:t>
            </a:r>
            <a:endParaRPr lang="ko-KR" altLang="en-US" sz="917" b="1">
              <a:solidFill>
                <a:srgbClr val="FF0000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5" name="왼쪽/오른쪽 화살표 124"/>
          <p:cNvSpPr/>
          <p:nvPr/>
        </p:nvSpPr>
        <p:spPr>
          <a:xfrm>
            <a:off x="5653040" y="4497137"/>
            <a:ext cx="1064722" cy="170238"/>
          </a:xfrm>
          <a:prstGeom prst="leftRightArrow">
            <a:avLst>
              <a:gd name="adj1" fmla="val 86076"/>
              <a:gd name="adj2" fmla="val 50000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</a:t>
            </a:r>
            <a:r>
              <a:rPr lang="en-US" altLang="ko-KR" sz="917" b="1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endParaRPr lang="ko-KR" altLang="en-US" sz="917" b="1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6" name="오각형 125"/>
          <p:cNvSpPr/>
          <p:nvPr/>
        </p:nvSpPr>
        <p:spPr>
          <a:xfrm>
            <a:off x="1994684" y="2681045"/>
            <a:ext cx="1064722" cy="544131"/>
          </a:xfrm>
          <a:prstGeom prst="homePlate">
            <a:avLst>
              <a:gd name="adj" fmla="val 13380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2.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서비스 중단</a:t>
            </a:r>
            <a:endParaRPr lang="en-US" altLang="ko-KR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3. D-1 SnapShot</a:t>
            </a: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7" name="오각형 126"/>
          <p:cNvSpPr/>
          <p:nvPr/>
        </p:nvSpPr>
        <p:spPr>
          <a:xfrm>
            <a:off x="1971786" y="3715350"/>
            <a:ext cx="1087499" cy="469632"/>
          </a:xfrm>
          <a:prstGeom prst="homePlate">
            <a:avLst>
              <a:gd name="adj" fmla="val 13380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021" tIns="42927" rIns="0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3. 24X365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시스템 가동</a:t>
            </a:r>
          </a:p>
        </p:txBody>
      </p:sp>
      <p:sp>
        <p:nvSpPr>
          <p:cNvPr id="128" name="오각형 127"/>
          <p:cNvSpPr/>
          <p:nvPr/>
        </p:nvSpPr>
        <p:spPr>
          <a:xfrm>
            <a:off x="3191238" y="3509804"/>
            <a:ext cx="1120453" cy="831495"/>
          </a:xfrm>
          <a:prstGeom prst="homePlate">
            <a:avLst>
              <a:gd name="adj" fmla="val 13380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021" tIns="42927" rIns="33021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4. 24X365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서비스 개시</a:t>
            </a:r>
            <a:b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5.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서비스 종료</a:t>
            </a:r>
            <a:endParaRPr lang="en-US" altLang="ko-KR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29" name="오각형 128"/>
          <p:cNvSpPr/>
          <p:nvPr/>
        </p:nvSpPr>
        <p:spPr>
          <a:xfrm>
            <a:off x="4429715" y="2595918"/>
            <a:ext cx="1120453" cy="595833"/>
          </a:xfrm>
          <a:prstGeom prst="homePlate">
            <a:avLst>
              <a:gd name="adj" fmla="val 13380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021" tIns="42927" rIns="33021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6.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시스템</a:t>
            </a: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가동준비</a:t>
            </a:r>
            <a:endParaRPr lang="en-US" altLang="ko-KR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7.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반영로그 적용</a:t>
            </a:r>
          </a:p>
        </p:txBody>
      </p:sp>
      <p:sp>
        <p:nvSpPr>
          <p:cNvPr id="130" name="오각형 129"/>
          <p:cNvSpPr/>
          <p:nvPr/>
        </p:nvSpPr>
        <p:spPr>
          <a:xfrm>
            <a:off x="5653040" y="2652669"/>
            <a:ext cx="1064722" cy="469632"/>
          </a:xfrm>
          <a:prstGeom prst="homePlate">
            <a:avLst>
              <a:gd name="adj" fmla="val 13380"/>
            </a:avLst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550"/>
              </a:spcBef>
            </a:pPr>
            <a:r>
              <a:rPr lang="en-US" altLang="ko-KR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8. </a:t>
            </a:r>
            <a:r>
              <a:rPr lang="ko-KR" altLang="en-US" sz="825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온라인 서비스 개시</a:t>
            </a:r>
          </a:p>
        </p:txBody>
      </p:sp>
      <p:sp>
        <p:nvSpPr>
          <p:cNvPr id="131" name="오각형 130"/>
          <p:cNvSpPr/>
          <p:nvPr/>
        </p:nvSpPr>
        <p:spPr>
          <a:xfrm>
            <a:off x="3191239" y="2681046"/>
            <a:ext cx="1064722" cy="469632"/>
          </a:xfrm>
          <a:prstGeom prst="homePlate">
            <a:avLst>
              <a:gd name="adj" fmla="val 0"/>
            </a:avLst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r>
              <a:rPr lang="ko-KR" altLang="en-US" sz="825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계획정지 작업</a:t>
            </a:r>
          </a:p>
        </p:txBody>
      </p:sp>
      <p:sp>
        <p:nvSpPr>
          <p:cNvPr id="132" name="실행 단추: 앞으로 또는 다음 131">
            <a:hlinkClick r:id="" action="ppaction://hlinkshowjump?jump=nextslide" highlightClick="1"/>
          </p:cNvPr>
          <p:cNvSpPr/>
          <p:nvPr/>
        </p:nvSpPr>
        <p:spPr>
          <a:xfrm>
            <a:off x="6157475" y="5211243"/>
            <a:ext cx="257669" cy="158412"/>
          </a:xfrm>
          <a:prstGeom prst="actionButtonForwardNext">
            <a:avLst/>
          </a:prstGeom>
          <a:solidFill>
            <a:schemeClr val="accent1">
              <a:lumMod val="60000"/>
              <a:lumOff val="40000"/>
            </a:schemeClr>
          </a:solidFill>
          <a:ln w="6350" cap="flat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3" name="위로 구부러진 화살표 132"/>
          <p:cNvSpPr/>
          <p:nvPr/>
        </p:nvSpPr>
        <p:spPr>
          <a:xfrm flipV="1">
            <a:off x="1475915" y="2045754"/>
            <a:ext cx="890335" cy="172638"/>
          </a:xfrm>
          <a:prstGeom prst="curvedUpArrow">
            <a:avLst/>
          </a:prstGeom>
          <a:solidFill>
            <a:srgbClr val="FF0000"/>
          </a:solidFill>
          <a:ln w="38100" cap="flat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262737" y="2279800"/>
            <a:ext cx="2214687" cy="38591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66041" rIns="82552" bIns="4292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Job Scheduler</a:t>
            </a: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와 연계한 자동화 처리 구현</a:t>
            </a:r>
            <a:endParaRPr lang="en-US" altLang="ko-KR" sz="963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계획정지 시간 중 허용거래에 대한 확인 필요</a:t>
            </a:r>
            <a:b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</a:t>
            </a: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해당거래는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DBIO </a:t>
            </a: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처리만 가능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서비스 개시 전 보정로그 저장을 위한 보정로그 저장 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Flag On</a:t>
            </a: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963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계획정지 시 온라인 시스템 정지</a:t>
            </a:r>
            <a:r>
              <a:rPr lang="en-US" altLang="ko-KR" sz="963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  </a:t>
            </a:r>
            <a:br>
              <a:rPr lang="en-US" altLang="ko-KR" sz="963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</a:br>
            <a:r>
              <a:rPr lang="en-US" altLang="ko-KR" sz="963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- 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24x365 </a:t>
            </a: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시스템 가동하여 거래처리 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- </a:t>
            </a:r>
            <a:r>
              <a:rPr lang="en-US" altLang="ko-KR" sz="963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24x365 </a:t>
            </a:r>
            <a:r>
              <a:rPr lang="ko-KR" altLang="en-US" sz="963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에서 발생한 거래만 본원장으로 반영 </a:t>
            </a:r>
            <a:endParaRPr lang="en-US" altLang="ko-KR" sz="963" b="1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 marL="157254" indent="-157254">
              <a:spcBef>
                <a:spcPts val="550"/>
              </a:spcBef>
              <a:buFont typeface="Wingdings" panose="05000000000000000000" pitchFamily="2" charset="2"/>
              <a:buChar char="§"/>
            </a:pP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본원장에 거래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(</a:t>
            </a: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보정</a:t>
            </a: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)</a:t>
            </a:r>
            <a:r>
              <a:rPr lang="ko-KR" altLang="en-US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로그 원장으로 보정 작업</a:t>
            </a:r>
            <a:endParaRPr lang="en-US" altLang="ko-KR" sz="963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  <a:p>
            <a:pPr>
              <a:spcBef>
                <a:spcPts val="550"/>
              </a:spcBef>
            </a:pPr>
            <a:r>
              <a:rPr lang="en-US" altLang="ko-KR" sz="963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rPr>
              <a:t>D : DELETE </a:t>
            </a:r>
          </a:p>
          <a:p>
            <a:pPr>
              <a:spcBef>
                <a:spcPts val="550"/>
              </a:spcBef>
            </a:pP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  - Before </a:t>
            </a:r>
            <a:r>
              <a:rPr lang="ko-KR" altLang="en-US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계획정지</a:t>
            </a:r>
            <a:r>
              <a:rPr lang="en-US" altLang="ko-KR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보정 </a:t>
            </a:r>
            <a:r>
              <a:rPr lang="ko-KR" altLang="en-US" sz="963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필요없음</a:t>
            </a:r>
            <a:r>
              <a:rPr lang="en-US" altLang="ko-KR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b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</a:b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U : UPDATE</a:t>
            </a:r>
          </a:p>
          <a:p>
            <a:pPr>
              <a:spcBef>
                <a:spcPts val="550"/>
              </a:spcBef>
            </a:pP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  - Before </a:t>
            </a:r>
            <a:r>
              <a:rPr lang="ko-KR" altLang="en-US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계획정지</a:t>
            </a:r>
            <a:r>
              <a:rPr lang="en-US" altLang="ko-KR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</a:t>
            </a:r>
            <a:r>
              <a:rPr lang="ko-KR" altLang="en-US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보정 </a:t>
            </a:r>
            <a:r>
              <a:rPr lang="ko-KR" altLang="en-US" sz="963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필요없음</a:t>
            </a:r>
            <a:r>
              <a:rPr lang="en-US" altLang="ko-KR" sz="9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</a:t>
            </a: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    </a:t>
            </a:r>
          </a:p>
          <a:p>
            <a:pPr>
              <a:spcBef>
                <a:spcPts val="550"/>
              </a:spcBef>
            </a:pP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  - After Image Insert</a:t>
            </a:r>
            <a:b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</a:b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I : INSERT</a:t>
            </a:r>
          </a:p>
          <a:p>
            <a:pPr>
              <a:spcBef>
                <a:spcPts val="550"/>
              </a:spcBef>
            </a:pPr>
            <a:r>
              <a:rPr lang="en-US" altLang="ko-KR" sz="963" dirty="0">
                <a:solidFill>
                  <a:schemeClr val="tx1">
                    <a:lumMod val="85000"/>
                    <a:lumOff val="15000"/>
                  </a:schemeClr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  <a:sym typeface="Monotype Sorts"/>
              </a:rPr>
              <a:t>    - After Image Insert</a:t>
            </a:r>
            <a:endParaRPr lang="en-US" altLang="ko-KR" sz="963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7977" y="201967"/>
            <a:ext cx="6804000" cy="279757"/>
          </a:xfrm>
        </p:spPr>
        <p:txBody>
          <a:bodyPr/>
          <a:lstStyle/>
          <a:p>
            <a:r>
              <a:rPr lang="ko-KR" altLang="en-US"/>
              <a:t>계획정지 </a:t>
            </a:r>
            <a:r>
              <a:rPr lang="en-US" altLang="ko-KR"/>
              <a:t>&gt; </a:t>
            </a:r>
            <a:r>
              <a:rPr lang="ko-KR" altLang="en-US"/>
              <a:t>본원장 반영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6.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계획정지 지원</a:t>
            </a:r>
          </a:p>
        </p:txBody>
      </p:sp>
      <p:sp>
        <p:nvSpPr>
          <p:cNvPr id="66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665182"/>
          </a:xfrm>
        </p:spPr>
        <p:txBody>
          <a:bodyPr/>
          <a:lstStyle/>
          <a:p>
            <a:pPr>
              <a:defRPr/>
            </a:pP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계획정지 시간동안 </a:t>
            </a:r>
            <a:r>
              <a:rPr lang="en-US" altLang="ko-KR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24X365 </a:t>
            </a: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시스템</a:t>
            </a:r>
            <a:r>
              <a:rPr lang="en-US" altLang="ko-KR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(D-1</a:t>
            </a: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원장</a:t>
            </a:r>
            <a:r>
              <a:rPr lang="en-US" altLang="ko-KR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)</a:t>
            </a: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에 발생한 온라인 거래의 </a:t>
            </a:r>
            <a:r>
              <a:rPr lang="en-US" altLang="ko-KR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After Image</a:t>
            </a: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만 을 가지고 거래</a:t>
            </a:r>
            <a:r>
              <a:rPr lang="en-US" altLang="ko-KR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(</a:t>
            </a: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보정</a:t>
            </a:r>
            <a:r>
              <a:rPr lang="en-US" altLang="ko-KR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)</a:t>
            </a:r>
            <a:r>
              <a:rPr lang="ko-KR" altLang="en-US">
                <a:ln>
                  <a:solidFill>
                    <a:sysClr val="window" lastClr="FFFFFF">
                      <a:lumMod val="95000"/>
                      <a:alpha val="0"/>
                    </a:sysClr>
                  </a:solidFill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로그  원장에 보관하여 본원장 가동준비 시간에 본원장에 반영함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9236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315971BB-B69D-4D24-B118-CDCAAF9EFBC1}"/>
              </a:ext>
            </a:extLst>
          </p:cNvPr>
          <p:cNvCxnSpPr>
            <a:cxnSpLocks/>
          </p:cNvCxnSpPr>
          <p:nvPr/>
        </p:nvCxnSpPr>
        <p:spPr>
          <a:xfrm>
            <a:off x="5521052" y="2323577"/>
            <a:ext cx="0" cy="4246261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D35680FB-1909-45A5-A538-21028635F548}"/>
              </a:ext>
            </a:extLst>
          </p:cNvPr>
          <p:cNvCxnSpPr>
            <a:cxnSpLocks/>
          </p:cNvCxnSpPr>
          <p:nvPr/>
        </p:nvCxnSpPr>
        <p:spPr>
          <a:xfrm>
            <a:off x="6793621" y="1232756"/>
            <a:ext cx="0" cy="5364596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5D9FD73A-A16F-4400-B0E0-03354F5D1998}"/>
              </a:ext>
            </a:extLst>
          </p:cNvPr>
          <p:cNvCxnSpPr>
            <a:cxnSpLocks/>
          </p:cNvCxnSpPr>
          <p:nvPr/>
        </p:nvCxnSpPr>
        <p:spPr>
          <a:xfrm>
            <a:off x="5133021" y="1245474"/>
            <a:ext cx="0" cy="228285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739E3F3-C386-4A54-AC13-75B2904C4009}"/>
              </a:ext>
            </a:extLst>
          </p:cNvPr>
          <p:cNvCxnSpPr>
            <a:cxnSpLocks/>
          </p:cNvCxnSpPr>
          <p:nvPr/>
        </p:nvCxnSpPr>
        <p:spPr>
          <a:xfrm>
            <a:off x="1595960" y="1245473"/>
            <a:ext cx="0" cy="5351879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AEF2288-7DF0-4C05-A81C-D90CCB33034B}"/>
              </a:ext>
            </a:extLst>
          </p:cNvPr>
          <p:cNvCxnSpPr>
            <a:cxnSpLocks/>
          </p:cNvCxnSpPr>
          <p:nvPr/>
        </p:nvCxnSpPr>
        <p:spPr>
          <a:xfrm>
            <a:off x="3384064" y="1217959"/>
            <a:ext cx="0" cy="5351879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31F6C447-95AB-409D-9511-D229CCCE1263}"/>
              </a:ext>
            </a:extLst>
          </p:cNvPr>
          <p:cNvCxnSpPr>
            <a:cxnSpLocks/>
          </p:cNvCxnSpPr>
          <p:nvPr/>
        </p:nvCxnSpPr>
        <p:spPr>
          <a:xfrm>
            <a:off x="2087739" y="1225579"/>
            <a:ext cx="0" cy="5351879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B6A2C9D-DDCD-41B6-8582-10FC2FC7146A}"/>
              </a:ext>
            </a:extLst>
          </p:cNvPr>
          <p:cNvSpPr txBox="1"/>
          <p:nvPr/>
        </p:nvSpPr>
        <p:spPr>
          <a:xfrm>
            <a:off x="1856656" y="1236700"/>
            <a:ext cx="414712" cy="183696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23:30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8855592" cy="279757"/>
          </a:xfrm>
        </p:spPr>
        <p:txBody>
          <a:bodyPr/>
          <a:lstStyle/>
          <a:p>
            <a:r>
              <a:rPr lang="ko-KR" altLang="en-US" dirty="0"/>
              <a:t>상품처리</a:t>
            </a:r>
            <a:r>
              <a:rPr lang="en-US" altLang="ko-KR" dirty="0"/>
              <a:t> </a:t>
            </a:r>
            <a:r>
              <a:rPr lang="ko-KR" altLang="en-US" dirty="0"/>
              <a:t>일자 전환 및 일자 변경 절차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8A69FF-D8DF-4E35-AE1D-005C5CA0BB78}"/>
              </a:ext>
            </a:extLst>
          </p:cNvPr>
          <p:cNvSpPr/>
          <p:nvPr/>
        </p:nvSpPr>
        <p:spPr>
          <a:xfrm>
            <a:off x="272988" y="1526606"/>
            <a:ext cx="744335" cy="3458587"/>
          </a:xfrm>
          <a:prstGeom prst="rect">
            <a:avLst/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161616">
                <a:lumMod val="50000"/>
                <a:lumOff val="50000"/>
              </a:srgbClr>
            </a:solidFill>
            <a:prstDash val="sysDash"/>
            <a:miter lim="800000"/>
            <a:tailEnd type="triangle"/>
          </a:ln>
          <a:effectLst/>
        </p:spPr>
        <p:txBody>
          <a:bodyPr wrap="none" lIns="36000" tIns="36000" rIns="0" bIns="36000" rtlCol="0" anchor="t">
            <a:no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ctr" defTabSz="1018803">
              <a:defRPr/>
            </a:pPr>
            <a:r>
              <a:rPr lang="ko-KR" altLang="en-US" sz="1200" b="1" kern="0" spc="-50" dirty="0">
                <a:solidFill>
                  <a:srgbClr val="161616">
                    <a:lumMod val="75000"/>
                    <a:lumOff val="25000"/>
                  </a:srgbClr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  <a:cs typeface="KoPub돋움체 Medium"/>
              </a:rPr>
              <a:t>상품처리</a:t>
            </a:r>
            <a:endParaRPr lang="en-US" altLang="ko-KR" sz="1200" b="1" kern="0" spc="-50" dirty="0">
              <a:solidFill>
                <a:srgbClr val="161616">
                  <a:lumMod val="75000"/>
                  <a:lumOff val="25000"/>
                </a:srgbClr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  <a:cs typeface="KoPub돋움체 Medium"/>
            </a:endParaRPr>
          </a:p>
          <a:p>
            <a:pPr algn="ctr" defTabSz="1018803">
              <a:defRPr/>
            </a:pPr>
            <a:r>
              <a:rPr lang="ko-KR" altLang="en-US" sz="1200" b="1" kern="0" spc="-50" dirty="0">
                <a:solidFill>
                  <a:srgbClr val="161616">
                    <a:lumMod val="75000"/>
                    <a:lumOff val="25000"/>
                  </a:srgbClr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  <a:cs typeface="KoPub돋움체 Medium"/>
              </a:rPr>
              <a:t>온라인</a:t>
            </a:r>
            <a:endParaRPr lang="en-US" altLang="ko-KR" sz="1200" b="1" kern="0" spc="-50" dirty="0">
              <a:solidFill>
                <a:srgbClr val="161616">
                  <a:lumMod val="75000"/>
                  <a:lumOff val="25000"/>
                </a:srgbClr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  <a:cs typeface="KoPub돋움체 Medium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E949D02-22CC-4745-8676-36E2FB0D6FF3}"/>
              </a:ext>
            </a:extLst>
          </p:cNvPr>
          <p:cNvCxnSpPr/>
          <p:nvPr/>
        </p:nvCxnSpPr>
        <p:spPr>
          <a:xfrm>
            <a:off x="1100573" y="1217959"/>
            <a:ext cx="3960440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D34D914-BBFA-46BA-AC26-58D90A7CCC56}"/>
              </a:ext>
            </a:extLst>
          </p:cNvPr>
          <p:cNvCxnSpPr>
            <a:cxnSpLocks/>
          </p:cNvCxnSpPr>
          <p:nvPr/>
        </p:nvCxnSpPr>
        <p:spPr>
          <a:xfrm>
            <a:off x="5061013" y="1217959"/>
            <a:ext cx="4608450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42FAF86-7ABB-4D23-AB2E-FEB3D153574E}"/>
              </a:ext>
            </a:extLst>
          </p:cNvPr>
          <p:cNvSpPr txBox="1"/>
          <p:nvPr/>
        </p:nvSpPr>
        <p:spPr>
          <a:xfrm>
            <a:off x="3409446" y="886385"/>
            <a:ext cx="795855" cy="339833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defTabSz="914400"/>
            <a:r>
              <a:rPr lang="ko-KR" altLang="en-US" sz="1200" b="1">
                <a:solidFill>
                  <a:srgbClr val="000000"/>
                </a:solidFill>
                <a:latin typeface="KB금융 본문체 Light"/>
                <a:ea typeface="KB금융 본문체 Light"/>
              </a:rPr>
              <a:t>금 영업일</a:t>
            </a:r>
            <a:endParaRPr lang="ko-KR" altLang="en-US" sz="1200" b="1" dirty="0">
              <a:solidFill>
                <a:srgbClr val="000000"/>
              </a:solidFill>
              <a:latin typeface="KB금융 본문체 Light"/>
              <a:ea typeface="KB금융 본문체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C770FB-71EC-4E89-B9FA-0F6562C80D80}"/>
              </a:ext>
            </a:extLst>
          </p:cNvPr>
          <p:cNvSpPr txBox="1"/>
          <p:nvPr/>
        </p:nvSpPr>
        <p:spPr>
          <a:xfrm>
            <a:off x="5921342" y="886385"/>
            <a:ext cx="795855" cy="339833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defTabSz="914400"/>
            <a:r>
              <a:rPr lang="ko-KR" altLang="en-US" sz="1200" b="1">
                <a:solidFill>
                  <a:srgbClr val="000000"/>
                </a:solidFill>
                <a:latin typeface="KB금융 본문체 Light"/>
                <a:ea typeface="KB금융 본문체 Light"/>
              </a:rPr>
              <a:t>익 영업일</a:t>
            </a:r>
            <a:endParaRPr lang="ko-KR" altLang="en-US" sz="1200" b="1" dirty="0">
              <a:solidFill>
                <a:srgbClr val="000000"/>
              </a:solidFill>
              <a:latin typeface="KB금융 본문체 Light"/>
              <a:ea typeface="KB금융 본문체 Light"/>
            </a:endParaRPr>
          </a:p>
        </p:txBody>
      </p:sp>
      <p:sp>
        <p:nvSpPr>
          <p:cNvPr id="37" name="아래로 구부러진 화살표 59">
            <a:extLst>
              <a:ext uri="{FF2B5EF4-FFF2-40B4-BE49-F238E27FC236}">
                <a16:creationId xmlns:a16="http://schemas.microsoft.com/office/drawing/2014/main" id="{4220B74B-86C1-49AA-9C40-51682B980AAD}"/>
              </a:ext>
            </a:extLst>
          </p:cNvPr>
          <p:cNvSpPr/>
          <p:nvPr/>
        </p:nvSpPr>
        <p:spPr>
          <a:xfrm>
            <a:off x="4648151" y="901913"/>
            <a:ext cx="844910" cy="244264"/>
          </a:xfrm>
          <a:prstGeom prst="curvedDownArrow">
            <a:avLst/>
          </a:prstGeom>
          <a:solidFill>
            <a:srgbClr val="1F497D">
              <a:lumMod val="60000"/>
              <a:lumOff val="4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59F7-DFC8-4D5D-94DB-911126BA700F}"/>
              </a:ext>
            </a:extLst>
          </p:cNvPr>
          <p:cNvSpPr txBox="1"/>
          <p:nvPr/>
        </p:nvSpPr>
        <p:spPr>
          <a:xfrm>
            <a:off x="4430942" y="648514"/>
            <a:ext cx="1548172" cy="332026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defTabSz="914400"/>
            <a:r>
              <a:rPr lang="ko-KR" altLang="en-US" sz="1200" b="1" dirty="0" err="1">
                <a:solidFill>
                  <a:srgbClr val="000000"/>
                </a:solidFill>
                <a:latin typeface="KB금융 본문체 Light"/>
                <a:ea typeface="KB금융 본문체 Light"/>
              </a:rPr>
              <a:t>익</a:t>
            </a:r>
            <a:r>
              <a:rPr lang="ko-KR" altLang="en-US" sz="1200" b="1" dirty="0">
                <a:solidFill>
                  <a:srgbClr val="000000"/>
                </a:solidFill>
                <a:latin typeface="KB금융 본문체 Light"/>
                <a:ea typeface="KB금융 본문체 Light"/>
              </a:rPr>
              <a:t> 영업일 일자전환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E7FD88-9C7A-437B-B972-7ED2DFD0344A}"/>
              </a:ext>
            </a:extLst>
          </p:cNvPr>
          <p:cNvSpPr/>
          <p:nvPr/>
        </p:nvSpPr>
        <p:spPr>
          <a:xfrm>
            <a:off x="272988" y="5049838"/>
            <a:ext cx="744335" cy="1547514"/>
          </a:xfrm>
          <a:prstGeom prst="rect">
            <a:avLst/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161616">
                <a:lumMod val="50000"/>
                <a:lumOff val="50000"/>
              </a:srgbClr>
            </a:solidFill>
            <a:prstDash val="sysDash"/>
            <a:miter lim="800000"/>
            <a:tailEnd type="triangle"/>
          </a:ln>
          <a:effectLst/>
        </p:spPr>
        <p:txBody>
          <a:bodyPr wrap="none" lIns="36000" tIns="36000" rIns="0" bIns="36000" rtlCol="0" anchor="t">
            <a:no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ctr" defTabSz="1018803">
              <a:defRPr/>
            </a:pPr>
            <a:r>
              <a:rPr lang="ko-KR" altLang="en-US" sz="1200" b="1" kern="0" spc="-50" dirty="0">
                <a:solidFill>
                  <a:srgbClr val="161616">
                    <a:lumMod val="75000"/>
                    <a:lumOff val="25000"/>
                  </a:srgbClr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  <a:cs typeface="KoPub돋움체 Medium"/>
              </a:rPr>
              <a:t>상품처리</a:t>
            </a:r>
            <a:endParaRPr lang="en-US" altLang="ko-KR" sz="1200" b="1" kern="0" spc="-50" dirty="0">
              <a:solidFill>
                <a:srgbClr val="161616">
                  <a:lumMod val="75000"/>
                  <a:lumOff val="25000"/>
                </a:srgbClr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  <a:cs typeface="KoPub돋움체 Medium"/>
            </a:endParaRPr>
          </a:p>
          <a:p>
            <a:pPr algn="ctr" defTabSz="1018803">
              <a:defRPr/>
            </a:pPr>
            <a:r>
              <a:rPr lang="ko-KR" altLang="en-US" sz="1200" b="1" kern="0" spc="-50" dirty="0">
                <a:solidFill>
                  <a:srgbClr val="161616">
                    <a:lumMod val="75000"/>
                    <a:lumOff val="25000"/>
                  </a:srgbClr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  <a:cs typeface="KoPub돋움체 Medium"/>
              </a:rPr>
              <a:t>배치</a:t>
            </a:r>
            <a:endParaRPr lang="en-US" altLang="ko-KR" sz="1200" b="1" kern="0" spc="-50" dirty="0">
              <a:solidFill>
                <a:srgbClr val="161616">
                  <a:lumMod val="75000"/>
                  <a:lumOff val="25000"/>
                </a:srgbClr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  <a:cs typeface="KoPub돋움체 Medium"/>
            </a:endParaRPr>
          </a:p>
        </p:txBody>
      </p:sp>
      <p:sp>
        <p:nvSpPr>
          <p:cNvPr id="41" name="오각형 63">
            <a:extLst>
              <a:ext uri="{FF2B5EF4-FFF2-40B4-BE49-F238E27FC236}">
                <a16:creationId xmlns:a16="http://schemas.microsoft.com/office/drawing/2014/main" id="{54C0D84C-1085-4F8F-8750-6B403AF5DCA3}"/>
              </a:ext>
            </a:extLst>
          </p:cNvPr>
          <p:cNvSpPr/>
          <p:nvPr/>
        </p:nvSpPr>
        <p:spPr>
          <a:xfrm>
            <a:off x="1100573" y="1526607"/>
            <a:ext cx="7812868" cy="246209"/>
          </a:xfrm>
          <a:prstGeom prst="homePlate">
            <a:avLst>
              <a:gd name="adj" fmla="val 31537"/>
            </a:avLst>
          </a:prstGeom>
          <a:solidFill>
            <a:srgbClr val="1F497D">
              <a:lumMod val="20000"/>
              <a:lumOff val="80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온라인 거래 </a:t>
            </a: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정상 운영</a:t>
            </a: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62574A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42" name="오각형 64">
            <a:extLst>
              <a:ext uri="{FF2B5EF4-FFF2-40B4-BE49-F238E27FC236}">
                <a16:creationId xmlns:a16="http://schemas.microsoft.com/office/drawing/2014/main" id="{30347D30-EBE2-4EF3-81D2-4135984CC1AC}"/>
              </a:ext>
            </a:extLst>
          </p:cNvPr>
          <p:cNvSpPr/>
          <p:nvPr/>
        </p:nvSpPr>
        <p:spPr>
          <a:xfrm>
            <a:off x="1100573" y="1772816"/>
            <a:ext cx="4032448" cy="249717"/>
          </a:xfrm>
          <a:prstGeom prst="homePlate">
            <a:avLst>
              <a:gd name="adj" fmla="val 31537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6257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당일 처리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62574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43" name="오각형 65">
            <a:extLst>
              <a:ext uri="{FF2B5EF4-FFF2-40B4-BE49-F238E27FC236}">
                <a16:creationId xmlns:a16="http://schemas.microsoft.com/office/drawing/2014/main" id="{AA09CDBE-C159-4E82-9C99-225C5A809DED}"/>
              </a:ext>
            </a:extLst>
          </p:cNvPr>
          <p:cNvSpPr/>
          <p:nvPr/>
        </p:nvSpPr>
        <p:spPr>
          <a:xfrm>
            <a:off x="5150345" y="1772816"/>
            <a:ext cx="3763035" cy="249717"/>
          </a:xfrm>
          <a:prstGeom prst="homePlate">
            <a:avLst>
              <a:gd name="adj" fmla="val 31537"/>
            </a:avLst>
          </a:prstGeom>
          <a:solidFill>
            <a:schemeClr val="bg1">
              <a:lumMod val="75000"/>
            </a:schemeClr>
          </a:solidFill>
          <a:ln w="28575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익일 처리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49" name="오각형 68">
            <a:extLst>
              <a:ext uri="{FF2B5EF4-FFF2-40B4-BE49-F238E27FC236}">
                <a16:creationId xmlns:a16="http://schemas.microsoft.com/office/drawing/2014/main" id="{693472D3-28FC-4833-B3D9-AC3F521CFC74}"/>
              </a:ext>
            </a:extLst>
          </p:cNvPr>
          <p:cNvSpPr/>
          <p:nvPr/>
        </p:nvSpPr>
        <p:spPr>
          <a:xfrm>
            <a:off x="1100573" y="5079364"/>
            <a:ext cx="490518" cy="468053"/>
          </a:xfrm>
          <a:prstGeom prst="homePlate">
            <a:avLst>
              <a:gd name="adj" fmla="val 31537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전일 배치 마감</a:t>
            </a:r>
          </a:p>
        </p:txBody>
      </p:sp>
      <p:sp>
        <p:nvSpPr>
          <p:cNvPr id="51" name="오각형 70">
            <a:extLst>
              <a:ext uri="{FF2B5EF4-FFF2-40B4-BE49-F238E27FC236}">
                <a16:creationId xmlns:a16="http://schemas.microsoft.com/office/drawing/2014/main" id="{0B30D65C-87CD-4451-B87B-8652CA3D1361}"/>
              </a:ext>
            </a:extLst>
          </p:cNvPr>
          <p:cNvSpPr/>
          <p:nvPr/>
        </p:nvSpPr>
        <p:spPr>
          <a:xfrm>
            <a:off x="3385191" y="2479951"/>
            <a:ext cx="639806" cy="236990"/>
          </a:xfrm>
          <a:prstGeom prst="homePlate">
            <a:avLst>
              <a:gd name="adj" fmla="val 31537"/>
            </a:avLst>
          </a:prstGeom>
          <a:solidFill>
            <a:srgbClr val="FFA600">
              <a:lumMod val="20000"/>
              <a:lumOff val="80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D1-DB</a:t>
            </a:r>
            <a:b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</a:b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Snapshot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srgbClr val="62574A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52" name="오각형 71">
            <a:extLst>
              <a:ext uri="{FF2B5EF4-FFF2-40B4-BE49-F238E27FC236}">
                <a16:creationId xmlns:a16="http://schemas.microsoft.com/office/drawing/2014/main" id="{95410105-5028-447C-A3B8-5CDCA53A70CE}"/>
              </a:ext>
            </a:extLst>
          </p:cNvPr>
          <p:cNvSpPr/>
          <p:nvPr/>
        </p:nvSpPr>
        <p:spPr>
          <a:xfrm>
            <a:off x="5134303" y="3121574"/>
            <a:ext cx="234704" cy="366938"/>
          </a:xfrm>
          <a:prstGeom prst="homePlate">
            <a:avLst>
              <a:gd name="adj" fmla="val 31537"/>
            </a:avLst>
          </a:prstGeom>
          <a:solidFill>
            <a:srgbClr val="C00000">
              <a:lumMod val="60000"/>
              <a:lumOff val="40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일자</a:t>
            </a:r>
            <a:b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</a:b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전환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53" name="오각형 72">
            <a:extLst>
              <a:ext uri="{FF2B5EF4-FFF2-40B4-BE49-F238E27FC236}">
                <a16:creationId xmlns:a16="http://schemas.microsoft.com/office/drawing/2014/main" id="{03C4D283-9E48-4945-BD92-C4451154B99D}"/>
              </a:ext>
            </a:extLst>
          </p:cNvPr>
          <p:cNvSpPr/>
          <p:nvPr/>
        </p:nvSpPr>
        <p:spPr>
          <a:xfrm>
            <a:off x="1596607" y="5301208"/>
            <a:ext cx="1789715" cy="246209"/>
          </a:xfrm>
          <a:prstGeom prst="homePlate">
            <a:avLst>
              <a:gd name="adj" fmla="val 31537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 D-1 DB2 Stop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62574A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54" name="오각형 73">
            <a:extLst>
              <a:ext uri="{FF2B5EF4-FFF2-40B4-BE49-F238E27FC236}">
                <a16:creationId xmlns:a16="http://schemas.microsoft.com/office/drawing/2014/main" id="{4622DF5C-B6C5-4520-8695-1F02ADD2F57C}"/>
              </a:ext>
            </a:extLst>
          </p:cNvPr>
          <p:cNvSpPr/>
          <p:nvPr/>
        </p:nvSpPr>
        <p:spPr>
          <a:xfrm>
            <a:off x="3381946" y="5559056"/>
            <a:ext cx="1086960" cy="246208"/>
          </a:xfrm>
          <a:prstGeom prst="homePlate">
            <a:avLst>
              <a:gd name="adj" fmla="val 31537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 DB2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시작</a:t>
            </a:r>
          </a:p>
        </p:txBody>
      </p:sp>
      <p:sp>
        <p:nvSpPr>
          <p:cNvPr id="60" name="오각형 79">
            <a:extLst>
              <a:ext uri="{FF2B5EF4-FFF2-40B4-BE49-F238E27FC236}">
                <a16:creationId xmlns:a16="http://schemas.microsoft.com/office/drawing/2014/main" id="{B8DA0BD3-477F-4629-8ECF-C6FECB9E5257}"/>
              </a:ext>
            </a:extLst>
          </p:cNvPr>
          <p:cNvSpPr/>
          <p:nvPr/>
        </p:nvSpPr>
        <p:spPr>
          <a:xfrm>
            <a:off x="5529064" y="5883092"/>
            <a:ext cx="336224" cy="246208"/>
          </a:xfrm>
          <a:prstGeom prst="homePlate">
            <a:avLst>
              <a:gd name="adj" fmla="val 31537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62574A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61" name="오각형 80">
            <a:extLst>
              <a:ext uri="{FF2B5EF4-FFF2-40B4-BE49-F238E27FC236}">
                <a16:creationId xmlns:a16="http://schemas.microsoft.com/office/drawing/2014/main" id="{5E64AE9B-A81B-4EB5-A933-65ECC476B5EC}"/>
              </a:ext>
            </a:extLst>
          </p:cNvPr>
          <p:cNvSpPr/>
          <p:nvPr/>
        </p:nvSpPr>
        <p:spPr>
          <a:xfrm>
            <a:off x="5564629" y="5913276"/>
            <a:ext cx="2337018" cy="188704"/>
          </a:xfrm>
          <a:prstGeom prst="homePlate">
            <a:avLst>
              <a:gd name="adj" fmla="val 31537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원장 시점 정보 보정</a:t>
            </a:r>
          </a:p>
        </p:txBody>
      </p:sp>
      <p:sp>
        <p:nvSpPr>
          <p:cNvPr id="64" name="오각형 83">
            <a:extLst>
              <a:ext uri="{FF2B5EF4-FFF2-40B4-BE49-F238E27FC236}">
                <a16:creationId xmlns:a16="http://schemas.microsoft.com/office/drawing/2014/main" id="{2AB594A4-03B3-4692-9A4B-2A0A42A97F1B}"/>
              </a:ext>
            </a:extLst>
          </p:cNvPr>
          <p:cNvSpPr/>
          <p:nvPr/>
        </p:nvSpPr>
        <p:spPr>
          <a:xfrm>
            <a:off x="5832940" y="6207127"/>
            <a:ext cx="2720460" cy="246209"/>
          </a:xfrm>
          <a:prstGeom prst="homePlate">
            <a:avLst>
              <a:gd name="adj" fmla="val 31537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 Batch Job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수행</a:t>
            </a:r>
          </a:p>
        </p:txBody>
      </p:sp>
      <p:sp>
        <p:nvSpPr>
          <p:cNvPr id="67" name="설명선 2 86">
            <a:extLst>
              <a:ext uri="{FF2B5EF4-FFF2-40B4-BE49-F238E27FC236}">
                <a16:creationId xmlns:a16="http://schemas.microsoft.com/office/drawing/2014/main" id="{98BAFBFB-DD28-419A-8AF9-E4D9BB1CC8A9}"/>
              </a:ext>
            </a:extLst>
          </p:cNvPr>
          <p:cNvSpPr/>
          <p:nvPr/>
        </p:nvSpPr>
        <p:spPr>
          <a:xfrm>
            <a:off x="5781092" y="3033559"/>
            <a:ext cx="1678926" cy="406747"/>
          </a:xfrm>
          <a:prstGeom prst="borderCallout2">
            <a:avLst>
              <a:gd name="adj1" fmla="val 19861"/>
              <a:gd name="adj2" fmla="val -3386"/>
              <a:gd name="adj3" fmla="val 18750"/>
              <a:gd name="adj4" fmla="val -16667"/>
              <a:gd name="adj5" fmla="val 37639"/>
              <a:gd name="adj6" fmla="val -23115"/>
            </a:avLst>
          </a:prstGeom>
          <a:solidFill>
            <a:srgbClr val="FFFFFF">
              <a:lumMod val="95000"/>
            </a:srgbClr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영업일자 정보 변경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후처리</a:t>
            </a:r>
            <a:r>
              <a:rPr lang="en-US" altLang="ko-KR" sz="1000" kern="0" dirty="0">
                <a:solidFill>
                  <a:srgbClr val="000000"/>
                </a:solidFill>
                <a:latin typeface="KB금융 본문체 Light"/>
                <a:ea typeface="KB금융 본문체 Light"/>
                <a:cs typeface="Arial" pitchFamily="34" charset="0"/>
              </a:rPr>
              <a:t>(TBH)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 호출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71" name="오각형 90">
            <a:extLst>
              <a:ext uri="{FF2B5EF4-FFF2-40B4-BE49-F238E27FC236}">
                <a16:creationId xmlns:a16="http://schemas.microsoft.com/office/drawing/2014/main" id="{56FD0854-A4F3-4F0B-8911-1CC40BB203E2}"/>
              </a:ext>
            </a:extLst>
          </p:cNvPr>
          <p:cNvSpPr/>
          <p:nvPr/>
        </p:nvSpPr>
        <p:spPr>
          <a:xfrm>
            <a:off x="5529064" y="4173405"/>
            <a:ext cx="684076" cy="315352"/>
          </a:xfrm>
          <a:prstGeom prst="homePlate">
            <a:avLst>
              <a:gd name="adj" fmla="val 31537"/>
            </a:avLst>
          </a:prstGeom>
          <a:solidFill>
            <a:srgbClr val="FFA600">
              <a:lumMod val="20000"/>
              <a:lumOff val="80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CM </a:t>
            </a:r>
            <a:b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</a:b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정기배포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769809-FBE4-4519-8867-A10A170508B1}"/>
              </a:ext>
            </a:extLst>
          </p:cNvPr>
          <p:cNvSpPr txBox="1"/>
          <p:nvPr/>
        </p:nvSpPr>
        <p:spPr>
          <a:xfrm>
            <a:off x="1388604" y="1236700"/>
            <a:ext cx="414711" cy="183503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22:00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76" name="오각형 90">
            <a:extLst>
              <a:ext uri="{FF2B5EF4-FFF2-40B4-BE49-F238E27FC236}">
                <a16:creationId xmlns:a16="http://schemas.microsoft.com/office/drawing/2014/main" id="{879CC3F7-C2FA-4CEF-B817-26BEF371A82C}"/>
              </a:ext>
            </a:extLst>
          </p:cNvPr>
          <p:cNvSpPr/>
          <p:nvPr/>
        </p:nvSpPr>
        <p:spPr>
          <a:xfrm>
            <a:off x="2084666" y="4173405"/>
            <a:ext cx="703233" cy="315352"/>
          </a:xfrm>
          <a:prstGeom prst="homePlate">
            <a:avLst>
              <a:gd name="adj" fmla="val 31537"/>
            </a:avLst>
          </a:prstGeom>
          <a:solidFill>
            <a:srgbClr val="FFA600">
              <a:lumMod val="20000"/>
              <a:lumOff val="80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CM </a:t>
            </a:r>
            <a:b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</a:br>
            <a:r>
              <a:rPr lang="ko-KR" altLang="en-US" sz="1000" b="1" kern="0" dirty="0">
                <a:solidFill>
                  <a:srgbClr val="62574A"/>
                </a:solidFill>
                <a:latin typeface="KB금융 본문체 Light"/>
                <a:ea typeface="KB금융 본문체 Light"/>
                <a:cs typeface="Arial" pitchFamily="34" charset="0"/>
              </a:rPr>
              <a:t>사전배포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62574A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78" name="오각형 64">
            <a:extLst>
              <a:ext uri="{FF2B5EF4-FFF2-40B4-BE49-F238E27FC236}">
                <a16:creationId xmlns:a16="http://schemas.microsoft.com/office/drawing/2014/main" id="{69C6D635-4377-4898-9D20-0082C052BDD1}"/>
              </a:ext>
            </a:extLst>
          </p:cNvPr>
          <p:cNvSpPr/>
          <p:nvPr/>
        </p:nvSpPr>
        <p:spPr>
          <a:xfrm>
            <a:off x="1100572" y="2132856"/>
            <a:ext cx="2264333" cy="251946"/>
          </a:xfrm>
          <a:prstGeom prst="homePlate">
            <a:avLst>
              <a:gd name="adj" fmla="val 31537"/>
            </a:avLst>
          </a:prstGeom>
          <a:solidFill>
            <a:schemeClr val="accent3">
              <a:lumMod val="20000"/>
              <a:lumOff val="8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D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모드</a:t>
            </a:r>
          </a:p>
        </p:txBody>
      </p:sp>
      <p:sp>
        <p:nvSpPr>
          <p:cNvPr id="79" name="오각형 64">
            <a:extLst>
              <a:ext uri="{FF2B5EF4-FFF2-40B4-BE49-F238E27FC236}">
                <a16:creationId xmlns:a16="http://schemas.microsoft.com/office/drawing/2014/main" id="{FB6E45EF-00BC-4557-B639-4AA75D0DD696}"/>
              </a:ext>
            </a:extLst>
          </p:cNvPr>
          <p:cNvSpPr/>
          <p:nvPr/>
        </p:nvSpPr>
        <p:spPr>
          <a:xfrm>
            <a:off x="3386322" y="2132856"/>
            <a:ext cx="1718231" cy="251946"/>
          </a:xfrm>
          <a:prstGeom prst="homePlate">
            <a:avLst>
              <a:gd name="adj" fmla="val 31537"/>
            </a:avLst>
          </a:prstGeom>
          <a:solidFill>
            <a:schemeClr val="tx2">
              <a:lumMod val="20000"/>
              <a:lumOff val="8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srgbClr val="62574A"/>
                </a:solidFill>
                <a:latin typeface="KB금융 본문체 Light"/>
                <a:ea typeface="KB금융 본문체 Light"/>
                <a:cs typeface="Arial" pitchFamily="34" charset="0"/>
              </a:rPr>
              <a:t>P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모드</a:t>
            </a:r>
          </a:p>
        </p:txBody>
      </p:sp>
      <p:sp>
        <p:nvSpPr>
          <p:cNvPr id="80" name="오각형 64">
            <a:extLst>
              <a:ext uri="{FF2B5EF4-FFF2-40B4-BE49-F238E27FC236}">
                <a16:creationId xmlns:a16="http://schemas.microsoft.com/office/drawing/2014/main" id="{CA9FA9CF-358B-4896-BF9C-8F8AB57B9D49}"/>
              </a:ext>
            </a:extLst>
          </p:cNvPr>
          <p:cNvSpPr/>
          <p:nvPr/>
        </p:nvSpPr>
        <p:spPr>
          <a:xfrm>
            <a:off x="5133020" y="2132856"/>
            <a:ext cx="380021" cy="251946"/>
          </a:xfrm>
          <a:prstGeom prst="homePlate">
            <a:avLst>
              <a:gd name="adj" fmla="val 31537"/>
            </a:avLst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T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모드</a:t>
            </a:r>
          </a:p>
        </p:txBody>
      </p:sp>
      <p:sp>
        <p:nvSpPr>
          <p:cNvPr id="82" name="오각형 64">
            <a:extLst>
              <a:ext uri="{FF2B5EF4-FFF2-40B4-BE49-F238E27FC236}">
                <a16:creationId xmlns:a16="http://schemas.microsoft.com/office/drawing/2014/main" id="{55DBE13B-D86D-4231-ADD0-951AF9A36AD2}"/>
              </a:ext>
            </a:extLst>
          </p:cNvPr>
          <p:cNvSpPr/>
          <p:nvPr/>
        </p:nvSpPr>
        <p:spPr>
          <a:xfrm>
            <a:off x="5521052" y="2132856"/>
            <a:ext cx="3392323" cy="251946"/>
          </a:xfrm>
          <a:prstGeom prst="homePlate">
            <a:avLst>
              <a:gd name="adj" fmla="val 31537"/>
            </a:avLst>
          </a:prstGeom>
          <a:solidFill>
            <a:schemeClr val="accent3">
              <a:lumMod val="20000"/>
              <a:lumOff val="8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D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모드</a:t>
            </a:r>
          </a:p>
        </p:txBody>
      </p:sp>
      <p:sp>
        <p:nvSpPr>
          <p:cNvPr id="83" name="오각형 70">
            <a:extLst>
              <a:ext uri="{FF2B5EF4-FFF2-40B4-BE49-F238E27FC236}">
                <a16:creationId xmlns:a16="http://schemas.microsoft.com/office/drawing/2014/main" id="{352CD7FB-EEAD-4517-B22A-ABCB7656D59D}"/>
              </a:ext>
            </a:extLst>
          </p:cNvPr>
          <p:cNvSpPr/>
          <p:nvPr/>
        </p:nvSpPr>
        <p:spPr>
          <a:xfrm>
            <a:off x="3383074" y="4545923"/>
            <a:ext cx="2808000" cy="188704"/>
          </a:xfrm>
          <a:prstGeom prst="homePlate">
            <a:avLst>
              <a:gd name="adj" fmla="val 31537"/>
            </a:avLst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>
                <a:solidFill>
                  <a:schemeClr val="bg1"/>
                </a:solidFill>
                <a:latin typeface="KB금융 본문체 Light"/>
                <a:ea typeface="KB금융 본문체 Light"/>
                <a:cs typeface="Arial" pitchFamily="34" charset="0"/>
              </a:rPr>
              <a:t>일자전환 라우팅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86" name="오각형 70">
            <a:extLst>
              <a:ext uri="{FF2B5EF4-FFF2-40B4-BE49-F238E27FC236}">
                <a16:creationId xmlns:a16="http://schemas.microsoft.com/office/drawing/2014/main" id="{CC2A2B73-51B6-45B3-99F3-66EE27864E3D}"/>
              </a:ext>
            </a:extLst>
          </p:cNvPr>
          <p:cNvSpPr/>
          <p:nvPr/>
        </p:nvSpPr>
        <p:spPr>
          <a:xfrm>
            <a:off x="2797621" y="4796489"/>
            <a:ext cx="3996000" cy="188704"/>
          </a:xfrm>
          <a:prstGeom prst="homePlate">
            <a:avLst>
              <a:gd name="adj" fmla="val 31537"/>
            </a:avLst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>
                <a:solidFill>
                  <a:schemeClr val="bg1"/>
                </a:solidFill>
                <a:latin typeface="KB금융 본문체 Light"/>
                <a:ea typeface="KB금융 본문체 Light"/>
                <a:cs typeface="Arial" pitchFamily="34" charset="0"/>
              </a:rPr>
              <a:t>일자전환 </a:t>
            </a:r>
            <a:r>
              <a:rPr lang="en-US" altLang="ko-KR" sz="1000" b="1" kern="0" dirty="0">
                <a:solidFill>
                  <a:schemeClr val="bg1"/>
                </a:solidFill>
                <a:latin typeface="KB금융 본문체 Light"/>
                <a:ea typeface="KB금융 본문체 Light"/>
                <a:cs typeface="Arial" pitchFamily="34" charset="0"/>
              </a:rPr>
              <a:t>WAS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87" name="오각형 90">
            <a:extLst>
              <a:ext uri="{FF2B5EF4-FFF2-40B4-BE49-F238E27FC236}">
                <a16:creationId xmlns:a16="http://schemas.microsoft.com/office/drawing/2014/main" id="{74746E0D-6F7A-4190-A894-EB59506DB885}"/>
              </a:ext>
            </a:extLst>
          </p:cNvPr>
          <p:cNvSpPr/>
          <p:nvPr/>
        </p:nvSpPr>
        <p:spPr>
          <a:xfrm>
            <a:off x="5133020" y="3840073"/>
            <a:ext cx="366879" cy="315352"/>
          </a:xfrm>
          <a:prstGeom prst="homePlate">
            <a:avLst>
              <a:gd name="adj" fmla="val 31537"/>
            </a:avLst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ko-KR" altLang="en-US" sz="1000" b="1" kern="0" dirty="0">
                <a:solidFill>
                  <a:srgbClr val="62574A"/>
                </a:solidFill>
                <a:latin typeface="KB금융 본문체 Light"/>
                <a:ea typeface="KB금융 본문체 Light"/>
                <a:cs typeface="Arial" pitchFamily="34" charset="0"/>
              </a:rPr>
              <a:t>거래제어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01274F-2E6F-4743-AA75-C8F001AC27FD}"/>
              </a:ext>
            </a:extLst>
          </p:cNvPr>
          <p:cNvSpPr txBox="1"/>
          <p:nvPr/>
        </p:nvSpPr>
        <p:spPr>
          <a:xfrm>
            <a:off x="3206140" y="1236700"/>
            <a:ext cx="414712" cy="183696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23:50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220B4F22-56BA-4D9C-B2AD-5DB07875FC6F}"/>
              </a:ext>
            </a:extLst>
          </p:cNvPr>
          <p:cNvCxnSpPr>
            <a:cxnSpLocks/>
          </p:cNvCxnSpPr>
          <p:nvPr/>
        </p:nvCxnSpPr>
        <p:spPr>
          <a:xfrm>
            <a:off x="2797622" y="4349971"/>
            <a:ext cx="0" cy="635222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3ABD42B-0741-4E8D-AFEE-14EAE4270399}"/>
              </a:ext>
            </a:extLst>
          </p:cNvPr>
          <p:cNvSpPr txBox="1"/>
          <p:nvPr/>
        </p:nvSpPr>
        <p:spPr>
          <a:xfrm>
            <a:off x="4916996" y="1236700"/>
            <a:ext cx="414712" cy="183696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00:00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1A1D91D-F729-491E-A724-2EB52FF74974}"/>
              </a:ext>
            </a:extLst>
          </p:cNvPr>
          <p:cNvSpPr txBox="1"/>
          <p:nvPr/>
        </p:nvSpPr>
        <p:spPr>
          <a:xfrm>
            <a:off x="6573180" y="1232756"/>
            <a:ext cx="414712" cy="183696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00:30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본문체 Light"/>
              <a:ea typeface="KB금융 본문체 Light"/>
              <a:cs typeface="Arial" pitchFamily="34" charset="0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2E9A52F6-1AAA-43D4-99EF-37A0F9F30B65}"/>
              </a:ext>
            </a:extLst>
          </p:cNvPr>
          <p:cNvCxnSpPr>
            <a:cxnSpLocks/>
          </p:cNvCxnSpPr>
          <p:nvPr/>
        </p:nvCxnSpPr>
        <p:spPr>
          <a:xfrm>
            <a:off x="6213140" y="4316917"/>
            <a:ext cx="0" cy="479572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7" name="오각형 70">
            <a:extLst>
              <a:ext uri="{FF2B5EF4-FFF2-40B4-BE49-F238E27FC236}">
                <a16:creationId xmlns:a16="http://schemas.microsoft.com/office/drawing/2014/main" id="{BCB656AB-84A6-4280-A25C-948524680B3B}"/>
              </a:ext>
            </a:extLst>
          </p:cNvPr>
          <p:cNvSpPr/>
          <p:nvPr/>
        </p:nvSpPr>
        <p:spPr>
          <a:xfrm>
            <a:off x="3384064" y="2816051"/>
            <a:ext cx="2098667" cy="236990"/>
          </a:xfrm>
          <a:prstGeom prst="homePlate">
            <a:avLst>
              <a:gd name="adj" fmla="val 31537"/>
            </a:avLst>
          </a:prstGeom>
          <a:solidFill>
            <a:srgbClr val="FFA600">
              <a:lumMod val="20000"/>
              <a:lumOff val="80000"/>
            </a:srgbClr>
          </a:solidFill>
          <a:ln w="6350" cap="flat" cmpd="sng" algn="ctr">
            <a:solidFill>
              <a:srgbClr val="8582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DBIO LOG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2574A"/>
                </a:solidFill>
                <a:effectLst/>
                <a:uLnTx/>
                <a:uFillTx/>
                <a:latin typeface="KB금융 본문체 Light"/>
                <a:ea typeface="KB금융 본문체 Light"/>
                <a:cs typeface="Arial" pitchFamily="34" charset="0"/>
              </a:rPr>
              <a:t>기록</a:t>
            </a:r>
          </a:p>
        </p:txBody>
      </p:sp>
    </p:spTree>
    <p:extLst>
      <p:ext uri="{BB962C8B-B14F-4D97-AF65-F5344CB8AC3E}">
        <p14:creationId xmlns:p14="http://schemas.microsoft.com/office/powerpoint/2010/main" val="9233128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8855592" cy="279757"/>
          </a:xfrm>
        </p:spPr>
        <p:txBody>
          <a:bodyPr/>
          <a:lstStyle/>
          <a:p>
            <a:r>
              <a:rPr lang="ko-KR" altLang="en-US" dirty="0"/>
              <a:t>상품처리</a:t>
            </a:r>
            <a:r>
              <a:rPr lang="en-US" altLang="ko-KR" dirty="0"/>
              <a:t> </a:t>
            </a:r>
            <a:r>
              <a:rPr lang="ko-KR" altLang="en-US" dirty="0"/>
              <a:t>일자 전환 및 일자 변경 절차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C4E9597-CFBE-424D-A6F3-FF45836FE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873514"/>
              </p:ext>
            </p:extLst>
          </p:nvPr>
        </p:nvGraphicFramePr>
        <p:xfrm>
          <a:off x="236536" y="659276"/>
          <a:ext cx="9395415" cy="595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996">
                  <a:extLst>
                    <a:ext uri="{9D8B030D-6E8A-4147-A177-3AD203B41FA5}">
                      <a16:colId xmlns:a16="http://schemas.microsoft.com/office/drawing/2014/main" val="3880032661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2497714642"/>
                    </a:ext>
                  </a:extLst>
                </a:gridCol>
                <a:gridCol w="486014">
                  <a:extLst>
                    <a:ext uri="{9D8B030D-6E8A-4147-A177-3AD203B41FA5}">
                      <a16:colId xmlns:a16="http://schemas.microsoft.com/office/drawing/2014/main" val="1666066394"/>
                    </a:ext>
                  </a:extLst>
                </a:gridCol>
                <a:gridCol w="450010">
                  <a:extLst>
                    <a:ext uri="{9D8B030D-6E8A-4147-A177-3AD203B41FA5}">
                      <a16:colId xmlns:a16="http://schemas.microsoft.com/office/drawing/2014/main" val="833497954"/>
                    </a:ext>
                  </a:extLst>
                </a:gridCol>
                <a:gridCol w="1655775">
                  <a:extLst>
                    <a:ext uri="{9D8B030D-6E8A-4147-A177-3AD203B41FA5}">
                      <a16:colId xmlns:a16="http://schemas.microsoft.com/office/drawing/2014/main" val="216354326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41170137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37924140"/>
                    </a:ext>
                  </a:extLst>
                </a:gridCol>
                <a:gridCol w="1908781">
                  <a:extLst>
                    <a:ext uri="{9D8B030D-6E8A-4147-A177-3AD203B41FA5}">
                      <a16:colId xmlns:a16="http://schemas.microsoft.com/office/drawing/2014/main" val="897002234"/>
                    </a:ext>
                  </a:extLst>
                </a:gridCol>
                <a:gridCol w="574495">
                  <a:extLst>
                    <a:ext uri="{9D8B030D-6E8A-4147-A177-3AD203B41FA5}">
                      <a16:colId xmlns:a16="http://schemas.microsoft.com/office/drawing/2014/main" val="1760771067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+mn-lt"/>
                        </a:rPr>
                        <a:t>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latin typeface="+mn-lt"/>
                        </a:rPr>
                        <a:t>온라인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+mn-lt"/>
                        </a:rPr>
                        <a:t>일자전환 모드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+mn-lt"/>
                        </a:rPr>
                        <a:t>배치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lt"/>
                        </a:rPr>
                        <a:t>D-1 </a:t>
                      </a:r>
                      <a:r>
                        <a:rPr lang="ko-KR" altLang="en-US" sz="700" b="1" dirty="0">
                          <a:latin typeface="+mn-lt"/>
                        </a:rPr>
                        <a:t>배치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63245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17:00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D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rl90</a:t>
                      </a:r>
                      <a:r>
                        <a:rPr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전일자</a:t>
                      </a: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반영</a:t>
                      </a:r>
                      <a:r>
                        <a:rPr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보정 로그 삭제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35292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21:50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ctmress2] D-1 Control-M </a:t>
                      </a:r>
                      <a:r>
                        <a:rPr lang="ko-KR" altLang="en-US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리소스 통제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05179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21:50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[mnkakbt3] D-1 </a:t>
                      </a:r>
                      <a:r>
                        <a:rPr lang="ko-KR" altLang="en-US" sz="700" dirty="0">
                          <a:latin typeface="+mn-lt"/>
                        </a:rPr>
                        <a:t>실행중인 배치 종료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3983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22:00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[mdbusd3a] D-1 DB2 Stop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9698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23:30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ctmress1] Control-M </a:t>
                      </a:r>
                      <a:r>
                        <a:rPr lang="ko-KR" altLang="en-US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리소스 통제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43263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pd90] CM </a:t>
                      </a:r>
                      <a:r>
                        <a:rPr lang="ko-KR" altLang="en-US" sz="700" dirty="0">
                          <a:latin typeface="+mn-lt"/>
                        </a:rPr>
                        <a:t>사전배포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0087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dirty="0" err="1">
                          <a:latin typeface="+mn-lt"/>
                        </a:rPr>
                        <a:t>mwasd</a:t>
                      </a:r>
                      <a:r>
                        <a:rPr lang="en-US" altLang="ko-KR" sz="700" dirty="0">
                          <a:latin typeface="+mn-lt"/>
                        </a:rPr>
                        <a:t>*</a:t>
                      </a:r>
                      <a:r>
                        <a:rPr lang="en-US" altLang="ko-KR" sz="700" dirty="0" err="1">
                          <a:latin typeface="+mn-lt"/>
                        </a:rPr>
                        <a:t>st</a:t>
                      </a:r>
                      <a:r>
                        <a:rPr lang="en-US" altLang="ko-KR" sz="700" dirty="0">
                          <a:latin typeface="+mn-lt"/>
                        </a:rPr>
                        <a:t>] </a:t>
                      </a:r>
                      <a:r>
                        <a:rPr lang="ko-KR" altLang="en-US" sz="700" dirty="0">
                          <a:latin typeface="+mn-lt"/>
                        </a:rPr>
                        <a:t>일자전환 </a:t>
                      </a:r>
                      <a:r>
                        <a:rPr lang="en-US" altLang="ko-KR" sz="700" dirty="0">
                          <a:latin typeface="+mn-lt"/>
                        </a:rPr>
                        <a:t>WAS Start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3188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23:40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[mnkakbt1] </a:t>
                      </a:r>
                      <a:r>
                        <a:rPr lang="ko-KR" altLang="en-US" sz="700" dirty="0">
                          <a:latin typeface="+mn-lt"/>
                        </a:rPr>
                        <a:t>실행중인 배치 종료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854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23:50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P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mp90] </a:t>
                      </a:r>
                      <a:r>
                        <a:rPr lang="ko-KR" altLang="en-US" sz="700" dirty="0">
                          <a:latin typeface="+mn-lt"/>
                        </a:rPr>
                        <a:t>일자전환 준비</a:t>
                      </a:r>
                      <a:r>
                        <a:rPr lang="en-US" altLang="ko-KR" sz="700" dirty="0">
                          <a:latin typeface="+mn-lt"/>
                        </a:rPr>
                        <a:t>(P) 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39376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spc="-37" dirty="0">
                          <a:latin typeface="+mn-lt"/>
                          <a:ea typeface="KB금융 본문체 Medium" panose="020B0603000000000000" pitchFamily="50" charset="-127"/>
                        </a:rPr>
                        <a:t>msdrdrt1</a:t>
                      </a:r>
                      <a:r>
                        <a:rPr lang="en-US" altLang="ko-KR" sz="700" dirty="0">
                          <a:latin typeface="+mn-lt"/>
                        </a:rPr>
                        <a:t>] </a:t>
                      </a:r>
                      <a:r>
                        <a:rPr lang="ko-KR" altLang="en-US" sz="700" spc="-37" dirty="0">
                          <a:latin typeface="+mn-lt"/>
                          <a:ea typeface="KB금융 본문체 Medium" panose="020B0603000000000000" pitchFamily="50" charset="-127"/>
                        </a:rPr>
                        <a:t>복제 중지 시점 확인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98519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msdrdnd2</a:t>
                      </a:r>
                      <a:r>
                        <a:rPr lang="en-US" altLang="ko-KR" sz="700" dirty="0">
                          <a:latin typeface="+mn-lt"/>
                        </a:rPr>
                        <a:t>] </a:t>
                      </a:r>
                      <a:r>
                        <a:rPr lang="ko-KR" altLang="en-US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복제 중지 시점 전달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[mdbuws1a] Write Suspend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6010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+mn-lt"/>
                        </a:rPr>
                        <a:t>일자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mssm0001] D-1 </a:t>
                      </a:r>
                      <a:r>
                        <a:rPr lang="en-US" altLang="ko-KR" sz="700" kern="0" spc="-37" dirty="0" err="1">
                          <a:latin typeface="+mn-lt"/>
                          <a:ea typeface="KB금융 본문체 Medium" panose="020B0603000000000000" pitchFamily="50" charset="-127"/>
                        </a:rPr>
                        <a:t>SnapShot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86799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+mn-lt"/>
                        </a:rPr>
                        <a:t>전환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mdbuwr1a] Write Resume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9576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+mn-lt"/>
                        </a:rPr>
                        <a:t>라우팅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spc="-37" dirty="0">
                          <a:latin typeface="+mn-lt"/>
                          <a:ea typeface="KB금융 본문체 Medium" panose="020B0603000000000000" pitchFamily="50" charset="-127"/>
                        </a:rPr>
                        <a:t>mdbusu3a] 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D-1 DB2 Start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29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kern="0" spc="-37" dirty="0">
                        <a:latin typeface="+mn-lt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spc="-37" dirty="0">
                          <a:latin typeface="+mn-lt"/>
                          <a:ea typeface="KB금융 본문체 Medium" panose="020B0603000000000000" pitchFamily="50" charset="-127"/>
                        </a:rPr>
                        <a:t>mwasdm3s] 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D-1 CDC MQ Start</a:t>
                      </a:r>
                      <a:endParaRPr lang="ko-KR" altLang="en-US" sz="700" kern="0" spc="-37" dirty="0">
                        <a:latin typeface="+mn-lt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kern="0" spc="-37" dirty="0">
                        <a:latin typeface="+mn-lt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401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0" spc="-37" dirty="0">
                        <a:latin typeface="+mn-lt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[msdrdas2] D-1 CDC Apply Start</a:t>
                      </a:r>
                      <a:endParaRPr lang="ko-KR" altLang="en-US" sz="700" kern="0" spc="-37" dirty="0">
                        <a:latin typeface="+mn-lt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0" spc="-37" dirty="0">
                        <a:latin typeface="+mn-lt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62343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00:00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T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mt90] </a:t>
                      </a:r>
                      <a:r>
                        <a:rPr lang="ko-KR" altLang="en-US" sz="700" dirty="0">
                          <a:latin typeface="+mn-lt"/>
                        </a:rPr>
                        <a:t>거래제어 </a:t>
                      </a:r>
                      <a:r>
                        <a:rPr lang="en-US" altLang="ko-KR" sz="700" dirty="0">
                          <a:latin typeface="+mn-lt"/>
                        </a:rPr>
                        <a:t>On, T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  <a:r>
                        <a:rPr lang="en-US" altLang="ko-KR" sz="700" dirty="0">
                          <a:latin typeface="+mn-lt"/>
                        </a:rPr>
                        <a:t>, KB</a:t>
                      </a:r>
                      <a:r>
                        <a:rPr lang="ko-KR" altLang="en-US" sz="700" dirty="0">
                          <a:latin typeface="+mn-lt"/>
                        </a:rPr>
                        <a:t>기준정보 일자변경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52270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md90] D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  <a:r>
                        <a:rPr lang="en-US" altLang="ko-KR" sz="700" dirty="0">
                          <a:latin typeface="+mn-lt"/>
                        </a:rPr>
                        <a:t>, </a:t>
                      </a:r>
                      <a:r>
                        <a:rPr lang="ko-KR" altLang="en-US" sz="700" dirty="0">
                          <a:latin typeface="+mn-lt"/>
                        </a:rPr>
                        <a:t>거래제어 </a:t>
                      </a:r>
                      <a:r>
                        <a:rPr lang="en-US" altLang="ko-KR" sz="700" dirty="0">
                          <a:latin typeface="+mn-lt"/>
                        </a:rPr>
                        <a:t>Off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08212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+mn-lt"/>
                          <a:ea typeface="KB금융 본문체 Medium" panose="020B0603000000000000" pitchFamily="50" charset="-127"/>
                        </a:rPr>
                        <a:t>msqcrd90] </a:t>
                      </a:r>
                      <a:r>
                        <a:rPr lang="en-US" altLang="ko-KR" sz="700" spc="-37" dirty="0">
                          <a:latin typeface="+mn-lt"/>
                          <a:ea typeface="KB금융 본문체 Medium" panose="020B0603000000000000" pitchFamily="50" charset="-127"/>
                        </a:rPr>
                        <a:t>CM </a:t>
                      </a:r>
                      <a:r>
                        <a:rPr lang="ko-KR" altLang="en-US" sz="700" spc="-37" dirty="0">
                          <a:latin typeface="+mn-lt"/>
                          <a:ea typeface="KB금융 본문체 Medium" panose="020B0603000000000000" pitchFamily="50" charset="-127"/>
                        </a:rPr>
                        <a:t>정기 배포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lm90] </a:t>
                      </a:r>
                      <a:r>
                        <a:rPr lang="ko-KR" altLang="en-US" sz="700" dirty="0">
                          <a:latin typeface="+mn-lt"/>
                        </a:rPr>
                        <a:t>반영</a:t>
                      </a:r>
                      <a:r>
                        <a:rPr lang="en-US" altLang="ko-KR" sz="700" dirty="0">
                          <a:latin typeface="+mn-lt"/>
                        </a:rPr>
                        <a:t>/</a:t>
                      </a:r>
                      <a:r>
                        <a:rPr lang="ko-KR" altLang="en-US" sz="700" dirty="0">
                          <a:latin typeface="+mn-lt"/>
                        </a:rPr>
                        <a:t>보정로그 </a:t>
                      </a:r>
                      <a:r>
                        <a:rPr lang="en-US" altLang="ko-KR" sz="700" dirty="0">
                          <a:latin typeface="+mn-lt"/>
                        </a:rPr>
                        <a:t>D-1 </a:t>
                      </a:r>
                      <a:r>
                        <a:rPr lang="ko-KR" altLang="en-US" sz="700" dirty="0">
                          <a:latin typeface="+mn-lt"/>
                        </a:rPr>
                        <a:t>이관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0855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20181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re90] </a:t>
                      </a:r>
                      <a:r>
                        <a:rPr lang="ko-KR" altLang="en-US" sz="700" dirty="0">
                          <a:latin typeface="+mn-lt"/>
                        </a:rPr>
                        <a:t>일자전환 </a:t>
                      </a:r>
                      <a:r>
                        <a:rPr lang="en-US" altLang="ko-KR" sz="700" dirty="0">
                          <a:latin typeface="+mn-lt"/>
                        </a:rPr>
                        <a:t>Routing </a:t>
                      </a:r>
                      <a:r>
                        <a:rPr lang="ko-KR" altLang="en-US" sz="700" dirty="0">
                          <a:latin typeface="+mn-lt"/>
                        </a:rPr>
                        <a:t>종료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1*90]</a:t>
                      </a:r>
                      <a:r>
                        <a:rPr lang="ko-KR" altLang="en-US" sz="700" dirty="0">
                          <a:latin typeface="+mn-lt"/>
                        </a:rPr>
                        <a:t> </a:t>
                      </a:r>
                      <a:r>
                        <a:rPr lang="en-US" altLang="ko-KR" sz="700" dirty="0">
                          <a:latin typeface="+mn-lt"/>
                        </a:rPr>
                        <a:t> D-1 </a:t>
                      </a:r>
                      <a:r>
                        <a:rPr lang="ko-KR" altLang="en-US" sz="700" dirty="0">
                          <a:latin typeface="+mn-lt"/>
                        </a:rPr>
                        <a:t>반영로그 반영 배치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16316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60597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00:10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msdrdcr2</a:t>
                      </a:r>
                      <a:r>
                        <a:rPr lang="en-US" altLang="ko-KR" sz="700" dirty="0">
                          <a:latin typeface="+mn-lt"/>
                        </a:rPr>
                        <a:t>] 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D-1 CDC </a:t>
                      </a:r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Apply</a:t>
                      </a:r>
                      <a:r>
                        <a:rPr lang="ko-KR" altLang="en-US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적용 완료 확인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33241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msdrdat2] 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D-1 CDC Apply Stop</a:t>
                      </a:r>
                      <a:endParaRPr lang="ko-KR" altLang="en-US" sz="700" kern="0" spc="-37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0" spc="-37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52644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highlight>
                            <a:srgbClr val="FFFF00"/>
                          </a:highlight>
                          <a:latin typeface="+mn-lt"/>
                        </a:rPr>
                        <a:t>[msqc</a:t>
                      </a:r>
                      <a:r>
                        <a:rPr lang="en-US" altLang="ko-KR" sz="700" dirty="0">
                          <a:latin typeface="+mn-lt"/>
                        </a:rPr>
                        <a:t>sd90]  D-1</a:t>
                      </a:r>
                      <a:r>
                        <a:rPr lang="ko-KR" altLang="en-US" sz="700" dirty="0">
                          <a:latin typeface="+mn-lt"/>
                        </a:rPr>
                        <a:t>배치 </a:t>
                      </a:r>
                      <a:r>
                        <a:rPr lang="en-US" altLang="ko-KR" sz="700" dirty="0">
                          <a:latin typeface="+mn-lt"/>
                        </a:rPr>
                        <a:t>DAY MODE </a:t>
                      </a:r>
                      <a:r>
                        <a:rPr lang="ko-KR" altLang="en-US" sz="700" dirty="0">
                          <a:latin typeface="+mn-lt"/>
                        </a:rPr>
                        <a:t>전환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2818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b="0" i="0" dirty="0">
                          <a:solidFill>
                            <a:srgbClr val="333333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ctmress3] 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Control-M </a:t>
                      </a:r>
                      <a:r>
                        <a:rPr lang="ko-KR" altLang="en-US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리소스 해제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b="0" i="0" dirty="0">
                          <a:solidFill>
                            <a:srgbClr val="333333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ctmress4] </a:t>
                      </a:r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D-1</a:t>
                      </a:r>
                      <a:r>
                        <a:rPr lang="ko-KR" altLang="en-US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Control-M </a:t>
                      </a:r>
                      <a:r>
                        <a:rPr lang="ko-KR" altLang="en-US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리소스 해제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14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BATCH JOB START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BATCH JOB START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54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4506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[mwasdm3p] D-1 CDC MQ Stop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11852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lt"/>
                        </a:rPr>
                        <a:t>00:30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[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mwasd1sp] </a:t>
                      </a:r>
                      <a:r>
                        <a:rPr lang="ko-KR" altLang="en-US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일자전환 </a:t>
                      </a:r>
                      <a:r>
                        <a:rPr lang="en-US" altLang="ko-KR" sz="700" kern="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WAS </a:t>
                      </a:r>
                      <a:r>
                        <a:rPr lang="en-US" altLang="ko-KR" sz="700" spc="-37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Stop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+mn-lt"/>
                        </a:rPr>
                        <a:t>D</a:t>
                      </a:r>
                      <a:r>
                        <a:rPr lang="ko-KR" altLang="en-US" sz="700" dirty="0">
                          <a:latin typeface="+mn-lt"/>
                        </a:rPr>
                        <a:t>모드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48834"/>
                  </a:ext>
                </a:extLst>
              </a:tr>
            </a:tbl>
          </a:graphicData>
        </a:graphic>
      </p:graphicFrame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719C6F85-7A93-48A8-8483-75AA5067C964}"/>
              </a:ext>
            </a:extLst>
          </p:cNvPr>
          <p:cNvCxnSpPr>
            <a:cxnSpLocks/>
            <a:stCxn id="51" idx="4"/>
            <a:endCxn id="52" idx="6"/>
          </p:cNvCxnSpPr>
          <p:nvPr/>
        </p:nvCxnSpPr>
        <p:spPr>
          <a:xfrm rot="5400000">
            <a:off x="6393806" y="1750136"/>
            <a:ext cx="831055" cy="679822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B0C336C7-E31A-4AEB-B34E-B53079A412F5}"/>
              </a:ext>
            </a:extLst>
          </p:cNvPr>
          <p:cNvCxnSpPr>
            <a:cxnSpLocks/>
            <a:stCxn id="73" idx="2"/>
            <a:endCxn id="48" idx="6"/>
          </p:cNvCxnSpPr>
          <p:nvPr/>
        </p:nvCxnSpPr>
        <p:spPr>
          <a:xfrm rot="10800000">
            <a:off x="2268199" y="1842728"/>
            <a:ext cx="850184" cy="2096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E9D76A7C-7986-41DF-AFC9-50EC612C4BD4}"/>
              </a:ext>
            </a:extLst>
          </p:cNvPr>
          <p:cNvCxnSpPr>
            <a:cxnSpLocks/>
            <a:stCxn id="108" idx="4"/>
            <a:endCxn id="61" idx="7"/>
          </p:cNvCxnSpPr>
          <p:nvPr/>
        </p:nvCxnSpPr>
        <p:spPr>
          <a:xfrm rot="5400000">
            <a:off x="4536380" y="2110125"/>
            <a:ext cx="540188" cy="3256429"/>
          </a:xfrm>
          <a:prstGeom prst="bentConnector3">
            <a:avLst>
              <a:gd name="adj1" fmla="val 66457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9FD6762-88B1-4458-A24D-8BED518ABDE2}"/>
              </a:ext>
            </a:extLst>
          </p:cNvPr>
          <p:cNvCxnSpPr>
            <a:cxnSpLocks/>
            <a:stCxn id="66" idx="2"/>
            <a:endCxn id="68" idx="6"/>
          </p:cNvCxnSpPr>
          <p:nvPr/>
        </p:nvCxnSpPr>
        <p:spPr>
          <a:xfrm rot="10800000" flipV="1">
            <a:off x="6465392" y="3563682"/>
            <a:ext cx="647849" cy="90860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CECCDF29-BD52-4EA2-83E3-7F2E1F13DB65}"/>
              </a:ext>
            </a:extLst>
          </p:cNvPr>
          <p:cNvCxnSpPr>
            <a:cxnSpLocks/>
            <a:stCxn id="55" idx="2"/>
            <a:endCxn id="57" idx="6"/>
          </p:cNvCxnSpPr>
          <p:nvPr/>
        </p:nvCxnSpPr>
        <p:spPr>
          <a:xfrm rot="10800000" flipV="1">
            <a:off x="2260848" y="4942430"/>
            <a:ext cx="855948" cy="147490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A1A30395-245D-477C-B3B6-8A6B8531B15D}"/>
              </a:ext>
            </a:extLst>
          </p:cNvPr>
          <p:cNvSpPr/>
          <p:nvPr/>
        </p:nvSpPr>
        <p:spPr>
          <a:xfrm>
            <a:off x="2196191" y="1806724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044364B-4057-40BF-B893-8DF1226A7AC8}"/>
              </a:ext>
            </a:extLst>
          </p:cNvPr>
          <p:cNvSpPr/>
          <p:nvPr/>
        </p:nvSpPr>
        <p:spPr>
          <a:xfrm>
            <a:off x="7113240" y="1602512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8C005EFC-9AD9-4198-A06A-29E6DA8E9A3D}"/>
              </a:ext>
            </a:extLst>
          </p:cNvPr>
          <p:cNvSpPr/>
          <p:nvPr/>
        </p:nvSpPr>
        <p:spPr>
          <a:xfrm>
            <a:off x="6397414" y="2469571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87520A0-32ED-42D3-9F8C-E4368031304E}"/>
              </a:ext>
            </a:extLst>
          </p:cNvPr>
          <p:cNvSpPr/>
          <p:nvPr/>
        </p:nvSpPr>
        <p:spPr>
          <a:xfrm>
            <a:off x="3116796" y="4906426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464C276-83A8-4517-8736-A94D5C4186ED}"/>
              </a:ext>
            </a:extLst>
          </p:cNvPr>
          <p:cNvSpPr/>
          <p:nvPr/>
        </p:nvSpPr>
        <p:spPr>
          <a:xfrm>
            <a:off x="2188840" y="6381328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088C07C-D603-4DF4-909A-0D42142CB2D0}"/>
              </a:ext>
            </a:extLst>
          </p:cNvPr>
          <p:cNvSpPr/>
          <p:nvPr/>
        </p:nvSpPr>
        <p:spPr>
          <a:xfrm>
            <a:off x="3116796" y="3997888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1E0D822-9085-404A-89BD-510F4F21E6CB}"/>
              </a:ext>
            </a:extLst>
          </p:cNvPr>
          <p:cNvSpPr/>
          <p:nvPr/>
        </p:nvSpPr>
        <p:spPr>
          <a:xfrm>
            <a:off x="7113240" y="3527678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E8093089-E059-44D4-A323-9854BAB0105B}"/>
              </a:ext>
            </a:extLst>
          </p:cNvPr>
          <p:cNvSpPr/>
          <p:nvPr/>
        </p:nvSpPr>
        <p:spPr>
          <a:xfrm>
            <a:off x="6393383" y="4436286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E4ADD1D3-FD1F-4C96-AF28-61B2288B1A11}"/>
              </a:ext>
            </a:extLst>
          </p:cNvPr>
          <p:cNvCxnSpPr>
            <a:cxnSpLocks/>
            <a:stCxn id="73" idx="4"/>
            <a:endCxn id="74" idx="0"/>
          </p:cNvCxnSpPr>
          <p:nvPr/>
        </p:nvCxnSpPr>
        <p:spPr>
          <a:xfrm rot="5400000">
            <a:off x="2991576" y="2042053"/>
            <a:ext cx="324036" cy="158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타원 72">
            <a:extLst>
              <a:ext uri="{FF2B5EF4-FFF2-40B4-BE49-F238E27FC236}">
                <a16:creationId xmlns:a16="http://schemas.microsoft.com/office/drawing/2014/main" id="{4A86475A-2273-4C61-BC03-39B4C99CFE41}"/>
              </a:ext>
            </a:extLst>
          </p:cNvPr>
          <p:cNvSpPr/>
          <p:nvPr/>
        </p:nvSpPr>
        <p:spPr>
          <a:xfrm>
            <a:off x="3118383" y="1808820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21E7D80D-825C-41B7-B167-2BC3D4F63696}"/>
              </a:ext>
            </a:extLst>
          </p:cNvPr>
          <p:cNvSpPr/>
          <p:nvPr/>
        </p:nvSpPr>
        <p:spPr>
          <a:xfrm>
            <a:off x="3116796" y="2204864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ECEF7FD2-96AE-4F37-86A0-8EEB86F3A2BD}"/>
              </a:ext>
            </a:extLst>
          </p:cNvPr>
          <p:cNvCxnSpPr>
            <a:cxnSpLocks/>
            <a:stCxn id="80" idx="6"/>
            <a:endCxn id="81" idx="2"/>
          </p:cNvCxnSpPr>
          <p:nvPr/>
        </p:nvCxnSpPr>
        <p:spPr>
          <a:xfrm flipV="1">
            <a:off x="6465168" y="3028193"/>
            <a:ext cx="640451" cy="21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8611E6C9-EE30-402A-9FA9-CE387B99CC55}"/>
              </a:ext>
            </a:extLst>
          </p:cNvPr>
          <p:cNvSpPr/>
          <p:nvPr/>
        </p:nvSpPr>
        <p:spPr>
          <a:xfrm>
            <a:off x="6393160" y="2994289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3AAD506-07EA-4B67-B7D4-0AFD1915AC5B}"/>
              </a:ext>
            </a:extLst>
          </p:cNvPr>
          <p:cNvSpPr/>
          <p:nvPr/>
        </p:nvSpPr>
        <p:spPr>
          <a:xfrm>
            <a:off x="7105619" y="2992189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E44BC20F-41B6-4F33-9E8E-DBE06F458965}"/>
              </a:ext>
            </a:extLst>
          </p:cNvPr>
          <p:cNvSpPr/>
          <p:nvPr/>
        </p:nvSpPr>
        <p:spPr>
          <a:xfrm>
            <a:off x="7105619" y="3205550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5E8C475C-64D8-4973-B61E-66C8EF946907}"/>
              </a:ext>
            </a:extLst>
          </p:cNvPr>
          <p:cNvSpPr/>
          <p:nvPr/>
        </p:nvSpPr>
        <p:spPr>
          <a:xfrm>
            <a:off x="6398684" y="3206113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6CEBF560-D540-4ABA-95EA-4102AB98801C}"/>
              </a:ext>
            </a:extLst>
          </p:cNvPr>
          <p:cNvCxnSpPr>
            <a:cxnSpLocks/>
            <a:stCxn id="84" idx="2"/>
            <a:endCxn id="85" idx="6"/>
          </p:cNvCxnSpPr>
          <p:nvPr/>
        </p:nvCxnSpPr>
        <p:spPr>
          <a:xfrm rot="10800000" flipV="1">
            <a:off x="6470693" y="3241553"/>
            <a:ext cx="634927" cy="56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C42DBFB3-E374-4075-8EAE-F59B4CCE3A5C}"/>
              </a:ext>
            </a:extLst>
          </p:cNvPr>
          <p:cNvSpPr/>
          <p:nvPr/>
        </p:nvSpPr>
        <p:spPr>
          <a:xfrm>
            <a:off x="7113240" y="3395659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289C9D7D-8C1C-4FF9-BD27-667D49ABDBC4}"/>
              </a:ext>
            </a:extLst>
          </p:cNvPr>
          <p:cNvCxnSpPr>
            <a:cxnSpLocks/>
            <a:stCxn id="108" idx="6"/>
            <a:endCxn id="90" idx="2"/>
          </p:cNvCxnSpPr>
          <p:nvPr/>
        </p:nvCxnSpPr>
        <p:spPr>
          <a:xfrm flipV="1">
            <a:off x="6470692" y="3431663"/>
            <a:ext cx="642548" cy="57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타원 93">
            <a:extLst>
              <a:ext uri="{FF2B5EF4-FFF2-40B4-BE49-F238E27FC236}">
                <a16:creationId xmlns:a16="http://schemas.microsoft.com/office/drawing/2014/main" id="{DA5CF9F9-998F-44CC-8237-9E8EB614C73D}"/>
              </a:ext>
            </a:extLst>
          </p:cNvPr>
          <p:cNvSpPr/>
          <p:nvPr/>
        </p:nvSpPr>
        <p:spPr>
          <a:xfrm>
            <a:off x="3113833" y="4329100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F0DCDCF4-3855-47A1-B0CE-C86425ED5D38}"/>
              </a:ext>
            </a:extLst>
          </p:cNvPr>
          <p:cNvSpPr/>
          <p:nvPr/>
        </p:nvSpPr>
        <p:spPr>
          <a:xfrm>
            <a:off x="2189521" y="4401108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EA345B35-0BBA-44F5-9754-DC074F34AF06}"/>
              </a:ext>
            </a:extLst>
          </p:cNvPr>
          <p:cNvCxnSpPr>
            <a:cxnSpLocks/>
            <a:stCxn id="94" idx="2"/>
            <a:endCxn id="95" idx="6"/>
          </p:cNvCxnSpPr>
          <p:nvPr/>
        </p:nvCxnSpPr>
        <p:spPr>
          <a:xfrm rot="10800000" flipV="1">
            <a:off x="2261529" y="4365104"/>
            <a:ext cx="852304" cy="7200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타원 99">
            <a:extLst>
              <a:ext uri="{FF2B5EF4-FFF2-40B4-BE49-F238E27FC236}">
                <a16:creationId xmlns:a16="http://schemas.microsoft.com/office/drawing/2014/main" id="{0790E27A-D6C8-4E85-8A10-DDD3FE352783}"/>
              </a:ext>
            </a:extLst>
          </p:cNvPr>
          <p:cNvSpPr/>
          <p:nvPr/>
        </p:nvSpPr>
        <p:spPr>
          <a:xfrm>
            <a:off x="3113858" y="4725144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2FA9D46-A032-4C2B-9605-1C174A08231A}"/>
              </a:ext>
            </a:extLst>
          </p:cNvPr>
          <p:cNvSpPr/>
          <p:nvPr/>
        </p:nvSpPr>
        <p:spPr>
          <a:xfrm>
            <a:off x="2188170" y="4581128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0EDB9E42-E7F6-4780-82AA-F7128CF615B2}"/>
              </a:ext>
            </a:extLst>
          </p:cNvPr>
          <p:cNvCxnSpPr>
            <a:cxnSpLocks/>
            <a:stCxn id="101" idx="6"/>
            <a:endCxn id="100" idx="2"/>
          </p:cNvCxnSpPr>
          <p:nvPr/>
        </p:nvCxnSpPr>
        <p:spPr>
          <a:xfrm>
            <a:off x="2260178" y="4617132"/>
            <a:ext cx="853680" cy="144016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8B17598C-F1A0-4489-8739-88D82997F838}"/>
              </a:ext>
            </a:extLst>
          </p:cNvPr>
          <p:cNvSpPr/>
          <p:nvPr/>
        </p:nvSpPr>
        <p:spPr>
          <a:xfrm>
            <a:off x="6393160" y="4576631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DEE18D7F-4B52-4E26-B502-6D9A388F436E}"/>
              </a:ext>
            </a:extLst>
          </p:cNvPr>
          <p:cNvSpPr/>
          <p:nvPr/>
        </p:nvSpPr>
        <p:spPr>
          <a:xfrm>
            <a:off x="7106890" y="4733652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27FD6252-35DA-4054-B9AF-20E87614A2D5}"/>
              </a:ext>
            </a:extLst>
          </p:cNvPr>
          <p:cNvCxnSpPr>
            <a:cxnSpLocks/>
            <a:stCxn id="105" idx="6"/>
            <a:endCxn id="106" idx="2"/>
          </p:cNvCxnSpPr>
          <p:nvPr/>
        </p:nvCxnSpPr>
        <p:spPr>
          <a:xfrm>
            <a:off x="6465168" y="4612635"/>
            <a:ext cx="641722" cy="15702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타원 112">
            <a:extLst>
              <a:ext uri="{FF2B5EF4-FFF2-40B4-BE49-F238E27FC236}">
                <a16:creationId xmlns:a16="http://schemas.microsoft.com/office/drawing/2014/main" id="{94A43B1A-5767-4B78-81D6-AFBFA1624CB1}"/>
              </a:ext>
            </a:extLst>
          </p:cNvPr>
          <p:cNvSpPr/>
          <p:nvPr/>
        </p:nvSpPr>
        <p:spPr>
          <a:xfrm>
            <a:off x="7113241" y="5601429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D17A2DA9-6A0E-4C7B-BDC2-24B700F46CFF}"/>
              </a:ext>
            </a:extLst>
          </p:cNvPr>
          <p:cNvSpPr/>
          <p:nvPr/>
        </p:nvSpPr>
        <p:spPr>
          <a:xfrm>
            <a:off x="6390270" y="5665502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990E98AC-EBEF-48FE-B4C2-28492DD48727}"/>
              </a:ext>
            </a:extLst>
          </p:cNvPr>
          <p:cNvCxnSpPr>
            <a:cxnSpLocks/>
            <a:stCxn id="113" idx="2"/>
            <a:endCxn id="114" idx="6"/>
          </p:cNvCxnSpPr>
          <p:nvPr/>
        </p:nvCxnSpPr>
        <p:spPr>
          <a:xfrm rot="10800000" flipV="1">
            <a:off x="6462279" y="5637432"/>
            <a:ext cx="650963" cy="6407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9BA0B68-4868-4969-8907-4C809D6822D3}"/>
              </a:ext>
            </a:extLst>
          </p:cNvPr>
          <p:cNvSpPr/>
          <p:nvPr/>
        </p:nvSpPr>
        <p:spPr>
          <a:xfrm>
            <a:off x="884548" y="3620894"/>
            <a:ext cx="1224000" cy="20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700" b="1" dirty="0">
                <a:solidFill>
                  <a:schemeClr val="tx1"/>
                </a:solidFill>
                <a:cs typeface="Arial" pitchFamily="34" charset="0"/>
              </a:rPr>
              <a:t>(M/F) </a:t>
            </a:r>
            <a:r>
              <a:rPr lang="ko-KR" altLang="en-US" sz="700" b="1" dirty="0">
                <a:solidFill>
                  <a:schemeClr val="tx1"/>
                </a:solidFill>
                <a:cs typeface="Arial" pitchFamily="34" charset="0"/>
              </a:rPr>
              <a:t>일자전환 </a:t>
            </a:r>
            <a:r>
              <a:rPr lang="en-US" altLang="ko-KR" sz="700" b="1" dirty="0">
                <a:solidFill>
                  <a:schemeClr val="tx1"/>
                </a:solidFill>
                <a:cs typeface="Arial" pitchFamily="34" charset="0"/>
              </a:rPr>
              <a:t>T</a:t>
            </a:r>
            <a:r>
              <a:rPr lang="ko-KR" altLang="en-US" sz="700" b="1" dirty="0">
                <a:solidFill>
                  <a:schemeClr val="tx1"/>
                </a:solidFill>
                <a:cs typeface="Arial" pitchFamily="34" charset="0"/>
              </a:rPr>
              <a:t>모드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18C73FFE-525B-4AB2-85B2-A594999CDAAF}"/>
              </a:ext>
            </a:extLst>
          </p:cNvPr>
          <p:cNvSpPr/>
          <p:nvPr/>
        </p:nvSpPr>
        <p:spPr>
          <a:xfrm>
            <a:off x="2068579" y="3789040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3838EC17-34BF-4F52-924F-915AB03035FA}"/>
              </a:ext>
            </a:extLst>
          </p:cNvPr>
          <p:cNvCxnSpPr>
            <a:cxnSpLocks/>
            <a:stCxn id="119" idx="6"/>
            <a:endCxn id="61" idx="1"/>
          </p:cNvCxnSpPr>
          <p:nvPr/>
        </p:nvCxnSpPr>
        <p:spPr>
          <a:xfrm>
            <a:off x="2140587" y="3825044"/>
            <a:ext cx="986754" cy="183389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F64E98E2-FC03-42C9-AD1F-EE1A5F94AB18}"/>
              </a:ext>
            </a:extLst>
          </p:cNvPr>
          <p:cNvSpPr/>
          <p:nvPr/>
        </p:nvSpPr>
        <p:spPr>
          <a:xfrm>
            <a:off x="9021452" y="3983856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16111F4-E831-4D17-9913-34E8B2EF1C7E}"/>
              </a:ext>
            </a:extLst>
          </p:cNvPr>
          <p:cNvSpPr/>
          <p:nvPr/>
        </p:nvSpPr>
        <p:spPr>
          <a:xfrm>
            <a:off x="9024309" y="5080992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B052E89-FBC5-4FEA-9624-27E3EECBF610}"/>
              </a:ext>
            </a:extLst>
          </p:cNvPr>
          <p:cNvCxnSpPr>
            <a:cxnSpLocks/>
            <a:stCxn id="45" idx="6"/>
            <a:endCxn id="46" idx="6"/>
          </p:cNvCxnSpPr>
          <p:nvPr/>
        </p:nvCxnSpPr>
        <p:spPr>
          <a:xfrm>
            <a:off x="9093460" y="4019860"/>
            <a:ext cx="2857" cy="1097136"/>
          </a:xfrm>
          <a:prstGeom prst="bentConnector3">
            <a:avLst>
              <a:gd name="adj1" fmla="val 81014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78245696-1A5C-46A0-88E3-BA4D696E2C05}"/>
              </a:ext>
            </a:extLst>
          </p:cNvPr>
          <p:cNvSpPr/>
          <p:nvPr/>
        </p:nvSpPr>
        <p:spPr>
          <a:xfrm>
            <a:off x="9026215" y="5393445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BE01D3B-64AA-42EF-A795-F4813AA670F0}"/>
              </a:ext>
            </a:extLst>
          </p:cNvPr>
          <p:cNvSpPr/>
          <p:nvPr/>
        </p:nvSpPr>
        <p:spPr>
          <a:xfrm>
            <a:off x="9021454" y="6192862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D441C59F-AE79-43EA-892C-A1FAC168C8D9}"/>
              </a:ext>
            </a:extLst>
          </p:cNvPr>
          <p:cNvCxnSpPr>
            <a:cxnSpLocks/>
            <a:stCxn id="53" idx="6"/>
            <a:endCxn id="54" idx="6"/>
          </p:cNvCxnSpPr>
          <p:nvPr/>
        </p:nvCxnSpPr>
        <p:spPr>
          <a:xfrm flipH="1">
            <a:off x="9093462" y="5429449"/>
            <a:ext cx="4761" cy="799417"/>
          </a:xfrm>
          <a:prstGeom prst="bentConnector3">
            <a:avLst>
              <a:gd name="adj1" fmla="val -4801512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40966A6-5A7F-43B3-B694-1D67AA157552}"/>
              </a:ext>
            </a:extLst>
          </p:cNvPr>
          <p:cNvSpPr/>
          <p:nvPr/>
        </p:nvSpPr>
        <p:spPr>
          <a:xfrm>
            <a:off x="5420602" y="6167067"/>
            <a:ext cx="1224000" cy="20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700" b="1" dirty="0">
                <a:solidFill>
                  <a:schemeClr val="tx1"/>
                </a:solidFill>
                <a:cs typeface="Arial" pitchFamily="34" charset="0"/>
              </a:rPr>
              <a:t>(M/F) MQ QMGR</a:t>
            </a:r>
            <a:r>
              <a:rPr lang="ko-KR" altLang="en-US" sz="700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700" b="1" dirty="0">
                <a:solidFill>
                  <a:schemeClr val="tx1"/>
                </a:solidFill>
                <a:cs typeface="Arial" pitchFamily="34" charset="0"/>
              </a:rPr>
              <a:t>Stop</a:t>
            </a:r>
            <a:endParaRPr lang="ko-KR" altLang="en-US" sz="7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220A071-09DC-4E06-9182-B5AAC83610DB}"/>
              </a:ext>
            </a:extLst>
          </p:cNvPr>
          <p:cNvSpPr/>
          <p:nvPr/>
        </p:nvSpPr>
        <p:spPr>
          <a:xfrm>
            <a:off x="6609846" y="6340561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4D9FDCDA-48FB-4B76-B43B-0932BFFBC7E2}"/>
              </a:ext>
            </a:extLst>
          </p:cNvPr>
          <p:cNvCxnSpPr>
            <a:cxnSpLocks/>
            <a:stCxn id="59" idx="6"/>
            <a:endCxn id="87" idx="2"/>
          </p:cNvCxnSpPr>
          <p:nvPr/>
        </p:nvCxnSpPr>
        <p:spPr>
          <a:xfrm flipV="1">
            <a:off x="6681854" y="6221823"/>
            <a:ext cx="431386" cy="15474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DAC36406-42A6-414F-A1C4-61751F99F26E}"/>
              </a:ext>
            </a:extLst>
          </p:cNvPr>
          <p:cNvSpPr/>
          <p:nvPr/>
        </p:nvSpPr>
        <p:spPr>
          <a:xfrm>
            <a:off x="7105620" y="4869160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034A155C-4670-4570-962D-3E0B0E2CEB70}"/>
              </a:ext>
            </a:extLst>
          </p:cNvPr>
          <p:cNvCxnSpPr>
            <a:cxnSpLocks/>
            <a:stCxn id="70" idx="2"/>
            <a:endCxn id="76" idx="2"/>
          </p:cNvCxnSpPr>
          <p:nvPr/>
        </p:nvCxnSpPr>
        <p:spPr>
          <a:xfrm rot="10800000" flipH="1" flipV="1">
            <a:off x="7105620" y="4905163"/>
            <a:ext cx="7620" cy="660261"/>
          </a:xfrm>
          <a:prstGeom prst="bentConnector3">
            <a:avLst>
              <a:gd name="adj1" fmla="val -420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타원 75">
            <a:extLst>
              <a:ext uri="{FF2B5EF4-FFF2-40B4-BE49-F238E27FC236}">
                <a16:creationId xmlns:a16="http://schemas.microsoft.com/office/drawing/2014/main" id="{2F048102-B3F1-4464-A5C2-8D7B267F8FB6}"/>
              </a:ext>
            </a:extLst>
          </p:cNvPr>
          <p:cNvSpPr/>
          <p:nvPr/>
        </p:nvSpPr>
        <p:spPr>
          <a:xfrm>
            <a:off x="7113240" y="5529421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0DAA79FC-FA55-445D-A4E6-0C5FA4D7F299}"/>
              </a:ext>
            </a:extLst>
          </p:cNvPr>
          <p:cNvSpPr/>
          <p:nvPr/>
        </p:nvSpPr>
        <p:spPr>
          <a:xfrm>
            <a:off x="7113240" y="6185819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D5E61BAC-87CF-4F9C-B39D-666A106FD5B4}"/>
              </a:ext>
            </a:extLst>
          </p:cNvPr>
          <p:cNvSpPr/>
          <p:nvPr/>
        </p:nvSpPr>
        <p:spPr>
          <a:xfrm>
            <a:off x="6398684" y="3396237"/>
            <a:ext cx="72008" cy="72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2449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계획정지 </a:t>
            </a:r>
            <a:r>
              <a:rPr lang="en-US" altLang="ko-KR"/>
              <a:t>&gt; </a:t>
            </a:r>
            <a:r>
              <a:rPr lang="ko-KR" altLang="en-US"/>
              <a:t>본원장 반영시간 단축 방안 </a:t>
            </a:r>
            <a:r>
              <a:rPr lang="en-US" altLang="ko-KR"/>
              <a:t>&gt; </a:t>
            </a:r>
            <a:r>
              <a:rPr lang="ko-KR" altLang="en-US"/>
              <a:t>배치</a:t>
            </a:r>
            <a:r>
              <a:rPr lang="en-US" altLang="ko-KR"/>
              <a:t> </a:t>
            </a:r>
            <a:r>
              <a:rPr lang="ko-KR" altLang="en-US"/>
              <a:t>병렬처리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서비스 운영 환경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6.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계획정지 지원</a:t>
            </a: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 dirty="0"/>
              <a:t>n-KESA </a:t>
            </a:r>
            <a:r>
              <a:rPr lang="ko-KR" altLang="en-US" dirty="0"/>
              <a:t>배치 환경에서 대량 데이터의 효율적인 처리를 위한 병렬 실행 방안은 세부적으로 </a:t>
            </a:r>
            <a:r>
              <a:rPr lang="en-US" altLang="ko-KR" dirty="0"/>
              <a:t>4</a:t>
            </a:r>
            <a:r>
              <a:rPr lang="ko-KR" altLang="en-US" dirty="0"/>
              <a:t>가지로 제공되며</a:t>
            </a:r>
            <a:r>
              <a:rPr lang="en-US" altLang="ko-KR" dirty="0"/>
              <a:t>, </a:t>
            </a:r>
            <a:r>
              <a:rPr lang="ko-KR" altLang="en-US" dirty="0"/>
              <a:t>실행 환경에 따른 특징을 고려하여 병렬 </a:t>
            </a:r>
            <a:r>
              <a:rPr lang="ko-KR" altLang="en-US"/>
              <a:t>배치를 적용하여 본원장 반영시간을 단축함</a:t>
            </a:r>
            <a:r>
              <a:rPr lang="en-US" altLang="ko-KR"/>
              <a:t>.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36538" y="1241647"/>
          <a:ext cx="9432926" cy="5255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34">
                  <a:extLst>
                    <a:ext uri="{9D8B030D-6E8A-4147-A177-3AD203B41FA5}">
                      <a16:colId xmlns:a16="http://schemas.microsoft.com/office/drawing/2014/main" val="3967544627"/>
                    </a:ext>
                  </a:extLst>
                </a:gridCol>
                <a:gridCol w="2142223">
                  <a:extLst>
                    <a:ext uri="{9D8B030D-6E8A-4147-A177-3AD203B41FA5}">
                      <a16:colId xmlns:a16="http://schemas.microsoft.com/office/drawing/2014/main" val="2713910023"/>
                    </a:ext>
                  </a:extLst>
                </a:gridCol>
                <a:gridCol w="2142223">
                  <a:extLst>
                    <a:ext uri="{9D8B030D-6E8A-4147-A177-3AD203B41FA5}">
                      <a16:colId xmlns:a16="http://schemas.microsoft.com/office/drawing/2014/main" val="87988524"/>
                    </a:ext>
                  </a:extLst>
                </a:gridCol>
                <a:gridCol w="2142223">
                  <a:extLst>
                    <a:ext uri="{9D8B030D-6E8A-4147-A177-3AD203B41FA5}">
                      <a16:colId xmlns:a16="http://schemas.microsoft.com/office/drawing/2014/main" val="1251071948"/>
                    </a:ext>
                  </a:extLst>
                </a:gridCol>
                <a:gridCol w="2142223">
                  <a:extLst>
                    <a:ext uri="{9D8B030D-6E8A-4147-A177-3AD203B41FA5}">
                      <a16:colId xmlns:a16="http://schemas.microsoft.com/office/drawing/2014/main" val="1516808969"/>
                    </a:ext>
                  </a:extLst>
                </a:gridCol>
              </a:tblGrid>
              <a:tr h="2916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멀티 프로세스 방식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멀티 </a:t>
                      </a:r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쓰레드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방식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데이터 구간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멀티 </a:t>
                      </a:r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쓰레드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방식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조회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처리 분리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447997"/>
                  </a:ext>
                </a:extLst>
              </a:tr>
              <a:tr h="2916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단일큐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멀티큐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472688"/>
                  </a:ext>
                </a:extLst>
              </a:tr>
              <a:tr h="19085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 방식</a:t>
                      </a:r>
                    </a:p>
                  </a:txBody>
                  <a:tcPr marT="90000" marB="90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74160"/>
                  </a:ext>
                </a:extLst>
              </a:tr>
              <a:tr h="22066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marT="90000" marB="90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구간별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Job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정의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쉘 스크립트 또는 배치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스케쥴러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구분 등록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JVM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프로세스로 실행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멀티 서버에 분산 실행 가능</a:t>
                      </a: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배치쉘에서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개수 설정으로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JVM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데이터 구간을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쓰레드별로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구분토록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구현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트랜잭션 별도 처리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클래스로더로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멤버필드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Static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 공유 안됨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Exception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에도 전체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JVM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 에러로 리턴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조회와 처리 프로그램을 구분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Reader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단일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Processor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멀티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데이터 전달은 단일 메모리 큐를 통해 처리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쓰레드당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에러시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중간값이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다르기에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재실행시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동일 데이터로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쓰레드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처리를 보장할 수 없음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트랜잭션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멤버필드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Exception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처리는 데이터 구간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멀티쓰레드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방식과 동일</a:t>
                      </a: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단일큐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방식과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프로그램 구분은 동일하나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 프로그램은 일정한 규칙을 갖고 데이터를 분산해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멀티큐로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처리함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재처리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필요시 동일한 기준으로 조회 및 처리를 할 수 있음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547253"/>
                  </a:ext>
                </a:extLst>
              </a:tr>
              <a:tr h="5495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적용 방안</a:t>
                      </a:r>
                    </a:p>
                  </a:txBody>
                  <a:tcPr marT="90000" marB="90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보정대상 테이블을 쓰레드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별로 분리기동하여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테이블로 본원장 반영 작업을 수행함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44000" indent="-14400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65998"/>
                  </a:ext>
                </a:extLst>
              </a:tr>
            </a:tbl>
          </a:graphicData>
        </a:graphic>
      </p:graphicFrame>
      <p:sp>
        <p:nvSpPr>
          <p:cNvPr id="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2660" y="2240868"/>
            <a:ext cx="720080" cy="3844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배치프로그램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2660" y="2698317"/>
            <a:ext cx="720080" cy="3844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배치프로그램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2660" y="3176189"/>
            <a:ext cx="720080" cy="3844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배치프로그램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56756" y="2240868"/>
            <a:ext cx="432048" cy="38441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1~</a:t>
            </a: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10000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56756" y="2698317"/>
            <a:ext cx="432048" cy="38441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10001~</a:t>
            </a: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20000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56756" y="3188718"/>
            <a:ext cx="432048" cy="38441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20001~</a:t>
            </a: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30000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14004" y="2240868"/>
            <a:ext cx="360040" cy="3844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Shell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14004" y="2698316"/>
            <a:ext cx="360040" cy="3844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Shell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14004" y="3176189"/>
            <a:ext cx="360040" cy="3844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Shell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19300" y="1903938"/>
            <a:ext cx="1011324" cy="192209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solidFill>
                  <a:srgbClr val="000000"/>
                </a:solidFill>
                <a:latin typeface="+mn-ea"/>
              </a:rPr>
              <a:t>배치 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6" name="직선 화살표 연결선 37"/>
          <p:cNvCxnSpPr>
            <a:stCxn id="15" idx="1"/>
            <a:endCxn id="12" idx="1"/>
          </p:cNvCxnSpPr>
          <p:nvPr/>
        </p:nvCxnSpPr>
        <p:spPr>
          <a:xfrm rot="10800000" flipV="1">
            <a:off x="1414004" y="2000043"/>
            <a:ext cx="5296" cy="433034"/>
          </a:xfrm>
          <a:prstGeom prst="bentConnector3">
            <a:avLst>
              <a:gd name="adj1" fmla="val 4416465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37"/>
          <p:cNvCxnSpPr>
            <a:stCxn id="15" idx="1"/>
            <a:endCxn id="13" idx="1"/>
          </p:cNvCxnSpPr>
          <p:nvPr/>
        </p:nvCxnSpPr>
        <p:spPr>
          <a:xfrm rot="10800000" flipV="1">
            <a:off x="1414004" y="2000043"/>
            <a:ext cx="5296" cy="890482"/>
          </a:xfrm>
          <a:prstGeom prst="bentConnector3">
            <a:avLst>
              <a:gd name="adj1" fmla="val 4416465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37"/>
          <p:cNvCxnSpPr>
            <a:stCxn id="15" idx="1"/>
            <a:endCxn id="14" idx="1"/>
          </p:cNvCxnSpPr>
          <p:nvPr/>
        </p:nvCxnSpPr>
        <p:spPr>
          <a:xfrm rot="10800000" flipV="1">
            <a:off x="1414004" y="2000042"/>
            <a:ext cx="5296" cy="1368355"/>
          </a:xfrm>
          <a:prstGeom prst="bentConnector3">
            <a:avLst>
              <a:gd name="adj1" fmla="val 4416465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37"/>
          <p:cNvCxnSpPr>
            <a:stCxn id="12" idx="3"/>
            <a:endCxn id="6" idx="1"/>
          </p:cNvCxnSpPr>
          <p:nvPr/>
        </p:nvCxnSpPr>
        <p:spPr>
          <a:xfrm>
            <a:off x="1774044" y="2433077"/>
            <a:ext cx="11861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37"/>
          <p:cNvCxnSpPr>
            <a:stCxn id="13" idx="3"/>
            <a:endCxn id="7" idx="1"/>
          </p:cNvCxnSpPr>
          <p:nvPr/>
        </p:nvCxnSpPr>
        <p:spPr>
          <a:xfrm>
            <a:off x="1774044" y="2890525"/>
            <a:ext cx="118616" cy="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37"/>
          <p:cNvCxnSpPr>
            <a:stCxn id="14" idx="3"/>
            <a:endCxn id="8" idx="1"/>
          </p:cNvCxnSpPr>
          <p:nvPr/>
        </p:nvCxnSpPr>
        <p:spPr>
          <a:xfrm>
            <a:off x="1774044" y="3368398"/>
            <a:ext cx="11861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오른쪽 중괄호 21"/>
          <p:cNvSpPr/>
          <p:nvPr/>
        </p:nvSpPr>
        <p:spPr>
          <a:xfrm>
            <a:off x="2646924" y="2240868"/>
            <a:ext cx="72000" cy="384417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23" name="오른쪽 중괄호 22"/>
          <p:cNvSpPr/>
          <p:nvPr/>
        </p:nvSpPr>
        <p:spPr>
          <a:xfrm>
            <a:off x="2646924" y="2704602"/>
            <a:ext cx="72000" cy="384417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24" name="오른쪽 중괄호 23"/>
          <p:cNvSpPr/>
          <p:nvPr/>
        </p:nvSpPr>
        <p:spPr>
          <a:xfrm>
            <a:off x="2646924" y="3185428"/>
            <a:ext cx="72000" cy="384417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9190" y="2240868"/>
            <a:ext cx="720080" cy="133226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배치프로그램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13286" y="2240868"/>
            <a:ext cx="432048" cy="38441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1~</a:t>
            </a: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10000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13286" y="2698317"/>
            <a:ext cx="432048" cy="38441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10001~</a:t>
            </a: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20000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13286" y="3188718"/>
            <a:ext cx="432048" cy="38441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20001~</a:t>
            </a: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30000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70534" y="2240868"/>
            <a:ext cx="360040" cy="13322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Shell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75830" y="1903938"/>
            <a:ext cx="1011324" cy="192209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solidFill>
                  <a:srgbClr val="000000"/>
                </a:solidFill>
                <a:latin typeface="+mn-ea"/>
              </a:rPr>
              <a:t>배치 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1" name="직선 화살표 연결선 37"/>
          <p:cNvCxnSpPr>
            <a:stCxn id="30" idx="1"/>
            <a:endCxn id="29" idx="1"/>
          </p:cNvCxnSpPr>
          <p:nvPr/>
        </p:nvCxnSpPr>
        <p:spPr>
          <a:xfrm rot="10800000" flipV="1">
            <a:off x="3570534" y="2000042"/>
            <a:ext cx="5296" cy="906959"/>
          </a:xfrm>
          <a:prstGeom prst="bentConnector3">
            <a:avLst>
              <a:gd name="adj1" fmla="val 4416465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7"/>
          <p:cNvCxnSpPr>
            <a:stCxn id="29" idx="3"/>
            <a:endCxn id="25" idx="1"/>
          </p:cNvCxnSpPr>
          <p:nvPr/>
        </p:nvCxnSpPr>
        <p:spPr>
          <a:xfrm>
            <a:off x="3930574" y="2907002"/>
            <a:ext cx="11861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오른쪽 중괄호 32"/>
          <p:cNvSpPr/>
          <p:nvPr/>
        </p:nvSpPr>
        <p:spPr>
          <a:xfrm>
            <a:off x="4803454" y="2240868"/>
            <a:ext cx="72000" cy="384417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34" name="오른쪽 중괄호 33"/>
          <p:cNvSpPr/>
          <p:nvPr/>
        </p:nvSpPr>
        <p:spPr>
          <a:xfrm>
            <a:off x="4803454" y="2704602"/>
            <a:ext cx="72000" cy="384417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35" name="오른쪽 중괄호 34"/>
          <p:cNvSpPr/>
          <p:nvPr/>
        </p:nvSpPr>
        <p:spPr>
          <a:xfrm>
            <a:off x="4803454" y="3185428"/>
            <a:ext cx="72000" cy="384417"/>
          </a:xfrm>
          <a:prstGeom prst="rightBrac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12689" y="2380080"/>
            <a:ext cx="603050" cy="24520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12689" y="2776257"/>
            <a:ext cx="603050" cy="24520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12689" y="3233650"/>
            <a:ext cx="603050" cy="24520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3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10073" y="2240868"/>
            <a:ext cx="1548622" cy="1332267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JVM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26647" y="1880828"/>
            <a:ext cx="432048" cy="32403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대상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데이터</a:t>
            </a:r>
          </a:p>
        </p:txBody>
      </p:sp>
      <p:sp>
        <p:nvSpPr>
          <p:cNvPr id="4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31418" y="2240868"/>
            <a:ext cx="360040" cy="13322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Shell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89191" y="1903938"/>
            <a:ext cx="1011324" cy="192209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solidFill>
                  <a:srgbClr val="000000"/>
                </a:solidFill>
                <a:latin typeface="+mn-ea"/>
              </a:rPr>
              <a:t>배치 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43" name="직선 화살표 연결선 37"/>
          <p:cNvCxnSpPr>
            <a:stCxn id="42" idx="2"/>
            <a:endCxn id="41" idx="0"/>
          </p:cNvCxnSpPr>
          <p:nvPr/>
        </p:nvCxnSpPr>
        <p:spPr>
          <a:xfrm rot="5400000">
            <a:off x="5830786" y="1876800"/>
            <a:ext cx="144721" cy="58341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37"/>
          <p:cNvCxnSpPr>
            <a:stCxn id="41" idx="3"/>
            <a:endCxn id="39" idx="1"/>
          </p:cNvCxnSpPr>
          <p:nvPr/>
        </p:nvCxnSpPr>
        <p:spPr>
          <a:xfrm>
            <a:off x="5791458" y="2907002"/>
            <a:ext cx="1186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47935" y="2439902"/>
            <a:ext cx="656140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조회 </a:t>
            </a: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프로그램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1)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99290" y="2707889"/>
            <a:ext cx="701982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처리 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프로그램</a:t>
            </a:r>
            <a:endParaRPr lang="en-US" altLang="ko-KR" sz="8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1)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99290" y="2981463"/>
            <a:ext cx="701982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처리 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프로그램</a:t>
            </a:r>
            <a:endParaRPr lang="en-US" altLang="ko-KR" sz="8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99290" y="3255037"/>
            <a:ext cx="701982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처리 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프로그램</a:t>
            </a:r>
            <a:endParaRPr lang="en-US" altLang="ko-KR" sz="8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3)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순서도: 직접 액세스 저장소 48"/>
          <p:cNvSpPr/>
          <p:nvPr/>
        </p:nvSpPr>
        <p:spPr>
          <a:xfrm>
            <a:off x="6357156" y="3002471"/>
            <a:ext cx="246919" cy="160525"/>
          </a:xfrm>
          <a:prstGeom prst="flowChartMagneticDrum">
            <a:avLst/>
          </a:prstGeom>
          <a:solidFill>
            <a:schemeClr val="bg1"/>
          </a:solidFill>
          <a:ln w="3175" cap="flat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큐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0" name="직선 화살표 연결선 37"/>
          <p:cNvCxnSpPr>
            <a:stCxn id="45" idx="2"/>
            <a:endCxn id="49" idx="1"/>
          </p:cNvCxnSpPr>
          <p:nvPr/>
        </p:nvCxnSpPr>
        <p:spPr>
          <a:xfrm rot="16200000" flipH="1">
            <a:off x="6117767" y="2843345"/>
            <a:ext cx="397626" cy="8115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37"/>
          <p:cNvCxnSpPr>
            <a:stCxn id="46" idx="1"/>
            <a:endCxn id="49" idx="4"/>
          </p:cNvCxnSpPr>
          <p:nvPr/>
        </p:nvCxnSpPr>
        <p:spPr>
          <a:xfrm rot="10800000" flipV="1">
            <a:off x="6604076" y="2830492"/>
            <a:ext cx="95215" cy="25224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37"/>
          <p:cNvCxnSpPr>
            <a:stCxn id="47" idx="1"/>
            <a:endCxn id="49" idx="4"/>
          </p:cNvCxnSpPr>
          <p:nvPr/>
        </p:nvCxnSpPr>
        <p:spPr>
          <a:xfrm rot="10800000">
            <a:off x="6604076" y="3082734"/>
            <a:ext cx="95215" cy="2133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37"/>
          <p:cNvCxnSpPr>
            <a:stCxn id="48" idx="1"/>
            <a:endCxn id="49" idx="4"/>
          </p:cNvCxnSpPr>
          <p:nvPr/>
        </p:nvCxnSpPr>
        <p:spPr>
          <a:xfrm rot="10800000">
            <a:off x="6604076" y="3082734"/>
            <a:ext cx="95215" cy="294906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37"/>
          <p:cNvCxnSpPr>
            <a:stCxn id="45" idx="3"/>
            <a:endCxn id="40" idx="2"/>
          </p:cNvCxnSpPr>
          <p:nvPr/>
        </p:nvCxnSpPr>
        <p:spPr>
          <a:xfrm flipV="1">
            <a:off x="6604075" y="2204864"/>
            <a:ext cx="638596" cy="35764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83462" y="2240868"/>
            <a:ext cx="1548622" cy="1332267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JVM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200036" y="1880828"/>
            <a:ext cx="432048" cy="32403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대상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데이터</a:t>
            </a: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04807" y="2240868"/>
            <a:ext cx="360040" cy="13322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Shell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62580" y="1903938"/>
            <a:ext cx="1011324" cy="192209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ts val="108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>
                <a:solidFill>
                  <a:srgbClr val="000000"/>
                </a:solidFill>
                <a:latin typeface="+mn-ea"/>
              </a:rPr>
              <a:t>배치 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스케쥴러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59" name="직선 화살표 연결선 37"/>
          <p:cNvCxnSpPr>
            <a:stCxn id="58" idx="2"/>
            <a:endCxn id="57" idx="0"/>
          </p:cNvCxnSpPr>
          <p:nvPr/>
        </p:nvCxnSpPr>
        <p:spPr>
          <a:xfrm rot="5400000">
            <a:off x="8004175" y="1876800"/>
            <a:ext cx="144721" cy="58341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37"/>
          <p:cNvCxnSpPr>
            <a:stCxn id="57" idx="3"/>
            <a:endCxn id="55" idx="1"/>
          </p:cNvCxnSpPr>
          <p:nvPr/>
        </p:nvCxnSpPr>
        <p:spPr>
          <a:xfrm>
            <a:off x="7964847" y="2907002"/>
            <a:ext cx="11861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21324" y="2439902"/>
            <a:ext cx="656140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조회 </a:t>
            </a: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프로그램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1)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72679" y="2707889"/>
            <a:ext cx="701982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처리 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프로그램</a:t>
            </a:r>
            <a:endParaRPr lang="en-US" altLang="ko-KR" sz="8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</a:t>
            </a:r>
            <a:r>
              <a:rPr lang="ko-KR" altLang="en-US" sz="800" kern="0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</a:rPr>
              <a:t>1)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72679" y="2981463"/>
            <a:ext cx="701982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처리 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프로그램</a:t>
            </a:r>
            <a:endParaRPr lang="en-US" altLang="ko-KR" sz="8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72679" y="3255037"/>
            <a:ext cx="701982" cy="2452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처리 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프로그램</a:t>
            </a:r>
            <a:endParaRPr lang="en-US" altLang="ko-KR" sz="8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쓰레드</a:t>
            </a:r>
            <a:r>
              <a: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3)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순서도: 직접 액세스 저장소 64"/>
          <p:cNvSpPr/>
          <p:nvPr/>
        </p:nvSpPr>
        <p:spPr>
          <a:xfrm>
            <a:off x="8530545" y="2753470"/>
            <a:ext cx="246919" cy="160525"/>
          </a:xfrm>
          <a:prstGeom prst="flowChartMagneticDrum">
            <a:avLst/>
          </a:prstGeom>
          <a:solidFill>
            <a:schemeClr val="bg1"/>
          </a:solidFill>
          <a:ln w="3175" cap="flat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큐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6" name="직선 화살표 연결선 37"/>
          <p:cNvCxnSpPr>
            <a:stCxn id="61" idx="2"/>
            <a:endCxn id="65" idx="1"/>
          </p:cNvCxnSpPr>
          <p:nvPr/>
        </p:nvCxnSpPr>
        <p:spPr>
          <a:xfrm rot="16200000" flipH="1">
            <a:off x="8415657" y="2718844"/>
            <a:ext cx="148625" cy="8115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37"/>
          <p:cNvCxnSpPr>
            <a:stCxn id="61" idx="3"/>
            <a:endCxn id="56" idx="2"/>
          </p:cNvCxnSpPr>
          <p:nvPr/>
        </p:nvCxnSpPr>
        <p:spPr>
          <a:xfrm flipV="1">
            <a:off x="8777464" y="2204864"/>
            <a:ext cx="638596" cy="35764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직접 액세스 저장소 67"/>
          <p:cNvSpPr/>
          <p:nvPr/>
        </p:nvSpPr>
        <p:spPr>
          <a:xfrm>
            <a:off x="8530545" y="3027416"/>
            <a:ext cx="246919" cy="160525"/>
          </a:xfrm>
          <a:prstGeom prst="flowChartMagneticDrum">
            <a:avLst/>
          </a:prstGeom>
          <a:solidFill>
            <a:schemeClr val="bg1"/>
          </a:solidFill>
          <a:ln w="3175" cap="flat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 dirty="0">
                <a:solidFill>
                  <a:schemeClr val="tx1"/>
                </a:solidFill>
                <a:cs typeface="Arial" pitchFamily="34" charset="0"/>
              </a:rPr>
              <a:t>큐</a:t>
            </a:r>
          </a:p>
        </p:txBody>
      </p:sp>
      <p:sp>
        <p:nvSpPr>
          <p:cNvPr id="69" name="순서도: 직접 액세스 저장소 68"/>
          <p:cNvSpPr/>
          <p:nvPr/>
        </p:nvSpPr>
        <p:spPr>
          <a:xfrm>
            <a:off x="8530545" y="3293082"/>
            <a:ext cx="246919" cy="160525"/>
          </a:xfrm>
          <a:prstGeom prst="flowChartMagneticDrum">
            <a:avLst/>
          </a:prstGeom>
          <a:solidFill>
            <a:schemeClr val="bg1"/>
          </a:solidFill>
          <a:ln w="3175" cap="flat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800">
                <a:solidFill>
                  <a:schemeClr val="tx1"/>
                </a:solidFill>
                <a:cs typeface="Arial" pitchFamily="34" charset="0"/>
              </a:rPr>
              <a:t>큐</a:t>
            </a:r>
            <a:endParaRPr lang="ko-KR" altLang="en-US" sz="8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0" name="직선 화살표 연결선 37"/>
          <p:cNvCxnSpPr>
            <a:stCxn id="65" idx="4"/>
            <a:endCxn id="62" idx="1"/>
          </p:cNvCxnSpPr>
          <p:nvPr/>
        </p:nvCxnSpPr>
        <p:spPr>
          <a:xfrm flipV="1">
            <a:off x="8777464" y="2830492"/>
            <a:ext cx="95215" cy="324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37"/>
          <p:cNvCxnSpPr>
            <a:stCxn id="68" idx="4"/>
            <a:endCxn id="63" idx="1"/>
          </p:cNvCxnSpPr>
          <p:nvPr/>
        </p:nvCxnSpPr>
        <p:spPr>
          <a:xfrm flipV="1">
            <a:off x="8777464" y="3104066"/>
            <a:ext cx="95215" cy="361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37"/>
          <p:cNvCxnSpPr>
            <a:stCxn id="69" idx="4"/>
            <a:endCxn id="64" idx="1"/>
          </p:cNvCxnSpPr>
          <p:nvPr/>
        </p:nvCxnSpPr>
        <p:spPr>
          <a:xfrm>
            <a:off x="8777464" y="3373345"/>
            <a:ext cx="95215" cy="429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37"/>
          <p:cNvCxnSpPr>
            <a:stCxn id="61" idx="2"/>
            <a:endCxn id="68" idx="1"/>
          </p:cNvCxnSpPr>
          <p:nvPr/>
        </p:nvCxnSpPr>
        <p:spPr>
          <a:xfrm rot="16200000" flipH="1">
            <a:off x="8278684" y="2855817"/>
            <a:ext cx="422571" cy="8115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37"/>
          <p:cNvCxnSpPr>
            <a:stCxn id="61" idx="2"/>
            <a:endCxn id="69" idx="1"/>
          </p:cNvCxnSpPr>
          <p:nvPr/>
        </p:nvCxnSpPr>
        <p:spPr>
          <a:xfrm rot="16200000" flipH="1">
            <a:off x="8145851" y="2988650"/>
            <a:ext cx="688237" cy="81151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5314615" y="1231979"/>
            <a:ext cx="2242614" cy="4753305"/>
          </a:xfrm>
          <a:prstGeom prst="rect">
            <a:avLst/>
          </a:prstGeom>
          <a:noFill/>
          <a:ln w="31750" cap="flat">
            <a:solidFill>
              <a:srgbClr val="FF000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7057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7627E57-F2BF-43A2-AF5B-2441F4F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거래통제</a:t>
            </a:r>
            <a:r>
              <a:rPr lang="en-US" altLang="ko-KR"/>
              <a:t>(</a:t>
            </a:r>
            <a:r>
              <a:rPr lang="ko-KR" altLang="en-US"/>
              <a:t>일자전환간 거래통제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41751596-38F3-4D50-BED8-F932A8B854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924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일자전환 간 거래기준년월일의 변경으로 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D-1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시점정보 확보의 영향도를 최소화 하기 위한 방안으로 </a:t>
            </a:r>
          </a:p>
          <a:p>
            <a:pPr>
              <a:lnSpc>
                <a:spcPct val="100000"/>
              </a:lnSpc>
            </a:pP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P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모드 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~ T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모드 사이 대내외 모든 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EAI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비동기 거래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송신 통제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(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카드사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,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대외기관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, M/F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연계 거래를 포함</a:t>
            </a: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)</a:t>
            </a:r>
            <a:endParaRPr lang="ko-KR" altLang="en-US" dirty="0">
              <a:latin typeface="+mn-ea"/>
            </a:endParaRPr>
          </a:p>
        </p:txBody>
      </p:sp>
      <p:graphicFrame>
        <p:nvGraphicFramePr>
          <p:cNvPr id="55" name="표 61">
            <a:extLst>
              <a:ext uri="{FF2B5EF4-FFF2-40B4-BE49-F238E27FC236}">
                <a16:creationId xmlns:a16="http://schemas.microsoft.com/office/drawing/2014/main" id="{3817EC2C-74FA-4E99-B8CB-B2D2D7791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774526"/>
              </p:ext>
            </p:extLst>
          </p:nvPr>
        </p:nvGraphicFramePr>
        <p:xfrm>
          <a:off x="5484626" y="1397105"/>
          <a:ext cx="3982205" cy="492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88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4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선처리 모듈 </a:t>
                      </a:r>
                      <a:endParaRPr lang="en-US" altLang="ko-KR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통제 방식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선처리 단에서 거래코드 통제여부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(Y,N)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따르는 일자전환 통제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요건에 따라 조정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거래프로파일 설정으로 통제 방식 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별첨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거래프로파일 참조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일자전환거래제어여부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E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DTE_CNVSN_TRAN_CTRL_YN=Y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설정된 모든거래 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es-E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80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송신 통제 방식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통제 대상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대내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외를 포함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모든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 송신 거래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두가지 예외 허용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+mj-ea"/>
                        <a:buAutoNum type="circleNumDbPlain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 요청만 있는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송신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(SAF,IR)</a:t>
                      </a: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+mj-ea"/>
                        <a:buAutoNum type="circleNumDbPlain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(IR)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방식에서 비동기 응답거래가 일자전환 거래 처리 간 데이터가 일자가 변경되어도 무관한 경우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1" kern="120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XZMFFIFS-DAY-PMODE-TRAN-YN</a:t>
                      </a:r>
                      <a:r>
                        <a:rPr lang="en-US" altLang="ko-KR" sz="10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</a:t>
                      </a:r>
                      <a:r>
                        <a:rPr lang="en-US" altLang="ko-KR" sz="10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등록하면 통제 예외처리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+mj-ea"/>
                        <a:buAutoNum type="circleNumDbPlain"/>
                      </a:pP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일자전환 간 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동기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송수신은 통제대상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제외</a:t>
                      </a:r>
                      <a:endParaRPr lang="en-US" altLang="ko-KR" sz="10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62837"/>
                  </a:ext>
                </a:extLst>
              </a:tr>
              <a:tr h="11863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통제 시간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23:58:00 ~ Core#2 T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모드 사이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통제 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* Core#2 </a:t>
                      </a:r>
                      <a:r>
                        <a:rPr lang="ko-KR" altLang="en-US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ko-KR" altLang="en-US" sz="1000" b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사전스냅샷</a:t>
                      </a:r>
                      <a:r>
                        <a:rPr lang="ko-KR" altLang="en-US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적용으로 </a:t>
                      </a:r>
                      <a:r>
                        <a:rPr lang="en-US" altLang="ko-KR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ko-KR" altLang="en-US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모드가 </a:t>
                      </a:r>
                      <a:r>
                        <a:rPr lang="en-US" altLang="ko-KR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분 이상으로 상당히 긴 시간이기에 짧게 통제하는 방안이 필요</a:t>
                      </a:r>
                      <a:endParaRPr lang="en-US" altLang="ko-KR" sz="1000" b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800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AS-IS</a:t>
                      </a:r>
                    </a:p>
                    <a:p>
                      <a:pPr marL="0" algn="ctr" defTabSz="914400" rtl="0" eaLnBrk="1" latinLnBrk="0" hangingPunct="1"/>
                      <a:r>
                        <a:rPr lang="ko-KR" alt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현황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현재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M/F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모드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~T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모드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초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사이 외부로 나가는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 송신을 통제하고 있음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일자전환 간 비동기 거래를 통제하여 카드사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대외기관 거래를 차단하여 일자전환 이후 발생한 응답데이터로 인한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D-1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시점정보 확보간 데이터 정합성 깨짐을 방지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63552"/>
                  </a:ext>
                </a:extLst>
              </a:tr>
            </a:tbl>
          </a:graphicData>
        </a:graphic>
      </p:graphicFrame>
      <p:sp>
        <p:nvSpPr>
          <p:cNvPr id="61" name="Rectangle 29">
            <a:extLst>
              <a:ext uri="{FF2B5EF4-FFF2-40B4-BE49-F238E27FC236}">
                <a16:creationId xmlns:a16="http://schemas.microsoft.com/office/drawing/2014/main" id="{E886FB0A-E548-415E-B772-3032D620F7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6805" y="1496270"/>
            <a:ext cx="2550072" cy="165618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Rectangle 29">
            <a:extLst>
              <a:ext uri="{FF2B5EF4-FFF2-40B4-BE49-F238E27FC236}">
                <a16:creationId xmlns:a16="http://schemas.microsoft.com/office/drawing/2014/main" id="{10EB4355-5D35-4C3A-98D1-CE1F6EF08E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67320" y="1496270"/>
            <a:ext cx="409216" cy="165618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>
                <a:solidFill>
                  <a:srgbClr val="000000"/>
                </a:solidFill>
                <a:latin typeface="+mn-ea"/>
              </a:rPr>
              <a:t>채널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6" name="양쪽 모서리가 둥근 사각형 27">
            <a:extLst>
              <a:ext uri="{FF2B5EF4-FFF2-40B4-BE49-F238E27FC236}">
                <a16:creationId xmlns:a16="http://schemas.microsoft.com/office/drawing/2014/main" id="{A418E02F-90E7-4F44-A164-422601599D74}"/>
              </a:ext>
            </a:extLst>
          </p:cNvPr>
          <p:cNvSpPr/>
          <p:nvPr/>
        </p:nvSpPr>
        <p:spPr>
          <a:xfrm>
            <a:off x="1286805" y="1256608"/>
            <a:ext cx="2550072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100" b="1">
                <a:solidFill>
                  <a:schemeClr val="tx1"/>
                </a:solidFill>
                <a:cs typeface="Arial" pitchFamily="34" charset="0"/>
              </a:rPr>
              <a:t>FW </a:t>
            </a: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선처리 모듈 통제</a:t>
            </a:r>
            <a:endParaRPr lang="ko-KR" altLang="en-US" sz="11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9E608117-9186-47FB-9FB8-0678068F6132}"/>
              </a:ext>
            </a:extLst>
          </p:cNvPr>
          <p:cNvCxnSpPr>
            <a:cxnSpLocks/>
          </p:cNvCxnSpPr>
          <p:nvPr/>
        </p:nvCxnSpPr>
        <p:spPr>
          <a:xfrm>
            <a:off x="784925" y="1772816"/>
            <a:ext cx="6052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Rectangle 29">
            <a:extLst>
              <a:ext uri="{FF2B5EF4-FFF2-40B4-BE49-F238E27FC236}">
                <a16:creationId xmlns:a16="http://schemas.microsoft.com/office/drawing/2014/main" id="{D311C4AA-8A72-4007-8E95-B296CC04E0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25063" y="1496270"/>
            <a:ext cx="409216" cy="165618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100" kern="0">
                <a:solidFill>
                  <a:srgbClr val="000000"/>
                </a:solidFill>
                <a:latin typeface="+mn-ea"/>
              </a:rPr>
              <a:t>EAI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1" name="Line 20">
            <a:extLst>
              <a:ext uri="{FF2B5EF4-FFF2-40B4-BE49-F238E27FC236}">
                <a16:creationId xmlns:a16="http://schemas.microsoft.com/office/drawing/2014/main" id="{49163246-ADB2-460E-97D4-02F804EE53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6536" y="1880828"/>
            <a:ext cx="605238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DEC0DFD3-EB1C-42B1-BB3C-9DD37560F3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74179" y="3887054"/>
            <a:ext cx="2550072" cy="165618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3" name="Rectangle 29">
            <a:extLst>
              <a:ext uri="{FF2B5EF4-FFF2-40B4-BE49-F238E27FC236}">
                <a16:creationId xmlns:a16="http://schemas.microsoft.com/office/drawing/2014/main" id="{B03F23F0-0A10-4A68-B32E-5D649AAA42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4694" y="3887054"/>
            <a:ext cx="409216" cy="165618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>
                <a:solidFill>
                  <a:srgbClr val="000000"/>
                </a:solidFill>
                <a:latin typeface="+mn-ea"/>
              </a:rPr>
              <a:t>채널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Rectangle 29">
            <a:extLst>
              <a:ext uri="{FF2B5EF4-FFF2-40B4-BE49-F238E27FC236}">
                <a16:creationId xmlns:a16="http://schemas.microsoft.com/office/drawing/2014/main" id="{AE6D772E-62D5-40C4-976B-078051FE91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80195" y="4103091"/>
            <a:ext cx="247812" cy="125863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900" kern="0">
                <a:solidFill>
                  <a:srgbClr val="000000"/>
                </a:solidFill>
                <a:latin typeface="+mn-ea"/>
              </a:rPr>
              <a:t>FW</a:t>
            </a:r>
            <a:endParaRPr lang="ko-KR" altLang="en-US" sz="9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" name="양쪽 모서리가 둥근 사각형 27">
            <a:extLst>
              <a:ext uri="{FF2B5EF4-FFF2-40B4-BE49-F238E27FC236}">
                <a16:creationId xmlns:a16="http://schemas.microsoft.com/office/drawing/2014/main" id="{200448F0-4985-4699-B4B5-1E0FCED9F8D6}"/>
              </a:ext>
            </a:extLst>
          </p:cNvPr>
          <p:cNvSpPr/>
          <p:nvPr/>
        </p:nvSpPr>
        <p:spPr>
          <a:xfrm>
            <a:off x="1274179" y="3647392"/>
            <a:ext cx="2550072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100" b="1">
                <a:solidFill>
                  <a:schemeClr val="tx1"/>
                </a:solidFill>
                <a:cs typeface="Arial" pitchFamily="34" charset="0"/>
              </a:rPr>
              <a:t>EAI </a:t>
            </a: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송신 모듈 통제</a:t>
            </a:r>
            <a:endParaRPr lang="ko-KR" altLang="en-US" sz="11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6" name="Rectangle 29">
            <a:extLst>
              <a:ext uri="{FF2B5EF4-FFF2-40B4-BE49-F238E27FC236}">
                <a16:creationId xmlns:a16="http://schemas.microsoft.com/office/drawing/2014/main" id="{73BF355E-4E08-4D28-A441-AAD53E16BD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49198" y="4526521"/>
            <a:ext cx="670248" cy="32403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900" kern="0">
                <a:solidFill>
                  <a:srgbClr val="000000"/>
                </a:solidFill>
                <a:latin typeface="+mn-ea"/>
              </a:rPr>
              <a:t> EAI </a:t>
            </a:r>
            <a:r>
              <a:rPr lang="ko-KR" altLang="en-US" sz="900" kern="0">
                <a:solidFill>
                  <a:srgbClr val="000000"/>
                </a:solidFill>
                <a:latin typeface="+mn-ea"/>
              </a:rPr>
              <a:t>송신 모듈</a:t>
            </a:r>
            <a:endParaRPr lang="en-US" altLang="ko-KR" sz="9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807099C-A28B-4EB8-A96A-E808970CB560}"/>
              </a:ext>
            </a:extLst>
          </p:cNvPr>
          <p:cNvCxnSpPr>
            <a:cxnSpLocks/>
          </p:cNvCxnSpPr>
          <p:nvPr/>
        </p:nvCxnSpPr>
        <p:spPr>
          <a:xfrm>
            <a:off x="783977" y="4343620"/>
            <a:ext cx="6052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Rectangle 29">
            <a:extLst>
              <a:ext uri="{FF2B5EF4-FFF2-40B4-BE49-F238E27FC236}">
                <a16:creationId xmlns:a16="http://schemas.microsoft.com/office/drawing/2014/main" id="{72319139-2A2F-4649-9409-7F41F75B03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57521" y="4343620"/>
            <a:ext cx="586873" cy="71911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79" name="Rectangle 29">
            <a:extLst>
              <a:ext uri="{FF2B5EF4-FFF2-40B4-BE49-F238E27FC236}">
                <a16:creationId xmlns:a16="http://schemas.microsoft.com/office/drawing/2014/main" id="{0FB7C5BB-7E83-435A-AFD1-46F3F3A7615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12437" y="3887054"/>
            <a:ext cx="409216" cy="165618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100" kern="0">
                <a:solidFill>
                  <a:srgbClr val="000000"/>
                </a:solidFill>
                <a:latin typeface="+mn-ea"/>
              </a:rPr>
              <a:t>EAI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Line 20">
            <a:extLst>
              <a:ext uri="{FF2B5EF4-FFF2-40B4-BE49-F238E27FC236}">
                <a16:creationId xmlns:a16="http://schemas.microsoft.com/office/drawing/2014/main" id="{A90BDAFB-18FF-4B55-A54C-1503B7C8D8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910" y="5013176"/>
            <a:ext cx="605238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1" name="Rectangle 29">
            <a:extLst>
              <a:ext uri="{FF2B5EF4-FFF2-40B4-BE49-F238E27FC236}">
                <a16:creationId xmlns:a16="http://schemas.microsoft.com/office/drawing/2014/main" id="{8AD8CD00-5920-4FDC-8DB0-BEDFE8DE3A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11590" y="1643717"/>
            <a:ext cx="247812" cy="125863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900" kern="0">
                <a:solidFill>
                  <a:srgbClr val="000000"/>
                </a:solidFill>
                <a:latin typeface="+mn-ea"/>
              </a:rPr>
              <a:t>FW</a:t>
            </a:r>
            <a:endParaRPr lang="ko-KR" altLang="en-US" sz="9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2" name="Rectangle 29">
            <a:extLst>
              <a:ext uri="{FF2B5EF4-FFF2-40B4-BE49-F238E27FC236}">
                <a16:creationId xmlns:a16="http://schemas.microsoft.com/office/drawing/2014/main" id="{B39A490D-0099-48C1-885F-AB06447CE9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71209" y="2096852"/>
            <a:ext cx="670248" cy="32403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900" kern="0">
                <a:solidFill>
                  <a:srgbClr val="000000"/>
                </a:solidFill>
                <a:latin typeface="+mn-ea"/>
              </a:rPr>
              <a:t> EAI </a:t>
            </a:r>
            <a:r>
              <a:rPr lang="ko-KR" altLang="en-US" sz="900" kern="0">
                <a:solidFill>
                  <a:srgbClr val="000000"/>
                </a:solidFill>
                <a:latin typeface="+mn-ea"/>
              </a:rPr>
              <a:t>송신 모듈</a:t>
            </a:r>
            <a:endParaRPr lang="en-US" altLang="ko-KR" sz="9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3" name="Rectangle 29">
            <a:extLst>
              <a:ext uri="{FF2B5EF4-FFF2-40B4-BE49-F238E27FC236}">
                <a16:creationId xmlns:a16="http://schemas.microsoft.com/office/drawing/2014/main" id="{4C2E2958-4AB6-4427-86BF-F9A2B02219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88916" y="2024088"/>
            <a:ext cx="586873" cy="57926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온라인 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PM</a:t>
            </a:r>
          </a:p>
        </p:txBody>
      </p:sp>
      <p:sp>
        <p:nvSpPr>
          <p:cNvPr id="84" name="Line 20">
            <a:extLst>
              <a:ext uri="{FF2B5EF4-FFF2-40B4-BE49-F238E27FC236}">
                <a16:creationId xmlns:a16="http://schemas.microsoft.com/office/drawing/2014/main" id="{8F13C299-1144-4946-A690-A7EC119A45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3268" y="4738756"/>
            <a:ext cx="425929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90D24DEA-85BA-4499-B006-8DA16EDA698A}"/>
              </a:ext>
            </a:extLst>
          </p:cNvPr>
          <p:cNvCxnSpPr>
            <a:cxnSpLocks/>
          </p:cNvCxnSpPr>
          <p:nvPr/>
        </p:nvCxnSpPr>
        <p:spPr>
          <a:xfrm>
            <a:off x="2351092" y="4617132"/>
            <a:ext cx="41706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 Box 25">
            <a:extLst>
              <a:ext uri="{FF2B5EF4-FFF2-40B4-BE49-F238E27FC236}">
                <a16:creationId xmlns:a16="http://schemas.microsoft.com/office/drawing/2014/main" id="{86098ED8-1A80-4AE0-87CF-6B446558D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105" y="1706705"/>
            <a:ext cx="593571" cy="2543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+mn-ea"/>
              </a:rPr>
              <a:t>선처리 거래통제</a:t>
            </a:r>
            <a:endParaRPr kumimoji="0" lang="ko-KR" altLang="en-US" sz="1050" kern="0" dirty="0">
              <a:latin typeface="+mn-ea"/>
            </a:endParaRPr>
          </a:p>
        </p:txBody>
      </p:sp>
      <p:sp>
        <p:nvSpPr>
          <p:cNvPr id="87" name="Text Box 25">
            <a:extLst>
              <a:ext uri="{FF2B5EF4-FFF2-40B4-BE49-F238E27FC236}">
                <a16:creationId xmlns:a16="http://schemas.microsoft.com/office/drawing/2014/main" id="{156EB221-87C7-4F67-96C0-F63BF2192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209" y="4866793"/>
            <a:ext cx="593571" cy="2543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+mn-ea"/>
              </a:rPr>
              <a:t>EAI </a:t>
            </a:r>
            <a:r>
              <a:rPr kumimoji="0" lang="ko-KR" altLang="en-US" sz="900" kern="0">
                <a:latin typeface="+mn-ea"/>
              </a:rPr>
              <a:t>송신 거래통제</a:t>
            </a:r>
            <a:endParaRPr kumimoji="0" lang="ko-KR" altLang="en-US" sz="1050" kern="0" dirty="0">
              <a:latin typeface="+mn-ea"/>
            </a:endParaRPr>
          </a:p>
        </p:txBody>
      </p:sp>
      <p:sp>
        <p:nvSpPr>
          <p:cNvPr id="88" name="폭발 1 37">
            <a:extLst>
              <a:ext uri="{FF2B5EF4-FFF2-40B4-BE49-F238E27FC236}">
                <a16:creationId xmlns:a16="http://schemas.microsoft.com/office/drawing/2014/main" id="{8ED260C1-48A3-4A57-B4C3-C9B66A5DAB12}"/>
              </a:ext>
            </a:extLst>
          </p:cNvPr>
          <p:cNvSpPr/>
          <p:nvPr/>
        </p:nvSpPr>
        <p:spPr>
          <a:xfrm>
            <a:off x="1287684" y="1802660"/>
            <a:ext cx="247812" cy="300352"/>
          </a:xfrm>
          <a:prstGeom prst="irregularSeal1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폭발 1 37">
            <a:extLst>
              <a:ext uri="{FF2B5EF4-FFF2-40B4-BE49-F238E27FC236}">
                <a16:creationId xmlns:a16="http://schemas.microsoft.com/office/drawing/2014/main" id="{86624E54-E4DE-4C82-AB2E-57DA29A2EE77}"/>
              </a:ext>
            </a:extLst>
          </p:cNvPr>
          <p:cNvSpPr/>
          <p:nvPr/>
        </p:nvSpPr>
        <p:spPr>
          <a:xfrm>
            <a:off x="2644132" y="4613629"/>
            <a:ext cx="247812" cy="300352"/>
          </a:xfrm>
          <a:prstGeom prst="irregularSeal1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B25F3DC-F9C8-4559-AE3B-4E8F388A63CF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2375789" y="2258870"/>
            <a:ext cx="39542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41755F47-9BB0-44A9-91B6-D008C1A8D256}"/>
              </a:ext>
            </a:extLst>
          </p:cNvPr>
          <p:cNvCxnSpPr>
            <a:cxnSpLocks/>
          </p:cNvCxnSpPr>
          <p:nvPr/>
        </p:nvCxnSpPr>
        <p:spPr>
          <a:xfrm>
            <a:off x="3441457" y="2240751"/>
            <a:ext cx="127098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Line 20">
            <a:extLst>
              <a:ext uri="{FF2B5EF4-FFF2-40B4-BE49-F238E27FC236}">
                <a16:creationId xmlns:a16="http://schemas.microsoft.com/office/drawing/2014/main" id="{13773265-91CC-4A76-B12B-FD321B9CB3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75788" y="2344232"/>
            <a:ext cx="373408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endParaRPr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3" name="Line 20">
            <a:extLst>
              <a:ext uri="{FF2B5EF4-FFF2-40B4-BE49-F238E27FC236}">
                <a16:creationId xmlns:a16="http://schemas.microsoft.com/office/drawing/2014/main" id="{C97E5BE1-3D89-4F9C-A10D-0920E14E54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925" y="2902354"/>
            <a:ext cx="48925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4" name="Line 20">
            <a:extLst>
              <a:ext uri="{FF2B5EF4-FFF2-40B4-BE49-F238E27FC236}">
                <a16:creationId xmlns:a16="http://schemas.microsoft.com/office/drawing/2014/main" id="{2A55FAD0-6085-4603-9864-9A590ACF1A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45" y="2344232"/>
            <a:ext cx="1292991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42BE2D57-1648-406F-8EF9-4CA394C6F2F7}"/>
              </a:ext>
            </a:extLst>
          </p:cNvPr>
          <p:cNvCxnSpPr>
            <a:cxnSpLocks/>
          </p:cNvCxnSpPr>
          <p:nvPr/>
        </p:nvCxnSpPr>
        <p:spPr>
          <a:xfrm>
            <a:off x="3441457" y="4635275"/>
            <a:ext cx="127098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" name="Line 20">
            <a:extLst>
              <a:ext uri="{FF2B5EF4-FFF2-40B4-BE49-F238E27FC236}">
                <a16:creationId xmlns:a16="http://schemas.microsoft.com/office/drawing/2014/main" id="{A254F2AE-A3BF-4CB0-A596-AB2C4D8D63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45" y="4738756"/>
            <a:ext cx="1292991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1862DA9E-B4ED-4BD9-8D19-E674BFFA7751}"/>
              </a:ext>
            </a:extLst>
          </p:cNvPr>
          <p:cNvSpPr/>
          <p:nvPr/>
        </p:nvSpPr>
        <p:spPr>
          <a:xfrm>
            <a:off x="6110854" y="169466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6222D55E-BCD2-44A6-AAB0-0CD5BAE57DFF}"/>
              </a:ext>
            </a:extLst>
          </p:cNvPr>
          <p:cNvSpPr/>
          <p:nvPr/>
        </p:nvSpPr>
        <p:spPr>
          <a:xfrm>
            <a:off x="2036676" y="1615751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9394A2D7-B4AA-48C0-B7C4-D5B772B93B57}"/>
              </a:ext>
            </a:extLst>
          </p:cNvPr>
          <p:cNvSpPr/>
          <p:nvPr/>
        </p:nvSpPr>
        <p:spPr>
          <a:xfrm>
            <a:off x="3075865" y="487925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DFDF5999-5E5F-47D1-B99A-E0ADA32E74F1}"/>
              </a:ext>
            </a:extLst>
          </p:cNvPr>
          <p:cNvSpPr/>
          <p:nvPr/>
        </p:nvSpPr>
        <p:spPr>
          <a:xfrm>
            <a:off x="6110854" y="406551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A74D6F62-6C3D-4DFC-A4D1-7F19A3AA9A2E}"/>
              </a:ext>
            </a:extLst>
          </p:cNvPr>
          <p:cNvSpPr/>
          <p:nvPr/>
        </p:nvSpPr>
        <p:spPr>
          <a:xfrm>
            <a:off x="6137344" y="525372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E25EA18C-FCC0-429A-8EB8-C900B80B208B}"/>
              </a:ext>
            </a:extLst>
          </p:cNvPr>
          <p:cNvSpPr/>
          <p:nvPr/>
        </p:nvSpPr>
        <p:spPr>
          <a:xfrm>
            <a:off x="6110854" y="281773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CB236EC1-C92F-4210-87D3-FCB66D3B48A4}"/>
              </a:ext>
            </a:extLst>
          </p:cNvPr>
          <p:cNvSpPr/>
          <p:nvPr/>
        </p:nvSpPr>
        <p:spPr>
          <a:xfrm>
            <a:off x="2308929" y="161701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4DAAC60C-9C6E-4B7C-B34D-CC6B966D1738}"/>
              </a:ext>
            </a:extLst>
          </p:cNvPr>
          <p:cNvSpPr/>
          <p:nvPr/>
        </p:nvSpPr>
        <p:spPr>
          <a:xfrm>
            <a:off x="3311446" y="487289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3759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7627E57-F2BF-43A2-AF5B-2441F4F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거래통제</a:t>
            </a:r>
            <a:r>
              <a:rPr lang="en-US" altLang="ko-KR"/>
              <a:t>(</a:t>
            </a:r>
            <a:r>
              <a:rPr lang="ko-KR" altLang="en-US"/>
              <a:t>일자전환간 거래통제</a:t>
            </a:r>
            <a:r>
              <a:rPr lang="en-US" altLang="ko-KR"/>
              <a:t>-EAI </a:t>
            </a:r>
            <a:r>
              <a:rPr lang="ko-KR" altLang="en-US"/>
              <a:t>송신 통제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41751596-38F3-4D50-BED8-F932A8B854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4622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EAI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송수신 모듈 단에서의 거래 통제 미적용시 발생가능 한 상황</a:t>
            </a:r>
            <a:endParaRPr lang="ko-KR" altLang="en-US" dirty="0">
              <a:latin typeface="+mn-ea"/>
            </a:endParaRPr>
          </a:p>
        </p:txBody>
      </p: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C8A9B19B-3C9D-477F-A4BB-47B950FF8F58}"/>
              </a:ext>
            </a:extLst>
          </p:cNvPr>
          <p:cNvGrpSpPr/>
          <p:nvPr/>
        </p:nvGrpSpPr>
        <p:grpSpPr>
          <a:xfrm>
            <a:off x="6359693" y="1124744"/>
            <a:ext cx="3128108" cy="2301441"/>
            <a:chOff x="6937951" y="1133395"/>
            <a:chExt cx="2483578" cy="1394568"/>
          </a:xfrm>
        </p:grpSpPr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1A0AA429-253D-4326-8388-6682C24C6F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937951" y="1133395"/>
              <a:ext cx="2483578" cy="282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0" algn="ctr" defTabSz="914400" rtl="0" eaLnBrk="1" latinLnBrk="0" hangingPunct="1"/>
              <a:r>
                <a:rPr lang="ko-KR" altLang="en-US" sz="1050" b="1" kern="1200">
                  <a:solidFill>
                    <a:schemeClr val="dk1"/>
                  </a:solidFill>
                  <a:ea typeface="+mn-ea"/>
                  <a:cs typeface="+mn-cs"/>
                </a:rPr>
                <a:t>동기 거래</a:t>
              </a:r>
              <a:r>
                <a:rPr lang="en-US" altLang="ko-KR" sz="1050" b="1">
                  <a:solidFill>
                    <a:schemeClr val="dk1"/>
                  </a:solidFill>
                </a:rPr>
                <a:t> </a:t>
              </a:r>
              <a:r>
                <a:rPr lang="en-US" altLang="ko-KR" sz="1050" b="1" kern="1200">
                  <a:solidFill>
                    <a:schemeClr val="dk1"/>
                  </a:solidFill>
                  <a:ea typeface="+mn-ea"/>
                  <a:cs typeface="+mn-cs"/>
                </a:rPr>
                <a:t>(</a:t>
              </a:r>
              <a:r>
                <a:rPr lang="ko-KR" altLang="en-US" sz="1050" b="1" kern="1200">
                  <a:solidFill>
                    <a:schemeClr val="dk1"/>
                  </a:solidFill>
                  <a:ea typeface="+mn-ea"/>
                  <a:cs typeface="+mn-cs"/>
                </a:rPr>
                <a:t>기본 </a:t>
              </a:r>
              <a:r>
                <a:rPr lang="ko-KR" altLang="en-US" sz="1050" b="1" kern="1200">
                  <a:solidFill>
                    <a:srgbClr val="0000FF"/>
                  </a:solidFill>
                  <a:ea typeface="+mn-ea"/>
                  <a:cs typeface="+mn-cs"/>
                </a:rPr>
                <a:t>거래허용</a:t>
              </a:r>
              <a:r>
                <a:rPr lang="en-US" altLang="ko-KR" sz="1050" b="1" kern="1200">
                  <a:solidFill>
                    <a:schemeClr val="dk1"/>
                  </a:solidFill>
                  <a:ea typeface="+mn-ea"/>
                  <a:cs typeface="+mn-cs"/>
                </a:rPr>
                <a:t>)</a:t>
              </a:r>
              <a:endParaRPr lang="ko-KR" altLang="en-US" sz="1050" b="1" kern="1200" dirty="0">
                <a:solidFill>
                  <a:schemeClr val="dk1"/>
                </a:solidFill>
                <a:ea typeface="+mn-ea"/>
                <a:cs typeface="+mn-cs"/>
              </a:endParaRPr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6C913AF0-4F29-4801-A40A-85B2EE8C74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937951" y="1411963"/>
              <a:ext cx="2483578" cy="11160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108000" indent="-108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en-US" altLang="ko-KR" sz="1000" kern="1200" baseline="0">
                  <a:solidFill>
                    <a:schemeClr val="dk1"/>
                  </a:solidFill>
                  <a:ea typeface="+mn-ea"/>
                  <a:cs typeface="+mn-cs"/>
                </a:rPr>
                <a:t>UoW(Unit of Work) </a:t>
              </a:r>
              <a:r>
                <a:rPr lang="ko-KR" altLang="en-US" sz="1000" kern="1200" baseline="0">
                  <a:solidFill>
                    <a:schemeClr val="dk1"/>
                  </a:solidFill>
                  <a:ea typeface="+mn-ea"/>
                  <a:cs typeface="+mn-cs"/>
                </a:rPr>
                <a:t>관점에서 동기 거래는 거래가 시작한 일자전환이후 거래응답이 오더라도 거래기준일자로 처리 되기에 문제 소지 없음</a:t>
              </a:r>
              <a:endParaRPr lang="en-US" altLang="ko-KR" sz="1000">
                <a:solidFill>
                  <a:schemeClr val="dk1"/>
                </a:solidFill>
              </a:endParaRPr>
            </a:p>
            <a:p>
              <a:pPr marL="108000" indent="-108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endParaRPr lang="en-US" altLang="ko-KR" sz="1000" kern="1200" baseline="0">
                <a:solidFill>
                  <a:schemeClr val="dk1"/>
                </a:solidFill>
                <a:ea typeface="+mn-ea"/>
                <a:cs typeface="+mn-cs"/>
              </a:endParaRPr>
            </a:p>
            <a:p>
              <a:pPr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</a:pPr>
              <a:r>
                <a:rPr lang="en-US" altLang="ko-KR" sz="1000" kern="1200" baseline="0">
                  <a:solidFill>
                    <a:schemeClr val="dk1"/>
                  </a:solidFill>
                  <a:ea typeface="+mn-ea"/>
                  <a:cs typeface="+mn-cs"/>
                </a:rPr>
                <a:t>     01</a:t>
              </a:r>
              <a:r>
                <a:rPr lang="ko-KR" altLang="en-US" sz="1000" kern="1200" baseline="0">
                  <a:solidFill>
                    <a:schemeClr val="dk1"/>
                  </a:solidFill>
                  <a:ea typeface="+mn-ea"/>
                  <a:cs typeface="+mn-cs"/>
                </a:rPr>
                <a:t>일자 거래기준일 처리</a:t>
              </a:r>
              <a:endParaRPr lang="en-US" altLang="ko-KR" sz="1000" kern="1200" baseline="0">
                <a:solidFill>
                  <a:schemeClr val="dk1"/>
                </a:solidFill>
                <a:ea typeface="+mn-ea"/>
                <a:cs typeface="+mn-cs"/>
              </a:endParaRPr>
            </a:p>
            <a:p>
              <a:pPr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</a:pPr>
              <a:endParaRPr lang="en-US" altLang="ko-KR" sz="1000">
                <a:solidFill>
                  <a:schemeClr val="dk1"/>
                </a:solidFill>
              </a:endParaRPr>
            </a:p>
            <a:p>
              <a:pPr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</a:pPr>
              <a:r>
                <a:rPr lang="en-US" altLang="ko-KR" sz="1000">
                  <a:solidFill>
                    <a:schemeClr val="dk1"/>
                  </a:solidFill>
                </a:rPr>
                <a:t>     01</a:t>
              </a:r>
              <a:r>
                <a:rPr lang="ko-KR" altLang="en-US" sz="1000">
                  <a:solidFill>
                    <a:schemeClr val="dk1"/>
                  </a:solidFill>
                </a:rPr>
                <a:t>일자 거래기준일 처리</a:t>
              </a:r>
              <a:endParaRPr lang="en-US" altLang="ko-KR" sz="1000">
                <a:solidFill>
                  <a:schemeClr val="dk1"/>
                </a:solidFill>
              </a:endParaRPr>
            </a:p>
            <a:p>
              <a:pPr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</a:pPr>
              <a:r>
                <a:rPr lang="en-US" altLang="ko-KR" sz="1000">
                  <a:solidFill>
                    <a:schemeClr val="dk1"/>
                  </a:solidFill>
                </a:rPr>
                <a:t>(</a:t>
              </a:r>
              <a:r>
                <a:rPr lang="ko-KR" altLang="en-US" sz="1000">
                  <a:solidFill>
                    <a:schemeClr val="dk1"/>
                  </a:solidFill>
                </a:rPr>
                <a:t>거래응답이 </a:t>
              </a:r>
              <a:r>
                <a:rPr lang="en-US" altLang="ko-KR" sz="1000">
                  <a:solidFill>
                    <a:schemeClr val="dk1"/>
                  </a:solidFill>
                </a:rPr>
                <a:t>02</a:t>
              </a:r>
              <a:r>
                <a:rPr lang="ko-KR" altLang="en-US" sz="1000">
                  <a:solidFill>
                    <a:schemeClr val="dk1"/>
                  </a:solidFill>
                </a:rPr>
                <a:t>일자에 수신되더라도 동기처리로 응답을 수신대기하여 처리하기에 </a:t>
              </a:r>
              <a:r>
                <a:rPr lang="en-US" altLang="ko-KR" sz="1000">
                  <a:solidFill>
                    <a:schemeClr val="dk1"/>
                  </a:solidFill>
                </a:rPr>
                <a:t>01</a:t>
              </a:r>
              <a:r>
                <a:rPr lang="ko-KR" altLang="en-US" sz="1000">
                  <a:solidFill>
                    <a:schemeClr val="dk1"/>
                  </a:solidFill>
                </a:rPr>
                <a:t>일자 거래</a:t>
              </a:r>
              <a:r>
                <a:rPr lang="en-US" altLang="ko-KR" sz="1000">
                  <a:solidFill>
                    <a:schemeClr val="dk1"/>
                  </a:solidFill>
                </a:rPr>
                <a:t>)</a:t>
              </a:r>
              <a:r>
                <a:rPr lang="ko-KR" altLang="en-US" sz="1000">
                  <a:solidFill>
                    <a:schemeClr val="dk1"/>
                  </a:solidFill>
                </a:rPr>
                <a:t> </a:t>
              </a:r>
              <a:endParaRPr lang="es-ES" altLang="ko-KR" sz="1000" kern="1200" baseline="0">
                <a:solidFill>
                  <a:schemeClr val="dk1"/>
                </a:solidFill>
                <a:ea typeface="+mn-ea"/>
                <a:cs typeface="+mn-cs"/>
              </a:endParaRPr>
            </a:p>
          </p:txBody>
        </p:sp>
      </p:grpSp>
      <p:grpSp>
        <p:nvGrpSpPr>
          <p:cNvPr id="330" name="그룹 329">
            <a:extLst>
              <a:ext uri="{FF2B5EF4-FFF2-40B4-BE49-F238E27FC236}">
                <a16:creationId xmlns:a16="http://schemas.microsoft.com/office/drawing/2014/main" id="{5B9DFA31-4B98-48AA-88C0-755A742BB471}"/>
              </a:ext>
            </a:extLst>
          </p:cNvPr>
          <p:cNvGrpSpPr/>
          <p:nvPr/>
        </p:nvGrpSpPr>
        <p:grpSpPr>
          <a:xfrm>
            <a:off x="6351412" y="3735706"/>
            <a:ext cx="3128108" cy="2274507"/>
            <a:chOff x="6937951" y="2753575"/>
            <a:chExt cx="2483578" cy="1394568"/>
          </a:xfrm>
        </p:grpSpPr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E8C85B5A-AA97-4234-8374-5756791B44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937951" y="2753575"/>
              <a:ext cx="2483578" cy="2820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0" algn="ctr" defTabSz="914400" rtl="0" eaLnBrk="1" latinLnBrk="0" hangingPunct="1"/>
              <a:r>
                <a:rPr lang="ko-KR" altLang="en-US" sz="1050" b="1" kern="1200">
                  <a:solidFill>
                    <a:schemeClr val="dk1"/>
                  </a:solidFill>
                  <a:ea typeface="+mn-ea"/>
                  <a:cs typeface="+mn-cs"/>
                </a:rPr>
                <a:t>비동기 거래</a:t>
              </a:r>
              <a:r>
                <a:rPr lang="en-US" altLang="ko-KR" sz="1050" b="1">
                  <a:solidFill>
                    <a:schemeClr val="dk1"/>
                  </a:solidFill>
                </a:rPr>
                <a:t> </a:t>
              </a:r>
              <a:r>
                <a:rPr lang="en-US" altLang="ko-KR" sz="1050" b="1" kern="1200">
                  <a:solidFill>
                    <a:schemeClr val="dk1"/>
                  </a:solidFill>
                  <a:ea typeface="+mn-ea"/>
                  <a:cs typeface="+mn-cs"/>
                </a:rPr>
                <a:t>(</a:t>
              </a:r>
              <a:r>
                <a:rPr lang="ko-KR" altLang="en-US" sz="1050" b="1" kern="1200">
                  <a:solidFill>
                    <a:srgbClr val="FF0000"/>
                  </a:solidFill>
                  <a:ea typeface="+mn-ea"/>
                  <a:cs typeface="+mn-cs"/>
                </a:rPr>
                <a:t>통제 필요</a:t>
              </a:r>
              <a:r>
                <a:rPr lang="en-US" altLang="ko-KR" sz="1050" b="1" kern="1200">
                  <a:solidFill>
                    <a:schemeClr val="dk1"/>
                  </a:solidFill>
                  <a:ea typeface="+mn-ea"/>
                  <a:cs typeface="+mn-cs"/>
                </a:rPr>
                <a:t>)</a:t>
              </a:r>
              <a:endParaRPr lang="ko-KR" altLang="en-US" sz="1050" b="1" kern="1200" dirty="0">
                <a:solidFill>
                  <a:schemeClr val="dk1"/>
                </a:solidFill>
                <a:ea typeface="+mn-ea"/>
                <a:cs typeface="+mn-cs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B1528767-9F17-41DA-9F43-0543CE5715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937951" y="3032143"/>
              <a:ext cx="2483578" cy="11160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108000" indent="-108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en-US" altLang="ko-KR" sz="1000" kern="1200" baseline="0">
                  <a:solidFill>
                    <a:schemeClr val="dk1"/>
                  </a:solidFill>
                  <a:ea typeface="+mn-ea"/>
                  <a:cs typeface="+mn-cs"/>
                </a:rPr>
                <a:t>UoW(Unit of Work) </a:t>
              </a:r>
              <a:r>
                <a:rPr lang="ko-KR" altLang="en-US" sz="1000" kern="1200" baseline="0">
                  <a:solidFill>
                    <a:schemeClr val="dk1"/>
                  </a:solidFill>
                  <a:ea typeface="+mn-ea"/>
                  <a:cs typeface="+mn-cs"/>
                </a:rPr>
                <a:t>관점에서 비동기 거래는 거래가 시작한 일자전환 이후 거래응답이 오게되면 </a:t>
              </a:r>
              <a:r>
                <a:rPr lang="ko-KR" altLang="en-US" sz="1000" b="1" kern="1200" baseline="0">
                  <a:solidFill>
                    <a:schemeClr val="dk1"/>
                  </a:solidFill>
                  <a:ea typeface="+mn-ea"/>
                  <a:cs typeface="+mn-cs"/>
                </a:rPr>
                <a:t>거래기준일자가 변경되기에 </a:t>
              </a:r>
              <a:r>
                <a:rPr lang="en-US" altLang="ko-KR" sz="1000" b="1" kern="1200" baseline="0">
                  <a:solidFill>
                    <a:schemeClr val="dk1"/>
                  </a:solidFill>
                  <a:ea typeface="+mn-ea"/>
                  <a:cs typeface="+mn-cs"/>
                </a:rPr>
                <a:t>D-1 </a:t>
              </a:r>
              <a:r>
                <a:rPr lang="ko-KR" altLang="en-US" sz="1000" b="1" kern="1200" baseline="0">
                  <a:solidFill>
                    <a:schemeClr val="dk1"/>
                  </a:solidFill>
                  <a:ea typeface="+mn-ea"/>
                  <a:cs typeface="+mn-cs"/>
                </a:rPr>
                <a:t>시점정보 데이터에 </a:t>
              </a:r>
              <a:r>
                <a:rPr lang="ko-KR" altLang="en-US" sz="1000" b="1">
                  <a:solidFill>
                    <a:schemeClr val="dk1"/>
                  </a:solidFill>
                </a:rPr>
                <a:t>데이터 확보 불가</a:t>
              </a:r>
              <a:endParaRPr lang="en-US" altLang="ko-KR" sz="1000" b="1">
                <a:solidFill>
                  <a:schemeClr val="dk1"/>
                </a:solidFill>
              </a:endParaRPr>
            </a:p>
            <a:p>
              <a:pPr marL="108000" indent="-108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ko-KR" altLang="en-US" sz="1050" b="1" kern="1200" baseline="0">
                  <a:solidFill>
                    <a:schemeClr val="dk1"/>
                  </a:solidFill>
                  <a:ea typeface="+mn-ea"/>
                  <a:cs typeface="+mn-cs"/>
                </a:rPr>
                <a:t>동일 거래처리기준일 처리로 할수 없음</a:t>
              </a:r>
              <a:endParaRPr lang="en-US" altLang="ko-KR" sz="1050" b="1" kern="1200" baseline="0" dirty="0">
                <a:solidFill>
                  <a:schemeClr val="dk1"/>
                </a:solidFill>
                <a:ea typeface="+mn-ea"/>
                <a:cs typeface="+mn-cs"/>
              </a:endParaRPr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FE5E1DBC-1E85-4BD6-809F-BC2E7EFDBAF4}"/>
              </a:ext>
            </a:extLst>
          </p:cNvPr>
          <p:cNvGrpSpPr/>
          <p:nvPr/>
        </p:nvGrpSpPr>
        <p:grpSpPr>
          <a:xfrm>
            <a:off x="3390498" y="1448780"/>
            <a:ext cx="2795029" cy="1977406"/>
            <a:chOff x="298167" y="3956521"/>
            <a:chExt cx="2671134" cy="2428512"/>
          </a:xfrm>
        </p:grpSpPr>
        <p:sp>
          <p:nvSpPr>
            <p:cNvPr id="156" name="Rectangle 29">
              <a:extLst>
                <a:ext uri="{FF2B5EF4-FFF2-40B4-BE49-F238E27FC236}">
                  <a16:creationId xmlns:a16="http://schemas.microsoft.com/office/drawing/2014/main" id="{75DC5B59-7836-43F1-B371-268E9007C5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98167" y="3956521"/>
              <a:ext cx="2671134" cy="24285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7" name="Rectangle 29">
              <a:extLst>
                <a:ext uri="{FF2B5EF4-FFF2-40B4-BE49-F238E27FC236}">
                  <a16:creationId xmlns:a16="http://schemas.microsoft.com/office/drawing/2014/main" id="{4D09C33E-0DF9-4AC0-9C03-F9D73230CA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51659" y="4057920"/>
              <a:ext cx="1528123" cy="1916071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8" name="Rectangle 29">
              <a:extLst>
                <a:ext uri="{FF2B5EF4-FFF2-40B4-BE49-F238E27FC236}">
                  <a16:creationId xmlns:a16="http://schemas.microsoft.com/office/drawing/2014/main" id="{36D05562-D0C8-46AE-9D00-360C62FBDF9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441487" y="4041569"/>
              <a:ext cx="378000" cy="132692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altLang="ko-KR" sz="1000" kern="0">
                  <a:solidFill>
                    <a:srgbClr val="000000"/>
                  </a:solidFill>
                  <a:latin typeface="+mn-ea"/>
                </a:rPr>
                <a:t>EAI</a:t>
              </a:r>
              <a:endPara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3BF4B244-D2D6-4E1E-BE30-7409ED255E72}"/>
                </a:ext>
              </a:extLst>
            </p:cNvPr>
            <p:cNvCxnSpPr>
              <a:cxnSpLocks/>
            </p:cNvCxnSpPr>
            <p:nvPr/>
          </p:nvCxnSpPr>
          <p:spPr>
            <a:xfrm>
              <a:off x="651659" y="4497827"/>
              <a:ext cx="152812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AFC8EB13-C991-49D1-A001-0DF3CBC296CD}"/>
                </a:ext>
              </a:extLst>
            </p:cNvPr>
            <p:cNvCxnSpPr>
              <a:cxnSpLocks/>
              <a:stCxn id="128" idx="2"/>
            </p:cNvCxnSpPr>
            <p:nvPr/>
          </p:nvCxnSpPr>
          <p:spPr>
            <a:xfrm>
              <a:off x="2630487" y="4174261"/>
              <a:ext cx="0" cy="1989615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1" name="Rectangle 29">
              <a:extLst>
                <a:ext uri="{FF2B5EF4-FFF2-40B4-BE49-F238E27FC236}">
                  <a16:creationId xmlns:a16="http://schemas.microsoft.com/office/drawing/2014/main" id="{BAADA8E5-46D2-42DF-B80B-A5A5EDEBD75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51658" y="4029775"/>
              <a:ext cx="1528123" cy="132692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altLang="ko-KR" sz="1000" kern="0">
                  <a:solidFill>
                    <a:srgbClr val="000000"/>
                  </a:solidFill>
                  <a:latin typeface="+mn-ea"/>
                </a:rPr>
                <a:t>FW</a:t>
              </a:r>
              <a:endPara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8AA459DE-0527-43CB-87CE-0A941F5A5CCF}"/>
                </a:ext>
              </a:extLst>
            </p:cNvPr>
            <p:cNvCxnSpPr/>
            <p:nvPr/>
          </p:nvCxnSpPr>
          <p:spPr>
            <a:xfrm>
              <a:off x="866291" y="4497827"/>
              <a:ext cx="0" cy="1476164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9EAB9451-1D80-478C-955A-F64693FEBCF8}"/>
                </a:ext>
              </a:extLst>
            </p:cNvPr>
            <p:cNvCxnSpPr/>
            <p:nvPr/>
          </p:nvCxnSpPr>
          <p:spPr>
            <a:xfrm>
              <a:off x="1406351" y="4497827"/>
              <a:ext cx="0" cy="1476164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52802867-EB4F-4C3F-83F0-EBC6D71E662E}"/>
                </a:ext>
              </a:extLst>
            </p:cNvPr>
            <p:cNvCxnSpPr/>
            <p:nvPr/>
          </p:nvCxnSpPr>
          <p:spPr>
            <a:xfrm>
              <a:off x="1946411" y="4497827"/>
              <a:ext cx="0" cy="1476164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8F8C113-0B8E-4661-8ADC-DC06DB15103E}"/>
                </a:ext>
              </a:extLst>
            </p:cNvPr>
            <p:cNvSpPr txBox="1"/>
            <p:nvPr/>
          </p:nvSpPr>
          <p:spPr>
            <a:xfrm>
              <a:off x="669933" y="4298128"/>
              <a:ext cx="426798" cy="179381"/>
            </a:xfrm>
            <a:prstGeom prst="rect">
              <a:avLst/>
            </a:prstGeom>
            <a:solidFill>
              <a:schemeClr val="bg1"/>
            </a:solidFill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900">
                  <a:cs typeface="Arial" pitchFamily="34" charset="0"/>
                </a:rPr>
                <a:t>P</a:t>
              </a:r>
              <a:r>
                <a:rPr lang="ko-KR" altLang="en-US" sz="900">
                  <a:cs typeface="Arial" pitchFamily="34" charset="0"/>
                </a:rPr>
                <a:t>모드</a:t>
              </a:r>
              <a:endParaRPr lang="ko-KR" altLang="en-US" sz="900" dirty="0">
                <a:cs typeface="Arial" pitchFamily="34" charset="0"/>
              </a:endParaRPr>
            </a:p>
          </p:txBody>
        </p:sp>
        <p:sp>
          <p:nvSpPr>
            <p:cNvPr id="136" name="Rectangle 29">
              <a:extLst>
                <a:ext uri="{FF2B5EF4-FFF2-40B4-BE49-F238E27FC236}">
                  <a16:creationId xmlns:a16="http://schemas.microsoft.com/office/drawing/2014/main" id="{70E64DB2-F1A7-447B-B1BE-6AE9CF309B9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7289" y="4701535"/>
              <a:ext cx="221355" cy="4443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algn="ctr" eaLnBrk="0" hangingPunct="0">
                <a:spcBef>
                  <a:spcPts val="600"/>
                </a:spcBef>
                <a:buSzPct val="100000"/>
              </a:pPr>
              <a:r>
                <a:rPr lang="ko-KR" altLang="en-US" sz="900" kern="0">
                  <a:solidFill>
                    <a:srgbClr val="000000"/>
                  </a:solidFill>
                  <a:latin typeface="+mn-ea"/>
                </a:rPr>
                <a:t>요청</a:t>
              </a:r>
              <a:endParaRPr lang="ko-KR" altLang="en-US" sz="900" kern="0" dirty="0">
                <a:solidFill>
                  <a:srgbClr val="000000"/>
                </a:solidFill>
                <a:latin typeface="+mn-ea"/>
              </a:endParaRPr>
            </a:p>
          </p:txBody>
        </p: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C18505F1-A704-42A5-8FAC-5C09413954D9}"/>
                </a:ext>
              </a:extLst>
            </p:cNvPr>
            <p:cNvCxnSpPr/>
            <p:nvPr/>
          </p:nvCxnSpPr>
          <p:spPr>
            <a:xfrm>
              <a:off x="398239" y="4893871"/>
              <a:ext cx="599050" cy="0"/>
            </a:xfrm>
            <a:prstGeom prst="straightConnector1">
              <a:avLst/>
            </a:prstGeom>
            <a:solidFill>
              <a:schemeClr val="bg1"/>
            </a:solidFill>
            <a:ln w="349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0274CA4-EE51-4FB3-9E3A-ABC21733F9F8}"/>
                </a:ext>
              </a:extLst>
            </p:cNvPr>
            <p:cNvSpPr txBox="1"/>
            <p:nvPr/>
          </p:nvSpPr>
          <p:spPr>
            <a:xfrm>
              <a:off x="1124374" y="4188810"/>
              <a:ext cx="582122" cy="288700"/>
            </a:xfrm>
            <a:prstGeom prst="rect">
              <a:avLst/>
            </a:prstGeom>
            <a:solidFill>
              <a:schemeClr val="bg1"/>
            </a:solidFill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900">
                  <a:cs typeface="Arial" pitchFamily="34" charset="0"/>
                </a:rPr>
                <a:t>T</a:t>
              </a:r>
              <a:r>
                <a:rPr lang="ko-KR" altLang="en-US" sz="900">
                  <a:cs typeface="Arial" pitchFamily="34" charset="0"/>
                </a:rPr>
                <a:t>모드</a:t>
              </a:r>
              <a:endParaRPr lang="en-US" altLang="ko-KR" sz="900">
                <a:cs typeface="Arial" pitchFamily="34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ko-KR" altLang="en-US" sz="900">
                  <a:cs typeface="Arial" pitchFamily="34" charset="0"/>
                </a:rPr>
                <a:t>일자변경</a:t>
              </a:r>
            </a:p>
            <a:p>
              <a:pPr algn="ctr">
                <a:lnSpc>
                  <a:spcPct val="90000"/>
                </a:lnSpc>
              </a:pPr>
              <a:endParaRPr lang="ko-KR" altLang="en-US" sz="900" dirty="0">
                <a:cs typeface="Arial" pitchFamily="34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217ED33-9CD0-4063-97B1-D1F76BFED07C}"/>
                </a:ext>
              </a:extLst>
            </p:cNvPr>
            <p:cNvSpPr txBox="1"/>
            <p:nvPr/>
          </p:nvSpPr>
          <p:spPr>
            <a:xfrm>
              <a:off x="1725056" y="4302180"/>
              <a:ext cx="426798" cy="175330"/>
            </a:xfrm>
            <a:prstGeom prst="rect">
              <a:avLst/>
            </a:prstGeom>
            <a:solidFill>
              <a:schemeClr val="bg1"/>
            </a:solidFill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900">
                  <a:cs typeface="Arial" pitchFamily="34" charset="0"/>
                </a:rPr>
                <a:t>D</a:t>
              </a:r>
              <a:r>
                <a:rPr lang="ko-KR" altLang="en-US" sz="900">
                  <a:cs typeface="Arial" pitchFamily="34" charset="0"/>
                </a:rPr>
                <a:t>모드</a:t>
              </a:r>
              <a:endParaRPr lang="ko-KR" altLang="en-US" sz="900" dirty="0">
                <a:cs typeface="Arial" pitchFamily="34" charset="0"/>
              </a:endParaRPr>
            </a:p>
          </p:txBody>
        </p: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B3B20FC3-D0C4-40F9-ACE1-6E1CA9CDEB66}"/>
                </a:ext>
              </a:extLst>
            </p:cNvPr>
            <p:cNvCxnSpPr>
              <a:cxnSpLocks/>
            </p:cNvCxnSpPr>
            <p:nvPr/>
          </p:nvCxnSpPr>
          <p:spPr>
            <a:xfrm>
              <a:off x="1249131" y="4946653"/>
              <a:ext cx="1381356" cy="0"/>
            </a:xfrm>
            <a:prstGeom prst="straightConnector1">
              <a:avLst/>
            </a:prstGeom>
            <a:solidFill>
              <a:schemeClr val="bg1"/>
            </a:solidFill>
            <a:ln w="349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8F3F290C-FA6F-456F-B191-3D42473D0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661" y="5438333"/>
              <a:ext cx="953036" cy="5212"/>
            </a:xfrm>
            <a:prstGeom prst="straightConnector1">
              <a:avLst/>
            </a:prstGeom>
            <a:solidFill>
              <a:schemeClr val="bg1"/>
            </a:solidFill>
            <a:ln w="349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9AB69505-262D-432D-B4E3-31ED1A7A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472" y="5581634"/>
              <a:ext cx="1090234" cy="570"/>
            </a:xfrm>
            <a:prstGeom prst="straightConnector1">
              <a:avLst/>
            </a:prstGeom>
            <a:solidFill>
              <a:schemeClr val="bg1"/>
            </a:solidFill>
            <a:ln w="349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49" name="왼쪽 대괄호 148">
              <a:extLst>
                <a:ext uri="{FF2B5EF4-FFF2-40B4-BE49-F238E27FC236}">
                  <a16:creationId xmlns:a16="http://schemas.microsoft.com/office/drawing/2014/main" id="{598916E9-670D-4238-AD2F-BFF8FC11F9B1}"/>
                </a:ext>
              </a:extLst>
            </p:cNvPr>
            <p:cNvSpPr/>
            <p:nvPr/>
          </p:nvSpPr>
          <p:spPr>
            <a:xfrm rot="16200000">
              <a:off x="940856" y="5740612"/>
              <a:ext cx="132675" cy="713853"/>
            </a:xfrm>
            <a:prstGeom prst="leftBracke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왼쪽 대괄호 149">
              <a:extLst>
                <a:ext uri="{FF2B5EF4-FFF2-40B4-BE49-F238E27FC236}">
                  <a16:creationId xmlns:a16="http://schemas.microsoft.com/office/drawing/2014/main" id="{365A51B9-B6DE-4F3F-ADEA-06B48EC7D054}"/>
                </a:ext>
              </a:extLst>
            </p:cNvPr>
            <p:cNvSpPr/>
            <p:nvPr/>
          </p:nvSpPr>
          <p:spPr>
            <a:xfrm rot="16200000">
              <a:off x="1745290" y="5729384"/>
              <a:ext cx="136391" cy="732592"/>
            </a:xfrm>
            <a:prstGeom prst="leftBracke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849866B-9F39-41E0-A1EB-B11C65E7CC1E}"/>
                </a:ext>
              </a:extLst>
            </p:cNvPr>
            <p:cNvSpPr txBox="1"/>
            <p:nvPr/>
          </p:nvSpPr>
          <p:spPr>
            <a:xfrm>
              <a:off x="822333" y="5994310"/>
              <a:ext cx="426798" cy="1417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900">
                  <a:cs typeface="Arial" pitchFamily="34" charset="0"/>
                </a:rPr>
                <a:t>01</a:t>
              </a:r>
              <a:r>
                <a:rPr lang="ko-KR" altLang="en-US" sz="900">
                  <a:cs typeface="Arial" pitchFamily="34" charset="0"/>
                </a:rPr>
                <a:t>일</a:t>
              </a:r>
              <a:endParaRPr lang="ko-KR" altLang="en-US" sz="900" dirty="0">
                <a:cs typeface="Arial" pitchFamily="34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3967BEE-0B65-4732-9FD0-97D7A486153B}"/>
                </a:ext>
              </a:extLst>
            </p:cNvPr>
            <p:cNvSpPr txBox="1"/>
            <p:nvPr/>
          </p:nvSpPr>
          <p:spPr>
            <a:xfrm>
              <a:off x="1633734" y="5994310"/>
              <a:ext cx="426798" cy="1322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900">
                  <a:cs typeface="Arial" pitchFamily="34" charset="0"/>
                </a:rPr>
                <a:t>02</a:t>
              </a:r>
              <a:r>
                <a:rPr lang="ko-KR" altLang="en-US" sz="900">
                  <a:cs typeface="Arial" pitchFamily="34" charset="0"/>
                </a:rPr>
                <a:t>일</a:t>
              </a:r>
              <a:endParaRPr lang="ko-KR" altLang="en-US" sz="900" dirty="0">
                <a:cs typeface="Arial" pitchFamily="34" charset="0"/>
              </a:endParaRPr>
            </a:p>
          </p:txBody>
        </p:sp>
        <p:sp>
          <p:nvSpPr>
            <p:cNvPr id="153" name="Rectangle 29">
              <a:extLst>
                <a:ext uri="{FF2B5EF4-FFF2-40B4-BE49-F238E27FC236}">
                  <a16:creationId xmlns:a16="http://schemas.microsoft.com/office/drawing/2014/main" id="{3BC25CEC-1413-4AB4-898C-1BE625AD036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06286" y="5279172"/>
              <a:ext cx="184816" cy="3979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 anchor="ctr"/>
            <a:lstStyle/>
            <a:p>
              <a:pPr algn="ctr" eaLnBrk="0" hangingPunct="0">
                <a:spcBef>
                  <a:spcPts val="600"/>
                </a:spcBef>
                <a:buSzPct val="100000"/>
              </a:pPr>
              <a:r>
                <a:rPr lang="ko-KR" altLang="en-US" sz="900" kern="0">
                  <a:solidFill>
                    <a:srgbClr val="000000"/>
                  </a:solidFill>
                  <a:latin typeface="+mn-ea"/>
                </a:rPr>
                <a:t>응답</a:t>
              </a:r>
              <a:endParaRPr lang="ko-KR" altLang="en-US" sz="900" kern="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A0F9263F-994A-48D6-B247-18342D27A30E}"/>
              </a:ext>
            </a:extLst>
          </p:cNvPr>
          <p:cNvGrpSpPr/>
          <p:nvPr/>
        </p:nvGrpSpPr>
        <p:grpSpPr>
          <a:xfrm>
            <a:off x="343993" y="1115903"/>
            <a:ext cx="2790030" cy="2341651"/>
            <a:chOff x="375134" y="2604644"/>
            <a:chExt cx="2790030" cy="2208447"/>
          </a:xfrm>
        </p:grpSpPr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4097237D-901D-49C1-86A9-E1F5973E8E3E}"/>
                </a:ext>
              </a:extLst>
            </p:cNvPr>
            <p:cNvGrpSpPr/>
            <p:nvPr/>
          </p:nvGrpSpPr>
          <p:grpSpPr>
            <a:xfrm>
              <a:off x="375134" y="2925467"/>
              <a:ext cx="2790030" cy="1887624"/>
              <a:chOff x="290466" y="1184128"/>
              <a:chExt cx="2671134" cy="2428512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7323FC5A-6D25-45D3-8B4B-F65A7533819A}"/>
                  </a:ext>
                </a:extLst>
              </p:cNvPr>
              <p:cNvGrpSpPr/>
              <p:nvPr/>
            </p:nvGrpSpPr>
            <p:grpSpPr>
              <a:xfrm>
                <a:off x="290466" y="1184128"/>
                <a:ext cx="2671134" cy="2428512"/>
                <a:chOff x="290466" y="1184128"/>
                <a:chExt cx="2671134" cy="2428512"/>
              </a:xfrm>
            </p:grpSpPr>
            <p:sp>
              <p:nvSpPr>
                <p:cNvPr id="155" name="Rectangle 29">
                  <a:extLst>
                    <a:ext uri="{FF2B5EF4-FFF2-40B4-BE49-F238E27FC236}">
                      <a16:creationId xmlns:a16="http://schemas.microsoft.com/office/drawing/2014/main" id="{3CE64671-C8CD-4AEC-9D4D-55624AA906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90466" y="1184128"/>
                  <a:ext cx="2671134" cy="242851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endParaRPr kumimoji="0" lang="ko-KR" altLang="en-US" sz="11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3" name="Rectangle 29">
                  <a:extLst>
                    <a:ext uri="{FF2B5EF4-FFF2-40B4-BE49-F238E27FC236}">
                      <a16:creationId xmlns:a16="http://schemas.microsoft.com/office/drawing/2014/main" id="{9E48EE9A-9BF4-4E66-852D-96F43E68A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72350" y="1310541"/>
                  <a:ext cx="1528123" cy="1953291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endParaRPr kumimoji="0" lang="ko-KR" altLang="en-US" sz="11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4" name="Rectangle 29">
                  <a:extLst>
                    <a:ext uri="{FF2B5EF4-FFF2-40B4-BE49-F238E27FC236}">
                      <a16:creationId xmlns:a16="http://schemas.microsoft.com/office/drawing/2014/main" id="{B57516FF-6238-4826-8715-C019D8751A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462178" y="1331410"/>
                  <a:ext cx="378000" cy="13269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r>
                    <a:rPr lang="en-US" altLang="ko-KR" sz="1000" kern="0">
                      <a:solidFill>
                        <a:srgbClr val="000000"/>
                      </a:solidFill>
                      <a:latin typeface="+mn-ea"/>
                    </a:rPr>
                    <a:t>EAI</a:t>
                  </a:r>
                  <a:endParaRPr kumimoji="0" lang="ko-KR" altLang="en-US" sz="10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AE963ECC-FA5E-41FA-A278-A79FDAD45D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2350" y="1787668"/>
                  <a:ext cx="1528123" cy="0"/>
                </a:xfrm>
                <a:prstGeom prst="line">
                  <a:avLst/>
                </a:prstGeom>
                <a:ln w="1905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직선 연결선 10">
                  <a:extLst>
                    <a:ext uri="{FF2B5EF4-FFF2-40B4-BE49-F238E27FC236}">
                      <a16:creationId xmlns:a16="http://schemas.microsoft.com/office/drawing/2014/main" id="{4E0E5F2E-9A32-4C96-B506-B76D921EC2DC}"/>
                    </a:ext>
                  </a:extLst>
                </p:cNvPr>
                <p:cNvCxnSpPr>
                  <a:cxnSpLocks/>
                  <a:stCxn id="44" idx="2"/>
                </p:cNvCxnSpPr>
                <p:nvPr/>
              </p:nvCxnSpPr>
              <p:spPr>
                <a:xfrm>
                  <a:off x="2651178" y="1464102"/>
                  <a:ext cx="0" cy="2033267"/>
                </a:xfrm>
                <a:prstGeom prst="line">
                  <a:avLst/>
                </a:prstGeom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63" name="Rectangle 29">
                  <a:extLst>
                    <a:ext uri="{FF2B5EF4-FFF2-40B4-BE49-F238E27FC236}">
                      <a16:creationId xmlns:a16="http://schemas.microsoft.com/office/drawing/2014/main" id="{93C952CE-8C17-41F2-85F2-7CD591D08A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72349" y="1304764"/>
                  <a:ext cx="1528123" cy="13269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r>
                    <a:rPr lang="en-US" altLang="ko-KR" sz="1000" kern="0">
                      <a:solidFill>
                        <a:srgbClr val="000000"/>
                      </a:solidFill>
                      <a:latin typeface="+mn-ea"/>
                    </a:rPr>
                    <a:t>FW</a:t>
                  </a:r>
                  <a:endParaRPr kumimoji="0" lang="ko-KR" altLang="en-US" sz="10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07100E28-6A6A-4815-8392-F6D9EE3E79CA}"/>
                    </a:ext>
                  </a:extLst>
                </p:cNvPr>
                <p:cNvCxnSpPr/>
                <p:nvPr/>
              </p:nvCxnSpPr>
              <p:spPr>
                <a:xfrm>
                  <a:off x="886982" y="1787668"/>
                  <a:ext cx="0" cy="1476164"/>
                </a:xfrm>
                <a:prstGeom prst="line">
                  <a:avLst/>
                </a:prstGeom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862FC0A0-DDA5-4813-86E0-99043BE423F7}"/>
                    </a:ext>
                  </a:extLst>
                </p:cNvPr>
                <p:cNvCxnSpPr/>
                <p:nvPr/>
              </p:nvCxnSpPr>
              <p:spPr>
                <a:xfrm>
                  <a:off x="1427042" y="1787668"/>
                  <a:ext cx="0" cy="1476164"/>
                </a:xfrm>
                <a:prstGeom prst="line">
                  <a:avLst/>
                </a:prstGeom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446A19DA-4BC0-4AD3-BF30-65E97367034F}"/>
                    </a:ext>
                  </a:extLst>
                </p:cNvPr>
                <p:cNvCxnSpPr/>
                <p:nvPr/>
              </p:nvCxnSpPr>
              <p:spPr>
                <a:xfrm>
                  <a:off x="1967102" y="1787668"/>
                  <a:ext cx="0" cy="1476164"/>
                </a:xfrm>
                <a:prstGeom prst="line">
                  <a:avLst/>
                </a:prstGeom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98B9DAD-C94F-4718-AD7C-ED86CAE82B79}"/>
                    </a:ext>
                  </a:extLst>
                </p:cNvPr>
                <p:cNvSpPr txBox="1"/>
                <p:nvPr/>
              </p:nvSpPr>
              <p:spPr>
                <a:xfrm>
                  <a:off x="690624" y="1587968"/>
                  <a:ext cx="426798" cy="213219"/>
                </a:xfrm>
                <a:prstGeom prst="rect">
                  <a:avLst/>
                </a:prstGeom>
                <a:noFill/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P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98" name="Rectangle 29">
                  <a:extLst>
                    <a:ext uri="{FF2B5EF4-FFF2-40B4-BE49-F238E27FC236}">
                      <a16:creationId xmlns:a16="http://schemas.microsoft.com/office/drawing/2014/main" id="{5C6ADB16-A0D4-4826-8620-6B04FCE46E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021577" y="1973046"/>
                  <a:ext cx="163703" cy="51979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algn="ctr" eaLnBrk="0" hangingPunct="0">
                    <a:spcBef>
                      <a:spcPts val="600"/>
                    </a:spcBef>
                    <a:buSzPct val="100000"/>
                  </a:pPr>
                  <a:r>
                    <a:rPr lang="ko-KR" altLang="en-US" sz="700" kern="0">
                      <a:solidFill>
                        <a:srgbClr val="000000"/>
                      </a:solidFill>
                      <a:latin typeface="+mn-ea"/>
                    </a:rPr>
                    <a:t>요청응답</a:t>
                  </a:r>
                  <a:endParaRPr lang="ko-KR" altLang="en-US" sz="900" kern="0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cxnSp>
              <p:nvCxnSpPr>
                <p:cNvPr id="21" name="직선 화살표 연결선 20">
                  <a:extLst>
                    <a:ext uri="{FF2B5EF4-FFF2-40B4-BE49-F238E27FC236}">
                      <a16:creationId xmlns:a16="http://schemas.microsoft.com/office/drawing/2014/main" id="{AD5559A9-CA43-4C3D-91A9-3C96BE63DA86}"/>
                    </a:ext>
                  </a:extLst>
                </p:cNvPr>
                <p:cNvCxnSpPr/>
                <p:nvPr/>
              </p:nvCxnSpPr>
              <p:spPr>
                <a:xfrm>
                  <a:off x="418930" y="2183712"/>
                  <a:ext cx="599050" cy="0"/>
                </a:xfrm>
                <a:prstGeom prst="straightConnector1">
                  <a:avLst/>
                </a:prstGeom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3152F2DF-7B85-4CF2-805D-F7A707C18086}"/>
                    </a:ext>
                  </a:extLst>
                </p:cNvPr>
                <p:cNvSpPr txBox="1"/>
                <p:nvPr/>
              </p:nvSpPr>
              <p:spPr>
                <a:xfrm>
                  <a:off x="1145065" y="1478651"/>
                  <a:ext cx="582122" cy="402692"/>
                </a:xfrm>
                <a:prstGeom prst="rect">
                  <a:avLst/>
                </a:prstGeom>
                <a:noFill/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T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en-US" altLang="ko-KR" sz="900">
                    <a:cs typeface="Arial" pitchFamily="34" charset="0"/>
                  </a:endParaRPr>
                </a:p>
                <a:p>
                  <a:pPr algn="ctr">
                    <a:lnSpc>
                      <a:spcPct val="90000"/>
                    </a:lnSpc>
                  </a:pPr>
                  <a:r>
                    <a:rPr lang="ko-KR" altLang="en-US" sz="900">
                      <a:cs typeface="Arial" pitchFamily="34" charset="0"/>
                    </a:rPr>
                    <a:t>일자변경</a:t>
                  </a:r>
                </a:p>
                <a:p>
                  <a:pPr algn="ctr">
                    <a:lnSpc>
                      <a:spcPct val="90000"/>
                    </a:lnSpc>
                  </a:pP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D034A07-897D-4CD2-B521-FEA66502761E}"/>
                    </a:ext>
                  </a:extLst>
                </p:cNvPr>
                <p:cNvSpPr txBox="1"/>
                <p:nvPr/>
              </p:nvSpPr>
              <p:spPr>
                <a:xfrm>
                  <a:off x="1745747" y="1592020"/>
                  <a:ext cx="426798" cy="213219"/>
                </a:xfrm>
                <a:prstGeom prst="rect">
                  <a:avLst/>
                </a:prstGeom>
                <a:noFill/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D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cxnSp>
              <p:nvCxnSpPr>
                <p:cNvPr id="105" name="직선 화살표 연결선 104">
                  <a:extLst>
                    <a:ext uri="{FF2B5EF4-FFF2-40B4-BE49-F238E27FC236}">
                      <a16:creationId xmlns:a16="http://schemas.microsoft.com/office/drawing/2014/main" id="{427AA96F-84A3-4F74-A4D7-48E0BF03BF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7542" y="2399736"/>
                  <a:ext cx="640438" cy="0"/>
                </a:xfrm>
                <a:prstGeom prst="straightConnector1">
                  <a:avLst/>
                </a:prstGeom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화살표 연결선 107">
                  <a:extLst>
                    <a:ext uri="{FF2B5EF4-FFF2-40B4-BE49-F238E27FC236}">
                      <a16:creationId xmlns:a16="http://schemas.microsoft.com/office/drawing/2014/main" id="{6A1D4F1B-17DF-4B93-9B54-2814AB8692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1652" y="2651764"/>
                  <a:ext cx="688083" cy="0"/>
                </a:xfrm>
                <a:prstGeom prst="straightConnector1">
                  <a:avLst/>
                </a:prstGeom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직선 화살표 연결선 114">
                  <a:extLst>
                    <a:ext uri="{FF2B5EF4-FFF2-40B4-BE49-F238E27FC236}">
                      <a16:creationId xmlns:a16="http://schemas.microsoft.com/office/drawing/2014/main" id="{8F424574-34F6-437F-BA21-97FF693619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2926" y="3129681"/>
                  <a:ext cx="726809" cy="0"/>
                </a:xfrm>
                <a:prstGeom prst="straightConnector1">
                  <a:avLst/>
                </a:prstGeom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122" name="왼쪽 대괄호 121">
                  <a:extLst>
                    <a:ext uri="{FF2B5EF4-FFF2-40B4-BE49-F238E27FC236}">
                      <a16:creationId xmlns:a16="http://schemas.microsoft.com/office/drawing/2014/main" id="{A4206F10-8754-4E0C-92B4-85C50FF257EF}"/>
                    </a:ext>
                  </a:extLst>
                </p:cNvPr>
                <p:cNvSpPr/>
                <p:nvPr/>
              </p:nvSpPr>
              <p:spPr>
                <a:xfrm rot="16200000">
                  <a:off x="961547" y="3030453"/>
                  <a:ext cx="132675" cy="713853"/>
                </a:xfrm>
                <a:prstGeom prst="leftBracket">
                  <a:avLst/>
                </a:prstGeom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3" name="왼쪽 대괄호 122">
                  <a:extLst>
                    <a:ext uri="{FF2B5EF4-FFF2-40B4-BE49-F238E27FC236}">
                      <a16:creationId xmlns:a16="http://schemas.microsoft.com/office/drawing/2014/main" id="{518D3C52-20F4-49B9-84E3-49E1627038FA}"/>
                    </a:ext>
                  </a:extLst>
                </p:cNvPr>
                <p:cNvSpPr/>
                <p:nvPr/>
              </p:nvSpPr>
              <p:spPr>
                <a:xfrm rot="16200000">
                  <a:off x="1765981" y="3019225"/>
                  <a:ext cx="136391" cy="732592"/>
                </a:xfrm>
                <a:prstGeom prst="leftBracket">
                  <a:avLst/>
                </a:prstGeom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99CB9E7-6A32-4BCA-AEE5-0E42DC4B3ED5}"/>
                    </a:ext>
                  </a:extLst>
                </p:cNvPr>
                <p:cNvSpPr txBox="1"/>
                <p:nvPr/>
              </p:nvSpPr>
              <p:spPr>
                <a:xfrm>
                  <a:off x="843024" y="3284150"/>
                  <a:ext cx="426798" cy="213219"/>
                </a:xfrm>
                <a:prstGeom prst="rect">
                  <a:avLst/>
                </a:prstGeom>
                <a:noFill/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01</a:t>
                  </a:r>
                  <a:r>
                    <a:rPr lang="ko-KR" altLang="en-US" sz="900">
                      <a:cs typeface="Arial" pitchFamily="34" charset="0"/>
                    </a:rPr>
                    <a:t>일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2721C218-EED7-4817-A1BD-FF84EC2DDB81}"/>
                    </a:ext>
                  </a:extLst>
                </p:cNvPr>
                <p:cNvSpPr txBox="1"/>
                <p:nvPr/>
              </p:nvSpPr>
              <p:spPr>
                <a:xfrm>
                  <a:off x="1654425" y="3284150"/>
                  <a:ext cx="426798" cy="213219"/>
                </a:xfrm>
                <a:prstGeom prst="rect">
                  <a:avLst/>
                </a:prstGeom>
                <a:noFill/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02</a:t>
                  </a:r>
                  <a:r>
                    <a:rPr lang="ko-KR" altLang="en-US" sz="900">
                      <a:cs typeface="Arial" pitchFamily="34" charset="0"/>
                    </a:rPr>
                    <a:t>일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</p:grpSp>
          <p:sp>
            <p:nvSpPr>
              <p:cNvPr id="235" name="Rectangle 29">
                <a:extLst>
                  <a:ext uri="{FF2B5EF4-FFF2-40B4-BE49-F238E27FC236}">
                    <a16:creationId xmlns:a16="http://schemas.microsoft.com/office/drawing/2014/main" id="{E5D2606C-6240-4E94-B7E2-A3BE1E0697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2477" y="2560061"/>
                <a:ext cx="170885" cy="29705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algn="ctr" eaLnBrk="0" hangingPunct="0">
                  <a:spcBef>
                    <a:spcPts val="600"/>
                  </a:spcBef>
                  <a:buSzPct val="100000"/>
                </a:pPr>
                <a:r>
                  <a:rPr lang="ko-KR" altLang="en-US" sz="700" kern="0">
                    <a:solidFill>
                      <a:srgbClr val="000000"/>
                    </a:solidFill>
                    <a:latin typeface="+mn-ea"/>
                  </a:rPr>
                  <a:t>요청</a:t>
                </a:r>
                <a:endParaRPr lang="ko-KR" altLang="en-US" sz="9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243" name="화살표: U자형 242">
                <a:extLst>
                  <a:ext uri="{FF2B5EF4-FFF2-40B4-BE49-F238E27FC236}">
                    <a16:creationId xmlns:a16="http://schemas.microsoft.com/office/drawing/2014/main" id="{1468AAE9-61F5-4F32-8A64-C0E3EFBBC477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41362" y="2122419"/>
                <a:ext cx="252000" cy="1368000"/>
              </a:xfrm>
              <a:prstGeom prst="uturnArrow">
                <a:avLst>
                  <a:gd name="adj1" fmla="val 25000"/>
                  <a:gd name="adj2" fmla="val 25000"/>
                  <a:gd name="adj3" fmla="val 29899"/>
                  <a:gd name="adj4" fmla="val 43750"/>
                  <a:gd name="adj5" fmla="val 75000"/>
                </a:avLst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77C5C8D8-BAF7-4512-8A7D-9B9A49BAC433}"/>
                  </a:ext>
                </a:extLst>
              </p:cNvPr>
              <p:cNvSpPr/>
              <p:nvPr/>
            </p:nvSpPr>
            <p:spPr>
              <a:xfrm>
                <a:off x="1109735" y="2857118"/>
                <a:ext cx="515330" cy="267757"/>
              </a:xfrm>
              <a:prstGeom prst="rect">
                <a:avLst/>
              </a:prstGeom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90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9247FAB0-BD5B-4EC8-9947-84C7CF1F147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63861" y="2857118"/>
                <a:ext cx="161205" cy="2677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algn="ctr" eaLnBrk="0" hangingPunct="0">
                  <a:spcBef>
                    <a:spcPts val="600"/>
                  </a:spcBef>
                  <a:buSzPct val="100000"/>
                </a:pPr>
                <a:r>
                  <a:rPr lang="ko-KR" altLang="en-US" sz="700" kern="0">
                    <a:solidFill>
                      <a:srgbClr val="000000"/>
                    </a:solidFill>
                    <a:latin typeface="+mn-ea"/>
                  </a:rPr>
                  <a:t>응답</a:t>
                </a:r>
                <a:endParaRPr lang="ko-KR" altLang="en-US" sz="9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1FB06343-FE21-47A0-AF2A-B387407A46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9735" y="2560060"/>
                <a:ext cx="0" cy="575709"/>
              </a:xfrm>
              <a:prstGeom prst="line">
                <a:avLst/>
              </a:prstGeom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67" name="화살표: U자형 266">
                <a:extLst>
                  <a:ext uri="{FF2B5EF4-FFF2-40B4-BE49-F238E27FC236}">
                    <a16:creationId xmlns:a16="http://schemas.microsoft.com/office/drawing/2014/main" id="{B3BB2A21-2AC9-4A39-B450-18E6E8F8E7D2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796466" y="1544676"/>
                <a:ext cx="252000" cy="1457285"/>
              </a:xfrm>
              <a:prstGeom prst="uturnArrow">
                <a:avLst>
                  <a:gd name="adj1" fmla="val 25000"/>
                  <a:gd name="adj2" fmla="val 25000"/>
                  <a:gd name="adj3" fmla="val 29900"/>
                  <a:gd name="adj4" fmla="val 43750"/>
                  <a:gd name="adj5" fmla="val 100000"/>
                </a:avLst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321" name="양쪽 모서리가 둥근 사각형 33">
              <a:extLst>
                <a:ext uri="{FF2B5EF4-FFF2-40B4-BE49-F238E27FC236}">
                  <a16:creationId xmlns:a16="http://schemas.microsoft.com/office/drawing/2014/main" id="{AA3C9937-6CE5-4578-B44D-64DE941E7184}"/>
                </a:ext>
              </a:extLst>
            </p:cNvPr>
            <p:cNvSpPr/>
            <p:nvPr/>
          </p:nvSpPr>
          <p:spPr>
            <a:xfrm>
              <a:off x="375134" y="2604644"/>
              <a:ext cx="2790030" cy="324036"/>
            </a:xfrm>
            <a:prstGeom prst="round2SameRect">
              <a:avLst/>
            </a:prstGeom>
            <a:solidFill>
              <a:schemeClr val="bg1"/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EAI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 동기 거래</a:t>
              </a:r>
              <a:endParaRPr lang="ko-KR" altLang="en-US" sz="11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324" name="양쪽 모서리가 둥근 사각형 33">
            <a:extLst>
              <a:ext uri="{FF2B5EF4-FFF2-40B4-BE49-F238E27FC236}">
                <a16:creationId xmlns:a16="http://schemas.microsoft.com/office/drawing/2014/main" id="{F6027257-EA31-422B-BF3A-7045DC1F1366}"/>
              </a:ext>
            </a:extLst>
          </p:cNvPr>
          <p:cNvSpPr/>
          <p:nvPr/>
        </p:nvSpPr>
        <p:spPr>
          <a:xfrm>
            <a:off x="3389616" y="1124744"/>
            <a:ext cx="2790030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100" b="1">
                <a:solidFill>
                  <a:schemeClr val="tx1"/>
                </a:solidFill>
                <a:cs typeface="Arial" pitchFamily="34" charset="0"/>
              </a:rPr>
              <a:t>EAI</a:t>
            </a: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 비동기 거래</a:t>
            </a:r>
            <a:r>
              <a:rPr lang="en-US" altLang="ko-KR" sz="1100" b="1">
                <a:solidFill>
                  <a:schemeClr val="tx1"/>
                </a:solidFill>
                <a:cs typeface="Arial" pitchFamily="34" charset="0"/>
              </a:rPr>
              <a:t>(SAF or IR)</a:t>
            </a:r>
            <a:endParaRPr lang="ko-KR" altLang="en-US" sz="1100" b="1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4AC568DA-7434-45C3-A9C7-9D7E398ECB9D}"/>
              </a:ext>
            </a:extLst>
          </p:cNvPr>
          <p:cNvGrpSpPr/>
          <p:nvPr/>
        </p:nvGrpSpPr>
        <p:grpSpPr>
          <a:xfrm>
            <a:off x="342982" y="3708775"/>
            <a:ext cx="2791041" cy="2301440"/>
            <a:chOff x="342982" y="3708775"/>
            <a:chExt cx="2791041" cy="2301440"/>
          </a:xfrm>
        </p:grpSpPr>
        <p:grpSp>
          <p:nvGrpSpPr>
            <p:cNvPr id="320" name="그룹 319">
              <a:extLst>
                <a:ext uri="{FF2B5EF4-FFF2-40B4-BE49-F238E27FC236}">
                  <a16:creationId xmlns:a16="http://schemas.microsoft.com/office/drawing/2014/main" id="{4BE36282-5A39-4D6C-8394-CF98A889499D}"/>
                </a:ext>
              </a:extLst>
            </p:cNvPr>
            <p:cNvGrpSpPr/>
            <p:nvPr/>
          </p:nvGrpSpPr>
          <p:grpSpPr>
            <a:xfrm>
              <a:off x="344746" y="4032810"/>
              <a:ext cx="2789277" cy="1977405"/>
              <a:chOff x="246357" y="3207419"/>
              <a:chExt cx="2767238" cy="1894678"/>
            </a:xfrm>
          </p:grpSpPr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20CA35C1-E317-40ED-817C-04C00EF2B9DE}"/>
                  </a:ext>
                </a:extLst>
              </p:cNvPr>
              <p:cNvGrpSpPr/>
              <p:nvPr/>
            </p:nvGrpSpPr>
            <p:grpSpPr>
              <a:xfrm>
                <a:off x="246357" y="3207419"/>
                <a:ext cx="2767238" cy="1894678"/>
                <a:chOff x="298167" y="3956521"/>
                <a:chExt cx="2671134" cy="2428512"/>
              </a:xfrm>
            </p:grpSpPr>
            <p:sp>
              <p:nvSpPr>
                <p:cNvPr id="270" name="Rectangle 29">
                  <a:extLst>
                    <a:ext uri="{FF2B5EF4-FFF2-40B4-BE49-F238E27FC236}">
                      <a16:creationId xmlns:a16="http://schemas.microsoft.com/office/drawing/2014/main" id="{57F5FA5F-0AAF-4D0A-AF25-C594FBD7A6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98167" y="3956521"/>
                  <a:ext cx="2671134" cy="242851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endParaRPr kumimoji="0" lang="ko-KR" altLang="en-US" sz="11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71" name="Rectangle 29">
                  <a:extLst>
                    <a:ext uri="{FF2B5EF4-FFF2-40B4-BE49-F238E27FC236}">
                      <a16:creationId xmlns:a16="http://schemas.microsoft.com/office/drawing/2014/main" id="{A1BB4401-E204-42A8-9738-232DC3876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51659" y="4057920"/>
                  <a:ext cx="1528123" cy="1916071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endParaRPr kumimoji="0" lang="ko-KR" altLang="en-US" sz="11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72" name="Rectangle 29">
                  <a:extLst>
                    <a:ext uri="{FF2B5EF4-FFF2-40B4-BE49-F238E27FC236}">
                      <a16:creationId xmlns:a16="http://schemas.microsoft.com/office/drawing/2014/main" id="{B7DA714C-CA53-4368-B87F-13F915CD0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441487" y="4041569"/>
                  <a:ext cx="378000" cy="13269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r>
                    <a:rPr lang="en-US" altLang="ko-KR" sz="1000" kern="0">
                      <a:solidFill>
                        <a:srgbClr val="000000"/>
                      </a:solidFill>
                      <a:latin typeface="+mn-ea"/>
                    </a:rPr>
                    <a:t>EAI</a:t>
                  </a:r>
                  <a:endParaRPr kumimoji="0" lang="ko-KR" altLang="en-US" sz="10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cxnSp>
              <p:nvCxnSpPr>
                <p:cNvPr id="273" name="직선 연결선 272">
                  <a:extLst>
                    <a:ext uri="{FF2B5EF4-FFF2-40B4-BE49-F238E27FC236}">
                      <a16:creationId xmlns:a16="http://schemas.microsoft.com/office/drawing/2014/main" id="{AA90DAE9-59AB-4469-8905-BAC9078C37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1659" y="4497827"/>
                  <a:ext cx="1528123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직선 연결선 273">
                  <a:extLst>
                    <a:ext uri="{FF2B5EF4-FFF2-40B4-BE49-F238E27FC236}">
                      <a16:creationId xmlns:a16="http://schemas.microsoft.com/office/drawing/2014/main" id="{D1A528C9-DCD7-45DB-9AC1-9199877BDF13}"/>
                    </a:ext>
                  </a:extLst>
                </p:cNvPr>
                <p:cNvCxnSpPr>
                  <a:cxnSpLocks/>
                  <a:stCxn id="272" idx="2"/>
                </p:cNvCxnSpPr>
                <p:nvPr/>
              </p:nvCxnSpPr>
              <p:spPr>
                <a:xfrm>
                  <a:off x="2630487" y="4174261"/>
                  <a:ext cx="0" cy="1989615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75" name="Rectangle 29">
                  <a:extLst>
                    <a:ext uri="{FF2B5EF4-FFF2-40B4-BE49-F238E27FC236}">
                      <a16:creationId xmlns:a16="http://schemas.microsoft.com/office/drawing/2014/main" id="{8F886FB6-ABE9-40D8-BC69-63501786C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51658" y="4029775"/>
                  <a:ext cx="1528123" cy="13269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r>
                    <a:rPr lang="en-US" altLang="ko-KR" sz="1000" kern="0">
                      <a:solidFill>
                        <a:srgbClr val="000000"/>
                      </a:solidFill>
                      <a:latin typeface="+mn-ea"/>
                    </a:rPr>
                    <a:t>FW</a:t>
                  </a:r>
                  <a:endParaRPr kumimoji="0" lang="ko-KR" altLang="en-US" sz="10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cxnSp>
              <p:nvCxnSpPr>
                <p:cNvPr id="276" name="직선 연결선 275">
                  <a:extLst>
                    <a:ext uri="{FF2B5EF4-FFF2-40B4-BE49-F238E27FC236}">
                      <a16:creationId xmlns:a16="http://schemas.microsoft.com/office/drawing/2014/main" id="{410418F3-D37D-4A3D-8CF8-D44529A333FA}"/>
                    </a:ext>
                  </a:extLst>
                </p:cNvPr>
                <p:cNvCxnSpPr/>
                <p:nvPr/>
              </p:nvCxnSpPr>
              <p:spPr>
                <a:xfrm>
                  <a:off x="866291" y="4497827"/>
                  <a:ext cx="0" cy="1476164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직선 연결선 276">
                  <a:extLst>
                    <a:ext uri="{FF2B5EF4-FFF2-40B4-BE49-F238E27FC236}">
                      <a16:creationId xmlns:a16="http://schemas.microsoft.com/office/drawing/2014/main" id="{2111288A-114A-457D-988F-442C6780FA03}"/>
                    </a:ext>
                  </a:extLst>
                </p:cNvPr>
                <p:cNvCxnSpPr/>
                <p:nvPr/>
              </p:nvCxnSpPr>
              <p:spPr>
                <a:xfrm>
                  <a:off x="1406351" y="4497827"/>
                  <a:ext cx="0" cy="1476164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직선 연결선 277">
                  <a:extLst>
                    <a:ext uri="{FF2B5EF4-FFF2-40B4-BE49-F238E27FC236}">
                      <a16:creationId xmlns:a16="http://schemas.microsoft.com/office/drawing/2014/main" id="{0F518BBF-0D8F-4CA7-9335-B76CC09A5783}"/>
                    </a:ext>
                  </a:extLst>
                </p:cNvPr>
                <p:cNvCxnSpPr/>
                <p:nvPr/>
              </p:nvCxnSpPr>
              <p:spPr>
                <a:xfrm>
                  <a:off x="1946411" y="4497827"/>
                  <a:ext cx="0" cy="1476164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0ADD24D2-4DF1-400D-9176-8B4C698FE8EB}"/>
                    </a:ext>
                  </a:extLst>
                </p:cNvPr>
                <p:cNvSpPr txBox="1"/>
                <p:nvPr/>
              </p:nvSpPr>
              <p:spPr>
                <a:xfrm>
                  <a:off x="669933" y="4298128"/>
                  <a:ext cx="426798" cy="179381"/>
                </a:xfrm>
                <a:prstGeom prst="rect">
                  <a:avLst/>
                </a:prstGeom>
                <a:solidFill>
                  <a:schemeClr val="bg1"/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P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80" name="Rectangle 29">
                  <a:extLst>
                    <a:ext uri="{FF2B5EF4-FFF2-40B4-BE49-F238E27FC236}">
                      <a16:creationId xmlns:a16="http://schemas.microsoft.com/office/drawing/2014/main" id="{935C1CA6-3A8A-4936-B2EE-C9E785B7D3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97289" y="4578909"/>
                  <a:ext cx="221355" cy="6768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algn="ctr" eaLnBrk="0" hangingPunct="0">
                    <a:spcBef>
                      <a:spcPts val="600"/>
                    </a:spcBef>
                    <a:buSzPct val="100000"/>
                  </a:pPr>
                  <a:r>
                    <a:rPr lang="ko-KR" altLang="en-US" sz="900" kern="0">
                      <a:solidFill>
                        <a:srgbClr val="000000"/>
                      </a:solidFill>
                      <a:latin typeface="+mn-ea"/>
                    </a:rPr>
                    <a:t>요청</a:t>
                  </a:r>
                  <a:endParaRPr lang="ko-KR" altLang="en-US" sz="900" kern="0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cxnSp>
              <p:nvCxnSpPr>
                <p:cNvPr id="281" name="직선 화살표 연결선 280">
                  <a:extLst>
                    <a:ext uri="{FF2B5EF4-FFF2-40B4-BE49-F238E27FC236}">
                      <a16:creationId xmlns:a16="http://schemas.microsoft.com/office/drawing/2014/main" id="{C1FE7019-6930-4C12-84C3-298049C32529}"/>
                    </a:ext>
                  </a:extLst>
                </p:cNvPr>
                <p:cNvCxnSpPr/>
                <p:nvPr/>
              </p:nvCxnSpPr>
              <p:spPr>
                <a:xfrm>
                  <a:off x="398239" y="4655868"/>
                  <a:ext cx="599050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5A088C07-91DE-44D0-9544-09BA130DDA5E}"/>
                    </a:ext>
                  </a:extLst>
                </p:cNvPr>
                <p:cNvSpPr txBox="1"/>
                <p:nvPr/>
              </p:nvSpPr>
              <p:spPr>
                <a:xfrm>
                  <a:off x="1124374" y="4188810"/>
                  <a:ext cx="582122" cy="288700"/>
                </a:xfrm>
                <a:prstGeom prst="rect">
                  <a:avLst/>
                </a:prstGeom>
                <a:solidFill>
                  <a:schemeClr val="bg1"/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T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en-US" altLang="ko-KR" sz="900">
                    <a:cs typeface="Arial" pitchFamily="34" charset="0"/>
                  </a:endParaRPr>
                </a:p>
                <a:p>
                  <a:pPr algn="ctr">
                    <a:lnSpc>
                      <a:spcPct val="90000"/>
                    </a:lnSpc>
                  </a:pPr>
                  <a:r>
                    <a:rPr lang="ko-KR" altLang="en-US" sz="900">
                      <a:cs typeface="Arial" pitchFamily="34" charset="0"/>
                    </a:rPr>
                    <a:t>일자변경</a:t>
                  </a:r>
                </a:p>
                <a:p>
                  <a:pPr algn="ctr">
                    <a:lnSpc>
                      <a:spcPct val="90000"/>
                    </a:lnSpc>
                  </a:pP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C62DEB2C-A786-4DD3-9732-DD7597F8F7FC}"/>
                    </a:ext>
                  </a:extLst>
                </p:cNvPr>
                <p:cNvSpPr txBox="1"/>
                <p:nvPr/>
              </p:nvSpPr>
              <p:spPr>
                <a:xfrm>
                  <a:off x="1725056" y="4302180"/>
                  <a:ext cx="426798" cy="175330"/>
                </a:xfrm>
                <a:prstGeom prst="rect">
                  <a:avLst/>
                </a:prstGeom>
                <a:solidFill>
                  <a:schemeClr val="bg1"/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D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cxnSp>
              <p:nvCxnSpPr>
                <p:cNvPr id="284" name="직선 화살표 연결선 283">
                  <a:extLst>
                    <a:ext uri="{FF2B5EF4-FFF2-40B4-BE49-F238E27FC236}">
                      <a16:creationId xmlns:a16="http://schemas.microsoft.com/office/drawing/2014/main" id="{170612B8-DB5B-4944-9F9F-6FA2C98EE4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3342" y="4883650"/>
                  <a:ext cx="1381356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직선 화살표 연결선 284">
                  <a:extLst>
                    <a:ext uri="{FF2B5EF4-FFF2-40B4-BE49-F238E27FC236}">
                      <a16:creationId xmlns:a16="http://schemas.microsoft.com/office/drawing/2014/main" id="{F9C7F94B-7BED-4796-A042-6CDEA0FFB0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33734" y="5438333"/>
                  <a:ext cx="980964" cy="5212"/>
                </a:xfrm>
                <a:prstGeom prst="straightConnector1">
                  <a:avLst/>
                </a:prstGeom>
                <a:solidFill>
                  <a:schemeClr val="bg1"/>
                </a:solidFill>
                <a:ln w="34925" cap="flat" cmpd="sng" algn="ctr">
                  <a:solidFill>
                    <a:srgbClr val="FF0000"/>
                  </a:solidFill>
                  <a:prstDash val="sysDash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87" name="왼쪽 대괄호 286">
                  <a:extLst>
                    <a:ext uri="{FF2B5EF4-FFF2-40B4-BE49-F238E27FC236}">
                      <a16:creationId xmlns:a16="http://schemas.microsoft.com/office/drawing/2014/main" id="{98F76F45-1150-47C7-BF06-CBFC6908CDEA}"/>
                    </a:ext>
                  </a:extLst>
                </p:cNvPr>
                <p:cNvSpPr/>
                <p:nvPr/>
              </p:nvSpPr>
              <p:spPr>
                <a:xfrm rot="16200000">
                  <a:off x="940856" y="5740612"/>
                  <a:ext cx="132675" cy="713853"/>
                </a:xfrm>
                <a:prstGeom prst="leftBracke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8" name="왼쪽 대괄호 287">
                  <a:extLst>
                    <a:ext uri="{FF2B5EF4-FFF2-40B4-BE49-F238E27FC236}">
                      <a16:creationId xmlns:a16="http://schemas.microsoft.com/office/drawing/2014/main" id="{E9DC566A-819A-481E-8AE4-727C9982EA4B}"/>
                    </a:ext>
                  </a:extLst>
                </p:cNvPr>
                <p:cNvSpPr/>
                <p:nvPr/>
              </p:nvSpPr>
              <p:spPr>
                <a:xfrm rot="16200000">
                  <a:off x="1745290" y="5729384"/>
                  <a:ext cx="136391" cy="732592"/>
                </a:xfrm>
                <a:prstGeom prst="leftBracke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1D7F86D7-48FA-4D8C-AD59-1BEAEAE2CE38}"/>
                    </a:ext>
                  </a:extLst>
                </p:cNvPr>
                <p:cNvSpPr txBox="1"/>
                <p:nvPr/>
              </p:nvSpPr>
              <p:spPr>
                <a:xfrm>
                  <a:off x="822333" y="5994310"/>
                  <a:ext cx="426798" cy="14172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01</a:t>
                  </a:r>
                  <a:r>
                    <a:rPr lang="ko-KR" altLang="en-US" sz="900">
                      <a:cs typeface="Arial" pitchFamily="34" charset="0"/>
                    </a:rPr>
                    <a:t>일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836163B6-9D94-48D2-847E-E0135CDCA465}"/>
                    </a:ext>
                  </a:extLst>
                </p:cNvPr>
                <p:cNvSpPr txBox="1"/>
                <p:nvPr/>
              </p:nvSpPr>
              <p:spPr>
                <a:xfrm>
                  <a:off x="1633734" y="5994310"/>
                  <a:ext cx="426798" cy="13226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02</a:t>
                  </a:r>
                  <a:r>
                    <a:rPr lang="ko-KR" altLang="en-US" sz="900">
                      <a:cs typeface="Arial" pitchFamily="34" charset="0"/>
                    </a:rPr>
                    <a:t>일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91" name="Rectangle 29">
                  <a:extLst>
                    <a:ext uri="{FF2B5EF4-FFF2-40B4-BE49-F238E27FC236}">
                      <a16:creationId xmlns:a16="http://schemas.microsoft.com/office/drawing/2014/main" id="{1C8F631C-A7AB-483D-A7A8-7967914F0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443835" y="5322069"/>
                  <a:ext cx="184816" cy="61107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algn="ctr" eaLnBrk="0" hangingPunct="0">
                    <a:spcBef>
                      <a:spcPts val="600"/>
                    </a:spcBef>
                    <a:buSzPct val="100000"/>
                  </a:pPr>
                  <a:r>
                    <a:rPr lang="ko-KR" altLang="en-US" sz="900" kern="0">
                      <a:solidFill>
                        <a:srgbClr val="000000"/>
                      </a:solidFill>
                      <a:latin typeface="+mn-ea"/>
                    </a:rPr>
                    <a:t>응답</a:t>
                  </a:r>
                  <a:endParaRPr lang="ko-KR" altLang="en-US" sz="900" kern="0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</p:grpSp>
          <p:cxnSp>
            <p:nvCxnSpPr>
              <p:cNvPr id="292" name="직선 화살표 연결선 291">
                <a:extLst>
                  <a:ext uri="{FF2B5EF4-FFF2-40B4-BE49-F238E27FC236}">
                    <a16:creationId xmlns:a16="http://schemas.microsoft.com/office/drawing/2014/main" id="{53C5BA50-0B2B-44E2-AAE2-C963666D4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5178" y="4038758"/>
                <a:ext cx="1431055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93" name="직선 화살표 연결선 292">
                <a:extLst>
                  <a:ext uri="{FF2B5EF4-FFF2-40B4-BE49-F238E27FC236}">
                    <a16:creationId xmlns:a16="http://schemas.microsoft.com/office/drawing/2014/main" id="{6F0E6107-4210-434E-8932-A27F71032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5178" y="4146770"/>
                <a:ext cx="1431055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96" name="직선 화살표 연결선 295">
                <a:extLst>
                  <a:ext uri="{FF2B5EF4-FFF2-40B4-BE49-F238E27FC236}">
                    <a16:creationId xmlns:a16="http://schemas.microsoft.com/office/drawing/2014/main" id="{E7FB105C-7E49-4FFF-9F3E-A19B7DDD6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842" y="4473301"/>
                <a:ext cx="1016258" cy="3696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97" name="직선 화살표 연결선 296">
                <a:extLst>
                  <a:ext uri="{FF2B5EF4-FFF2-40B4-BE49-F238E27FC236}">
                    <a16:creationId xmlns:a16="http://schemas.microsoft.com/office/drawing/2014/main" id="{29BD708D-5AAC-4645-8E43-EFAAC4C35E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2486" y="4590941"/>
                <a:ext cx="1016258" cy="3696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325" name="양쪽 모서리가 둥근 사각형 33">
              <a:extLst>
                <a:ext uri="{FF2B5EF4-FFF2-40B4-BE49-F238E27FC236}">
                  <a16:creationId xmlns:a16="http://schemas.microsoft.com/office/drawing/2014/main" id="{16C790CA-0BA2-4203-AACE-FA52CA6DF154}"/>
                </a:ext>
              </a:extLst>
            </p:cNvPr>
            <p:cNvSpPr/>
            <p:nvPr/>
          </p:nvSpPr>
          <p:spPr>
            <a:xfrm>
              <a:off x="342982" y="3708775"/>
              <a:ext cx="2790030" cy="324036"/>
            </a:xfrm>
            <a:prstGeom prst="round2SameRect">
              <a:avLst/>
            </a:prstGeom>
            <a:solidFill>
              <a:schemeClr val="bg1"/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EAI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 비동기 </a:t>
              </a: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(SAF)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거래</a:t>
              </a:r>
              <a:endParaRPr lang="ko-KR" altLang="en-US" sz="11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FA272BD6-3A89-4E6B-8191-D3AB69A864F1}"/>
              </a:ext>
            </a:extLst>
          </p:cNvPr>
          <p:cNvGrpSpPr/>
          <p:nvPr/>
        </p:nvGrpSpPr>
        <p:grpSpPr>
          <a:xfrm>
            <a:off x="3389616" y="3712534"/>
            <a:ext cx="2795911" cy="2297683"/>
            <a:chOff x="3389616" y="3712534"/>
            <a:chExt cx="2795911" cy="2297683"/>
          </a:xfrm>
        </p:grpSpPr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1A59B42D-57F8-4CED-8611-633C4FF7EF57}"/>
                </a:ext>
              </a:extLst>
            </p:cNvPr>
            <p:cNvGrpSpPr/>
            <p:nvPr/>
          </p:nvGrpSpPr>
          <p:grpSpPr>
            <a:xfrm>
              <a:off x="3398989" y="4032811"/>
              <a:ext cx="2786538" cy="1977406"/>
              <a:chOff x="298167" y="3956521"/>
              <a:chExt cx="2671134" cy="2428512"/>
            </a:xfrm>
          </p:grpSpPr>
          <p:sp>
            <p:nvSpPr>
              <p:cNvPr id="299" name="Rectangle 29">
                <a:extLst>
                  <a:ext uri="{FF2B5EF4-FFF2-40B4-BE49-F238E27FC236}">
                    <a16:creationId xmlns:a16="http://schemas.microsoft.com/office/drawing/2014/main" id="{90335A5E-B16C-4F1F-8696-3D1065A6017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98167" y="3956521"/>
                <a:ext cx="2671134" cy="24285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endParaRPr kumimoji="0" lang="ko-KR" altLang="en-US" sz="11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0" name="Rectangle 29">
                <a:extLst>
                  <a:ext uri="{FF2B5EF4-FFF2-40B4-BE49-F238E27FC236}">
                    <a16:creationId xmlns:a16="http://schemas.microsoft.com/office/drawing/2014/main" id="{1287C5F7-E384-4D3F-BC34-E023C838AC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51659" y="4057920"/>
                <a:ext cx="1528123" cy="1916071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endParaRPr kumimoji="0" lang="ko-KR" altLang="en-US" sz="11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1" name="Rectangle 29">
                <a:extLst>
                  <a:ext uri="{FF2B5EF4-FFF2-40B4-BE49-F238E27FC236}">
                    <a16:creationId xmlns:a16="http://schemas.microsoft.com/office/drawing/2014/main" id="{6B3A9B5F-23C9-4739-B363-C430C5AE89A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41487" y="4041569"/>
                <a:ext cx="378000" cy="132692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lang="en-US" altLang="ko-KR" sz="1000" kern="0">
                    <a:solidFill>
                      <a:srgbClr val="000000"/>
                    </a:solidFill>
                    <a:latin typeface="+mn-ea"/>
                  </a:rPr>
                  <a:t>EAI</a:t>
                </a:r>
                <a:endParaRPr kumimoji="0" lang="ko-KR" altLang="en-US" sz="10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9F2534FC-9EE5-4AED-A81F-EF00ED624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659" y="4497827"/>
                <a:ext cx="152812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CF312C21-CA3D-49FE-B5AA-8FD65CD9AEB1}"/>
                  </a:ext>
                </a:extLst>
              </p:cNvPr>
              <p:cNvCxnSpPr>
                <a:cxnSpLocks/>
                <a:stCxn id="301" idx="2"/>
              </p:cNvCxnSpPr>
              <p:nvPr/>
            </p:nvCxnSpPr>
            <p:spPr>
              <a:xfrm>
                <a:off x="2630487" y="4174261"/>
                <a:ext cx="0" cy="1989615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04" name="Rectangle 29">
                <a:extLst>
                  <a:ext uri="{FF2B5EF4-FFF2-40B4-BE49-F238E27FC236}">
                    <a16:creationId xmlns:a16="http://schemas.microsoft.com/office/drawing/2014/main" id="{41E6F1BB-7F4C-4F9C-A535-FC0E6C2C05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51658" y="4029775"/>
                <a:ext cx="1528123" cy="132692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lang="en-US" altLang="ko-KR" sz="1000" kern="0">
                    <a:solidFill>
                      <a:srgbClr val="000000"/>
                    </a:solidFill>
                    <a:latin typeface="+mn-ea"/>
                  </a:rPr>
                  <a:t>FW</a:t>
                </a:r>
                <a:endParaRPr kumimoji="0" lang="ko-KR" altLang="en-US" sz="10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cxnSp>
            <p:nvCxnSpPr>
              <p:cNvPr id="305" name="직선 연결선 304">
                <a:extLst>
                  <a:ext uri="{FF2B5EF4-FFF2-40B4-BE49-F238E27FC236}">
                    <a16:creationId xmlns:a16="http://schemas.microsoft.com/office/drawing/2014/main" id="{D1C889E0-5A80-4245-8541-AA47FDC033D9}"/>
                  </a:ext>
                </a:extLst>
              </p:cNvPr>
              <p:cNvCxnSpPr/>
              <p:nvPr/>
            </p:nvCxnSpPr>
            <p:spPr>
              <a:xfrm>
                <a:off x="866291" y="4497827"/>
                <a:ext cx="0" cy="147616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>
                <a:extLst>
                  <a:ext uri="{FF2B5EF4-FFF2-40B4-BE49-F238E27FC236}">
                    <a16:creationId xmlns:a16="http://schemas.microsoft.com/office/drawing/2014/main" id="{6103A750-F888-4878-8916-EEC06ECED70F}"/>
                  </a:ext>
                </a:extLst>
              </p:cNvPr>
              <p:cNvCxnSpPr/>
              <p:nvPr/>
            </p:nvCxnSpPr>
            <p:spPr>
              <a:xfrm>
                <a:off x="1406351" y="4497827"/>
                <a:ext cx="0" cy="147616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7" name="직선 연결선 306">
                <a:extLst>
                  <a:ext uri="{FF2B5EF4-FFF2-40B4-BE49-F238E27FC236}">
                    <a16:creationId xmlns:a16="http://schemas.microsoft.com/office/drawing/2014/main" id="{ADE6C71E-BBAF-4470-85D5-C812EE8CCD08}"/>
                  </a:ext>
                </a:extLst>
              </p:cNvPr>
              <p:cNvCxnSpPr/>
              <p:nvPr/>
            </p:nvCxnSpPr>
            <p:spPr>
              <a:xfrm>
                <a:off x="1946411" y="4497827"/>
                <a:ext cx="0" cy="147616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EC1F1F85-51F0-41D3-9805-CF6AF95788C4}"/>
                  </a:ext>
                </a:extLst>
              </p:cNvPr>
              <p:cNvSpPr txBox="1"/>
              <p:nvPr/>
            </p:nvSpPr>
            <p:spPr>
              <a:xfrm>
                <a:off x="669933" y="4298128"/>
                <a:ext cx="426798" cy="179381"/>
              </a:xfrm>
              <a:prstGeom prst="rect">
                <a:avLst/>
              </a:prstGeom>
              <a:solidFill>
                <a:schemeClr val="bg1"/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P</a:t>
                </a:r>
                <a:r>
                  <a:rPr lang="ko-KR" altLang="en-US" sz="900">
                    <a:cs typeface="Arial" pitchFamily="34" charset="0"/>
                  </a:rPr>
                  <a:t>모드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09" name="Rectangle 29">
                <a:extLst>
                  <a:ext uri="{FF2B5EF4-FFF2-40B4-BE49-F238E27FC236}">
                    <a16:creationId xmlns:a16="http://schemas.microsoft.com/office/drawing/2014/main" id="{62A9FEB2-4F76-4207-A831-B13BB525D41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97289" y="4578909"/>
                <a:ext cx="221355" cy="67688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algn="ctr" eaLnBrk="0" hangingPunct="0">
                  <a:spcBef>
                    <a:spcPts val="600"/>
                  </a:spcBef>
                  <a:buSzPct val="100000"/>
                </a:pPr>
                <a:r>
                  <a:rPr lang="ko-KR" altLang="en-US" sz="900" kern="0">
                    <a:solidFill>
                      <a:srgbClr val="000000"/>
                    </a:solidFill>
                    <a:latin typeface="+mn-ea"/>
                  </a:rPr>
                  <a:t>요청</a:t>
                </a:r>
                <a:endParaRPr lang="ko-KR" altLang="en-US" sz="9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cxnSp>
            <p:nvCxnSpPr>
              <p:cNvPr id="310" name="직선 화살표 연결선 309">
                <a:extLst>
                  <a:ext uri="{FF2B5EF4-FFF2-40B4-BE49-F238E27FC236}">
                    <a16:creationId xmlns:a16="http://schemas.microsoft.com/office/drawing/2014/main" id="{D562D41A-B6AF-4B1F-9470-356A2DB64E30}"/>
                  </a:ext>
                </a:extLst>
              </p:cNvPr>
              <p:cNvCxnSpPr/>
              <p:nvPr/>
            </p:nvCxnSpPr>
            <p:spPr>
              <a:xfrm>
                <a:off x="398239" y="4655868"/>
                <a:ext cx="599050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4D8456D8-0303-43DA-BA0F-0E253C6661D3}"/>
                  </a:ext>
                </a:extLst>
              </p:cNvPr>
              <p:cNvSpPr txBox="1"/>
              <p:nvPr/>
            </p:nvSpPr>
            <p:spPr>
              <a:xfrm>
                <a:off x="1124374" y="4188810"/>
                <a:ext cx="582122" cy="288700"/>
              </a:xfrm>
              <a:prstGeom prst="rect">
                <a:avLst/>
              </a:prstGeom>
              <a:solidFill>
                <a:schemeClr val="bg1"/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T</a:t>
                </a:r>
                <a:r>
                  <a:rPr lang="ko-KR" altLang="en-US" sz="900">
                    <a:cs typeface="Arial" pitchFamily="34" charset="0"/>
                  </a:rPr>
                  <a:t>모드</a:t>
                </a:r>
                <a:endParaRPr lang="en-US" altLang="ko-KR" sz="900">
                  <a:cs typeface="Arial" pitchFamily="34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ko-KR" altLang="en-US" sz="900">
                    <a:cs typeface="Arial" pitchFamily="34" charset="0"/>
                  </a:rPr>
                  <a:t>일자변경</a:t>
                </a:r>
              </a:p>
              <a:p>
                <a:pPr algn="ctr">
                  <a:lnSpc>
                    <a:spcPct val="90000"/>
                  </a:lnSpc>
                </a:pP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6E21A8EC-3935-40B3-BC32-813FA11C109F}"/>
                  </a:ext>
                </a:extLst>
              </p:cNvPr>
              <p:cNvSpPr txBox="1"/>
              <p:nvPr/>
            </p:nvSpPr>
            <p:spPr>
              <a:xfrm>
                <a:off x="1725056" y="4302180"/>
                <a:ext cx="426798" cy="175330"/>
              </a:xfrm>
              <a:prstGeom prst="rect">
                <a:avLst/>
              </a:prstGeom>
              <a:solidFill>
                <a:schemeClr val="bg1"/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D</a:t>
                </a:r>
                <a:r>
                  <a:rPr lang="ko-KR" altLang="en-US" sz="900">
                    <a:cs typeface="Arial" pitchFamily="34" charset="0"/>
                  </a:rPr>
                  <a:t>모드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cxnSp>
            <p:nvCxnSpPr>
              <p:cNvPr id="313" name="직선 화살표 연결선 312">
                <a:extLst>
                  <a:ext uri="{FF2B5EF4-FFF2-40B4-BE49-F238E27FC236}">
                    <a16:creationId xmlns:a16="http://schemas.microsoft.com/office/drawing/2014/main" id="{05CDEB92-569D-4119-9248-8923891E7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342" y="5005226"/>
                <a:ext cx="1381356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4" name="직선 화살표 연결선 313">
                <a:extLst>
                  <a:ext uri="{FF2B5EF4-FFF2-40B4-BE49-F238E27FC236}">
                    <a16:creationId xmlns:a16="http://schemas.microsoft.com/office/drawing/2014/main" id="{F45160F1-19A3-4DC0-B169-058D241A74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2020" y="5806889"/>
                <a:ext cx="980964" cy="5212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15" name="왼쪽 대괄호 314">
                <a:extLst>
                  <a:ext uri="{FF2B5EF4-FFF2-40B4-BE49-F238E27FC236}">
                    <a16:creationId xmlns:a16="http://schemas.microsoft.com/office/drawing/2014/main" id="{24ABEDB6-4560-47C7-AF4B-59F3BC4CFCC3}"/>
                  </a:ext>
                </a:extLst>
              </p:cNvPr>
              <p:cNvSpPr/>
              <p:nvPr/>
            </p:nvSpPr>
            <p:spPr>
              <a:xfrm rot="16200000">
                <a:off x="940856" y="5740612"/>
                <a:ext cx="132675" cy="713853"/>
              </a:xfrm>
              <a:prstGeom prst="leftBracke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" name="왼쪽 대괄호 315">
                <a:extLst>
                  <a:ext uri="{FF2B5EF4-FFF2-40B4-BE49-F238E27FC236}">
                    <a16:creationId xmlns:a16="http://schemas.microsoft.com/office/drawing/2014/main" id="{4D1BB5BB-5FDF-47C7-9DDB-0A3C91706ED8}"/>
                  </a:ext>
                </a:extLst>
              </p:cNvPr>
              <p:cNvSpPr/>
              <p:nvPr/>
            </p:nvSpPr>
            <p:spPr>
              <a:xfrm rot="16200000">
                <a:off x="1745290" y="5729384"/>
                <a:ext cx="136391" cy="732592"/>
              </a:xfrm>
              <a:prstGeom prst="leftBracke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894F8C4-D8EA-4204-9E73-0BE11311417D}"/>
                  </a:ext>
                </a:extLst>
              </p:cNvPr>
              <p:cNvSpPr txBox="1"/>
              <p:nvPr/>
            </p:nvSpPr>
            <p:spPr>
              <a:xfrm>
                <a:off x="822333" y="5994310"/>
                <a:ext cx="426798" cy="1417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01</a:t>
                </a:r>
                <a:r>
                  <a:rPr lang="ko-KR" altLang="en-US" sz="900">
                    <a:cs typeface="Arial" pitchFamily="34" charset="0"/>
                  </a:rPr>
                  <a:t>일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8263F8A3-3DDB-4489-8134-63EDC4CAE07C}"/>
                  </a:ext>
                </a:extLst>
              </p:cNvPr>
              <p:cNvSpPr txBox="1"/>
              <p:nvPr/>
            </p:nvSpPr>
            <p:spPr>
              <a:xfrm>
                <a:off x="1633734" y="5994310"/>
                <a:ext cx="426798" cy="13226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02</a:t>
                </a:r>
                <a:r>
                  <a:rPr lang="ko-KR" altLang="en-US" sz="900">
                    <a:cs typeface="Arial" pitchFamily="34" charset="0"/>
                  </a:rPr>
                  <a:t>일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9" name="Rectangle 29">
                <a:extLst>
                  <a:ext uri="{FF2B5EF4-FFF2-40B4-BE49-F238E27FC236}">
                    <a16:creationId xmlns:a16="http://schemas.microsoft.com/office/drawing/2014/main" id="{026003B5-7BA9-486C-8F6C-A2E5DAC7ABA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43835" y="5322069"/>
                <a:ext cx="184816" cy="6110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algn="ctr" eaLnBrk="0" hangingPunct="0">
                  <a:spcBef>
                    <a:spcPts val="600"/>
                  </a:spcBef>
                  <a:buSzPct val="100000"/>
                </a:pPr>
                <a:r>
                  <a:rPr lang="ko-KR" altLang="en-US" sz="900" kern="0">
                    <a:solidFill>
                      <a:srgbClr val="000000"/>
                    </a:solidFill>
                    <a:latin typeface="+mn-ea"/>
                  </a:rPr>
                  <a:t>응답</a:t>
                </a:r>
                <a:endParaRPr lang="ko-KR" altLang="en-US" sz="9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  <p:sp>
          <p:nvSpPr>
            <p:cNvPr id="326" name="양쪽 모서리가 둥근 사각형 33">
              <a:extLst>
                <a:ext uri="{FF2B5EF4-FFF2-40B4-BE49-F238E27FC236}">
                  <a16:creationId xmlns:a16="http://schemas.microsoft.com/office/drawing/2014/main" id="{D9E1B5B2-7B0A-4A1D-9F36-A4DAAE83A686}"/>
                </a:ext>
              </a:extLst>
            </p:cNvPr>
            <p:cNvSpPr/>
            <p:nvPr/>
          </p:nvSpPr>
          <p:spPr>
            <a:xfrm>
              <a:off x="3389616" y="3712534"/>
              <a:ext cx="2790030" cy="324036"/>
            </a:xfrm>
            <a:prstGeom prst="round2SameRect">
              <a:avLst/>
            </a:prstGeom>
            <a:solidFill>
              <a:schemeClr val="bg1"/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EAI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 비동기 </a:t>
              </a: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(IR)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거래</a:t>
              </a:r>
              <a:endParaRPr lang="ko-KR" altLang="en-US" sz="11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327" name="타원 326">
            <a:extLst>
              <a:ext uri="{FF2B5EF4-FFF2-40B4-BE49-F238E27FC236}">
                <a16:creationId xmlns:a16="http://schemas.microsoft.com/office/drawing/2014/main" id="{06906010-D172-4339-95DC-1DBBC1478334}"/>
              </a:ext>
            </a:extLst>
          </p:cNvPr>
          <p:cNvSpPr/>
          <p:nvPr/>
        </p:nvSpPr>
        <p:spPr>
          <a:xfrm>
            <a:off x="404086" y="118258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28" name="타원 327">
            <a:extLst>
              <a:ext uri="{FF2B5EF4-FFF2-40B4-BE49-F238E27FC236}">
                <a16:creationId xmlns:a16="http://schemas.microsoft.com/office/drawing/2014/main" id="{7C882194-D8A2-4B1C-B5A8-2A5EEF4341DF}"/>
              </a:ext>
            </a:extLst>
          </p:cNvPr>
          <p:cNvSpPr/>
          <p:nvPr/>
        </p:nvSpPr>
        <p:spPr>
          <a:xfrm>
            <a:off x="3455429" y="1172962"/>
            <a:ext cx="216000" cy="216000"/>
          </a:xfrm>
          <a:prstGeom prst="ellipse">
            <a:avLst/>
          </a:prstGeom>
          <a:solidFill>
            <a:srgbClr val="FF3300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9F4B7B23-B0E1-4741-A623-440AAA50C35C}"/>
              </a:ext>
            </a:extLst>
          </p:cNvPr>
          <p:cNvSpPr/>
          <p:nvPr/>
        </p:nvSpPr>
        <p:spPr>
          <a:xfrm>
            <a:off x="6401797" y="123278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467E15F8-61C9-4ED3-8F09-FE8A6F47C29C}"/>
              </a:ext>
            </a:extLst>
          </p:cNvPr>
          <p:cNvSpPr/>
          <p:nvPr/>
        </p:nvSpPr>
        <p:spPr>
          <a:xfrm>
            <a:off x="6371093" y="3758465"/>
            <a:ext cx="216000" cy="216000"/>
          </a:xfrm>
          <a:prstGeom prst="ellipse">
            <a:avLst/>
          </a:prstGeom>
          <a:solidFill>
            <a:srgbClr val="FF3300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BCB5A97B-1732-45BD-842E-26C5DAFC633A}"/>
              </a:ext>
            </a:extLst>
          </p:cNvPr>
          <p:cNvSpPr/>
          <p:nvPr/>
        </p:nvSpPr>
        <p:spPr>
          <a:xfrm>
            <a:off x="6951310" y="3752072"/>
            <a:ext cx="306475" cy="229845"/>
          </a:xfrm>
          <a:prstGeom prst="ellipse">
            <a:avLst/>
          </a:prstGeom>
          <a:solidFill>
            <a:srgbClr val="FF3300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2b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844A8D9B-A3E2-4857-B134-D9335EA46233}"/>
              </a:ext>
            </a:extLst>
          </p:cNvPr>
          <p:cNvSpPr/>
          <p:nvPr/>
        </p:nvSpPr>
        <p:spPr>
          <a:xfrm>
            <a:off x="3415977" y="3752072"/>
            <a:ext cx="306475" cy="229845"/>
          </a:xfrm>
          <a:prstGeom prst="ellipse">
            <a:avLst/>
          </a:prstGeom>
          <a:solidFill>
            <a:srgbClr val="FF3300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2b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92D0DA39-5CC8-40C6-B905-A2CCFB1CCF07}"/>
              </a:ext>
            </a:extLst>
          </p:cNvPr>
          <p:cNvSpPr/>
          <p:nvPr/>
        </p:nvSpPr>
        <p:spPr>
          <a:xfrm>
            <a:off x="6627932" y="3752072"/>
            <a:ext cx="306475" cy="229845"/>
          </a:xfrm>
          <a:prstGeom prst="ellipse">
            <a:avLst/>
          </a:prstGeom>
          <a:solidFill>
            <a:srgbClr val="FF3300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2a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17A52EBA-C3B9-43C6-9FCF-9A44E1C6B8D7}"/>
              </a:ext>
            </a:extLst>
          </p:cNvPr>
          <p:cNvSpPr/>
          <p:nvPr/>
        </p:nvSpPr>
        <p:spPr>
          <a:xfrm>
            <a:off x="404086" y="3739275"/>
            <a:ext cx="306475" cy="229845"/>
          </a:xfrm>
          <a:prstGeom prst="ellipse">
            <a:avLst/>
          </a:prstGeom>
          <a:solidFill>
            <a:srgbClr val="FF3300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2a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54" name="폭발 1 37">
            <a:extLst>
              <a:ext uri="{FF2B5EF4-FFF2-40B4-BE49-F238E27FC236}">
                <a16:creationId xmlns:a16="http://schemas.microsoft.com/office/drawing/2014/main" id="{5F45DF50-DD0C-466A-B0B4-DB3025A260DA}"/>
              </a:ext>
            </a:extLst>
          </p:cNvPr>
          <p:cNvSpPr/>
          <p:nvPr/>
        </p:nvSpPr>
        <p:spPr>
          <a:xfrm>
            <a:off x="4502007" y="2755207"/>
            <a:ext cx="247812" cy="300352"/>
          </a:xfrm>
          <a:prstGeom prst="irregularSeal1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폭발 1 37">
            <a:extLst>
              <a:ext uri="{FF2B5EF4-FFF2-40B4-BE49-F238E27FC236}">
                <a16:creationId xmlns:a16="http://schemas.microsoft.com/office/drawing/2014/main" id="{9E85350E-56DF-433E-8DFD-F121FBD733FE}"/>
              </a:ext>
            </a:extLst>
          </p:cNvPr>
          <p:cNvSpPr/>
          <p:nvPr/>
        </p:nvSpPr>
        <p:spPr>
          <a:xfrm>
            <a:off x="1386758" y="5457737"/>
            <a:ext cx="247812" cy="300352"/>
          </a:xfrm>
          <a:prstGeom prst="irregularSeal1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폭발 1 37">
            <a:extLst>
              <a:ext uri="{FF2B5EF4-FFF2-40B4-BE49-F238E27FC236}">
                <a16:creationId xmlns:a16="http://schemas.microsoft.com/office/drawing/2014/main" id="{A0AE2265-EC88-498E-BFB1-04F322439731}"/>
              </a:ext>
            </a:extLst>
          </p:cNvPr>
          <p:cNvSpPr/>
          <p:nvPr/>
        </p:nvSpPr>
        <p:spPr>
          <a:xfrm>
            <a:off x="4387089" y="5452013"/>
            <a:ext cx="247812" cy="300352"/>
          </a:xfrm>
          <a:prstGeom prst="irregularSeal1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71950973-D709-4D4A-AE1B-18FB20E33603}"/>
              </a:ext>
            </a:extLst>
          </p:cNvPr>
          <p:cNvCxnSpPr>
            <a:cxnSpLocks/>
          </p:cNvCxnSpPr>
          <p:nvPr/>
        </p:nvCxnSpPr>
        <p:spPr>
          <a:xfrm flipH="1">
            <a:off x="481018" y="5493539"/>
            <a:ext cx="1024352" cy="4244"/>
          </a:xfrm>
          <a:prstGeom prst="straightConnector1">
            <a:avLst/>
          </a:prstGeom>
          <a:solidFill>
            <a:schemeClr val="bg1"/>
          </a:solidFill>
          <a:ln w="349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7083E7E1-D519-4E89-9A8E-DC936FE5F87A}"/>
              </a:ext>
            </a:extLst>
          </p:cNvPr>
          <p:cNvSpPr/>
          <p:nvPr/>
        </p:nvSpPr>
        <p:spPr>
          <a:xfrm>
            <a:off x="4472233" y="1926209"/>
            <a:ext cx="762373" cy="204771"/>
          </a:xfrm>
          <a:prstGeom prst="wedgeRectCallout">
            <a:avLst>
              <a:gd name="adj1" fmla="val -63979"/>
              <a:gd name="adj2" fmla="val 49315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>
              <a:tabLst>
                <a:tab pos="1238250" algn="l"/>
              </a:tabLst>
            </a:pPr>
            <a:r>
              <a:rPr lang="ko-KR" altLang="en-US" sz="900" kern="0">
                <a:solidFill>
                  <a:schemeClr val="tx1"/>
                </a:solidFill>
                <a:latin typeface="+mn-ea"/>
              </a:rPr>
              <a:t>거래 통제</a:t>
            </a:r>
          </a:p>
        </p:txBody>
      </p:sp>
      <p:sp>
        <p:nvSpPr>
          <p:cNvPr id="160" name="말풍선: 사각형 159">
            <a:extLst>
              <a:ext uri="{FF2B5EF4-FFF2-40B4-BE49-F238E27FC236}">
                <a16:creationId xmlns:a16="http://schemas.microsoft.com/office/drawing/2014/main" id="{D0184EF0-21B6-43FC-9699-1B6852AF180C}"/>
              </a:ext>
            </a:extLst>
          </p:cNvPr>
          <p:cNvSpPr/>
          <p:nvPr/>
        </p:nvSpPr>
        <p:spPr>
          <a:xfrm>
            <a:off x="4482963" y="4637287"/>
            <a:ext cx="762373" cy="204771"/>
          </a:xfrm>
          <a:prstGeom prst="wedgeRectCallout">
            <a:avLst>
              <a:gd name="adj1" fmla="val -63979"/>
              <a:gd name="adj2" fmla="val 49315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>
              <a:tabLst>
                <a:tab pos="1238250" algn="l"/>
              </a:tabLst>
            </a:pPr>
            <a:r>
              <a:rPr lang="ko-KR" altLang="en-US" sz="900" kern="0">
                <a:solidFill>
                  <a:schemeClr val="tx1"/>
                </a:solidFill>
                <a:latin typeface="+mn-ea"/>
              </a:rPr>
              <a:t>거래 통제</a:t>
            </a:r>
          </a:p>
        </p:txBody>
      </p:sp>
      <p:sp>
        <p:nvSpPr>
          <p:cNvPr id="161" name="말풍선: 사각형 160">
            <a:extLst>
              <a:ext uri="{FF2B5EF4-FFF2-40B4-BE49-F238E27FC236}">
                <a16:creationId xmlns:a16="http://schemas.microsoft.com/office/drawing/2014/main" id="{2FA8D6C0-25A4-468B-9C72-9BD81A509EF3}"/>
              </a:ext>
            </a:extLst>
          </p:cNvPr>
          <p:cNvSpPr/>
          <p:nvPr/>
        </p:nvSpPr>
        <p:spPr>
          <a:xfrm>
            <a:off x="1442592" y="4554866"/>
            <a:ext cx="762373" cy="204771"/>
          </a:xfrm>
          <a:prstGeom prst="wedgeRectCallout">
            <a:avLst>
              <a:gd name="adj1" fmla="val -63979"/>
              <a:gd name="adj2" fmla="val 49315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>
              <a:tabLst>
                <a:tab pos="1238250" algn="l"/>
              </a:tabLst>
            </a:pPr>
            <a:r>
              <a:rPr lang="ko-KR" altLang="en-US" sz="900" kern="0">
                <a:solidFill>
                  <a:schemeClr val="tx1"/>
                </a:solidFill>
                <a:latin typeface="+mn-ea"/>
              </a:rPr>
              <a:t>거래 통제</a:t>
            </a: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66229071-E0E2-4875-B942-2C9559C3FCD0}"/>
              </a:ext>
            </a:extLst>
          </p:cNvPr>
          <p:cNvSpPr/>
          <p:nvPr/>
        </p:nvSpPr>
        <p:spPr>
          <a:xfrm>
            <a:off x="388393" y="2076694"/>
            <a:ext cx="281946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1a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0E1BF123-4708-4535-83C7-8C20EE3759FE}"/>
              </a:ext>
            </a:extLst>
          </p:cNvPr>
          <p:cNvSpPr/>
          <p:nvPr/>
        </p:nvSpPr>
        <p:spPr>
          <a:xfrm>
            <a:off x="387520" y="2556022"/>
            <a:ext cx="281946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1b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5E26A225-2760-4E91-AE57-B65CBBB48792}"/>
              </a:ext>
            </a:extLst>
          </p:cNvPr>
          <p:cNvSpPr/>
          <p:nvPr/>
        </p:nvSpPr>
        <p:spPr>
          <a:xfrm>
            <a:off x="6240968" y="2363248"/>
            <a:ext cx="281946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1a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F3252C42-0205-4E16-AE5E-4597A9C36C45}"/>
              </a:ext>
            </a:extLst>
          </p:cNvPr>
          <p:cNvSpPr/>
          <p:nvPr/>
        </p:nvSpPr>
        <p:spPr>
          <a:xfrm>
            <a:off x="6263377" y="2663014"/>
            <a:ext cx="281946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8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1b</a:t>
            </a:r>
            <a:endParaRPr lang="ko-KR" altLang="en-US" sz="8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52794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직사각형 359">
            <a:extLst>
              <a:ext uri="{FF2B5EF4-FFF2-40B4-BE49-F238E27FC236}">
                <a16:creationId xmlns:a16="http://schemas.microsoft.com/office/drawing/2014/main" id="{4CCCA8C4-8D88-4A98-BD7F-83DFA35760D2}"/>
              </a:ext>
            </a:extLst>
          </p:cNvPr>
          <p:cNvSpPr/>
          <p:nvPr/>
        </p:nvSpPr>
        <p:spPr>
          <a:xfrm>
            <a:off x="274386" y="996762"/>
            <a:ext cx="8783070" cy="25593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7627E57-F2BF-43A2-AF5B-2441F4F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거래통제</a:t>
            </a:r>
            <a:r>
              <a:rPr lang="en-US" altLang="ko-KR"/>
              <a:t>(</a:t>
            </a:r>
            <a:r>
              <a:rPr lang="ko-KR" altLang="en-US"/>
              <a:t>일자전환간 거래통제</a:t>
            </a:r>
            <a:r>
              <a:rPr lang="en-US" altLang="ko-KR"/>
              <a:t>-</a:t>
            </a:r>
            <a:r>
              <a:rPr lang="ko-KR" altLang="en-US"/>
              <a:t>예외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41751596-38F3-4D50-BED8-F932A8B854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4622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EAI </a:t>
            </a:r>
            <a:r>
              <a:rPr lang="ko-KR" altLang="en-US">
                <a:latin typeface="KB금융 본문체 Light" panose="020B0303000000000000" pitchFamily="50" charset="-127"/>
                <a:ea typeface="KB금융 본문체 Light" panose="020B0303000000000000" pitchFamily="50" charset="-127"/>
              </a:rPr>
              <a:t>송수신 모듈 단에서의 거래 통제 예외</a:t>
            </a:r>
            <a:endParaRPr lang="ko-KR" altLang="en-US" dirty="0">
              <a:latin typeface="+mn-ea"/>
            </a:endParaRP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4AC568DA-7434-45C3-A9C7-9D7E398ECB9D}"/>
              </a:ext>
            </a:extLst>
          </p:cNvPr>
          <p:cNvGrpSpPr/>
          <p:nvPr/>
        </p:nvGrpSpPr>
        <p:grpSpPr>
          <a:xfrm>
            <a:off x="381884" y="1127560"/>
            <a:ext cx="2791041" cy="2301440"/>
            <a:chOff x="342982" y="3708775"/>
            <a:chExt cx="2791041" cy="2301440"/>
          </a:xfrm>
        </p:grpSpPr>
        <p:grpSp>
          <p:nvGrpSpPr>
            <p:cNvPr id="320" name="그룹 319">
              <a:extLst>
                <a:ext uri="{FF2B5EF4-FFF2-40B4-BE49-F238E27FC236}">
                  <a16:creationId xmlns:a16="http://schemas.microsoft.com/office/drawing/2014/main" id="{4BE36282-5A39-4D6C-8394-CF98A889499D}"/>
                </a:ext>
              </a:extLst>
            </p:cNvPr>
            <p:cNvGrpSpPr/>
            <p:nvPr/>
          </p:nvGrpSpPr>
          <p:grpSpPr>
            <a:xfrm>
              <a:off x="344746" y="4032810"/>
              <a:ext cx="2789277" cy="1977405"/>
              <a:chOff x="246357" y="3207419"/>
              <a:chExt cx="2767238" cy="1894678"/>
            </a:xfrm>
          </p:grpSpPr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20CA35C1-E317-40ED-817C-04C00EF2B9DE}"/>
                  </a:ext>
                </a:extLst>
              </p:cNvPr>
              <p:cNvGrpSpPr/>
              <p:nvPr/>
            </p:nvGrpSpPr>
            <p:grpSpPr>
              <a:xfrm>
                <a:off x="246357" y="3207419"/>
                <a:ext cx="2767238" cy="1894678"/>
                <a:chOff x="298167" y="3956521"/>
                <a:chExt cx="2671134" cy="2428512"/>
              </a:xfrm>
            </p:grpSpPr>
            <p:sp>
              <p:nvSpPr>
                <p:cNvPr id="270" name="Rectangle 29">
                  <a:extLst>
                    <a:ext uri="{FF2B5EF4-FFF2-40B4-BE49-F238E27FC236}">
                      <a16:creationId xmlns:a16="http://schemas.microsoft.com/office/drawing/2014/main" id="{57F5FA5F-0AAF-4D0A-AF25-C594FBD7A6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98167" y="3956521"/>
                  <a:ext cx="2671134" cy="242851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endParaRPr kumimoji="0" lang="ko-KR" altLang="en-US" sz="11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71" name="Rectangle 29">
                  <a:extLst>
                    <a:ext uri="{FF2B5EF4-FFF2-40B4-BE49-F238E27FC236}">
                      <a16:creationId xmlns:a16="http://schemas.microsoft.com/office/drawing/2014/main" id="{A1BB4401-E204-42A8-9738-232DC3876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51659" y="4057920"/>
                  <a:ext cx="1528123" cy="1916071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endParaRPr kumimoji="0" lang="ko-KR" altLang="en-US" sz="11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72" name="Rectangle 29">
                  <a:extLst>
                    <a:ext uri="{FF2B5EF4-FFF2-40B4-BE49-F238E27FC236}">
                      <a16:creationId xmlns:a16="http://schemas.microsoft.com/office/drawing/2014/main" id="{B7DA714C-CA53-4368-B87F-13F915CD0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441487" y="4041569"/>
                  <a:ext cx="378000" cy="13269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r>
                    <a:rPr lang="en-US" altLang="ko-KR" sz="1000" kern="0">
                      <a:solidFill>
                        <a:srgbClr val="000000"/>
                      </a:solidFill>
                      <a:latin typeface="+mn-ea"/>
                    </a:rPr>
                    <a:t>EAI</a:t>
                  </a:r>
                  <a:endParaRPr kumimoji="0" lang="ko-KR" altLang="en-US" sz="10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cxnSp>
              <p:nvCxnSpPr>
                <p:cNvPr id="273" name="직선 연결선 272">
                  <a:extLst>
                    <a:ext uri="{FF2B5EF4-FFF2-40B4-BE49-F238E27FC236}">
                      <a16:creationId xmlns:a16="http://schemas.microsoft.com/office/drawing/2014/main" id="{AA90DAE9-59AB-4469-8905-BAC9078C37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1659" y="4497827"/>
                  <a:ext cx="1528123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직선 연결선 273">
                  <a:extLst>
                    <a:ext uri="{FF2B5EF4-FFF2-40B4-BE49-F238E27FC236}">
                      <a16:creationId xmlns:a16="http://schemas.microsoft.com/office/drawing/2014/main" id="{D1A528C9-DCD7-45DB-9AC1-9199877BDF13}"/>
                    </a:ext>
                  </a:extLst>
                </p:cNvPr>
                <p:cNvCxnSpPr>
                  <a:cxnSpLocks/>
                  <a:stCxn id="272" idx="2"/>
                </p:cNvCxnSpPr>
                <p:nvPr/>
              </p:nvCxnSpPr>
              <p:spPr>
                <a:xfrm>
                  <a:off x="2630487" y="4174261"/>
                  <a:ext cx="0" cy="1989615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75" name="Rectangle 29">
                  <a:extLst>
                    <a:ext uri="{FF2B5EF4-FFF2-40B4-BE49-F238E27FC236}">
                      <a16:creationId xmlns:a16="http://schemas.microsoft.com/office/drawing/2014/main" id="{8F886FB6-ABE9-40D8-BC69-63501786C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51658" y="4029775"/>
                  <a:ext cx="1528123" cy="13269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Pct val="100000"/>
                    <a:buFontTx/>
                    <a:buNone/>
                    <a:tabLst/>
                    <a:defRPr/>
                  </a:pPr>
                  <a:r>
                    <a:rPr lang="en-US" altLang="ko-KR" sz="1000" kern="0">
                      <a:solidFill>
                        <a:srgbClr val="000000"/>
                      </a:solidFill>
                      <a:latin typeface="+mn-ea"/>
                    </a:rPr>
                    <a:t>FW</a:t>
                  </a:r>
                  <a:endParaRPr kumimoji="0" lang="ko-KR" altLang="en-US" sz="10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cxnSp>
              <p:nvCxnSpPr>
                <p:cNvPr id="276" name="직선 연결선 275">
                  <a:extLst>
                    <a:ext uri="{FF2B5EF4-FFF2-40B4-BE49-F238E27FC236}">
                      <a16:creationId xmlns:a16="http://schemas.microsoft.com/office/drawing/2014/main" id="{410418F3-D37D-4A3D-8CF8-D44529A333FA}"/>
                    </a:ext>
                  </a:extLst>
                </p:cNvPr>
                <p:cNvCxnSpPr/>
                <p:nvPr/>
              </p:nvCxnSpPr>
              <p:spPr>
                <a:xfrm>
                  <a:off x="866291" y="4497827"/>
                  <a:ext cx="0" cy="1476164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직선 연결선 276">
                  <a:extLst>
                    <a:ext uri="{FF2B5EF4-FFF2-40B4-BE49-F238E27FC236}">
                      <a16:creationId xmlns:a16="http://schemas.microsoft.com/office/drawing/2014/main" id="{2111288A-114A-457D-988F-442C6780FA03}"/>
                    </a:ext>
                  </a:extLst>
                </p:cNvPr>
                <p:cNvCxnSpPr/>
                <p:nvPr/>
              </p:nvCxnSpPr>
              <p:spPr>
                <a:xfrm>
                  <a:off x="1406351" y="4497827"/>
                  <a:ext cx="0" cy="1476164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직선 연결선 277">
                  <a:extLst>
                    <a:ext uri="{FF2B5EF4-FFF2-40B4-BE49-F238E27FC236}">
                      <a16:creationId xmlns:a16="http://schemas.microsoft.com/office/drawing/2014/main" id="{0F518BBF-0D8F-4CA7-9335-B76CC09A5783}"/>
                    </a:ext>
                  </a:extLst>
                </p:cNvPr>
                <p:cNvCxnSpPr/>
                <p:nvPr/>
              </p:nvCxnSpPr>
              <p:spPr>
                <a:xfrm>
                  <a:off x="1946411" y="4497827"/>
                  <a:ext cx="0" cy="1476164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0ADD24D2-4DF1-400D-9176-8B4C698FE8EB}"/>
                    </a:ext>
                  </a:extLst>
                </p:cNvPr>
                <p:cNvSpPr txBox="1"/>
                <p:nvPr/>
              </p:nvSpPr>
              <p:spPr>
                <a:xfrm>
                  <a:off x="669933" y="4298128"/>
                  <a:ext cx="426798" cy="179381"/>
                </a:xfrm>
                <a:prstGeom prst="rect">
                  <a:avLst/>
                </a:prstGeom>
                <a:solidFill>
                  <a:schemeClr val="bg1"/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P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80" name="Rectangle 29">
                  <a:extLst>
                    <a:ext uri="{FF2B5EF4-FFF2-40B4-BE49-F238E27FC236}">
                      <a16:creationId xmlns:a16="http://schemas.microsoft.com/office/drawing/2014/main" id="{935C1CA6-3A8A-4936-B2EE-C9E785B7D3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97289" y="4578909"/>
                  <a:ext cx="221355" cy="6768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3175" algn="ctr">
                  <a:solidFill>
                    <a:schemeClr val="bg1">
                      <a:lumMod val="50000"/>
                    </a:schemeClr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lIns="36000" tIns="36000" rIns="36000" bIns="36000" anchor="ctr"/>
                <a:lstStyle/>
                <a:p>
                  <a:pPr algn="ctr" eaLnBrk="0" hangingPunct="0">
                    <a:spcBef>
                      <a:spcPts val="600"/>
                    </a:spcBef>
                    <a:buSzPct val="100000"/>
                  </a:pPr>
                  <a:r>
                    <a:rPr lang="ko-KR" altLang="en-US" sz="900" kern="0">
                      <a:solidFill>
                        <a:srgbClr val="000000"/>
                      </a:solidFill>
                      <a:latin typeface="+mn-ea"/>
                    </a:rPr>
                    <a:t>요청</a:t>
                  </a:r>
                  <a:endParaRPr lang="ko-KR" altLang="en-US" sz="900" kern="0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cxnSp>
              <p:nvCxnSpPr>
                <p:cNvPr id="281" name="직선 화살표 연결선 280">
                  <a:extLst>
                    <a:ext uri="{FF2B5EF4-FFF2-40B4-BE49-F238E27FC236}">
                      <a16:creationId xmlns:a16="http://schemas.microsoft.com/office/drawing/2014/main" id="{C1FE7019-6930-4C12-84C3-298049C32529}"/>
                    </a:ext>
                  </a:extLst>
                </p:cNvPr>
                <p:cNvCxnSpPr/>
                <p:nvPr/>
              </p:nvCxnSpPr>
              <p:spPr>
                <a:xfrm>
                  <a:off x="398239" y="4655868"/>
                  <a:ext cx="599050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5A088C07-91DE-44D0-9544-09BA130DDA5E}"/>
                    </a:ext>
                  </a:extLst>
                </p:cNvPr>
                <p:cNvSpPr txBox="1"/>
                <p:nvPr/>
              </p:nvSpPr>
              <p:spPr>
                <a:xfrm>
                  <a:off x="1124374" y="4188810"/>
                  <a:ext cx="582122" cy="288700"/>
                </a:xfrm>
                <a:prstGeom prst="rect">
                  <a:avLst/>
                </a:prstGeom>
                <a:solidFill>
                  <a:schemeClr val="bg1"/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T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en-US" altLang="ko-KR" sz="900">
                    <a:cs typeface="Arial" pitchFamily="34" charset="0"/>
                  </a:endParaRPr>
                </a:p>
                <a:p>
                  <a:pPr algn="ctr">
                    <a:lnSpc>
                      <a:spcPct val="90000"/>
                    </a:lnSpc>
                  </a:pPr>
                  <a:r>
                    <a:rPr lang="ko-KR" altLang="en-US" sz="900">
                      <a:cs typeface="Arial" pitchFamily="34" charset="0"/>
                    </a:rPr>
                    <a:t>일자변경</a:t>
                  </a:r>
                </a:p>
                <a:p>
                  <a:pPr algn="ctr">
                    <a:lnSpc>
                      <a:spcPct val="90000"/>
                    </a:lnSpc>
                  </a:pP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C62DEB2C-A786-4DD3-9732-DD7597F8F7FC}"/>
                    </a:ext>
                  </a:extLst>
                </p:cNvPr>
                <p:cNvSpPr txBox="1"/>
                <p:nvPr/>
              </p:nvSpPr>
              <p:spPr>
                <a:xfrm>
                  <a:off x="1725056" y="4302180"/>
                  <a:ext cx="426798" cy="175330"/>
                </a:xfrm>
                <a:prstGeom prst="rect">
                  <a:avLst/>
                </a:prstGeom>
                <a:solidFill>
                  <a:schemeClr val="bg1"/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D</a:t>
                  </a:r>
                  <a:r>
                    <a:rPr lang="ko-KR" altLang="en-US" sz="900">
                      <a:cs typeface="Arial" pitchFamily="34" charset="0"/>
                    </a:rPr>
                    <a:t>모드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cxnSp>
              <p:nvCxnSpPr>
                <p:cNvPr id="284" name="직선 화살표 연결선 283">
                  <a:extLst>
                    <a:ext uri="{FF2B5EF4-FFF2-40B4-BE49-F238E27FC236}">
                      <a16:creationId xmlns:a16="http://schemas.microsoft.com/office/drawing/2014/main" id="{170612B8-DB5B-4944-9F9F-6FA2C98EE4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3342" y="4914268"/>
                  <a:ext cx="1381356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349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87" name="왼쪽 대괄호 286">
                  <a:extLst>
                    <a:ext uri="{FF2B5EF4-FFF2-40B4-BE49-F238E27FC236}">
                      <a16:creationId xmlns:a16="http://schemas.microsoft.com/office/drawing/2014/main" id="{98F76F45-1150-47C7-BF06-CBFC6908CDEA}"/>
                    </a:ext>
                  </a:extLst>
                </p:cNvPr>
                <p:cNvSpPr/>
                <p:nvPr/>
              </p:nvSpPr>
              <p:spPr>
                <a:xfrm rot="16200000">
                  <a:off x="940856" y="5740612"/>
                  <a:ext cx="132675" cy="713853"/>
                </a:xfrm>
                <a:prstGeom prst="leftBracke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8" name="왼쪽 대괄호 287">
                  <a:extLst>
                    <a:ext uri="{FF2B5EF4-FFF2-40B4-BE49-F238E27FC236}">
                      <a16:creationId xmlns:a16="http://schemas.microsoft.com/office/drawing/2014/main" id="{E9DC566A-819A-481E-8AE4-727C9982EA4B}"/>
                    </a:ext>
                  </a:extLst>
                </p:cNvPr>
                <p:cNvSpPr/>
                <p:nvPr/>
              </p:nvSpPr>
              <p:spPr>
                <a:xfrm rot="16200000">
                  <a:off x="1745290" y="5729384"/>
                  <a:ext cx="136391" cy="732592"/>
                </a:xfrm>
                <a:prstGeom prst="leftBracke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1D7F86D7-48FA-4D8C-AD59-1BEAEAE2CE38}"/>
                    </a:ext>
                  </a:extLst>
                </p:cNvPr>
                <p:cNvSpPr txBox="1"/>
                <p:nvPr/>
              </p:nvSpPr>
              <p:spPr>
                <a:xfrm>
                  <a:off x="822333" y="5994310"/>
                  <a:ext cx="426798" cy="14172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01</a:t>
                  </a:r>
                  <a:r>
                    <a:rPr lang="ko-KR" altLang="en-US" sz="900">
                      <a:cs typeface="Arial" pitchFamily="34" charset="0"/>
                    </a:rPr>
                    <a:t>일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836163B6-9D94-48D2-847E-E0135CDCA465}"/>
                    </a:ext>
                  </a:extLst>
                </p:cNvPr>
                <p:cNvSpPr txBox="1"/>
                <p:nvPr/>
              </p:nvSpPr>
              <p:spPr>
                <a:xfrm>
                  <a:off x="1633734" y="5994310"/>
                  <a:ext cx="426798" cy="13226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6350" cap="flat">
                  <a:noFill/>
                  <a:miter lim="800000"/>
                </a:ln>
              </p:spPr>
              <p:txBody>
                <a:bodyPr wrap="square" lIns="72000" tIns="36000" rIns="72000" bIns="36000" rtlCol="0" anchor="t" anchorCtr="0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ko-KR" sz="900">
                      <a:cs typeface="Arial" pitchFamily="34" charset="0"/>
                    </a:rPr>
                    <a:t>02</a:t>
                  </a:r>
                  <a:r>
                    <a:rPr lang="ko-KR" altLang="en-US" sz="900">
                      <a:cs typeface="Arial" pitchFamily="34" charset="0"/>
                    </a:rPr>
                    <a:t>일</a:t>
                  </a:r>
                  <a:endParaRPr lang="ko-KR" altLang="en-US" sz="900" dirty="0">
                    <a:cs typeface="Arial" pitchFamily="34" charset="0"/>
                  </a:endParaRPr>
                </a:p>
              </p:txBody>
            </p:sp>
          </p:grpSp>
          <p:cxnSp>
            <p:nvCxnSpPr>
              <p:cNvPr id="292" name="직선 화살표 연결선 291">
                <a:extLst>
                  <a:ext uri="{FF2B5EF4-FFF2-40B4-BE49-F238E27FC236}">
                    <a16:creationId xmlns:a16="http://schemas.microsoft.com/office/drawing/2014/main" id="{53C5BA50-0B2B-44E2-AAE2-C963666D4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5178" y="4062645"/>
                <a:ext cx="1431055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93" name="직선 화살표 연결선 292">
                <a:extLst>
                  <a:ext uri="{FF2B5EF4-FFF2-40B4-BE49-F238E27FC236}">
                    <a16:creationId xmlns:a16="http://schemas.microsoft.com/office/drawing/2014/main" id="{6F0E6107-4210-434E-8932-A27F71032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5178" y="4170658"/>
                <a:ext cx="1431055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325" name="양쪽 모서리가 둥근 사각형 33">
              <a:extLst>
                <a:ext uri="{FF2B5EF4-FFF2-40B4-BE49-F238E27FC236}">
                  <a16:creationId xmlns:a16="http://schemas.microsoft.com/office/drawing/2014/main" id="{16C790CA-0BA2-4203-AACE-FA52CA6DF154}"/>
                </a:ext>
              </a:extLst>
            </p:cNvPr>
            <p:cNvSpPr/>
            <p:nvPr/>
          </p:nvSpPr>
          <p:spPr>
            <a:xfrm>
              <a:off x="342982" y="3708775"/>
              <a:ext cx="2790030" cy="324036"/>
            </a:xfrm>
            <a:prstGeom prst="round2SameRect">
              <a:avLst/>
            </a:prstGeom>
            <a:solidFill>
              <a:schemeClr val="bg1"/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예외 </a:t>
              </a: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- EAI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 비동기 응답이 없는 거래 </a:t>
              </a:r>
              <a:endParaRPr lang="ko-KR" altLang="en-US" sz="11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FA272BD6-3A89-4E6B-8191-D3AB69A864F1}"/>
              </a:ext>
            </a:extLst>
          </p:cNvPr>
          <p:cNvGrpSpPr/>
          <p:nvPr/>
        </p:nvGrpSpPr>
        <p:grpSpPr>
          <a:xfrm>
            <a:off x="3460753" y="1126600"/>
            <a:ext cx="2795911" cy="2297683"/>
            <a:chOff x="3389616" y="3712534"/>
            <a:chExt cx="2795911" cy="2297683"/>
          </a:xfrm>
        </p:grpSpPr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1A59B42D-57F8-4CED-8611-633C4FF7EF57}"/>
                </a:ext>
              </a:extLst>
            </p:cNvPr>
            <p:cNvGrpSpPr/>
            <p:nvPr/>
          </p:nvGrpSpPr>
          <p:grpSpPr>
            <a:xfrm>
              <a:off x="3398989" y="4032811"/>
              <a:ext cx="2786538" cy="1977406"/>
              <a:chOff x="298167" y="3956521"/>
              <a:chExt cx="2671134" cy="2428512"/>
            </a:xfrm>
          </p:grpSpPr>
          <p:sp>
            <p:nvSpPr>
              <p:cNvPr id="299" name="Rectangle 29">
                <a:extLst>
                  <a:ext uri="{FF2B5EF4-FFF2-40B4-BE49-F238E27FC236}">
                    <a16:creationId xmlns:a16="http://schemas.microsoft.com/office/drawing/2014/main" id="{90335A5E-B16C-4F1F-8696-3D1065A6017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98167" y="3956521"/>
                <a:ext cx="2671134" cy="24285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endParaRPr kumimoji="0" lang="ko-KR" altLang="en-US" sz="11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0" name="Rectangle 29">
                <a:extLst>
                  <a:ext uri="{FF2B5EF4-FFF2-40B4-BE49-F238E27FC236}">
                    <a16:creationId xmlns:a16="http://schemas.microsoft.com/office/drawing/2014/main" id="{1287C5F7-E384-4D3F-BC34-E023C838AC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51659" y="4057920"/>
                <a:ext cx="1528123" cy="1916071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endParaRPr kumimoji="0" lang="ko-KR" altLang="en-US" sz="11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1" name="Rectangle 29">
                <a:extLst>
                  <a:ext uri="{FF2B5EF4-FFF2-40B4-BE49-F238E27FC236}">
                    <a16:creationId xmlns:a16="http://schemas.microsoft.com/office/drawing/2014/main" id="{6B3A9B5F-23C9-4739-B363-C430C5AE89A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41487" y="4041569"/>
                <a:ext cx="378000" cy="132692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lang="en-US" altLang="ko-KR" sz="1000" kern="0">
                    <a:solidFill>
                      <a:srgbClr val="000000"/>
                    </a:solidFill>
                    <a:latin typeface="+mn-ea"/>
                  </a:rPr>
                  <a:t>EAI</a:t>
                </a:r>
                <a:endParaRPr kumimoji="0" lang="ko-KR" altLang="en-US" sz="10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9F2534FC-9EE5-4AED-A81F-EF00ED624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659" y="4497827"/>
                <a:ext cx="152812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CF312C21-CA3D-49FE-B5AA-8FD65CD9AEB1}"/>
                  </a:ext>
                </a:extLst>
              </p:cNvPr>
              <p:cNvCxnSpPr>
                <a:cxnSpLocks/>
                <a:stCxn id="301" idx="2"/>
              </p:cNvCxnSpPr>
              <p:nvPr/>
            </p:nvCxnSpPr>
            <p:spPr>
              <a:xfrm>
                <a:off x="2630487" y="4174261"/>
                <a:ext cx="0" cy="1989615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04" name="Rectangle 29">
                <a:extLst>
                  <a:ext uri="{FF2B5EF4-FFF2-40B4-BE49-F238E27FC236}">
                    <a16:creationId xmlns:a16="http://schemas.microsoft.com/office/drawing/2014/main" id="{41E6F1BB-7F4C-4F9C-A535-FC0E6C2C05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51658" y="4029775"/>
                <a:ext cx="1528123" cy="132692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lang="en-US" altLang="ko-KR" sz="1000" kern="0">
                    <a:solidFill>
                      <a:srgbClr val="000000"/>
                    </a:solidFill>
                    <a:latin typeface="+mn-ea"/>
                  </a:rPr>
                  <a:t>FW</a:t>
                </a:r>
                <a:endParaRPr kumimoji="0" lang="ko-KR" altLang="en-US" sz="10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cxnSp>
            <p:nvCxnSpPr>
              <p:cNvPr id="305" name="직선 연결선 304">
                <a:extLst>
                  <a:ext uri="{FF2B5EF4-FFF2-40B4-BE49-F238E27FC236}">
                    <a16:creationId xmlns:a16="http://schemas.microsoft.com/office/drawing/2014/main" id="{D1C889E0-5A80-4245-8541-AA47FDC033D9}"/>
                  </a:ext>
                </a:extLst>
              </p:cNvPr>
              <p:cNvCxnSpPr/>
              <p:nvPr/>
            </p:nvCxnSpPr>
            <p:spPr>
              <a:xfrm>
                <a:off x="866291" y="4497827"/>
                <a:ext cx="0" cy="147616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>
                <a:extLst>
                  <a:ext uri="{FF2B5EF4-FFF2-40B4-BE49-F238E27FC236}">
                    <a16:creationId xmlns:a16="http://schemas.microsoft.com/office/drawing/2014/main" id="{6103A750-F888-4878-8916-EEC06ECED70F}"/>
                  </a:ext>
                </a:extLst>
              </p:cNvPr>
              <p:cNvCxnSpPr/>
              <p:nvPr/>
            </p:nvCxnSpPr>
            <p:spPr>
              <a:xfrm>
                <a:off x="1406351" y="4497827"/>
                <a:ext cx="0" cy="147616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7" name="직선 연결선 306">
                <a:extLst>
                  <a:ext uri="{FF2B5EF4-FFF2-40B4-BE49-F238E27FC236}">
                    <a16:creationId xmlns:a16="http://schemas.microsoft.com/office/drawing/2014/main" id="{ADE6C71E-BBAF-4470-85D5-C812EE8CCD08}"/>
                  </a:ext>
                </a:extLst>
              </p:cNvPr>
              <p:cNvCxnSpPr/>
              <p:nvPr/>
            </p:nvCxnSpPr>
            <p:spPr>
              <a:xfrm>
                <a:off x="1946411" y="4497827"/>
                <a:ext cx="0" cy="147616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EC1F1F85-51F0-41D3-9805-CF6AF95788C4}"/>
                  </a:ext>
                </a:extLst>
              </p:cNvPr>
              <p:cNvSpPr txBox="1"/>
              <p:nvPr/>
            </p:nvSpPr>
            <p:spPr>
              <a:xfrm>
                <a:off x="669933" y="4298128"/>
                <a:ext cx="426798" cy="179381"/>
              </a:xfrm>
              <a:prstGeom prst="rect">
                <a:avLst/>
              </a:prstGeom>
              <a:solidFill>
                <a:schemeClr val="bg1"/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P</a:t>
                </a:r>
                <a:r>
                  <a:rPr lang="ko-KR" altLang="en-US" sz="900">
                    <a:cs typeface="Arial" pitchFamily="34" charset="0"/>
                  </a:rPr>
                  <a:t>모드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09" name="Rectangle 29">
                <a:extLst>
                  <a:ext uri="{FF2B5EF4-FFF2-40B4-BE49-F238E27FC236}">
                    <a16:creationId xmlns:a16="http://schemas.microsoft.com/office/drawing/2014/main" id="{62A9FEB2-4F76-4207-A831-B13BB525D41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97289" y="4578909"/>
                <a:ext cx="221355" cy="67688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algn="ctr" eaLnBrk="0" hangingPunct="0">
                  <a:spcBef>
                    <a:spcPts val="600"/>
                  </a:spcBef>
                  <a:buSzPct val="100000"/>
                </a:pPr>
                <a:r>
                  <a:rPr lang="ko-KR" altLang="en-US" sz="900" kern="0">
                    <a:solidFill>
                      <a:srgbClr val="000000"/>
                    </a:solidFill>
                    <a:latin typeface="+mn-ea"/>
                  </a:rPr>
                  <a:t>요청</a:t>
                </a:r>
                <a:endParaRPr lang="ko-KR" altLang="en-US" sz="9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cxnSp>
            <p:nvCxnSpPr>
              <p:cNvPr id="310" name="직선 화살표 연결선 309">
                <a:extLst>
                  <a:ext uri="{FF2B5EF4-FFF2-40B4-BE49-F238E27FC236}">
                    <a16:creationId xmlns:a16="http://schemas.microsoft.com/office/drawing/2014/main" id="{D562D41A-B6AF-4B1F-9470-356A2DB64E30}"/>
                  </a:ext>
                </a:extLst>
              </p:cNvPr>
              <p:cNvCxnSpPr/>
              <p:nvPr/>
            </p:nvCxnSpPr>
            <p:spPr>
              <a:xfrm>
                <a:off x="398239" y="4655868"/>
                <a:ext cx="599050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4D8456D8-0303-43DA-BA0F-0E253C6661D3}"/>
                  </a:ext>
                </a:extLst>
              </p:cNvPr>
              <p:cNvSpPr txBox="1"/>
              <p:nvPr/>
            </p:nvSpPr>
            <p:spPr>
              <a:xfrm>
                <a:off x="1124374" y="4188810"/>
                <a:ext cx="582122" cy="288700"/>
              </a:xfrm>
              <a:prstGeom prst="rect">
                <a:avLst/>
              </a:prstGeom>
              <a:solidFill>
                <a:schemeClr val="bg1"/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T</a:t>
                </a:r>
                <a:r>
                  <a:rPr lang="ko-KR" altLang="en-US" sz="900">
                    <a:cs typeface="Arial" pitchFamily="34" charset="0"/>
                  </a:rPr>
                  <a:t>모드</a:t>
                </a:r>
                <a:endParaRPr lang="en-US" altLang="ko-KR" sz="900">
                  <a:cs typeface="Arial" pitchFamily="34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ko-KR" altLang="en-US" sz="900">
                    <a:cs typeface="Arial" pitchFamily="34" charset="0"/>
                  </a:rPr>
                  <a:t>일자변경</a:t>
                </a:r>
              </a:p>
              <a:p>
                <a:pPr algn="ctr">
                  <a:lnSpc>
                    <a:spcPct val="90000"/>
                  </a:lnSpc>
                </a:pP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6E21A8EC-3935-40B3-BC32-813FA11C109F}"/>
                  </a:ext>
                </a:extLst>
              </p:cNvPr>
              <p:cNvSpPr txBox="1"/>
              <p:nvPr/>
            </p:nvSpPr>
            <p:spPr>
              <a:xfrm>
                <a:off x="1725056" y="4302180"/>
                <a:ext cx="426798" cy="175330"/>
              </a:xfrm>
              <a:prstGeom prst="rect">
                <a:avLst/>
              </a:prstGeom>
              <a:solidFill>
                <a:schemeClr val="bg1"/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D</a:t>
                </a:r>
                <a:r>
                  <a:rPr lang="ko-KR" altLang="en-US" sz="900">
                    <a:cs typeface="Arial" pitchFamily="34" charset="0"/>
                  </a:rPr>
                  <a:t>모드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cxnSp>
            <p:nvCxnSpPr>
              <p:cNvPr id="313" name="직선 화살표 연결선 312">
                <a:extLst>
                  <a:ext uri="{FF2B5EF4-FFF2-40B4-BE49-F238E27FC236}">
                    <a16:creationId xmlns:a16="http://schemas.microsoft.com/office/drawing/2014/main" id="{05CDEB92-569D-4119-9248-8923891E7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342" y="5005226"/>
                <a:ext cx="1381356" cy="0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4" name="직선 화살표 연결선 313">
                <a:extLst>
                  <a:ext uri="{FF2B5EF4-FFF2-40B4-BE49-F238E27FC236}">
                    <a16:creationId xmlns:a16="http://schemas.microsoft.com/office/drawing/2014/main" id="{F45160F1-19A3-4DC0-B169-058D241A74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6423" y="5536705"/>
                <a:ext cx="980964" cy="5212"/>
              </a:xfrm>
              <a:prstGeom prst="straightConnector1">
                <a:avLst/>
              </a:prstGeom>
              <a:solidFill>
                <a:schemeClr val="bg1"/>
              </a:solidFill>
              <a:ln w="349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15" name="왼쪽 대괄호 314">
                <a:extLst>
                  <a:ext uri="{FF2B5EF4-FFF2-40B4-BE49-F238E27FC236}">
                    <a16:creationId xmlns:a16="http://schemas.microsoft.com/office/drawing/2014/main" id="{24ABEDB6-4560-47C7-AF4B-59F3BC4CFCC3}"/>
                  </a:ext>
                </a:extLst>
              </p:cNvPr>
              <p:cNvSpPr/>
              <p:nvPr/>
            </p:nvSpPr>
            <p:spPr>
              <a:xfrm rot="16200000">
                <a:off x="940856" y="5740612"/>
                <a:ext cx="132675" cy="713853"/>
              </a:xfrm>
              <a:prstGeom prst="leftBracke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" name="왼쪽 대괄호 315">
                <a:extLst>
                  <a:ext uri="{FF2B5EF4-FFF2-40B4-BE49-F238E27FC236}">
                    <a16:creationId xmlns:a16="http://schemas.microsoft.com/office/drawing/2014/main" id="{4D1BB5BB-5FDF-47C7-9DDB-0A3C91706ED8}"/>
                  </a:ext>
                </a:extLst>
              </p:cNvPr>
              <p:cNvSpPr/>
              <p:nvPr/>
            </p:nvSpPr>
            <p:spPr>
              <a:xfrm rot="16200000">
                <a:off x="1745290" y="5729384"/>
                <a:ext cx="136391" cy="732592"/>
              </a:xfrm>
              <a:prstGeom prst="leftBracke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894F8C4-D8EA-4204-9E73-0BE11311417D}"/>
                  </a:ext>
                </a:extLst>
              </p:cNvPr>
              <p:cNvSpPr txBox="1"/>
              <p:nvPr/>
            </p:nvSpPr>
            <p:spPr>
              <a:xfrm>
                <a:off x="822333" y="5994310"/>
                <a:ext cx="426798" cy="1417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01</a:t>
                </a:r>
                <a:r>
                  <a:rPr lang="ko-KR" altLang="en-US" sz="900">
                    <a:cs typeface="Arial" pitchFamily="34" charset="0"/>
                  </a:rPr>
                  <a:t>일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8263F8A3-3DDB-4489-8134-63EDC4CAE07C}"/>
                  </a:ext>
                </a:extLst>
              </p:cNvPr>
              <p:cNvSpPr txBox="1"/>
              <p:nvPr/>
            </p:nvSpPr>
            <p:spPr>
              <a:xfrm>
                <a:off x="1633734" y="5994310"/>
                <a:ext cx="426798" cy="13226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>
                    <a:cs typeface="Arial" pitchFamily="34" charset="0"/>
                  </a:rPr>
                  <a:t>02</a:t>
                </a:r>
                <a:r>
                  <a:rPr lang="ko-KR" altLang="en-US" sz="900">
                    <a:cs typeface="Arial" pitchFamily="34" charset="0"/>
                  </a:rPr>
                  <a:t>일</a:t>
                </a:r>
                <a:endParaRPr lang="ko-KR" altLang="en-US" sz="900" dirty="0">
                  <a:cs typeface="Arial" pitchFamily="34" charset="0"/>
                </a:endParaRPr>
              </a:p>
            </p:txBody>
          </p:sp>
          <p:sp>
            <p:nvSpPr>
              <p:cNvPr id="319" name="Rectangle 29">
                <a:extLst>
                  <a:ext uri="{FF2B5EF4-FFF2-40B4-BE49-F238E27FC236}">
                    <a16:creationId xmlns:a16="http://schemas.microsoft.com/office/drawing/2014/main" id="{026003B5-7BA9-486C-8F6C-A2E5DAC7ABA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43835" y="5322069"/>
                <a:ext cx="184816" cy="6110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 algn="ctr">
                <a:solidFill>
                  <a:schemeClr val="bg1">
                    <a:lumMod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lIns="36000" tIns="36000" rIns="36000" bIns="36000" anchor="ctr"/>
              <a:lstStyle/>
              <a:p>
                <a:pPr algn="ctr" eaLnBrk="0" hangingPunct="0">
                  <a:spcBef>
                    <a:spcPts val="600"/>
                  </a:spcBef>
                  <a:buSzPct val="100000"/>
                </a:pPr>
                <a:r>
                  <a:rPr lang="ko-KR" altLang="en-US" sz="900" kern="0">
                    <a:solidFill>
                      <a:srgbClr val="000000"/>
                    </a:solidFill>
                    <a:latin typeface="+mn-ea"/>
                  </a:rPr>
                  <a:t>응답</a:t>
                </a:r>
                <a:endParaRPr lang="ko-KR" altLang="en-US" sz="9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  <p:sp>
          <p:nvSpPr>
            <p:cNvPr id="326" name="양쪽 모서리가 둥근 사각형 33">
              <a:extLst>
                <a:ext uri="{FF2B5EF4-FFF2-40B4-BE49-F238E27FC236}">
                  <a16:creationId xmlns:a16="http://schemas.microsoft.com/office/drawing/2014/main" id="{D9E1B5B2-7B0A-4A1D-9F36-A4DAAE83A686}"/>
                </a:ext>
              </a:extLst>
            </p:cNvPr>
            <p:cNvSpPr/>
            <p:nvPr/>
          </p:nvSpPr>
          <p:spPr>
            <a:xfrm>
              <a:off x="3389616" y="3712534"/>
              <a:ext cx="2790030" cy="324036"/>
            </a:xfrm>
            <a:prstGeom prst="round2SameRect">
              <a:avLst/>
            </a:prstGeom>
            <a:solidFill>
              <a:schemeClr val="bg1"/>
            </a:solidFill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예외 </a:t>
              </a: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- EAI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 비동기 </a:t>
              </a:r>
              <a:r>
                <a:rPr lang="en-US" altLang="ko-KR" sz="1100" b="1">
                  <a:solidFill>
                    <a:schemeClr val="tx1"/>
                  </a:solidFill>
                  <a:cs typeface="Arial" pitchFamily="34" charset="0"/>
                </a:rPr>
                <a:t>(IR)</a:t>
              </a:r>
              <a:r>
                <a:rPr lang="ko-KR" altLang="en-US" sz="1100" b="1">
                  <a:solidFill>
                    <a:schemeClr val="tx1"/>
                  </a:solidFill>
                  <a:cs typeface="Arial" pitchFamily="34" charset="0"/>
                </a:rPr>
                <a:t>거래 중 일부</a:t>
              </a:r>
              <a:endParaRPr lang="ko-KR" altLang="en-US" sz="11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C2C9BEAD-8AAB-46C5-855C-618F2A2DAB6E}"/>
              </a:ext>
            </a:extLst>
          </p:cNvPr>
          <p:cNvCxnSpPr>
            <a:cxnSpLocks/>
          </p:cNvCxnSpPr>
          <p:nvPr/>
        </p:nvCxnSpPr>
        <p:spPr>
          <a:xfrm flipH="1">
            <a:off x="3518740" y="2928941"/>
            <a:ext cx="1140802" cy="464"/>
          </a:xfrm>
          <a:prstGeom prst="straightConnector1">
            <a:avLst/>
          </a:prstGeom>
          <a:solidFill>
            <a:schemeClr val="bg1"/>
          </a:solidFill>
          <a:ln w="349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8" name="타원 337">
            <a:extLst>
              <a:ext uri="{FF2B5EF4-FFF2-40B4-BE49-F238E27FC236}">
                <a16:creationId xmlns:a16="http://schemas.microsoft.com/office/drawing/2014/main" id="{8CCA1611-F2E0-4357-BE2A-0D857613C077}"/>
              </a:ext>
            </a:extLst>
          </p:cNvPr>
          <p:cNvSpPr/>
          <p:nvPr/>
        </p:nvSpPr>
        <p:spPr>
          <a:xfrm>
            <a:off x="404086" y="118258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6DAA5BF-FA7E-4CF1-9202-0005D1ACE281}"/>
              </a:ext>
            </a:extLst>
          </p:cNvPr>
          <p:cNvSpPr/>
          <p:nvPr/>
        </p:nvSpPr>
        <p:spPr>
          <a:xfrm>
            <a:off x="3530943" y="1167627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graphicFrame>
        <p:nvGraphicFramePr>
          <p:cNvPr id="344" name="표 61">
            <a:extLst>
              <a:ext uri="{FF2B5EF4-FFF2-40B4-BE49-F238E27FC236}">
                <a16:creationId xmlns:a16="http://schemas.microsoft.com/office/drawing/2014/main" id="{B4981A81-945A-4BDC-9DD7-5EBFDEA6F04F}"/>
              </a:ext>
            </a:extLst>
          </p:cNvPr>
          <p:cNvGraphicFramePr>
            <a:graphicFrameLocks noGrp="1"/>
          </p:cNvGraphicFramePr>
          <p:nvPr/>
        </p:nvGraphicFramePr>
        <p:xfrm>
          <a:off x="362318" y="3732790"/>
          <a:ext cx="3940873" cy="2368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0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43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 </a:t>
                      </a: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요청 만 있는 경우</a:t>
                      </a:r>
                      <a:endParaRPr lang="en-US" altLang="ko-KR" sz="11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 요청 만 있는 거래</a:t>
                      </a: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응답이 없기에 문제소지 없음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43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(IR) 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거래인 경우 </a:t>
                      </a:r>
                      <a:r>
                        <a:rPr lang="ko-KR" altLang="en-US" sz="1100" b="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일부거래</a:t>
                      </a:r>
                      <a:endParaRPr lang="ko-KR" altLang="en-US" sz="1100" b="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(IR)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방식중 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D-1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시점정보와 무관한 데이터로 처리되는 경우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(M/F)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예외적으로 </a:t>
                      </a:r>
                      <a:r>
                        <a:rPr lang="en-US" altLang="ko-KR" sz="105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EAI(IR)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송신시 </a:t>
                      </a:r>
                      <a:r>
                        <a:rPr lang="en-US" altLang="ko-KR" sz="1050" b="1" kern="120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XZMFFIFS-DAY-PMODE-TRAN-YN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EQUAL '1'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설정으로 예외를 허용중</a:t>
                      </a: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</a:tbl>
          </a:graphicData>
        </a:graphic>
      </p:graphicFrame>
      <p:sp>
        <p:nvSpPr>
          <p:cNvPr id="347" name="말풍선: 사각형 346">
            <a:extLst>
              <a:ext uri="{FF2B5EF4-FFF2-40B4-BE49-F238E27FC236}">
                <a16:creationId xmlns:a16="http://schemas.microsoft.com/office/drawing/2014/main" id="{35BC7E72-30F6-42E2-8A35-64AC32E85C8D}"/>
              </a:ext>
            </a:extLst>
          </p:cNvPr>
          <p:cNvSpPr/>
          <p:nvPr/>
        </p:nvSpPr>
        <p:spPr>
          <a:xfrm>
            <a:off x="1462293" y="1961360"/>
            <a:ext cx="762373" cy="204771"/>
          </a:xfrm>
          <a:prstGeom prst="wedgeRectCallout">
            <a:avLst>
              <a:gd name="adj1" fmla="val -63979"/>
              <a:gd name="adj2" fmla="val 49315"/>
            </a:avLst>
          </a:prstGeom>
          <a:solidFill>
            <a:srgbClr val="9999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>
              <a:tabLst>
                <a:tab pos="1238250" algn="l"/>
              </a:tabLst>
            </a:pPr>
            <a:r>
              <a:rPr lang="ko-KR" altLang="en-US" sz="900" kern="0">
                <a:solidFill>
                  <a:schemeClr val="tx1"/>
                </a:solidFill>
                <a:latin typeface="+mn-ea"/>
              </a:rPr>
              <a:t>거래 통제 제외</a:t>
            </a:r>
          </a:p>
        </p:txBody>
      </p:sp>
      <p:sp>
        <p:nvSpPr>
          <p:cNvPr id="348" name="말풍선: 사각형 347">
            <a:extLst>
              <a:ext uri="{FF2B5EF4-FFF2-40B4-BE49-F238E27FC236}">
                <a16:creationId xmlns:a16="http://schemas.microsoft.com/office/drawing/2014/main" id="{85B30A74-6D9E-464D-B38D-08AF5A2F3F68}"/>
              </a:ext>
            </a:extLst>
          </p:cNvPr>
          <p:cNvSpPr/>
          <p:nvPr/>
        </p:nvSpPr>
        <p:spPr>
          <a:xfrm>
            <a:off x="4575388" y="2021035"/>
            <a:ext cx="762373" cy="204771"/>
          </a:xfrm>
          <a:prstGeom prst="wedgeRectCallout">
            <a:avLst>
              <a:gd name="adj1" fmla="val -63979"/>
              <a:gd name="adj2" fmla="val 49315"/>
            </a:avLst>
          </a:prstGeom>
          <a:solidFill>
            <a:srgbClr val="9999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>
              <a:tabLst>
                <a:tab pos="1238250" algn="l"/>
              </a:tabLst>
            </a:pPr>
            <a:r>
              <a:rPr lang="ko-KR" altLang="en-US" sz="900" kern="0">
                <a:solidFill>
                  <a:schemeClr val="tx1"/>
                </a:solidFill>
                <a:latin typeface="+mn-ea"/>
              </a:rPr>
              <a:t>거래 통제 제외</a:t>
            </a:r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DDD5B629-3045-4031-8710-384D395A25E3}"/>
              </a:ext>
            </a:extLst>
          </p:cNvPr>
          <p:cNvSpPr/>
          <p:nvPr/>
        </p:nvSpPr>
        <p:spPr>
          <a:xfrm>
            <a:off x="697238" y="4974909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52" name="타원 351">
            <a:extLst>
              <a:ext uri="{FF2B5EF4-FFF2-40B4-BE49-F238E27FC236}">
                <a16:creationId xmlns:a16="http://schemas.microsoft.com/office/drawing/2014/main" id="{FFE5D8EB-AB75-47D2-9FE3-4AD584A4011A}"/>
              </a:ext>
            </a:extLst>
          </p:cNvPr>
          <p:cNvSpPr/>
          <p:nvPr/>
        </p:nvSpPr>
        <p:spPr>
          <a:xfrm>
            <a:off x="692919" y="384842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graphicFrame>
        <p:nvGraphicFramePr>
          <p:cNvPr id="354" name="표 61">
            <a:extLst>
              <a:ext uri="{FF2B5EF4-FFF2-40B4-BE49-F238E27FC236}">
                <a16:creationId xmlns:a16="http://schemas.microsoft.com/office/drawing/2014/main" id="{2162CBBE-D5EB-46D7-8905-C07388979418}"/>
              </a:ext>
            </a:extLst>
          </p:cNvPr>
          <p:cNvGraphicFramePr>
            <a:graphicFrameLocks noGrp="1"/>
          </p:cNvGraphicFramePr>
          <p:nvPr/>
        </p:nvGraphicFramePr>
        <p:xfrm>
          <a:off x="5284706" y="3744560"/>
          <a:ext cx="3772750" cy="2368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0217"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비동기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요청거래 만 있는 거래 통제 예외처리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(SAF or IR)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송신 전 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setDayPmodeTranYn(true);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설정을 예외로 세트하면 예외 처리</a:t>
                      </a: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8385"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M/F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과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동일한 방식으로 업무 프로그램에서 일자전환 간 거래 허용 여부를 세트하면 예외로 거래 허용</a:t>
                      </a: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송신 전 </a:t>
                      </a:r>
                      <a:r>
                        <a:rPr lang="en-US" altLang="ko-KR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setDayPmodeTranYn(true);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05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설정을 예외로 세트하면 예외 처리</a:t>
                      </a: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altLang="ko-KR" sz="1050" b="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</a:tbl>
          </a:graphicData>
        </a:graphic>
      </p:graphicFrame>
      <p:sp>
        <p:nvSpPr>
          <p:cNvPr id="358" name="화살표: 줄무늬가 있는 오른쪽 357">
            <a:extLst>
              <a:ext uri="{FF2B5EF4-FFF2-40B4-BE49-F238E27FC236}">
                <a16:creationId xmlns:a16="http://schemas.microsoft.com/office/drawing/2014/main" id="{7E74F1E1-F0AC-4F70-B512-A51A5FC6D561}"/>
              </a:ext>
            </a:extLst>
          </p:cNvPr>
          <p:cNvSpPr/>
          <p:nvPr/>
        </p:nvSpPr>
        <p:spPr>
          <a:xfrm>
            <a:off x="4498232" y="3913885"/>
            <a:ext cx="591433" cy="1977405"/>
          </a:xfrm>
          <a:prstGeom prst="stripedRightArrow">
            <a:avLst/>
          </a:prstGeom>
          <a:solidFill>
            <a:srgbClr val="9999FF">
              <a:alpha val="82000"/>
            </a:srgbClr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552" tIns="42927" rIns="82552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550"/>
              </a:spcBef>
            </a:pPr>
            <a:endParaRPr lang="ko-KR" altLang="en-US" sz="825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362" name="순서도: 카드 361">
            <a:extLst>
              <a:ext uri="{FF2B5EF4-FFF2-40B4-BE49-F238E27FC236}">
                <a16:creationId xmlns:a16="http://schemas.microsoft.com/office/drawing/2014/main" id="{DF1FB061-A7ED-48F3-85A3-57FD2786C53B}"/>
              </a:ext>
            </a:extLst>
          </p:cNvPr>
          <p:cNvSpPr/>
          <p:nvPr/>
        </p:nvSpPr>
        <p:spPr>
          <a:xfrm>
            <a:off x="6382812" y="1450636"/>
            <a:ext cx="2546287" cy="1978000"/>
          </a:xfrm>
          <a:prstGeom prst="flowChartPunchedCard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  <a:r>
              <a:rPr lang="ko-KR" altLang="en-US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중략</a:t>
            </a: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  <a:r>
              <a:rPr lang="ko-KR" altLang="en-US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900" b="0" kern="1200" baseline="0">
              <a:solidFill>
                <a:schemeClr val="dk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endParaRPr lang="en-US" altLang="ko-KR" sz="900">
              <a:solidFill>
                <a:schemeClr val="dk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OutboundHeader outboundHeader = </a:t>
            </a: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 OutboundHeader(onlineCtx);</a:t>
            </a: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endParaRPr lang="en-US" altLang="ko-KR" sz="900" b="0" kern="1200" baseline="0">
              <a:solidFill>
                <a:schemeClr val="dk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outboundHeader.</a:t>
            </a:r>
            <a:r>
              <a:rPr lang="en-US" altLang="ko-KR" sz="900" b="1" kern="1200" baseline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setDayPmodeTranYn</a:t>
            </a: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900" b="1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endParaRPr lang="en-US" altLang="ko-KR" sz="900">
              <a:solidFill>
                <a:schemeClr val="dk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  <a:r>
              <a:rPr lang="ko-KR" altLang="en-US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중략</a:t>
            </a:r>
            <a:r>
              <a:rPr lang="en-US" altLang="ko-KR" sz="900" b="0" kern="1200" baseline="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9331106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소스저장소 명명규칙</a:t>
            </a:r>
          </a:p>
        </p:txBody>
      </p:sp>
      <p:sp>
        <p:nvSpPr>
          <p:cNvPr id="31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ko-KR" altLang="en-US" dirty="0" err="1"/>
              <a:t>계정계</a:t>
            </a:r>
            <a:r>
              <a:rPr lang="ko-KR" altLang="en-US" dirty="0"/>
              <a:t> 업무도입</a:t>
            </a:r>
            <a:r>
              <a:rPr lang="en-US" altLang="ko-KR" dirty="0"/>
              <a:t>(</a:t>
            </a:r>
            <a:r>
              <a:rPr lang="ko-KR" altLang="en-US" dirty="0"/>
              <a:t>일자전환</a:t>
            </a:r>
            <a:r>
              <a:rPr lang="en-US" altLang="ko-KR" dirty="0"/>
              <a:t>)</a:t>
            </a:r>
            <a:r>
              <a:rPr lang="ko-KR" altLang="en-US" dirty="0"/>
              <a:t> 관련 소스저장소 명명규칙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D28365E-4178-44BD-A7AE-6E288E6E4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746302"/>
              </p:ext>
            </p:extLst>
          </p:nvPr>
        </p:nvGraphicFramePr>
        <p:xfrm>
          <a:off x="381000" y="1304764"/>
          <a:ext cx="9287646" cy="247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580">
                  <a:extLst>
                    <a:ext uri="{9D8B030D-6E8A-4147-A177-3AD203B41FA5}">
                      <a16:colId xmlns:a16="http://schemas.microsoft.com/office/drawing/2014/main" val="3375359350"/>
                    </a:ext>
                  </a:extLst>
                </a:gridCol>
                <a:gridCol w="601511">
                  <a:extLst>
                    <a:ext uri="{9D8B030D-6E8A-4147-A177-3AD203B41FA5}">
                      <a16:colId xmlns:a16="http://schemas.microsoft.com/office/drawing/2014/main" val="244884971"/>
                    </a:ext>
                  </a:extLst>
                </a:gridCol>
                <a:gridCol w="842611">
                  <a:extLst>
                    <a:ext uri="{9D8B030D-6E8A-4147-A177-3AD203B41FA5}">
                      <a16:colId xmlns:a16="http://schemas.microsoft.com/office/drawing/2014/main" val="2384199956"/>
                    </a:ext>
                  </a:extLst>
                </a:gridCol>
                <a:gridCol w="2264290">
                  <a:extLst>
                    <a:ext uri="{9D8B030D-6E8A-4147-A177-3AD203B41FA5}">
                      <a16:colId xmlns:a16="http://schemas.microsoft.com/office/drawing/2014/main" val="557974849"/>
                    </a:ext>
                  </a:extLst>
                </a:gridCol>
                <a:gridCol w="621069">
                  <a:extLst>
                    <a:ext uri="{9D8B030D-6E8A-4147-A177-3AD203B41FA5}">
                      <a16:colId xmlns:a16="http://schemas.microsoft.com/office/drawing/2014/main" val="710292047"/>
                    </a:ext>
                  </a:extLst>
                </a:gridCol>
                <a:gridCol w="621069">
                  <a:extLst>
                    <a:ext uri="{9D8B030D-6E8A-4147-A177-3AD203B41FA5}">
                      <a16:colId xmlns:a16="http://schemas.microsoft.com/office/drawing/2014/main" val="3746169923"/>
                    </a:ext>
                  </a:extLst>
                </a:gridCol>
                <a:gridCol w="621069">
                  <a:extLst>
                    <a:ext uri="{9D8B030D-6E8A-4147-A177-3AD203B41FA5}">
                      <a16:colId xmlns:a16="http://schemas.microsoft.com/office/drawing/2014/main" val="1179394203"/>
                    </a:ext>
                  </a:extLst>
                </a:gridCol>
                <a:gridCol w="621069">
                  <a:extLst>
                    <a:ext uri="{9D8B030D-6E8A-4147-A177-3AD203B41FA5}">
                      <a16:colId xmlns:a16="http://schemas.microsoft.com/office/drawing/2014/main" val="525203789"/>
                    </a:ext>
                  </a:extLst>
                </a:gridCol>
                <a:gridCol w="2303378">
                  <a:extLst>
                    <a:ext uri="{9D8B030D-6E8A-4147-A177-3AD203B41FA5}">
                      <a16:colId xmlns:a16="http://schemas.microsoft.com/office/drawing/2014/main" val="2237545374"/>
                    </a:ext>
                  </a:extLst>
                </a:gridCol>
              </a:tblGrid>
              <a:tr h="331614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버전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업무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일자전환 연계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저장소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정기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배포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긴급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배포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예약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배포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즉시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배포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업무예시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57060"/>
                  </a:ext>
                </a:extLst>
              </a:tr>
              <a:tr h="41812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n-KESA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/>
                        <a:t>서버업무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/>
                        <a:t>X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</a:t>
                      </a:r>
                      <a:r>
                        <a:rPr lang="en-US" altLang="ko-KR" sz="1000" dirty="0" err="1"/>
                        <a:t>njava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</a:t>
                      </a:r>
                      <a:r>
                        <a:rPr lang="en-US" altLang="ko-KR" sz="1000" dirty="0" err="1"/>
                        <a:t>nbatch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</a:t>
                      </a:r>
                      <a:r>
                        <a:rPr lang="en-US" altLang="ko-KR" sz="1000" dirty="0" err="1"/>
                        <a:t>nconfig</a:t>
                      </a:r>
                      <a:r>
                        <a:rPr lang="en-US" altLang="ko-KR" sz="1000" dirty="0"/>
                        <a:t> 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345530"/>
                  </a:ext>
                </a:extLst>
              </a:tr>
              <a:tr h="418128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n-KESA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 err="1"/>
                        <a:t>계정계</a:t>
                      </a:r>
                      <a:r>
                        <a:rPr lang="ko-KR" altLang="en-US" sz="1000" dirty="0"/>
                        <a:t> 업무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/>
                        <a:t>O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업무코드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core-n2java </a:t>
                      </a:r>
                      <a:b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업무코드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core-n2batch </a:t>
                      </a:r>
                      <a:b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업무코드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core-n2config  </a:t>
                      </a:r>
                    </a:p>
                  </a:txBody>
                  <a:tcPr marL="95250" marR="95250" marT="66675" marB="6667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ctr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ctr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 err="1"/>
                        <a:t>nka,nkb,nkc,nkd,nke,tbh,kaa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85035"/>
                  </a:ext>
                </a:extLst>
              </a:tr>
              <a:tr h="418128"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/>
                        <a:t>공통성 업무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/>
                        <a:t>O / X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-comm-n2java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-comm-n2batch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-comm-n2config 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Wingdings" panose="05000000000000000000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en-US" altLang="ko-KR" sz="1000" dirty="0" err="1"/>
                        <a:t>kji,sqc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650508"/>
                  </a:ext>
                </a:extLst>
              </a:tr>
              <a:tr h="4181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서버 업무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X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-server-n2java 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-server-n2batch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업무코드</a:t>
                      </a:r>
                      <a:r>
                        <a:rPr lang="en-US" altLang="ko-KR" sz="1000" dirty="0"/>
                        <a:t>-server-n2config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8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22527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847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83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0&quot;/&gt;&lt;/m_mruColor&gt;&lt;m_mapectfillschemeMRU&gt;&lt;key val=&quot;0&quot;/&gt;&lt;elem&gt;&lt;m_nPartnerID val=&quot;556&quot;/&gt;&lt;m_nIndex val=&quot;1&quot;/&gt;&lt;/elem&gt;&lt;key val=&quot;1&quot;/&gt;&lt;elem&gt;&lt;m_nPartnerID val=&quot;556&quot;/&gt;&lt;m_nIndex val=&quot;1&quot;/&gt;&lt;/elem&gt;&lt;key val=&quot;2&quot;/&gt;&lt;elem&gt;&lt;m_nPartnerID val=&quot;556&quot;/&gt;&lt;m_nIndex val=&quot;1&quot;/&gt;&lt;/elem&gt;&lt;key val=&quot;3&quot;/&gt;&lt;elem&gt;&lt;m_nPartnerID val=&quot;556&quot;/&gt;&lt;m_nIndex val=&quot;2&quot;/&gt;&lt;/elem&gt;&lt;key val=&quot;4&quot;/&gt;&lt;elem&gt;&lt;m_nPartnerID val=&quot;556&quot;/&gt;&lt;m_nIndex val=&quot;1&quot;/&gt;&lt;/elem&gt;&lt;/m_mapectfillschemeMRU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2147483647&quot;/&gt;&lt;m_chDecimalSymbol17909&gt;.&lt;/m_chDecimalSymbol17909&gt;&lt;m_nGroupingDigits17909 val=&quot;2147483647&quot;/&gt;&lt;/m_precDefault&gt;&lt;/CDefaultPrec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 K 프로젝트">
  <a:themeElements>
    <a:clrScheme name="The-K">
      <a:dk1>
        <a:srgbClr val="000000"/>
      </a:dk1>
      <a:lt1>
        <a:srgbClr val="FFFFFF"/>
      </a:lt1>
      <a:dk2>
        <a:srgbClr val="FFD200"/>
      </a:dk2>
      <a:lt2>
        <a:srgbClr val="FFE600"/>
      </a:lt2>
      <a:accent1>
        <a:srgbClr val="1F497D"/>
      </a:accent1>
      <a:accent2>
        <a:srgbClr val="C00000"/>
      </a:accent2>
      <a:accent3>
        <a:srgbClr val="9BBB59"/>
      </a:accent3>
      <a:accent4>
        <a:srgbClr val="858274"/>
      </a:accent4>
      <a:accent5>
        <a:srgbClr val="FFA600"/>
      </a:accent5>
      <a:accent6>
        <a:srgbClr val="62574A"/>
      </a:accent6>
      <a:hlink>
        <a:srgbClr val="364086"/>
      </a:hlink>
      <a:folHlink>
        <a:srgbClr val="A3AADA"/>
      </a:folHlink>
    </a:clrScheme>
    <a:fontScheme name="The K 공식글꼴 Medium-Light">
      <a:majorFont>
        <a:latin typeface="KB금융 제목체 Medium"/>
        <a:ea typeface="KB금융 제목체 Medium"/>
        <a:cs typeface=""/>
      </a:majorFont>
      <a:minorFont>
        <a:latin typeface="KB금융 본문체 Light"/>
        <a:ea typeface="KB금융 본문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 cap="flat">
          <a:solidFill>
            <a:schemeClr val="bg1">
              <a:lumMod val="50000"/>
            </a:schemeClr>
          </a:solidFill>
          <a:miter lim="800000"/>
        </a:ln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defRPr sz="900" smtClean="0">
            <a:solidFill>
              <a:schemeClr val="tx1"/>
            </a:solidFill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arrow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  <a:txDef>
      <a:spPr>
        <a:noFill/>
        <a:ln w="6350" cap="flat">
          <a:noFill/>
          <a:miter lim="800000"/>
        </a:ln>
      </a:spPr>
      <a:bodyPr wrap="none" lIns="72000" tIns="36000" rIns="72000" bIns="36000" rtlCol="0" anchor="ctr" anchorCtr="0">
        <a:spAutoFit/>
      </a:bodyPr>
      <a:lstStyle>
        <a:defPPr>
          <a:lnSpc>
            <a:spcPct val="90000"/>
          </a:lnSpc>
          <a:defRPr sz="1000" dirty="0" smtClean="0">
            <a:cs typeface="Arial" pitchFamily="34" charset="0"/>
          </a:defRPr>
        </a:defPPr>
      </a:lstStyle>
    </a:txDef>
  </a:objectDefaults>
  <a:extraClrSchemeLst/>
  <a:custClrLst>
    <a:custClr name="Custom Color 1">
      <a:srgbClr val="9B1717"/>
    </a:custClr>
    <a:custClr name="Custom Color 2">
      <a:srgbClr val="DCDC00"/>
    </a:custClr>
    <a:custClr name="Custom Color 3">
      <a:srgbClr val="289055"/>
    </a:custClr>
  </a:custClrLst>
  <a:extLst>
    <a:ext uri="{05A4C25C-085E-4340-85A3-A5531E510DB2}">
      <thm15:themeFamily xmlns:thm15="http://schemas.microsoft.com/office/thememl/2012/main" name="Blank.potx" id="{640276DA-974F-4972-AC73-9FCF75EFFC11}" vid="{6D8D49E7-FB85-45D6-8CFF-1757C33FAB73}"/>
    </a:ext>
  </a:extLst>
</a:theme>
</file>

<file path=ppt/theme/theme2.xml><?xml version="1.0" encoding="utf-8"?>
<a:theme xmlns:a="http://schemas.openxmlformats.org/drawingml/2006/main" name="Office Theme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19384</Words>
  <Application>Microsoft Office PowerPoint</Application>
  <PresentationFormat>A4 용지(210x297mm)</PresentationFormat>
  <Paragraphs>4973</Paragraphs>
  <Slides>110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110</vt:i4>
      </vt:variant>
    </vt:vector>
  </HeadingPairs>
  <TitlesOfParts>
    <vt:vector size="128" baseType="lpstr">
      <vt:lpstr>-2002</vt:lpstr>
      <vt:lpstr>D2Coding</vt:lpstr>
      <vt:lpstr>KB금융 본문체 Bold</vt:lpstr>
      <vt:lpstr>KB금융 본문체 Light</vt:lpstr>
      <vt:lpstr>KB금융 본문체 Medium</vt:lpstr>
      <vt:lpstr>KB금융 제목체 Bold</vt:lpstr>
      <vt:lpstr>KB금융 제목체 Light</vt:lpstr>
      <vt:lpstr>KB금융 제목체 Medium</vt:lpstr>
      <vt:lpstr>굴림체</vt:lpstr>
      <vt:lpstr>나눔고딕코딩</vt:lpstr>
      <vt:lpstr>돋움체</vt:lpstr>
      <vt:lpstr>맑은 고딕</vt:lpstr>
      <vt:lpstr>Arial</vt:lpstr>
      <vt:lpstr>Book Antiqua</vt:lpstr>
      <vt:lpstr>Consolas</vt:lpstr>
      <vt:lpstr>Wingdings</vt:lpstr>
      <vt:lpstr>The K 프로젝트</vt:lpstr>
      <vt:lpstr>think-cell Slide</vt:lpstr>
      <vt:lpstr>아키텍처정의서</vt:lpstr>
      <vt:lpstr>개정 이력</vt:lpstr>
      <vt:lpstr>PowerPoint 프레젠테이션</vt:lpstr>
      <vt:lpstr>전행 표준 프레임워크 개요</vt:lpstr>
      <vt:lpstr>프레임워크 적용 대상 업무</vt:lpstr>
      <vt:lpstr>PowerPoint 프레젠테이션</vt:lpstr>
      <vt:lpstr>컴포넌트 아키텍처</vt:lpstr>
      <vt:lpstr>어플리케이션 계층구조 – nKESA 2.0</vt:lpstr>
      <vt:lpstr>컴포넌트 내부 디렉토리 구조</vt:lpstr>
      <vt:lpstr>컴포넌트 호출관계</vt:lpstr>
      <vt:lpstr>PowerPoint 프레젠테이션</vt:lpstr>
      <vt:lpstr>PowerPoint 프레젠테이션</vt:lpstr>
      <vt:lpstr>통합 개발 환경</vt:lpstr>
      <vt:lpstr>로컬 개발 환경 디렉토리</vt:lpstr>
      <vt:lpstr>형상관리 연계</vt:lpstr>
      <vt:lpstr>프레임워크 런타임 / 어플리케이션 배포 디렉토리 </vt:lpstr>
      <vt:lpstr>개발 서버 어플리케이션 배포</vt:lpstr>
      <vt:lpstr>업무프로그램 적용</vt:lpstr>
      <vt:lpstr>운영 서버 어플리케이션 배포 (운영)</vt:lpstr>
      <vt:lpstr>nKESA2.0 자원 배포 경로</vt:lpstr>
      <vt:lpstr>개발도구서버(IDE 서버) 개요 </vt:lpstr>
      <vt:lpstr>업무별 개발도구서버 구성</vt:lpstr>
      <vt:lpstr>템플릿 관리</vt:lpstr>
      <vt:lpstr>메타 연계</vt:lpstr>
      <vt:lpstr>프로그램 변경 영향도 분석  </vt:lpstr>
      <vt:lpstr>PowerPoint 프레젠테이션</vt:lpstr>
      <vt:lpstr>프레임워크 구성도</vt:lpstr>
      <vt:lpstr>거래 기본 패턴</vt:lpstr>
      <vt:lpstr>연동거래</vt:lpstr>
      <vt:lpstr>비동기 연동거래 ( Non-Transactional )</vt:lpstr>
      <vt:lpstr>비동기 연동거래 ( Transactional )</vt:lpstr>
      <vt:lpstr>동기거래 + 비동기 보상패턴</vt:lpstr>
      <vt:lpstr>지연 비동기 연동거래 ( Timer )</vt:lpstr>
      <vt:lpstr>중단 거래</vt:lpstr>
      <vt:lpstr>페이징 거래</vt:lpstr>
      <vt:lpstr>온디맨드 배치</vt:lpstr>
      <vt:lpstr>인터페이스 거래 개요</vt:lpstr>
      <vt:lpstr>통신방식 정의</vt:lpstr>
      <vt:lpstr>Outbound + Sync 패턴</vt:lpstr>
      <vt:lpstr>Outbound + Async + 무응답</vt:lpstr>
      <vt:lpstr>Outbound + Async + 응답 + Timeout</vt:lpstr>
      <vt:lpstr>Inbound + Sync 패턴</vt:lpstr>
      <vt:lpstr>GUID 생성 규칙</vt:lpstr>
      <vt:lpstr>거래 복원 처리 방안</vt:lpstr>
      <vt:lpstr>책임자 승인 거래 처리 방안</vt:lpstr>
      <vt:lpstr>취소 거래 처리 방안(1/2)</vt:lpstr>
      <vt:lpstr>취소 거래 처리 방안(2/2)</vt:lpstr>
      <vt:lpstr>대량 입력 처리 방안</vt:lpstr>
      <vt:lpstr>대량 출력 처리 방안</vt:lpstr>
      <vt:lpstr>프레임워크 선후 처리 필터 개요</vt:lpstr>
      <vt:lpstr>선후처리 실행 흐름</vt:lpstr>
      <vt:lpstr>영역별 선후처리</vt:lpstr>
      <vt:lpstr>DataSource 매핑</vt:lpstr>
      <vt:lpstr>온라인 FW 트랜잭션 처리</vt:lpstr>
      <vt:lpstr>Common Area 관리</vt:lpstr>
      <vt:lpstr>연동거래시 Common Area 복제</vt:lpstr>
      <vt:lpstr>CDC Common Area 관리</vt:lpstr>
      <vt:lpstr>거래로그 구성</vt:lpstr>
      <vt:lpstr>중계로그 (전문로그) 처리 </vt:lpstr>
      <vt:lpstr>로그 파일</vt:lpstr>
      <vt:lpstr>디버깅 로그 레벨 제어 </vt:lpstr>
      <vt:lpstr>로그에 국가별 시간대 표기 방안</vt:lpstr>
      <vt:lpstr>거래 프로파일 </vt:lpstr>
      <vt:lpstr>전행 공통 거래 제어</vt:lpstr>
      <vt:lpstr>Exception 처리 </vt:lpstr>
      <vt:lpstr>멀티 Exception</vt:lpstr>
      <vt:lpstr>거래 에러 로그 &gt; 예외로그</vt:lpstr>
      <vt:lpstr>거래 에러 로그 &gt; 전문로그, 거래로그, 에러로그의 통합로그</vt:lpstr>
      <vt:lpstr>거래 에러 로그 &gt; 에러시 SMS 통지</vt:lpstr>
      <vt:lpstr>전행 공통 에러 메시지 연계</vt:lpstr>
      <vt:lpstr>캐시 관리</vt:lpstr>
      <vt:lpstr>배치 프로그램 실행 구조</vt:lpstr>
      <vt:lpstr>배치 어플리케이션 구조</vt:lpstr>
      <vt:lpstr>배치 FW 트랜잭션 처리</vt:lpstr>
      <vt:lpstr>배치에서의 변경로그 기록 및 구조</vt:lpstr>
      <vt:lpstr>배치에서의 변경로그 기록 및 구조</vt:lpstr>
      <vt:lpstr>센터컷 처리 Flow – 주기적 처리</vt:lpstr>
      <vt:lpstr>센터컷 처리 Flow – 실시간 처리</vt:lpstr>
      <vt:lpstr>센터컷 에러 재처리</vt:lpstr>
      <vt:lpstr>센터컷 실행 프로그램 및 모니터링 구성</vt:lpstr>
      <vt:lpstr>PowerPoint 프레젠테이션</vt:lpstr>
      <vt:lpstr>MMI 연계 방안</vt:lpstr>
      <vt:lpstr>MMI 수신 주소</vt:lpstr>
      <vt:lpstr>MCI 연계 방안 – Inbound</vt:lpstr>
      <vt:lpstr>MCI 연계 방안 - Outbound</vt:lpstr>
      <vt:lpstr>EAI 연계 방안(1/2)</vt:lpstr>
      <vt:lpstr>EAI 연계 방안(2/2)</vt:lpstr>
      <vt:lpstr>IR / SAF 방식 구분</vt:lpstr>
      <vt:lpstr>EAI 인터페이스 구현 상세 – Outbound</vt:lpstr>
      <vt:lpstr>전송요구 ID </vt:lpstr>
      <vt:lpstr>원격 호출 개요</vt:lpstr>
      <vt:lpstr>PowerPoint 프레젠테이션</vt:lpstr>
      <vt:lpstr>AP 서버 디렉토리 (n-KESA 2.0) </vt:lpstr>
      <vt:lpstr>런타임 노드 / 서비스 그룹 / 프레임워크 도메인</vt:lpstr>
      <vt:lpstr>멀티 서비스 그룹 구성 방안</vt:lpstr>
      <vt:lpstr>VM 방식 멀티 WAS 환경에서 프레임워크 구성 방안 (WEB 포트 분리)</vt:lpstr>
      <vt:lpstr> 모바일 모니터링 </vt:lpstr>
      <vt:lpstr>PowerPoint 프레젠테이션</vt:lpstr>
      <vt:lpstr>PowerPoint 프레젠테이션</vt:lpstr>
      <vt:lpstr>PowerPoint 프레젠테이션</vt:lpstr>
      <vt:lpstr>PowerPoint 프레젠테이션</vt:lpstr>
      <vt:lpstr>계획정지 &gt; 본원장 반영</vt:lpstr>
      <vt:lpstr>상품처리 일자 전환 및 일자 변경 절차</vt:lpstr>
      <vt:lpstr>상품처리 일자 전환 및 일자 변경 절차</vt:lpstr>
      <vt:lpstr>계획정지 &gt; 본원장 반영시간 단축 방안 &gt; 배치 병렬처리</vt:lpstr>
      <vt:lpstr>거래통제(일자전환간 거래통제)</vt:lpstr>
      <vt:lpstr>거래통제(일자전환간 거래통제-EAI 송신 통제)</vt:lpstr>
      <vt:lpstr>거래통제(일자전환간 거래통제-예외)</vt:lpstr>
      <vt:lpstr>소스저장소 명명규칙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2016-05-10T05:57:35Z</dcterms:created>
  <dcterms:modified xsi:type="dcterms:W3CDTF">2026-01-27T08:35:14Z</dcterms:modified>
  <cp:version>042016</cp:version>
</cp:coreProperties>
</file>