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gs/tag2.xml" ContentType="application/vnd.openxmlformats-officedocument.presentationml.tag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13"/>
  </p:notesMasterIdLst>
  <p:handoutMasterIdLst>
    <p:handoutMasterId r:id="rId14"/>
  </p:handoutMasterIdLst>
  <p:sldIdLst>
    <p:sldId id="1293" r:id="rId2"/>
    <p:sldId id="1465" r:id="rId3"/>
    <p:sldId id="1535" r:id="rId4"/>
    <p:sldId id="1466" r:id="rId5"/>
    <p:sldId id="1536" r:id="rId6"/>
    <p:sldId id="1478" r:id="rId7"/>
    <p:sldId id="1448" r:id="rId8"/>
    <p:sldId id="1449" r:id="rId9"/>
    <p:sldId id="1502" r:id="rId10"/>
    <p:sldId id="1537" r:id="rId11"/>
    <p:sldId id="1298" r:id="rId12"/>
  </p:sldIdLst>
  <p:sldSz cx="9906000" cy="6858000" type="A4"/>
  <p:notesSz cx="9940925" cy="6808788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5" userDrawn="1">
          <p15:clr>
            <a:srgbClr val="A4A3A4"/>
          </p15:clr>
        </p15:guide>
        <p15:guide id="4" orient="horz" pos="3566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1684" userDrawn="1">
          <p15:clr>
            <a:srgbClr val="A4A3A4"/>
          </p15:clr>
        </p15:guide>
        <p15:guide id="7" pos="2893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9" pos="3415" userDrawn="1">
          <p15:clr>
            <a:srgbClr val="A4A3A4"/>
          </p15:clr>
        </p15:guide>
        <p15:guide id="10" pos="5751" userDrawn="1">
          <p15:clr>
            <a:srgbClr val="A4A3A4"/>
          </p15:clr>
        </p15:guide>
        <p15:guide id="11" pos="5602">
          <p15:clr>
            <a:srgbClr val="A4A3A4"/>
          </p15:clr>
        </p15:guide>
        <p15:guide id="12" pos="2644" userDrawn="1">
          <p15:clr>
            <a:srgbClr val="A4A3A4"/>
          </p15:clr>
        </p15:guide>
        <p15:guide id="13" pos="158">
          <p15:clr>
            <a:srgbClr val="A4A3A4"/>
          </p15:clr>
        </p15:guide>
        <p15:guide id="14" orient="horz" pos="391" userDrawn="1">
          <p15:clr>
            <a:srgbClr val="A4A3A4"/>
          </p15:clr>
        </p15:guide>
        <p15:guide id="24" pos="6091">
          <p15:clr>
            <a:srgbClr val="A4A3A4"/>
          </p15:clr>
        </p15:guide>
        <p15:guide id="25" pos="1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  <p15:guide id="3" orient="horz" pos="2146" userDrawn="1">
          <p15:clr>
            <a:srgbClr val="A4A3A4"/>
          </p15:clr>
        </p15:guide>
        <p15:guide id="4" pos="3109" userDrawn="1">
          <p15:clr>
            <a:srgbClr val="A4A3A4"/>
          </p15:clr>
        </p15:guide>
        <p15:guide id="5" pos="2159" userDrawn="1">
          <p15:clr>
            <a:srgbClr val="A4A3A4"/>
          </p15:clr>
        </p15:guide>
        <p15:guide id="6" pos="313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89055"/>
    <a:srgbClr val="33CC33"/>
    <a:srgbClr val="FF3300"/>
    <a:srgbClr val="9999FF"/>
    <a:srgbClr val="FFE466"/>
    <a:srgbClr val="9B1717"/>
    <a:srgbClr val="FFFFCC"/>
    <a:srgbClr val="0070C0"/>
    <a:srgbClr val="FFF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86" autoAdjust="0"/>
    <p:restoredTop sz="96400" autoAdjust="0"/>
  </p:normalViewPr>
  <p:slideViewPr>
    <p:cSldViewPr snapToObjects="1" showGuides="1">
      <p:cViewPr varScale="1">
        <p:scale>
          <a:sx n="115" d="100"/>
          <a:sy n="115" d="100"/>
        </p:scale>
        <p:origin x="750" y="102"/>
      </p:cViewPr>
      <p:guideLst>
        <p:guide orient="horz" pos="1275"/>
        <p:guide orient="horz" pos="3566"/>
        <p:guide orient="horz" pos="3929"/>
        <p:guide orient="horz" pos="1684"/>
        <p:guide pos="2893"/>
        <p:guide pos="3120"/>
        <p:guide pos="3415"/>
        <p:guide pos="5751"/>
        <p:guide pos="5602"/>
        <p:guide pos="2644"/>
        <p:guide pos="158"/>
        <p:guide orient="horz" pos="391"/>
        <p:guide pos="6091"/>
        <p:guide pos="14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3672"/>
    </p:cViewPr>
  </p:sorterViewPr>
  <p:notesViewPr>
    <p:cSldViewPr snapToObjects="1" showGuides="1">
      <p:cViewPr varScale="1">
        <p:scale>
          <a:sx n="117" d="100"/>
          <a:sy n="117" d="100"/>
        </p:scale>
        <p:origin x="2058" y="90"/>
      </p:cViewPr>
      <p:guideLst>
        <p:guide orient="horz" pos="3132"/>
        <p:guide pos="2144"/>
        <p:guide orient="horz" pos="2146"/>
        <p:guide pos="3109"/>
        <p:guide pos="2159"/>
        <p:guide pos="313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2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30934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r">
              <a:defRPr sz="1200"/>
            </a:lvl1pPr>
          </a:lstStyle>
          <a:p>
            <a:fld id="{37497BA2-BE1C-4EE9-A31C-7FFCDEBC3FDE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5/21/2025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2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30934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r">
              <a:defRPr sz="1200"/>
            </a:lvl1pPr>
          </a:lstStyle>
          <a:p>
            <a:fld id="{F0C191C2-D4F7-424F-868C-23ADE6615EBC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55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2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0934" y="16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732C4D34-2C19-43C3-91CC-9F2B4AC12977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27375" y="512763"/>
            <a:ext cx="36861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273" tIns="49637" rIns="99273" bIns="4963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093" y="3234179"/>
            <a:ext cx="7952740" cy="3063955"/>
          </a:xfrm>
          <a:prstGeom prst="rect">
            <a:avLst/>
          </a:prstGeom>
        </p:spPr>
        <p:txBody>
          <a:bodyPr vert="horz" lIns="99273" tIns="49637" rIns="99273" bIns="49637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2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0934" y="6467188"/>
            <a:ext cx="4307734" cy="340441"/>
          </a:xfrm>
          <a:prstGeom prst="rect">
            <a:avLst/>
          </a:prstGeom>
        </p:spPr>
        <p:txBody>
          <a:bodyPr vert="horz" lIns="99273" tIns="49637" rIns="99273" bIns="49637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D256E95E-57AA-4526-AA4C-3002F47FB1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0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6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)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/>
          <p:cNvSpPr txBox="1">
            <a:spLocks/>
          </p:cNvSpPr>
          <p:nvPr userDrawn="1"/>
        </p:nvSpPr>
        <p:spPr>
          <a:xfrm>
            <a:off x="1172580" y="1052736"/>
            <a:ext cx="4356484" cy="54000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0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Medium" panose="020B0603000000000000" pitchFamily="50" charset="-127"/>
                <a:ea typeface="KB금융 제목체 Medium" panose="020B0603000000000000" pitchFamily="50" charset="-127"/>
                <a:cs typeface="+mn-cs"/>
              </a:defRPr>
            </a:lvl1pPr>
          </a:lstStyle>
          <a:p>
            <a:r>
              <a:rPr lang="ko-KR" altLang="en-US" dirty="0" smtClean="0">
                <a:solidFill>
                  <a:schemeClr val="tx1"/>
                </a:solidFill>
                <a:latin typeface="+mj-lt"/>
                <a:ea typeface="+mj-ea"/>
              </a:rPr>
              <a:t>목차</a:t>
            </a:r>
            <a:endParaRPr lang="ko-KR" altLang="en-US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796389" y="1808820"/>
            <a:ext cx="9109611" cy="59511"/>
            <a:chOff x="1367282" y="2096852"/>
            <a:chExt cx="4249697" cy="72008"/>
          </a:xfrm>
        </p:grpSpPr>
        <p:sp>
          <p:nvSpPr>
            <p:cNvPr id="7" name="직사각형 6"/>
            <p:cNvSpPr/>
            <p:nvPr/>
          </p:nvSpPr>
          <p:spPr>
            <a:xfrm>
              <a:off x="1367282" y="2096852"/>
              <a:ext cx="1041438" cy="72008"/>
            </a:xfrm>
            <a:prstGeom prst="rect">
              <a:avLst/>
            </a:prstGeom>
            <a:solidFill>
              <a:srgbClr val="62574A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213663" y="2096852"/>
              <a:ext cx="3403316" cy="72008"/>
            </a:xfrm>
            <a:prstGeom prst="rect">
              <a:avLst/>
            </a:prstGeom>
            <a:solidFill>
              <a:srgbClr val="FFC000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2628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내용(거버닝 메시지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 smtClean="0"/>
              <a:t>Title text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1884" y="731429"/>
            <a:ext cx="9143468" cy="221599"/>
          </a:xfrm>
        </p:spPr>
        <p:txBody>
          <a:bodyPr/>
          <a:lstStyle>
            <a:lvl1pPr>
              <a:spcBef>
                <a:spcPts val="0"/>
              </a:spcBef>
              <a:defRPr sz="1600" b="0" baseline="0">
                <a:latin typeface="+mn-lt"/>
              </a:defRPr>
            </a:lvl1pPr>
          </a:lstStyle>
          <a:p>
            <a:pPr lvl="0"/>
            <a:r>
              <a:rPr lang="en-US" altLang="ko-KR" dirty="0" smtClean="0"/>
              <a:t>Headline of maximum two lines here</a:t>
            </a:r>
          </a:p>
        </p:txBody>
      </p:sp>
    </p:spTree>
    <p:extLst>
      <p:ext uri="{BB962C8B-B14F-4D97-AF65-F5344CB8AC3E}">
        <p14:creationId xmlns:p14="http://schemas.microsoft.com/office/powerpoint/2010/main" val="308202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) 내용 (거버닝 메시지 미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 smtClean="0"/>
              <a:t>Title 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) 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KB금융그룹(백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2" t="-8025"/>
          <a:stretch>
            <a:fillRect/>
          </a:stretch>
        </p:blipFill>
        <p:spPr bwMode="auto">
          <a:xfrm>
            <a:off x="7245352" y="333376"/>
            <a:ext cx="13049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3253336" y="2586970"/>
            <a:ext cx="33993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dirty="0" smtClean="0">
                <a:latin typeface="KB금융 제목체 Medium" panose="020B0603000000000000" pitchFamily="50" charset="-127"/>
                <a:ea typeface="KB금융 제목체 Medium" panose="020B0603000000000000" pitchFamily="50" charset="-127"/>
              </a:rPr>
              <a:t>End of Document</a:t>
            </a:r>
            <a:endParaRPr lang="ko-KR" altLang="en-US" sz="3000" dirty="0">
              <a:latin typeface="KB금융 제목체 Medium" panose="020B0603000000000000" pitchFamily="50" charset="-127"/>
              <a:ea typeface="KB금융 제목체 Medium" panose="020B0603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356" y="6275640"/>
            <a:ext cx="1943289" cy="32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23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)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"/>
            <a:ext cx="9906000" cy="685655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450000" y="2154922"/>
            <a:ext cx="21579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3000" baseline="0" dirty="0" smtClean="0">
                <a:solidFill>
                  <a:prstClr val="black"/>
                </a:solidFill>
                <a:latin typeface="+mj-lt"/>
                <a:ea typeface="+mj-ea"/>
              </a:rPr>
              <a:t>I. Overview</a:t>
            </a:r>
            <a:endParaRPr lang="ko-KR" altLang="en-US" sz="3000" baseline="0" dirty="0">
              <a:solidFill>
                <a:prstClr val="black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782519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319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) 내용(거버닝 메시지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884" y="299381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0" baseline="0" dirty="0">
                <a:latin typeface="+mj-lt"/>
              </a:defRPr>
            </a:lvl1pPr>
          </a:lstStyle>
          <a:p>
            <a:pPr lvl="0"/>
            <a:r>
              <a:rPr lang="en-US" altLang="ko-KR" dirty="0" smtClean="0"/>
              <a:t>Title text here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1884" y="731429"/>
            <a:ext cx="9143468" cy="221599"/>
          </a:xfrm>
        </p:spPr>
        <p:txBody>
          <a:bodyPr/>
          <a:lstStyle>
            <a:lvl1pPr>
              <a:spcBef>
                <a:spcPts val="0"/>
              </a:spcBef>
              <a:defRPr sz="1600" b="0" baseline="0">
                <a:latin typeface="+mn-lt"/>
              </a:defRPr>
            </a:lvl1pPr>
          </a:lstStyle>
          <a:p>
            <a:pPr lvl="0"/>
            <a:r>
              <a:rPr lang="en-US" altLang="ko-KR" dirty="0" smtClean="0"/>
              <a:t>Headline of maximum two lines here</a:t>
            </a:r>
          </a:p>
        </p:txBody>
      </p:sp>
    </p:spTree>
    <p:extLst>
      <p:ext uri="{BB962C8B-B14F-4D97-AF65-F5344CB8AC3E}">
        <p14:creationId xmlns:p14="http://schemas.microsoft.com/office/powerpoint/2010/main" val="3234287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492" y="734158"/>
            <a:ext cx="9144508" cy="4431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Headline of maximum two lines here</a:t>
            </a:r>
            <a:br>
              <a:rPr lang="en-US" dirty="0" smtClean="0"/>
            </a:br>
            <a:endParaRPr lang="en-US" dirty="0" smtClean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26210368"/>
              </p:ext>
            </p:extLst>
          </p:nvPr>
        </p:nvGraphicFramePr>
        <p:xfrm>
          <a:off x="1722" y="1591"/>
          <a:ext cx="1719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0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22" y="1591"/>
                        <a:ext cx="1719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492" y="298493"/>
            <a:ext cx="680400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 altLang="ko-KR" dirty="0" smtClean="0"/>
              <a:t>Title text here</a:t>
            </a:r>
            <a:endParaRPr 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1496616" y="630582"/>
            <a:ext cx="8409384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441" y="630582"/>
            <a:ext cx="149317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4813587" y="6664658"/>
            <a:ext cx="278826" cy="138499"/>
          </a:xfrm>
          <a:prstGeom prst="rect">
            <a:avLst/>
          </a:prstGeom>
          <a:solidFill>
            <a:srgbClr val="FFFFFF"/>
          </a:solidFill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ctr"/>
            <a:fld id="{6CE8C368-3382-4C28-AE75-DF7C05ACA19D}" type="slidenum">
              <a:rPr lang="en-US" sz="1000" b="0" smtClean="0">
                <a:solidFill>
                  <a:srgbClr val="585043"/>
                </a:solidFill>
                <a:latin typeface="KB금융 본문체 Medium" panose="020B0603000000000000" pitchFamily="50" charset="-127"/>
                <a:ea typeface="KB금융 본문체 Medium" panose="020B0603000000000000" pitchFamily="50" charset="-127"/>
              </a:rPr>
              <a:pPr algn="ctr"/>
              <a:t>‹#›</a:t>
            </a:fld>
            <a:endParaRPr lang="en-US" sz="1000" b="0" dirty="0">
              <a:solidFill>
                <a:srgbClr val="585043"/>
              </a:solidFill>
              <a:latin typeface="KB금융 본문체 Medium" panose="020B0603000000000000" pitchFamily="50" charset="-127"/>
              <a:ea typeface="KB금융 본문체 Medium" panose="020B0603000000000000" pitchFamily="50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331200" y="6597352"/>
            <a:ext cx="92376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7"/>
          <a:stretch/>
        </p:blipFill>
        <p:spPr>
          <a:xfrm>
            <a:off x="8841432" y="6650310"/>
            <a:ext cx="724151" cy="1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6" r:id="rId2"/>
    <p:sldLayoutId id="2147483688" r:id="rId3"/>
    <p:sldLayoutId id="2147483679" r:id="rId4"/>
    <p:sldLayoutId id="2147483689" r:id="rId5"/>
    <p:sldLayoutId id="2147483686" r:id="rId6"/>
    <p:sldLayoutId id="2147483691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baseline="0" dirty="0">
          <a:solidFill>
            <a:schemeClr val="accent5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Clr>
          <a:srgbClr val="FFA600"/>
        </a:buClr>
        <a:buSzPct val="100000"/>
        <a:buFont typeface="Arial" pitchFamily="34" charset="0"/>
        <a:buNone/>
        <a:defRPr sz="1600" b="0" kern="1200" baseline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310896" indent="-128016" algn="l" defTabSz="914400" rtl="0" eaLnBrk="1" latinLnBrk="0" hangingPunct="1">
        <a:lnSpc>
          <a:spcPct val="90000"/>
        </a:lnSpc>
        <a:spcBef>
          <a:spcPts val="900"/>
        </a:spcBef>
        <a:buClr>
          <a:srgbClr val="FFA600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2pPr>
      <a:lvl3pPr marL="489600" indent="-180000" algn="l" defTabSz="914400" rtl="0" eaLnBrk="1" latinLnBrk="0" hangingPunct="1">
        <a:lnSpc>
          <a:spcPct val="90000"/>
        </a:lnSpc>
        <a:spcBef>
          <a:spcPts val="600"/>
        </a:spcBef>
        <a:buClr>
          <a:srgbClr val="FFA600"/>
        </a:buClr>
        <a:buFont typeface="Arial" pitchFamily="34" charset="0"/>
        <a:buChar char="–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3pPr>
      <a:lvl4pPr marL="633600" indent="-137160" algn="l" defTabSz="914400" rtl="0" eaLnBrk="1" latinLnBrk="0" hangingPunct="1">
        <a:lnSpc>
          <a:spcPct val="90000"/>
        </a:lnSpc>
        <a:spcBef>
          <a:spcPts val="200"/>
        </a:spcBef>
        <a:buClr>
          <a:srgbClr val="FFA600"/>
        </a:buClr>
        <a:buFont typeface="Arial" pitchFamily="34" charset="0"/>
        <a:buChar char="-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4pPr>
      <a:lvl5pPr marL="770400" indent="-136800" algn="l" defTabSz="914400" rtl="0" eaLnBrk="1" latinLnBrk="0" hangingPunct="1">
        <a:lnSpc>
          <a:spcPct val="90000"/>
        </a:lnSpc>
        <a:spcBef>
          <a:spcPts val="100"/>
        </a:spcBef>
        <a:buClr>
          <a:srgbClr val="FFA600"/>
        </a:buClr>
        <a:buFont typeface="Arial" pitchFamily="34" charset="0"/>
        <a:buChar char="-"/>
        <a:defRPr sz="2200" kern="1200">
          <a:solidFill>
            <a:schemeClr val="tx1"/>
          </a:solidFill>
          <a:latin typeface="Arial" pitchFamily="34" charset="0"/>
          <a:ea typeface="맑은 고딕" panose="020B0503020000020004" pitchFamily="50" charset="-127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2312876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320887"/>
            <a:ext cx="6848453" cy="3035053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 smtClean="0">
                <a:solidFill>
                  <a:prstClr val="black"/>
                </a:solidFill>
              </a:rPr>
              <a:t>표준 </a:t>
            </a:r>
            <a:r>
              <a:rPr lang="en-US" altLang="ko-KR" dirty="0" smtClean="0">
                <a:solidFill>
                  <a:prstClr val="black"/>
                </a:solidFill>
              </a:rPr>
              <a:t>Java </a:t>
            </a:r>
            <a:r>
              <a:rPr lang="ko-KR" altLang="en-US" dirty="0" smtClean="0">
                <a:solidFill>
                  <a:prstClr val="black"/>
                </a:solidFill>
              </a:rPr>
              <a:t>프레임워크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 smtClean="0">
                <a:solidFill>
                  <a:prstClr val="black"/>
                </a:solidFill>
              </a:rPr>
              <a:t>프레임워크 적용 대상 업무</a:t>
            </a:r>
            <a:endParaRPr lang="en-US" altLang="ko-KR" sz="2400" dirty="0" smtClean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어플리케이션 구성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통합 개발 환경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75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smtClean="0"/>
              <a:t>전행 표준 프레임워크 개요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smtClean="0"/>
              <a:t>코어</a:t>
            </a:r>
            <a:r>
              <a:rPr lang="en-US" altLang="ko-KR" smtClean="0"/>
              <a:t> </a:t>
            </a:r>
            <a:r>
              <a:rPr lang="ko-KR" altLang="en-US" smtClean="0"/>
              <a:t>현대화</a:t>
            </a:r>
            <a:r>
              <a:rPr lang="en-US" altLang="ko-KR" smtClean="0"/>
              <a:t> </a:t>
            </a:r>
            <a:r>
              <a:rPr lang="ko-KR" altLang="en-US" dirty="0" smtClean="0"/>
              <a:t>프로젝트의 전행 </a:t>
            </a:r>
            <a:r>
              <a:rPr lang="en-US" altLang="ko-KR" dirty="0" smtClean="0"/>
              <a:t>Java </a:t>
            </a:r>
            <a:r>
              <a:rPr lang="ko-KR" altLang="en-US" dirty="0" smtClean="0"/>
              <a:t>프레임워크로써 </a:t>
            </a:r>
            <a:r>
              <a:rPr lang="en-US" altLang="ko-KR" dirty="0" smtClean="0"/>
              <a:t>KB</a:t>
            </a:r>
            <a:r>
              <a:rPr lang="ko-KR" altLang="en-US" dirty="0" smtClean="0"/>
              <a:t>표준 아키텍처를 준수하고 내부 표준 전문 기반의 프레임워크 기능을 제공함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전행 프레임워크 개요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표준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Java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프레임워크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aphicFrame>
        <p:nvGraphicFramePr>
          <p:cNvPr id="15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114913"/>
              </p:ext>
            </p:extLst>
          </p:nvPr>
        </p:nvGraphicFramePr>
        <p:xfrm>
          <a:off x="687144" y="1334248"/>
          <a:ext cx="8478324" cy="517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824">
                  <a:extLst>
                    <a:ext uri="{9D8B030D-6E8A-4147-A177-3AD203B41FA5}">
                      <a16:colId xmlns:a16="http://schemas.microsoft.com/office/drawing/2014/main" val="1173871808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   분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             용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3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      고</a:t>
                      </a:r>
                      <a:endParaRPr lang="ko-KR" altLang="en-US" sz="13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환경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Eclipse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통합개발환경 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(IDE)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계층 구조에 맞도록 템플릿 기반 개발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Template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소스 자동 생성 지원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 </a:t>
                      </a: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어플리이케이션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소스 개발 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컴파일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개발 배포 연계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편집 및 테스트 기능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메소드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단위 테스트 기능 연계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편집 기능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형상관리 연계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환경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Websphere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J2EE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실행 환경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DB2</a:t>
                      </a:r>
                      <a:r>
                        <a:rPr lang="en-US" altLang="ko-KR" sz="10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Oracle, MYSQL </a:t>
                      </a:r>
                      <a:r>
                        <a:rPr lang="ko-KR" altLang="en-US" sz="10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환경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적용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KB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내부표준전문 </a:t>
                      </a:r>
                      <a:r>
                        <a:rPr lang="ko-KR" altLang="en-US" sz="10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처리 </a:t>
                      </a:r>
                      <a:r>
                        <a:rPr lang="en-US" altLang="ko-KR" sz="10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(Json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처리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전문복원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책임자 승인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취소거래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등 지원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대량 입력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출력 지원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업무로그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Flat , </a:t>
                      </a:r>
                      <a:r>
                        <a:rPr lang="en-US" altLang="ko-KR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 </a:t>
                      </a:r>
                      <a:r>
                        <a:rPr lang="ko-KR" altLang="en-US" sz="10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전문 변환 유틸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Common Area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지원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어플리케이션 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Hotdeploy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선후처리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기능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암복호화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모듈 연계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Control-M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온라인 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배치 연계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센터컷</a:t>
                      </a:r>
                      <a:r>
                        <a:rPr lang="ko-KR" altLang="en-US" sz="10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실행</a:t>
                      </a:r>
                      <a:endParaRPr lang="en-US" altLang="ko-KR" sz="1000" kern="1200" baseline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DBIO </a:t>
                      </a:r>
                      <a:r>
                        <a:rPr lang="ko-KR" altLang="en-US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기능</a:t>
                      </a:r>
                      <a:r>
                        <a:rPr lang="en-US" altLang="ko-KR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(CRUD </a:t>
                      </a:r>
                      <a:r>
                        <a:rPr lang="ko-KR" altLang="en-US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기능</a:t>
                      </a:r>
                      <a:r>
                        <a:rPr lang="en-US" altLang="ko-KR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원장보정로그</a:t>
                      </a:r>
                      <a:r>
                        <a:rPr lang="en-US" altLang="ko-KR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변경로그</a:t>
                      </a:r>
                      <a:r>
                        <a:rPr lang="en-US" altLang="ko-KR" sz="1000" b="1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1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운영 환경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노드 모니터링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파라미터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거래로그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 </a:t>
                      </a:r>
                      <a:r>
                        <a:rPr lang="ko-KR" altLang="en-US" sz="1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쓰레드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거래 프로파일 관리</a:t>
                      </a:r>
                      <a:endParaRPr lang="en-US" altLang="ko-KR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 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endParaRPr lang="ko-KR" altLang="en-US" sz="10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05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smtClean="0"/>
              <a:t>프레임워크 적용 대상 업무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 smtClean="0"/>
              <a:t>프레임워크 적용 </a:t>
            </a:r>
            <a:r>
              <a:rPr lang="ko-KR" altLang="en-US" dirty="0" err="1" smtClean="0"/>
              <a:t>대상업무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전행 프레임워크 개요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프레임워크 적용 대상 업무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aphicFrame>
        <p:nvGraphicFramePr>
          <p:cNvPr id="8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976092"/>
              </p:ext>
            </p:extLst>
          </p:nvPr>
        </p:nvGraphicFramePr>
        <p:xfrm>
          <a:off x="632520" y="1100541"/>
          <a:ext cx="8640959" cy="5402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1518565175"/>
                    </a:ext>
                  </a:extLst>
                </a:gridCol>
                <a:gridCol w="1840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1133">
                  <a:extLst>
                    <a:ext uri="{9D8B030D-6E8A-4147-A177-3AD203B41FA5}">
                      <a16:colId xmlns:a16="http://schemas.microsoft.com/office/drawing/2014/main" val="1651641730"/>
                    </a:ext>
                  </a:extLst>
                </a:gridCol>
                <a:gridCol w="995809">
                  <a:extLst>
                    <a:ext uri="{9D8B030D-6E8A-4147-A177-3AD203B41FA5}">
                      <a16:colId xmlns:a16="http://schemas.microsoft.com/office/drawing/2014/main" val="1907405904"/>
                    </a:ext>
                  </a:extLst>
                </a:gridCol>
              </a:tblGrid>
              <a:tr h="451630"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버전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도메인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서브 도메인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어플리케이션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FontTx/>
                        <a:buNone/>
                      </a:pPr>
                      <a:r>
                        <a:rPr lang="ko-KR" altLang="en-US" sz="11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비  고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78">
                <a:tc rowSpan="14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en-US" altLang="ko-KR" sz="1100" b="1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 </a:t>
                      </a:r>
                      <a:r>
                        <a:rPr lang="en-US" altLang="ko-KR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Hub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금융복합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플랫폼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금복공통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금복콘텐츠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디지털 전용상품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마이머니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뱅킹서비스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비대면 통합지원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스마트제 휴서비스 등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 플랫폼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마케팅공통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고객리워드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실시간복제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고객통지 발송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민원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/VOC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상담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오퍼링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캠페인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실시 간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EBM,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통합고객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고객관리 활동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 등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Tx/>
                        <a:buNone/>
                      </a:pP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Tx/>
                        <a:buNone/>
                      </a:pP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콜센터 상담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Tx/>
                        <a:buNone/>
                      </a:pP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725321"/>
                  </a:ext>
                </a:extLst>
              </a:tr>
              <a:tr h="263946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 서비스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상품서비스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지원 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이미지콜드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오라클 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재사용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전행공통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35661"/>
                  </a:ext>
                </a:extLst>
              </a:tr>
              <a:tr h="25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대행 및 제휴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무인공과금</a:t>
                      </a:r>
                      <a:endParaRPr lang="en-US" altLang="ko-KR" sz="1100" kern="1200" baseline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baseline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10455"/>
                  </a:ext>
                </a:extLst>
              </a:tr>
              <a:tr h="25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전자증명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613235"/>
                  </a:ext>
                </a:extLst>
              </a:tr>
              <a:tr h="385301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정보보호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인프라 보안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고객인증관리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공인인증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기반인증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기타인증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인증관리자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baseline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500129"/>
                  </a:ext>
                </a:extLst>
              </a:tr>
              <a:tr h="2023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보안리스크관리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보안로그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baseline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872874"/>
                  </a:ext>
                </a:extLst>
              </a:tr>
              <a:tr h="274849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글로벌 플랫폼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상품서비스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국제금융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상품서비스지원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수신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업무지원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여신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연계지원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후처리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60209"/>
                  </a:ext>
                </a:extLst>
              </a:tr>
              <a:tr h="273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경영정보서비스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정보계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687400"/>
                  </a:ext>
                </a:extLst>
              </a:tr>
              <a:tr h="2283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통합정보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137975"/>
                  </a:ext>
                </a:extLst>
              </a:tr>
              <a:tr h="381526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 공동플랫폼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그룹멤버십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479057"/>
                  </a:ext>
                </a:extLst>
              </a:tr>
              <a:tr h="381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코어 슬림화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조회분산시스템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집단기업신용평가시스템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신담보평가시스템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389184"/>
                  </a:ext>
                </a:extLst>
              </a:tr>
              <a:tr h="3815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en-US" altLang="ko-KR" sz="11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  <a:endParaRPr lang="ko-KR" altLang="en-US" sz="11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FontTx/>
                        <a:buNone/>
                      </a:pPr>
                      <a:r>
                        <a:rPr lang="ko-KR" altLang="en-US" sz="1100" b="1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코어 현대화</a:t>
                      </a:r>
                      <a:endParaRPr lang="ko-KR" altLang="en-US" sz="1100" b="1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상품처리지원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100" b="0" kern="120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상품처리지원시스템</a:t>
                      </a:r>
                      <a:endParaRPr lang="ko-KR" altLang="en-US" sz="1100" kern="1200" baseline="0" dirty="0" smtClean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Tx/>
                        <a:buNone/>
                      </a:pPr>
                      <a:endParaRPr lang="ko-KR" altLang="en-US" sz="1100" kern="1200" baseline="0" dirty="0" smtClean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38824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83356" y="994940"/>
            <a:ext cx="1188132" cy="21120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smtClean="0">
                <a:cs typeface="Arial" pitchFamily="34" charset="0"/>
              </a:rPr>
              <a:t>2021</a:t>
            </a:r>
            <a:r>
              <a:rPr lang="ko-KR" altLang="en-US" sz="1000" smtClean="0">
                <a:cs typeface="Arial" pitchFamily="34" charset="0"/>
              </a:rPr>
              <a:t>년 </a:t>
            </a:r>
            <a:r>
              <a:rPr lang="en-US" altLang="ko-KR" sz="1000" smtClean="0">
                <a:cs typeface="Arial" pitchFamily="34" charset="0"/>
              </a:rPr>
              <a:t>03</a:t>
            </a:r>
            <a:r>
              <a:rPr lang="ko-KR" altLang="en-US" sz="1000" smtClean="0">
                <a:cs typeface="Arial" pitchFamily="34" charset="0"/>
              </a:rPr>
              <a:t>월 현재</a:t>
            </a:r>
            <a:endParaRPr lang="ko-KR" altLang="en-US" sz="1000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424609" y="2744968"/>
            <a:ext cx="7308812" cy="396000"/>
          </a:xfrm>
          <a:prstGeom prst="rect">
            <a:avLst/>
          </a:prstGeom>
          <a:solidFill>
            <a:schemeClr val="accent5">
              <a:alpha val="2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8774" y="2320887"/>
            <a:ext cx="6848453" cy="3035053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marL="540000" lvl="0" indent="-540000" latinLnBrk="1">
              <a:spcBef>
                <a:spcPts val="300"/>
              </a:spcBef>
              <a:buFontTx/>
              <a:buAutoNum type="romanUcPeriod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전행프레임워크 개요</a:t>
            </a:r>
            <a:endParaRPr lang="en-US" altLang="ko-KR" sz="2400" dirty="0" smtClean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어플리케이션 구성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 smtClean="0">
                <a:solidFill>
                  <a:prstClr val="black"/>
                </a:solidFill>
              </a:rPr>
              <a:t>컴포넌트 아키텍처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marL="972000" lvl="2" indent="-432000" latinLnBrk="1">
              <a:buFont typeface="+mj-lt"/>
              <a:buAutoNum type="arabicPeriod"/>
            </a:pPr>
            <a:r>
              <a:rPr lang="ko-KR" altLang="en-US" dirty="0" smtClean="0">
                <a:solidFill>
                  <a:prstClr val="black"/>
                </a:solidFill>
              </a:rPr>
              <a:t>컴포넌트 </a:t>
            </a:r>
            <a:r>
              <a:rPr lang="ko-KR" altLang="en-US" dirty="0" err="1" smtClean="0">
                <a:solidFill>
                  <a:prstClr val="black"/>
                </a:solidFill>
              </a:rPr>
              <a:t>호출관계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marL="54000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</a:rPr>
              <a:t>통합 개발 환경</a:t>
            </a:r>
            <a:endParaRPr lang="en-US" altLang="ko-KR" sz="2400" dirty="0" smtClean="0">
              <a:solidFill>
                <a:prstClr val="black"/>
              </a:solidFill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어플리케이션 실행 환경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인터페이스 연계</a:t>
            </a:r>
            <a:endParaRPr lang="en-US" altLang="ko-KR" sz="2400" dirty="0" smtClean="0">
              <a:solidFill>
                <a:prstClr val="black"/>
              </a:solidFill>
              <a:latin typeface="+mn-lt"/>
            </a:endParaRPr>
          </a:p>
          <a:p>
            <a:pPr marL="540000" lvl="0" indent="-540000" latinLnBrk="1">
              <a:spcBef>
                <a:spcPts val="300"/>
              </a:spcBef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prstClr val="black"/>
                </a:solidFill>
                <a:latin typeface="+mn-lt"/>
              </a:rPr>
              <a:t>서비스 운영 환경</a:t>
            </a:r>
            <a:endParaRPr lang="en-US" altLang="ko-KR" sz="2400" dirty="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653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smtClean="0"/>
              <a:t>컴포넌트 아키텍처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599"/>
          </a:xfrm>
        </p:spPr>
        <p:txBody>
          <a:bodyPr/>
          <a:lstStyle/>
          <a:p>
            <a:r>
              <a:rPr lang="en-US" altLang="ko-KR" dirty="0" smtClean="0"/>
              <a:t>NEXCORE </a:t>
            </a:r>
            <a:r>
              <a:rPr lang="ko-KR" altLang="en-US" dirty="0" smtClean="0"/>
              <a:t>프레임워크는 컴포넌트 단위로 어플리케이션을 묶음 처리하고 구조화 함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1008538" y="1526889"/>
            <a:ext cx="2003850" cy="5112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200" b="1" dirty="0" smtClean="0">
                <a:cs typeface="Arial" pitchFamily="34" charset="0"/>
              </a:rPr>
              <a:t>어플리케이션 코드 </a:t>
            </a:r>
            <a:r>
              <a:rPr lang="en-US" altLang="ko-KR" sz="1200" b="1" dirty="0" smtClean="0">
                <a:cs typeface="Arial" pitchFamily="34" charset="0"/>
              </a:rPr>
              <a:t>(3</a:t>
            </a:r>
            <a:r>
              <a:rPr lang="ko-KR" altLang="en-US" sz="1200" b="1" dirty="0" smtClean="0">
                <a:cs typeface="Arial" pitchFamily="34" charset="0"/>
              </a:rPr>
              <a:t>자리</a:t>
            </a:r>
            <a:r>
              <a:rPr lang="en-US" altLang="ko-KR" sz="1200" b="1" dirty="0" smtClean="0">
                <a:cs typeface="Arial" pitchFamily="34" charset="0"/>
              </a:rPr>
              <a:t>)</a:t>
            </a:r>
            <a:endParaRPr lang="ko-KR" altLang="en-US" sz="1200" b="1" dirty="0" smtClean="0">
              <a:cs typeface="Arial" pitchFamily="34" charset="0"/>
            </a:endParaRPr>
          </a:p>
        </p:txBody>
      </p:sp>
      <p:cxnSp>
        <p:nvCxnSpPr>
          <p:cNvPr id="153" name="직선 화살표 연결선 152"/>
          <p:cNvCxnSpPr>
            <a:stCxn id="83" idx="2"/>
            <a:endCxn id="82" idx="1"/>
          </p:cNvCxnSpPr>
          <p:nvPr/>
        </p:nvCxnSpPr>
        <p:spPr>
          <a:xfrm rot="16200000" flipH="1">
            <a:off x="1644641" y="2403993"/>
            <a:ext cx="1156218" cy="424575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/>
          <p:cNvCxnSpPr>
            <a:stCxn id="83" idx="2"/>
          </p:cNvCxnSpPr>
          <p:nvPr/>
        </p:nvCxnSpPr>
        <p:spPr>
          <a:xfrm rot="16200000" flipH="1">
            <a:off x="649591" y="3399043"/>
            <a:ext cx="3144000" cy="422257"/>
          </a:xfrm>
          <a:prstGeom prst="bentConnector2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325161" y="3105664"/>
            <a:ext cx="1573354" cy="90370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000" dirty="0" smtClean="0">
                <a:cs typeface="Arial" pitchFamily="34" charset="0"/>
              </a:rPr>
              <a:t>KB </a:t>
            </a:r>
            <a:r>
              <a:rPr lang="ko-KR" altLang="en-US" sz="1000" dirty="0" smtClean="0">
                <a:cs typeface="Arial" pitchFamily="34" charset="0"/>
              </a:rPr>
              <a:t>어플리케이션 코드 하나는 하나의 컴포넌트로 묶기에는 범위가 넓으므로 </a:t>
            </a:r>
            <a:endParaRPr lang="en-US" altLang="ko-KR" sz="1000" dirty="0" smtClean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endParaRPr lang="en-US" altLang="ko-KR" sz="1000" dirty="0"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ko-KR" altLang="en-US" sz="1000" dirty="0" smtClean="0">
                <a:cs typeface="Arial" pitchFamily="34" charset="0"/>
              </a:rPr>
              <a:t>그 하위에 기능 단위로 </a:t>
            </a:r>
            <a:r>
              <a:rPr lang="ko-KR" altLang="en-US" sz="1000" b="1" u="sng" dirty="0" smtClean="0">
                <a:cs typeface="Arial" pitchFamily="34" charset="0"/>
              </a:rPr>
              <a:t>복수개의 컴포넌트를 구성함</a:t>
            </a:r>
          </a:p>
        </p:txBody>
      </p:sp>
      <p:graphicFrame>
        <p:nvGraphicFramePr>
          <p:cNvPr id="160" name="표 61"/>
          <p:cNvGraphicFramePr>
            <a:graphicFrameLocks noGrp="1"/>
          </p:cNvGraphicFramePr>
          <p:nvPr>
            <p:extLst/>
          </p:nvPr>
        </p:nvGraphicFramePr>
        <p:xfrm>
          <a:off x="5435110" y="1768624"/>
          <a:ext cx="3874374" cy="4288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587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특징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5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패키징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단위로 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패키징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8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클래스로딩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프레임워크 자체 클래스 </a:t>
                      </a: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로더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동작함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단위로 클래스 로딩을 함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내의 클래스 일부만 변경되더라도 컴포넌트 전체 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jar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 패키징되며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 로딩됨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3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직접 참조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내의 클래스 간에는 직접 호출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간 호출은 직접 호출 불가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 컴포넌트의 클래스는 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불가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23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컴파일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별 별도의 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CLASSPATH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클래스들로만 컴파일 수행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클래스 참조 시 컴파일 에러 발생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258448"/>
                  </a:ext>
                </a:extLst>
              </a:tr>
            </a:tbl>
          </a:graphicData>
        </a:graphic>
      </p:graphicFrame>
      <p:sp>
        <p:nvSpPr>
          <p:cNvPr id="152" name="TextBox 151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아키텍처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2399034" y="2269310"/>
            <a:ext cx="2376264" cy="1850159"/>
            <a:chOff x="2399034" y="2269310"/>
            <a:chExt cx="2376264" cy="1850159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2435038" y="2269310"/>
              <a:ext cx="2340260" cy="1850159"/>
            </a:xfrm>
            <a:prstGeom prst="roundRect">
              <a:avLst>
                <a:gd name="adj" fmla="val 9264"/>
              </a:avLst>
            </a:prstGeom>
            <a:solidFill>
              <a:schemeClr val="accent5">
                <a:lumMod val="75000"/>
                <a:alpha val="10000"/>
              </a:schemeClr>
            </a:solidFill>
            <a:ln w="6350" cap="flat">
              <a:solidFill>
                <a:schemeClr val="accent5">
                  <a:lumMod val="75000"/>
                </a:scheme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3099140" y="2777674"/>
              <a:ext cx="1494166" cy="1152012"/>
              <a:chOff x="4034898" y="5337328"/>
              <a:chExt cx="1494166" cy="1152012"/>
            </a:xfrm>
          </p:grpSpPr>
          <p:sp>
            <p:nvSpPr>
              <p:cNvPr id="16" name="평행 사변형 15"/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17" name="모서리가 둥근 직사각형 16"/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18" name="모서리가 둥근 직사각형 17"/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19" name="모서리가 둥근 직사각형 18"/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" name="모서리가 둥근 직사각형 19"/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" name="모서리가 둥근 직사각형 20"/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모서리가 둥근 직사각형 21"/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3" name="직선 화살표 연결선 22"/>
              <p:cNvCxnSpPr>
                <a:stCxn id="17" idx="2"/>
                <a:endCxn id="18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화살표 연결선 23"/>
              <p:cNvCxnSpPr>
                <a:stCxn id="17" idx="2"/>
                <a:endCxn id="19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화살표 연결선 24"/>
              <p:cNvCxnSpPr>
                <a:stCxn id="17" idx="2"/>
                <a:endCxn id="21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화살표 연결선 25"/>
              <p:cNvCxnSpPr>
                <a:stCxn id="17" idx="2"/>
                <a:endCxn id="20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/>
              <p:cNvCxnSpPr>
                <a:stCxn id="17" idx="2"/>
                <a:endCxn id="22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직사각형 27"/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PU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FU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cs typeface="Arial" pitchFamily="34" charset="0"/>
                  </a:rPr>
                  <a:t>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2399034" y="2440668"/>
              <a:ext cx="656087" cy="21086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1000" dirty="0" smtClean="0">
                  <a:cs typeface="Arial" pitchFamily="34" charset="0"/>
                </a:rPr>
                <a:t>PM</a:t>
              </a:r>
              <a:endParaRPr lang="ko-KR" altLang="en-US" sz="1000" dirty="0" smtClean="0">
                <a:cs typeface="Arial" pitchFamily="34" charset="0"/>
              </a:endParaRP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2488306" y="2940822"/>
              <a:ext cx="306034" cy="108000"/>
              <a:chOff x="884548" y="2486282"/>
              <a:chExt cx="306034" cy="108000"/>
            </a:xfrm>
          </p:grpSpPr>
          <p:sp>
            <p:nvSpPr>
              <p:cNvPr id="36" name="타원 35"/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37" name="직선 연결선 36"/>
              <p:cNvCxnSpPr>
                <a:stCxn id="36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그룹 37"/>
            <p:cNvGrpSpPr/>
            <p:nvPr/>
          </p:nvGrpSpPr>
          <p:grpSpPr>
            <a:xfrm>
              <a:off x="2488306" y="2790365"/>
              <a:ext cx="306034" cy="108000"/>
              <a:chOff x="884548" y="2486282"/>
              <a:chExt cx="306034" cy="108000"/>
            </a:xfrm>
          </p:grpSpPr>
          <p:sp>
            <p:nvSpPr>
              <p:cNvPr id="39" name="타원 38"/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40" name="직선 연결선 39"/>
              <p:cNvCxnSpPr>
                <a:stCxn id="39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그룹 40"/>
            <p:cNvGrpSpPr/>
            <p:nvPr/>
          </p:nvGrpSpPr>
          <p:grpSpPr>
            <a:xfrm>
              <a:off x="2488306" y="2632692"/>
              <a:ext cx="306034" cy="108000"/>
              <a:chOff x="884548" y="2486282"/>
              <a:chExt cx="306034" cy="108000"/>
            </a:xfrm>
          </p:grpSpPr>
          <p:sp>
            <p:nvSpPr>
              <p:cNvPr id="42" name="타원 41"/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43" name="직선 연결선 42"/>
              <p:cNvCxnSpPr>
                <a:stCxn id="42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그룹 43"/>
            <p:cNvGrpSpPr/>
            <p:nvPr/>
          </p:nvGrpSpPr>
          <p:grpSpPr>
            <a:xfrm>
              <a:off x="2946740" y="2625274"/>
              <a:ext cx="1494166" cy="1152012"/>
              <a:chOff x="4034898" y="5337328"/>
              <a:chExt cx="1494166" cy="1152012"/>
            </a:xfrm>
          </p:grpSpPr>
          <p:sp>
            <p:nvSpPr>
              <p:cNvPr id="45" name="평행 사변형 44"/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47" name="모서리가 둥근 직사각형 46"/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48" name="모서리가 둥근 직사각형 47"/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49" name="모서리가 둥근 직사각형 48"/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50" name="모서리가 둥근 직사각형 49"/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51" name="모서리가 둥근 직사각형 50"/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52" name="직선 화살표 연결선 51"/>
              <p:cNvCxnSpPr>
                <a:stCxn id="46" idx="2"/>
                <a:endCxn id="47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/>
              <p:cNvCxnSpPr>
                <a:stCxn id="46" idx="2"/>
                <a:endCxn id="48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화살표 연결선 53"/>
              <p:cNvCxnSpPr>
                <a:stCxn id="46" idx="2"/>
                <a:endCxn id="50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화살표 연결선 54"/>
              <p:cNvCxnSpPr>
                <a:stCxn id="46" idx="2"/>
                <a:endCxn id="49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/>
              <p:cNvCxnSpPr>
                <a:stCxn id="46" idx="2"/>
                <a:endCxn id="51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직사각형 56"/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58" name="직사각형 57"/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PU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FU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cs typeface="Arial" pitchFamily="34" charset="0"/>
                  </a:rPr>
                  <a:t>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</p:grpSp>
        <p:sp>
          <p:nvSpPr>
            <p:cNvPr id="64" name="평행 사변형 63"/>
            <p:cNvSpPr/>
            <p:nvPr/>
          </p:nvSpPr>
          <p:spPr>
            <a:xfrm>
              <a:off x="2794340" y="2472874"/>
              <a:ext cx="1494166" cy="1152012"/>
            </a:xfrm>
            <a:prstGeom prst="parallelogram">
              <a:avLst>
                <a:gd name="adj" fmla="val 0"/>
              </a:avLst>
            </a:prstGeom>
            <a:solidFill>
              <a:schemeClr val="bg1"/>
            </a:solidFill>
            <a:ln w="190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4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3005645" y="276080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P</a:t>
              </a: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6" name="모서리가 둥근 직사각형 65"/>
            <p:cNvSpPr/>
            <p:nvPr/>
          </p:nvSpPr>
          <p:spPr>
            <a:xfrm>
              <a:off x="2992350" y="32204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3064358" y="3295886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3827863" y="2996964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DM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3144750" y="33728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3755807" y="306897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</a:t>
              </a: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71" name="직선 화살표 연결선 70"/>
            <p:cNvCxnSpPr>
              <a:stCxn id="65" idx="2"/>
              <a:endCxn id="66" idx="0"/>
            </p:cNvCxnSpPr>
            <p:nvPr/>
          </p:nvCxnSpPr>
          <p:spPr>
            <a:xfrm flipH="1">
              <a:off x="3154350" y="2868802"/>
              <a:ext cx="13295" cy="3516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65" idx="2"/>
              <a:endCxn id="67" idx="0"/>
            </p:cNvCxnSpPr>
            <p:nvPr/>
          </p:nvCxnSpPr>
          <p:spPr>
            <a:xfrm>
              <a:off x="3167645" y="2868802"/>
              <a:ext cx="58713" cy="427084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65" idx="2"/>
              <a:endCxn id="69" idx="0"/>
            </p:cNvCxnSpPr>
            <p:nvPr/>
          </p:nvCxnSpPr>
          <p:spPr>
            <a:xfrm>
              <a:off x="3167645" y="2868802"/>
              <a:ext cx="139105" cy="5040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>
              <a:stCxn id="65" idx="3"/>
              <a:endCxn id="68" idx="1"/>
            </p:cNvCxnSpPr>
            <p:nvPr/>
          </p:nvCxnSpPr>
          <p:spPr>
            <a:xfrm>
              <a:off x="3329645" y="2814802"/>
              <a:ext cx="498218" cy="236162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>
              <a:stCxn id="65" idx="3"/>
              <a:endCxn id="70" idx="1"/>
            </p:cNvCxnSpPr>
            <p:nvPr/>
          </p:nvCxnSpPr>
          <p:spPr>
            <a:xfrm>
              <a:off x="3329645" y="2814802"/>
              <a:ext cx="426162" cy="308170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직사각형 75"/>
            <p:cNvSpPr/>
            <p:nvPr/>
          </p:nvSpPr>
          <p:spPr>
            <a:xfrm>
              <a:off x="2887949" y="2580770"/>
              <a:ext cx="549756" cy="365032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3665749" y="2866462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884290" y="3052496"/>
              <a:ext cx="621021" cy="46763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828764" y="2544766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 smtClean="0">
                  <a:cs typeface="Arial" pitchFamily="34" charset="0"/>
                </a:rPr>
                <a:t>PU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821867" y="3021267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 smtClean="0">
                  <a:cs typeface="Arial" pitchFamily="34" charset="0"/>
                </a:rPr>
                <a:t>FU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935839" y="2840719"/>
              <a:ext cx="333085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D</a:t>
              </a:r>
              <a:r>
                <a:rPr lang="en-US" altLang="ko-KR" sz="800" dirty="0" smtClean="0">
                  <a:cs typeface="Arial" pitchFamily="34" charset="0"/>
                </a:rPr>
                <a:t>U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 flipV="1">
              <a:off x="3459150" y="3416105"/>
              <a:ext cx="217276" cy="1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화살표 연결선 154"/>
            <p:cNvCxnSpPr/>
            <p:nvPr/>
          </p:nvCxnSpPr>
          <p:spPr>
            <a:xfrm flipV="1">
              <a:off x="3611550" y="3568505"/>
              <a:ext cx="217276" cy="1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모서리가 둥근 직사각형 155"/>
            <p:cNvSpPr/>
            <p:nvPr/>
          </p:nvSpPr>
          <p:spPr>
            <a:xfrm>
              <a:off x="3827863" y="332100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3755807" y="3393008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665749" y="3205283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3848280" y="3179539"/>
              <a:ext cx="549407" cy="1054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 smtClean="0">
                  <a:cs typeface="Arial" pitchFamily="34" charset="0"/>
                </a:rPr>
                <a:t>DBIO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cxnSp>
          <p:nvCxnSpPr>
            <p:cNvPr id="164" name="직선 화살표 연결선 163"/>
            <p:cNvCxnSpPr>
              <a:stCxn id="65" idx="3"/>
            </p:cNvCxnSpPr>
            <p:nvPr/>
          </p:nvCxnSpPr>
          <p:spPr>
            <a:xfrm>
              <a:off x="3329645" y="2814802"/>
              <a:ext cx="488539" cy="5363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화살표 연결선 166"/>
            <p:cNvCxnSpPr>
              <a:stCxn id="65" idx="3"/>
            </p:cNvCxnSpPr>
            <p:nvPr/>
          </p:nvCxnSpPr>
          <p:spPr>
            <a:xfrm>
              <a:off x="3329645" y="2814802"/>
              <a:ext cx="421230" cy="6272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그룹 170"/>
          <p:cNvGrpSpPr/>
          <p:nvPr/>
        </p:nvGrpSpPr>
        <p:grpSpPr>
          <a:xfrm>
            <a:off x="2385782" y="4257092"/>
            <a:ext cx="2376264" cy="1850159"/>
            <a:chOff x="2399034" y="2269310"/>
            <a:chExt cx="2376264" cy="1850159"/>
          </a:xfrm>
        </p:grpSpPr>
        <p:sp>
          <p:nvSpPr>
            <p:cNvPr id="172" name="모서리가 둥근 직사각형 171"/>
            <p:cNvSpPr/>
            <p:nvPr/>
          </p:nvSpPr>
          <p:spPr>
            <a:xfrm>
              <a:off x="2435038" y="2269310"/>
              <a:ext cx="2340260" cy="1850159"/>
            </a:xfrm>
            <a:prstGeom prst="roundRect">
              <a:avLst>
                <a:gd name="adj" fmla="val 9264"/>
              </a:avLst>
            </a:prstGeom>
            <a:solidFill>
              <a:schemeClr val="accent5">
                <a:lumMod val="75000"/>
                <a:alpha val="10000"/>
              </a:schemeClr>
            </a:solidFill>
            <a:ln w="6350" cap="flat">
              <a:solidFill>
                <a:schemeClr val="accent5">
                  <a:lumMod val="75000"/>
                </a:schemeClr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grpSp>
          <p:nvGrpSpPr>
            <p:cNvPr id="173" name="그룹 172"/>
            <p:cNvGrpSpPr/>
            <p:nvPr/>
          </p:nvGrpSpPr>
          <p:grpSpPr>
            <a:xfrm>
              <a:off x="3099140" y="2777674"/>
              <a:ext cx="1494166" cy="1152012"/>
              <a:chOff x="4034898" y="5337328"/>
              <a:chExt cx="1494166" cy="1152012"/>
            </a:xfrm>
          </p:grpSpPr>
          <p:sp>
            <p:nvSpPr>
              <p:cNvPr id="229" name="평행 사변형 228"/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0" name="모서리가 둥근 직사각형 229"/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1" name="모서리가 둥근 직사각형 230"/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2" name="모서리가 둥근 직사각형 231"/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3" name="모서리가 둥근 직사각형 232"/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4" name="모서리가 둥근 직사각형 233"/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35" name="모서리가 둥근 직사각형 234"/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36" name="직선 화살표 연결선 235"/>
              <p:cNvCxnSpPr>
                <a:stCxn id="230" idx="2"/>
                <a:endCxn id="231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직선 화살표 연결선 236"/>
              <p:cNvCxnSpPr>
                <a:stCxn id="230" idx="2"/>
                <a:endCxn id="232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화살표 연결선 237"/>
              <p:cNvCxnSpPr>
                <a:stCxn id="230" idx="2"/>
                <a:endCxn id="234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직선 화살표 연결선 238"/>
              <p:cNvCxnSpPr>
                <a:stCxn id="230" idx="2"/>
                <a:endCxn id="233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직선 화살표 연결선 239"/>
              <p:cNvCxnSpPr>
                <a:stCxn id="230" idx="2"/>
                <a:endCxn id="235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직사각형 240"/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42" name="직사각형 241"/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43" name="직사각형 242"/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44" name="TextBox 243"/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PU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FU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246" name="TextBox 245"/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cs typeface="Arial" pitchFamily="34" charset="0"/>
                  </a:rPr>
                  <a:t>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</p:grpSp>
        <p:sp>
          <p:nvSpPr>
            <p:cNvPr id="174" name="TextBox 173"/>
            <p:cNvSpPr txBox="1"/>
            <p:nvPr/>
          </p:nvSpPr>
          <p:spPr>
            <a:xfrm>
              <a:off x="2399034" y="2440668"/>
              <a:ext cx="656087" cy="21086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1000" dirty="0" smtClean="0">
                  <a:cs typeface="Arial" pitchFamily="34" charset="0"/>
                </a:rPr>
                <a:t>PM</a:t>
              </a:r>
              <a:endParaRPr lang="ko-KR" altLang="en-US" sz="1000" dirty="0" smtClean="0">
                <a:cs typeface="Arial" pitchFamily="34" charset="0"/>
              </a:endParaRPr>
            </a:p>
          </p:txBody>
        </p:sp>
        <p:grpSp>
          <p:nvGrpSpPr>
            <p:cNvPr id="175" name="그룹 174"/>
            <p:cNvGrpSpPr/>
            <p:nvPr/>
          </p:nvGrpSpPr>
          <p:grpSpPr>
            <a:xfrm>
              <a:off x="2488306" y="2940822"/>
              <a:ext cx="306034" cy="108000"/>
              <a:chOff x="884548" y="2486282"/>
              <a:chExt cx="306034" cy="108000"/>
            </a:xfrm>
          </p:grpSpPr>
          <p:sp>
            <p:nvSpPr>
              <p:cNvPr id="227" name="타원 226"/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28" name="직선 연결선 227"/>
              <p:cNvCxnSpPr>
                <a:stCxn id="227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/>
            <p:cNvGrpSpPr/>
            <p:nvPr/>
          </p:nvGrpSpPr>
          <p:grpSpPr>
            <a:xfrm>
              <a:off x="2488306" y="2790365"/>
              <a:ext cx="306034" cy="108000"/>
              <a:chOff x="884548" y="2486282"/>
              <a:chExt cx="306034" cy="108000"/>
            </a:xfrm>
          </p:grpSpPr>
          <p:sp>
            <p:nvSpPr>
              <p:cNvPr id="225" name="타원 224"/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26" name="직선 연결선 225"/>
              <p:cNvCxnSpPr>
                <a:stCxn id="225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그룹 176"/>
            <p:cNvGrpSpPr/>
            <p:nvPr/>
          </p:nvGrpSpPr>
          <p:grpSpPr>
            <a:xfrm>
              <a:off x="2488306" y="2632692"/>
              <a:ext cx="306034" cy="108000"/>
              <a:chOff x="884548" y="2486282"/>
              <a:chExt cx="306034" cy="108000"/>
            </a:xfrm>
          </p:grpSpPr>
          <p:sp>
            <p:nvSpPr>
              <p:cNvPr id="223" name="타원 222"/>
              <p:cNvSpPr/>
              <p:nvPr/>
            </p:nvSpPr>
            <p:spPr>
              <a:xfrm>
                <a:off x="884548" y="2486282"/>
                <a:ext cx="108012" cy="108000"/>
              </a:xfrm>
              <a:prstGeom prst="ellipse">
                <a:avLst/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24" name="직선 연결선 223"/>
              <p:cNvCxnSpPr>
                <a:stCxn id="223" idx="6"/>
              </p:cNvCxnSpPr>
              <p:nvPr/>
            </p:nvCxnSpPr>
            <p:spPr>
              <a:xfrm>
                <a:off x="992560" y="2540282"/>
                <a:ext cx="198022" cy="0"/>
              </a:xfrm>
              <a:prstGeom prst="line">
                <a:avLst/>
              </a:prstGeom>
              <a:ln w="1905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8" name="그룹 177"/>
            <p:cNvGrpSpPr/>
            <p:nvPr/>
          </p:nvGrpSpPr>
          <p:grpSpPr>
            <a:xfrm>
              <a:off x="2946740" y="2625274"/>
              <a:ext cx="1494166" cy="1152012"/>
              <a:chOff x="4034898" y="5337328"/>
              <a:chExt cx="1494166" cy="1152012"/>
            </a:xfrm>
          </p:grpSpPr>
          <p:sp>
            <p:nvSpPr>
              <p:cNvPr id="205" name="평행 사변형 204"/>
              <p:cNvSpPr/>
              <p:nvPr/>
            </p:nvSpPr>
            <p:spPr>
              <a:xfrm>
                <a:off x="4034898" y="5337328"/>
                <a:ext cx="1494166" cy="1152012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 w="190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4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6" name="모서리가 둥근 직사각형 205"/>
              <p:cNvSpPr/>
              <p:nvPr/>
            </p:nvSpPr>
            <p:spPr>
              <a:xfrm>
                <a:off x="4629000" y="562525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P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7" name="모서리가 둥근 직사각형 206"/>
              <p:cNvSpPr/>
              <p:nvPr/>
            </p:nvSpPr>
            <p:spPr>
              <a:xfrm>
                <a:off x="4232908" y="60849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8" name="모서리가 둥근 직사각형 207"/>
              <p:cNvSpPr/>
              <p:nvPr/>
            </p:nvSpPr>
            <p:spPr>
              <a:xfrm>
                <a:off x="4304916" y="6160340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09" name="모서리가 둥근 직사각형 208"/>
              <p:cNvSpPr/>
              <p:nvPr/>
            </p:nvSpPr>
            <p:spPr>
              <a:xfrm>
                <a:off x="4989040" y="6165316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DM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0" name="모서리가 둥근 직사각형 209"/>
              <p:cNvSpPr/>
              <p:nvPr/>
            </p:nvSpPr>
            <p:spPr>
              <a:xfrm>
                <a:off x="4385308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FM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1" name="모서리가 둥근 직사각형 210"/>
              <p:cNvSpPr/>
              <p:nvPr/>
            </p:nvSpPr>
            <p:spPr>
              <a:xfrm>
                <a:off x="4916984" y="6237324"/>
                <a:ext cx="324000" cy="108000"/>
              </a:xfrm>
              <a:prstGeom prst="roundRect">
                <a:avLst/>
              </a:prstGeom>
              <a:solidFill>
                <a:schemeClr val="bg1"/>
              </a:solidFill>
              <a:ln w="6350" cap="flat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r>
                  <a:rPr lang="en-US" altLang="ko-KR" sz="900" dirty="0">
                    <a:solidFill>
                      <a:schemeClr val="tx1"/>
                    </a:solidFill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solidFill>
                      <a:schemeClr val="tx1"/>
                    </a:solidFill>
                    <a:cs typeface="Arial" pitchFamily="34" charset="0"/>
                  </a:rPr>
                  <a:t>M</a:t>
                </a:r>
                <a:endParaRPr lang="ko-KR" altLang="en-US" sz="9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cxnSp>
            <p:nvCxnSpPr>
              <p:cNvPr id="212" name="직선 화살표 연결선 211"/>
              <p:cNvCxnSpPr>
                <a:stCxn id="206" idx="2"/>
                <a:endCxn id="207" idx="0"/>
              </p:cNvCxnSpPr>
              <p:nvPr/>
            </p:nvCxnSpPr>
            <p:spPr>
              <a:xfrm flipH="1">
                <a:off x="4394908" y="5733256"/>
                <a:ext cx="396092" cy="3516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화살표 연결선 212"/>
              <p:cNvCxnSpPr>
                <a:stCxn id="206" idx="2"/>
                <a:endCxn id="208" idx="0"/>
              </p:cNvCxnSpPr>
              <p:nvPr/>
            </p:nvCxnSpPr>
            <p:spPr>
              <a:xfrm flipH="1">
                <a:off x="4466916" y="5733256"/>
                <a:ext cx="324084" cy="427084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화살표 연결선 213"/>
              <p:cNvCxnSpPr>
                <a:stCxn id="206" idx="2"/>
                <a:endCxn id="210" idx="0"/>
              </p:cNvCxnSpPr>
              <p:nvPr/>
            </p:nvCxnSpPr>
            <p:spPr>
              <a:xfrm flipH="1">
                <a:off x="4547308" y="5733256"/>
                <a:ext cx="243692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화살표 연결선 214"/>
              <p:cNvCxnSpPr>
                <a:stCxn id="206" idx="2"/>
                <a:endCxn id="209" idx="0"/>
              </p:cNvCxnSpPr>
              <p:nvPr/>
            </p:nvCxnSpPr>
            <p:spPr>
              <a:xfrm>
                <a:off x="4791000" y="5733256"/>
                <a:ext cx="360040" cy="432060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화살표 연결선 215"/>
              <p:cNvCxnSpPr>
                <a:stCxn id="206" idx="2"/>
                <a:endCxn id="211" idx="0"/>
              </p:cNvCxnSpPr>
              <p:nvPr/>
            </p:nvCxnSpPr>
            <p:spPr>
              <a:xfrm>
                <a:off x="4791000" y="5733256"/>
                <a:ext cx="287984" cy="504068"/>
              </a:xfrm>
              <a:prstGeom prst="straightConnector1">
                <a:avLst/>
              </a:prstGeom>
              <a:ln w="6350" cap="flat">
                <a:solidFill>
                  <a:schemeClr val="bg1">
                    <a:lumMod val="50000"/>
                  </a:schemeClr>
                </a:solidFill>
                <a:miter lim="800000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직사각형 216"/>
              <p:cNvSpPr/>
              <p:nvPr/>
            </p:nvSpPr>
            <p:spPr>
              <a:xfrm>
                <a:off x="4511304" y="5445224"/>
                <a:ext cx="549756" cy="365032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8" name="직사각형 217"/>
              <p:cNvSpPr/>
              <p:nvPr/>
            </p:nvSpPr>
            <p:spPr>
              <a:xfrm>
                <a:off x="4826926" y="5916950"/>
                <a:ext cx="522118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19" name="직사각형 218"/>
              <p:cNvSpPr/>
              <p:nvPr/>
            </p:nvSpPr>
            <p:spPr>
              <a:xfrm>
                <a:off x="4124848" y="5916950"/>
                <a:ext cx="621021" cy="467630"/>
              </a:xfrm>
              <a:prstGeom prst="rect">
                <a:avLst/>
              </a:prstGeom>
              <a:noFill/>
              <a:ln w="6350" cap="flat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buClr>
                    <a:schemeClr val="bg2"/>
                  </a:buClr>
                </a:pPr>
                <a:endParaRPr lang="ko-KR" altLang="en-US" sz="1200" dirty="0" smtClean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4452119" y="5409220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PU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4062425" y="5885721"/>
                <a:ext cx="405680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 smtClean="0">
                    <a:cs typeface="Arial" pitchFamily="34" charset="0"/>
                  </a:rPr>
                  <a:t>FU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5097016" y="5885721"/>
                <a:ext cx="333085" cy="90038"/>
              </a:xfrm>
              <a:prstGeom prst="rect">
                <a:avLst/>
              </a:prstGeom>
              <a:noFill/>
              <a:ln w="6350" cap="flat">
                <a:noFill/>
                <a:miter lim="800000"/>
              </a:ln>
            </p:spPr>
            <p:txBody>
              <a:bodyPr wrap="square" lIns="72000" tIns="36000" rIns="72000" bIns="36000" rtlCol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sz="900" dirty="0">
                    <a:cs typeface="Arial" pitchFamily="34" charset="0"/>
                  </a:rPr>
                  <a:t>D</a:t>
                </a:r>
                <a:r>
                  <a:rPr lang="en-US" altLang="ko-KR" sz="900" dirty="0" smtClean="0">
                    <a:cs typeface="Arial" pitchFamily="34" charset="0"/>
                  </a:rPr>
                  <a:t>U</a:t>
                </a:r>
                <a:endParaRPr lang="ko-KR" altLang="en-US" sz="900" dirty="0" smtClean="0">
                  <a:cs typeface="Arial" pitchFamily="34" charset="0"/>
                </a:endParaRPr>
              </a:p>
            </p:txBody>
          </p:sp>
        </p:grpSp>
        <p:sp>
          <p:nvSpPr>
            <p:cNvPr id="179" name="평행 사변형 178"/>
            <p:cNvSpPr/>
            <p:nvPr/>
          </p:nvSpPr>
          <p:spPr>
            <a:xfrm>
              <a:off x="2794340" y="2472874"/>
              <a:ext cx="1494166" cy="1152012"/>
            </a:xfrm>
            <a:prstGeom prst="parallelogram">
              <a:avLst>
                <a:gd name="adj" fmla="val 0"/>
              </a:avLst>
            </a:prstGeom>
            <a:solidFill>
              <a:schemeClr val="bg1"/>
            </a:solidFill>
            <a:ln w="190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4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3005645" y="276080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>
                  <a:solidFill>
                    <a:schemeClr val="tx1"/>
                  </a:solidFill>
                  <a:cs typeface="Arial" pitchFamily="34" charset="0"/>
                </a:rPr>
                <a:t>P</a:t>
              </a: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2992350" y="32204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3064358" y="3295886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3827863" y="2996964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DM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3144750" y="337287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800" dirty="0" smtClean="0">
                  <a:solidFill>
                    <a:schemeClr val="tx1"/>
                  </a:solidFill>
                  <a:cs typeface="Arial" pitchFamily="34" charset="0"/>
                </a:rPr>
                <a:t>FM</a:t>
              </a:r>
              <a:endParaRPr lang="ko-KR" altLang="en-US" sz="8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3755807" y="3068972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>
                  <a:solidFill>
                    <a:schemeClr val="tx1"/>
                  </a:solidFill>
                  <a:cs typeface="Arial" pitchFamily="34" charset="0"/>
                </a:rPr>
                <a:t>D</a:t>
              </a: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186" name="직선 화살표 연결선 185"/>
            <p:cNvCxnSpPr>
              <a:stCxn id="180" idx="2"/>
              <a:endCxn id="181" idx="0"/>
            </p:cNvCxnSpPr>
            <p:nvPr/>
          </p:nvCxnSpPr>
          <p:spPr>
            <a:xfrm flipH="1">
              <a:off x="3154350" y="2868802"/>
              <a:ext cx="13295" cy="3516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화살표 연결선 186"/>
            <p:cNvCxnSpPr>
              <a:stCxn id="180" idx="2"/>
              <a:endCxn id="182" idx="0"/>
            </p:cNvCxnSpPr>
            <p:nvPr/>
          </p:nvCxnSpPr>
          <p:spPr>
            <a:xfrm>
              <a:off x="3167645" y="2868802"/>
              <a:ext cx="58713" cy="427084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화살표 연결선 187"/>
            <p:cNvCxnSpPr>
              <a:stCxn id="180" idx="2"/>
              <a:endCxn id="184" idx="0"/>
            </p:cNvCxnSpPr>
            <p:nvPr/>
          </p:nvCxnSpPr>
          <p:spPr>
            <a:xfrm>
              <a:off x="3167645" y="2868802"/>
              <a:ext cx="139105" cy="504068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화살표 연결선 188"/>
            <p:cNvCxnSpPr>
              <a:stCxn id="180" idx="3"/>
              <a:endCxn id="183" idx="1"/>
            </p:cNvCxnSpPr>
            <p:nvPr/>
          </p:nvCxnSpPr>
          <p:spPr>
            <a:xfrm>
              <a:off x="3329645" y="2814802"/>
              <a:ext cx="498218" cy="236162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화살표 연결선 189"/>
            <p:cNvCxnSpPr>
              <a:stCxn id="180" idx="3"/>
              <a:endCxn id="185" idx="1"/>
            </p:cNvCxnSpPr>
            <p:nvPr/>
          </p:nvCxnSpPr>
          <p:spPr>
            <a:xfrm>
              <a:off x="3329645" y="2814802"/>
              <a:ext cx="426162" cy="308170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직사각형 190"/>
            <p:cNvSpPr/>
            <p:nvPr/>
          </p:nvSpPr>
          <p:spPr>
            <a:xfrm>
              <a:off x="2887949" y="2580770"/>
              <a:ext cx="549756" cy="365032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3665749" y="2866462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2884290" y="3052496"/>
              <a:ext cx="621021" cy="46763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2828764" y="2544766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 smtClean="0">
                  <a:cs typeface="Arial" pitchFamily="34" charset="0"/>
                </a:rPr>
                <a:t>PU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2821867" y="3021267"/>
              <a:ext cx="405680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 smtClean="0">
                  <a:cs typeface="Arial" pitchFamily="34" charset="0"/>
                </a:rPr>
                <a:t>FU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3935839" y="2840719"/>
              <a:ext cx="333085" cy="90038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>
                  <a:cs typeface="Arial" pitchFamily="34" charset="0"/>
                </a:rPr>
                <a:t>D</a:t>
              </a:r>
              <a:r>
                <a:rPr lang="en-US" altLang="ko-KR" sz="800" dirty="0" smtClean="0">
                  <a:cs typeface="Arial" pitchFamily="34" charset="0"/>
                </a:rPr>
                <a:t>U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sp>
          <p:nvSpPr>
            <p:cNvPr id="199" name="모서리가 둥근 직사각형 198"/>
            <p:cNvSpPr/>
            <p:nvPr/>
          </p:nvSpPr>
          <p:spPr>
            <a:xfrm>
              <a:off x="3827863" y="3321000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0" name="모서리가 둥근 직사각형 199"/>
            <p:cNvSpPr/>
            <p:nvPr/>
          </p:nvSpPr>
          <p:spPr>
            <a:xfrm>
              <a:off x="3755807" y="3393008"/>
              <a:ext cx="324000" cy="108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 cap="flat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r>
                <a:rPr lang="en-US" altLang="ko-KR" sz="700" dirty="0" smtClean="0">
                  <a:solidFill>
                    <a:schemeClr val="tx1"/>
                  </a:solidFill>
                  <a:cs typeface="Arial" pitchFamily="34" charset="0"/>
                </a:rPr>
                <a:t>DBM</a:t>
              </a:r>
              <a:endParaRPr lang="ko-KR" altLang="en-US" sz="7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1" name="직사각형 200"/>
            <p:cNvSpPr/>
            <p:nvPr/>
          </p:nvSpPr>
          <p:spPr>
            <a:xfrm>
              <a:off x="3665749" y="3205283"/>
              <a:ext cx="522118" cy="310510"/>
            </a:xfrm>
            <a:prstGeom prst="rect">
              <a:avLst/>
            </a:prstGeom>
            <a:noFill/>
            <a:ln w="6350" cap="flat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buClr>
                  <a:schemeClr val="bg2"/>
                </a:buClr>
              </a:pPr>
              <a:endParaRPr lang="ko-KR" altLang="en-US" sz="1200" dirty="0" smtClean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3848280" y="3179539"/>
              <a:ext cx="549407" cy="105445"/>
            </a:xfrm>
            <a:prstGeom prst="rect">
              <a:avLst/>
            </a:prstGeom>
            <a:noFill/>
            <a:ln w="6350" cap="flat">
              <a:noFill/>
              <a:miter lim="800000"/>
            </a:ln>
          </p:spPr>
          <p:txBody>
            <a:bodyPr wrap="square" lIns="72000" tIns="36000" rIns="72000" bIns="3600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ko-KR" sz="800" dirty="0" smtClean="0">
                  <a:cs typeface="Arial" pitchFamily="34" charset="0"/>
                </a:rPr>
                <a:t>DBIO</a:t>
              </a:r>
              <a:endParaRPr lang="ko-KR" altLang="en-US" sz="800" dirty="0" smtClean="0">
                <a:cs typeface="Arial" pitchFamily="34" charset="0"/>
              </a:endParaRPr>
            </a:p>
          </p:txBody>
        </p:sp>
        <p:cxnSp>
          <p:nvCxnSpPr>
            <p:cNvPr id="203" name="직선 화살표 연결선 202"/>
            <p:cNvCxnSpPr>
              <a:stCxn id="180" idx="3"/>
            </p:cNvCxnSpPr>
            <p:nvPr/>
          </p:nvCxnSpPr>
          <p:spPr>
            <a:xfrm>
              <a:off x="3329645" y="2814802"/>
              <a:ext cx="488539" cy="5363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화살표 연결선 203"/>
            <p:cNvCxnSpPr>
              <a:stCxn id="180" idx="3"/>
            </p:cNvCxnSpPr>
            <p:nvPr/>
          </p:nvCxnSpPr>
          <p:spPr>
            <a:xfrm>
              <a:off x="3329645" y="2814802"/>
              <a:ext cx="421230" cy="627286"/>
            </a:xfrm>
            <a:prstGeom prst="straightConnector1">
              <a:avLst/>
            </a:prstGeom>
            <a:ln w="6350" cap="flat">
              <a:solidFill>
                <a:schemeClr val="bg1">
                  <a:lumMod val="50000"/>
                </a:schemeClr>
              </a:solidFill>
              <a:miter lim="800000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40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smtClean="0"/>
              <a:t>어플리케이션 계층구조 </a:t>
            </a:r>
            <a:r>
              <a:rPr lang="en-US" altLang="ko-KR" smtClean="0"/>
              <a:t>– nKESA 2.0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ko-KR" altLang="en-US" dirty="0" smtClean="0"/>
              <a:t>어플리케이션의 </a:t>
            </a:r>
            <a:r>
              <a:rPr lang="ko-KR" altLang="en-US" dirty="0"/>
              <a:t>계층 구조는 </a:t>
            </a:r>
            <a:r>
              <a:rPr lang="en-US" altLang="ko-KR" dirty="0"/>
              <a:t>PU(Process Unit), FU(Function Unit), DU(Data </a:t>
            </a:r>
            <a:r>
              <a:rPr lang="en-US" altLang="ko-KR"/>
              <a:t>Unit</a:t>
            </a:r>
            <a:r>
              <a:rPr lang="en-US" altLang="ko-KR" smtClean="0"/>
              <a:t>), DBIO </a:t>
            </a:r>
            <a:r>
              <a:rPr lang="ko-KR" altLang="en-US" smtClean="0"/>
              <a:t>로 </a:t>
            </a:r>
            <a:r>
              <a:rPr lang="ko-KR" altLang="en-US" dirty="0"/>
              <a:t>구성한다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9" name="자유형 8"/>
          <p:cNvSpPr/>
          <p:nvPr/>
        </p:nvSpPr>
        <p:spPr>
          <a:xfrm>
            <a:off x="821086" y="1511002"/>
            <a:ext cx="384561" cy="4110528"/>
          </a:xfrm>
          <a:custGeom>
            <a:avLst/>
            <a:gdLst>
              <a:gd name="connsiteX0" fmla="*/ 384561 w 384561"/>
              <a:gd name="connsiteY0" fmla="*/ 0 h 4110528"/>
              <a:gd name="connsiteX1" fmla="*/ 384561 w 384561"/>
              <a:gd name="connsiteY1" fmla="*/ 3187582 h 4110528"/>
              <a:gd name="connsiteX2" fmla="*/ 8546 w 384561"/>
              <a:gd name="connsiteY2" fmla="*/ 4110528 h 4110528"/>
              <a:gd name="connsiteX3" fmla="*/ 0 w 384561"/>
              <a:gd name="connsiteY3" fmla="*/ 948584 h 4110528"/>
              <a:gd name="connsiteX4" fmla="*/ 384561 w 384561"/>
              <a:gd name="connsiteY4" fmla="*/ 0 h 4110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561" h="4110528">
                <a:moveTo>
                  <a:pt x="384561" y="0"/>
                </a:moveTo>
                <a:lnTo>
                  <a:pt x="384561" y="3187582"/>
                </a:lnTo>
                <a:lnTo>
                  <a:pt x="8546" y="4110528"/>
                </a:lnTo>
                <a:cubicBezTo>
                  <a:pt x="5697" y="3056547"/>
                  <a:pt x="2849" y="2002565"/>
                  <a:pt x="0" y="948584"/>
                </a:cubicBezTo>
                <a:lnTo>
                  <a:pt x="384561" y="0"/>
                </a:lnTo>
                <a:close/>
              </a:path>
            </a:pathLst>
          </a:cu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432261" y="2305666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grpSp>
        <p:nvGrpSpPr>
          <p:cNvPr id="11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723440" y="1160748"/>
            <a:ext cx="4389089" cy="334183"/>
            <a:chOff x="4179312" y="1849485"/>
            <a:chExt cx="1363719" cy="334183"/>
          </a:xfrm>
          <a:solidFill>
            <a:schemeClr val="bg1"/>
          </a:solidFill>
        </p:grpSpPr>
        <p:cxnSp>
          <p:nvCxnSpPr>
            <p:cNvPr id="12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179312" y="2183668"/>
              <a:ext cx="1363719" cy="0"/>
            </a:xfrm>
            <a:prstGeom prst="line">
              <a:avLst/>
            </a:prstGeom>
            <a:grpFill/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690590" y="1849485"/>
              <a:ext cx="559180" cy="307777"/>
            </a:xfrm>
            <a:prstGeom prst="rect">
              <a:avLst/>
            </a:prstGeom>
            <a:grp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 smtClean="0">
                  <a:solidFill>
                    <a:srgbClr val="000000"/>
                  </a:solidFill>
                  <a:cs typeface="Arial" panose="020B0604020202020204" pitchFamily="34" charset="0"/>
                </a:rPr>
                <a:t>어플리케이션 계층 구조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61423" y="1638946"/>
            <a:ext cx="4679609" cy="4133616"/>
          </a:xfrm>
          <a:prstGeom prst="rect">
            <a:avLst/>
          </a:prstGeom>
          <a:noFill/>
          <a:ln w="6350" cap="flat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00472" y="2456892"/>
            <a:ext cx="564917" cy="10541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00472" y="2636912"/>
            <a:ext cx="564917" cy="105416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평행 사변형 16"/>
          <p:cNvSpPr/>
          <p:nvPr/>
        </p:nvSpPr>
        <p:spPr>
          <a:xfrm>
            <a:off x="826621" y="2012635"/>
            <a:ext cx="4306399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평행 사변형 17"/>
          <p:cNvSpPr/>
          <p:nvPr/>
        </p:nvSpPr>
        <p:spPr>
          <a:xfrm>
            <a:off x="1928664" y="2093867"/>
            <a:ext cx="3060340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612740" y="2139074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124908" y="2139074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3260812" y="2427106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2" name="직선 화살표 연결선 21"/>
          <p:cNvCxnSpPr>
            <a:stCxn id="72" idx="6"/>
            <a:endCxn id="19" idx="1"/>
          </p:cNvCxnSpPr>
          <p:nvPr/>
        </p:nvCxnSpPr>
        <p:spPr>
          <a:xfrm>
            <a:off x="200472" y="2327882"/>
            <a:ext cx="2412268" cy="1"/>
          </a:xfrm>
          <a:prstGeom prst="straightConnector1">
            <a:avLst/>
          </a:prstGeom>
          <a:ln w="19050" cap="flat">
            <a:solidFill>
              <a:schemeClr val="accent5">
                <a:lumMod val="50000"/>
              </a:schemeClr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평행 사변형 22"/>
          <p:cNvSpPr/>
          <p:nvPr/>
        </p:nvSpPr>
        <p:spPr>
          <a:xfrm>
            <a:off x="826621" y="3353784"/>
            <a:ext cx="4306399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4" name="평행 사변형 23"/>
          <p:cNvSpPr/>
          <p:nvPr/>
        </p:nvSpPr>
        <p:spPr>
          <a:xfrm>
            <a:off x="1928664" y="3435016"/>
            <a:ext cx="3060340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5" name="평행 사변형 24"/>
          <p:cNvSpPr/>
          <p:nvPr/>
        </p:nvSpPr>
        <p:spPr>
          <a:xfrm>
            <a:off x="826622" y="4694933"/>
            <a:ext cx="2278202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6" name="평행 사변형 25"/>
          <p:cNvSpPr/>
          <p:nvPr/>
        </p:nvSpPr>
        <p:spPr>
          <a:xfrm>
            <a:off x="1349663" y="4776165"/>
            <a:ext cx="1636087" cy="773640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2504728" y="3632815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3800872" y="3781520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</a:t>
            </a: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3116796" y="3380787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F</a:t>
            </a: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1667224" y="4768048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>
                <a:solidFill>
                  <a:schemeClr val="tx1"/>
                </a:solidFill>
                <a:cs typeface="Arial" pitchFamily="34" charset="0"/>
              </a:rPr>
              <a:t>D</a:t>
            </a: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947199" y="5172188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2" name="꺾인 연결선 31"/>
          <p:cNvCxnSpPr>
            <a:stCxn id="49" idx="2"/>
            <a:endCxn id="40" idx="0"/>
          </p:cNvCxnSpPr>
          <p:nvPr/>
        </p:nvCxnSpPr>
        <p:spPr>
          <a:xfrm rot="5400000">
            <a:off x="3609037" y="3104971"/>
            <a:ext cx="1260140" cy="83581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3849249" y="3782005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4" name="꺾인 연결선 33"/>
          <p:cNvCxnSpPr>
            <a:stCxn id="39" idx="2"/>
            <a:endCxn id="33" idx="0"/>
          </p:cNvCxnSpPr>
          <p:nvPr/>
        </p:nvCxnSpPr>
        <p:spPr>
          <a:xfrm rot="16200000" flipH="1">
            <a:off x="3318417" y="3167192"/>
            <a:ext cx="977282" cy="252343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21" idx="3"/>
            <a:endCxn id="20" idx="1"/>
          </p:cNvCxnSpPr>
          <p:nvPr/>
        </p:nvCxnSpPr>
        <p:spPr>
          <a:xfrm flipV="1">
            <a:off x="3800872" y="2327883"/>
            <a:ext cx="324036" cy="288032"/>
          </a:xfrm>
          <a:prstGeom prst="bentConnector3">
            <a:avLst/>
          </a:prstGeom>
          <a:ln w="6350" cap="flat">
            <a:solidFill>
              <a:schemeClr val="tx1"/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7" idx="3"/>
            <a:endCxn id="28" idx="1"/>
          </p:cNvCxnSpPr>
          <p:nvPr/>
        </p:nvCxnSpPr>
        <p:spPr>
          <a:xfrm>
            <a:off x="3044788" y="3821624"/>
            <a:ext cx="756084" cy="148705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38" idx="2"/>
            <a:endCxn id="29" idx="0"/>
          </p:cNvCxnSpPr>
          <p:nvPr/>
        </p:nvCxnSpPr>
        <p:spPr>
          <a:xfrm rot="5400000">
            <a:off x="3101809" y="3089741"/>
            <a:ext cx="576064" cy="6029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3308874" y="263844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596906" y="263844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113335" y="377683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164858" y="3592122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452890" y="3592122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3" name="꺾인 연결선 42"/>
          <p:cNvCxnSpPr>
            <a:stCxn id="42" idx="2"/>
            <a:endCxn id="31" idx="0"/>
          </p:cNvCxnSpPr>
          <p:nvPr/>
        </p:nvCxnSpPr>
        <p:spPr>
          <a:xfrm rot="5400000">
            <a:off x="2170158" y="3805475"/>
            <a:ext cx="1413784" cy="1319642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41" idx="2"/>
            <a:endCxn id="30" idx="0"/>
          </p:cNvCxnSpPr>
          <p:nvPr/>
        </p:nvCxnSpPr>
        <p:spPr>
          <a:xfrm rot="5400000">
            <a:off x="2088225" y="3607434"/>
            <a:ext cx="1009644" cy="131158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19" idx="2"/>
            <a:endCxn id="27" idx="0"/>
          </p:cNvCxnSpPr>
          <p:nvPr/>
        </p:nvCxnSpPr>
        <p:spPr>
          <a:xfrm rot="5400000">
            <a:off x="2270702" y="3020747"/>
            <a:ext cx="1116124" cy="108012"/>
          </a:xfrm>
          <a:prstGeom prst="bentConnector3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/>
          <p:nvPr/>
        </p:nvCxnSpPr>
        <p:spPr>
          <a:xfrm rot="5400000">
            <a:off x="2922574" y="3723822"/>
            <a:ext cx="615155" cy="1485785"/>
          </a:xfrm>
          <a:prstGeom prst="bentConnector3">
            <a:avLst>
              <a:gd name="adj1" fmla="val 62162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4461002" y="2350409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96916" y="2350409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100962" y="485695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388994" y="4856951"/>
            <a:ext cx="167962" cy="16628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2315087" y="4774292"/>
            <a:ext cx="540060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dirty="0" smtClean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6485" y="2943196"/>
            <a:ext cx="2424327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 smtClean="0"/>
              <a:t>※ PM : Process</a:t>
            </a:r>
            <a:r>
              <a:rPr lang="ko-KR" altLang="en-US" sz="800" i="1" dirty="0" smtClean="0"/>
              <a:t> </a:t>
            </a:r>
            <a:r>
              <a:rPr lang="en-US" altLang="ko-KR" sz="800" i="1" dirty="0" smtClean="0"/>
              <a:t>Method (</a:t>
            </a:r>
            <a:r>
              <a:rPr lang="ko-KR" altLang="en-US" sz="800" i="1" dirty="0" smtClean="0"/>
              <a:t>거래</a:t>
            </a:r>
            <a:r>
              <a:rPr lang="en-US" altLang="ko-KR" sz="800" i="1" dirty="0" smtClean="0"/>
              <a:t> </a:t>
            </a:r>
            <a:r>
              <a:rPr lang="ko-KR" altLang="en-US" sz="800" i="1" dirty="0" smtClean="0"/>
              <a:t>처리 </a:t>
            </a:r>
            <a:r>
              <a:rPr lang="ko-KR" altLang="en-US" sz="800" i="1" dirty="0" err="1" smtClean="0"/>
              <a:t>메소드</a:t>
            </a:r>
            <a:r>
              <a:rPr lang="en-US" altLang="ko-KR" sz="800" i="1" dirty="0" smtClean="0"/>
              <a:t>)</a:t>
            </a:r>
            <a:endParaRPr lang="en-US" altLang="ko-KR" sz="800" i="1" dirty="0"/>
          </a:p>
        </p:txBody>
      </p:sp>
      <p:sp>
        <p:nvSpPr>
          <p:cNvPr id="54" name="TextBox 53"/>
          <p:cNvSpPr txBox="1"/>
          <p:nvPr/>
        </p:nvSpPr>
        <p:spPr>
          <a:xfrm>
            <a:off x="836485" y="4281474"/>
            <a:ext cx="1944216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 smtClean="0"/>
              <a:t>※ FM : Function</a:t>
            </a:r>
            <a:r>
              <a:rPr lang="ko-KR" altLang="en-US" sz="800" i="1" dirty="0" smtClean="0"/>
              <a:t> </a:t>
            </a:r>
            <a:r>
              <a:rPr lang="en-US" altLang="ko-KR" sz="800" i="1" dirty="0" smtClean="0"/>
              <a:t>Method (</a:t>
            </a:r>
            <a:r>
              <a:rPr lang="ko-KR" altLang="en-US" sz="800" i="1" dirty="0" smtClean="0"/>
              <a:t>기능</a:t>
            </a:r>
            <a:r>
              <a:rPr lang="en-US" altLang="ko-KR" sz="800" i="1" dirty="0" smtClean="0"/>
              <a:t> </a:t>
            </a:r>
            <a:r>
              <a:rPr lang="ko-KR" altLang="en-US" sz="800" i="1" dirty="0" err="1" smtClean="0"/>
              <a:t>메소드</a:t>
            </a:r>
            <a:r>
              <a:rPr lang="en-US" altLang="ko-KR" sz="800" i="1" dirty="0" smtClean="0"/>
              <a:t>)</a:t>
            </a:r>
            <a:endParaRPr lang="en-US" altLang="ko-KR" sz="800" i="1" dirty="0"/>
          </a:p>
        </p:txBody>
      </p:sp>
      <p:sp>
        <p:nvSpPr>
          <p:cNvPr id="55" name="TextBox 54"/>
          <p:cNvSpPr txBox="1"/>
          <p:nvPr/>
        </p:nvSpPr>
        <p:spPr>
          <a:xfrm>
            <a:off x="752792" y="5610675"/>
            <a:ext cx="2052228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dirty="0" smtClean="0"/>
              <a:t>※ DM </a:t>
            </a:r>
            <a:r>
              <a:rPr lang="en-US" altLang="ko-KR" sz="800" i="1" smtClean="0"/>
              <a:t>: </a:t>
            </a:r>
            <a:r>
              <a:rPr lang="ko-KR" altLang="en-US" sz="800" i="1" smtClean="0"/>
              <a:t>조회용 </a:t>
            </a:r>
            <a:r>
              <a:rPr lang="en-US" altLang="ko-KR" sz="800" i="1" smtClean="0"/>
              <a:t>Data</a:t>
            </a:r>
            <a:r>
              <a:rPr lang="ko-KR" altLang="en-US" sz="800" i="1" smtClean="0"/>
              <a:t> </a:t>
            </a:r>
            <a:r>
              <a:rPr lang="en-US" altLang="ko-KR" sz="800" i="1" dirty="0" smtClean="0"/>
              <a:t>Method (Data </a:t>
            </a:r>
            <a:r>
              <a:rPr lang="ko-KR" altLang="en-US" sz="800" i="1" dirty="0" err="1" smtClean="0"/>
              <a:t>메소드</a:t>
            </a:r>
            <a:r>
              <a:rPr lang="en-US" altLang="ko-KR" sz="800" i="1" dirty="0" smtClean="0"/>
              <a:t>)</a:t>
            </a:r>
            <a:endParaRPr lang="en-US" altLang="ko-KR" sz="800" i="1" dirty="0"/>
          </a:p>
        </p:txBody>
      </p:sp>
      <p:grpSp>
        <p:nvGrpSpPr>
          <p:cNvPr id="56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5385048" y="1160748"/>
            <a:ext cx="4253368" cy="334183"/>
            <a:chOff x="4351550" y="1849485"/>
            <a:chExt cx="916928" cy="334183"/>
          </a:xfrm>
        </p:grpSpPr>
        <p:cxnSp>
          <p:nvCxnSpPr>
            <p:cNvPr id="57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>
              <a:off x="4351550" y="2183668"/>
              <a:ext cx="916928" cy="0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rgbClr val="FFD2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779949" y="1849485"/>
              <a:ext cx="220373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dirty="0" smtClean="0">
                  <a:solidFill>
                    <a:srgbClr val="000000"/>
                  </a:solidFill>
                  <a:cs typeface="Arial" panose="020B0604020202020204" pitchFamily="34" charset="0"/>
                </a:rPr>
                <a:t>계층 별 역할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60" name="직사각형 59"/>
          <p:cNvSpPr/>
          <p:nvPr/>
        </p:nvSpPr>
        <p:spPr>
          <a:xfrm>
            <a:off x="6681716" y="1638945"/>
            <a:ext cx="2987808" cy="1304251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PU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PM(Process Method)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로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구성한다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endParaRPr lang="en-US" altLang="ko-KR" sz="1050" dirty="0" smtClean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은 계층 구조 상 서비스 처리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Flow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를 제어하는 최상위 모듈이다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PM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은 채널로부터의 서비스 호출 대상이며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거래 코드와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1:1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대응된다</a:t>
            </a:r>
            <a:r>
              <a:rPr lang="en-US" altLang="ko-KR" sz="1050" smtClean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  <a:endParaRPr lang="ko-KR" altLang="en-US" sz="1050" dirty="0" smtClean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385048" y="1638945"/>
            <a:ext cx="1198908" cy="130979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  <a:cs typeface="Arial" pitchFamily="34" charset="0"/>
              </a:rPr>
              <a:t>PU</a:t>
            </a:r>
          </a:p>
          <a:p>
            <a:pPr>
              <a:lnSpc>
                <a:spcPct val="150000"/>
              </a:lnSpc>
            </a:pPr>
            <a:r>
              <a:rPr lang="en-US" altLang="ko-KR" sz="1200" smtClean="0">
                <a:solidFill>
                  <a:schemeClr val="tx1"/>
                </a:solidFill>
                <a:cs typeface="Arial" pitchFamily="34" charset="0"/>
              </a:rPr>
              <a:t>(Process Unit)</a:t>
            </a: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8524" y="5801489"/>
            <a:ext cx="8640960" cy="50783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pPr marL="171450" indent="-171450">
              <a:buFontTx/>
              <a:buChar char="-"/>
            </a:pPr>
            <a:r>
              <a:rPr lang="en-US" altLang="ko-KR" sz="900" dirty="0" smtClean="0"/>
              <a:t>Component : Java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Package</a:t>
            </a:r>
            <a:r>
              <a:rPr lang="ko-KR" altLang="en-US" sz="900" dirty="0" smtClean="0"/>
              <a:t>를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의미하며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배포 단위이다</a:t>
            </a:r>
            <a:r>
              <a:rPr lang="en-US" altLang="ko-KR" sz="900" dirty="0" smtClean="0"/>
              <a:t>. (</a:t>
            </a:r>
            <a:r>
              <a:rPr lang="ko-KR" altLang="en-US" sz="900" dirty="0" smtClean="0"/>
              <a:t>신 표준 프레임워크 </a:t>
            </a:r>
            <a:r>
              <a:rPr lang="en-US" altLang="ko-KR" sz="900" dirty="0" smtClean="0"/>
              <a:t>Online Component </a:t>
            </a:r>
            <a:r>
              <a:rPr lang="ko-KR" altLang="en-US" sz="900" dirty="0" smtClean="0"/>
              <a:t>명 </a:t>
            </a:r>
            <a:r>
              <a:rPr lang="en-US" altLang="ko-KR" sz="900" dirty="0" smtClean="0"/>
              <a:t>: </a:t>
            </a:r>
            <a:r>
              <a:rPr lang="en-US" altLang="ko-KR" sz="900" dirty="0" err="1" smtClean="0"/>
              <a:t>com.kbstar.appcode</a:t>
            </a:r>
            <a:r>
              <a:rPr lang="en-US" altLang="ko-KR" sz="900" dirty="0" smtClean="0"/>
              <a:t>(3).xxx)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 smtClean="0"/>
              <a:t>Unit :  </a:t>
            </a:r>
            <a:r>
              <a:rPr lang="ko-KR" altLang="en-US" sz="900" dirty="0" smtClean="0"/>
              <a:t>신 표준 프레임워크</a:t>
            </a:r>
            <a:r>
              <a:rPr lang="en-US" altLang="ko-KR" sz="900" dirty="0" smtClean="0"/>
              <a:t>(NEXCORE)</a:t>
            </a:r>
            <a:r>
              <a:rPr lang="ko-KR" altLang="en-US" sz="900" dirty="0" smtClean="0"/>
              <a:t>에서 사용하는 용어로서</a:t>
            </a:r>
            <a:r>
              <a:rPr lang="en-US" altLang="ko-KR" sz="900" dirty="0" smtClean="0"/>
              <a:t>, Component</a:t>
            </a:r>
            <a:r>
              <a:rPr lang="ko-KR" altLang="en-US" sz="900" dirty="0" smtClean="0"/>
              <a:t>의 비즈니스 </a:t>
            </a:r>
            <a:r>
              <a:rPr lang="en-US" altLang="ko-KR" sz="900" dirty="0" smtClean="0"/>
              <a:t>Logic</a:t>
            </a:r>
            <a:r>
              <a:rPr lang="ko-KR" altLang="en-US" sz="900" dirty="0" smtClean="0"/>
              <a:t>을 담당하고 있는 </a:t>
            </a:r>
            <a:r>
              <a:rPr lang="en-US" altLang="ko-KR" sz="900" dirty="0" smtClean="0"/>
              <a:t>Java Class</a:t>
            </a:r>
            <a:r>
              <a:rPr lang="ko-KR" altLang="en-US" sz="900" dirty="0" smtClean="0"/>
              <a:t>를 의미한다</a:t>
            </a:r>
            <a:r>
              <a:rPr lang="en-US" altLang="ko-KR" sz="900" dirty="0" smtClean="0"/>
              <a:t>. (1</a:t>
            </a:r>
            <a:r>
              <a:rPr lang="ko-KR" altLang="en-US" sz="900" dirty="0" smtClean="0"/>
              <a:t>개의 </a:t>
            </a:r>
            <a:r>
              <a:rPr lang="en-US" altLang="ko-KR" sz="900" dirty="0" smtClean="0"/>
              <a:t>Unit</a:t>
            </a:r>
            <a:r>
              <a:rPr lang="ko-KR" altLang="en-US" sz="900" dirty="0" smtClean="0"/>
              <a:t>은 </a:t>
            </a:r>
            <a:r>
              <a:rPr lang="en-US" altLang="ko-KR" sz="900" dirty="0" smtClean="0"/>
              <a:t>1</a:t>
            </a:r>
            <a:r>
              <a:rPr lang="ko-KR" altLang="en-US" sz="900" dirty="0" smtClean="0"/>
              <a:t>개의 파일로 구성</a:t>
            </a:r>
            <a:r>
              <a:rPr lang="en-US" altLang="ko-KR" sz="90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 smtClean="0"/>
              <a:t>Method : Java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Class</a:t>
            </a:r>
            <a:r>
              <a:rPr lang="ko-KR" altLang="en-US" sz="900" dirty="0" smtClean="0"/>
              <a:t>를 구성하고 있는 멤버 함수로</a:t>
            </a:r>
            <a:r>
              <a:rPr lang="en-US" altLang="ko-KR" sz="900" dirty="0" smtClean="0"/>
              <a:t>,</a:t>
            </a:r>
            <a:r>
              <a:rPr lang="ko-KR" altLang="en-US" sz="900" dirty="0"/>
              <a:t> </a:t>
            </a:r>
            <a:r>
              <a:rPr lang="ko-KR" altLang="en-US" sz="900" dirty="0" smtClean="0"/>
              <a:t>신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표준 프레임워크</a:t>
            </a:r>
            <a:r>
              <a:rPr lang="en-US" altLang="ko-KR" sz="900" dirty="0" smtClean="0"/>
              <a:t>(NEXCORE)</a:t>
            </a:r>
            <a:r>
              <a:rPr lang="ko-KR" altLang="en-US" sz="900" dirty="0" smtClean="0"/>
              <a:t>의 경우 </a:t>
            </a:r>
            <a:r>
              <a:rPr lang="en-US" altLang="ko-KR" sz="900" dirty="0" smtClean="0"/>
              <a:t>Unit</a:t>
            </a:r>
            <a:r>
              <a:rPr lang="ko-KR" altLang="en-US" sz="900" dirty="0" smtClean="0"/>
              <a:t> 내 다수의 </a:t>
            </a:r>
            <a:r>
              <a:rPr lang="en-US" altLang="ko-KR" sz="900" dirty="0" smtClean="0"/>
              <a:t>Method</a:t>
            </a:r>
            <a:r>
              <a:rPr lang="ko-KR" altLang="en-US" sz="900" dirty="0" smtClean="0"/>
              <a:t>를 정의하여 사용한다</a:t>
            </a:r>
            <a:r>
              <a:rPr lang="en-US" altLang="ko-KR" sz="900" dirty="0"/>
              <a:t>.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6451651" y="3557726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467240" y="4947821"/>
            <a:ext cx="428951" cy="2592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681716" y="3026597"/>
            <a:ext cx="2987808" cy="1262444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FU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FM(Function Method)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로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구성한다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업무 단위 비즈니스 </a:t>
            </a:r>
            <a:r>
              <a:rPr lang="ko-KR" altLang="en-US" sz="1050" dirty="0" err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로직과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 타 업무 제공 업무 공통 및 전행 공통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Utility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성 </a:t>
            </a:r>
            <a:r>
              <a:rPr lang="ko-KR" altLang="en-US" sz="1050" dirty="0" err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로직을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 처리한다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b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</a:b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예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출금 가능 여부 체크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( )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선처리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후처리 </a:t>
            </a:r>
            <a:r>
              <a:rPr lang="ko-KR" altLang="en-US" sz="1050" dirty="0" err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로직을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 담당한다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endParaRPr lang="ko-KR" altLang="en-US" sz="1050" dirty="0" smtClean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681716" y="4425951"/>
            <a:ext cx="2987808" cy="1346609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DM(Data </a:t>
            </a:r>
            <a:r>
              <a:rPr lang="en-US" altLang="ko-KR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Method)</a:t>
            </a:r>
            <a:r>
              <a:rPr lang="ko-KR" altLang="en-US" sz="110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또는</a:t>
            </a:r>
            <a:r>
              <a:rPr lang="en-US" altLang="ko-KR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 DBIO</a:t>
            </a:r>
            <a:r>
              <a:rPr lang="ko-KR" altLang="en-US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로 구성한다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. </a:t>
            </a: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Data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접근을 담당하며 </a:t>
            </a:r>
            <a:r>
              <a:rPr lang="en-US" altLang="ko-KR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DU </a:t>
            </a:r>
            <a:r>
              <a:rPr lang="ko-KR" altLang="en-US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는 단건조회</a:t>
            </a:r>
            <a:r>
              <a:rPr lang="en-US" altLang="ko-KR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목록조회 만을 담당한다</a:t>
            </a:r>
            <a:r>
              <a:rPr lang="en-US" altLang="ko-KR" sz="1100" smtClean="0">
                <a:solidFill>
                  <a:schemeClr val="tx1"/>
                </a:solidFill>
                <a:latin typeface="+mn-ea"/>
                <a:cs typeface="Arial" pitchFamily="34" charset="0"/>
              </a:rPr>
              <a:t>.</a:t>
            </a:r>
            <a:endParaRPr lang="en-US" altLang="ko-KR" sz="110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DBIO </a:t>
            </a:r>
            <a:r>
              <a:rPr lang="ko-KR" altLang="en-US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는 모든 단건 </a:t>
            </a:r>
            <a:r>
              <a:rPr lang="en-US" altLang="ko-KR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C/U/D</a:t>
            </a:r>
            <a:r>
              <a:rPr lang="ko-KR" altLang="en-US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를 처리하는 유닛</a:t>
            </a:r>
            <a:endParaRPr lang="en-US" altLang="ko-KR" sz="1100" b="1" smtClean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144000" indent="-144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단건 조회</a:t>
            </a:r>
            <a:r>
              <a:rPr lang="en-US" altLang="ko-KR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/Lock </a:t>
            </a:r>
            <a:r>
              <a:rPr lang="ko-KR" altLang="en-US" sz="1100" b="1" smtClean="0">
                <a:solidFill>
                  <a:schemeClr val="tx1"/>
                </a:solidFill>
                <a:latin typeface="+mn-ea"/>
                <a:cs typeface="Arial" pitchFamily="34" charset="0"/>
              </a:rPr>
              <a:t>조회 기능 제공</a:t>
            </a:r>
            <a:endParaRPr lang="ko-KR" altLang="en-US" sz="1100" b="1" dirty="0" smtClean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385048" y="3029304"/>
            <a:ext cx="1198908" cy="12624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  <a:cs typeface="Arial" pitchFamily="34" charset="0"/>
              </a:rPr>
              <a:t>FU</a:t>
            </a:r>
          </a:p>
          <a:p>
            <a:pPr>
              <a:lnSpc>
                <a:spcPct val="150000"/>
              </a:lnSpc>
            </a:pPr>
            <a:r>
              <a:rPr lang="en-US" altLang="ko-KR" sz="1200" smtClean="0">
                <a:solidFill>
                  <a:schemeClr val="tx1"/>
                </a:solidFill>
                <a:cs typeface="Arial" pitchFamily="34" charset="0"/>
              </a:rPr>
              <a:t>(Function Unit)</a:t>
            </a: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385048" y="4372313"/>
            <a:ext cx="1198908" cy="140024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smtClean="0">
                <a:solidFill>
                  <a:schemeClr val="tx1"/>
                </a:solidFill>
                <a:cs typeface="Arial" pitchFamily="34" charset="0"/>
              </a:rPr>
              <a:t>DU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altLang="ko-KR" sz="1200" smtClean="0">
                <a:solidFill>
                  <a:schemeClr val="tx1"/>
                </a:solidFill>
                <a:cs typeface="Arial" pitchFamily="34" charset="0"/>
              </a:rPr>
              <a:t>  (Data Unit)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smtClean="0">
                <a:solidFill>
                  <a:srgbClr val="0000FF"/>
                </a:solidFill>
                <a:cs typeface="Arial" pitchFamily="34" charset="0"/>
              </a:rPr>
              <a:t>DBIO</a:t>
            </a:r>
            <a:endParaRPr lang="ko-KR" altLang="en-US" sz="1200" b="1" dirty="0" smtClean="0">
              <a:solidFill>
                <a:srgbClr val="0000FF"/>
              </a:solidFill>
              <a:cs typeface="Arial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64568" y="2476165"/>
            <a:ext cx="972108" cy="27621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 smtClean="0">
                <a:cs typeface="Arial" pitchFamily="34" charset="0"/>
              </a:rPr>
              <a:t>Process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 smtClean="0">
                <a:cs typeface="Arial" pitchFamily="34" charset="0"/>
              </a:rPr>
              <a:t>Unit</a:t>
            </a:r>
            <a:endParaRPr lang="ko-KR" altLang="en-US" sz="1400" i="1" dirty="0" smtClean="0">
              <a:cs typeface="Arial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64568" y="3808313"/>
            <a:ext cx="972108" cy="27621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 smtClean="0">
                <a:cs typeface="Arial" pitchFamily="34" charset="0"/>
              </a:rPr>
              <a:t>Function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 smtClean="0">
                <a:cs typeface="Arial" pitchFamily="34" charset="0"/>
              </a:rPr>
              <a:t>Unit</a:t>
            </a:r>
            <a:endParaRPr lang="ko-KR" altLang="en-US" sz="1400" i="1" dirty="0" smtClean="0">
              <a:cs typeface="Arial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72323" y="4979739"/>
            <a:ext cx="972108" cy="4288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dirty="0" smtClean="0">
                <a:cs typeface="Arial" pitchFamily="34" charset="0"/>
              </a:rPr>
              <a:t>Data</a:t>
            </a:r>
          </a:p>
          <a:p>
            <a:pPr>
              <a:lnSpc>
                <a:spcPct val="90000"/>
              </a:lnSpc>
            </a:pPr>
            <a:r>
              <a:rPr lang="en-US" altLang="ko-KR" sz="1400" i="1" dirty="0" smtClean="0">
                <a:cs typeface="Arial" pitchFamily="34" charset="0"/>
              </a:rPr>
              <a:t>Unit</a:t>
            </a:r>
            <a:endParaRPr lang="ko-KR" altLang="en-US" sz="1400" i="1" dirty="0" smtClean="0">
              <a:cs typeface="Arial" pitchFamily="34" charset="0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92460" y="2273882"/>
            <a:ext cx="108012" cy="10800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accent5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43287" y="2070539"/>
            <a:ext cx="677265" cy="261610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100" kern="0" dirty="0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채널</a:t>
            </a:r>
            <a:r>
              <a:rPr lang="en-US" altLang="ko-KR" sz="1100" kern="0" dirty="0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100" kern="0" dirty="0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요청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60512" y="2911570"/>
            <a:ext cx="384561" cy="193071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vert="eaVert" wrap="square" lIns="72000" tIns="36000" rIns="72000" bIns="3600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600" dirty="0" smtClean="0">
                <a:cs typeface="Arial" pitchFamily="34" charset="0"/>
              </a:rPr>
              <a:t>Component</a:t>
            </a:r>
            <a:endParaRPr lang="ko-KR" altLang="en-US" sz="1600" dirty="0" smtClean="0"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아키텍처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8" name="평행 사변형 77"/>
          <p:cNvSpPr/>
          <p:nvPr/>
        </p:nvSpPr>
        <p:spPr>
          <a:xfrm>
            <a:off x="2909772" y="4683445"/>
            <a:ext cx="2278202" cy="936104"/>
          </a:xfrm>
          <a:prstGeom prst="parallelogram">
            <a:avLst>
              <a:gd name="adj" fmla="val 40882"/>
            </a:avLst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8" name="평행 사변형 97"/>
          <p:cNvSpPr/>
          <p:nvPr/>
        </p:nvSpPr>
        <p:spPr>
          <a:xfrm>
            <a:off x="3411370" y="4801609"/>
            <a:ext cx="1636087" cy="748196"/>
          </a:xfrm>
          <a:prstGeom prst="parallelogram">
            <a:avLst>
              <a:gd name="adj" fmla="val 40882"/>
            </a:avLst>
          </a:prstGeom>
          <a:solidFill>
            <a:schemeClr val="bg1"/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4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700844" y="5077440"/>
            <a:ext cx="611025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smtClean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0" name="꺾인 연결선 79"/>
          <p:cNvCxnSpPr>
            <a:endCxn id="79" idx="0"/>
          </p:cNvCxnSpPr>
          <p:nvPr/>
        </p:nvCxnSpPr>
        <p:spPr>
          <a:xfrm rot="5400000">
            <a:off x="3621909" y="4558273"/>
            <a:ext cx="903615" cy="13471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모서리가 둥근 직사각형 80"/>
          <p:cNvSpPr/>
          <p:nvPr/>
        </p:nvSpPr>
        <p:spPr>
          <a:xfrm>
            <a:off x="4307336" y="4710762"/>
            <a:ext cx="606451" cy="37761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200" i="1" smtClean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200" i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031982" y="5042129"/>
            <a:ext cx="972108" cy="42886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400" i="1" smtClean="0">
                <a:cs typeface="Arial" pitchFamily="34" charset="0"/>
              </a:rPr>
              <a:t>DBIO</a:t>
            </a:r>
            <a:endParaRPr lang="en-US" altLang="ko-KR" sz="1400" i="1" dirty="0" smtClean="0">
              <a:cs typeface="Arial" pitchFamily="34" charset="0"/>
            </a:endParaRPr>
          </a:p>
        </p:txBody>
      </p:sp>
      <p:cxnSp>
        <p:nvCxnSpPr>
          <p:cNvPr id="88" name="꺾인 연결선 87"/>
          <p:cNvCxnSpPr>
            <a:stCxn id="20" idx="2"/>
          </p:cNvCxnSpPr>
          <p:nvPr/>
        </p:nvCxnSpPr>
        <p:spPr>
          <a:xfrm rot="5400000">
            <a:off x="2437109" y="2818336"/>
            <a:ext cx="2259474" cy="1656184"/>
          </a:xfrm>
          <a:prstGeom prst="bentConnector3">
            <a:avLst>
              <a:gd name="adj1" fmla="val 81272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endCxn id="81" idx="0"/>
          </p:cNvCxnSpPr>
          <p:nvPr/>
        </p:nvCxnSpPr>
        <p:spPr>
          <a:xfrm rot="16200000" flipH="1">
            <a:off x="3476351" y="3576551"/>
            <a:ext cx="2166754" cy="101668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799051" y="5603714"/>
            <a:ext cx="2248405" cy="215444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>
            <a:defPPr>
              <a:defRPr lang="de-DE"/>
            </a:defPPr>
            <a:lvl1pPr eaLnBrk="0" hangingPunct="0">
              <a:defRPr sz="1200" kern="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ko-KR" sz="800" i="1" smtClean="0"/>
              <a:t>※ DBM : CUD</a:t>
            </a:r>
            <a:r>
              <a:rPr lang="ko-KR" altLang="en-US" sz="800" i="1" smtClean="0"/>
              <a:t>용 </a:t>
            </a:r>
            <a:r>
              <a:rPr lang="en-US" altLang="ko-KR" sz="800" i="1" smtClean="0"/>
              <a:t>Data</a:t>
            </a:r>
            <a:r>
              <a:rPr lang="ko-KR" altLang="en-US" sz="800" i="1" smtClean="0"/>
              <a:t> </a:t>
            </a:r>
            <a:r>
              <a:rPr lang="en-US" altLang="ko-KR" sz="800" i="1" dirty="0" smtClean="0"/>
              <a:t>Method (Data </a:t>
            </a:r>
            <a:r>
              <a:rPr lang="ko-KR" altLang="en-US" sz="800" i="1" dirty="0" err="1" smtClean="0"/>
              <a:t>메소드</a:t>
            </a:r>
            <a:r>
              <a:rPr lang="en-US" altLang="ko-KR" sz="800" i="1" dirty="0" smtClean="0"/>
              <a:t>)</a:t>
            </a:r>
            <a:endParaRPr lang="en-US" altLang="ko-KR" sz="800" i="1" dirty="0"/>
          </a:p>
        </p:txBody>
      </p:sp>
    </p:spTree>
    <p:extLst>
      <p:ext uri="{BB962C8B-B14F-4D97-AF65-F5344CB8AC3E}">
        <p14:creationId xmlns:p14="http://schemas.microsoft.com/office/powerpoint/2010/main" val="99298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모서리가 둥근 직사각형 41"/>
          <p:cNvSpPr/>
          <p:nvPr/>
        </p:nvSpPr>
        <p:spPr>
          <a:xfrm>
            <a:off x="2036676" y="2557129"/>
            <a:ext cx="7272808" cy="3320143"/>
          </a:xfrm>
          <a:prstGeom prst="roundRect">
            <a:avLst>
              <a:gd name="adj" fmla="val 3963"/>
            </a:avLst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90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smtClean="0"/>
              <a:t>컴포넌트 내부 디렉토리 구조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컴포넌트 내부는 역할에 따라 </a:t>
            </a:r>
            <a:r>
              <a:rPr lang="en-US" altLang="ko-KR" dirty="0" smtClean="0"/>
              <a:t>biz, </a:t>
            </a:r>
            <a:r>
              <a:rPr lang="en-US" altLang="ko-KR" dirty="0" err="1" smtClean="0"/>
              <a:t>uio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xio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xsql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consts</a:t>
            </a:r>
            <a:r>
              <a:rPr lang="en-US" altLang="ko-KR" smtClean="0"/>
              <a:t>, base, util </a:t>
            </a:r>
            <a:r>
              <a:rPr lang="ko-KR" altLang="en-US" dirty="0" smtClean="0"/>
              <a:t>등의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하위 </a:t>
            </a:r>
            <a:r>
              <a:rPr lang="ko-KR" altLang="en-US" dirty="0"/>
              <a:t>패</a:t>
            </a:r>
            <a:r>
              <a:rPr lang="ko-KR" altLang="en-US" dirty="0" smtClean="0"/>
              <a:t>키지로 구성됨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gray">
          <a:xfrm>
            <a:off x="845915" y="1160748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ct val="0"/>
              </a:spcBef>
            </a:pPr>
            <a:r>
              <a:rPr lang="en-US" altLang="ko-KR" sz="1000" dirty="0" smtClean="0">
                <a:latin typeface="+mn-ea"/>
                <a:cs typeface="Arial" charset="0"/>
              </a:rPr>
              <a:t>com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gray">
          <a:xfrm>
            <a:off x="1856656" y="2096896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ct val="0"/>
              </a:spcBef>
            </a:pPr>
            <a:r>
              <a:rPr lang="en-US" altLang="ko-KR" sz="1000" dirty="0" smtClean="0">
                <a:latin typeface="+mn-ea"/>
                <a:cs typeface="Arial" charset="0"/>
              </a:rPr>
              <a:t>App(3)</a:t>
            </a:r>
            <a:endParaRPr kumimoji="0" lang="ko-KR" altLang="en-US" sz="1000" baseline="40000" dirty="0">
              <a:latin typeface="+mn-ea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gray">
          <a:xfrm>
            <a:off x="1349971" y="1628844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ct val="0"/>
              </a:spcBef>
            </a:pPr>
            <a:r>
              <a:rPr lang="en-US" altLang="ko-KR" sz="1000" dirty="0" err="1" smtClean="0">
                <a:latin typeface="+mn-ea"/>
                <a:cs typeface="Arial" charset="0"/>
              </a:rPr>
              <a:t>kbstar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cxnSp>
        <p:nvCxnSpPr>
          <p:cNvPr id="10" name="꺾인 연결선 9"/>
          <p:cNvCxnSpPr>
            <a:stCxn id="5" idx="2"/>
            <a:endCxn id="9" idx="1"/>
          </p:cNvCxnSpPr>
          <p:nvPr/>
        </p:nvCxnSpPr>
        <p:spPr>
          <a:xfrm rot="16200000" flipH="1">
            <a:off x="1134571" y="1611444"/>
            <a:ext cx="270096" cy="160703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9" idx="2"/>
            <a:endCxn id="7" idx="1"/>
          </p:cNvCxnSpPr>
          <p:nvPr/>
        </p:nvCxnSpPr>
        <p:spPr>
          <a:xfrm rot="16200000" flipH="1">
            <a:off x="1639964" y="2078204"/>
            <a:ext cx="270052" cy="163332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utoShape 5"/>
          <p:cNvSpPr>
            <a:spLocks noChangeArrowheads="1"/>
          </p:cNvSpPr>
          <p:nvPr/>
        </p:nvSpPr>
        <p:spPr bwMode="gray">
          <a:xfrm>
            <a:off x="4191658" y="2688585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dirty="0" smtClean="0">
                <a:latin typeface="+mn-ea"/>
                <a:cs typeface="Arial" charset="0"/>
              </a:rPr>
              <a:t>PU, FU, DU </a:t>
            </a:r>
            <a:r>
              <a:rPr lang="ko-KR" altLang="en-US" sz="1000" dirty="0" smtClean="0">
                <a:latin typeface="+mn-ea"/>
                <a:cs typeface="Arial" charset="0"/>
              </a:rPr>
              <a:t>클래스들이 위치하는 패키지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gray">
          <a:xfrm>
            <a:off x="4191658" y="3133010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smtClean="0">
                <a:latin typeface="+mn-ea"/>
                <a:cs typeface="Arial" charset="0"/>
              </a:rPr>
              <a:t>PM,FM,DM </a:t>
            </a:r>
            <a:r>
              <a:rPr lang="ko-KR" altLang="en-US" sz="1000" dirty="0" smtClean="0">
                <a:latin typeface="+mn-ea"/>
                <a:cs typeface="Arial" charset="0"/>
              </a:rPr>
              <a:t>의 </a:t>
            </a:r>
            <a:r>
              <a:rPr lang="en-US" altLang="ko-KR" sz="1000" dirty="0" smtClean="0">
                <a:latin typeface="+mn-ea"/>
                <a:cs typeface="Arial" charset="0"/>
              </a:rPr>
              <a:t>IO </a:t>
            </a:r>
            <a:r>
              <a:rPr lang="ko-KR" altLang="en-US" sz="1000" dirty="0" smtClean="0">
                <a:latin typeface="+mn-ea"/>
                <a:cs typeface="Arial" charset="0"/>
              </a:rPr>
              <a:t>정보를 담고 있는 </a:t>
            </a:r>
            <a:r>
              <a:rPr lang="en-US" altLang="ko-KR" sz="1000" dirty="0" smtClean="0">
                <a:latin typeface="+mn-ea"/>
                <a:cs typeface="Arial" charset="0"/>
              </a:rPr>
              <a:t>xml </a:t>
            </a:r>
            <a:r>
              <a:rPr lang="ko-KR" altLang="en-US" sz="1000" dirty="0" smtClean="0">
                <a:latin typeface="+mn-ea"/>
                <a:cs typeface="Arial" charset="0"/>
              </a:rPr>
              <a:t>파일 위치</a:t>
            </a:r>
            <a:r>
              <a:rPr lang="en-US" altLang="ko-KR" sz="1000" dirty="0" smtClean="0">
                <a:latin typeface="+mn-ea"/>
                <a:cs typeface="Arial" charset="0"/>
              </a:rPr>
              <a:t>. PU/FU/DU </a:t>
            </a:r>
            <a:r>
              <a:rPr lang="ko-KR" altLang="en-US" sz="1000" dirty="0" smtClean="0">
                <a:latin typeface="+mn-ea"/>
                <a:cs typeface="Arial" charset="0"/>
              </a:rPr>
              <a:t>와 </a:t>
            </a:r>
            <a:r>
              <a:rPr lang="en-US" altLang="ko-KR" sz="1000" dirty="0" smtClean="0">
                <a:latin typeface="+mn-ea"/>
                <a:cs typeface="Arial" charset="0"/>
              </a:rPr>
              <a:t>1:1</a:t>
            </a:r>
            <a:r>
              <a:rPr lang="ko-KR" altLang="en-US" sz="1000" smtClean="0">
                <a:latin typeface="+mn-ea"/>
                <a:cs typeface="Arial" charset="0"/>
              </a:rPr>
              <a:t>로 생성됨</a:t>
            </a:r>
            <a:endParaRPr lang="en-US" altLang="ko-KR" sz="1000" smtClean="0">
              <a:latin typeface="+mn-ea"/>
              <a:cs typeface="Arial" charset="0"/>
            </a:endParaRPr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gray">
          <a:xfrm>
            <a:off x="4191658" y="3577435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smtClean="0">
                <a:latin typeface="+mn-ea"/>
                <a:cs typeface="Arial" charset="0"/>
              </a:rPr>
              <a:t>External </a:t>
            </a:r>
            <a:r>
              <a:rPr lang="ko-KR" altLang="en-US" sz="1000" smtClean="0">
                <a:latin typeface="+mn-ea"/>
                <a:cs typeface="Arial" charset="0"/>
              </a:rPr>
              <a:t>용 전문 </a:t>
            </a:r>
            <a:r>
              <a:rPr lang="en-US" altLang="ko-KR" sz="1000" smtClean="0">
                <a:latin typeface="+mn-ea"/>
                <a:cs typeface="Arial" charset="0"/>
              </a:rPr>
              <a:t>(Outbound) </a:t>
            </a:r>
            <a:r>
              <a:rPr lang="ko-KR" altLang="en-US" sz="1000" smtClean="0">
                <a:latin typeface="+mn-ea"/>
                <a:cs typeface="Arial" charset="0"/>
              </a:rPr>
              <a:t>레이아웃 </a:t>
            </a:r>
            <a:r>
              <a:rPr lang="en-US" altLang="ko-KR" sz="1000" smtClean="0">
                <a:latin typeface="+mn-ea"/>
                <a:cs typeface="Arial" charset="0"/>
              </a:rPr>
              <a:t>XML </a:t>
            </a:r>
            <a:r>
              <a:rPr lang="ko-KR" altLang="en-US" sz="1000" smtClean="0">
                <a:latin typeface="+mn-ea"/>
                <a:cs typeface="Arial" charset="0"/>
              </a:rPr>
              <a:t>파일이 위치하는 패키지</a:t>
            </a:r>
            <a:endParaRPr lang="en-US" altLang="ko-KR" sz="1000" smtClean="0">
              <a:latin typeface="+mn-ea"/>
              <a:cs typeface="Arial" charset="0"/>
            </a:endParaRPr>
          </a:p>
        </p:txBody>
      </p:sp>
      <p:sp>
        <p:nvSpPr>
          <p:cNvPr id="35" name="AutoShape 5"/>
          <p:cNvSpPr>
            <a:spLocks noChangeArrowheads="1"/>
          </p:cNvSpPr>
          <p:nvPr/>
        </p:nvSpPr>
        <p:spPr bwMode="gray">
          <a:xfrm>
            <a:off x="4191658" y="4021860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en-US" altLang="ko-KR" sz="1000" dirty="0" smtClean="0">
                <a:latin typeface="+mn-ea"/>
                <a:cs typeface="Arial" charset="0"/>
              </a:rPr>
              <a:t>SQL </a:t>
            </a:r>
            <a:r>
              <a:rPr lang="ko-KR" altLang="en-US" sz="1000" dirty="0" smtClean="0">
                <a:latin typeface="+mn-ea"/>
                <a:cs typeface="Arial" charset="0"/>
              </a:rPr>
              <a:t>을 저장하는 </a:t>
            </a:r>
            <a:r>
              <a:rPr lang="en-US" altLang="ko-KR" sz="1000" dirty="0" smtClean="0">
                <a:latin typeface="+mn-ea"/>
                <a:cs typeface="Arial" charset="0"/>
              </a:rPr>
              <a:t>XML </a:t>
            </a:r>
            <a:r>
              <a:rPr lang="ko-KR" altLang="en-US" sz="1000" dirty="0" smtClean="0">
                <a:latin typeface="+mn-ea"/>
                <a:cs typeface="Arial" charset="0"/>
              </a:rPr>
              <a:t>파일</a:t>
            </a:r>
            <a:r>
              <a:rPr lang="en-US" altLang="ko-KR" sz="1000" dirty="0" smtClean="0">
                <a:latin typeface="+mn-ea"/>
                <a:cs typeface="Arial" charset="0"/>
              </a:rPr>
              <a:t>. DU </a:t>
            </a:r>
            <a:r>
              <a:rPr lang="ko-KR" altLang="en-US" sz="1000" smtClean="0">
                <a:latin typeface="+mn-ea"/>
                <a:cs typeface="Arial" charset="0"/>
              </a:rPr>
              <a:t>와 동일 </a:t>
            </a:r>
            <a:r>
              <a:rPr lang="ko-KR" altLang="en-US" sz="1000" dirty="0" smtClean="0">
                <a:latin typeface="+mn-ea"/>
                <a:cs typeface="Arial" charset="0"/>
              </a:rPr>
              <a:t>이름으로 </a:t>
            </a:r>
            <a:r>
              <a:rPr lang="en-US" altLang="ko-KR" sz="1000" dirty="0" smtClean="0">
                <a:latin typeface="+mn-ea"/>
                <a:cs typeface="Arial" charset="0"/>
              </a:rPr>
              <a:t>1:1 </a:t>
            </a:r>
            <a:r>
              <a:rPr lang="ko-KR" altLang="en-US" sz="1000" dirty="0" smtClean="0">
                <a:latin typeface="+mn-ea"/>
                <a:cs typeface="Arial" charset="0"/>
              </a:rPr>
              <a:t>로 생성됨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gray">
          <a:xfrm>
            <a:off x="4191658" y="4466285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ko-KR" altLang="en-US" sz="1000" dirty="0" smtClean="0">
                <a:latin typeface="+mn-ea"/>
                <a:cs typeface="Arial" charset="0"/>
              </a:rPr>
              <a:t>상수 클래스를 생성하는 패키지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gray">
          <a:xfrm>
            <a:off x="2358083" y="268858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FF0000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dirty="0">
                <a:latin typeface="+mn-ea"/>
                <a:cs typeface="Arial" charset="0"/>
              </a:rPr>
              <a:t>a</a:t>
            </a:r>
            <a:r>
              <a:rPr lang="en-US" altLang="ko-KR" sz="1000" dirty="0" smtClean="0">
                <a:latin typeface="+mn-ea"/>
                <a:cs typeface="Arial" charset="0"/>
              </a:rPr>
              <a:t>pp_</a:t>
            </a:r>
          </a:p>
          <a:p>
            <a:pPr marL="85725" indent="-85725" algn="ctr">
              <a:spcBef>
                <a:spcPts val="300"/>
              </a:spcBef>
            </a:pPr>
            <a:r>
              <a:rPr kumimoji="0" lang="ko-KR" altLang="en-US" sz="1000" dirty="0" smtClean="0">
                <a:latin typeface="+mn-ea"/>
                <a:cs typeface="Arial" charset="0"/>
              </a:rPr>
              <a:t>기능</a:t>
            </a:r>
            <a:r>
              <a:rPr lang="en-US" altLang="ko-KR" sz="1000" dirty="0" smtClean="0">
                <a:latin typeface="+mn-ea"/>
                <a:cs typeface="Arial" charset="0"/>
              </a:rPr>
              <a:t>_1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cxnSp>
        <p:nvCxnSpPr>
          <p:cNvPr id="12" name="꺾인 연결선 11"/>
          <p:cNvCxnSpPr>
            <a:stCxn id="7" idx="2"/>
            <a:endCxn id="8" idx="1"/>
          </p:cNvCxnSpPr>
          <p:nvPr/>
        </p:nvCxnSpPr>
        <p:spPr>
          <a:xfrm rot="16200000" flipH="1">
            <a:off x="2082202" y="2610703"/>
            <a:ext cx="393689" cy="158074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utoShape 5"/>
          <p:cNvSpPr>
            <a:spLocks noChangeArrowheads="1"/>
          </p:cNvSpPr>
          <p:nvPr/>
        </p:nvSpPr>
        <p:spPr bwMode="gray">
          <a:xfrm>
            <a:off x="3440832" y="268858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dirty="0" smtClean="0">
                <a:latin typeface="+mn-ea"/>
                <a:cs typeface="Arial" charset="0"/>
              </a:rPr>
              <a:t>biz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gray">
          <a:xfrm>
            <a:off x="3440832" y="3133010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dirty="0" err="1" smtClean="0">
                <a:latin typeface="+mn-ea"/>
                <a:cs typeface="Arial" charset="0"/>
              </a:rPr>
              <a:t>uio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gray">
          <a:xfrm>
            <a:off x="3440832" y="357743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dirty="0" err="1" smtClean="0">
                <a:latin typeface="+mn-ea"/>
                <a:cs typeface="Arial" charset="0"/>
              </a:rPr>
              <a:t>xio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gray">
          <a:xfrm>
            <a:off x="3440832" y="4021860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dirty="0" err="1" smtClean="0">
                <a:latin typeface="+mn-ea"/>
                <a:cs typeface="Arial" charset="0"/>
              </a:rPr>
              <a:t>xsql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cxnSp>
        <p:nvCxnSpPr>
          <p:cNvPr id="18" name="꺾인 연결선 17"/>
          <p:cNvCxnSpPr>
            <a:stCxn id="8" idx="3"/>
            <a:endCxn id="15" idx="1"/>
          </p:cNvCxnSpPr>
          <p:nvPr/>
        </p:nvCxnSpPr>
        <p:spPr>
          <a:xfrm>
            <a:off x="3044788" y="2886585"/>
            <a:ext cx="396044" cy="44442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8" idx="3"/>
            <a:endCxn id="16" idx="1"/>
          </p:cNvCxnSpPr>
          <p:nvPr/>
        </p:nvCxnSpPr>
        <p:spPr>
          <a:xfrm>
            <a:off x="3044788" y="2886585"/>
            <a:ext cx="396044" cy="88885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8" idx="3"/>
            <a:endCxn id="17" idx="1"/>
          </p:cNvCxnSpPr>
          <p:nvPr/>
        </p:nvCxnSpPr>
        <p:spPr>
          <a:xfrm>
            <a:off x="3044788" y="2886585"/>
            <a:ext cx="396044" cy="1333275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8" idx="3"/>
            <a:endCxn id="14" idx="1"/>
          </p:cNvCxnSpPr>
          <p:nvPr/>
        </p:nvCxnSpPr>
        <p:spPr>
          <a:xfrm>
            <a:off x="3044788" y="2886585"/>
            <a:ext cx="396044" cy="0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utoShape 5"/>
          <p:cNvSpPr>
            <a:spLocks noChangeArrowheads="1"/>
          </p:cNvSpPr>
          <p:nvPr/>
        </p:nvSpPr>
        <p:spPr bwMode="gray">
          <a:xfrm>
            <a:off x="3440832" y="4466285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dirty="0" err="1" smtClean="0">
                <a:latin typeface="+mn-ea"/>
                <a:cs typeface="Arial" charset="0"/>
              </a:rPr>
              <a:t>consts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40" name="사각형 설명선 39"/>
          <p:cNvSpPr/>
          <p:nvPr/>
        </p:nvSpPr>
        <p:spPr>
          <a:xfrm>
            <a:off x="2892885" y="1798830"/>
            <a:ext cx="1298773" cy="414447"/>
          </a:xfrm>
          <a:prstGeom prst="wedgeRectCallout">
            <a:avLst>
              <a:gd name="adj1" fmla="val -57148"/>
              <a:gd name="adj2" fmla="val 157467"/>
            </a:avLst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컴포넌트</a:t>
            </a:r>
            <a:endParaRPr lang="en-US" altLang="ko-KR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48944" y="2240868"/>
            <a:ext cx="2582329" cy="22505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72000" tIns="36000" rIns="72000" bIns="3600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00" dirty="0" smtClean="0">
                <a:latin typeface="+mj-ea"/>
                <a:ea typeface="+mj-ea"/>
                <a:cs typeface="Arial" pitchFamily="34" charset="0"/>
              </a:rPr>
              <a:t>컴포넌트 내의 </a:t>
            </a:r>
            <a:r>
              <a:rPr lang="en-US" altLang="ko-KR" sz="1100" dirty="0" smtClean="0">
                <a:latin typeface="+mj-ea"/>
                <a:ea typeface="+mj-ea"/>
                <a:cs typeface="Arial" pitchFamily="34" charset="0"/>
              </a:rPr>
              <a:t>Java </a:t>
            </a:r>
            <a:r>
              <a:rPr lang="ko-KR" altLang="en-US" sz="1100" dirty="0" smtClean="0">
                <a:latin typeface="+mj-ea"/>
                <a:ea typeface="+mj-ea"/>
                <a:cs typeface="Arial" pitchFamily="34" charset="0"/>
              </a:rPr>
              <a:t>패키지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아키텍처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cxnSp>
        <p:nvCxnSpPr>
          <p:cNvPr id="30" name="꺾인 연결선 29"/>
          <p:cNvCxnSpPr>
            <a:stCxn id="8" idx="3"/>
            <a:endCxn id="27" idx="1"/>
          </p:cNvCxnSpPr>
          <p:nvPr/>
        </p:nvCxnSpPr>
        <p:spPr>
          <a:xfrm>
            <a:off x="3044788" y="2886585"/>
            <a:ext cx="396044" cy="1777700"/>
          </a:xfrm>
          <a:prstGeom prst="bentConnector3">
            <a:avLst>
              <a:gd name="adj1" fmla="val 50000"/>
            </a:avLst>
          </a:prstGeom>
          <a:ln w="635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5"/>
          <p:cNvSpPr>
            <a:spLocks noChangeArrowheads="1"/>
          </p:cNvSpPr>
          <p:nvPr/>
        </p:nvSpPr>
        <p:spPr bwMode="gray">
          <a:xfrm>
            <a:off x="4194287" y="4910710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ko-KR" altLang="en-US" sz="1000" smtClean="0">
                <a:latin typeface="+mn-ea"/>
                <a:cs typeface="Arial" charset="0"/>
              </a:rPr>
              <a:t>부모 클래스 디렉토리</a:t>
            </a:r>
            <a:r>
              <a:rPr lang="en-US" altLang="ko-KR" sz="1000" smtClean="0">
                <a:latin typeface="+mn-ea"/>
                <a:cs typeface="Arial" charset="0"/>
              </a:rPr>
              <a:t>. </a:t>
            </a:r>
            <a:r>
              <a:rPr lang="ko-KR" altLang="en-US" sz="1000" smtClean="0">
                <a:latin typeface="+mn-ea"/>
                <a:cs typeface="Arial" charset="0"/>
              </a:rPr>
              <a:t>비대면 </a:t>
            </a:r>
            <a:r>
              <a:rPr lang="en-US" altLang="ko-KR" sz="1000" smtClean="0">
                <a:latin typeface="+mn-ea"/>
                <a:cs typeface="Arial" charset="0"/>
              </a:rPr>
              <a:t>IBF </a:t>
            </a:r>
            <a:r>
              <a:rPr lang="ko-KR" altLang="en-US" sz="1000" smtClean="0">
                <a:latin typeface="+mn-ea"/>
                <a:cs typeface="Arial" charset="0"/>
              </a:rPr>
              <a:t>기반의 소스 전환시에만 사용함 </a:t>
            </a:r>
            <a:r>
              <a:rPr lang="en-US" altLang="ko-KR" sz="1000" smtClean="0">
                <a:latin typeface="+mn-ea"/>
                <a:cs typeface="Arial" charset="0"/>
              </a:rPr>
              <a:t>. PU </a:t>
            </a:r>
            <a:r>
              <a:rPr lang="ko-KR" altLang="en-US" sz="1000" smtClean="0">
                <a:latin typeface="+mn-ea"/>
                <a:cs typeface="Arial" charset="0"/>
              </a:rPr>
              <a:t>만 허용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gray">
          <a:xfrm>
            <a:off x="4194287" y="5355133"/>
            <a:ext cx="4865798" cy="396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>
              <a:spcBef>
                <a:spcPts val="300"/>
              </a:spcBef>
            </a:pPr>
            <a:r>
              <a:rPr lang="ko-KR" altLang="en-US" sz="1000" smtClean="0">
                <a:latin typeface="+mn-ea"/>
                <a:cs typeface="Arial" charset="0"/>
              </a:rPr>
              <a:t>컴포넌트 내에서 사용하는 기타 </a:t>
            </a:r>
            <a:r>
              <a:rPr lang="en-US" altLang="ko-KR" sz="1000" smtClean="0">
                <a:latin typeface="+mn-ea"/>
                <a:cs typeface="Arial" charset="0"/>
              </a:rPr>
              <a:t>POJO </a:t>
            </a:r>
            <a:r>
              <a:rPr lang="ko-KR" altLang="en-US" sz="1000" smtClean="0">
                <a:latin typeface="+mn-ea"/>
                <a:cs typeface="Arial" charset="0"/>
              </a:rPr>
              <a:t>유틸리티 클래스</a:t>
            </a:r>
            <a:r>
              <a:rPr lang="en-US" altLang="ko-KR" sz="1000" smtClean="0">
                <a:latin typeface="+mn-ea"/>
                <a:cs typeface="Arial" charset="0"/>
              </a:rPr>
              <a:t>.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gray">
          <a:xfrm>
            <a:off x="3443461" y="4910710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lang="en-US" altLang="ko-KR" sz="1000" smtClean="0">
                <a:latin typeface="+mn-ea"/>
                <a:cs typeface="Arial" charset="0"/>
              </a:rPr>
              <a:t>b</a:t>
            </a:r>
            <a:r>
              <a:rPr kumimoji="0" lang="en-US" altLang="ko-KR" sz="1000" smtClean="0">
                <a:latin typeface="+mn-ea"/>
                <a:cs typeface="Arial" charset="0"/>
              </a:rPr>
              <a:t>ase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44" name="AutoShape 5"/>
          <p:cNvSpPr>
            <a:spLocks noChangeArrowheads="1"/>
          </p:cNvSpPr>
          <p:nvPr/>
        </p:nvSpPr>
        <p:spPr bwMode="gray">
          <a:xfrm>
            <a:off x="3443461" y="5355133"/>
            <a:ext cx="686705" cy="396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/>
          <a:extLst/>
        </p:spPr>
        <p:txBody>
          <a:bodyPr lIns="108000" tIns="36000" rIns="36000" bIns="36000" anchor="ctr"/>
          <a:lstStyle/>
          <a:p>
            <a:pPr marL="85725" indent="-85725" algn="ctr">
              <a:spcBef>
                <a:spcPts val="300"/>
              </a:spcBef>
            </a:pPr>
            <a:r>
              <a:rPr kumimoji="0" lang="en-US" altLang="ko-KR" sz="1000" smtClean="0">
                <a:latin typeface="+mn-ea"/>
                <a:cs typeface="Arial" charset="0"/>
              </a:rPr>
              <a:t>util</a:t>
            </a:r>
            <a:endParaRPr kumimoji="0" lang="ko-KR" altLang="en-US" sz="1000" dirty="0">
              <a:latin typeface="+mn-ea"/>
              <a:cs typeface="Arial" charset="0"/>
            </a:endParaRPr>
          </a:p>
        </p:txBody>
      </p:sp>
      <p:sp>
        <p:nvSpPr>
          <p:cNvPr id="41" name="사각형 설명선 40"/>
          <p:cNvSpPr/>
          <p:nvPr/>
        </p:nvSpPr>
        <p:spPr>
          <a:xfrm>
            <a:off x="4901779" y="5888326"/>
            <a:ext cx="3168352" cy="673022"/>
          </a:xfrm>
          <a:prstGeom prst="wedgeRectCallout">
            <a:avLst>
              <a:gd name="adj1" fmla="val -62629"/>
              <a:gd name="adj2" fmla="val -50345"/>
            </a:avLst>
          </a:prstGeom>
          <a:solidFill>
            <a:schemeClr val="tx2">
              <a:lumMod val="60000"/>
              <a:lumOff val="40000"/>
            </a:schemeClr>
          </a:solidFill>
          <a:ln w="6350" cap="flat">
            <a:solidFill>
              <a:schemeClr val="tx2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컴포넌트 단위로 클래스 </a:t>
            </a:r>
            <a:r>
              <a:rPr lang="ko-KR" altLang="en-US" sz="1000" dirty="0" err="1" smtClean="0">
                <a:solidFill>
                  <a:schemeClr val="tx1"/>
                </a:solidFill>
                <a:cs typeface="Arial" pitchFamily="34" charset="0"/>
              </a:rPr>
              <a:t>로더</a:t>
            </a: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 동작함</a:t>
            </a: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.</a:t>
            </a:r>
          </a:p>
          <a:p>
            <a:pPr algn="ctr">
              <a:spcBef>
                <a:spcPts val="600"/>
              </a:spcBef>
            </a:pP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컴포넌트 내의 </a:t>
            </a:r>
            <a:r>
              <a:rPr lang="ko-KR" altLang="en-US" sz="1000" dirty="0" err="1" smtClean="0">
                <a:solidFill>
                  <a:schemeClr val="tx1"/>
                </a:solidFill>
                <a:cs typeface="Arial" pitchFamily="34" charset="0"/>
              </a:rPr>
              <a:t>패키지간</a:t>
            </a: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 클래스 직접 참조 가능</a:t>
            </a: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.</a:t>
            </a:r>
          </a:p>
          <a:p>
            <a:pPr algn="ctr">
              <a:spcBef>
                <a:spcPts val="600"/>
              </a:spcBef>
            </a:pP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타 컴포넌트의 클래스는 </a:t>
            </a: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visible </a:t>
            </a: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하지 않음</a:t>
            </a:r>
            <a:endParaRPr lang="en-US" altLang="ko-KR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94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613638" y="1798428"/>
            <a:ext cx="1805396" cy="3421552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884" y="299381"/>
            <a:ext cx="6804000" cy="279757"/>
          </a:xfrm>
        </p:spPr>
        <p:txBody>
          <a:bodyPr/>
          <a:lstStyle/>
          <a:p>
            <a:r>
              <a:rPr lang="ko-KR" altLang="en-US" dirty="0" smtClean="0"/>
              <a:t>컴포넌트 </a:t>
            </a:r>
            <a:r>
              <a:rPr lang="ko-KR" altLang="en-US" dirty="0" err="1" smtClean="0"/>
              <a:t>호출관계</a:t>
            </a:r>
            <a:endParaRPr lang="ko-KR" altLang="en-US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1567407" y="4661185"/>
            <a:ext cx="52323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443198"/>
          </a:xfrm>
        </p:spPr>
        <p:txBody>
          <a:bodyPr/>
          <a:lstStyle/>
          <a:p>
            <a:r>
              <a:rPr lang="ko-KR" altLang="en-US" dirty="0" smtClean="0"/>
              <a:t>컴포넌트 별로 독립적인 클래스 </a:t>
            </a:r>
            <a:r>
              <a:rPr lang="ko-KR" altLang="en-US" dirty="0" err="1" smtClean="0"/>
              <a:t>로더</a:t>
            </a:r>
            <a:r>
              <a:rPr lang="ko-KR" altLang="en-US" dirty="0" smtClean="0"/>
              <a:t> 위에 존재하므로 컴포넌트내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컴포넌트외</a:t>
            </a:r>
            <a:r>
              <a:rPr lang="ko-KR" altLang="en-US" dirty="0" smtClean="0"/>
              <a:t> 호출 관계에 다음과 같은 차이점이 있음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460596" y="2320570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064552" y="336468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460596" y="4401297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</a:t>
            </a: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0" name="직선 연결선 9"/>
          <p:cNvCxnSpPr>
            <a:stCxn id="7" idx="2"/>
            <a:endCxn id="8" idx="0"/>
          </p:cNvCxnSpPr>
          <p:nvPr/>
        </p:nvCxnSpPr>
        <p:spPr>
          <a:xfrm flipH="1">
            <a:off x="1298552" y="2608570"/>
            <a:ext cx="396044" cy="756116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8" idx="2"/>
            <a:endCxn id="9" idx="0"/>
          </p:cNvCxnSpPr>
          <p:nvPr/>
        </p:nvCxnSpPr>
        <p:spPr>
          <a:xfrm>
            <a:off x="1298552" y="3652686"/>
            <a:ext cx="396044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7" idx="2"/>
            <a:endCxn id="9" idx="0"/>
          </p:cNvCxnSpPr>
          <p:nvPr/>
        </p:nvCxnSpPr>
        <p:spPr>
          <a:xfrm>
            <a:off x="1694596" y="2608570"/>
            <a:ext cx="0" cy="1792727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/>
          <p:cNvSpPr/>
          <p:nvPr/>
        </p:nvSpPr>
        <p:spPr>
          <a:xfrm>
            <a:off x="3355153" y="1798428"/>
            <a:ext cx="1908212" cy="3421552"/>
          </a:xfrm>
          <a:prstGeom prst="roundRect">
            <a:avLst>
              <a:gd name="adj" fmla="val 5023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642346" y="232807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836089" y="3364686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cs typeface="Arial" pitchFamily="34" charset="0"/>
              </a:rPr>
              <a:t>공유</a:t>
            </a:r>
            <a:endParaRPr lang="en-US" altLang="ko-KR" sz="1000" dirty="0" smtClean="0">
              <a:solidFill>
                <a:schemeClr val="tx1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36088" y="4401296"/>
            <a:ext cx="517775" cy="32563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공유</a:t>
            </a:r>
            <a:endParaRPr lang="en-US" altLang="ko-KR" sz="1000" dirty="0" smtClean="0">
              <a:solidFill>
                <a:schemeClr val="tx1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665019" y="4401297"/>
            <a:ext cx="532891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>
                <a:solidFill>
                  <a:schemeClr val="tx1"/>
                </a:solidFill>
                <a:cs typeface="Arial" pitchFamily="34" charset="0"/>
              </a:rPr>
              <a:t>D</a:t>
            </a: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0" name="직선 연결선 19"/>
          <p:cNvCxnSpPr>
            <a:stCxn id="14" idx="2"/>
            <a:endCxn id="17" idx="0"/>
          </p:cNvCxnSpPr>
          <p:nvPr/>
        </p:nvCxnSpPr>
        <p:spPr>
          <a:xfrm>
            <a:off x="3876346" y="2616076"/>
            <a:ext cx="193743" cy="74861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7" idx="2"/>
            <a:endCxn id="18" idx="0"/>
          </p:cNvCxnSpPr>
          <p:nvPr/>
        </p:nvCxnSpPr>
        <p:spPr>
          <a:xfrm>
            <a:off x="4070089" y="3652686"/>
            <a:ext cx="24887" cy="74861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4" idx="2"/>
            <a:endCxn id="19" idx="0"/>
          </p:cNvCxnSpPr>
          <p:nvPr/>
        </p:nvCxnSpPr>
        <p:spPr>
          <a:xfrm>
            <a:off x="3876346" y="2616076"/>
            <a:ext cx="1055119" cy="178522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7" idx="2"/>
            <a:endCxn id="19" idx="0"/>
          </p:cNvCxnSpPr>
          <p:nvPr/>
        </p:nvCxnSpPr>
        <p:spPr>
          <a:xfrm>
            <a:off x="4070089" y="3652686"/>
            <a:ext cx="861376" cy="748611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평행 사변형 28"/>
          <p:cNvSpPr/>
          <p:nvPr/>
        </p:nvSpPr>
        <p:spPr>
          <a:xfrm>
            <a:off x="776536" y="5769260"/>
            <a:ext cx="3888484" cy="527586"/>
          </a:xfrm>
          <a:prstGeom prst="parallelogram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chemeClr val="bg1">
                <a:lumMod val="65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dirty="0" smtClean="0">
                <a:solidFill>
                  <a:schemeClr val="tx1"/>
                </a:solidFill>
                <a:cs typeface="Arial" pitchFamily="34" charset="0"/>
              </a:rPr>
              <a:t>프레임워크 </a:t>
            </a:r>
            <a: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  <a:t>Reflection API </a:t>
            </a:r>
            <a:r>
              <a:rPr lang="ko-KR" altLang="en-US" sz="1200" dirty="0" smtClean="0">
                <a:solidFill>
                  <a:schemeClr val="tx1"/>
                </a:solidFill>
                <a:cs typeface="Arial" pitchFamily="34" charset="0"/>
              </a:rPr>
              <a:t>제공</a:t>
            </a:r>
            <a: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</a:br>
            <a: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en-US" altLang="ko-KR" sz="1200" b="1" dirty="0" err="1" smtClean="0">
                <a:solidFill>
                  <a:schemeClr val="tx1"/>
                </a:solidFill>
                <a:cs typeface="Arial" pitchFamily="34" charset="0"/>
              </a:rPr>
              <a:t>callService</a:t>
            </a:r>
            <a: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200" b="1" dirty="0" err="1" smtClean="0">
                <a:solidFill>
                  <a:schemeClr val="tx1"/>
                </a:solidFill>
                <a:cs typeface="Arial" pitchFamily="34" charset="0"/>
              </a:rPr>
              <a:t>callSharedMethod</a:t>
            </a:r>
            <a: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altLang="ko-KR" sz="1200" b="1" dirty="0" err="1" smtClean="0">
                <a:solidFill>
                  <a:schemeClr val="tx1"/>
                </a:solidFill>
                <a:cs typeface="Arial" pitchFamily="34" charset="0"/>
              </a:rPr>
              <a:t>callMethod</a:t>
            </a:r>
            <a:r>
              <a:rPr lang="en-US" altLang="ko-KR" sz="1200" dirty="0" smtClean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12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497034" y="1520788"/>
            <a:ext cx="2159199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200" b="1" kern="0" dirty="0" smtClean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컴포넌트</a:t>
            </a:r>
            <a:r>
              <a:rPr lang="en-US" altLang="ko-KR" sz="1200" b="1" kern="0" dirty="0" smtClean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 A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3247139" y="1520788"/>
            <a:ext cx="2138738" cy="276999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200" b="1" kern="0" dirty="0" smtClean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컴포넌트 </a:t>
            </a:r>
            <a:r>
              <a:rPr lang="en-US" altLang="ko-KR" sz="1200" b="1" kern="0" dirty="0" smtClean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B</a:t>
            </a:r>
            <a:endParaRPr lang="ko-KR" altLang="en-US" sz="11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375325" y="2630622"/>
            <a:ext cx="951404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callService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46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591439"/>
              </p:ext>
            </p:extLst>
          </p:nvPr>
        </p:nvGraphicFramePr>
        <p:xfrm>
          <a:off x="5435110" y="1768624"/>
          <a:ext cx="3874374" cy="421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999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특징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내용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5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3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내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ED8"/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클래스간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직접 참조로 직접 호출 가능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fuValidation.validateName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외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타 컴포넌트의 클래스는 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할 수 없으므로 직접 호출 불가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클래스 </a:t>
                      </a: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로더가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다르므로 타 컴포넌트의 클래스를 </a:t>
                      </a: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찾지못함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 제공하는 </a:t>
                      </a:r>
                      <a:r>
                        <a:rPr lang="en-US" altLang="ko-KR" sz="1100" b="1" u="sng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Reflection API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통해 간접 호출 필요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callService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</a:t>
                      </a:r>
                      <a:r>
                        <a:rPr lang="en-US" altLang="ko-KR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callSharedMethod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**()</a:t>
                      </a: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1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간접 호출 과정에서 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FW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제어를 받으며 필요에 따라 트랜잭션을 분리 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RequiresNew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하는 등의 제어가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가능해짐</a:t>
                      </a:r>
                      <a:endParaRPr lang="en-US" altLang="ko-KR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08000" indent="-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동일 컴포넌트 </a:t>
                      </a:r>
                      <a:r>
                        <a:rPr lang="ko-KR" altLang="en-US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내의 </a:t>
                      </a:r>
                      <a:r>
                        <a:rPr lang="en-US" altLang="ko-KR" sz="1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FM/DM/DBM </a:t>
                      </a:r>
                      <a:r>
                        <a:rPr lang="ko-KR" altLang="en-US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호출시에도</a:t>
                      </a: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트랜잭션 분리를 위해 간접 호출 가능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1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callMethodByRequiresNew</a:t>
                      </a:r>
                      <a:endParaRPr lang="ko-KR" altLang="en-US" sz="11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자유형 50"/>
          <p:cNvSpPr/>
          <p:nvPr/>
        </p:nvSpPr>
        <p:spPr>
          <a:xfrm>
            <a:off x="1475179" y="3682816"/>
            <a:ext cx="2482641" cy="2005432"/>
          </a:xfrm>
          <a:custGeom>
            <a:avLst/>
            <a:gdLst>
              <a:gd name="connsiteX0" fmla="*/ 0 w 2341548"/>
              <a:gd name="connsiteY0" fmla="*/ 0 h 2085917"/>
              <a:gd name="connsiteX1" fmla="*/ 1435694 w 2341548"/>
              <a:gd name="connsiteY1" fmla="*/ 2085174 h 2085917"/>
              <a:gd name="connsiteX2" fmla="*/ 2341548 w 2341548"/>
              <a:gd name="connsiteY2" fmla="*/ 188008 h 2085917"/>
              <a:gd name="connsiteX0" fmla="*/ 0 w 2341548"/>
              <a:gd name="connsiteY0" fmla="*/ 0 h 2133591"/>
              <a:gd name="connsiteX1" fmla="*/ 1189203 w 2341548"/>
              <a:gd name="connsiteY1" fmla="*/ 2132882 h 2133591"/>
              <a:gd name="connsiteX2" fmla="*/ 2341548 w 2341548"/>
              <a:gd name="connsiteY2" fmla="*/ 188008 h 2133591"/>
              <a:gd name="connsiteX0" fmla="*/ 0 w 2341548"/>
              <a:gd name="connsiteY0" fmla="*/ 0 h 2181267"/>
              <a:gd name="connsiteX1" fmla="*/ 1197155 w 2341548"/>
              <a:gd name="connsiteY1" fmla="*/ 2180589 h 2181267"/>
              <a:gd name="connsiteX2" fmla="*/ 2341548 w 2341548"/>
              <a:gd name="connsiteY2" fmla="*/ 188008 h 2181267"/>
              <a:gd name="connsiteX0" fmla="*/ 0 w 2341548"/>
              <a:gd name="connsiteY0" fmla="*/ 0 h 2157428"/>
              <a:gd name="connsiteX1" fmla="*/ 1189203 w 2341548"/>
              <a:gd name="connsiteY1" fmla="*/ 2156735 h 2157428"/>
              <a:gd name="connsiteX2" fmla="*/ 2341548 w 2341548"/>
              <a:gd name="connsiteY2" fmla="*/ 188008 h 215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1548" h="2157428">
                <a:moveTo>
                  <a:pt x="0" y="0"/>
                </a:moveTo>
                <a:cubicBezTo>
                  <a:pt x="522718" y="1026919"/>
                  <a:pt x="798945" y="2125400"/>
                  <a:pt x="1189203" y="2156735"/>
                </a:cubicBezTo>
                <a:cubicBezTo>
                  <a:pt x="1579461" y="2188070"/>
                  <a:pt x="2083750" y="1152258"/>
                  <a:pt x="2341548" y="188008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 52"/>
          <p:cNvSpPr/>
          <p:nvPr/>
        </p:nvSpPr>
        <p:spPr>
          <a:xfrm>
            <a:off x="1145136" y="3657600"/>
            <a:ext cx="538385" cy="2111660"/>
          </a:xfrm>
          <a:custGeom>
            <a:avLst/>
            <a:gdLst>
              <a:gd name="connsiteX0" fmla="*/ 0 w 538385"/>
              <a:gd name="connsiteY0" fmla="*/ 0 h 2027300"/>
              <a:gd name="connsiteX1" fmla="*/ 145279 w 538385"/>
              <a:gd name="connsiteY1" fmla="*/ 1991170 h 2027300"/>
              <a:gd name="connsiteX2" fmla="*/ 538385 w 538385"/>
              <a:gd name="connsiteY2" fmla="*/ 1093862 h 20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85" h="2027300">
                <a:moveTo>
                  <a:pt x="0" y="0"/>
                </a:moveTo>
                <a:cubicBezTo>
                  <a:pt x="27774" y="904430"/>
                  <a:pt x="55548" y="1808860"/>
                  <a:pt x="145279" y="1991170"/>
                </a:cubicBezTo>
                <a:cubicBezTo>
                  <a:pt x="235010" y="2173480"/>
                  <a:pt x="386697" y="1633671"/>
                  <a:pt x="538385" y="1093862"/>
                </a:cubicBezTo>
              </a:path>
            </a:pathLst>
          </a:custGeom>
          <a:noFill/>
          <a:ln w="12700" cap="flat">
            <a:solidFill>
              <a:srgbClr val="289055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180692" y="4977172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callSharedMethod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227690" y="5320513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en-US" altLang="ko-KR" sz="1000" b="1" kern="0" dirty="0" err="1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callMethod</a:t>
            </a:r>
            <a:endParaRPr lang="ko-KR" altLang="en-US" sz="1000" b="1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19D2C5-0931-40BD-8CC8-9EE074468DC9}"/>
              </a:ext>
            </a:extLst>
          </p:cNvPr>
          <p:cNvSpPr txBox="1"/>
          <p:nvPr/>
        </p:nvSpPr>
        <p:spPr bwMode="gray">
          <a:xfrm>
            <a:off x="456971" y="2687985"/>
            <a:ext cx="1282343" cy="246221"/>
          </a:xfrm>
          <a:prstGeom prst="rect">
            <a:avLst/>
          </a:prstGeom>
          <a:noFill/>
        </p:spPr>
        <p:txBody>
          <a:bodyPr wrap="square" lIns="72000" rIns="72000" rtlCol="0" anchor="ctr" anchorCtr="0">
            <a:spAutoFit/>
          </a:bodyPr>
          <a:lstStyle/>
          <a:p>
            <a:pPr algn="ctr" eaLnBrk="0" hangingPunct="0">
              <a:defRPr/>
            </a:pPr>
            <a:r>
              <a:rPr lang="ko-KR" altLang="en-US" sz="1000" kern="0" dirty="0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직접</a:t>
            </a:r>
            <a:r>
              <a:rPr lang="en-US" altLang="ko-KR" sz="1000" kern="0" dirty="0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00" kern="0" dirty="0" smtClean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호출</a:t>
            </a:r>
            <a:endParaRPr lang="ko-KR" altLang="en-US" sz="1000" kern="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호출관계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3" name="자유형 32"/>
          <p:cNvSpPr/>
          <p:nvPr/>
        </p:nvSpPr>
        <p:spPr>
          <a:xfrm rot="20645807">
            <a:off x="2092671" y="2535223"/>
            <a:ext cx="1684980" cy="2352484"/>
          </a:xfrm>
          <a:custGeom>
            <a:avLst/>
            <a:gdLst>
              <a:gd name="connsiteX0" fmla="*/ 0 w 538385"/>
              <a:gd name="connsiteY0" fmla="*/ 0 h 2027300"/>
              <a:gd name="connsiteX1" fmla="*/ 145279 w 538385"/>
              <a:gd name="connsiteY1" fmla="*/ 1991170 h 2027300"/>
              <a:gd name="connsiteX2" fmla="*/ 538385 w 538385"/>
              <a:gd name="connsiteY2" fmla="*/ 1093862 h 20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85" h="2027300">
                <a:moveTo>
                  <a:pt x="0" y="0"/>
                </a:moveTo>
                <a:cubicBezTo>
                  <a:pt x="27774" y="904430"/>
                  <a:pt x="55548" y="1808860"/>
                  <a:pt x="145279" y="1991170"/>
                </a:cubicBezTo>
                <a:cubicBezTo>
                  <a:pt x="235010" y="2173480"/>
                  <a:pt x="386697" y="1633671"/>
                  <a:pt x="538385" y="1093862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dash"/>
            <a:miter lim="800000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1928596" y="2492896"/>
            <a:ext cx="1713750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모서리가 둥근 직사각형 36"/>
          <p:cNvSpPr/>
          <p:nvPr/>
        </p:nvSpPr>
        <p:spPr>
          <a:xfrm>
            <a:off x="4704182" y="4635431"/>
            <a:ext cx="520045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3998466" y="4689297"/>
            <a:ext cx="526841" cy="3381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bg2"/>
              </a:buClr>
            </a:pPr>
            <a:r>
              <a:rPr lang="ko-KR" altLang="en-US" sz="1000" dirty="0" smtClean="0">
                <a:solidFill>
                  <a:schemeClr val="tx1"/>
                </a:solidFill>
                <a:cs typeface="Arial" pitchFamily="34" charset="0"/>
              </a:rPr>
              <a:t>공유</a:t>
            </a:r>
            <a:endParaRPr lang="en-US" altLang="ko-KR" sz="1000" dirty="0" smtClean="0">
              <a:solidFill>
                <a:schemeClr val="tx1"/>
              </a:solidFill>
              <a:cs typeface="Arial" pitchFamily="34" charset="0"/>
            </a:endParaRPr>
          </a:p>
          <a:p>
            <a:pPr algn="ctr"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3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81884" y="731429"/>
            <a:ext cx="9143468" cy="221984"/>
          </a:xfrm>
        </p:spPr>
        <p:txBody>
          <a:bodyPr/>
          <a:lstStyle/>
          <a:p>
            <a:r>
              <a:rPr lang="en-US" altLang="ko-KR" smtClean="0"/>
              <a:t>n-KESA FW </a:t>
            </a:r>
            <a:r>
              <a:rPr lang="ko-KR" altLang="en-US" smtClean="0"/>
              <a:t>환경의 어플리케이션이 구성된 </a:t>
            </a:r>
            <a:r>
              <a:rPr lang="en-US" altLang="ko-KR" smtClean="0"/>
              <a:t>WAS </a:t>
            </a:r>
            <a:r>
              <a:rPr lang="ko-KR" altLang="en-US" smtClean="0"/>
              <a:t>환경에서의 유형별 호출 방식을 정의함</a:t>
            </a:r>
            <a:endParaRPr lang="ko-KR" altLang="en-US" dirty="0"/>
          </a:p>
        </p:txBody>
      </p:sp>
      <p:grpSp>
        <p:nvGrpSpPr>
          <p:cNvPr id="6" name="Group 284">
            <a:extLst>
              <a:ext uri="{FF2B5EF4-FFF2-40B4-BE49-F238E27FC236}">
                <a16:creationId xmlns:a16="http://schemas.microsoft.com/office/drawing/2014/main" id="{A99E6CB1-DE5F-4C0D-9C54-5FCEF538F4BD}"/>
              </a:ext>
            </a:extLst>
          </p:cNvPr>
          <p:cNvGrpSpPr/>
          <p:nvPr/>
        </p:nvGrpSpPr>
        <p:grpSpPr bwMode="gray">
          <a:xfrm>
            <a:off x="271463" y="1412875"/>
            <a:ext cx="9397997" cy="325409"/>
            <a:chOff x="4088904" y="1858259"/>
            <a:chExt cx="1796884" cy="325409"/>
          </a:xfrm>
        </p:grpSpPr>
        <p:cxnSp>
          <p:nvCxnSpPr>
            <p:cNvPr id="7" name="Straight Connector 285">
              <a:extLst>
                <a:ext uri="{FF2B5EF4-FFF2-40B4-BE49-F238E27FC236}">
                  <a16:creationId xmlns:a16="http://schemas.microsoft.com/office/drawing/2014/main" id="{8EFBCB4C-01BE-403E-866C-D019A13E3235}"/>
                </a:ext>
              </a:extLst>
            </p:cNvPr>
            <p:cNvCxnSpPr/>
            <p:nvPr/>
          </p:nvCxnSpPr>
          <p:spPr bwMode="gray">
            <a:xfrm flipV="1">
              <a:off x="4088904" y="2182109"/>
              <a:ext cx="1796884" cy="1559"/>
            </a:xfrm>
            <a:prstGeom prst="line">
              <a:avLst/>
            </a:prstGeom>
            <a:solidFill>
              <a:srgbClr val="FFD200"/>
            </a:solidFill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19D2C5-0931-40BD-8CC8-9EE074468DC9}"/>
                </a:ext>
              </a:extLst>
            </p:cNvPr>
            <p:cNvSpPr txBox="1"/>
            <p:nvPr/>
          </p:nvSpPr>
          <p:spPr bwMode="gray">
            <a:xfrm>
              <a:off x="4088904" y="1858259"/>
              <a:ext cx="683694" cy="307777"/>
            </a:xfrm>
            <a:prstGeom prst="rect">
              <a:avLst/>
            </a:prstGeom>
            <a:noFill/>
          </p:spPr>
          <p:txBody>
            <a:bodyPr wrap="none" lIns="72000" rIns="72000" rtlCol="0" anchor="ctr" anchorCtr="0">
              <a:spAutoFit/>
            </a:bodyPr>
            <a:lstStyle/>
            <a:p>
              <a:pPr eaLnBrk="0" hangingPunct="0">
                <a:defRPr/>
              </a:pPr>
              <a:r>
                <a:rPr lang="ko-KR" altLang="en-US" sz="1400" b="1" kern="0" smtClean="0">
                  <a:solidFill>
                    <a:srgbClr val="000000"/>
                  </a:solidFill>
                  <a:cs typeface="Arial" panose="020B0604020202020204" pitchFamily="34" charset="0"/>
                </a:rPr>
                <a:t>어플리케이션</a:t>
              </a:r>
              <a:r>
                <a:rPr lang="en-US" altLang="ko-KR" sz="1400" b="1" kern="0" smtClean="0">
                  <a:solidFill>
                    <a:srgbClr val="000000"/>
                  </a:solidFill>
                  <a:cs typeface="Arial" panose="020B0604020202020204" pitchFamily="34" charset="0"/>
                </a:rPr>
                <a:t>/</a:t>
              </a:r>
              <a:r>
                <a:rPr lang="ko-KR" altLang="en-US" sz="1400" b="1" kern="0" smtClean="0">
                  <a:solidFill>
                    <a:srgbClr val="000000"/>
                  </a:solidFill>
                  <a:cs typeface="Arial" panose="020B0604020202020204" pitchFamily="34" charset="0"/>
                </a:rPr>
                <a:t>클래스 간 </a:t>
              </a:r>
              <a:r>
                <a:rPr lang="en-US" altLang="ko-KR" sz="1400" b="1" kern="0" smtClean="0">
                  <a:solidFill>
                    <a:srgbClr val="000000"/>
                  </a:solidFill>
                  <a:cs typeface="Arial" panose="020B0604020202020204" pitchFamily="34" charset="0"/>
                </a:rPr>
                <a:t>n-KESA </a:t>
              </a:r>
              <a:r>
                <a:rPr lang="ko-KR" altLang="en-US" sz="1400" b="1" kern="0" smtClean="0">
                  <a:solidFill>
                    <a:srgbClr val="000000"/>
                  </a:solidFill>
                  <a:cs typeface="Arial" panose="020B0604020202020204" pitchFamily="34" charset="0"/>
                </a:rPr>
                <a:t>기반 호출 방식</a:t>
              </a:r>
              <a:endParaRPr lang="ko-KR" altLang="en-US" sz="1400" b="1" kern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88" name="모서리가 둥근 직사각형 87"/>
          <p:cNvSpPr/>
          <p:nvPr/>
        </p:nvSpPr>
        <p:spPr>
          <a:xfrm>
            <a:off x="254861" y="1844824"/>
            <a:ext cx="7380758" cy="313234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마케팅플랫폼 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WAS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358475" y="2121023"/>
            <a:ext cx="5782657" cy="2784141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인스턴스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7797316" y="1844824"/>
            <a:ext cx="1872144" cy="313234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금융복합플랫폼 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WAS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6252934" y="2121023"/>
            <a:ext cx="1224948" cy="2784141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인스턴스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00178" y="2390776"/>
            <a:ext cx="3505000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통합고객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608018" y="2653240"/>
            <a:ext cx="1580837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통합고객정보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665940" y="2888940"/>
            <a:ext cx="346916" cy="1845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dirty="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4088904" y="2390776"/>
            <a:ext cx="1924530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통합상품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368876" y="2653240"/>
            <a:ext cx="1507722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통합고객실적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297308" y="2653240"/>
            <a:ext cx="1507722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941423" y="2121023"/>
            <a:ext cx="1583930" cy="2784141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인스턴스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081559" y="2390776"/>
            <a:ext cx="1335938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8193360" y="2653240"/>
            <a:ext cx="1080016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216519" y="2905268"/>
            <a:ext cx="346916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767098" y="2905268"/>
            <a:ext cx="346916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DM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2407870" y="3131519"/>
            <a:ext cx="346916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2751940" y="3357770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FM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6349536" y="2390776"/>
            <a:ext cx="1051736" cy="2452076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2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어플리케이션</a:t>
            </a:r>
            <a:endParaRPr lang="ko-KR" altLang="en-US" sz="12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6429164" y="2653240"/>
            <a:ext cx="900100" cy="2133128"/>
          </a:xfrm>
          <a:prstGeom prst="roundRect">
            <a:avLst>
              <a:gd name="adj" fmla="val 6726"/>
            </a:avLst>
          </a:prstGeom>
          <a:solidFill>
            <a:schemeClr val="accent5">
              <a:lumMod val="75000"/>
              <a:alpha val="10000"/>
            </a:schemeClr>
          </a:solidFill>
          <a:ln w="6350" cap="flat">
            <a:solidFill>
              <a:schemeClr val="accent5">
                <a:lumMod val="75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latin typeface="+mn-ea"/>
                <a:cs typeface="Arial" pitchFamily="34" charset="0"/>
              </a:rPr>
              <a:t>컴포넌트</a:t>
            </a:r>
            <a:endParaRPr lang="ko-KR" altLang="en-US" sz="10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2751940" y="3584020"/>
            <a:ext cx="1098803" cy="2164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>
                <a:solidFill>
                  <a:schemeClr val="tx1"/>
                </a:solidFill>
                <a:cs typeface="Arial" pitchFamily="34" charset="0"/>
              </a:rPr>
              <a:t>DM/</a:t>
            </a:r>
            <a:r>
              <a:rPr lang="ko-KR" altLang="en-US" sz="1000" b="1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 b="1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4664969" y="4036522"/>
            <a:ext cx="1140060" cy="21976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ko-KR" altLang="en-US" sz="1000" smtClean="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DM/</a:t>
            </a:r>
            <a:r>
              <a:rPr lang="ko-KR" altLang="en-US" sz="1000" b="1" smtClean="0">
                <a:solidFill>
                  <a:schemeClr val="tx1"/>
                </a:solidFill>
                <a:cs typeface="Arial" pitchFamily="34" charset="0"/>
              </a:rPr>
              <a:t>공유</a:t>
            </a:r>
            <a:r>
              <a:rPr lang="en-US" altLang="ko-KR" sz="1000" b="1" smtClean="0">
                <a:solidFill>
                  <a:schemeClr val="tx1"/>
                </a:solidFill>
                <a:cs typeface="Arial" pitchFamily="34" charset="0"/>
              </a:rPr>
              <a:t>DBM</a:t>
            </a:r>
            <a:endParaRPr lang="ko-KR" altLang="en-US" sz="1000" b="1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6617348" y="4262774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bg1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435669" y="3810272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8453228" y="4489028"/>
            <a:ext cx="560279" cy="20011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ko-KR" sz="1000" smtClean="0">
                <a:solidFill>
                  <a:schemeClr val="tx1"/>
                </a:solidFill>
                <a:cs typeface="Arial" pitchFamily="34" charset="0"/>
              </a:rPr>
              <a:t>PM</a:t>
            </a:r>
            <a:endParaRPr lang="ko-KR" altLang="en-US" sz="10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83" name="직선 연결선 82"/>
          <p:cNvCxnSpPr/>
          <p:nvPr/>
        </p:nvCxnSpPr>
        <p:spPr>
          <a:xfrm>
            <a:off x="9537378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endCxn id="54" idx="1"/>
          </p:cNvCxnSpPr>
          <p:nvPr/>
        </p:nvCxnSpPr>
        <p:spPr>
          <a:xfrm>
            <a:off x="1001035" y="3005324"/>
            <a:ext cx="215484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>
            <a:stCxn id="54" idx="3"/>
            <a:endCxn id="55" idx="1"/>
          </p:cNvCxnSpPr>
          <p:nvPr/>
        </p:nvCxnSpPr>
        <p:spPr>
          <a:xfrm>
            <a:off x="1563435" y="3005324"/>
            <a:ext cx="20366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endCxn id="56" idx="1"/>
          </p:cNvCxnSpPr>
          <p:nvPr/>
        </p:nvCxnSpPr>
        <p:spPr>
          <a:xfrm>
            <a:off x="1001035" y="3231575"/>
            <a:ext cx="140683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endCxn id="57" idx="1"/>
          </p:cNvCxnSpPr>
          <p:nvPr/>
        </p:nvCxnSpPr>
        <p:spPr>
          <a:xfrm>
            <a:off x="1001035" y="3457826"/>
            <a:ext cx="175090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endCxn id="63" idx="1"/>
          </p:cNvCxnSpPr>
          <p:nvPr/>
        </p:nvCxnSpPr>
        <p:spPr>
          <a:xfrm>
            <a:off x="1028564" y="3684077"/>
            <a:ext cx="1723376" cy="8155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endCxn id="67" idx="1"/>
          </p:cNvCxnSpPr>
          <p:nvPr/>
        </p:nvCxnSpPr>
        <p:spPr>
          <a:xfrm>
            <a:off x="1028564" y="3910328"/>
            <a:ext cx="3407105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endCxn id="64" idx="1"/>
          </p:cNvCxnSpPr>
          <p:nvPr/>
        </p:nvCxnSpPr>
        <p:spPr>
          <a:xfrm>
            <a:off x="1028564" y="4136579"/>
            <a:ext cx="3636405" cy="9827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endCxn id="66" idx="1"/>
          </p:cNvCxnSpPr>
          <p:nvPr/>
        </p:nvCxnSpPr>
        <p:spPr>
          <a:xfrm>
            <a:off x="1001035" y="4362830"/>
            <a:ext cx="5616313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prstDash val="dash"/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endCxn id="68" idx="1"/>
          </p:cNvCxnSpPr>
          <p:nvPr/>
        </p:nvCxnSpPr>
        <p:spPr>
          <a:xfrm>
            <a:off x="1012856" y="4589084"/>
            <a:ext cx="7440372" cy="0"/>
          </a:xfrm>
          <a:prstGeom prst="straightConnector1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24508" y="5011356"/>
            <a:ext cx="1699881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인스턴스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어플리케이션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컴포넌트 내 호출</a:t>
            </a: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메소드 직접 호출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3" name="직선 연결선 132"/>
          <p:cNvCxnSpPr/>
          <p:nvPr/>
        </p:nvCxnSpPr>
        <p:spPr>
          <a:xfrm>
            <a:off x="7705147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>
            <a:off x="6160182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4038786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/>
          <p:cNvCxnSpPr/>
          <p:nvPr/>
        </p:nvCxnSpPr>
        <p:spPr>
          <a:xfrm>
            <a:off x="2302387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>
            <a:off x="487990" y="5006368"/>
            <a:ext cx="0" cy="1446968"/>
          </a:xfrm>
          <a:prstGeom prst="line">
            <a:avLst/>
          </a:prstGeom>
          <a:ln w="6350" cap="flat">
            <a:solidFill>
              <a:schemeClr val="bg1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24709" y="5011356"/>
            <a:ext cx="1680470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인스턴스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어플리케이션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 smtClea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FW API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를 통한 호출</a:t>
            </a: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callSharedMethod   (FM/DM)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callService (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PM)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05498" y="5011356"/>
            <a:ext cx="2021075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인스턴스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어플리케이션 간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 smtClea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FW API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를 통한 호출</a:t>
            </a: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callSharedMethod(FM)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callService (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PM)</a:t>
            </a: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0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93284" y="5004180"/>
            <a:ext cx="1478253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동일 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WAS 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노드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인스턴스 간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어플리케이션 간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 smtClea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R="0" lvl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tabLst/>
              <a:defRPr/>
            </a:pPr>
            <a:r>
              <a:rPr lang="en-US" altLang="ko-KR" sz="1000" b="1" kern="0" noProof="0" smtClean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동일 시스템 도메인내 인스턴스간 업무 연계가 필요한 경우 인스턴스 통합 구성 권고</a:t>
            </a:r>
            <a:endParaRPr kumimoji="0" lang="ko-KR" altLang="en-US" sz="10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1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97316" y="5011356"/>
            <a:ext cx="1675177" cy="1449156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WAS </a:t>
            </a: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노드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인스턴스 간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어플리케이션 간</a:t>
            </a:r>
            <a:r>
              <a:rPr lang="en-US" altLang="ko-KR" sz="1000" b="1" kern="0" smtClean="0">
                <a:solidFill>
                  <a:srgbClr val="FF0000"/>
                </a:solidFill>
                <a:latin typeface="+mn-ea"/>
              </a:rPr>
              <a:t>/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1000" b="1" kern="0" smtClean="0">
                <a:solidFill>
                  <a:srgbClr val="FF0000"/>
                </a:solidFill>
                <a:latin typeface="+mn-ea"/>
              </a:rPr>
              <a:t>타 컴포넌트 간 호출</a:t>
            </a:r>
            <a:endParaRPr lang="en-US" altLang="ko-KR" sz="1000" b="1" kern="0" smtClean="0">
              <a:solidFill>
                <a:srgbClr val="FF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FW API</a:t>
            </a:r>
            <a:r>
              <a:rPr lang="ko-KR" altLang="en-US" sz="1000" kern="0" smtClean="0">
                <a:solidFill>
                  <a:srgbClr val="000000"/>
                </a:solidFill>
                <a:latin typeface="+mn-ea"/>
              </a:rPr>
              <a:t>를 통한 호출</a:t>
            </a: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callRemoteService (</a:t>
            </a:r>
            <a:r>
              <a:rPr lang="en-US" altLang="ko-KR" sz="1000" kern="0" smtClean="0">
                <a:solidFill>
                  <a:srgbClr val="000000"/>
                </a:solidFill>
                <a:latin typeface="+mn-ea"/>
              </a:rPr>
              <a:t>PM)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00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eaLnBrk="0" hangingPunct="0">
              <a:buSzPct val="100000"/>
              <a:defRPr/>
            </a:pPr>
            <a:endParaRPr lang="en-US" altLang="ko-KR" sz="1000" kern="0" smtClean="0">
              <a:solidFill>
                <a:srgbClr val="000000"/>
              </a:solidFill>
              <a:latin typeface="+mn-ea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0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3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085241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rgbClr val="000000"/>
                </a:solidFill>
                <a:latin typeface="+mn-ea"/>
              </a:rPr>
              <a:t>callService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4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305515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rgbClr val="000000"/>
                </a:solidFill>
                <a:latin typeface="+mn-ea"/>
              </a:rPr>
              <a:t>callSharedMethod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506113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rgbClr val="000000"/>
                </a:solidFill>
                <a:latin typeface="+mn-ea"/>
              </a:rPr>
              <a:t>callSharedMethod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6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753922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rgbClr val="000000"/>
                </a:solidFill>
                <a:latin typeface="+mn-ea"/>
              </a:rPr>
              <a:t>callService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7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3963005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rgbClr val="000000"/>
                </a:solidFill>
                <a:latin typeface="+mn-ea"/>
              </a:rPr>
              <a:t>callSharedMethod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8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4182137"/>
            <a:ext cx="1053219" cy="180693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callRemoteService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9" name="Rectangle 29">
            <a:extLst>
              <a:ext uri="{FF2B5EF4-FFF2-40B4-BE49-F238E27FC236}">
                <a16:creationId xmlns:a16="http://schemas.microsoft.com/office/drawing/2014/main" id="{59185135-4BDB-40CD-B221-5883F3E3F5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845" y="4401269"/>
            <a:ext cx="1053219" cy="180693"/>
          </a:xfrm>
          <a:prstGeom prst="rect">
            <a:avLst/>
          </a:prstGeom>
          <a:noFill/>
          <a:ln w="31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lIns="36000" tIns="36000" rIns="36000" bIns="36000" anchor="t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ko-KR" sz="800" kern="0" noProof="0" smtClean="0">
                <a:solidFill>
                  <a:srgbClr val="000000"/>
                </a:solidFill>
                <a:latin typeface="+mn-ea"/>
              </a:rPr>
              <a:t>callRemoteService</a:t>
            </a:r>
            <a:endParaRPr kumimoji="0" lang="ko-KR" altLang="en-US" sz="80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63517" y="4745160"/>
            <a:ext cx="1109010" cy="18931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ko-KR" altLang="en-US" sz="900" smtClean="0">
                <a:solidFill>
                  <a:schemeClr val="tx1"/>
                </a:solidFill>
                <a:cs typeface="Arial" pitchFamily="34" charset="0"/>
              </a:rPr>
              <a:t>직접 호출 처리 영역</a:t>
            </a:r>
            <a:endParaRPr lang="ko-KR" altLang="en-US" sz="9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95590" y="4745161"/>
            <a:ext cx="3409439" cy="1544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smtClean="0">
                <a:solidFill>
                  <a:schemeClr val="tx1"/>
                </a:solidFill>
                <a:cs typeface="Arial" pitchFamily="34" charset="0"/>
              </a:rPr>
              <a:t>FW Reflection API </a:t>
            </a:r>
            <a:r>
              <a:rPr lang="ko-KR" altLang="en-US" sz="900" smtClean="0">
                <a:solidFill>
                  <a:schemeClr val="tx1"/>
                </a:solidFill>
                <a:cs typeface="Arial" pitchFamily="34" charset="0"/>
              </a:rPr>
              <a:t>처리 영역</a:t>
            </a:r>
            <a:endParaRPr lang="ko-KR" altLang="en-US" sz="9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7941423" y="4745160"/>
            <a:ext cx="1549769" cy="2042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900" smtClean="0">
                <a:solidFill>
                  <a:schemeClr val="tx1"/>
                </a:solidFill>
                <a:cs typeface="Arial" pitchFamily="34" charset="0"/>
              </a:rPr>
              <a:t>FW Remote Call</a:t>
            </a:r>
            <a:r>
              <a:rPr lang="ko-KR" altLang="en-US" sz="900" smtClean="0">
                <a:solidFill>
                  <a:schemeClr val="tx1"/>
                </a:solidFill>
                <a:cs typeface="Arial" pitchFamily="34" charset="0"/>
              </a:rPr>
              <a:t> 영역 </a:t>
            </a:r>
            <a:r>
              <a:rPr lang="en-US" altLang="ko-KR" sz="900" smtClean="0">
                <a:solidFill>
                  <a:schemeClr val="tx1"/>
                </a:solidFill>
                <a:cs typeface="Arial" pitchFamily="34" charset="0"/>
              </a:rPr>
              <a:t>(</a:t>
            </a:r>
            <a:r>
              <a:rPr lang="ko-KR" altLang="en-US" sz="900" smtClean="0">
                <a:solidFill>
                  <a:schemeClr val="tx1"/>
                </a:solidFill>
                <a:cs typeface="Arial" pitchFamily="34" charset="0"/>
              </a:rPr>
              <a:t>트랜잭션 분리됨</a:t>
            </a:r>
            <a:r>
              <a:rPr lang="en-US" altLang="ko-KR" sz="900" smtClean="0">
                <a:solidFill>
                  <a:schemeClr val="tx1"/>
                </a:solidFill>
                <a:cs typeface="Arial" pitchFamily="34" charset="0"/>
              </a:rPr>
              <a:t>)</a:t>
            </a:r>
            <a:endParaRPr lang="ko-KR" altLang="en-US" sz="900" dirty="0" smtClean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호출관계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4" name="제목 1"/>
          <p:cNvSpPr txBox="1">
            <a:spLocks/>
          </p:cNvSpPr>
          <p:nvPr/>
        </p:nvSpPr>
        <p:spPr>
          <a:xfrm>
            <a:off x="381884" y="299381"/>
            <a:ext cx="6804000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0" kern="120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ko-KR" altLang="en-US"/>
              <a:t>어플리케이션 간 호출 방식</a:t>
            </a:r>
          </a:p>
        </p:txBody>
      </p:sp>
    </p:spTree>
    <p:extLst>
      <p:ext uri="{BB962C8B-B14F-4D97-AF65-F5344CB8AC3E}">
        <p14:creationId xmlns:p14="http://schemas.microsoft.com/office/powerpoint/2010/main" val="270146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/>
          <p:cNvSpPr txBox="1"/>
          <p:nvPr/>
        </p:nvSpPr>
        <p:spPr>
          <a:xfrm>
            <a:off x="8210045" y="87959"/>
            <a:ext cx="1695955" cy="483849"/>
          </a:xfrm>
          <a:prstGeom prst="rect">
            <a:avLst/>
          </a:prstGeom>
          <a:noFill/>
        </p:spPr>
        <p:txBody>
          <a:bodyPr wrap="none" tIns="72000" rIns="180000" bIns="72000" rtlCol="0">
            <a:noAutofit/>
          </a:bodyPr>
          <a:lstStyle>
            <a:defPPr>
              <a:defRPr lang="de-DE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II.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어플리케이션 구성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컴포넌트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호출관계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4" name="제목 1"/>
          <p:cNvSpPr txBox="1">
            <a:spLocks/>
          </p:cNvSpPr>
          <p:nvPr/>
        </p:nvSpPr>
        <p:spPr>
          <a:xfrm>
            <a:off x="381884" y="299381"/>
            <a:ext cx="6804000" cy="2797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0" kern="1200" baseline="0" dirty="0">
                <a:solidFill>
                  <a:schemeClr val="accent5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altLang="ko-KR" smtClean="0"/>
              <a:t>M/F </a:t>
            </a:r>
            <a:r>
              <a:rPr lang="ko-KR" altLang="en-US" smtClean="0"/>
              <a:t>어플리케이션 </a:t>
            </a:r>
            <a:r>
              <a:rPr lang="ko-KR" altLang="en-US"/>
              <a:t>간 호출 방식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0" y="944724"/>
            <a:ext cx="8949444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2" indent="-228600" fontAlgn="base" latinLnBrk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ko-KR" altLang="ko-KR" sz="1200" kern="10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KB금융 제목체 Medium" panose="020B0603000000000000" pitchFamily="50" charset="-127"/>
                <a:ea typeface="KB금융 제목체 Medium" panose="020B0603000000000000" pitchFamily="50" charset="-127"/>
                <a:cs typeface="Times New Roman" panose="02020603050405020304" pitchFamily="18" charset="0"/>
              </a:rPr>
              <a:t>계층화 원칙 및 기준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"/>
              <a:tabLst>
                <a:tab pos="508000" algn="l"/>
              </a:tabLst>
            </a:pP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AS: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어플리케이션 거래의 단위로 하위 계층을 호출하여 거래를 완성한다</a:t>
            </a: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.</a:t>
            </a:r>
            <a:endParaRPr lang="ko-KR" altLang="ko-KR" sz="1100">
              <a:latin typeface="KB금융 본문체 Light" panose="020B0303000000000000" pitchFamily="50" charset="-127"/>
              <a:ea typeface="KB금융 본문체 Light" panose="020B0303000000000000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"/>
              <a:tabLst>
                <a:tab pos="508000" algn="l"/>
              </a:tabLst>
            </a:pP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PC: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거래를 절차의 유사성 및 연관성으로 분류한 프로세스의 단위이다</a:t>
            </a: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.</a:t>
            </a:r>
            <a:endParaRPr lang="ko-KR" altLang="ko-KR" sz="1100">
              <a:latin typeface="KB금융 본문체 Light" panose="020B0303000000000000" pitchFamily="50" charset="-127"/>
              <a:ea typeface="KB금융 본문체 Light" panose="020B0303000000000000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"/>
              <a:tabLst>
                <a:tab pos="508000" algn="l"/>
              </a:tabLst>
            </a:pP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DC :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데이터의</a:t>
            </a: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 CRUD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를 관장함으로써</a:t>
            </a: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,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데이터 처리와 관련한 비즈니스 로직을 담당하는 계층이다</a:t>
            </a:r>
            <a:endParaRPr lang="ko-KR" altLang="ko-KR" sz="1100">
              <a:latin typeface="KB금융 본문체 Light" panose="020B0303000000000000" pitchFamily="50" charset="-127"/>
              <a:ea typeface="KB금융 본문체 Light" panose="020B0303000000000000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"/>
              <a:tabLst>
                <a:tab pos="508000" algn="l"/>
              </a:tabLst>
            </a:pP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FC: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데이터 참조가 없는 어플리케이션내 로직 및 유틸리티이다</a:t>
            </a: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.</a:t>
            </a:r>
            <a:endParaRPr lang="ko-KR" altLang="ko-KR" sz="1100">
              <a:latin typeface="KB금융 본문체 Light" panose="020B0303000000000000" pitchFamily="50" charset="-127"/>
              <a:ea typeface="KB금융 본문체 Light" panose="020B0303000000000000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"/>
              <a:tabLst>
                <a:tab pos="508000" algn="l"/>
              </a:tabLst>
            </a:pP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BC: </a:t>
            </a:r>
            <a:r>
              <a:rPr lang="fr-FR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전행차원에서 업무기능 데이터를 중복개발하지 않고 공통으로 사용한다</a:t>
            </a:r>
            <a:r>
              <a:rPr lang="en-US" altLang="ko-KR" sz="1100"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rPr>
              <a:t>. </a:t>
            </a:r>
            <a:endParaRPr lang="ko-KR" altLang="ko-KR" sz="1100">
              <a:effectLst/>
              <a:latin typeface="KB금융 본문체 Light" panose="020B0303000000000000" pitchFamily="50" charset="-127"/>
              <a:ea typeface="KB금융 본문체 Light" panose="020B0303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71" name="Canvas 107"/>
          <p:cNvGrpSpPr/>
          <p:nvPr/>
        </p:nvGrpSpPr>
        <p:grpSpPr>
          <a:xfrm>
            <a:off x="524508" y="3139418"/>
            <a:ext cx="8424936" cy="2726690"/>
            <a:chOff x="0" y="0"/>
            <a:chExt cx="5334000" cy="2726690"/>
          </a:xfrm>
        </p:grpSpPr>
        <p:sp>
          <p:nvSpPr>
            <p:cNvPr id="72" name="직사각형 71"/>
            <p:cNvSpPr/>
            <p:nvPr/>
          </p:nvSpPr>
          <p:spPr>
            <a:xfrm>
              <a:off x="0" y="0"/>
              <a:ext cx="5334000" cy="2726690"/>
            </a:xfrm>
            <a:prstGeom prst="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73" name="Text Box 12"/>
            <p:cNvSpPr txBox="1">
              <a:spLocks noChangeArrowheads="1"/>
            </p:cNvSpPr>
            <p:nvPr/>
          </p:nvSpPr>
          <p:spPr bwMode="auto">
            <a:xfrm>
              <a:off x="0" y="533400"/>
              <a:ext cx="2146852" cy="485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 latinLnBrk="1">
                <a:lnSpc>
                  <a:spcPct val="115000"/>
                </a:lnSpc>
                <a:spcBef>
                  <a:spcPts val="300"/>
                </a:spcBef>
                <a:spcAft>
                  <a:spcPts val="1000"/>
                </a:spcAft>
              </a:pPr>
              <a:r>
                <a:rPr lang="en-US" sz="1000" kern="100">
                  <a:effectLst/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Times New Roman" panose="02020603050405020304" pitchFamily="18" charset="0"/>
                </a:rPr>
                <a:t>PC: Process Component Service</a:t>
              </a:r>
              <a:endParaRPr lang="ko-KR" sz="1000" kern="100">
                <a:effectLst/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5" name="Text Box 13"/>
            <p:cNvSpPr txBox="1">
              <a:spLocks noChangeArrowheads="1"/>
            </p:cNvSpPr>
            <p:nvPr/>
          </p:nvSpPr>
          <p:spPr bwMode="auto">
            <a:xfrm>
              <a:off x="0" y="1066800"/>
              <a:ext cx="2146852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 latinLnBrk="1">
                <a:lnSpc>
                  <a:spcPct val="115000"/>
                </a:lnSpc>
                <a:spcBef>
                  <a:spcPts val="300"/>
                </a:spcBef>
                <a:spcAft>
                  <a:spcPts val="1000"/>
                </a:spcAft>
              </a:pPr>
              <a:r>
                <a:rPr lang="en-US" sz="1000" kern="100">
                  <a:effectLst/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Times New Roman" panose="02020603050405020304" pitchFamily="18" charset="0"/>
                </a:rPr>
                <a:t>DC: Domain Component Service</a:t>
              </a:r>
              <a:endParaRPr lang="ko-KR" sz="1000" kern="100">
                <a:effectLst/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14"/>
            <p:cNvSpPr txBox="1">
              <a:spLocks noChangeArrowheads="1"/>
            </p:cNvSpPr>
            <p:nvPr/>
          </p:nvSpPr>
          <p:spPr bwMode="auto">
            <a:xfrm>
              <a:off x="0" y="1600200"/>
              <a:ext cx="2146852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 latinLnBrk="1">
                <a:lnSpc>
                  <a:spcPct val="115000"/>
                </a:lnSpc>
                <a:spcBef>
                  <a:spcPts val="300"/>
                </a:spcBef>
                <a:spcAft>
                  <a:spcPts val="1000"/>
                </a:spcAft>
              </a:pPr>
              <a:r>
                <a:rPr lang="en-US" sz="1000" kern="100">
                  <a:effectLst/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Times New Roman" panose="02020603050405020304" pitchFamily="18" charset="0"/>
                </a:rPr>
                <a:t>FC: Function Component Service</a:t>
              </a:r>
              <a:endParaRPr lang="ko-KR" sz="1000" kern="100">
                <a:effectLst/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0" y="2133600"/>
              <a:ext cx="20574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 latinLnBrk="1">
                <a:lnSpc>
                  <a:spcPct val="115000"/>
                </a:lnSpc>
                <a:spcBef>
                  <a:spcPts val="300"/>
                </a:spcBef>
                <a:spcAft>
                  <a:spcPts val="1000"/>
                </a:spcAft>
              </a:pPr>
              <a:r>
                <a:rPr lang="en-US" sz="1000" kern="100">
                  <a:effectLst/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Times New Roman" panose="02020603050405020304" pitchFamily="18" charset="0"/>
                </a:rPr>
                <a:t>BC: Business Common</a:t>
              </a:r>
              <a:endParaRPr lang="ko-KR" sz="1000" kern="100">
                <a:effectLst/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78" name="Picture 1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1750"/>
              <a:ext cx="3124200" cy="2475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146852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 latinLnBrk="1">
                <a:lnSpc>
                  <a:spcPct val="115000"/>
                </a:lnSpc>
                <a:spcBef>
                  <a:spcPts val="300"/>
                </a:spcBef>
                <a:spcAft>
                  <a:spcPts val="1000"/>
                </a:spcAft>
              </a:pPr>
              <a:r>
                <a:rPr lang="en-US" sz="1000" kern="100">
                  <a:effectLst/>
                  <a:latin typeface="KB금융 본문체 Light" panose="020B0303000000000000" pitchFamily="50" charset="-127"/>
                  <a:ea typeface="KB금융 본문체 Light" panose="020B0303000000000000" pitchFamily="50" charset="-127"/>
                  <a:cs typeface="Times New Roman" panose="02020603050405020304" pitchFamily="18" charset="0"/>
                </a:rPr>
                <a:t>AS: Application Service</a:t>
              </a:r>
              <a:endParaRPr lang="ko-KR" sz="1000" kern="100">
                <a:effectLst/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853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84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83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0&quot;/&gt;&lt;/m_mruColor&gt;&lt;m_mapectfillschemeMRU&gt;&lt;key val=&quot;0&quot;/&gt;&lt;elem&gt;&lt;m_nPartnerID val=&quot;556&quot;/&gt;&lt;m_nIndex val=&quot;1&quot;/&gt;&lt;/elem&gt;&lt;key val=&quot;1&quot;/&gt;&lt;elem&gt;&lt;m_nPartnerID val=&quot;556&quot;/&gt;&lt;m_nIndex val=&quot;1&quot;/&gt;&lt;/elem&gt;&lt;key val=&quot;2&quot;/&gt;&lt;elem&gt;&lt;m_nPartnerID val=&quot;556&quot;/&gt;&lt;m_nIndex val=&quot;1&quot;/&gt;&lt;/elem&gt;&lt;key val=&quot;3&quot;/&gt;&lt;elem&gt;&lt;m_nPartnerID val=&quot;556&quot;/&gt;&lt;m_nIndex val=&quot;2&quot;/&gt;&lt;/elem&gt;&lt;key val=&quot;4&quot;/&gt;&lt;elem&gt;&lt;m_nPartnerID val=&quot;556&quot;/&gt;&lt;m_nIndex val=&quot;1&quot;/&gt;&lt;/elem&gt;&lt;/m_mapectfillschemeMRU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2147483647&quot;/&gt;&lt;m_chDecimalSymbol17909&gt;.&lt;/m_chDecimalSymbol17909&gt;&lt;m_nGroupingDigits17909 val=&quot;2147483647&quot;/&gt;&lt;/m_precDefault&gt;&lt;/CDefaultPrec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 K 프로젝트">
  <a:themeElements>
    <a:clrScheme name="The-K">
      <a:dk1>
        <a:srgbClr val="000000"/>
      </a:dk1>
      <a:lt1>
        <a:srgbClr val="FFFFFF"/>
      </a:lt1>
      <a:dk2>
        <a:srgbClr val="FFD200"/>
      </a:dk2>
      <a:lt2>
        <a:srgbClr val="FFE600"/>
      </a:lt2>
      <a:accent1>
        <a:srgbClr val="1F497D"/>
      </a:accent1>
      <a:accent2>
        <a:srgbClr val="C00000"/>
      </a:accent2>
      <a:accent3>
        <a:srgbClr val="9BBB59"/>
      </a:accent3>
      <a:accent4>
        <a:srgbClr val="858274"/>
      </a:accent4>
      <a:accent5>
        <a:srgbClr val="FFA600"/>
      </a:accent5>
      <a:accent6>
        <a:srgbClr val="62574A"/>
      </a:accent6>
      <a:hlink>
        <a:srgbClr val="364086"/>
      </a:hlink>
      <a:folHlink>
        <a:srgbClr val="A3AADA"/>
      </a:folHlink>
    </a:clrScheme>
    <a:fontScheme name="The K 공식글꼴 Medium-Light">
      <a:majorFont>
        <a:latin typeface="KB금융 제목체 Medium"/>
        <a:ea typeface="KB금융 제목체 Medium"/>
        <a:cs typeface=""/>
      </a:majorFont>
      <a:minorFont>
        <a:latin typeface="KB금융 본문체 Light"/>
        <a:ea typeface="KB금융 본문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 cap="flat">
          <a:solidFill>
            <a:schemeClr val="bg1">
              <a:lumMod val="50000"/>
            </a:schemeClr>
          </a:solidFill>
          <a:miter lim="800000"/>
        </a:ln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defRPr sz="900" smtClean="0">
            <a:solidFill>
              <a:schemeClr val="tx1"/>
            </a:solidFill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arrow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  <a:txDef>
      <a:spPr>
        <a:noFill/>
        <a:ln w="6350" cap="flat">
          <a:noFill/>
          <a:miter lim="800000"/>
        </a:ln>
      </a:spPr>
      <a:bodyPr wrap="none" lIns="72000" tIns="36000" rIns="72000" bIns="36000" rtlCol="0" anchor="ctr" anchorCtr="0">
        <a:spAutoFit/>
      </a:bodyPr>
      <a:lstStyle>
        <a:defPPr>
          <a:lnSpc>
            <a:spcPct val="90000"/>
          </a:lnSpc>
          <a:defRPr sz="1000" dirty="0" smtClean="0">
            <a:cs typeface="Arial" pitchFamily="34" charset="0"/>
          </a:defRPr>
        </a:defPPr>
      </a:lstStyle>
    </a:txDef>
  </a:objectDefaults>
  <a:extraClrSchemeLst/>
  <a:custClrLst>
    <a:custClr name="Custom Color 1">
      <a:srgbClr val="9B1717"/>
    </a:custClr>
    <a:custClr name="Custom Color 2">
      <a:srgbClr val="DCDC00"/>
    </a:custClr>
    <a:custClr name="Custom Color 3">
      <a:srgbClr val="289055"/>
    </a:custClr>
  </a:custClrLst>
  <a:extLst>
    <a:ext uri="{05A4C25C-085E-4340-85A3-A5531E510DB2}">
      <thm15:themeFamily xmlns:thm15="http://schemas.microsoft.com/office/thememl/2012/main" name="Blank.potx" id="{640276DA-974F-4972-AC73-9FCF75EFFC11}" vid="{6D8D49E7-FB85-45D6-8CFF-1757C33FAB73}"/>
    </a:ext>
  </a:extLst>
</a:theme>
</file>

<file path=ppt/theme/theme2.xml><?xml version="1.0" encoding="utf-8"?>
<a:theme xmlns:a="http://schemas.openxmlformats.org/drawingml/2006/main" name="Office Theme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0A42A237F6544D89BE99CA386B4DBF" ma:contentTypeVersion="5" ma:contentTypeDescription="Create a new document." ma:contentTypeScope="" ma:versionID="db4a2a6094a423c2571c1ead2c7501ea">
  <xsd:schema xmlns:xsd="http://www.w3.org/2001/XMLSchema" xmlns:xs="http://www.w3.org/2001/XMLSchema" xmlns:p="http://schemas.microsoft.com/office/2006/metadata/properties" xmlns:ns1="http://schemas.microsoft.com/sharepoint/v3" xmlns:ns2="6d52cf82-eaf9-464f-b588-5594a02d7d84" targetNamespace="http://schemas.microsoft.com/office/2006/metadata/properties" ma:root="true" ma:fieldsID="70971a8a3f3595da9ce0e9be4d467992" ns1:_="" ns2:_="">
    <xsd:import namespace="http://schemas.microsoft.com/sharepoint/v3"/>
    <xsd:import namespace="6d52cf82-eaf9-464f-b588-5594a02d7d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2cf82-eaf9-464f-b588-5594a02d7d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FC8F71F-568D-47A5-A859-F9E5D50EAF90}"/>
</file>

<file path=customXml/itemProps2.xml><?xml version="1.0" encoding="utf-8"?>
<ds:datastoreItem xmlns:ds="http://schemas.openxmlformats.org/officeDocument/2006/customXml" ds:itemID="{AA7200D8-2C1C-45C4-B660-661F14CFD9DF}"/>
</file>

<file path=customXml/itemProps3.xml><?xml version="1.0" encoding="utf-8"?>
<ds:datastoreItem xmlns:ds="http://schemas.openxmlformats.org/officeDocument/2006/customXml" ds:itemID="{73A7A76D-EC01-4EEA-91D7-C13C670C39B2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1463</Words>
  <Application>Microsoft Office PowerPoint</Application>
  <PresentationFormat>A4 용지(210x297mm)</PresentationFormat>
  <Paragraphs>389</Paragraphs>
  <Slides>11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KB금융 본문체 Light</vt:lpstr>
      <vt:lpstr>KB금융 본문체 Medium</vt:lpstr>
      <vt:lpstr>KB금융 제목체 Medium</vt:lpstr>
      <vt:lpstr>맑은 고딕</vt:lpstr>
      <vt:lpstr>Arial</vt:lpstr>
      <vt:lpstr>Times New Roman</vt:lpstr>
      <vt:lpstr>Wingdings</vt:lpstr>
      <vt:lpstr>The K 프로젝트</vt:lpstr>
      <vt:lpstr>think-cell Slide</vt:lpstr>
      <vt:lpstr>PowerPoint 프레젠테이션</vt:lpstr>
      <vt:lpstr>전행 표준 프레임워크 개요</vt:lpstr>
      <vt:lpstr>프레임워크 적용 대상 업무</vt:lpstr>
      <vt:lpstr>PowerPoint 프레젠테이션</vt:lpstr>
      <vt:lpstr>컴포넌트 아키텍처</vt:lpstr>
      <vt:lpstr>어플리케이션 계층구조 – nKESA 2.0</vt:lpstr>
      <vt:lpstr>컴포넌트 내부 디렉토리 구조</vt:lpstr>
      <vt:lpstr>컴포넌트 호출관계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2016-05-10T05:57:35Z</dcterms:created>
  <dcterms:modified xsi:type="dcterms:W3CDTF">2025-05-21T07:04:53Z</dcterms:modified>
  <cp:version>042016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0x0101008D0A42A237F6544D89BE99CA386B4DBF</vt:lpwstr>
  </property>
</Properties>
</file>