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67"/>
  </p:notesMasterIdLst>
  <p:handoutMasterIdLst>
    <p:handoutMasterId r:id="rId68"/>
  </p:handoutMasterIdLst>
  <p:sldIdLst>
    <p:sldId id="1305" r:id="rId2"/>
    <p:sldId id="1293" r:id="rId3"/>
    <p:sldId id="1465" r:id="rId4"/>
    <p:sldId id="1412" r:id="rId5"/>
    <p:sldId id="1531" r:id="rId6"/>
    <p:sldId id="1478" r:id="rId7"/>
    <p:sldId id="1537" r:id="rId8"/>
    <p:sldId id="1572" r:id="rId9"/>
    <p:sldId id="1453" r:id="rId10"/>
    <p:sldId id="1395" r:id="rId11"/>
    <p:sldId id="1541" r:id="rId12"/>
    <p:sldId id="1543" r:id="rId13"/>
    <p:sldId id="1538" r:id="rId14"/>
    <p:sldId id="1536" r:id="rId15"/>
    <p:sldId id="1539" r:id="rId16"/>
    <p:sldId id="1540" r:id="rId17"/>
    <p:sldId id="1544" r:id="rId18"/>
    <p:sldId id="1548" r:id="rId19"/>
    <p:sldId id="1549" r:id="rId20"/>
    <p:sldId id="1550" r:id="rId21"/>
    <p:sldId id="1449" r:id="rId22"/>
    <p:sldId id="1552" r:id="rId23"/>
    <p:sldId id="1557" r:id="rId24"/>
    <p:sldId id="1558" r:id="rId25"/>
    <p:sldId id="1559" r:id="rId26"/>
    <p:sldId id="1546" r:id="rId27"/>
    <p:sldId id="1560" r:id="rId28"/>
    <p:sldId id="1561" r:id="rId29"/>
    <p:sldId id="1562" r:id="rId30"/>
    <p:sldId id="1567" r:id="rId31"/>
    <p:sldId id="1568" r:id="rId32"/>
    <p:sldId id="1564" r:id="rId33"/>
    <p:sldId id="1569" r:id="rId34"/>
    <p:sldId id="1570" r:id="rId35"/>
    <p:sldId id="1571" r:id="rId36"/>
    <p:sldId id="1566" r:id="rId37"/>
    <p:sldId id="1499" r:id="rId38"/>
    <p:sldId id="1334" r:id="rId39"/>
    <p:sldId id="1414" r:id="rId40"/>
    <p:sldId id="1579" r:id="rId41"/>
    <p:sldId id="1580" r:id="rId42"/>
    <p:sldId id="1417" r:id="rId43"/>
    <p:sldId id="1418" r:id="rId44"/>
    <p:sldId id="1487" r:id="rId45"/>
    <p:sldId id="1420" r:id="rId46"/>
    <p:sldId id="1348" r:id="rId47"/>
    <p:sldId id="1310" r:id="rId48"/>
    <p:sldId id="1422" r:id="rId49"/>
    <p:sldId id="1423" r:id="rId50"/>
    <p:sldId id="1424" r:id="rId51"/>
    <p:sldId id="1425" r:id="rId52"/>
    <p:sldId id="1491" r:id="rId53"/>
    <p:sldId id="1312" r:id="rId54"/>
    <p:sldId id="1314" r:id="rId55"/>
    <p:sldId id="1504" r:id="rId56"/>
    <p:sldId id="1321" r:id="rId57"/>
    <p:sldId id="1322" r:id="rId58"/>
    <p:sldId id="1553" r:id="rId59"/>
    <p:sldId id="1555" r:id="rId60"/>
    <p:sldId id="1542" r:id="rId61"/>
    <p:sldId id="1547" r:id="rId62"/>
    <p:sldId id="1492" r:id="rId63"/>
    <p:sldId id="1493" r:id="rId64"/>
    <p:sldId id="1457" r:id="rId65"/>
    <p:sldId id="1298" r:id="rId66"/>
  </p:sldIdLst>
  <p:sldSz cx="9906000" cy="6858000" type="A4"/>
  <p:notesSz cx="9940925" cy="6808788"/>
  <p:custDataLst>
    <p:tags r:id="rId6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5" userDrawn="1">
          <p15:clr>
            <a:srgbClr val="A4A3A4"/>
          </p15:clr>
        </p15:guide>
        <p15:guide id="4" orient="horz" pos="3566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1684" userDrawn="1">
          <p15:clr>
            <a:srgbClr val="A4A3A4"/>
          </p15:clr>
        </p15:guide>
        <p15:guide id="7" pos="2893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9" pos="3415" userDrawn="1">
          <p15:clr>
            <a:srgbClr val="A4A3A4"/>
          </p15:clr>
        </p15:guide>
        <p15:guide id="10" pos="5751" userDrawn="1">
          <p15:clr>
            <a:srgbClr val="A4A3A4"/>
          </p15:clr>
        </p15:guide>
        <p15:guide id="11" pos="5602">
          <p15:clr>
            <a:srgbClr val="A4A3A4"/>
          </p15:clr>
        </p15:guide>
        <p15:guide id="12" pos="2644" userDrawn="1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391" userDrawn="1">
          <p15:clr>
            <a:srgbClr val="A4A3A4"/>
          </p15:clr>
        </p15:guide>
        <p15:guide id="24" pos="6091">
          <p15:clr>
            <a:srgbClr val="A4A3A4"/>
          </p15:clr>
        </p15:guide>
        <p15:guide id="25" pos="1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  <p15:guide id="3" orient="horz" pos="2146" userDrawn="1">
          <p15:clr>
            <a:srgbClr val="A4A3A4"/>
          </p15:clr>
        </p15:guide>
        <p15:guide id="4" pos="3109" userDrawn="1">
          <p15:clr>
            <a:srgbClr val="A4A3A4"/>
          </p15:clr>
        </p15:guide>
        <p15:guide id="5" pos="2159" userDrawn="1">
          <p15:clr>
            <a:srgbClr val="A4A3A4"/>
          </p15:clr>
        </p15:guide>
        <p15:guide id="6" pos="313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B9B9B9"/>
    <a:srgbClr val="289055"/>
    <a:srgbClr val="FF3300"/>
    <a:srgbClr val="9999FF"/>
    <a:srgbClr val="FFE466"/>
    <a:srgbClr val="9B1717"/>
    <a:srgbClr val="FFFFCC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 autoAdjust="0"/>
    <p:restoredTop sz="96158" autoAdjust="0"/>
  </p:normalViewPr>
  <p:slideViewPr>
    <p:cSldViewPr snapToObjects="1" showGuides="1">
      <p:cViewPr varScale="1">
        <p:scale>
          <a:sx n="109" d="100"/>
          <a:sy n="109" d="100"/>
        </p:scale>
        <p:origin x="1836" y="114"/>
      </p:cViewPr>
      <p:guideLst>
        <p:guide orient="horz" pos="1275"/>
        <p:guide orient="horz" pos="3566"/>
        <p:guide orient="horz" pos="3929"/>
        <p:guide orient="horz" pos="1684"/>
        <p:guide pos="2893"/>
        <p:guide pos="3120"/>
        <p:guide pos="3415"/>
        <p:guide pos="5751"/>
        <p:guide pos="5602"/>
        <p:guide pos="2644"/>
        <p:guide pos="158"/>
        <p:guide orient="horz" pos="391"/>
        <p:guide pos="6091"/>
        <p:guide pos="14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3672"/>
    </p:cViewPr>
  </p:sorterViewPr>
  <p:notesViewPr>
    <p:cSldViewPr snapToObjects="1" showGuides="1">
      <p:cViewPr varScale="1">
        <p:scale>
          <a:sx n="116" d="100"/>
          <a:sy n="116" d="100"/>
        </p:scale>
        <p:origin x="-1854" y="-102"/>
      </p:cViewPr>
      <p:guideLst>
        <p:guide orient="horz" pos="3132"/>
        <p:guide pos="2144"/>
        <p:guide orient="horz" pos="2146"/>
        <p:guide pos="3109"/>
        <p:guide pos="2159"/>
        <p:guide pos="313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/>
            </a:lvl1pPr>
          </a:lstStyle>
          <a:p>
            <a:fld id="{37497BA2-BE1C-4EE9-A31C-7FFCDEBC3FDE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1/6/2026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/>
            </a:lvl1pPr>
          </a:lstStyle>
          <a:p>
            <a:fld id="{F0C191C2-D4F7-424F-868C-23ADE6615EBC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55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32C4D34-2C19-43C3-91CC-9F2B4AC1297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27375" y="512763"/>
            <a:ext cx="36861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273" tIns="49637" rIns="99273" bIns="4963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093" y="3234179"/>
            <a:ext cx="7952740" cy="3063955"/>
          </a:xfrm>
          <a:prstGeom prst="rect">
            <a:avLst/>
          </a:prstGeom>
        </p:spPr>
        <p:txBody>
          <a:bodyPr vert="horz" lIns="99273" tIns="49637" rIns="99273" bIns="496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D256E95E-57AA-4526-AA4C-3002F47FB1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0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34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6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gif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)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5" y="-7268"/>
            <a:ext cx="9906000" cy="6856552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sz="quarter" idx="12" hasCustomPrompt="1"/>
          </p:nvPr>
        </p:nvSpPr>
        <p:spPr>
          <a:xfrm>
            <a:off x="340406" y="2772907"/>
            <a:ext cx="4852800" cy="371513"/>
          </a:xfrm>
        </p:spPr>
        <p:txBody>
          <a:bodyPr wrap="square" lIns="90000" tIns="46800" rIns="90000" bIns="46800"/>
          <a:lstStyle>
            <a:lvl1pPr marL="0" algn="l" defTabSz="914400" rtl="0" eaLnBrk="1" latinLnBrk="0" hangingPunct="1">
              <a:defRPr lang="ko-KR" altLang="en-US" sz="200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ko-KR" dirty="0"/>
              <a:t>Addtional Title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0406" y="2204864"/>
            <a:ext cx="6804000" cy="510012"/>
          </a:xfrm>
          <a:noFill/>
          <a:ln w="6350">
            <a:noFill/>
            <a:miter lim="800000"/>
          </a:ln>
        </p:spPr>
        <p:txBody>
          <a:bodyPr vert="horz" wrap="square" lIns="90000" tIns="46800" rIns="90000" bIns="46800" rtlCol="0">
            <a:spAutoFit/>
          </a:bodyPr>
          <a:lstStyle>
            <a:lvl1pPr>
              <a:defRPr lang="ko-KR" altLang="en-US" sz="3000" b="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spcBef>
                <a:spcPts val="0"/>
              </a:spcBef>
              <a:buClr>
                <a:srgbClr val="FFA600"/>
              </a:buClr>
              <a:buSzPct val="100000"/>
              <a:buFont typeface="Arial" pitchFamily="34" charset="0"/>
            </a:pPr>
            <a:r>
              <a:rPr lang="en-US" altLang="ko-KR" dirty="0"/>
              <a:t>Document</a:t>
            </a:r>
            <a:r>
              <a:rPr lang="ko-KR" altLang="en-US" dirty="0"/>
              <a:t> </a:t>
            </a:r>
            <a:r>
              <a:rPr lang="en-US" altLang="ko-KR" dirty="0"/>
              <a:t>Subject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19" y="5406023"/>
            <a:ext cx="1963636" cy="68727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24688"/>
            <a:ext cx="1966024" cy="396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999" y="6275640"/>
            <a:ext cx="1943289" cy="321712"/>
          </a:xfrm>
          <a:prstGeom prst="rect">
            <a:avLst/>
          </a:prstGeom>
        </p:spPr>
      </p:pic>
      <p:sp>
        <p:nvSpPr>
          <p:cNvPr id="8" name="내용 개체 틀 10"/>
          <p:cNvSpPr>
            <a:spLocks noGrp="1"/>
          </p:cNvSpPr>
          <p:nvPr>
            <p:ph sz="quarter" idx="11" hasCustomPrompt="1"/>
          </p:nvPr>
        </p:nvSpPr>
        <p:spPr>
          <a:xfrm>
            <a:off x="560512" y="4833156"/>
            <a:ext cx="1447897" cy="324000"/>
          </a:xfrm>
          <a:noFill/>
        </p:spPr>
        <p:txBody>
          <a:bodyPr wrap="none" rtlCol="0" anchor="ctr">
            <a:noAutofit/>
          </a:bodyPr>
          <a:lstStyle>
            <a:lvl1pPr marL="0" algn="l" defTabSz="914400" rtl="0" eaLnBrk="1" latinLnBrk="0" hangingPunct="1">
              <a:defRPr lang="ko-KR" altLang="en-US" sz="1700" b="0" kern="120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lnSpc>
                <a:spcPct val="150000"/>
              </a:lnSpc>
            </a:pPr>
            <a:r>
              <a:rPr lang="en-US" altLang="ko-KR" sz="17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Author(s) here</a:t>
            </a:r>
          </a:p>
        </p:txBody>
      </p:sp>
      <p:sp>
        <p:nvSpPr>
          <p:cNvPr id="9" name="내용 개체 틀 10"/>
          <p:cNvSpPr>
            <a:spLocks noGrp="1"/>
          </p:cNvSpPr>
          <p:nvPr>
            <p:ph sz="quarter" idx="13" hasCustomPrompt="1"/>
          </p:nvPr>
        </p:nvSpPr>
        <p:spPr>
          <a:xfrm>
            <a:off x="560512" y="4455132"/>
            <a:ext cx="2416367" cy="324000"/>
          </a:xfrm>
          <a:noFill/>
        </p:spPr>
        <p:txBody>
          <a:bodyPr wrap="none" rtlCol="0" anchor="ctr">
            <a:noAutofit/>
          </a:bodyPr>
          <a:lstStyle>
            <a:lvl1pPr marL="0" algn="l" defTabSz="914400" rtl="0" eaLnBrk="1" latinLnBrk="0" hangingPunct="1">
              <a:defRPr lang="ko-KR" altLang="en-US" sz="1700" b="0" kern="1200" baseline="0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>
              <a:lnSpc>
                <a:spcPct val="150000"/>
              </a:lnSpc>
            </a:pPr>
            <a:r>
              <a:rPr lang="en-US" altLang="ko-KR" sz="17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Date here YYYY.MM.DD.</a:t>
            </a:r>
          </a:p>
        </p:txBody>
      </p:sp>
    </p:spTree>
    <p:extLst>
      <p:ext uri="{BB962C8B-B14F-4D97-AF65-F5344CB8AC3E}">
        <p14:creationId xmlns:p14="http://schemas.microsoft.com/office/powerpoint/2010/main" val="329780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)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/>
          <p:cNvSpPr txBox="1">
            <a:spLocks/>
          </p:cNvSpPr>
          <p:nvPr userDrawn="1"/>
        </p:nvSpPr>
        <p:spPr>
          <a:xfrm>
            <a:off x="1172580" y="1052736"/>
            <a:ext cx="4356484" cy="54000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0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+mn-cs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+mj-lt"/>
                <a:ea typeface="+mj-ea"/>
              </a:rPr>
              <a:t>목차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796389" y="1808820"/>
            <a:ext cx="9109611" cy="59511"/>
            <a:chOff x="1367282" y="2096852"/>
            <a:chExt cx="4249697" cy="72008"/>
          </a:xfrm>
        </p:grpSpPr>
        <p:sp>
          <p:nvSpPr>
            <p:cNvPr id="7" name="직사각형 6"/>
            <p:cNvSpPr/>
            <p:nvPr/>
          </p:nvSpPr>
          <p:spPr>
            <a:xfrm>
              <a:off x="1367282" y="2096852"/>
              <a:ext cx="1041438" cy="72008"/>
            </a:xfrm>
            <a:prstGeom prst="rect">
              <a:avLst/>
            </a:prstGeom>
            <a:solidFill>
              <a:srgbClr val="62574A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213663" y="2096852"/>
              <a:ext cx="3403316" cy="72008"/>
            </a:xfrm>
            <a:prstGeom prst="rect">
              <a:avLst/>
            </a:prstGeom>
            <a:solidFill>
              <a:srgbClr val="FFC000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262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(거버닝 메시지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1884" y="731429"/>
            <a:ext cx="9143468" cy="221599"/>
          </a:xfrm>
        </p:spPr>
        <p:txBody>
          <a:bodyPr/>
          <a:lstStyle>
            <a:lvl1pPr>
              <a:spcBef>
                <a:spcPts val="0"/>
              </a:spcBef>
              <a:defRPr sz="1600" b="0" baseline="0">
                <a:latin typeface="+mn-lt"/>
              </a:defRPr>
            </a:lvl1pPr>
          </a:lstStyle>
          <a:p>
            <a:pPr lvl="0"/>
            <a:r>
              <a:rPr lang="en-US" altLang="ko-KR" dirty="0"/>
              <a:t>Headline of maximum two lines here</a:t>
            </a:r>
          </a:p>
        </p:txBody>
      </p:sp>
    </p:spTree>
    <p:extLst>
      <p:ext uri="{BB962C8B-B14F-4D97-AF65-F5344CB8AC3E}">
        <p14:creationId xmlns:p14="http://schemas.microsoft.com/office/powerpoint/2010/main" val="30820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 (거버닝 메시지 미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) 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KB금융그룹(백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2" t="-8025"/>
          <a:stretch>
            <a:fillRect/>
          </a:stretch>
        </p:blipFill>
        <p:spPr bwMode="auto">
          <a:xfrm>
            <a:off x="7245352" y="333376"/>
            <a:ext cx="13049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3253336" y="2586970"/>
            <a:ext cx="3399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dirty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End of Document</a:t>
            </a:r>
            <a:endParaRPr lang="ko-KR" altLang="en-US" sz="3000" dirty="0"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56" y="6275640"/>
            <a:ext cx="1943289" cy="32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)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"/>
            <a:ext cx="9906000" cy="685655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450000" y="2154922"/>
            <a:ext cx="2157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3000" baseline="0" dirty="0">
                <a:solidFill>
                  <a:prstClr val="black"/>
                </a:solidFill>
                <a:latin typeface="+mj-lt"/>
                <a:ea typeface="+mj-ea"/>
              </a:rPr>
              <a:t>I. Overview</a:t>
            </a:r>
            <a:endParaRPr lang="ko-KR" altLang="en-US" sz="3000" baseline="0" dirty="0">
              <a:solidFill>
                <a:prstClr val="black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7825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31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492" y="734158"/>
            <a:ext cx="9144508" cy="4431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Headline of maximum two lines here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26210368"/>
              </p:ext>
            </p:extLst>
          </p:nvPr>
        </p:nvGraphicFramePr>
        <p:xfrm>
          <a:off x="1722" y="1591"/>
          <a:ext cx="1719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89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22" y="1591"/>
                        <a:ext cx="1719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492" y="298493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altLang="ko-KR" dirty="0"/>
              <a:t>Title text here</a:t>
            </a:r>
            <a:endParaRPr 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1496616" y="630582"/>
            <a:ext cx="8409384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441" y="630582"/>
            <a:ext cx="149317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4813587" y="6664658"/>
            <a:ext cx="278826" cy="138499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ctr"/>
            <a:fld id="{6CE8C368-3382-4C28-AE75-DF7C05ACA19D}" type="slidenum">
              <a:rPr lang="en-US" sz="1000" b="0" smtClean="0">
                <a:solidFill>
                  <a:srgbClr val="585043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pPr algn="ctr"/>
              <a:t>‹#›</a:t>
            </a:fld>
            <a:endParaRPr lang="en-US" sz="1000" b="0" dirty="0">
              <a:solidFill>
                <a:srgbClr val="585043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331200" y="6597352"/>
            <a:ext cx="9237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7"/>
          <a:stretch/>
        </p:blipFill>
        <p:spPr>
          <a:xfrm>
            <a:off x="8841432" y="6650310"/>
            <a:ext cx="724151" cy="1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5" r:id="rId2"/>
    <p:sldLayoutId id="2147483676" r:id="rId3"/>
    <p:sldLayoutId id="2147483688" r:id="rId4"/>
    <p:sldLayoutId id="2147483679" r:id="rId5"/>
    <p:sldLayoutId id="2147483689" r:id="rId6"/>
    <p:sldLayoutId id="2147483686" r:id="rId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baseline="0" dirty="0">
          <a:solidFill>
            <a:schemeClr val="accent5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Clr>
          <a:srgbClr val="FFA600"/>
        </a:buClr>
        <a:buSzPct val="100000"/>
        <a:buFont typeface="Arial" pitchFamily="34" charset="0"/>
        <a:buNone/>
        <a:defRPr sz="1600" b="0" kern="1200" baseline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310896" indent="-128016" algn="l" defTabSz="914400" rtl="0" eaLnBrk="1" latinLnBrk="0" hangingPunct="1">
        <a:lnSpc>
          <a:spcPct val="90000"/>
        </a:lnSpc>
        <a:spcBef>
          <a:spcPts val="900"/>
        </a:spcBef>
        <a:buClr>
          <a:srgbClr val="FFA600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2pPr>
      <a:lvl3pPr marL="489600" indent="-180000" algn="l" defTabSz="914400" rtl="0" eaLnBrk="1" latinLnBrk="0" hangingPunct="1">
        <a:lnSpc>
          <a:spcPct val="90000"/>
        </a:lnSpc>
        <a:spcBef>
          <a:spcPts val="600"/>
        </a:spcBef>
        <a:buClr>
          <a:srgbClr val="FFA600"/>
        </a:buClr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3pPr>
      <a:lvl4pPr marL="633600" indent="-137160" algn="l" defTabSz="914400" rtl="0" eaLnBrk="1" latinLnBrk="0" hangingPunct="1">
        <a:lnSpc>
          <a:spcPct val="90000"/>
        </a:lnSpc>
        <a:spcBef>
          <a:spcPts val="2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4pPr>
      <a:lvl5pPr marL="770400" indent="-136800" algn="l" defTabSz="914400" rtl="0" eaLnBrk="1" latinLnBrk="0" hangingPunct="1">
        <a:lnSpc>
          <a:spcPct val="90000"/>
        </a:lnSpc>
        <a:spcBef>
          <a:spcPts val="1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40406" y="2459870"/>
            <a:ext cx="6804000" cy="510012"/>
          </a:xfrm>
        </p:spPr>
        <p:txBody>
          <a:bodyPr/>
          <a:lstStyle/>
          <a:p>
            <a:r>
              <a:rPr lang="en-US" altLang="ko-KR"/>
              <a:t> </a:t>
            </a:r>
            <a:r>
              <a:rPr lang="ko-KR" altLang="en-US"/>
              <a:t>표준</a:t>
            </a:r>
            <a:r>
              <a:rPr lang="en-US" altLang="ko-KR"/>
              <a:t>Java </a:t>
            </a:r>
            <a:r>
              <a:rPr lang="ko-KR" altLang="en-US"/>
              <a:t>프레임워크 </a:t>
            </a:r>
            <a:r>
              <a:rPr lang="en-US" altLang="ko-KR"/>
              <a:t>(n-KESA) </a:t>
            </a:r>
            <a:r>
              <a:rPr lang="ko-KR" altLang="en-US"/>
              <a:t>교육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394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27449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29666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>
                <a:solidFill>
                  <a:prstClr val="black"/>
                </a:solidFill>
                <a:latin typeface="+mn-lt"/>
              </a:rPr>
              <a:t>프레임워크 환경 소개</a:t>
            </a:r>
            <a:endParaRPr lang="en-US" altLang="ko-KR" sz="240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/>
              <a:t>온라인 어플리케이션 개발</a:t>
            </a:r>
            <a:endParaRPr lang="en-US" altLang="ko-KR" sz="2400"/>
          </a:p>
          <a:p>
            <a:pPr marL="997200" lvl="1" indent="-540000" latinLnBrk="1">
              <a:spcBef>
                <a:spcPts val="300"/>
              </a:spcBef>
              <a:buFont typeface="+mj-lt"/>
              <a:buAutoNum type="arabicParenR"/>
            </a:pPr>
            <a:r>
              <a:rPr lang="ko-KR" altLang="en-US" sz="2400">
                <a:solidFill>
                  <a:prstClr val="black"/>
                </a:solidFill>
              </a:rPr>
              <a:t>온라인 어플리케이션 구조</a:t>
            </a:r>
            <a:endParaRPr lang="en-US" altLang="ko-KR" sz="2400">
              <a:solidFill>
                <a:prstClr val="black"/>
              </a:solidFill>
            </a:endParaRPr>
          </a:p>
          <a:p>
            <a:pPr marL="997200" lvl="1" indent="-540000" latinLnBrk="1">
              <a:spcBef>
                <a:spcPts val="300"/>
              </a:spcBef>
              <a:buFont typeface="+mj-lt"/>
              <a:buAutoNum type="arabicParenR"/>
            </a:pPr>
            <a:r>
              <a:rPr lang="ko-KR" altLang="en-US" sz="2400">
                <a:solidFill>
                  <a:prstClr val="black"/>
                </a:solidFill>
              </a:rPr>
              <a:t>온라인 어플리케이션 호출</a:t>
            </a:r>
            <a:endParaRPr lang="en-US" altLang="ko-KR" sz="2400">
              <a:solidFill>
                <a:prstClr val="black"/>
              </a:solidFill>
            </a:endParaRPr>
          </a:p>
          <a:p>
            <a:pPr marL="997200" lvl="1" indent="-540000" latinLnBrk="1">
              <a:spcBef>
                <a:spcPts val="300"/>
              </a:spcBef>
              <a:buFont typeface="+mj-lt"/>
              <a:buAutoNum type="arabicParenR"/>
            </a:pPr>
            <a:r>
              <a:rPr lang="ko-KR" altLang="en-US" sz="2400">
                <a:solidFill>
                  <a:prstClr val="black"/>
                </a:solidFill>
              </a:rPr>
              <a:t>거래 패턴</a:t>
            </a:r>
            <a:endParaRPr lang="en-US" altLang="ko-KR" sz="2400">
              <a:solidFill>
                <a:prstClr val="black"/>
              </a:solidFill>
            </a:endParaRPr>
          </a:p>
          <a:p>
            <a:pPr marL="997200" lvl="1" indent="-540000" latinLnBrk="1">
              <a:spcBef>
                <a:spcPts val="300"/>
              </a:spcBef>
              <a:buFont typeface="+mj-lt"/>
              <a:buAutoNum type="arabicParenR"/>
            </a:pPr>
            <a:r>
              <a:rPr lang="ko-KR" altLang="en-US" sz="2400">
                <a:solidFill>
                  <a:prstClr val="black"/>
                </a:solidFill>
              </a:rPr>
              <a:t>기타</a:t>
            </a:r>
            <a:endParaRPr lang="en-US" altLang="ko-KR" sz="2400"/>
          </a:p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>
                <a:solidFill>
                  <a:prstClr val="black"/>
                </a:solidFill>
                <a:latin typeface="+mn-lt"/>
              </a:rPr>
              <a:t>배치 어플리케이션 개발</a:t>
            </a:r>
            <a:endParaRPr lang="en-US" altLang="ko-KR" sz="240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75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/>
              <a:t>전행 표준 프레임워크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전행 </a:t>
            </a:r>
            <a:r>
              <a:rPr lang="en-US" altLang="ko-KR" dirty="0"/>
              <a:t>Java </a:t>
            </a:r>
            <a:r>
              <a:rPr lang="ko-KR" altLang="en-US" dirty="0"/>
              <a:t>프레임워크로써 </a:t>
            </a:r>
            <a:r>
              <a:rPr lang="en-US" altLang="ko-KR" dirty="0"/>
              <a:t>KB</a:t>
            </a:r>
            <a:r>
              <a:rPr lang="ko-KR" altLang="en-US" dirty="0"/>
              <a:t>표준 아키텍처를 준수하고 내부 표준 전문 기반의 프레임워크 기능을 제공함</a:t>
            </a:r>
          </a:p>
        </p:txBody>
      </p:sp>
      <p:graphicFrame>
        <p:nvGraphicFramePr>
          <p:cNvPr id="15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408"/>
              </p:ext>
            </p:extLst>
          </p:nvPr>
        </p:nvGraphicFramePr>
        <p:xfrm>
          <a:off x="687144" y="1334248"/>
          <a:ext cx="8478324" cy="517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824">
                  <a:extLst>
                    <a:ext uri="{9D8B030D-6E8A-4147-A177-3AD203B41FA5}">
                      <a16:colId xmlns:a16="http://schemas.microsoft.com/office/drawing/2014/main" val="1173871808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   분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             용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      고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Eclipse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통합개발환경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(IDE)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구조에 맞도록 템플릿 기반 개발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Template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소스 자동 생성 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어플리이케이션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소스 개발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배포 연계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및 테스트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메소드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단위 테스트 기능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형상관리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Websphere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J2EE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실행 환경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DB2, Oracle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환경 적용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내부표준전문 처리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(Flat, 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처리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전문복원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 승인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취소거래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등 지원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대량 입력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 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Flat, Json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 전문 변환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 Area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지원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Hotdeploy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기능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암복호화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모듈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Control-M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연계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실행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24x365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처리지원을 위한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DBIO, D-1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원장 보정 처리지원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 환경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노드 모니터링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쓰레드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프로파일 관리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 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05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프레임워크</a:t>
            </a:r>
            <a:r>
              <a:rPr lang="en-US" altLang="ko-KR"/>
              <a:t> </a:t>
            </a:r>
            <a:r>
              <a:rPr lang="ko-KR" altLang="en-US"/>
              <a:t>구성도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n-KESA </a:t>
            </a:r>
            <a:r>
              <a:rPr lang="ko-KR" altLang="en-US"/>
              <a:t>시스템</a:t>
            </a:r>
            <a:r>
              <a:rPr lang="en-US" altLang="ko-KR"/>
              <a:t> </a:t>
            </a:r>
            <a:r>
              <a:rPr lang="ko-KR" altLang="en-US"/>
              <a:t>구성은 온라인</a:t>
            </a:r>
            <a:r>
              <a:rPr lang="en-US" altLang="ko-KR"/>
              <a:t>, </a:t>
            </a:r>
            <a:r>
              <a:rPr lang="ko-KR" altLang="en-US"/>
              <a:t>배치</a:t>
            </a:r>
            <a:r>
              <a:rPr lang="en-US" altLang="ko-KR"/>
              <a:t>, </a:t>
            </a:r>
            <a:r>
              <a:rPr lang="ko-KR" altLang="en-US"/>
              <a:t>배치 노드매니저</a:t>
            </a:r>
            <a:r>
              <a:rPr lang="en-US" altLang="ko-KR"/>
              <a:t>, </a:t>
            </a:r>
            <a:r>
              <a:rPr lang="ko-KR" altLang="en-US"/>
              <a:t>배포환경</a:t>
            </a:r>
            <a:r>
              <a:rPr lang="en-US" altLang="ko-KR"/>
              <a:t>, </a:t>
            </a:r>
            <a:r>
              <a:rPr lang="ko-KR" altLang="en-US"/>
              <a:t>개발환경</a:t>
            </a:r>
            <a:r>
              <a:rPr lang="en-US" altLang="ko-KR"/>
              <a:t>, </a:t>
            </a:r>
            <a:r>
              <a:rPr lang="ko-KR" altLang="en-US"/>
              <a:t>운영관리 환경으로 구성됨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1039008" y="1086955"/>
            <a:ext cx="6439611" cy="5538561"/>
            <a:chOff x="1039008" y="1086955"/>
            <a:chExt cx="6439611" cy="5538561"/>
          </a:xfrm>
        </p:grpSpPr>
        <p:sp>
          <p:nvSpPr>
            <p:cNvPr id="47" name="직사각형 46"/>
            <p:cNvSpPr/>
            <p:nvPr/>
          </p:nvSpPr>
          <p:spPr>
            <a:xfrm>
              <a:off x="4865859" y="5555182"/>
              <a:ext cx="2459372" cy="83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342364" y="5547153"/>
              <a:ext cx="2460263" cy="8364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335152" y="1086955"/>
              <a:ext cx="5004556" cy="43692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br>
                <a:rPr lang="en-US" altLang="ko-KR" sz="1000" b="1" dirty="0">
                  <a:solidFill>
                    <a:schemeClr val="tx1"/>
                  </a:solidFill>
                  <a:cs typeface="Arial" pitchFamily="34" charset="0"/>
                </a:rPr>
              </a:br>
              <a:endParaRPr lang="ko-KR" altLang="en-US" sz="10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16493" y="18615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64093" y="17091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3784421" y="2101169"/>
              <a:ext cx="1405216" cy="2128725"/>
              <a:chOff x="3219559" y="1031402"/>
              <a:chExt cx="1445411" cy="1965549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3219559" y="1031402"/>
                <a:ext cx="1445411" cy="1965549"/>
                <a:chOff x="3219558" y="1031403"/>
                <a:chExt cx="2682877" cy="2359497"/>
              </a:xfrm>
            </p:grpSpPr>
            <p:sp>
              <p:nvSpPr>
                <p:cNvPr id="15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3111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WAS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grpSp>
              <p:nvGrpSpPr>
                <p:cNvPr id="16" name="그룹 15"/>
                <p:cNvGrpSpPr/>
                <p:nvPr/>
              </p:nvGrpSpPr>
              <p:grpSpPr>
                <a:xfrm>
                  <a:off x="3219558" y="1031403"/>
                  <a:ext cx="2682877" cy="1829298"/>
                  <a:chOff x="3229083" y="1196753"/>
                  <a:chExt cx="2682877" cy="1829298"/>
                </a:xfrm>
              </p:grpSpPr>
              <p:sp>
                <p:nvSpPr>
                  <p:cNvPr id="18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5" y="1196753"/>
                    <a:ext cx="2682875" cy="1562236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   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온라인</a:t>
                    </a:r>
                    <a:endPara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19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670105"/>
                    <a:ext cx="2682875" cy="3559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nkesa.ear</a:t>
                    </a: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17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3129594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14" name="직사각형 13"/>
              <p:cNvSpPr/>
              <p:nvPr/>
            </p:nvSpPr>
            <p:spPr>
              <a:xfrm>
                <a:off x="3219560" y="1407230"/>
                <a:ext cx="1445410" cy="8472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rnd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(*.jar)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PU,FU,DU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3511693" y="1556792"/>
              <a:ext cx="1656184" cy="26747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000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6003411" y="1829319"/>
              <a:ext cx="1012261" cy="1746755"/>
              <a:chOff x="5097016" y="1118154"/>
              <a:chExt cx="1447309" cy="1746755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5097016" y="1118154"/>
                <a:ext cx="1447309" cy="1746755"/>
                <a:chOff x="3219558" y="1030955"/>
                <a:chExt cx="2686400" cy="2096851"/>
              </a:xfrm>
            </p:grpSpPr>
            <p:grpSp>
              <p:nvGrpSpPr>
                <p:cNvPr id="24" name="그룹 23"/>
                <p:cNvGrpSpPr/>
                <p:nvPr/>
              </p:nvGrpSpPr>
              <p:grpSpPr>
                <a:xfrm>
                  <a:off x="3219558" y="1030955"/>
                  <a:ext cx="2686400" cy="1829746"/>
                  <a:chOff x="3229083" y="1196305"/>
                  <a:chExt cx="2686400" cy="1829746"/>
                </a:xfrm>
              </p:grpSpPr>
              <p:sp>
                <p:nvSpPr>
                  <p:cNvPr id="26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1196305"/>
                    <a:ext cx="2686400" cy="156223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배치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27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764745"/>
                    <a:ext cx="2682875" cy="26130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25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6500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23" name="직사각형 22"/>
              <p:cNvSpPr/>
              <p:nvPr/>
            </p:nvSpPr>
            <p:spPr>
              <a:xfrm>
                <a:off x="5097017" y="1494355"/>
                <a:ext cx="1445410" cy="925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flat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(*.class)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BU</a:t>
                </a:r>
                <a:r>
                  <a:rPr lang="en-US" altLang="ko-KR" sz="1000" b="1" kern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,BS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1039009" y="1086956"/>
              <a:ext cx="602550" cy="2042826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>
                  <a:lumMod val="85000"/>
                  <a:lumOff val="15000"/>
                </a:sysClr>
              </a:solidFill>
              <a:miter lim="800000"/>
              <a:headEnd/>
              <a:tailEnd/>
            </a:ln>
          </p:spPr>
          <p:txBody>
            <a:bodyPr lIns="36000" tIns="18000" rIns="18000" bIns="18000" anchor="ctr"/>
            <a:lstStyle/>
            <a:p>
              <a:pPr algn="ctr" defTabSz="190500">
                <a:tabLst>
                  <a:tab pos="1238250" algn="l"/>
                </a:tabLst>
                <a:defRPr/>
              </a:pPr>
              <a:r>
                <a:rPr lang="en-US" altLang="ko-KR" sz="1000" b="1" kern="0" dirty="0">
                  <a:solidFill>
                    <a:sysClr val="windowText" lastClr="000000"/>
                  </a:solidFill>
                  <a:latin typeface="+mn-ea"/>
                </a:rPr>
                <a:t>MCI/APIG/W</a:t>
              </a:r>
              <a:endParaRPr lang="en-US" altLang="ko-KR" sz="1000" b="1" kern="0" dirty="0">
                <a:latin typeface="+mn-ea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3632021" y="1948769"/>
              <a:ext cx="1405216" cy="2128725"/>
              <a:chOff x="3219559" y="1031402"/>
              <a:chExt cx="1445411" cy="1965549"/>
            </a:xfrm>
          </p:grpSpPr>
          <p:grpSp>
            <p:nvGrpSpPr>
              <p:cNvPr id="30" name="그룹 29"/>
              <p:cNvGrpSpPr/>
              <p:nvPr/>
            </p:nvGrpSpPr>
            <p:grpSpPr>
              <a:xfrm>
                <a:off x="3219559" y="1031402"/>
                <a:ext cx="1445411" cy="1965549"/>
                <a:chOff x="3219558" y="1031403"/>
                <a:chExt cx="2682877" cy="2359497"/>
              </a:xfrm>
            </p:grpSpPr>
            <p:sp>
              <p:nvSpPr>
                <p:cNvPr id="32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2863111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kumimoji="0"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WAS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grpSp>
              <p:nvGrpSpPr>
                <p:cNvPr id="33" name="그룹 32"/>
                <p:cNvGrpSpPr/>
                <p:nvPr/>
              </p:nvGrpSpPr>
              <p:grpSpPr>
                <a:xfrm>
                  <a:off x="3219558" y="1031403"/>
                  <a:ext cx="2682877" cy="1829298"/>
                  <a:chOff x="3229083" y="1196753"/>
                  <a:chExt cx="2682877" cy="1829298"/>
                </a:xfrm>
              </p:grpSpPr>
              <p:sp>
                <p:nvSpPr>
                  <p:cNvPr id="35" name="AutoShap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5" y="1196753"/>
                    <a:ext cx="2682875" cy="1562236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   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1000" b="1" ker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온라인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3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229083" y="2670105"/>
                    <a:ext cx="2682875" cy="3559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rnd" algn="ctr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lIns="36000" rIns="36000" anchor="ctr"/>
                  <a:lstStyle/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 dirty="0" err="1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nkesa.war</a:t>
                    </a:r>
                    <a:endParaRPr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  <a:p>
                    <a:pPr algn="ctr" fontAlgn="auto" latinLnBrk="0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Font typeface="Wingdings" pitchFamily="2" charset="2"/>
                      <a:buNone/>
                      <a:defRPr/>
                    </a:pPr>
                    <a:r>
                      <a:rPr lang="en-US" altLang="ko-KR" sz="1000" b="1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(runtime)</a:t>
                    </a:r>
                    <a:endParaRPr kumimoji="0" lang="en-US" altLang="ko-KR" sz="1000" b="1" kern="0" dirty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sp>
              <p:nvSpPr>
                <p:cNvPr id="34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9558" y="3129594"/>
                  <a:ext cx="2682875" cy="261306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rnd" algn="ctr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lIns="36000" rIns="36000" anchor="ctr"/>
                <a:lstStyle/>
                <a:p>
                  <a:pPr algn="ctr" fontAlgn="auto" latinLnBrk="0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altLang="ko-KR" sz="1000" b="1" kern="0">
                      <a:solidFill>
                        <a:sysClr val="windowText" lastClr="000000"/>
                      </a:solidFill>
                      <a:latin typeface="맑은 고딕" pitchFamily="50" charset="-127"/>
                      <a:ea typeface="맑은 고딕" pitchFamily="50" charset="-127"/>
                    </a:rPr>
                    <a:t>JVM</a:t>
                  </a:r>
                  <a:endParaRPr kumimoji="0"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3219560" y="1407230"/>
                <a:ext cx="1445410" cy="8472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rnd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Application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(*.jar)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latin typeface="맑은 고딕" pitchFamily="50" charset="-127"/>
                    <a:ea typeface="맑은 고딕" pitchFamily="50" charset="-127"/>
                  </a:rPr>
                  <a:t>PU,FU,DU,DBIO</a:t>
                </a:r>
                <a:endParaRPr lang="ko-KR" altLang="en-US" sz="1000" b="1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6357156" y="5754858"/>
              <a:ext cx="844777" cy="482454"/>
              <a:chOff x="516388" y="4501640"/>
              <a:chExt cx="844777" cy="482454"/>
            </a:xfrm>
          </p:grpSpPr>
          <p:pic>
            <p:nvPicPr>
              <p:cNvPr id="38" name="Picture 105" descr="C:\Program Files\Microsoft Office\MEDIA\CAGCAT10\j0195384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739613" y="4501640"/>
                <a:ext cx="28575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" name="직사각형 38"/>
              <p:cNvSpPr/>
              <p:nvPr/>
            </p:nvSpPr>
            <p:spPr>
              <a:xfrm>
                <a:off x="516388" y="4855681"/>
                <a:ext cx="844777" cy="128413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ko-KR" altLang="en-US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개발자</a:t>
                </a:r>
                <a:r>
                  <a:rPr lang="en-US" altLang="ko-KR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/</a:t>
                </a:r>
                <a:r>
                  <a:rPr lang="ko-KR" altLang="en-US" sz="1000" b="1">
                    <a:solidFill>
                      <a:schemeClr val="tx1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Arial" pitchFamily="34" charset="0"/>
                  </a:rPr>
                  <a:t>운영자</a:t>
                </a:r>
                <a:endParaRPr lang="ko-KR" altLang="en-US" sz="1000" b="1" dirty="0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6004740" y="3708634"/>
              <a:ext cx="1010932" cy="403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배치 노드매니저</a:t>
              </a:r>
              <a:endParaRPr lang="en-US" altLang="ko-KR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47420" y="4802266"/>
              <a:ext cx="2266924" cy="2548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CM </a:t>
              </a:r>
              <a:r>
                <a:rPr lang="ko-KR" altLang="en-US"/>
                <a:t>에이전트</a:t>
              </a:r>
              <a:r>
                <a:rPr lang="en-US" altLang="ko-KR"/>
                <a:t>(</a:t>
              </a:r>
              <a:r>
                <a:rPr lang="ko-KR" altLang="en-US"/>
                <a:t>스테이징</a:t>
              </a:r>
              <a:r>
                <a:rPr lang="en-US" altLang="ko-KR"/>
                <a:t>, </a:t>
              </a:r>
              <a:r>
                <a:rPr lang="ko-KR" altLang="en-US"/>
                <a:t>운영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91415" y="1610935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WAS Instance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3" name="위쪽 화살표 42"/>
            <p:cNvSpPr/>
            <p:nvPr/>
          </p:nvSpPr>
          <p:spPr>
            <a:xfrm>
              <a:off x="4989944" y="4607458"/>
              <a:ext cx="864096" cy="144016"/>
            </a:xfrm>
            <a:prstGeom prst="upArrow">
              <a:avLst/>
            </a:prstGeom>
            <a:solidFill>
              <a:srgbClr val="E3E7E9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213140" y="5589240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웹 브라우저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0565" y="1140150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업무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01459" y="5575324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프레임워크 개발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13292" y="5603784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>
                  <a:cs typeface="Arial" pitchFamily="34" charset="0"/>
                </a:rPr>
                <a:t>프레임워크 관리 서버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479168" y="5823886"/>
              <a:ext cx="1042979" cy="40343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IDE Server</a:t>
              </a:r>
            </a:p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en-US" altLang="ko-KR"/>
                <a:t>(</a:t>
              </a:r>
              <a:r>
                <a:rPr lang="ko-KR" altLang="en-US"/>
                <a:t>개발 관리도구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04726" y="5823854"/>
              <a:ext cx="1010932" cy="403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프레임워크 </a:t>
              </a:r>
              <a:endParaRPr lang="en-US" altLang="ko-KR"/>
            </a:p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관리콘솔</a:t>
              </a:r>
              <a:endParaRPr lang="en-US" altLang="ko-KR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1641559" y="1709192"/>
              <a:ext cx="827155" cy="0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4154" y="5827351"/>
              <a:ext cx="419100" cy="400050"/>
            </a:xfrm>
            <a:prstGeom prst="rect">
              <a:avLst/>
            </a:prstGeom>
          </p:spPr>
        </p:pic>
        <p:sp>
          <p:nvSpPr>
            <p:cNvPr id="56" name="직사각형 55"/>
            <p:cNvSpPr/>
            <p:nvPr/>
          </p:nvSpPr>
          <p:spPr>
            <a:xfrm>
              <a:off x="2468715" y="1515298"/>
              <a:ext cx="720080" cy="4096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IBM HTTP </a:t>
              </a:r>
              <a:b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Server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57" name="꺾인 연결선 56"/>
            <p:cNvCxnSpPr>
              <a:stCxn id="38" idx="3"/>
            </p:cNvCxnSpPr>
            <p:nvPr/>
          </p:nvCxnSpPr>
          <p:spPr>
            <a:xfrm rot="10800000" flipV="1">
              <a:off x="6004743" y="5900907"/>
              <a:ext cx="575639" cy="12179"/>
            </a:xfrm>
            <a:prstGeom prst="bentConnector3">
              <a:avLst>
                <a:gd name="adj1" fmla="val -302"/>
              </a:avLst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>
              <a:cxnSpLocks/>
              <a:stCxn id="54" idx="3"/>
              <a:endCxn id="49" idx="1"/>
            </p:cNvCxnSpPr>
            <p:nvPr/>
          </p:nvCxnSpPr>
          <p:spPr>
            <a:xfrm flipV="1">
              <a:off x="1633254" y="6025606"/>
              <a:ext cx="845914" cy="1770"/>
            </a:xfrm>
            <a:prstGeom prst="bentConnector3">
              <a:avLst>
                <a:gd name="adj1" fmla="val 50000"/>
              </a:avLst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468715" y="4802266"/>
              <a:ext cx="2266924" cy="2548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/>
                <a:t>배포 에이전트</a:t>
              </a:r>
              <a:r>
                <a:rPr lang="en-US" altLang="ko-KR"/>
                <a:t>(</a:t>
              </a:r>
              <a:r>
                <a:rPr lang="ko-KR" altLang="en-US"/>
                <a:t>개발 환경</a:t>
              </a:r>
              <a:r>
                <a:rPr lang="en-US" altLang="ko-KR"/>
                <a:t>)</a:t>
              </a:r>
              <a:endParaRPr lang="en-US" altLang="ko-KR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46032" y="4595849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변경 관리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61" name="위쪽 화살표 60"/>
            <p:cNvSpPr/>
            <p:nvPr/>
          </p:nvSpPr>
          <p:spPr>
            <a:xfrm>
              <a:off x="2682715" y="4615205"/>
              <a:ext cx="864096" cy="144016"/>
            </a:xfrm>
            <a:prstGeom prst="upArrow">
              <a:avLst/>
            </a:prstGeom>
            <a:solidFill>
              <a:srgbClr val="E3E7E9"/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90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57294" y="4610573"/>
              <a:ext cx="1265479" cy="218384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50" b="1">
                  <a:cs typeface="Arial" pitchFamily="34" charset="0"/>
                </a:rPr>
                <a:t>(</a:t>
              </a:r>
              <a:r>
                <a:rPr lang="ko-KR" altLang="en-US" sz="1050" b="1">
                  <a:cs typeface="Arial" pitchFamily="34" charset="0"/>
                </a:rPr>
                <a:t>자동 배포</a:t>
              </a:r>
              <a:r>
                <a:rPr lang="en-US" altLang="ko-KR" sz="1050" b="1">
                  <a:cs typeface="Arial" pitchFamily="34" charset="0"/>
                </a:rPr>
                <a:t>)</a:t>
              </a:r>
              <a:endParaRPr lang="ko-KR" altLang="en-US" sz="1050" b="1" dirty="0">
                <a:cs typeface="Arial" pitchFamily="34" charset="0"/>
              </a:endParaRPr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1039008" y="3208180"/>
              <a:ext cx="602550" cy="2021020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>
                  <a:lumMod val="85000"/>
                  <a:lumOff val="15000"/>
                </a:sysClr>
              </a:solidFill>
              <a:miter lim="800000"/>
              <a:headEnd/>
              <a:tailEnd/>
            </a:ln>
          </p:spPr>
          <p:txBody>
            <a:bodyPr lIns="36000" tIns="18000" rIns="18000" bIns="18000" anchor="ctr"/>
            <a:lstStyle/>
            <a:p>
              <a:pPr algn="ctr" defTabSz="190500">
                <a:tabLst>
                  <a:tab pos="1238250" algn="l"/>
                </a:tabLst>
                <a:defRPr/>
              </a:pPr>
              <a:r>
                <a:rPr lang="en-US" altLang="ko-KR" sz="1000" b="1" kern="0" dirty="0">
                  <a:solidFill>
                    <a:sysClr val="windowText" lastClr="000000"/>
                  </a:solidFill>
                  <a:latin typeface="+mn-ea"/>
                </a:rPr>
                <a:t>EAI</a:t>
              </a:r>
              <a:endParaRPr lang="en-US" altLang="ko-KR" sz="1000" b="1" kern="0" dirty="0">
                <a:latin typeface="+mn-ea"/>
              </a:endParaRPr>
            </a:p>
          </p:txBody>
        </p:sp>
        <p:cxnSp>
          <p:nvCxnSpPr>
            <p:cNvPr id="64" name="직선 화살표 연결선 63"/>
            <p:cNvCxnSpPr>
              <a:stCxn id="56" idx="3"/>
            </p:cNvCxnSpPr>
            <p:nvPr/>
          </p:nvCxnSpPr>
          <p:spPr>
            <a:xfrm flipV="1">
              <a:off x="3188795" y="1633050"/>
              <a:ext cx="342309" cy="87077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/>
            <p:cNvCxnSpPr>
              <a:stCxn id="56" idx="3"/>
            </p:cNvCxnSpPr>
            <p:nvPr/>
          </p:nvCxnSpPr>
          <p:spPr>
            <a:xfrm>
              <a:off x="3188795" y="1720127"/>
              <a:ext cx="322899" cy="215945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/>
            <p:cNvCxnSpPr/>
            <p:nvPr/>
          </p:nvCxnSpPr>
          <p:spPr>
            <a:xfrm>
              <a:off x="3208549" y="1726811"/>
              <a:ext cx="322899" cy="12903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1641558" y="3510609"/>
              <a:ext cx="1870135" cy="0"/>
            </a:xfrm>
            <a:prstGeom prst="straightConnector1">
              <a:avLst/>
            </a:prstGeom>
            <a:ln w="1270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직사각형 67"/>
            <p:cNvSpPr/>
            <p:nvPr/>
          </p:nvSpPr>
          <p:spPr>
            <a:xfrm>
              <a:off x="2520392" y="1568275"/>
              <a:ext cx="720080" cy="4096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ko-KR" sz="900" dirty="0">
                  <a:solidFill>
                    <a:schemeClr val="tx1"/>
                  </a:solidFill>
                  <a:cs typeface="Arial" pitchFamily="34" charset="0"/>
                </a:rPr>
                <a:t>IBM HTTP </a:t>
              </a:r>
              <a:b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</a:br>
              <a:r>
                <a:rPr lang="en-US" altLang="ko-KR" sz="900">
                  <a:solidFill>
                    <a:schemeClr val="tx1"/>
                  </a:solidFill>
                  <a:cs typeface="Arial" pitchFamily="34" charset="0"/>
                </a:rPr>
                <a:t>Server</a:t>
              </a:r>
              <a:endParaRPr lang="ko-KR" altLang="en-US" sz="9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468714" y="5092121"/>
              <a:ext cx="1262209" cy="2548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 cap="flat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ctr">
                <a:spcBef>
                  <a:spcPts val="600"/>
                </a:spcBef>
                <a:defRPr sz="10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ts val="1000"/>
                </a:lnSpc>
                <a:spcBef>
                  <a:spcPts val="0"/>
                </a:spcBef>
                <a:defRPr/>
              </a:pPr>
              <a:r>
                <a:rPr lang="ko-KR" altLang="en-US" sz="900"/>
                <a:t>메타로더</a:t>
              </a:r>
              <a:r>
                <a:rPr lang="en-US" altLang="ko-KR" sz="900"/>
                <a:t>(</a:t>
              </a:r>
              <a:r>
                <a:rPr lang="ko-KR" altLang="en-US" sz="900"/>
                <a:t>개발 환경</a:t>
              </a:r>
              <a:r>
                <a:rPr lang="en-US" altLang="ko-KR" sz="900"/>
                <a:t>)</a:t>
              </a:r>
              <a:endParaRPr lang="en-US" altLang="ko-KR" sz="9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366" y="6261708"/>
              <a:ext cx="712129" cy="36380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50" b="1" dirty="0">
                  <a:cs typeface="Arial" pitchFamily="34" charset="0"/>
                </a:rPr>
                <a:t>개발도구</a:t>
              </a:r>
              <a:br>
                <a:rPr lang="en-US" altLang="ko-KR" sz="1050" b="1" dirty="0">
                  <a:cs typeface="Arial" pitchFamily="34" charset="0"/>
                </a:rPr>
              </a:br>
              <a:r>
                <a:rPr lang="en-US" altLang="ko-KR" sz="1050" b="1" dirty="0">
                  <a:cs typeface="Arial" pitchFamily="34" charset="0"/>
                </a:rPr>
                <a:t>IDE</a:t>
              </a:r>
              <a:endParaRPr lang="ko-KR" altLang="en-US" sz="1050" b="1" dirty="0">
                <a:cs typeface="Arial" pitchFamily="34" charset="0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335324E-5CB9-4278-B951-D65E696375D6}"/>
              </a:ext>
            </a:extLst>
          </p:cNvPr>
          <p:cNvGrpSpPr/>
          <p:nvPr/>
        </p:nvGrpSpPr>
        <p:grpSpPr>
          <a:xfrm>
            <a:off x="644136" y="5920236"/>
            <a:ext cx="551683" cy="634103"/>
            <a:chOff x="1375210" y="3247155"/>
            <a:chExt cx="551683" cy="634103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A942023-6AAF-40DB-BA69-EC1F92FDCECC}"/>
                </a:ext>
              </a:extLst>
            </p:cNvPr>
            <p:cNvSpPr txBox="1"/>
            <p:nvPr/>
          </p:nvSpPr>
          <p:spPr>
            <a:xfrm>
              <a:off x="1375210" y="3683713"/>
              <a:ext cx="551683" cy="1975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900" b="1" dirty="0">
                  <a:cs typeface="Arial" pitchFamily="34" charset="0"/>
                </a:rPr>
                <a:t>개발자</a:t>
              </a:r>
            </a:p>
          </p:txBody>
        </p:sp>
        <p:pic>
          <p:nvPicPr>
            <p:cNvPr id="73" name="Picture 117" descr="D:\모스트비주얼\아이콘 작업\01\02.png">
              <a:extLst>
                <a:ext uri="{FF2B5EF4-FFF2-40B4-BE49-F238E27FC236}">
                  <a16:creationId xmlns:a16="http://schemas.microsoft.com/office/drawing/2014/main" id="{34D59C60-ED53-44CE-98CD-54AAEE129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12970" y="3247155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31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컴포넌트 아키텍처</a:t>
            </a:r>
            <a:endParaRPr lang="ko-KR" altLang="en-US" dirty="0"/>
          </a:p>
        </p:txBody>
      </p:sp>
      <p:sp>
        <p:nvSpPr>
          <p:cNvPr id="231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>
                <a:latin typeface="+mn-ea"/>
              </a:rPr>
              <a:t>어플리케이션은 기본적으로 자바 클래스 내 메소드</a:t>
            </a:r>
            <a:r>
              <a:rPr lang="en-US" altLang="ko-KR">
                <a:latin typeface="+mn-ea"/>
              </a:rPr>
              <a:t>(</a:t>
            </a:r>
            <a:r>
              <a:rPr lang="ko-KR" altLang="en-US">
                <a:latin typeface="+mn-ea"/>
              </a:rPr>
              <a:t>함수</a:t>
            </a:r>
            <a:r>
              <a:rPr lang="en-US" altLang="ko-KR">
                <a:latin typeface="+mn-ea"/>
              </a:rPr>
              <a:t>)</a:t>
            </a:r>
            <a:r>
              <a:rPr lang="ko-KR" altLang="en-US">
                <a:latin typeface="+mn-ea"/>
              </a:rPr>
              <a:t>를 구현하여 개발한다</a:t>
            </a:r>
            <a:r>
              <a:rPr lang="en-US" altLang="ko-KR">
                <a:latin typeface="+mn-ea"/>
              </a:rPr>
              <a:t>.</a:t>
            </a:r>
          </a:p>
          <a:p>
            <a:r>
              <a:rPr lang="ko-KR" altLang="en-US">
                <a:latin typeface="+mn-ea"/>
              </a:rPr>
              <a:t>이 클래스들을 업무적으로 묶어 놓은 것을 컴포넌트라고 한다</a:t>
            </a:r>
            <a:r>
              <a:rPr lang="en-US" altLang="ko-KR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grpSp>
        <p:nvGrpSpPr>
          <p:cNvPr id="7" name="Canvas 21"/>
          <p:cNvGrpSpPr/>
          <p:nvPr/>
        </p:nvGrpSpPr>
        <p:grpSpPr>
          <a:xfrm>
            <a:off x="2003724" y="2106010"/>
            <a:ext cx="5656621" cy="3145175"/>
            <a:chOff x="0" y="0"/>
            <a:chExt cx="5656621" cy="3145175"/>
          </a:xfrm>
        </p:grpSpPr>
        <p:sp>
          <p:nvSpPr>
            <p:cNvPr id="8" name="직사각형 7"/>
            <p:cNvSpPr/>
            <p:nvPr/>
          </p:nvSpPr>
          <p:spPr>
            <a:xfrm>
              <a:off x="0" y="0"/>
              <a:ext cx="5656580" cy="3144520"/>
            </a:xfrm>
            <a:prstGeom prst="rect">
              <a:avLst/>
            </a:prstGeom>
          </p:spPr>
        </p:sp>
        <p:sp>
          <p:nvSpPr>
            <p:cNvPr id="9" name="직사각형 8"/>
            <p:cNvSpPr/>
            <p:nvPr/>
          </p:nvSpPr>
          <p:spPr>
            <a:xfrm>
              <a:off x="837723" y="36020"/>
              <a:ext cx="4622746" cy="2908611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just" latinLnBrk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kern="100">
                  <a:effectLst/>
                  <a:cs typeface="Times New Roman" panose="02020603050405020304" pitchFamily="18" charset="0"/>
                </a:rPr>
                <a:t> </a:t>
              </a:r>
              <a:endParaRPr lang="ko-KR" sz="1000" kern="100">
                <a:effectLst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033875" y="236563"/>
              <a:ext cx="4622746" cy="2908612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just" latinLnBrk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kern="100">
                  <a:effectLst/>
                  <a:cs typeface="Times New Roman" panose="02020603050405020304" pitchFamily="18" charset="0"/>
                </a:rPr>
                <a:t> </a:t>
              </a:r>
              <a:endParaRPr lang="ko-KR" sz="1000" kern="100">
                <a:effectLst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115639" y="838194"/>
              <a:ext cx="1279379" cy="90317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just" latinLnBrk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kern="100">
                  <a:effectLst/>
                  <a:cs typeface="Times New Roman" panose="02020603050405020304" pitchFamily="18" charset="0"/>
                </a:rPr>
                <a:t> </a:t>
              </a:r>
              <a:endParaRPr lang="ko-KR" sz="1000" kern="100">
                <a:effectLst/>
                <a:cs typeface="Times New Roman" panose="02020603050405020304" pitchFamily="18" charset="0"/>
              </a:endParaRPr>
            </a:p>
          </p:txBody>
        </p:sp>
        <p:grpSp>
          <p:nvGrpSpPr>
            <p:cNvPr id="18" name="그룹 17"/>
            <p:cNvGrpSpPr>
              <a:grpSpLocks/>
            </p:cNvGrpSpPr>
            <p:nvPr/>
          </p:nvGrpSpPr>
          <p:grpSpPr bwMode="auto">
            <a:xfrm>
              <a:off x="2017563" y="738654"/>
              <a:ext cx="1279379" cy="901713"/>
              <a:chOff x="2003425" y="762000"/>
              <a:chExt cx="474669" cy="328617"/>
            </a:xfrm>
          </p:grpSpPr>
          <p:sp>
            <p:nvSpPr>
              <p:cNvPr id="40" name="직사각형 39"/>
              <p:cNvSpPr/>
              <p:nvPr/>
            </p:nvSpPr>
            <p:spPr>
              <a:xfrm>
                <a:off x="2003425" y="762000"/>
                <a:ext cx="474669" cy="328617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타원 40"/>
              <p:cNvSpPr/>
              <p:nvPr/>
            </p:nvSpPr>
            <p:spPr>
              <a:xfrm>
                <a:off x="2179389" y="798276"/>
                <a:ext cx="249283" cy="249664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타원 41"/>
              <p:cNvSpPr/>
              <p:nvPr/>
            </p:nvSpPr>
            <p:spPr>
              <a:xfrm>
                <a:off x="2070226" y="798276"/>
                <a:ext cx="287843" cy="249664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latinLnBrk="1">
                  <a:spcAft>
                    <a:spcPts val="0"/>
                  </a:spcAft>
                </a:pPr>
                <a:r>
                  <a:rPr lang="ko-KR" sz="1200" kern="1200">
                    <a:solidFill>
                      <a:srgbClr val="000000"/>
                    </a:solidFill>
                    <a:effectLst/>
                    <a:latin typeface="Arial Unicode MS" panose="020B0604020202020204" pitchFamily="50" charset="-127"/>
                    <a:ea typeface="맑은 고딕" panose="020B0503020000020004" pitchFamily="50" charset="-127"/>
                  </a:rPr>
                  <a:t>메소드</a:t>
                </a:r>
                <a:endParaRPr lang="ko-KR" sz="1200">
                  <a:effectLst/>
                  <a:latin typeface="Arial Unicode MS" panose="020B0604020202020204" pitchFamily="50" charset="-127"/>
                  <a:ea typeface="Arial Unicode MS" panose="020B0604020202020204" pitchFamily="50" charset="-127"/>
                </a:endParaRPr>
              </a:p>
            </p:txBody>
          </p:sp>
        </p:grpSp>
        <p:sp>
          <p:nvSpPr>
            <p:cNvPr id="20" name="순서도: 문서 19"/>
            <p:cNvSpPr/>
            <p:nvPr/>
          </p:nvSpPr>
          <p:spPr>
            <a:xfrm>
              <a:off x="4574858" y="2041454"/>
              <a:ext cx="885611" cy="702634"/>
            </a:xfrm>
            <a:prstGeom prst="flowChartDocumen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 latinLnBrk="1">
                <a:spcAft>
                  <a:spcPts val="0"/>
                </a:spcAft>
              </a:pPr>
              <a:r>
                <a:rPr lang="en-US" sz="1200" kern="120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Arial Unicode MS" panose="020B0604020202020204" pitchFamily="50" charset="-127"/>
                </a:rPr>
                <a:t>XSQL</a:t>
              </a:r>
              <a:endParaRPr lang="ko-KR" sz="1200">
                <a:effectLst/>
                <a:latin typeface="Arial Unicode MS" panose="020B0604020202020204" pitchFamily="50" charset="-127"/>
                <a:ea typeface="Arial Unicode MS" panose="020B0604020202020204" pitchFamily="50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329567" y="2142458"/>
              <a:ext cx="1277916" cy="901713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just" latinLnBrk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kern="100">
                  <a:effectLst/>
                  <a:cs typeface="Times New Roman" panose="02020603050405020304" pitchFamily="18" charset="0"/>
                </a:rPr>
                <a:t> </a:t>
              </a:r>
              <a:endParaRPr lang="ko-KR" sz="1000" kern="100">
                <a:effectLst/>
                <a:cs typeface="Times New Roman" panose="02020603050405020304" pitchFamily="18" charset="0"/>
              </a:endParaRPr>
            </a:p>
          </p:txBody>
        </p:sp>
        <p:grpSp>
          <p:nvGrpSpPr>
            <p:cNvPr id="22" name="그룹 21"/>
            <p:cNvGrpSpPr>
              <a:grpSpLocks/>
            </p:cNvGrpSpPr>
            <p:nvPr/>
          </p:nvGrpSpPr>
          <p:grpSpPr bwMode="auto">
            <a:xfrm>
              <a:off x="1230027" y="2041454"/>
              <a:ext cx="1279379" cy="903177"/>
              <a:chOff x="1149350" y="2174875"/>
              <a:chExt cx="474669" cy="328617"/>
            </a:xfrm>
          </p:grpSpPr>
          <p:sp>
            <p:nvSpPr>
              <p:cNvPr id="37" name="직사각형 36"/>
              <p:cNvSpPr/>
              <p:nvPr/>
            </p:nvSpPr>
            <p:spPr>
              <a:xfrm>
                <a:off x="1149350" y="2174875"/>
                <a:ext cx="474669" cy="328617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타원 37"/>
              <p:cNvSpPr/>
              <p:nvPr/>
            </p:nvSpPr>
            <p:spPr>
              <a:xfrm>
                <a:off x="1325314" y="2211625"/>
                <a:ext cx="249283" cy="249259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1216151" y="2211625"/>
                <a:ext cx="292188" cy="249259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latinLnBrk="1">
                  <a:spcAft>
                    <a:spcPts val="0"/>
                  </a:spcAft>
                </a:pPr>
                <a:r>
                  <a:rPr lang="ko-KR" sz="1200" kern="1200">
                    <a:solidFill>
                      <a:srgbClr val="000000"/>
                    </a:solidFill>
                    <a:effectLst/>
                    <a:latin typeface="Arial Unicode MS" panose="020B0604020202020204" pitchFamily="50" charset="-127"/>
                    <a:ea typeface="맑은 고딕" panose="020B0503020000020004" pitchFamily="50" charset="-127"/>
                  </a:rPr>
                  <a:t>메소드</a:t>
                </a:r>
                <a:endParaRPr lang="ko-KR" sz="1200">
                  <a:effectLst/>
                  <a:latin typeface="Arial Unicode MS" panose="020B0604020202020204" pitchFamily="50" charset="-127"/>
                  <a:ea typeface="Arial Unicode MS" panose="020B0604020202020204" pitchFamily="50" charset="-127"/>
                </a:endParaRPr>
              </a:p>
            </p:txBody>
          </p:sp>
        </p:grpSp>
        <p:sp>
          <p:nvSpPr>
            <p:cNvPr id="23" name="직사각형 22"/>
            <p:cNvSpPr/>
            <p:nvPr/>
          </p:nvSpPr>
          <p:spPr>
            <a:xfrm>
              <a:off x="3001250" y="2142458"/>
              <a:ext cx="1279380" cy="901713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just" latinLnBrk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kern="100">
                  <a:effectLst/>
                  <a:cs typeface="Times New Roman" panose="02020603050405020304" pitchFamily="18" charset="0"/>
                </a:rPr>
                <a:t> </a:t>
              </a:r>
              <a:endParaRPr lang="ko-KR" sz="1000" kern="100">
                <a:effectLst/>
                <a:cs typeface="Times New Roman" panose="02020603050405020304" pitchFamily="18" charset="0"/>
              </a:endParaRPr>
            </a:p>
          </p:txBody>
        </p:sp>
        <p:grpSp>
          <p:nvGrpSpPr>
            <p:cNvPr id="24" name="그룹 23"/>
            <p:cNvGrpSpPr>
              <a:grpSpLocks/>
            </p:cNvGrpSpPr>
            <p:nvPr/>
          </p:nvGrpSpPr>
          <p:grpSpPr bwMode="auto">
            <a:xfrm>
              <a:off x="2903175" y="2041454"/>
              <a:ext cx="1277915" cy="903177"/>
              <a:chOff x="2963863" y="2174875"/>
              <a:chExt cx="474669" cy="328617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2963863" y="2174875"/>
                <a:ext cx="474669" cy="328617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3140029" y="2211625"/>
                <a:ext cx="249025" cy="249259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just" latinLnBrk="1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000" kern="100">
                    <a:effectLst/>
                    <a:cs typeface="Times New Roman" panose="02020603050405020304" pitchFamily="18" charset="0"/>
                  </a:rPr>
                  <a:t> </a:t>
                </a:r>
                <a:endParaRPr lang="ko-KR" sz="1000" kern="100">
                  <a:effectLst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3030628" y="2211522"/>
                <a:ext cx="301451" cy="249259"/>
              </a:xfrm>
              <a:prstGeom prst="ellipse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latinLnBrk="1">
                  <a:spcAft>
                    <a:spcPts val="0"/>
                  </a:spcAft>
                </a:pPr>
                <a:r>
                  <a:rPr lang="ko-KR" sz="1200" kern="1200">
                    <a:solidFill>
                      <a:srgbClr val="000000"/>
                    </a:solidFill>
                    <a:effectLst/>
                    <a:latin typeface="Arial Unicode MS" panose="020B0604020202020204" pitchFamily="50" charset="-127"/>
                    <a:ea typeface="맑은 고딕" panose="020B0503020000020004" pitchFamily="50" charset="-127"/>
                  </a:rPr>
                  <a:t>메소드</a:t>
                </a:r>
                <a:endParaRPr lang="ko-KR" sz="1200">
                  <a:effectLst/>
                  <a:latin typeface="Arial Unicode MS" panose="020B0604020202020204" pitchFamily="50" charset="-127"/>
                  <a:ea typeface="Arial Unicode MS" panose="020B0604020202020204" pitchFamily="50" charset="-127"/>
                </a:endParaRPr>
              </a:p>
            </p:txBody>
          </p:sp>
        </p:grpSp>
        <p:cxnSp>
          <p:nvCxnSpPr>
            <p:cNvPr id="25" name="직선 화살표 연결선 24"/>
            <p:cNvCxnSpPr>
              <a:stCxn id="42" idx="4"/>
              <a:endCxn id="39" idx="0"/>
            </p:cNvCxnSpPr>
            <p:nvPr/>
          </p:nvCxnSpPr>
          <p:spPr>
            <a:xfrm flipH="1">
              <a:off x="1803845" y="1523263"/>
              <a:ext cx="781680" cy="619195"/>
            </a:xfrm>
            <a:prstGeom prst="straightConnector1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tailEnd type="arrow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42" idx="4"/>
              <a:endCxn id="36" idx="0"/>
            </p:cNvCxnSpPr>
            <p:nvPr/>
          </p:nvCxnSpPr>
          <p:spPr>
            <a:xfrm>
              <a:off x="2585525" y="1523263"/>
              <a:ext cx="903184" cy="618912"/>
            </a:xfrm>
            <a:prstGeom prst="straightConnector1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tailEnd type="arrow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4280630" y="2142458"/>
              <a:ext cx="294228" cy="4391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4280630" y="2241997"/>
              <a:ext cx="294228" cy="4392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TextBox 53"/>
            <p:cNvSpPr txBox="1">
              <a:spLocks noChangeArrowheads="1"/>
            </p:cNvSpPr>
            <p:nvPr/>
          </p:nvSpPr>
          <p:spPr bwMode="auto">
            <a:xfrm>
              <a:off x="1972272" y="484277"/>
              <a:ext cx="1870709" cy="3644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latinLnBrk="1">
                <a:spcAft>
                  <a:spcPts val="0"/>
                </a:spcAft>
              </a:pPr>
              <a:r>
                <a:rPr lang="ko-KR" sz="1200" kern="1200">
                  <a:solidFill>
                    <a:srgbClr val="000000"/>
                  </a:solidFill>
                  <a:effectLst/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유닛</a:t>
              </a:r>
              <a:r>
                <a:rPr lang="en-US" sz="1200" kern="1200">
                  <a:solidFill>
                    <a:srgbClr val="000000"/>
                  </a:solidFill>
                  <a:effectLst/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 (= Java Class)</a:t>
              </a:r>
              <a:endParaRPr lang="ko-KR" sz="1200">
                <a:effectLst/>
                <a:latin typeface="Arial Unicode MS" panose="020B0604020202020204" pitchFamily="50" charset="-127"/>
                <a:ea typeface="Arial Unicode MS" panose="020B0604020202020204" pitchFamily="50" charset="-127"/>
              </a:endParaRPr>
            </a:p>
          </p:txBody>
        </p:sp>
        <p:sp>
          <p:nvSpPr>
            <p:cNvPr id="30" name="TextBox 54"/>
            <p:cNvSpPr txBox="1">
              <a:spLocks noChangeArrowheads="1"/>
            </p:cNvSpPr>
            <p:nvPr/>
          </p:nvSpPr>
          <p:spPr bwMode="auto">
            <a:xfrm>
              <a:off x="1399462" y="1774293"/>
              <a:ext cx="49368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 latinLnBrk="1">
                <a:spcAft>
                  <a:spcPts val="0"/>
                </a:spcAft>
              </a:pPr>
              <a:r>
                <a:rPr lang="ko-KR" sz="1200" kern="1200">
                  <a:solidFill>
                    <a:srgbClr val="000000"/>
                  </a:solidFill>
                  <a:effectLst/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유닛</a:t>
              </a:r>
              <a:endParaRPr lang="ko-KR" sz="1200">
                <a:effectLst/>
                <a:latin typeface="Arial Unicode MS" panose="020B0604020202020204" pitchFamily="50" charset="-127"/>
                <a:ea typeface="Arial Unicode MS" panose="020B0604020202020204" pitchFamily="50" charset="-127"/>
              </a:endParaRPr>
            </a:p>
          </p:txBody>
        </p:sp>
        <p:sp>
          <p:nvSpPr>
            <p:cNvPr id="31" name="TextBox 55"/>
            <p:cNvSpPr txBox="1">
              <a:spLocks noChangeArrowheads="1"/>
            </p:cNvSpPr>
            <p:nvPr/>
          </p:nvSpPr>
          <p:spPr bwMode="auto">
            <a:xfrm>
              <a:off x="3385475" y="1770744"/>
              <a:ext cx="50901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 latinLnBrk="1">
                <a:spcAft>
                  <a:spcPts val="0"/>
                </a:spcAft>
              </a:pPr>
              <a:r>
                <a:rPr lang="ko-KR" sz="1200" kern="1200">
                  <a:solidFill>
                    <a:srgbClr val="000000"/>
                  </a:solidFill>
                  <a:effectLst/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유닛</a:t>
              </a:r>
              <a:endParaRPr lang="ko-KR" sz="1200">
                <a:effectLst/>
                <a:latin typeface="Arial Unicode MS" panose="020B0604020202020204" pitchFamily="50" charset="-127"/>
                <a:ea typeface="Arial Unicode MS" panose="020B0604020202020204" pitchFamily="50" charset="-127"/>
              </a:endParaRPr>
            </a:p>
          </p:txBody>
        </p:sp>
        <p:sp>
          <p:nvSpPr>
            <p:cNvPr id="32" name="TextBox 56"/>
            <p:cNvSpPr txBox="1">
              <a:spLocks noChangeArrowheads="1"/>
            </p:cNvSpPr>
            <p:nvPr/>
          </p:nvSpPr>
          <p:spPr bwMode="auto">
            <a:xfrm>
              <a:off x="995716" y="229210"/>
              <a:ext cx="354012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latinLnBrk="1">
                <a:spcAft>
                  <a:spcPts val="0"/>
                </a:spcAft>
              </a:pPr>
              <a:r>
                <a:rPr lang="ko-KR" sz="1200" kern="1200">
                  <a:solidFill>
                    <a:srgbClr val="000000"/>
                  </a:solidFill>
                  <a:effectLst/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컴포넌트</a:t>
              </a:r>
              <a:r>
                <a:rPr lang="en-US" altLang="ko-KR" sz="1200">
                  <a:solidFill>
                    <a:srgbClr val="000000"/>
                  </a:solidFill>
                  <a:latin typeface="Arial Unicode MS" panose="020B0604020202020204" pitchFamily="50" charset="-127"/>
                  <a:ea typeface="맑은 고딕" panose="020B0503020000020004" pitchFamily="50" charset="-127"/>
                </a:rPr>
                <a:t>(Jar)</a:t>
              </a:r>
              <a:endParaRPr lang="ko-KR" sz="1200">
                <a:effectLst/>
                <a:latin typeface="Arial Unicode MS" panose="020B0604020202020204" pitchFamily="50" charset="-127"/>
                <a:ea typeface="Arial Unicode MS" panose="020B0604020202020204" pitchFamily="50" charset="-127"/>
              </a:endParaRPr>
            </a:p>
          </p:txBody>
        </p:sp>
        <p:cxnSp>
          <p:nvCxnSpPr>
            <p:cNvPr id="33" name="직선 화살표 연결선 32"/>
            <p:cNvCxnSpPr>
              <a:stCxn id="39" idx="6"/>
              <a:endCxn id="36" idx="2"/>
            </p:cNvCxnSpPr>
            <p:nvPr/>
          </p:nvCxnSpPr>
          <p:spPr>
            <a:xfrm flipV="1">
              <a:off x="2197613" y="2484663"/>
              <a:ext cx="885309" cy="329"/>
            </a:xfrm>
            <a:prstGeom prst="straightConnector1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tailEnd type="arrow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순서도: 문서 18"/>
            <p:cNvSpPr/>
            <p:nvPr/>
          </p:nvSpPr>
          <p:spPr>
            <a:xfrm>
              <a:off x="4713472" y="2422020"/>
              <a:ext cx="885612" cy="701170"/>
            </a:xfrm>
            <a:prstGeom prst="flowChartDocumen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 latinLnBrk="1"/>
              <a:r>
                <a:rPr lang="en-US" altLang="ko-KR" sz="1200">
                  <a:solidFill>
                    <a:srgbClr val="000000"/>
                  </a:solidFill>
                  <a:latin typeface="맑은 고딕" panose="020B0503020000020004" pitchFamily="50" charset="-127"/>
                  <a:ea typeface="Arial Unicode MS" panose="020B0604020202020204" pitchFamily="50" charset="-127"/>
                </a:rPr>
                <a:t>DBIO</a:t>
              </a:r>
              <a:endParaRPr lang="ko-KR" sz="1200">
                <a:solidFill>
                  <a:srgbClr val="000000"/>
                </a:solidFill>
                <a:latin typeface="맑은 고딕" panose="020B0503020000020004" pitchFamily="50" charset="-127"/>
                <a:ea typeface="Arial Unicode MS" panose="020B0604020202020204" pitchFamily="50" charset="-127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88504" y="5405620"/>
            <a:ext cx="8912230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>
                <a:latin typeface="+mn-ea"/>
                <a:cs typeface="Arial" pitchFamily="34" charset="0"/>
              </a:rPr>
              <a:t>하나의 컴포넌트는 하나의 </a:t>
            </a:r>
            <a:r>
              <a:rPr lang="en-US" altLang="ko-KR" sz="1200">
                <a:latin typeface="+mn-ea"/>
                <a:cs typeface="Arial" pitchFamily="34" charset="0"/>
              </a:rPr>
              <a:t>jar</a:t>
            </a:r>
            <a:r>
              <a:rPr lang="ko-KR" altLang="en-US" sz="1200">
                <a:latin typeface="+mn-ea"/>
                <a:cs typeface="Arial" pitchFamily="34" charset="0"/>
              </a:rPr>
              <a:t>로 패키징되어 배포됨</a:t>
            </a:r>
            <a:endParaRPr lang="en-US" altLang="ko-KR" sz="1200">
              <a:latin typeface="+mn-ea"/>
              <a:cs typeface="Arial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>
                <a:latin typeface="+mn-ea"/>
                <a:cs typeface="Arial" pitchFamily="34" charset="0"/>
              </a:rPr>
              <a:t>어플리케이션 코드 하위에는 업무별로 분류한 다수의 컴포넌트가 존재함</a:t>
            </a:r>
            <a:endParaRPr lang="en-US" altLang="ko-KR" sz="1200">
              <a:latin typeface="+mn-ea"/>
              <a:cs typeface="Arial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ko-KR" sz="1200">
                <a:latin typeface="+mn-ea"/>
              </a:rPr>
              <a:t>컴포넌트 내 클래스 간에는 직접 호출이 가능하며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ko-KR" sz="1200">
                <a:latin typeface="+mn-ea"/>
              </a:rPr>
              <a:t>타 컴포넌트 메소드를 호출할 때는 프레임워크에서 제공하는 별도</a:t>
            </a:r>
            <a:r>
              <a:rPr lang="en-US" altLang="ko-KR" sz="1200">
                <a:latin typeface="+mn-ea"/>
              </a:rPr>
              <a:t> API </a:t>
            </a:r>
            <a:r>
              <a:rPr lang="ko-KR" altLang="ko-KR" sz="1200">
                <a:latin typeface="+mn-ea"/>
              </a:rPr>
              <a:t>를 통해서만 호출가능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2454" y="1417848"/>
            <a:ext cx="2003850" cy="51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b="1" dirty="0">
                <a:cs typeface="Arial" pitchFamily="34" charset="0"/>
              </a:rPr>
              <a:t>어플리케이션 코드 </a:t>
            </a:r>
            <a:r>
              <a:rPr lang="en-US" altLang="ko-KR" sz="1200" b="1" dirty="0">
                <a:cs typeface="Arial" pitchFamily="34" charset="0"/>
              </a:rPr>
              <a:t>(3</a:t>
            </a:r>
            <a:r>
              <a:rPr lang="ko-KR" altLang="en-US" sz="1200" b="1" dirty="0">
                <a:cs typeface="Arial" pitchFamily="34" charset="0"/>
              </a:rPr>
              <a:t>자리</a:t>
            </a:r>
            <a:r>
              <a:rPr lang="en-US" altLang="ko-KR" sz="1200" b="1" dirty="0">
                <a:cs typeface="Arial" pitchFamily="34" charset="0"/>
              </a:rPr>
              <a:t>)</a:t>
            </a:r>
            <a:endParaRPr lang="ko-KR" altLang="en-US" sz="1200" b="1" dirty="0">
              <a:cs typeface="Arial" pitchFamily="34" charset="0"/>
            </a:endParaRPr>
          </a:p>
        </p:txBody>
      </p:sp>
      <p:cxnSp>
        <p:nvCxnSpPr>
          <p:cNvPr id="45" name="직선 화살표 연결선 152"/>
          <p:cNvCxnSpPr/>
          <p:nvPr/>
        </p:nvCxnSpPr>
        <p:spPr>
          <a:xfrm rot="16200000" flipH="1">
            <a:off x="2043737" y="2302989"/>
            <a:ext cx="1156218" cy="42457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152"/>
          <p:cNvCxnSpPr>
            <a:endCxn id="16" idx="1"/>
          </p:cNvCxnSpPr>
          <p:nvPr/>
        </p:nvCxnSpPr>
        <p:spPr>
          <a:xfrm rot="16200000" flipH="1">
            <a:off x="1784159" y="2543438"/>
            <a:ext cx="1872101" cy="634779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40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계층구조 </a:t>
            </a:r>
            <a:endParaRPr lang="ko-KR" altLang="en-US" dirty="0"/>
          </a:p>
        </p:txBody>
      </p:sp>
      <p:sp>
        <p:nvSpPr>
          <p:cNvPr id="86" name="텍스트 개체 틀 2">
            <a:extLst>
              <a:ext uri="{FF2B5EF4-FFF2-40B4-BE49-F238E27FC236}">
                <a16:creationId xmlns:a16="http://schemas.microsoft.com/office/drawing/2014/main" id="{8BCDABB6-D701-44C2-9DB0-57A92334CA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/>
              <a:t>어플리케이션의 계층 구조는 </a:t>
            </a:r>
            <a:r>
              <a:rPr lang="en-US" altLang="ko-KR" b="1" dirty="0"/>
              <a:t>PU</a:t>
            </a:r>
            <a:r>
              <a:rPr lang="en-US" altLang="ko-KR" dirty="0"/>
              <a:t>(Process Unit), </a:t>
            </a:r>
            <a:r>
              <a:rPr lang="en-US" altLang="ko-KR" b="1" dirty="0"/>
              <a:t>FU</a:t>
            </a:r>
            <a:r>
              <a:rPr lang="en-US" altLang="ko-KR" dirty="0"/>
              <a:t>(Function Unit), </a:t>
            </a:r>
            <a:r>
              <a:rPr lang="en-US" altLang="ko-KR" b="1" dirty="0"/>
              <a:t>DU</a:t>
            </a:r>
            <a:r>
              <a:rPr lang="en-US" altLang="ko-KR" dirty="0"/>
              <a:t>(Data Unit), </a:t>
            </a:r>
            <a:r>
              <a:rPr lang="en-US" altLang="ko-KR" b="1" dirty="0"/>
              <a:t>DBIO</a:t>
            </a:r>
            <a:r>
              <a:rPr lang="en-US" altLang="ko-KR" dirty="0"/>
              <a:t> </a:t>
            </a:r>
            <a:r>
              <a:rPr lang="ko-KR" altLang="en-US" dirty="0"/>
              <a:t>로 구성한다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7" name="자유형 8">
            <a:extLst>
              <a:ext uri="{FF2B5EF4-FFF2-40B4-BE49-F238E27FC236}">
                <a16:creationId xmlns:a16="http://schemas.microsoft.com/office/drawing/2014/main" id="{50D1A7B3-387D-4C70-A6F8-51C24B374377}"/>
              </a:ext>
            </a:extLst>
          </p:cNvPr>
          <p:cNvSpPr/>
          <p:nvPr/>
        </p:nvSpPr>
        <p:spPr>
          <a:xfrm>
            <a:off x="821086" y="1511002"/>
            <a:ext cx="384561" cy="4110528"/>
          </a:xfrm>
          <a:custGeom>
            <a:avLst/>
            <a:gdLst>
              <a:gd name="connsiteX0" fmla="*/ 384561 w 384561"/>
              <a:gd name="connsiteY0" fmla="*/ 0 h 4110528"/>
              <a:gd name="connsiteX1" fmla="*/ 384561 w 384561"/>
              <a:gd name="connsiteY1" fmla="*/ 3187582 h 4110528"/>
              <a:gd name="connsiteX2" fmla="*/ 8546 w 384561"/>
              <a:gd name="connsiteY2" fmla="*/ 4110528 h 4110528"/>
              <a:gd name="connsiteX3" fmla="*/ 0 w 384561"/>
              <a:gd name="connsiteY3" fmla="*/ 948584 h 4110528"/>
              <a:gd name="connsiteX4" fmla="*/ 384561 w 384561"/>
              <a:gd name="connsiteY4" fmla="*/ 0 h 4110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561" h="4110528">
                <a:moveTo>
                  <a:pt x="384561" y="0"/>
                </a:moveTo>
                <a:lnTo>
                  <a:pt x="384561" y="3187582"/>
                </a:lnTo>
                <a:lnTo>
                  <a:pt x="8546" y="4110528"/>
                </a:lnTo>
                <a:cubicBezTo>
                  <a:pt x="5697" y="3056547"/>
                  <a:pt x="2849" y="2002565"/>
                  <a:pt x="0" y="948584"/>
                </a:cubicBezTo>
                <a:lnTo>
                  <a:pt x="384561" y="0"/>
                </a:lnTo>
                <a:close/>
              </a:path>
            </a:pathLst>
          </a:cu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A78DA06-C290-4F2A-894D-8F6F72995ABF}"/>
              </a:ext>
            </a:extLst>
          </p:cNvPr>
          <p:cNvSpPr/>
          <p:nvPr/>
        </p:nvSpPr>
        <p:spPr>
          <a:xfrm>
            <a:off x="6432261" y="230566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89" name="Group 284">
            <a:extLst>
              <a:ext uri="{FF2B5EF4-FFF2-40B4-BE49-F238E27FC236}">
                <a16:creationId xmlns:a16="http://schemas.microsoft.com/office/drawing/2014/main" id="{D23063B8-066D-455D-8047-A4CB3DDBD9EF}"/>
              </a:ext>
            </a:extLst>
          </p:cNvPr>
          <p:cNvGrpSpPr/>
          <p:nvPr/>
        </p:nvGrpSpPr>
        <p:grpSpPr bwMode="gray">
          <a:xfrm>
            <a:off x="723440" y="1160748"/>
            <a:ext cx="4389089" cy="334183"/>
            <a:chOff x="4179312" y="1849485"/>
            <a:chExt cx="1363719" cy="334183"/>
          </a:xfrm>
          <a:solidFill>
            <a:schemeClr val="bg1"/>
          </a:solidFill>
        </p:grpSpPr>
        <p:cxnSp>
          <p:nvCxnSpPr>
            <p:cNvPr id="90" name="Straight Connector 285">
              <a:extLst>
                <a:ext uri="{FF2B5EF4-FFF2-40B4-BE49-F238E27FC236}">
                  <a16:creationId xmlns:a16="http://schemas.microsoft.com/office/drawing/2014/main" id="{663C057A-9A87-4B5D-869B-391BD4BDED43}"/>
                </a:ext>
              </a:extLst>
            </p:cNvPr>
            <p:cNvCxnSpPr/>
            <p:nvPr/>
          </p:nvCxnSpPr>
          <p:spPr bwMode="gray">
            <a:xfrm>
              <a:off x="4179312" y="2183668"/>
              <a:ext cx="1363719" cy="0"/>
            </a:xfrm>
            <a:prstGeom prst="line">
              <a:avLst/>
            </a:prstGeom>
            <a:grpFill/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4F7BF-C79A-4604-84BA-287245B94C48}"/>
                </a:ext>
              </a:extLst>
            </p:cNvPr>
            <p:cNvSpPr txBox="1"/>
            <p:nvPr/>
          </p:nvSpPr>
          <p:spPr bwMode="gray">
            <a:xfrm>
              <a:off x="4690590" y="1849485"/>
              <a:ext cx="559180" cy="307777"/>
            </a:xfrm>
            <a:prstGeom prst="rect">
              <a:avLst/>
            </a:prstGeom>
            <a:grp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어플리케이션 계층 구조</a:t>
              </a:r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F4053C3-4EE3-4261-B316-9A105063485E}"/>
              </a:ext>
            </a:extLst>
          </p:cNvPr>
          <p:cNvSpPr/>
          <p:nvPr/>
        </p:nvSpPr>
        <p:spPr>
          <a:xfrm>
            <a:off x="561423" y="1638946"/>
            <a:ext cx="4679609" cy="4133616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C55E6B0-EE45-44B4-87F4-27F5EB7061BE}"/>
              </a:ext>
            </a:extLst>
          </p:cNvPr>
          <p:cNvSpPr/>
          <p:nvPr/>
        </p:nvSpPr>
        <p:spPr>
          <a:xfrm>
            <a:off x="200472" y="245689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64DC060-1D46-4F32-9C03-810D4A4DF019}"/>
              </a:ext>
            </a:extLst>
          </p:cNvPr>
          <p:cNvSpPr/>
          <p:nvPr/>
        </p:nvSpPr>
        <p:spPr>
          <a:xfrm>
            <a:off x="200472" y="263691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평행 사변형 94">
            <a:extLst>
              <a:ext uri="{FF2B5EF4-FFF2-40B4-BE49-F238E27FC236}">
                <a16:creationId xmlns:a16="http://schemas.microsoft.com/office/drawing/2014/main" id="{84F92D2A-3916-47D5-8A40-F09EA65DD66C}"/>
              </a:ext>
            </a:extLst>
          </p:cNvPr>
          <p:cNvSpPr/>
          <p:nvPr/>
        </p:nvSpPr>
        <p:spPr>
          <a:xfrm>
            <a:off x="826621" y="2012635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평행 사변형 95">
            <a:extLst>
              <a:ext uri="{FF2B5EF4-FFF2-40B4-BE49-F238E27FC236}">
                <a16:creationId xmlns:a16="http://schemas.microsoft.com/office/drawing/2014/main" id="{244ECDB2-CF05-423D-B17E-3552854F52D2}"/>
              </a:ext>
            </a:extLst>
          </p:cNvPr>
          <p:cNvSpPr/>
          <p:nvPr/>
        </p:nvSpPr>
        <p:spPr>
          <a:xfrm>
            <a:off x="1928664" y="2093867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7" name="모서리가 둥근 직사각형 18">
            <a:extLst>
              <a:ext uri="{FF2B5EF4-FFF2-40B4-BE49-F238E27FC236}">
                <a16:creationId xmlns:a16="http://schemas.microsoft.com/office/drawing/2014/main" id="{0FD4F7F4-801D-4EFF-9463-7A3DCC1C9D19}"/>
              </a:ext>
            </a:extLst>
          </p:cNvPr>
          <p:cNvSpPr/>
          <p:nvPr/>
        </p:nvSpPr>
        <p:spPr>
          <a:xfrm>
            <a:off x="2612740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8" name="모서리가 둥근 직사각형 19">
            <a:extLst>
              <a:ext uri="{FF2B5EF4-FFF2-40B4-BE49-F238E27FC236}">
                <a16:creationId xmlns:a16="http://schemas.microsoft.com/office/drawing/2014/main" id="{6BE15A82-5EFE-46E7-B049-B35F8657337E}"/>
              </a:ext>
            </a:extLst>
          </p:cNvPr>
          <p:cNvSpPr/>
          <p:nvPr/>
        </p:nvSpPr>
        <p:spPr>
          <a:xfrm>
            <a:off x="4124908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9" name="모서리가 둥근 직사각형 20">
            <a:extLst>
              <a:ext uri="{FF2B5EF4-FFF2-40B4-BE49-F238E27FC236}">
                <a16:creationId xmlns:a16="http://schemas.microsoft.com/office/drawing/2014/main" id="{C6BD11C1-F0D8-428C-934A-E08BE5616B2A}"/>
              </a:ext>
            </a:extLst>
          </p:cNvPr>
          <p:cNvSpPr/>
          <p:nvPr/>
        </p:nvSpPr>
        <p:spPr>
          <a:xfrm>
            <a:off x="3260812" y="2427106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5C3ECE3-9856-4468-9D06-307E4B01B03A}"/>
              </a:ext>
            </a:extLst>
          </p:cNvPr>
          <p:cNvCxnSpPr>
            <a:stCxn id="148" idx="6"/>
            <a:endCxn id="97" idx="1"/>
          </p:cNvCxnSpPr>
          <p:nvPr/>
        </p:nvCxnSpPr>
        <p:spPr>
          <a:xfrm>
            <a:off x="200472" y="2327882"/>
            <a:ext cx="2412268" cy="1"/>
          </a:xfrm>
          <a:prstGeom prst="straightConnector1">
            <a:avLst/>
          </a:prstGeom>
          <a:ln w="19050" cap="flat">
            <a:solidFill>
              <a:schemeClr val="accent5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평행 사변형 100">
            <a:extLst>
              <a:ext uri="{FF2B5EF4-FFF2-40B4-BE49-F238E27FC236}">
                <a16:creationId xmlns:a16="http://schemas.microsoft.com/office/drawing/2014/main" id="{C776F3BA-C9E9-4DD0-9B5E-664002444B79}"/>
              </a:ext>
            </a:extLst>
          </p:cNvPr>
          <p:cNvSpPr/>
          <p:nvPr/>
        </p:nvSpPr>
        <p:spPr>
          <a:xfrm>
            <a:off x="826621" y="3353784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2" name="평행 사변형 101">
            <a:extLst>
              <a:ext uri="{FF2B5EF4-FFF2-40B4-BE49-F238E27FC236}">
                <a16:creationId xmlns:a16="http://schemas.microsoft.com/office/drawing/2014/main" id="{82D1422F-F935-4A6F-9AC4-A43588955D73}"/>
              </a:ext>
            </a:extLst>
          </p:cNvPr>
          <p:cNvSpPr/>
          <p:nvPr/>
        </p:nvSpPr>
        <p:spPr>
          <a:xfrm>
            <a:off x="1928664" y="3435016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3" name="평행 사변형 102">
            <a:extLst>
              <a:ext uri="{FF2B5EF4-FFF2-40B4-BE49-F238E27FC236}">
                <a16:creationId xmlns:a16="http://schemas.microsoft.com/office/drawing/2014/main" id="{04F92682-7507-4F6A-A259-8A45541F2C57}"/>
              </a:ext>
            </a:extLst>
          </p:cNvPr>
          <p:cNvSpPr/>
          <p:nvPr/>
        </p:nvSpPr>
        <p:spPr>
          <a:xfrm>
            <a:off x="826622" y="4694933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평행 사변형 103">
            <a:extLst>
              <a:ext uri="{FF2B5EF4-FFF2-40B4-BE49-F238E27FC236}">
                <a16:creationId xmlns:a16="http://schemas.microsoft.com/office/drawing/2014/main" id="{EC24D618-375C-4866-975C-130405839399}"/>
              </a:ext>
            </a:extLst>
          </p:cNvPr>
          <p:cNvSpPr/>
          <p:nvPr/>
        </p:nvSpPr>
        <p:spPr>
          <a:xfrm>
            <a:off x="1349663" y="4776165"/>
            <a:ext cx="1636087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5" name="모서리가 둥근 직사각형 26">
            <a:extLst>
              <a:ext uri="{FF2B5EF4-FFF2-40B4-BE49-F238E27FC236}">
                <a16:creationId xmlns:a16="http://schemas.microsoft.com/office/drawing/2014/main" id="{66EF1830-5270-40C3-9CFE-18BF370B814B}"/>
              </a:ext>
            </a:extLst>
          </p:cNvPr>
          <p:cNvSpPr/>
          <p:nvPr/>
        </p:nvSpPr>
        <p:spPr>
          <a:xfrm>
            <a:off x="2504728" y="3632815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6" name="모서리가 둥근 직사각형 27">
            <a:extLst>
              <a:ext uri="{FF2B5EF4-FFF2-40B4-BE49-F238E27FC236}">
                <a16:creationId xmlns:a16="http://schemas.microsoft.com/office/drawing/2014/main" id="{BEBB7D6A-6B46-4C90-A368-4842E114AB63}"/>
              </a:ext>
            </a:extLst>
          </p:cNvPr>
          <p:cNvSpPr/>
          <p:nvPr/>
        </p:nvSpPr>
        <p:spPr>
          <a:xfrm>
            <a:off x="3800872" y="3781520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7" name="모서리가 둥근 직사각형 28">
            <a:extLst>
              <a:ext uri="{FF2B5EF4-FFF2-40B4-BE49-F238E27FC236}">
                <a16:creationId xmlns:a16="http://schemas.microsoft.com/office/drawing/2014/main" id="{725B5738-A3C7-4772-9DC3-27DFEE0F9ED9}"/>
              </a:ext>
            </a:extLst>
          </p:cNvPr>
          <p:cNvSpPr/>
          <p:nvPr/>
        </p:nvSpPr>
        <p:spPr>
          <a:xfrm>
            <a:off x="3116796" y="3380787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모서리가 둥근 직사각형 29">
            <a:extLst>
              <a:ext uri="{FF2B5EF4-FFF2-40B4-BE49-F238E27FC236}">
                <a16:creationId xmlns:a16="http://schemas.microsoft.com/office/drawing/2014/main" id="{EDB69AD8-AD7A-4975-A226-038A234E0993}"/>
              </a:ext>
            </a:extLst>
          </p:cNvPr>
          <p:cNvSpPr/>
          <p:nvPr/>
        </p:nvSpPr>
        <p:spPr>
          <a:xfrm>
            <a:off x="1667224" y="476804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9" name="모서리가 둥근 직사각형 30">
            <a:extLst>
              <a:ext uri="{FF2B5EF4-FFF2-40B4-BE49-F238E27FC236}">
                <a16:creationId xmlns:a16="http://schemas.microsoft.com/office/drawing/2014/main" id="{DBC795F4-3100-487D-B562-8B151C8F43F2}"/>
              </a:ext>
            </a:extLst>
          </p:cNvPr>
          <p:cNvSpPr/>
          <p:nvPr/>
        </p:nvSpPr>
        <p:spPr>
          <a:xfrm>
            <a:off x="1947199" y="517218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0" name="꺾인 연결선 31">
            <a:extLst>
              <a:ext uri="{FF2B5EF4-FFF2-40B4-BE49-F238E27FC236}">
                <a16:creationId xmlns:a16="http://schemas.microsoft.com/office/drawing/2014/main" id="{4ADFF77B-A1FA-4ECA-AA24-3EF50D898FB4}"/>
              </a:ext>
            </a:extLst>
          </p:cNvPr>
          <p:cNvCxnSpPr>
            <a:stCxn id="126" idx="2"/>
            <a:endCxn id="118" idx="0"/>
          </p:cNvCxnSpPr>
          <p:nvPr/>
        </p:nvCxnSpPr>
        <p:spPr>
          <a:xfrm rot="5400000">
            <a:off x="3609037" y="3104971"/>
            <a:ext cx="1260140" cy="83581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25B9526-693F-4714-B695-DB589FBDEDE3}"/>
              </a:ext>
            </a:extLst>
          </p:cNvPr>
          <p:cNvSpPr/>
          <p:nvPr/>
        </p:nvSpPr>
        <p:spPr>
          <a:xfrm>
            <a:off x="3849249" y="3782005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2" name="꺾인 연결선 33">
            <a:extLst>
              <a:ext uri="{FF2B5EF4-FFF2-40B4-BE49-F238E27FC236}">
                <a16:creationId xmlns:a16="http://schemas.microsoft.com/office/drawing/2014/main" id="{F0253689-3C5B-4D4C-945B-3B3C45D3DE81}"/>
              </a:ext>
            </a:extLst>
          </p:cNvPr>
          <p:cNvCxnSpPr>
            <a:stCxn id="117" idx="2"/>
            <a:endCxn id="111" idx="0"/>
          </p:cNvCxnSpPr>
          <p:nvPr/>
        </p:nvCxnSpPr>
        <p:spPr>
          <a:xfrm rot="16200000" flipH="1">
            <a:off x="3318417" y="3167192"/>
            <a:ext cx="977282" cy="252343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34">
            <a:extLst>
              <a:ext uri="{FF2B5EF4-FFF2-40B4-BE49-F238E27FC236}">
                <a16:creationId xmlns:a16="http://schemas.microsoft.com/office/drawing/2014/main" id="{DDAC121B-1DB4-45AE-86A2-9841809350A3}"/>
              </a:ext>
            </a:extLst>
          </p:cNvPr>
          <p:cNvCxnSpPr>
            <a:stCxn id="99" idx="3"/>
            <a:endCxn id="98" idx="1"/>
          </p:cNvCxnSpPr>
          <p:nvPr/>
        </p:nvCxnSpPr>
        <p:spPr>
          <a:xfrm flipV="1">
            <a:off x="3800872" y="2327883"/>
            <a:ext cx="324036" cy="288032"/>
          </a:xfrm>
          <a:prstGeom prst="bentConnector3">
            <a:avLst/>
          </a:prstGeom>
          <a:ln w="63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35">
            <a:extLst>
              <a:ext uri="{FF2B5EF4-FFF2-40B4-BE49-F238E27FC236}">
                <a16:creationId xmlns:a16="http://schemas.microsoft.com/office/drawing/2014/main" id="{26C02198-C7F1-40A7-B476-DDE71A7D8FB8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>
            <a:off x="3044788" y="3821624"/>
            <a:ext cx="756084" cy="148705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36">
            <a:extLst>
              <a:ext uri="{FF2B5EF4-FFF2-40B4-BE49-F238E27FC236}">
                <a16:creationId xmlns:a16="http://schemas.microsoft.com/office/drawing/2014/main" id="{DE1607AE-025D-4D3F-A482-6061BE78D77F}"/>
              </a:ext>
            </a:extLst>
          </p:cNvPr>
          <p:cNvCxnSpPr>
            <a:stCxn id="116" idx="2"/>
            <a:endCxn id="107" idx="0"/>
          </p:cNvCxnSpPr>
          <p:nvPr/>
        </p:nvCxnSpPr>
        <p:spPr>
          <a:xfrm rot="5400000">
            <a:off x="3101809" y="3089741"/>
            <a:ext cx="576064" cy="6029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6FF3BDA-B5DF-4616-AFA2-D7534DF3DA00}"/>
              </a:ext>
            </a:extLst>
          </p:cNvPr>
          <p:cNvSpPr/>
          <p:nvPr/>
        </p:nvSpPr>
        <p:spPr>
          <a:xfrm>
            <a:off x="3308874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E332A28-302B-4713-8605-31533A09E9D2}"/>
              </a:ext>
            </a:extLst>
          </p:cNvPr>
          <p:cNvSpPr/>
          <p:nvPr/>
        </p:nvSpPr>
        <p:spPr>
          <a:xfrm>
            <a:off x="3596906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722AD3D-7A59-48CA-9146-084D58D8ECC3}"/>
              </a:ext>
            </a:extLst>
          </p:cNvPr>
          <p:cNvSpPr/>
          <p:nvPr/>
        </p:nvSpPr>
        <p:spPr>
          <a:xfrm>
            <a:off x="4113335" y="377683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1C72A3A-3408-4EB5-B250-5D5DC2C3BDAA}"/>
              </a:ext>
            </a:extLst>
          </p:cNvPr>
          <p:cNvSpPr/>
          <p:nvPr/>
        </p:nvSpPr>
        <p:spPr>
          <a:xfrm>
            <a:off x="3164858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1BC50BF-072B-4286-A537-06364E41A54A}"/>
              </a:ext>
            </a:extLst>
          </p:cNvPr>
          <p:cNvSpPr/>
          <p:nvPr/>
        </p:nvSpPr>
        <p:spPr>
          <a:xfrm>
            <a:off x="3452890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1" name="꺾인 연결선 42">
            <a:extLst>
              <a:ext uri="{FF2B5EF4-FFF2-40B4-BE49-F238E27FC236}">
                <a16:creationId xmlns:a16="http://schemas.microsoft.com/office/drawing/2014/main" id="{A9DAA958-3BF9-4805-BB22-AACD7E8A382A}"/>
              </a:ext>
            </a:extLst>
          </p:cNvPr>
          <p:cNvCxnSpPr>
            <a:stCxn id="120" idx="2"/>
            <a:endCxn id="109" idx="0"/>
          </p:cNvCxnSpPr>
          <p:nvPr/>
        </p:nvCxnSpPr>
        <p:spPr>
          <a:xfrm rot="5400000">
            <a:off x="2170158" y="3805475"/>
            <a:ext cx="1413784" cy="131964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43">
            <a:extLst>
              <a:ext uri="{FF2B5EF4-FFF2-40B4-BE49-F238E27FC236}">
                <a16:creationId xmlns:a16="http://schemas.microsoft.com/office/drawing/2014/main" id="{E6945036-D00B-4E97-9871-4A11823BF3E8}"/>
              </a:ext>
            </a:extLst>
          </p:cNvPr>
          <p:cNvCxnSpPr>
            <a:stCxn id="119" idx="2"/>
            <a:endCxn id="108" idx="0"/>
          </p:cNvCxnSpPr>
          <p:nvPr/>
        </p:nvCxnSpPr>
        <p:spPr>
          <a:xfrm rot="5400000">
            <a:off x="2088225" y="3607434"/>
            <a:ext cx="1009644" cy="131158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44">
            <a:extLst>
              <a:ext uri="{FF2B5EF4-FFF2-40B4-BE49-F238E27FC236}">
                <a16:creationId xmlns:a16="http://schemas.microsoft.com/office/drawing/2014/main" id="{C190CCF2-EE58-418B-A666-DD733FBE18AA}"/>
              </a:ext>
            </a:extLst>
          </p:cNvPr>
          <p:cNvCxnSpPr>
            <a:stCxn id="97" idx="2"/>
            <a:endCxn id="105" idx="0"/>
          </p:cNvCxnSpPr>
          <p:nvPr/>
        </p:nvCxnSpPr>
        <p:spPr>
          <a:xfrm rot="5400000">
            <a:off x="2270702" y="3020747"/>
            <a:ext cx="1116124" cy="108012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45">
            <a:extLst>
              <a:ext uri="{FF2B5EF4-FFF2-40B4-BE49-F238E27FC236}">
                <a16:creationId xmlns:a16="http://schemas.microsoft.com/office/drawing/2014/main" id="{9B2972DB-3377-4998-B764-EF40C9AC40A1}"/>
              </a:ext>
            </a:extLst>
          </p:cNvPr>
          <p:cNvCxnSpPr/>
          <p:nvPr/>
        </p:nvCxnSpPr>
        <p:spPr>
          <a:xfrm rot="5400000">
            <a:off x="2922574" y="3723822"/>
            <a:ext cx="615155" cy="1485785"/>
          </a:xfrm>
          <a:prstGeom prst="bentConnector3">
            <a:avLst>
              <a:gd name="adj1" fmla="val 6216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CFDEB43-41A6-4D08-9CB6-7DDCA2422B0D}"/>
              </a:ext>
            </a:extLst>
          </p:cNvPr>
          <p:cNvSpPr/>
          <p:nvPr/>
        </p:nvSpPr>
        <p:spPr>
          <a:xfrm>
            <a:off x="4461002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EC2B310-FE78-4607-925A-FDFDFDF6D74F}"/>
              </a:ext>
            </a:extLst>
          </p:cNvPr>
          <p:cNvSpPr/>
          <p:nvPr/>
        </p:nvSpPr>
        <p:spPr>
          <a:xfrm>
            <a:off x="4196916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EFBC28A-3C66-43F1-A19D-8B34E1FEBB64}"/>
              </a:ext>
            </a:extLst>
          </p:cNvPr>
          <p:cNvSpPr/>
          <p:nvPr/>
        </p:nvSpPr>
        <p:spPr>
          <a:xfrm>
            <a:off x="4100962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0A767F3-132E-48AA-A10D-B9C99C9F01FB}"/>
              </a:ext>
            </a:extLst>
          </p:cNvPr>
          <p:cNvSpPr/>
          <p:nvPr/>
        </p:nvSpPr>
        <p:spPr>
          <a:xfrm>
            <a:off x="4388994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모서리가 둥근 직사각형 51">
            <a:extLst>
              <a:ext uri="{FF2B5EF4-FFF2-40B4-BE49-F238E27FC236}">
                <a16:creationId xmlns:a16="http://schemas.microsoft.com/office/drawing/2014/main" id="{6C682849-29DE-4EFC-945A-FCB5FCD51082}"/>
              </a:ext>
            </a:extLst>
          </p:cNvPr>
          <p:cNvSpPr/>
          <p:nvPr/>
        </p:nvSpPr>
        <p:spPr>
          <a:xfrm>
            <a:off x="2315087" y="4774292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397CFC3-DE51-4CC3-A45F-FB40FF28FA9B}"/>
              </a:ext>
            </a:extLst>
          </p:cNvPr>
          <p:cNvSpPr txBox="1"/>
          <p:nvPr/>
        </p:nvSpPr>
        <p:spPr>
          <a:xfrm>
            <a:off x="836485" y="2943196"/>
            <a:ext cx="2424327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PM : Process</a:t>
            </a:r>
            <a:r>
              <a:rPr lang="ko-KR" altLang="en-US" sz="800" i="1" dirty="0"/>
              <a:t> </a:t>
            </a:r>
            <a:r>
              <a:rPr lang="en-US" altLang="ko-KR" sz="800" i="1" dirty="0"/>
              <a:t>Method (</a:t>
            </a:r>
            <a:r>
              <a:rPr lang="ko-KR" altLang="en-US" sz="800" i="1" dirty="0"/>
              <a:t>거래</a:t>
            </a:r>
            <a:r>
              <a:rPr lang="en-US" altLang="ko-KR" sz="800" i="1" dirty="0"/>
              <a:t> </a:t>
            </a:r>
            <a:r>
              <a:rPr lang="ko-KR" altLang="en-US" sz="800" i="1" dirty="0"/>
              <a:t>처리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7CBB5DC-F9F6-4D75-87B7-631FDC5BFEFB}"/>
              </a:ext>
            </a:extLst>
          </p:cNvPr>
          <p:cNvSpPr txBox="1"/>
          <p:nvPr/>
        </p:nvSpPr>
        <p:spPr>
          <a:xfrm>
            <a:off x="836485" y="4281474"/>
            <a:ext cx="1944216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FM : Function</a:t>
            </a:r>
            <a:r>
              <a:rPr lang="ko-KR" altLang="en-US" sz="800" i="1" dirty="0"/>
              <a:t> </a:t>
            </a:r>
            <a:r>
              <a:rPr lang="en-US" altLang="ko-KR" sz="800" i="1" dirty="0"/>
              <a:t>Method (</a:t>
            </a:r>
            <a:r>
              <a:rPr lang="ko-KR" altLang="en-US" sz="800" i="1" dirty="0"/>
              <a:t>기능</a:t>
            </a:r>
            <a:r>
              <a:rPr lang="en-US" altLang="ko-KR" sz="800" i="1" dirty="0"/>
              <a:t>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4295B2E-1FD4-4575-8B3F-02A553BE0208}"/>
              </a:ext>
            </a:extLst>
          </p:cNvPr>
          <p:cNvSpPr txBox="1"/>
          <p:nvPr/>
        </p:nvSpPr>
        <p:spPr>
          <a:xfrm>
            <a:off x="752792" y="5610675"/>
            <a:ext cx="2052228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/>
              <a:t>※ DM </a:t>
            </a:r>
            <a:r>
              <a:rPr lang="en-US" altLang="ko-KR" sz="800" i="1"/>
              <a:t>: </a:t>
            </a:r>
            <a:r>
              <a:rPr lang="ko-KR" altLang="en-US" sz="800" i="1"/>
              <a:t>조회용 </a:t>
            </a:r>
            <a:r>
              <a:rPr lang="en-US" altLang="ko-KR" sz="800" i="1"/>
              <a:t>Data</a:t>
            </a:r>
            <a:r>
              <a:rPr lang="ko-KR" altLang="en-US" sz="800" i="1"/>
              <a:t> </a:t>
            </a:r>
            <a:r>
              <a:rPr lang="en-US" altLang="ko-KR" sz="800" i="1" dirty="0"/>
              <a:t>Method (Data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  <p:grpSp>
        <p:nvGrpSpPr>
          <p:cNvPr id="133" name="Group 284">
            <a:extLst>
              <a:ext uri="{FF2B5EF4-FFF2-40B4-BE49-F238E27FC236}">
                <a16:creationId xmlns:a16="http://schemas.microsoft.com/office/drawing/2014/main" id="{6876F212-187F-4DD4-8336-4F8EF8E72AAB}"/>
              </a:ext>
            </a:extLst>
          </p:cNvPr>
          <p:cNvGrpSpPr/>
          <p:nvPr/>
        </p:nvGrpSpPr>
        <p:grpSpPr bwMode="gray">
          <a:xfrm>
            <a:off x="5385048" y="1160748"/>
            <a:ext cx="4253368" cy="334183"/>
            <a:chOff x="4351550" y="1849485"/>
            <a:chExt cx="916928" cy="334183"/>
          </a:xfrm>
        </p:grpSpPr>
        <p:cxnSp>
          <p:nvCxnSpPr>
            <p:cNvPr id="134" name="Straight Connector 285">
              <a:extLst>
                <a:ext uri="{FF2B5EF4-FFF2-40B4-BE49-F238E27FC236}">
                  <a16:creationId xmlns:a16="http://schemas.microsoft.com/office/drawing/2014/main" id="{AA71848A-69CB-451A-953D-F0D60593B019}"/>
                </a:ext>
              </a:extLst>
            </p:cNvPr>
            <p:cNvCxnSpPr/>
            <p:nvPr/>
          </p:nvCxnSpPr>
          <p:spPr bwMode="gray">
            <a:xfrm>
              <a:off x="4351550" y="2183668"/>
              <a:ext cx="916928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F54DFB3-94C0-41F6-9908-77144CBFFEED}"/>
                </a:ext>
              </a:extLst>
            </p:cNvPr>
            <p:cNvSpPr txBox="1"/>
            <p:nvPr/>
          </p:nvSpPr>
          <p:spPr bwMode="gray">
            <a:xfrm>
              <a:off x="4779949" y="1849485"/>
              <a:ext cx="220373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계층 별 역할</a:t>
              </a:r>
            </a:p>
          </p:txBody>
        </p:sp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3120C09-689D-4AC2-8AD7-08DF48C38377}"/>
              </a:ext>
            </a:extLst>
          </p:cNvPr>
          <p:cNvSpPr/>
          <p:nvPr/>
        </p:nvSpPr>
        <p:spPr>
          <a:xfrm>
            <a:off x="6681716" y="1638945"/>
            <a:ext cx="2987808" cy="1304251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PU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PM(Process Method)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로 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은 계층 구조 상 서비스 처리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Flow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를 제어하는 최상위 모듈이다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은 채널로부터의 서비스 호출 대상이며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거래 코드와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1:1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대응된다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endParaRPr lang="ko-KR" altLang="en-US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164883B-4566-4773-9681-226C3A469B7C}"/>
              </a:ext>
            </a:extLst>
          </p:cNvPr>
          <p:cNvSpPr/>
          <p:nvPr/>
        </p:nvSpPr>
        <p:spPr>
          <a:xfrm>
            <a:off x="5385048" y="1638945"/>
            <a:ext cx="1198908" cy="130979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PU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(Process Unit)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CED7AF7-3928-41D5-9826-9DF98C59C6B5}"/>
              </a:ext>
            </a:extLst>
          </p:cNvPr>
          <p:cNvSpPr txBox="1"/>
          <p:nvPr/>
        </p:nvSpPr>
        <p:spPr>
          <a:xfrm>
            <a:off x="668524" y="5801489"/>
            <a:ext cx="8640960" cy="50783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marL="171450" indent="-171450">
              <a:buFontTx/>
              <a:buChar char="-"/>
            </a:pPr>
            <a:r>
              <a:rPr lang="en-US" altLang="ko-KR" sz="900" dirty="0"/>
              <a:t>Component : Java</a:t>
            </a:r>
            <a:r>
              <a:rPr lang="ko-KR" altLang="en-US" sz="900" dirty="0"/>
              <a:t> </a:t>
            </a:r>
            <a:r>
              <a:rPr lang="en-US" altLang="ko-KR" sz="900" dirty="0"/>
              <a:t>Package</a:t>
            </a:r>
            <a:r>
              <a:rPr lang="ko-KR" altLang="en-US" sz="900" dirty="0"/>
              <a:t>를</a:t>
            </a:r>
            <a:r>
              <a:rPr lang="en-US" altLang="ko-KR" sz="900" dirty="0"/>
              <a:t> </a:t>
            </a:r>
            <a:r>
              <a:rPr lang="ko-KR" altLang="en-US" sz="900" dirty="0"/>
              <a:t>의미하며</a:t>
            </a:r>
            <a:r>
              <a:rPr lang="en-US" altLang="ko-KR" sz="900" dirty="0"/>
              <a:t>, </a:t>
            </a:r>
            <a:r>
              <a:rPr lang="ko-KR" altLang="en-US" sz="900" dirty="0"/>
              <a:t>배포 단위이다</a:t>
            </a:r>
            <a:r>
              <a:rPr lang="en-US" altLang="ko-KR" sz="900" dirty="0"/>
              <a:t>. (</a:t>
            </a:r>
            <a:r>
              <a:rPr lang="ko-KR" altLang="en-US" sz="900" dirty="0"/>
              <a:t>신 표준 프레임워크 </a:t>
            </a:r>
            <a:r>
              <a:rPr lang="en-US" altLang="ko-KR" sz="900" dirty="0"/>
              <a:t>Online Component </a:t>
            </a:r>
            <a:r>
              <a:rPr lang="ko-KR" altLang="en-US" sz="900" dirty="0"/>
              <a:t>명 </a:t>
            </a:r>
            <a:r>
              <a:rPr lang="en-US" altLang="ko-KR" sz="900" dirty="0"/>
              <a:t>: </a:t>
            </a:r>
            <a:r>
              <a:rPr lang="en-US" altLang="ko-KR" sz="900" dirty="0" err="1"/>
              <a:t>com.kbstar.appcode</a:t>
            </a:r>
            <a:r>
              <a:rPr lang="en-US" altLang="ko-KR" sz="900" dirty="0"/>
              <a:t>(3).xxx)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/>
              <a:t>Unit :  </a:t>
            </a:r>
            <a:r>
              <a:rPr lang="ko-KR" altLang="en-US" sz="900" dirty="0"/>
              <a:t>신 표준 프레임워크</a:t>
            </a:r>
            <a:r>
              <a:rPr lang="en-US" altLang="ko-KR" sz="900" dirty="0"/>
              <a:t>(NEXCORE)</a:t>
            </a:r>
            <a:r>
              <a:rPr lang="ko-KR" altLang="en-US" sz="900" dirty="0"/>
              <a:t>에서 사용하는 용어로서</a:t>
            </a:r>
            <a:r>
              <a:rPr lang="en-US" altLang="ko-KR" sz="900" dirty="0"/>
              <a:t>, Component</a:t>
            </a:r>
            <a:r>
              <a:rPr lang="ko-KR" altLang="en-US" sz="900" dirty="0"/>
              <a:t>의 비즈니스 </a:t>
            </a:r>
            <a:r>
              <a:rPr lang="en-US" altLang="ko-KR" sz="900" dirty="0"/>
              <a:t>Logic</a:t>
            </a:r>
            <a:r>
              <a:rPr lang="ko-KR" altLang="en-US" sz="900" dirty="0"/>
              <a:t>을 담당하고 있는 </a:t>
            </a:r>
            <a:r>
              <a:rPr lang="en-US" altLang="ko-KR" sz="900" dirty="0"/>
              <a:t>Java Class</a:t>
            </a:r>
            <a:r>
              <a:rPr lang="ko-KR" altLang="en-US" sz="900" dirty="0"/>
              <a:t>를 의미한다</a:t>
            </a:r>
            <a:r>
              <a:rPr lang="en-US" altLang="ko-KR" sz="900" dirty="0"/>
              <a:t>. (1</a:t>
            </a:r>
            <a:r>
              <a:rPr lang="ko-KR" altLang="en-US" sz="900" dirty="0"/>
              <a:t>개의 </a:t>
            </a:r>
            <a:r>
              <a:rPr lang="en-US" altLang="ko-KR" sz="900" dirty="0"/>
              <a:t>Unit</a:t>
            </a:r>
            <a:r>
              <a:rPr lang="ko-KR" altLang="en-US" sz="900" dirty="0"/>
              <a:t>은 </a:t>
            </a:r>
            <a:r>
              <a:rPr lang="en-US" altLang="ko-KR" sz="900" dirty="0"/>
              <a:t>1</a:t>
            </a:r>
            <a:r>
              <a:rPr lang="ko-KR" altLang="en-US" sz="900" dirty="0"/>
              <a:t>개의 파일로 구성</a:t>
            </a:r>
            <a:r>
              <a:rPr lang="en-US" altLang="ko-KR" sz="9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/>
              <a:t>Method : Java</a:t>
            </a:r>
            <a:r>
              <a:rPr lang="ko-KR" altLang="en-US" sz="900" dirty="0"/>
              <a:t> </a:t>
            </a:r>
            <a:r>
              <a:rPr lang="en-US" altLang="ko-KR" sz="900" dirty="0"/>
              <a:t>Class</a:t>
            </a:r>
            <a:r>
              <a:rPr lang="ko-KR" altLang="en-US" sz="900" dirty="0"/>
              <a:t>를 구성하고 있는 멤버 함수로</a:t>
            </a:r>
            <a:r>
              <a:rPr lang="en-US" altLang="ko-KR" sz="900" dirty="0"/>
              <a:t>,</a:t>
            </a:r>
            <a:r>
              <a:rPr lang="ko-KR" altLang="en-US" sz="900" dirty="0"/>
              <a:t> 신</a:t>
            </a:r>
            <a:r>
              <a:rPr lang="en-US" altLang="ko-KR" sz="900" dirty="0"/>
              <a:t> </a:t>
            </a:r>
            <a:r>
              <a:rPr lang="ko-KR" altLang="en-US" sz="900" dirty="0"/>
              <a:t>표준 프레임워크</a:t>
            </a:r>
            <a:r>
              <a:rPr lang="en-US" altLang="ko-KR" sz="900" dirty="0"/>
              <a:t>(NEXCORE)</a:t>
            </a:r>
            <a:r>
              <a:rPr lang="ko-KR" altLang="en-US" sz="900" dirty="0"/>
              <a:t>의 경우 </a:t>
            </a:r>
            <a:r>
              <a:rPr lang="en-US" altLang="ko-KR" sz="900" dirty="0"/>
              <a:t>Unit</a:t>
            </a:r>
            <a:r>
              <a:rPr lang="ko-KR" altLang="en-US" sz="900" dirty="0"/>
              <a:t> 내 다수의 </a:t>
            </a:r>
            <a:r>
              <a:rPr lang="en-US" altLang="ko-KR" sz="900" dirty="0"/>
              <a:t>Method</a:t>
            </a:r>
            <a:r>
              <a:rPr lang="ko-KR" altLang="en-US" sz="900" dirty="0"/>
              <a:t>를 정의하여 사용한다</a:t>
            </a:r>
            <a:r>
              <a:rPr lang="en-US" altLang="ko-KR" sz="900" dirty="0"/>
              <a:t>.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9B3F1EC6-1D46-4E49-9ADC-7494E6D121D8}"/>
              </a:ext>
            </a:extLst>
          </p:cNvPr>
          <p:cNvSpPr/>
          <p:nvPr/>
        </p:nvSpPr>
        <p:spPr>
          <a:xfrm>
            <a:off x="6451651" y="355772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97FB03C-82A1-460C-BC81-F69C320251B8}"/>
              </a:ext>
            </a:extLst>
          </p:cNvPr>
          <p:cNvSpPr/>
          <p:nvPr/>
        </p:nvSpPr>
        <p:spPr>
          <a:xfrm>
            <a:off x="6467240" y="4947821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E257CAC-0B89-484C-B581-DAB1332531F5}"/>
              </a:ext>
            </a:extLst>
          </p:cNvPr>
          <p:cNvSpPr/>
          <p:nvPr/>
        </p:nvSpPr>
        <p:spPr>
          <a:xfrm>
            <a:off x="6681716" y="3026597"/>
            <a:ext cx="2987808" cy="1262444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FU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FM(Function Method)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로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업무 단위 비즈니스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로직과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타 업무 제공 업무 공통 및 전행 공통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Utility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성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처리한다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b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</a:b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예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출금 가능 여부 체크 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( )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선처리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후처리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 담당한다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endParaRPr lang="ko-KR" altLang="en-US" sz="105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F21F338-1B87-4781-B43F-E9E2CCF2814E}"/>
              </a:ext>
            </a:extLst>
          </p:cNvPr>
          <p:cNvSpPr/>
          <p:nvPr/>
        </p:nvSpPr>
        <p:spPr>
          <a:xfrm>
            <a:off x="6681716" y="4425951"/>
            <a:ext cx="2987808" cy="1346609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DM(Data 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Method)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 또는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 DBIO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로 구성한다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접근을 담당하며 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DU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는 단건조회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목록조회 만을 담당한다</a:t>
            </a:r>
            <a:r>
              <a:rPr lang="en-US" altLang="ko-KR" sz="110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DBIO 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는 모든 단건 </a:t>
            </a: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C/U/D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를 처리하는 유닛</a:t>
            </a:r>
            <a:endParaRPr lang="en-US" altLang="ko-KR" sz="1100" b="1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단건 조회</a:t>
            </a:r>
            <a:r>
              <a:rPr lang="en-US" altLang="ko-KR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/Lock </a:t>
            </a:r>
            <a:r>
              <a:rPr lang="ko-KR" altLang="en-US" sz="1100" b="1">
                <a:solidFill>
                  <a:schemeClr val="tx1"/>
                </a:solidFill>
                <a:latin typeface="+mn-ea"/>
                <a:cs typeface="Arial" pitchFamily="34" charset="0"/>
              </a:rPr>
              <a:t>조회 기능 제공</a:t>
            </a:r>
            <a:endParaRPr lang="ko-KR" altLang="en-US" sz="11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42A74EB-A50C-4FF9-AFA2-BFB1F96E46CB}"/>
              </a:ext>
            </a:extLst>
          </p:cNvPr>
          <p:cNvSpPr/>
          <p:nvPr/>
        </p:nvSpPr>
        <p:spPr>
          <a:xfrm>
            <a:off x="5385048" y="3029304"/>
            <a:ext cx="1198908" cy="12624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FU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(Function Unit)</a:t>
            </a:r>
            <a:endParaRPr lang="ko-KR" altLang="en-US" sz="10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48FAFD1-EF35-4A0E-8557-8C0487222A41}"/>
              </a:ext>
            </a:extLst>
          </p:cNvPr>
          <p:cNvSpPr/>
          <p:nvPr/>
        </p:nvSpPr>
        <p:spPr>
          <a:xfrm>
            <a:off x="5385048" y="4372313"/>
            <a:ext cx="1198908" cy="140024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cs typeface="Arial" pitchFamily="34" charset="0"/>
              </a:rPr>
              <a:t>DU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00" i="1" dirty="0">
                <a:solidFill>
                  <a:schemeClr val="tx1"/>
                </a:solidFill>
                <a:cs typeface="Arial" pitchFamily="34" charset="0"/>
              </a:rPr>
              <a:t>(Data Unit)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chemeClr val="tx1"/>
              </a:solidFill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cs typeface="Arial" pitchFamily="34" charset="0"/>
              </a:rPr>
              <a:t>DBIO</a:t>
            </a:r>
            <a:br>
              <a:rPr lang="en-US" altLang="ko-KR" sz="1200" b="1" dirty="0">
                <a:solidFill>
                  <a:srgbClr val="0000FF"/>
                </a:solidFill>
                <a:cs typeface="Arial" pitchFamily="34" charset="0"/>
              </a:rPr>
            </a:br>
            <a:r>
              <a:rPr lang="en-US" altLang="ko-KR" sz="1000" b="1" i="1" dirty="0">
                <a:solidFill>
                  <a:srgbClr val="0000FF"/>
                </a:solidFill>
                <a:cs typeface="Arial" pitchFamily="34" charset="0"/>
              </a:rPr>
              <a:t>(DBIO Unit)</a:t>
            </a:r>
            <a:endParaRPr lang="ko-KR" altLang="en-US" sz="1200" b="1" i="1" dirty="0">
              <a:solidFill>
                <a:srgbClr val="0000FF"/>
              </a:solidFill>
              <a:cs typeface="Arial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D195E71-31E9-48B0-A632-D694CC62D57D}"/>
              </a:ext>
            </a:extLst>
          </p:cNvPr>
          <p:cNvSpPr txBox="1"/>
          <p:nvPr/>
        </p:nvSpPr>
        <p:spPr>
          <a:xfrm>
            <a:off x="1064568" y="2476165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Process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5134B0-1967-45F8-8501-362A9DD05C2A}"/>
              </a:ext>
            </a:extLst>
          </p:cNvPr>
          <p:cNvSpPr txBox="1"/>
          <p:nvPr/>
        </p:nvSpPr>
        <p:spPr>
          <a:xfrm>
            <a:off x="1064568" y="3808313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Function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7213661-6574-4102-BBAC-04E228AF04B2}"/>
              </a:ext>
            </a:extLst>
          </p:cNvPr>
          <p:cNvSpPr txBox="1"/>
          <p:nvPr/>
        </p:nvSpPr>
        <p:spPr>
          <a:xfrm>
            <a:off x="972323" y="497973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Data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>
                <a:cs typeface="Arial" pitchFamily="34" charset="0"/>
              </a:rPr>
              <a:t>Unit</a:t>
            </a:r>
            <a:endParaRPr lang="ko-KR" altLang="en-US" sz="1400" i="1" dirty="0">
              <a:cs typeface="Arial" pitchFamily="34" charset="0"/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5F1B0463-E6EF-4F20-A91C-55318C39B643}"/>
              </a:ext>
            </a:extLst>
          </p:cNvPr>
          <p:cNvSpPr/>
          <p:nvPr/>
        </p:nvSpPr>
        <p:spPr>
          <a:xfrm>
            <a:off x="92460" y="2273882"/>
            <a:ext cx="108012" cy="10800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F1101A6-9C18-4862-8B52-25AAFE452546}"/>
              </a:ext>
            </a:extLst>
          </p:cNvPr>
          <p:cNvSpPr txBox="1"/>
          <p:nvPr/>
        </p:nvSpPr>
        <p:spPr bwMode="gray">
          <a:xfrm>
            <a:off x="243287" y="2070539"/>
            <a:ext cx="677265" cy="261610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채널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요청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CB07B01-451B-484A-B489-252162200FE2}"/>
              </a:ext>
            </a:extLst>
          </p:cNvPr>
          <p:cNvSpPr txBox="1"/>
          <p:nvPr/>
        </p:nvSpPr>
        <p:spPr>
          <a:xfrm>
            <a:off x="560512" y="2911570"/>
            <a:ext cx="384561" cy="19307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vert="eaVert"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600" dirty="0">
                <a:cs typeface="Arial" pitchFamily="34" charset="0"/>
              </a:rPr>
              <a:t>Component</a:t>
            </a:r>
            <a:endParaRPr lang="ko-KR" altLang="en-US" sz="1600" dirty="0">
              <a:cs typeface="Arial" pitchFamily="34" charset="0"/>
            </a:endParaRPr>
          </a:p>
        </p:txBody>
      </p:sp>
      <p:sp>
        <p:nvSpPr>
          <p:cNvPr id="151" name="평행 사변형 150">
            <a:extLst>
              <a:ext uri="{FF2B5EF4-FFF2-40B4-BE49-F238E27FC236}">
                <a16:creationId xmlns:a16="http://schemas.microsoft.com/office/drawing/2014/main" id="{F949C09C-DDEC-4F22-A7B5-1ECE986C8AA7}"/>
              </a:ext>
            </a:extLst>
          </p:cNvPr>
          <p:cNvSpPr/>
          <p:nvPr/>
        </p:nvSpPr>
        <p:spPr>
          <a:xfrm>
            <a:off x="2909772" y="4683445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2" name="평행 사변형 151">
            <a:extLst>
              <a:ext uri="{FF2B5EF4-FFF2-40B4-BE49-F238E27FC236}">
                <a16:creationId xmlns:a16="http://schemas.microsoft.com/office/drawing/2014/main" id="{BE607BB8-AF4C-4294-BE5D-4515E77A04BD}"/>
              </a:ext>
            </a:extLst>
          </p:cNvPr>
          <p:cNvSpPr/>
          <p:nvPr/>
        </p:nvSpPr>
        <p:spPr>
          <a:xfrm>
            <a:off x="3411370" y="4801609"/>
            <a:ext cx="1636087" cy="748196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3" name="모서리가 둥근 직사각형 78">
            <a:extLst>
              <a:ext uri="{FF2B5EF4-FFF2-40B4-BE49-F238E27FC236}">
                <a16:creationId xmlns:a16="http://schemas.microsoft.com/office/drawing/2014/main" id="{07B9F53D-0C04-49B6-A6F0-38620BA22E3E}"/>
              </a:ext>
            </a:extLst>
          </p:cNvPr>
          <p:cNvSpPr/>
          <p:nvPr/>
        </p:nvSpPr>
        <p:spPr>
          <a:xfrm>
            <a:off x="3700844" y="5077440"/>
            <a:ext cx="611025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4" name="꺾인 연결선 79">
            <a:extLst>
              <a:ext uri="{FF2B5EF4-FFF2-40B4-BE49-F238E27FC236}">
                <a16:creationId xmlns:a16="http://schemas.microsoft.com/office/drawing/2014/main" id="{E5CB4C4B-4B9D-4CD6-A674-E77EB7E53173}"/>
              </a:ext>
            </a:extLst>
          </p:cNvPr>
          <p:cNvCxnSpPr>
            <a:endCxn id="153" idx="0"/>
          </p:cNvCxnSpPr>
          <p:nvPr/>
        </p:nvCxnSpPr>
        <p:spPr>
          <a:xfrm rot="5400000">
            <a:off x="3621909" y="4558273"/>
            <a:ext cx="903615" cy="13471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모서리가 둥근 직사각형 80">
            <a:extLst>
              <a:ext uri="{FF2B5EF4-FFF2-40B4-BE49-F238E27FC236}">
                <a16:creationId xmlns:a16="http://schemas.microsoft.com/office/drawing/2014/main" id="{4396FEAA-567A-4CCE-9D68-5FB58FD7DBE4}"/>
              </a:ext>
            </a:extLst>
          </p:cNvPr>
          <p:cNvSpPr/>
          <p:nvPr/>
        </p:nvSpPr>
        <p:spPr>
          <a:xfrm>
            <a:off x="4307336" y="4710762"/>
            <a:ext cx="606451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EFF6E90-35A3-42F3-8809-01002B285ECE}"/>
              </a:ext>
            </a:extLst>
          </p:cNvPr>
          <p:cNvSpPr txBox="1"/>
          <p:nvPr/>
        </p:nvSpPr>
        <p:spPr>
          <a:xfrm>
            <a:off x="3031982" y="504212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>
                <a:cs typeface="Arial" pitchFamily="34" charset="0"/>
              </a:rPr>
              <a:t>DBIO</a:t>
            </a:r>
            <a:endParaRPr lang="en-US" altLang="ko-KR" sz="1400" i="1" dirty="0">
              <a:cs typeface="Arial" pitchFamily="34" charset="0"/>
            </a:endParaRPr>
          </a:p>
        </p:txBody>
      </p:sp>
      <p:cxnSp>
        <p:nvCxnSpPr>
          <p:cNvPr id="157" name="꺾인 연결선 87">
            <a:extLst>
              <a:ext uri="{FF2B5EF4-FFF2-40B4-BE49-F238E27FC236}">
                <a16:creationId xmlns:a16="http://schemas.microsoft.com/office/drawing/2014/main" id="{24E395FA-36EF-48D8-9898-E782F2F0C4A7}"/>
              </a:ext>
            </a:extLst>
          </p:cNvPr>
          <p:cNvCxnSpPr>
            <a:stCxn id="98" idx="2"/>
          </p:cNvCxnSpPr>
          <p:nvPr/>
        </p:nvCxnSpPr>
        <p:spPr>
          <a:xfrm rot="5400000">
            <a:off x="2437109" y="2818336"/>
            <a:ext cx="2259474" cy="1656184"/>
          </a:xfrm>
          <a:prstGeom prst="bentConnector3">
            <a:avLst>
              <a:gd name="adj1" fmla="val 8127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92">
            <a:extLst>
              <a:ext uri="{FF2B5EF4-FFF2-40B4-BE49-F238E27FC236}">
                <a16:creationId xmlns:a16="http://schemas.microsoft.com/office/drawing/2014/main" id="{1C93BFE2-5126-4A66-B17A-E2C5B8EAF7CA}"/>
              </a:ext>
            </a:extLst>
          </p:cNvPr>
          <p:cNvCxnSpPr>
            <a:endCxn id="155" idx="0"/>
          </p:cNvCxnSpPr>
          <p:nvPr/>
        </p:nvCxnSpPr>
        <p:spPr>
          <a:xfrm rot="16200000" flipH="1">
            <a:off x="3476351" y="3576551"/>
            <a:ext cx="2166754" cy="10166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A45EBC4-ECB5-41A9-B003-141A6DB5DF77}"/>
              </a:ext>
            </a:extLst>
          </p:cNvPr>
          <p:cNvSpPr txBox="1"/>
          <p:nvPr/>
        </p:nvSpPr>
        <p:spPr>
          <a:xfrm>
            <a:off x="2799051" y="5603714"/>
            <a:ext cx="2248405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/>
              <a:t>※ DBM : CUD</a:t>
            </a:r>
            <a:r>
              <a:rPr lang="ko-KR" altLang="en-US" sz="800" i="1"/>
              <a:t>용 </a:t>
            </a:r>
            <a:r>
              <a:rPr lang="en-US" altLang="ko-KR" sz="800" i="1"/>
              <a:t>Data</a:t>
            </a:r>
            <a:r>
              <a:rPr lang="ko-KR" altLang="en-US" sz="800" i="1"/>
              <a:t> </a:t>
            </a:r>
            <a:r>
              <a:rPr lang="en-US" altLang="ko-KR" sz="800" i="1" dirty="0"/>
              <a:t>Method (Data </a:t>
            </a:r>
            <a:r>
              <a:rPr lang="ko-KR" altLang="en-US" sz="800" i="1" dirty="0" err="1"/>
              <a:t>메소드</a:t>
            </a:r>
            <a:r>
              <a:rPr lang="en-US" altLang="ko-KR" sz="8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298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계층구조 </a:t>
            </a:r>
            <a:endParaRPr lang="ko-KR" altLang="en-US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643508"/>
              </p:ext>
            </p:extLst>
          </p:nvPr>
        </p:nvGraphicFramePr>
        <p:xfrm>
          <a:off x="452501" y="1232756"/>
          <a:ext cx="9072851" cy="4964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838">
                  <a:extLst>
                    <a:ext uri="{9D8B030D-6E8A-4147-A177-3AD203B41FA5}">
                      <a16:colId xmlns:a16="http://schemas.microsoft.com/office/drawing/2014/main" val="3045229055"/>
                    </a:ext>
                  </a:extLst>
                </a:gridCol>
                <a:gridCol w="1612354">
                  <a:extLst>
                    <a:ext uri="{9D8B030D-6E8A-4147-A177-3AD203B41FA5}">
                      <a16:colId xmlns:a16="http://schemas.microsoft.com/office/drawing/2014/main" val="652427075"/>
                    </a:ext>
                  </a:extLst>
                </a:gridCol>
                <a:gridCol w="5972659">
                  <a:extLst>
                    <a:ext uri="{9D8B030D-6E8A-4147-A177-3AD203B41FA5}">
                      <a16:colId xmlns:a16="http://schemas.microsoft.com/office/drawing/2014/main" val="4097409779"/>
                    </a:ext>
                  </a:extLst>
                </a:gridCol>
              </a:tblGrid>
              <a:tr h="35360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PU</a:t>
                      </a:r>
                      <a:endParaRPr lang="en-US" altLang="ko-KR" sz="1400" b="1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b="0" baseline="0">
                          <a:latin typeface="+mn-ea"/>
                          <a:ea typeface="+mn-ea"/>
                        </a:rPr>
                        <a:t>(Process Unit)</a:t>
                      </a:r>
                      <a:endParaRPr lang="ko-KR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n-ea"/>
                          <a:ea typeface="+mn-ea"/>
                        </a:rPr>
                        <a:t>처리유닛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+mn-ea"/>
                          <a:ea typeface="+mn-ea"/>
                        </a:rPr>
                        <a:t>서비스 처리 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Flow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관리 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871676"/>
                  </a:ext>
                </a:extLst>
              </a:tr>
              <a:tr h="35360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PM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</a:rPr>
                        <a:t>(Process Method)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PU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클래스의 메소드 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PM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메소드</a:t>
                      </a:r>
                      <a:endParaRPr lang="en-US" altLang="ko-KR" sz="1200" b="0"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637140"/>
                  </a:ext>
                </a:extLst>
              </a:tr>
              <a:tr h="589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온라인 서비스의 시작으로서 화면에서 요청되는 하나의 서비스는 </a:t>
                      </a:r>
                      <a:endParaRPr lang="en-US" altLang="ko-KR" sz="1200" b="0"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하나의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PM </a:t>
                      </a: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으로 매핑되며 거래코드로 매핑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27340"/>
                  </a:ext>
                </a:extLst>
              </a:tr>
              <a:tr h="35360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FU</a:t>
                      </a:r>
                    </a:p>
                    <a:p>
                      <a:pPr algn="ctr" latinLnBrk="1"/>
                      <a:r>
                        <a:rPr lang="en-US" altLang="ko-KR" sz="1400" b="0">
                          <a:latin typeface="+mn-ea"/>
                          <a:ea typeface="+mn-ea"/>
                        </a:rPr>
                        <a:t>(Function Unit)</a:t>
                      </a:r>
                      <a:endParaRPr lang="ko-KR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200" b="1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>
                          <a:latin typeface="+mn-ea"/>
                          <a:ea typeface="+mn-ea"/>
                        </a:rPr>
                        <a:t>유닛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단위 비즈니스 </a:t>
                      </a:r>
                      <a:r>
                        <a:rPr lang="ko-KR" altLang="ko-KR" sz="1200" b="0" err="1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로직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/ </a:t>
                      </a: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공통 </a:t>
                      </a:r>
                      <a:r>
                        <a:rPr lang="ko-KR" altLang="ko-KR" sz="1200" b="0" err="1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로직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/ </a:t>
                      </a:r>
                      <a:r>
                        <a:rPr lang="ko-KR" altLang="ko-KR" sz="1200" b="0" err="1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선후처리</a:t>
                      </a: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담당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399160"/>
                  </a:ext>
                </a:extLst>
              </a:tr>
              <a:tr h="35360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FM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</a:rPr>
                        <a:t>(Function Method)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FU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클래스의 메소드 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  <a:sym typeface="Wingdings" panose="05000000000000000000" pitchFamily="2" charset="2"/>
                        </a:rPr>
                        <a:t> FM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  <a:sym typeface="Wingdings" panose="05000000000000000000" pitchFamily="2" charset="2"/>
                        </a:rPr>
                        <a:t>메소드</a:t>
                      </a:r>
                      <a:endParaRPr lang="en-US" altLang="ko-KR" sz="1200" b="0">
                        <a:latin typeface="+mn-ea"/>
                        <a:ea typeface="+mn-ea"/>
                        <a:cs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625280"/>
                  </a:ext>
                </a:extLst>
              </a:tr>
              <a:tr h="9088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공통로직을 담당함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프레임워크 선후처리의 등록 단위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배치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공유 함수 단위</a:t>
                      </a:r>
                      <a:endParaRPr lang="en-US" altLang="ko-KR" sz="1200" b="0" baseline="0"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타 컴포넌트 호출시 호출의 단위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163192"/>
                  </a:ext>
                </a:extLst>
              </a:tr>
              <a:tr h="35360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DU</a:t>
                      </a:r>
                    </a:p>
                    <a:p>
                      <a:pPr algn="ctr" latinLnBrk="1"/>
                      <a:r>
                        <a:rPr lang="en-US" altLang="ko-KR" sz="1400" b="0">
                          <a:latin typeface="+mn-ea"/>
                          <a:ea typeface="+mn-ea"/>
                        </a:rPr>
                        <a:t>(Data Unit)</a:t>
                      </a:r>
                      <a:endParaRPr lang="ko-KR" altLang="en-US" sz="14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n-ea"/>
                          <a:ea typeface="+mn-ea"/>
                        </a:rPr>
                        <a:t>데이터 유닛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+mn-ea"/>
                          <a:ea typeface="+mn-ea"/>
                        </a:rPr>
                        <a:t>DAO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주로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테이블당 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DU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하나 개발이 기본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74611"/>
                  </a:ext>
                </a:extLst>
              </a:tr>
              <a:tr h="35360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DM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</a:rPr>
                        <a:t>(Data Method)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DU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클래스의 메소드 </a:t>
                      </a:r>
                      <a:r>
                        <a:rPr lang="en-US" altLang="ko-KR" sz="1200" b="0">
                          <a:latin typeface="+mn-ea"/>
                          <a:ea typeface="+mn-ea"/>
                          <a:cs typeface="맑은 고딕" panose="020B0503020000020004" pitchFamily="50" charset="-127"/>
                          <a:sym typeface="Wingdings" panose="05000000000000000000" pitchFamily="2" charset="2"/>
                        </a:rPr>
                        <a:t> DM </a:t>
                      </a:r>
                      <a:r>
                        <a:rPr lang="ko-KR" altLang="en-US" sz="1200" b="0">
                          <a:latin typeface="+mn-ea"/>
                          <a:ea typeface="+mn-ea"/>
                          <a:cs typeface="맑은 고딕" panose="020B0503020000020004" pitchFamily="50" charset="-127"/>
                          <a:sym typeface="Wingdings" panose="05000000000000000000" pitchFamily="2" charset="2"/>
                        </a:rPr>
                        <a:t>메소드</a:t>
                      </a:r>
                      <a:endParaRPr lang="en-US" altLang="ko-KR" sz="1200" b="0">
                        <a:latin typeface="+mn-ea"/>
                        <a:ea typeface="+mn-ea"/>
                        <a:cs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250957"/>
                  </a:ext>
                </a:extLst>
              </a:tr>
              <a:tr h="3536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>
                          <a:latin typeface="+mn-ea"/>
                          <a:ea typeface="+mn-ea"/>
                        </a:rPr>
                        <a:t>계정성 업무 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다건의 데이터 조회전용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SELECT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테이들 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JOIN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등 복잡한 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SQL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작성</a:t>
                      </a:r>
                      <a:endParaRPr lang="en-US" altLang="ko-KR" sz="1200" b="0" baseline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baseline="0">
                          <a:latin typeface="+mn-ea"/>
                          <a:ea typeface="+mn-ea"/>
                        </a:rPr>
                        <a:t>일반서버 업무 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200" b="1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CRUD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모두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 DM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을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통한 작업 허용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33245"/>
                  </a:ext>
                </a:extLst>
              </a:tr>
              <a:tr h="353605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DBIO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DBIO </a:t>
                      </a: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데이블 데이터 변경에 대한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DBIO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로그를 생성하기 위한 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12343"/>
                  </a:ext>
                </a:extLst>
              </a:tr>
              <a:tr h="5334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DBM</a:t>
                      </a:r>
                    </a:p>
                    <a:p>
                      <a:pPr algn="ctr" latinLnBrk="1"/>
                      <a:r>
                        <a:rPr lang="en-US" altLang="ko-KR" sz="1200" b="0">
                          <a:latin typeface="+mn-ea"/>
                          <a:ea typeface="+mn-ea"/>
                        </a:rPr>
                        <a:t>(DBIO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 Method)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latin typeface="+mn-ea"/>
                          <a:ea typeface="+mn-ea"/>
                        </a:rPr>
                        <a:t>단건 데이터의 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Lock</a:t>
                      </a:r>
                      <a:r>
                        <a:rPr lang="en-US" altLang="ko-KR" sz="1200" b="1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SELECT, INSERT, UPDATE, DELETE</a:t>
                      </a:r>
                      <a:r>
                        <a:rPr lang="en-US" altLang="ko-KR" sz="1200" b="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200" b="0" baseline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latin typeface="+mn-ea"/>
                          <a:ea typeface="+mn-ea"/>
                        </a:rPr>
                        <a:t>√ 언제든지 재생성될 수 있으며</a:t>
                      </a:r>
                      <a:r>
                        <a:rPr lang="en-US" altLang="ko-KR" sz="12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latin typeface="+mn-ea"/>
                          <a:ea typeface="+mn-ea"/>
                        </a:rPr>
                        <a:t>개발자 임의로 변</a:t>
                      </a:r>
                      <a:r>
                        <a:rPr lang="ko-KR" altLang="en-US" sz="1200" b="0" baseline="0">
                          <a:latin typeface="+mn-ea"/>
                          <a:ea typeface="+mn-ea"/>
                        </a:rPr>
                        <a:t>경하면 안됩니다</a:t>
                      </a:r>
                      <a:r>
                        <a:rPr lang="en-US" altLang="ko-KR" sz="1200" b="0" baseline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150441"/>
                  </a:ext>
                </a:extLst>
              </a:tr>
            </a:tbl>
          </a:graphicData>
        </a:graphic>
      </p:graphicFrame>
      <p:sp>
        <p:nvSpPr>
          <p:cNvPr id="18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>
                <a:latin typeface="+mn-ea"/>
              </a:rPr>
              <a:t>컴포넌트 내 클래스는 </a:t>
            </a:r>
            <a:r>
              <a:rPr lang="en-US" altLang="ko-KR">
                <a:latin typeface="+mn-ea"/>
              </a:rPr>
              <a:t>4</a:t>
            </a:r>
            <a:r>
              <a:rPr lang="ko-KR" altLang="en-US">
                <a:latin typeface="+mn-ea"/>
              </a:rPr>
              <a:t>가지의 역할로 구분된다</a:t>
            </a:r>
            <a:r>
              <a:rPr lang="en-US" altLang="ko-KR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6210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선후처리 필터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/>
              <a:t>업무</a:t>
            </a:r>
            <a:r>
              <a:rPr lang="en-US" altLang="ko-KR"/>
              <a:t>PM</a:t>
            </a:r>
            <a:r>
              <a:rPr lang="ko-KR" altLang="en-US"/>
              <a:t>이 실행되기 전에 먼저 실행되는 선처리 기능과 </a:t>
            </a:r>
            <a:r>
              <a:rPr lang="en-US" altLang="ko-KR"/>
              <a:t>PM </a:t>
            </a:r>
            <a:r>
              <a:rPr lang="ko-KR" altLang="en-US"/>
              <a:t>종료 후 실행되는 처리 기능을 지원한다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1376772"/>
            <a:ext cx="6299200" cy="3049905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00263"/>
              </p:ext>
            </p:extLst>
          </p:nvPr>
        </p:nvGraphicFramePr>
        <p:xfrm>
          <a:off x="6736118" y="1700808"/>
          <a:ext cx="2933405" cy="1549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62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선처리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패키지</a:t>
                      </a:r>
                      <a:r>
                        <a:rPr lang="en-US" altLang="ko-KR" sz="1000" b="0" kern="100" baseline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com.kbstar.###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컴포넌트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bfafprcss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FU.FM : FUFworkBfAf.bfPrcss()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18331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후처리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패키지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com.kbstar.###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컴포넌트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bfafprcss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FU.FM : FUFworkBfAf.afPrcss()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에러후처리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패키지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com.kbstar.###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컴포넌트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: bfafprcss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FU.FM : FUFworkBfAf.errAfPrcss()</a:t>
                      </a:r>
                      <a:endParaRPr lang="ko-KR" sz="1000" b="0" kern="10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81192" y="1489605"/>
            <a:ext cx="128674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cs typeface="Arial" pitchFamily="34" charset="0"/>
              </a:rPr>
              <a:t>선후처리 명명 규칙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6118" y="3268877"/>
            <a:ext cx="2814407" cy="5343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cs typeface="Arial" pitchFamily="34" charset="0"/>
              </a:rPr>
              <a:t>어플리케이션 코드별로 선후처리를 구분하며</a:t>
            </a:r>
            <a:endParaRPr lang="en-US" altLang="ko-KR" sz="1000"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cs typeface="Arial" pitchFamily="34" charset="0"/>
              </a:rPr>
              <a:t>위와 같이 특정 이름의 </a:t>
            </a:r>
            <a:r>
              <a:rPr lang="en-US" altLang="ko-KR" sz="1000">
                <a:cs typeface="Arial" pitchFamily="34" charset="0"/>
              </a:rPr>
              <a:t>FM</a:t>
            </a:r>
            <a:r>
              <a:rPr lang="ko-KR" altLang="en-US" sz="1000">
                <a:cs typeface="Arial" pitchFamily="34" charset="0"/>
              </a:rPr>
              <a:t>존재시 그 </a:t>
            </a:r>
            <a:r>
              <a:rPr lang="en-US" altLang="ko-KR" sz="1000">
                <a:cs typeface="Arial" pitchFamily="34" charset="0"/>
              </a:rPr>
              <a:t>FM</a:t>
            </a:r>
            <a:r>
              <a:rPr lang="ko-KR" altLang="en-US" sz="1000">
                <a:cs typeface="Arial" pitchFamily="34" charset="0"/>
              </a:rPr>
              <a:t>을 호출한다</a:t>
            </a:r>
            <a:r>
              <a:rPr lang="en-US" altLang="ko-KR" sz="1000">
                <a:cs typeface="Arial" pitchFamily="34" charset="0"/>
              </a:rPr>
              <a:t>.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2480" y="4429375"/>
            <a:ext cx="6913404" cy="79982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>
                <a:latin typeface="+mn-ea"/>
                <a:cs typeface="Arial" pitchFamily="34" charset="0"/>
              </a:rPr>
              <a:t>- </a:t>
            </a:r>
            <a:r>
              <a:rPr lang="ko-KR" altLang="en-US" sz="1050">
                <a:latin typeface="+mn-ea"/>
                <a:cs typeface="Arial" pitchFamily="34" charset="0"/>
              </a:rPr>
              <a:t>선후처리 </a:t>
            </a:r>
            <a:r>
              <a:rPr lang="en-US" altLang="ko-KR" sz="1050">
                <a:latin typeface="+mn-ea"/>
                <a:cs typeface="Arial" pitchFamily="34" charset="0"/>
              </a:rPr>
              <a:t>FM</a:t>
            </a:r>
            <a:r>
              <a:rPr lang="ko-KR" altLang="en-US" sz="1050">
                <a:latin typeface="+mn-ea"/>
                <a:cs typeface="Arial" pitchFamily="34" charset="0"/>
              </a:rPr>
              <a:t>은 </a:t>
            </a:r>
            <a:r>
              <a:rPr lang="en-US" altLang="ko-KR" sz="1050">
                <a:latin typeface="+mn-ea"/>
                <a:cs typeface="Arial" pitchFamily="34" charset="0"/>
              </a:rPr>
              <a:t>‘</a:t>
            </a:r>
            <a:r>
              <a:rPr lang="ko-KR" altLang="en-US" sz="1050">
                <a:latin typeface="+mn-ea"/>
                <a:cs typeface="Arial" pitchFamily="34" charset="0"/>
              </a:rPr>
              <a:t>공유메소드</a:t>
            </a:r>
            <a:r>
              <a:rPr lang="en-US" altLang="ko-KR" sz="1050">
                <a:latin typeface="+mn-ea"/>
                <a:cs typeface="Arial" pitchFamily="34" charset="0"/>
              </a:rPr>
              <a:t>’</a:t>
            </a:r>
            <a:r>
              <a:rPr lang="ko-KR" altLang="en-US" sz="1050">
                <a:latin typeface="+mn-ea"/>
                <a:cs typeface="Arial" pitchFamily="34" charset="0"/>
              </a:rPr>
              <a:t>로 생성되어야 한다</a:t>
            </a:r>
            <a:r>
              <a:rPr lang="en-US" altLang="ko-KR" sz="1050"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50">
                <a:latin typeface="+mn-ea"/>
                <a:cs typeface="Arial" pitchFamily="34" charset="0"/>
              </a:rPr>
              <a:t>- </a:t>
            </a:r>
            <a:r>
              <a:rPr lang="ko-KR" altLang="en-US" sz="1050">
                <a:latin typeface="+mn-ea"/>
                <a:cs typeface="Arial" pitchFamily="34" charset="0"/>
              </a:rPr>
              <a:t>선후처리 </a:t>
            </a:r>
            <a:r>
              <a:rPr lang="en-US" altLang="ko-KR" sz="1050">
                <a:latin typeface="+mn-ea"/>
                <a:cs typeface="Arial" pitchFamily="34" charset="0"/>
              </a:rPr>
              <a:t>FM</a:t>
            </a:r>
            <a:r>
              <a:rPr lang="ko-KR" altLang="en-US" sz="1050">
                <a:latin typeface="+mn-ea"/>
                <a:cs typeface="Arial" pitchFamily="34" charset="0"/>
              </a:rPr>
              <a:t>은 </a:t>
            </a:r>
            <a:r>
              <a:rPr lang="en-US" altLang="ko-KR" sz="1050">
                <a:latin typeface="+mn-ea"/>
                <a:cs typeface="Arial" pitchFamily="34" charset="0"/>
              </a:rPr>
              <a:t>nKESA</a:t>
            </a:r>
            <a:r>
              <a:rPr lang="ko-KR" altLang="en-US" sz="1050">
                <a:latin typeface="+mn-ea"/>
                <a:cs typeface="Arial" pitchFamily="34" charset="0"/>
              </a:rPr>
              <a:t> 관리콘솔에 등록되어야 한다</a:t>
            </a:r>
            <a:r>
              <a:rPr lang="en-US" altLang="ko-KR" sz="1050">
                <a:latin typeface="+mn-ea"/>
                <a:cs typeface="Arial" pitchFamily="34" charset="0"/>
              </a:rPr>
              <a:t>. (nKESA </a:t>
            </a:r>
            <a:r>
              <a:rPr lang="ko-KR" altLang="en-US" sz="1050">
                <a:latin typeface="+mn-ea"/>
                <a:cs typeface="Arial" pitchFamily="34" charset="0"/>
              </a:rPr>
              <a:t>담당자에게 요청</a:t>
            </a:r>
            <a:r>
              <a:rPr lang="en-US" altLang="ko-KR" sz="1050">
                <a:latin typeface="+mn-ea"/>
                <a:cs typeface="Arial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0">
                <a:latin typeface="+mn-ea"/>
                <a:cs typeface="Arial" pitchFamily="34" charset="0"/>
              </a:rPr>
              <a:t>- </a:t>
            </a:r>
            <a:r>
              <a:rPr lang="ko-KR" altLang="en-US" sz="1050">
                <a:latin typeface="+mn-ea"/>
                <a:cs typeface="Arial" pitchFamily="34" charset="0"/>
              </a:rPr>
              <a:t>개발서버와 로컬 </a:t>
            </a:r>
            <a:r>
              <a:rPr lang="en-US" altLang="ko-KR" sz="1050">
                <a:latin typeface="+mn-ea"/>
                <a:cs typeface="Arial" pitchFamily="34" charset="0"/>
              </a:rPr>
              <a:t>WAS</a:t>
            </a:r>
            <a:r>
              <a:rPr lang="ko-KR" altLang="en-US" sz="1050">
                <a:latin typeface="+mn-ea"/>
                <a:cs typeface="Arial" pitchFamily="34" charset="0"/>
              </a:rPr>
              <a:t>에 모두 동일한 설정이 적용된다</a:t>
            </a:r>
            <a:r>
              <a:rPr lang="en-US" altLang="ko-KR" sz="1050">
                <a:latin typeface="+mn-ea"/>
                <a:cs typeface="Arial" pitchFamily="34" charset="0"/>
              </a:rPr>
              <a:t>. </a:t>
            </a:r>
            <a:r>
              <a:rPr lang="ko-KR" altLang="en-US" sz="1050">
                <a:latin typeface="+mn-ea"/>
                <a:cs typeface="Arial" pitchFamily="34" charset="0"/>
              </a:rPr>
              <a:t>로컬 거래테스트를 위해서 모든 개발자  </a:t>
            </a:r>
            <a:r>
              <a:rPr lang="en-US" altLang="ko-KR" sz="1050">
                <a:latin typeface="+mn-ea"/>
                <a:cs typeface="Arial" pitchFamily="34" charset="0"/>
              </a:rPr>
              <a:t>PC</a:t>
            </a:r>
            <a:r>
              <a:rPr lang="ko-KR" altLang="en-US" sz="1050">
                <a:latin typeface="+mn-ea"/>
                <a:cs typeface="Arial" pitchFamily="34" charset="0"/>
              </a:rPr>
              <a:t>에 배포되어 있어야 한다</a:t>
            </a:r>
            <a:r>
              <a:rPr lang="en-US" altLang="ko-KR" sz="1050">
                <a:latin typeface="+mn-ea"/>
                <a:cs typeface="Arial" pitchFamily="34" charset="0"/>
              </a:rPr>
              <a:t>.</a:t>
            </a:r>
            <a:endParaRPr lang="ko-KR" altLang="en-US" sz="1050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51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선후처리 </a:t>
            </a:r>
            <a:r>
              <a:rPr lang="ko-KR" altLang="en-US" dirty="0"/>
              <a:t>실행 흐름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에러</a:t>
            </a:r>
            <a:r>
              <a:rPr lang="en-US" altLang="ko-KR" dirty="0"/>
              <a:t> </a:t>
            </a:r>
            <a:r>
              <a:rPr lang="ko-KR" altLang="en-US" dirty="0"/>
              <a:t>발생시 해당 위치에서 가장 가까운 에러 후처리 필터가 역순으로 실행됨</a:t>
            </a:r>
            <a:r>
              <a:rPr lang="en-US" altLang="ko-KR" dirty="0"/>
              <a:t>. </a:t>
            </a:r>
            <a:r>
              <a:rPr lang="ko-KR" altLang="en-US" dirty="0"/>
              <a:t>정상 </a:t>
            </a:r>
            <a:r>
              <a:rPr lang="ko-KR" altLang="en-US" dirty="0" err="1"/>
              <a:t>후처리와</a:t>
            </a:r>
            <a:r>
              <a:rPr lang="ko-KR" altLang="en-US" dirty="0"/>
              <a:t> 에러 </a:t>
            </a:r>
            <a:r>
              <a:rPr lang="ko-KR" altLang="en-US" dirty="0" err="1"/>
              <a:t>후처리를</a:t>
            </a:r>
            <a:r>
              <a:rPr lang="ko-KR" altLang="en-US" dirty="0"/>
              <a:t> 별도의 필터로 구성</a:t>
            </a:r>
            <a:r>
              <a:rPr lang="en-US" altLang="ko-KR" dirty="0"/>
              <a:t>. </a:t>
            </a:r>
            <a:r>
              <a:rPr lang="ko-KR" altLang="en-US" dirty="0"/>
              <a:t>시스템</a:t>
            </a:r>
            <a:r>
              <a:rPr lang="en-US" altLang="ko-KR" dirty="0"/>
              <a:t>/</a:t>
            </a:r>
            <a:r>
              <a:rPr lang="ko-KR" altLang="en-US" dirty="0" err="1"/>
              <a:t>전행공통</a:t>
            </a:r>
            <a:r>
              <a:rPr lang="en-US" altLang="ko-KR" dirty="0"/>
              <a:t>/</a:t>
            </a:r>
            <a:r>
              <a:rPr lang="ko-KR" altLang="en-US" dirty="0"/>
              <a:t>업무별 </a:t>
            </a:r>
            <a:r>
              <a:rPr lang="ko-KR" altLang="en-US" dirty="0" err="1"/>
              <a:t>선후처리</a:t>
            </a:r>
            <a:r>
              <a:rPr lang="ko-KR" altLang="en-US" dirty="0"/>
              <a:t> 를 다음과 같이 설정함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496" y="1700203"/>
            <a:ext cx="7360220" cy="3021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13340" y="1703333"/>
            <a:ext cx="1152128" cy="3018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8141506" y="2427784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PM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8427256" y="2975472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8428844" y="3499347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8576481" y="2837360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8590769" y="3375523"/>
            <a:ext cx="247651" cy="2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143094" y="4134087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7546690" y="3429002"/>
            <a:ext cx="147855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rot="16200000">
            <a:off x="7909440" y="2413646"/>
            <a:ext cx="0" cy="24590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rot="16200000" flipV="1">
            <a:off x="7899368" y="3139682"/>
            <a:ext cx="2" cy="227942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ea typeface="맑은 고딕" pitchFamily="50" charset="-127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1456025" y="1834785"/>
            <a:ext cx="563880" cy="276812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FWK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ea typeface="맑은 고딕" pitchFamily="50" charset="-127"/>
              </a:rPr>
              <a:t>메인</a:t>
            </a: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3554494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6226160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866858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4944764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86" name="Text Box 25"/>
          <p:cNvSpPr txBox="1">
            <a:spLocks noChangeArrowheads="1"/>
          </p:cNvSpPr>
          <p:nvPr/>
        </p:nvSpPr>
        <p:spPr bwMode="auto">
          <a:xfrm>
            <a:off x="5585462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graphicFrame>
        <p:nvGraphicFramePr>
          <p:cNvPr id="105" name="표 104"/>
          <p:cNvGraphicFramePr>
            <a:graphicFrameLocks noGrp="1"/>
          </p:cNvGraphicFramePr>
          <p:nvPr/>
        </p:nvGraphicFramePr>
        <p:xfrm>
          <a:off x="704530" y="5058640"/>
          <a:ext cx="8640958" cy="1240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0">
                  <a:extLst>
                    <a:ext uri="{9D8B030D-6E8A-4147-A177-3AD203B41FA5}">
                      <a16:colId xmlns:a16="http://schemas.microsoft.com/office/drawing/2014/main" val="3507271964"/>
                    </a:ext>
                  </a:extLst>
                </a:gridCol>
                <a:gridCol w="8256918">
                  <a:extLst>
                    <a:ext uri="{9D8B030D-6E8A-4147-A177-3AD203B41FA5}">
                      <a16:colId xmlns:a16="http://schemas.microsoft.com/office/drawing/2014/main" val="655574096"/>
                    </a:ext>
                  </a:extLst>
                </a:gridCol>
              </a:tblGrid>
              <a:tr h="314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선처리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도메인 선처리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FM)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정상 후처리 실행 없이 가장 가까운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App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별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 후 역순으로 에러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실행됨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39194"/>
                  </a:ext>
                </a:extLst>
              </a:tr>
              <a:tr h="2435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PM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정상 후처리 실행 없이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“App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별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에러후처리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 후 역순으로 에러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실행됨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07460"/>
                  </a:ext>
                </a:extLst>
              </a:tr>
              <a:tr h="341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정상 후처리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전행공통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후처리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발생시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후속 정상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후처리들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미실행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 에러 후처리 실행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770799"/>
                  </a:ext>
                </a:extLst>
              </a:tr>
              <a:tr h="341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후처리 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발생시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후속 에러 후처리 계속 실행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. “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도메인 에러 후처리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에서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에러 발생시 그 다음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900" u="sng" baseline="0" dirty="0" err="1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전행공통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u="none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시스템 에러 후처리 </a:t>
                      </a:r>
                      <a:r>
                        <a:rPr lang="en-US" altLang="ko-KR" sz="900" u="sng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FM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”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실행</a:t>
                      </a:r>
                      <a:endParaRPr lang="en-US" altLang="ko-KR" sz="900" baseline="0" dirty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39497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8321" y="1385078"/>
            <a:ext cx="4041485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dirty="0">
                <a:cs typeface="Arial" pitchFamily="34" charset="0"/>
              </a:rPr>
              <a:t>■ 에러 발생 위치 별 </a:t>
            </a:r>
            <a:r>
              <a:rPr lang="ko-KR" altLang="en-US" sz="1400" dirty="0" err="1">
                <a:cs typeface="Arial" pitchFamily="34" charset="0"/>
              </a:rPr>
              <a:t>선후처리</a:t>
            </a:r>
            <a:r>
              <a:rPr lang="ko-KR" altLang="en-US" sz="1400" dirty="0">
                <a:cs typeface="Arial" pitchFamily="34" charset="0"/>
              </a:rPr>
              <a:t> 실행 흐름</a:t>
            </a: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2913796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997085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629706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278260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선처리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905750" y="2135191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선처리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997085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629706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278260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도메인 후처리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917304" y="3251315"/>
            <a:ext cx="410335" cy="5452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후처리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2957174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전행공통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7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3598896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도메인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4" name="Text Box 25"/>
          <p:cNvSpPr txBox="1">
            <a:spLocks noChangeArrowheads="1"/>
          </p:cNvSpPr>
          <p:nvPr/>
        </p:nvSpPr>
        <p:spPr bwMode="auto">
          <a:xfrm>
            <a:off x="2273098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2313718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시스템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7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1" name="Text Box 25"/>
          <p:cNvSpPr txBox="1">
            <a:spLocks noChangeArrowheads="1"/>
          </p:cNvSpPr>
          <p:nvPr/>
        </p:nvSpPr>
        <p:spPr bwMode="auto">
          <a:xfrm>
            <a:off x="4195192" y="1935826"/>
            <a:ext cx="498410" cy="255631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>
            <a:defPPr>
              <a:defRPr lang="de-DE"/>
            </a:defPPr>
            <a:lvl1pPr algn="ctr" defTabSz="1905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 kumimoji="0" sz="1000" kern="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4239027" y="3824548"/>
            <a:ext cx="410335" cy="545208"/>
          </a:xfrm>
          <a:prstGeom prst="rect">
            <a:avLst/>
          </a:prstGeom>
          <a:solidFill>
            <a:srgbClr val="FF3300">
              <a:alpha val="41176"/>
            </a:srgb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App</a:t>
            </a:r>
            <a:r>
              <a:rPr lang="ko-KR" altLang="en-US" sz="700" dirty="0">
                <a:solidFill>
                  <a:schemeClr val="tx1"/>
                </a:solidFill>
                <a:cs typeface="Arial" pitchFamily="34" charset="0"/>
              </a:rPr>
              <a:t>별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700" dirty="0" err="1">
                <a:solidFill>
                  <a:schemeClr val="tx1"/>
                </a:solidFill>
                <a:cs typeface="Arial" pitchFamily="34" charset="0"/>
              </a:rPr>
              <a:t>에러후처리</a:t>
            </a:r>
            <a:b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7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2461354" y="3140968"/>
            <a:ext cx="2143802" cy="324000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후처리 설정하지 않음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2461354" y="2620776"/>
            <a:ext cx="2143802" cy="340172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선처리 설정하지 않음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5094212" y="3939452"/>
            <a:ext cx="2154866" cy="324000"/>
          </a:xfrm>
          <a:prstGeom prst="roundRect">
            <a:avLst/>
          </a:prstGeom>
          <a:solidFill>
            <a:srgbClr val="FFF6CC"/>
          </a:solidFill>
          <a:ln w="12700" cap="flat">
            <a:solidFill>
              <a:srgbClr val="9B171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정상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후처리용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구간은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에러 후처리 설정하지 않음</a:t>
            </a:r>
          </a:p>
        </p:txBody>
      </p:sp>
      <p:sp>
        <p:nvSpPr>
          <p:cNvPr id="169" name="순서도: 연결자 168"/>
          <p:cNvSpPr/>
          <p:nvPr/>
        </p:nvSpPr>
        <p:spPr>
          <a:xfrm>
            <a:off x="7249078" y="3689243"/>
            <a:ext cx="99752" cy="997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0" name="순서도: 연결자 169"/>
          <p:cNvSpPr/>
          <p:nvPr/>
        </p:nvSpPr>
        <p:spPr>
          <a:xfrm>
            <a:off x="6633737" y="3689243"/>
            <a:ext cx="99752" cy="997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74" name="직선 화살표 연결선 173"/>
          <p:cNvCxnSpPr>
            <a:stCxn id="172" idx="1"/>
          </p:cNvCxnSpPr>
          <p:nvPr/>
        </p:nvCxnSpPr>
        <p:spPr>
          <a:xfrm flipH="1" flipV="1">
            <a:off x="2033280" y="4369756"/>
            <a:ext cx="1859998" cy="10620"/>
          </a:xfrm>
          <a:prstGeom prst="straightConnector1">
            <a:avLst/>
          </a:pr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순서도: 연결자 176"/>
          <p:cNvSpPr/>
          <p:nvPr/>
        </p:nvSpPr>
        <p:spPr>
          <a:xfrm>
            <a:off x="2648394" y="4329100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37205" y="4824272"/>
            <a:ext cx="2351176" cy="2250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b="1" dirty="0">
                <a:cs typeface="Arial" pitchFamily="34" charset="0"/>
              </a:rPr>
              <a:t>에러 발생 </a:t>
            </a:r>
            <a:r>
              <a:rPr lang="ko-KR" altLang="en-US" sz="1100" b="1" dirty="0" err="1">
                <a:cs typeface="Arial" pitchFamily="34" charset="0"/>
              </a:rPr>
              <a:t>위치별</a:t>
            </a:r>
            <a:r>
              <a:rPr lang="ko-KR" altLang="en-US" sz="1100" b="1" dirty="0">
                <a:cs typeface="Arial" pitchFamily="34" charset="0"/>
              </a:rPr>
              <a:t> </a:t>
            </a:r>
            <a:r>
              <a:rPr lang="ko-KR" altLang="en-US" sz="1100" b="1" dirty="0" err="1">
                <a:cs typeface="Arial" pitchFamily="34" charset="0"/>
              </a:rPr>
              <a:t>선후처리</a:t>
            </a:r>
            <a:r>
              <a:rPr lang="ko-KR" altLang="en-US" sz="1100" b="1" dirty="0">
                <a:cs typeface="Arial" pitchFamily="34" charset="0"/>
              </a:rPr>
              <a:t> 실행 흐름 예</a:t>
            </a:r>
          </a:p>
        </p:txBody>
      </p:sp>
      <p:sp>
        <p:nvSpPr>
          <p:cNvPr id="180" name="폭발 1 179"/>
          <p:cNvSpPr/>
          <p:nvPr/>
        </p:nvSpPr>
        <p:spPr>
          <a:xfrm>
            <a:off x="732870" y="5058640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1" name="폭발 1 180"/>
          <p:cNvSpPr/>
          <p:nvPr/>
        </p:nvSpPr>
        <p:spPr>
          <a:xfrm>
            <a:off x="732870" y="5382678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2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2" name="폭발 1 181"/>
          <p:cNvSpPr/>
          <p:nvPr/>
        </p:nvSpPr>
        <p:spPr>
          <a:xfrm>
            <a:off x="738127" y="5649335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3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83" name="폭발 1 182"/>
          <p:cNvSpPr/>
          <p:nvPr/>
        </p:nvSpPr>
        <p:spPr>
          <a:xfrm>
            <a:off x="738127" y="5981103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4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90" name="자유형 189"/>
          <p:cNvSpPr/>
          <p:nvPr/>
        </p:nvSpPr>
        <p:spPr>
          <a:xfrm>
            <a:off x="2028586" y="2455073"/>
            <a:ext cx="4369601" cy="1443126"/>
          </a:xfrm>
          <a:custGeom>
            <a:avLst/>
            <a:gdLst>
              <a:gd name="connsiteX0" fmla="*/ 0 w 4819828"/>
              <a:gd name="connsiteY0" fmla="*/ 0 h 1367327"/>
              <a:gd name="connsiteX1" fmla="*/ 4819828 w 4819828"/>
              <a:gd name="connsiteY1" fmla="*/ 34183 h 1367327"/>
              <a:gd name="connsiteX2" fmla="*/ 3067940 w 4819828"/>
              <a:gd name="connsiteY2" fmla="*/ 1307507 h 1367327"/>
              <a:gd name="connsiteX3" fmla="*/ 42729 w 4819828"/>
              <a:gd name="connsiteY3" fmla="*/ 1367327 h 1367327"/>
              <a:gd name="connsiteX0" fmla="*/ 4896 w 4824724"/>
              <a:gd name="connsiteY0" fmla="*/ 0 h 1314939"/>
              <a:gd name="connsiteX1" fmla="*/ 4824724 w 4824724"/>
              <a:gd name="connsiteY1" fmla="*/ 34183 h 1314939"/>
              <a:gd name="connsiteX2" fmla="*/ 3072836 w 4824724"/>
              <a:gd name="connsiteY2" fmla="*/ 1307507 h 1314939"/>
              <a:gd name="connsiteX3" fmla="*/ 0 w 4824724"/>
              <a:gd name="connsiteY3" fmla="*/ 1314939 h 1314939"/>
              <a:gd name="connsiteX0" fmla="*/ 4896 w 4824724"/>
              <a:gd name="connsiteY0" fmla="*/ 0 h 1410102"/>
              <a:gd name="connsiteX1" fmla="*/ 4824724 w 4824724"/>
              <a:gd name="connsiteY1" fmla="*/ 34183 h 1410102"/>
              <a:gd name="connsiteX2" fmla="*/ 3107019 w 4824724"/>
              <a:gd name="connsiteY2" fmla="*/ 1410057 h 1410102"/>
              <a:gd name="connsiteX3" fmla="*/ 0 w 4824724"/>
              <a:gd name="connsiteY3" fmla="*/ 1314939 h 1410102"/>
              <a:gd name="connsiteX0" fmla="*/ 0 w 4819828"/>
              <a:gd name="connsiteY0" fmla="*/ 0 h 1477309"/>
              <a:gd name="connsiteX1" fmla="*/ 4819828 w 4819828"/>
              <a:gd name="connsiteY1" fmla="*/ 34183 h 1477309"/>
              <a:gd name="connsiteX2" fmla="*/ 3102123 w 4819828"/>
              <a:gd name="connsiteY2" fmla="*/ 1410057 h 1477309"/>
              <a:gd name="connsiteX3" fmla="*/ 12196 w 4819828"/>
              <a:gd name="connsiteY3" fmla="*/ 1477309 h 1477309"/>
              <a:gd name="connsiteX0" fmla="*/ 0 w 4819828"/>
              <a:gd name="connsiteY0" fmla="*/ 0 h 1477309"/>
              <a:gd name="connsiteX1" fmla="*/ 4819828 w 4819828"/>
              <a:gd name="connsiteY1" fmla="*/ 34183 h 1477309"/>
              <a:gd name="connsiteX2" fmla="*/ 3093577 w 4819828"/>
              <a:gd name="connsiteY2" fmla="*/ 1435694 h 1477309"/>
              <a:gd name="connsiteX3" fmla="*/ 12196 w 4819828"/>
              <a:gd name="connsiteY3" fmla="*/ 1477309 h 1477309"/>
              <a:gd name="connsiteX0" fmla="*/ 0 w 4819828"/>
              <a:gd name="connsiteY0" fmla="*/ 25638 h 1443126"/>
              <a:gd name="connsiteX1" fmla="*/ 4819828 w 4819828"/>
              <a:gd name="connsiteY1" fmla="*/ 0 h 1443126"/>
              <a:gd name="connsiteX2" fmla="*/ 3093577 w 4819828"/>
              <a:gd name="connsiteY2" fmla="*/ 1401511 h 1443126"/>
              <a:gd name="connsiteX3" fmla="*/ 12196 w 4819828"/>
              <a:gd name="connsiteY3" fmla="*/ 1443126 h 1443126"/>
              <a:gd name="connsiteX0" fmla="*/ 0 w 4819828"/>
              <a:gd name="connsiteY0" fmla="*/ 25638 h 1443126"/>
              <a:gd name="connsiteX1" fmla="*/ 4819828 w 4819828"/>
              <a:gd name="connsiteY1" fmla="*/ 0 h 1443126"/>
              <a:gd name="connsiteX2" fmla="*/ 2694334 w 4819828"/>
              <a:gd name="connsiteY2" fmla="*/ 1425324 h 1443126"/>
              <a:gd name="connsiteX3" fmla="*/ 12196 w 4819828"/>
              <a:gd name="connsiteY3" fmla="*/ 1443126 h 1443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828" h="1443126">
                <a:moveTo>
                  <a:pt x="0" y="25638"/>
                </a:moveTo>
                <a:lnTo>
                  <a:pt x="4819828" y="0"/>
                </a:lnTo>
                <a:lnTo>
                  <a:pt x="2694334" y="1425324"/>
                </a:lnTo>
                <a:lnTo>
                  <a:pt x="12196" y="1443126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자유형 190"/>
          <p:cNvSpPr/>
          <p:nvPr/>
        </p:nvSpPr>
        <p:spPr>
          <a:xfrm>
            <a:off x="2019904" y="2333002"/>
            <a:ext cx="6141329" cy="1656772"/>
          </a:xfrm>
          <a:custGeom>
            <a:avLst/>
            <a:gdLst>
              <a:gd name="connsiteX0" fmla="*/ 0 w 7016098"/>
              <a:gd name="connsiteY0" fmla="*/ 34183 h 1709159"/>
              <a:gd name="connsiteX1" fmla="*/ 6657174 w 7016098"/>
              <a:gd name="connsiteY1" fmla="*/ 0 h 1709159"/>
              <a:gd name="connsiteX2" fmla="*/ 7016098 w 7016098"/>
              <a:gd name="connsiteY2" fmla="*/ 435835 h 1709159"/>
              <a:gd name="connsiteX3" fmla="*/ 3264494 w 7016098"/>
              <a:gd name="connsiteY3" fmla="*/ 1572426 h 1709159"/>
              <a:gd name="connsiteX4" fmla="*/ 68367 w 7016098"/>
              <a:gd name="connsiteY4" fmla="*/ 1709159 h 1709159"/>
              <a:gd name="connsiteX0" fmla="*/ 0 w 7016098"/>
              <a:gd name="connsiteY0" fmla="*/ 34183 h 1656772"/>
              <a:gd name="connsiteX1" fmla="*/ 6657174 w 7016098"/>
              <a:gd name="connsiteY1" fmla="*/ 0 h 1656772"/>
              <a:gd name="connsiteX2" fmla="*/ 7016098 w 7016098"/>
              <a:gd name="connsiteY2" fmla="*/ 435835 h 1656772"/>
              <a:gd name="connsiteX3" fmla="*/ 3264494 w 7016098"/>
              <a:gd name="connsiteY3" fmla="*/ 1572426 h 1656772"/>
              <a:gd name="connsiteX4" fmla="*/ 11217 w 7016098"/>
              <a:gd name="connsiteY4" fmla="*/ 1656772 h 1656772"/>
              <a:gd name="connsiteX0" fmla="*/ 0 w 7016098"/>
              <a:gd name="connsiteY0" fmla="*/ 34183 h 1656772"/>
              <a:gd name="connsiteX1" fmla="*/ 6657174 w 7016098"/>
              <a:gd name="connsiteY1" fmla="*/ 0 h 1656772"/>
              <a:gd name="connsiteX2" fmla="*/ 7016098 w 7016098"/>
              <a:gd name="connsiteY2" fmla="*/ 435835 h 1656772"/>
              <a:gd name="connsiteX3" fmla="*/ 2807461 w 7016098"/>
              <a:gd name="connsiteY3" fmla="*/ 1610526 h 1656772"/>
              <a:gd name="connsiteX4" fmla="*/ 11217 w 7016098"/>
              <a:gd name="connsiteY4" fmla="*/ 1656772 h 1656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6098" h="1656772">
                <a:moveTo>
                  <a:pt x="0" y="34183"/>
                </a:moveTo>
                <a:lnTo>
                  <a:pt x="6657174" y="0"/>
                </a:lnTo>
                <a:lnTo>
                  <a:pt x="7016098" y="435835"/>
                </a:lnTo>
                <a:lnTo>
                  <a:pt x="2807461" y="1610526"/>
                </a:lnTo>
                <a:lnTo>
                  <a:pt x="11217" y="1656772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자유형 191"/>
          <p:cNvSpPr/>
          <p:nvPr/>
        </p:nvSpPr>
        <p:spPr>
          <a:xfrm>
            <a:off x="2019905" y="2238998"/>
            <a:ext cx="6508798" cy="2038528"/>
          </a:xfrm>
          <a:custGeom>
            <a:avLst/>
            <a:gdLst>
              <a:gd name="connsiteX0" fmla="*/ 0 w 7383567"/>
              <a:gd name="connsiteY0" fmla="*/ 17092 h 2076628"/>
              <a:gd name="connsiteX1" fmla="*/ 6751178 w 7383567"/>
              <a:gd name="connsiteY1" fmla="*/ 0 h 2076628"/>
              <a:gd name="connsiteX2" fmla="*/ 7383567 w 7383567"/>
              <a:gd name="connsiteY2" fmla="*/ 358923 h 2076628"/>
              <a:gd name="connsiteX3" fmla="*/ 6494804 w 7383567"/>
              <a:gd name="connsiteY3" fmla="*/ 1512606 h 2076628"/>
              <a:gd name="connsiteX4" fmla="*/ 4495088 w 7383567"/>
              <a:gd name="connsiteY4" fmla="*/ 1512606 h 2076628"/>
              <a:gd name="connsiteX5" fmla="*/ 3255948 w 7383567"/>
              <a:gd name="connsiteY5" fmla="*/ 2016808 h 2076628"/>
              <a:gd name="connsiteX6" fmla="*/ 68367 w 7383567"/>
              <a:gd name="connsiteY6" fmla="*/ 2076628 h 2076628"/>
              <a:gd name="connsiteX0" fmla="*/ 0 w 7383567"/>
              <a:gd name="connsiteY0" fmla="*/ 17092 h 2038528"/>
              <a:gd name="connsiteX1" fmla="*/ 6751178 w 7383567"/>
              <a:gd name="connsiteY1" fmla="*/ 0 h 2038528"/>
              <a:gd name="connsiteX2" fmla="*/ 7383567 w 7383567"/>
              <a:gd name="connsiteY2" fmla="*/ 358923 h 2038528"/>
              <a:gd name="connsiteX3" fmla="*/ 6494804 w 7383567"/>
              <a:gd name="connsiteY3" fmla="*/ 1512606 h 2038528"/>
              <a:gd name="connsiteX4" fmla="*/ 4495088 w 7383567"/>
              <a:gd name="connsiteY4" fmla="*/ 1512606 h 2038528"/>
              <a:gd name="connsiteX5" fmla="*/ 3255948 w 7383567"/>
              <a:gd name="connsiteY5" fmla="*/ 2016808 h 2038528"/>
              <a:gd name="connsiteX6" fmla="*/ 1692 w 7383567"/>
              <a:gd name="connsiteY6" fmla="*/ 2038528 h 2038528"/>
              <a:gd name="connsiteX0" fmla="*/ 0 w 7383567"/>
              <a:gd name="connsiteY0" fmla="*/ 17092 h 2038528"/>
              <a:gd name="connsiteX1" fmla="*/ 6751178 w 7383567"/>
              <a:gd name="connsiteY1" fmla="*/ 0 h 2038528"/>
              <a:gd name="connsiteX2" fmla="*/ 7383567 w 7383567"/>
              <a:gd name="connsiteY2" fmla="*/ 358923 h 2038528"/>
              <a:gd name="connsiteX3" fmla="*/ 6494804 w 7383567"/>
              <a:gd name="connsiteY3" fmla="*/ 1512606 h 2038528"/>
              <a:gd name="connsiteX4" fmla="*/ 4495088 w 7383567"/>
              <a:gd name="connsiteY4" fmla="*/ 1512606 h 2038528"/>
              <a:gd name="connsiteX5" fmla="*/ 2845352 w 7383567"/>
              <a:gd name="connsiteY5" fmla="*/ 2021570 h 2038528"/>
              <a:gd name="connsiteX6" fmla="*/ 1692 w 7383567"/>
              <a:gd name="connsiteY6" fmla="*/ 2038528 h 203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3567" h="2038528">
                <a:moveTo>
                  <a:pt x="0" y="17092"/>
                </a:moveTo>
                <a:lnTo>
                  <a:pt x="6751178" y="0"/>
                </a:lnTo>
                <a:lnTo>
                  <a:pt x="7383567" y="358923"/>
                </a:lnTo>
                <a:lnTo>
                  <a:pt x="6494804" y="1512606"/>
                </a:lnTo>
                <a:lnTo>
                  <a:pt x="4495088" y="1512606"/>
                </a:lnTo>
                <a:lnTo>
                  <a:pt x="2845352" y="2021570"/>
                </a:lnTo>
                <a:lnTo>
                  <a:pt x="1692" y="2038528"/>
                </a:lnTo>
              </a:path>
            </a:pathLst>
          </a:custGeom>
          <a:noFill/>
          <a:ln w="19050" cap="flat">
            <a:solidFill>
              <a:srgbClr val="0070C0">
                <a:alpha val="50196"/>
              </a:srgbClr>
            </a:solidFill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폭발 1 159"/>
          <p:cNvSpPr/>
          <p:nvPr/>
        </p:nvSpPr>
        <p:spPr>
          <a:xfrm>
            <a:off x="6242225" y="2384884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ea typeface="KB금융 본문체 Light" panose="020B0303000000000000" pitchFamily="50" charset="-127"/>
                <a:cs typeface="Arial" pitchFamily="34" charset="0"/>
              </a:rPr>
              <a:t>1</a:t>
            </a:r>
            <a:endParaRPr lang="ko-KR" altLang="en-US" sz="900" b="1" dirty="0">
              <a:solidFill>
                <a:schemeClr val="bg1"/>
              </a:solidFill>
              <a:ea typeface="KB금융 본문체 Light" panose="020B0303000000000000" pitchFamily="50" charset="-127"/>
              <a:cs typeface="Arial" pitchFamily="34" charset="0"/>
            </a:endParaRPr>
          </a:p>
        </p:txBody>
      </p:sp>
      <p:sp>
        <p:nvSpPr>
          <p:cNvPr id="164" name="폭발 1 163"/>
          <p:cNvSpPr/>
          <p:nvPr/>
        </p:nvSpPr>
        <p:spPr>
          <a:xfrm>
            <a:off x="7980704" y="2590330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5" name="폭발 1 164"/>
          <p:cNvSpPr/>
          <p:nvPr/>
        </p:nvSpPr>
        <p:spPr>
          <a:xfrm>
            <a:off x="5886914" y="3601759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2" name="폭발 1 171"/>
          <p:cNvSpPr/>
          <p:nvPr/>
        </p:nvSpPr>
        <p:spPr>
          <a:xfrm>
            <a:off x="3893278" y="4268758"/>
            <a:ext cx="241202" cy="279856"/>
          </a:xfrm>
          <a:prstGeom prst="irregularSeal1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9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5" name="순서도: 연결자 194"/>
          <p:cNvSpPr/>
          <p:nvPr/>
        </p:nvSpPr>
        <p:spPr>
          <a:xfrm>
            <a:off x="3308119" y="4313810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순서도: 연결자 67"/>
          <p:cNvSpPr/>
          <p:nvPr/>
        </p:nvSpPr>
        <p:spPr>
          <a:xfrm>
            <a:off x="4424230" y="3824861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순서도: 연결자 68"/>
          <p:cNvSpPr/>
          <p:nvPr/>
        </p:nvSpPr>
        <p:spPr>
          <a:xfrm>
            <a:off x="4568012" y="3869181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1" name="순서도: 연결자 70"/>
          <p:cNvSpPr/>
          <p:nvPr/>
        </p:nvSpPr>
        <p:spPr>
          <a:xfrm>
            <a:off x="4562218" y="4192828"/>
            <a:ext cx="97786" cy="94013"/>
          </a:xfrm>
          <a:prstGeom prst="flowChartConnector">
            <a:avLst/>
          </a:prstGeom>
          <a:solidFill>
            <a:srgbClr val="C00000"/>
          </a:solidFill>
          <a:ln w="6350" cap="flat">
            <a:solidFill>
              <a:srgbClr val="9B171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2" name="Text Box 25">
            <a:extLst>
              <a:ext uri="{FF2B5EF4-FFF2-40B4-BE49-F238E27FC236}">
                <a16:creationId xmlns:a16="http://schemas.microsoft.com/office/drawing/2014/main" id="{4FEEBBAF-C206-4288-A12A-1FAB050A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494" y="4319191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64" name="Text Box 25">
            <a:extLst>
              <a:ext uri="{FF2B5EF4-FFF2-40B4-BE49-F238E27FC236}">
                <a16:creationId xmlns:a16="http://schemas.microsoft.com/office/drawing/2014/main" id="{CDF0AAD6-8C0E-403D-A632-FF9EAB10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244" y="3707123"/>
            <a:ext cx="56991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ea typeface="맑은 고딕" pitchFamily="50" charset="-127"/>
              </a:rPr>
              <a:t>DBM</a:t>
            </a:r>
            <a:endParaRPr kumimoji="0" lang="ko-KR" altLang="en-US" sz="1000" kern="0" dirty="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997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2029147" y="1340768"/>
            <a:ext cx="5069267" cy="26897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5457056" y="1512560"/>
            <a:ext cx="1512168" cy="2318543"/>
          </a:xfrm>
          <a:prstGeom prst="roundRect">
            <a:avLst>
              <a:gd name="adj" fmla="val 10368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218768" y="1509737"/>
            <a:ext cx="2205451" cy="2148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DataSource </a:t>
            </a:r>
            <a:r>
              <a:rPr lang="ko-KR" altLang="en-US" dirty="0"/>
              <a:t>매핑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en-US" altLang="ko-KR" dirty="0"/>
              <a:t>WAS </a:t>
            </a:r>
            <a:r>
              <a:rPr lang="ko-KR" altLang="en-US" dirty="0"/>
              <a:t>의 </a:t>
            </a:r>
            <a:r>
              <a:rPr lang="en-US" altLang="ko-KR" dirty="0" err="1"/>
              <a:t>DataSource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XA, Non-XA </a:t>
            </a:r>
            <a:r>
              <a:rPr lang="ko-KR" altLang="en-US" dirty="0"/>
              <a:t>데이터 소스를 모두 생성하고</a:t>
            </a:r>
            <a:r>
              <a:rPr lang="en-US" altLang="ko-KR" dirty="0"/>
              <a:t>, </a:t>
            </a:r>
            <a:r>
              <a:rPr lang="ko-KR" altLang="en-US" dirty="0"/>
              <a:t>필요에 따라 </a:t>
            </a:r>
            <a:r>
              <a:rPr lang="en-US" altLang="ko-KR" dirty="0"/>
              <a:t>FW </a:t>
            </a:r>
            <a:r>
              <a:rPr lang="ko-KR" altLang="en-US" dirty="0"/>
              <a:t>에서 선택적으로 매핑하도록 </a:t>
            </a:r>
            <a:r>
              <a:rPr lang="en-US" altLang="ko-KR" dirty="0"/>
              <a:t>API</a:t>
            </a:r>
            <a:r>
              <a:rPr lang="ko-KR" altLang="en-US" dirty="0"/>
              <a:t> 제공</a:t>
            </a:r>
            <a:r>
              <a:rPr lang="en-US" altLang="ko-KR" dirty="0"/>
              <a:t>. </a:t>
            </a:r>
            <a:r>
              <a:rPr lang="ko-KR" altLang="en-US" dirty="0"/>
              <a:t>주 트랜잭션은 </a:t>
            </a:r>
            <a:r>
              <a:rPr lang="en-US" altLang="ko-KR" dirty="0"/>
              <a:t>XA </a:t>
            </a:r>
            <a:r>
              <a:rPr lang="ko-KR" altLang="en-US" dirty="0"/>
              <a:t>데이터 소스로 기본 </a:t>
            </a:r>
            <a:r>
              <a:rPr lang="ko-KR" altLang="en-US" dirty="0" err="1"/>
              <a:t>매핑됨</a:t>
            </a:r>
            <a:r>
              <a:rPr lang="en-US" altLang="ko-KR" dirty="0"/>
              <a:t>. </a:t>
            </a:r>
            <a:r>
              <a:rPr lang="ko-KR" altLang="en-US" dirty="0"/>
              <a:t>요건에 따라 </a:t>
            </a:r>
            <a:r>
              <a:rPr lang="en-US" altLang="ko-KR" dirty="0"/>
              <a:t>2</a:t>
            </a:r>
            <a:r>
              <a:rPr lang="ko-KR" altLang="en-US" dirty="0"/>
              <a:t>개 이상의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순서도: 자기 디스크 4"/>
          <p:cNvSpPr/>
          <p:nvPr/>
        </p:nvSpPr>
        <p:spPr>
          <a:xfrm>
            <a:off x="7603459" y="1762269"/>
            <a:ext cx="919419" cy="9527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Main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513012" y="1901786"/>
            <a:ext cx="1588674" cy="1404156"/>
          </a:xfrm>
          <a:prstGeom prst="roundRect">
            <a:avLst>
              <a:gd name="adj" fmla="val 7849"/>
            </a:avLst>
          </a:prstGeom>
          <a:solidFill>
            <a:schemeClr val="bg1">
              <a:lumMod val="95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br>
              <a:rPr lang="en-US" altLang="ko-KR" sz="10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b="1" dirty="0">
                <a:solidFill>
                  <a:schemeClr val="tx1"/>
                </a:solidFill>
                <a:cs typeface="Arial" pitchFamily="34" charset="0"/>
              </a:rPr>
              <a:t>컴포넌트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692250" y="1870413"/>
            <a:ext cx="1175354" cy="33430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MainDS_XA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692250" y="2340807"/>
            <a:ext cx="1175354" cy="33430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MainDS_NonXA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" name="직선 화살표 연결선 14"/>
          <p:cNvCxnSpPr>
            <a:stCxn id="53" idx="3"/>
            <a:endCxn id="4" idx="1"/>
          </p:cNvCxnSpPr>
          <p:nvPr/>
        </p:nvCxnSpPr>
        <p:spPr>
          <a:xfrm flipV="1">
            <a:off x="3843476" y="2037565"/>
            <a:ext cx="1848774" cy="94015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53" idx="3"/>
            <a:endCxn id="13" idx="1"/>
          </p:cNvCxnSpPr>
          <p:nvPr/>
        </p:nvCxnSpPr>
        <p:spPr>
          <a:xfrm flipV="1">
            <a:off x="3843476" y="2507959"/>
            <a:ext cx="1848774" cy="46976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4" idx="3"/>
            <a:endCxn id="25" idx="1"/>
          </p:cNvCxnSpPr>
          <p:nvPr/>
        </p:nvCxnSpPr>
        <p:spPr>
          <a:xfrm>
            <a:off x="6867604" y="2037565"/>
            <a:ext cx="873979" cy="36927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3" idx="3"/>
            <a:endCxn id="25" idx="1"/>
          </p:cNvCxnSpPr>
          <p:nvPr/>
        </p:nvCxnSpPr>
        <p:spPr>
          <a:xfrm flipV="1">
            <a:off x="6867604" y="2406839"/>
            <a:ext cx="873979" cy="10112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741583" y="2280825"/>
            <a:ext cx="643169" cy="252028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 User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 rot="1079209">
            <a:off x="4498985" y="3338616"/>
            <a:ext cx="1010428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Optional </a:t>
            </a:r>
            <a:r>
              <a:rPr lang="en-US" altLang="ko-KR" sz="900" b="1" dirty="0" err="1">
                <a:cs typeface="Arial" pitchFamily="34" charset="0"/>
              </a:rPr>
              <a:t>DataSource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31" name="순서도: 자기 디스크 30"/>
          <p:cNvSpPr/>
          <p:nvPr/>
        </p:nvSpPr>
        <p:spPr>
          <a:xfrm>
            <a:off x="7603459" y="2878393"/>
            <a:ext cx="919419" cy="9527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Sub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741583" y="3396949"/>
            <a:ext cx="643169" cy="252028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 User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2878" y="3328607"/>
            <a:ext cx="1074638" cy="1973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>
                <a:cs typeface="Arial" pitchFamily="34" charset="0"/>
              </a:rPr>
              <a:t>예</a:t>
            </a:r>
            <a:r>
              <a:rPr lang="en-US" altLang="ko-KR" sz="900" dirty="0">
                <a:cs typeface="Arial" pitchFamily="34" charset="0"/>
              </a:rPr>
              <a:t>) </a:t>
            </a:r>
            <a:r>
              <a:rPr lang="ko-KR" altLang="en-US" sz="900" dirty="0" err="1">
                <a:cs typeface="Arial" pitchFamily="34" charset="0"/>
              </a:rPr>
              <a:t>고객통지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>
                <a:cs typeface="Arial" pitchFamily="34" charset="0"/>
              </a:rPr>
              <a:t>DB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692250" y="2914397"/>
            <a:ext cx="1175354" cy="3343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NotifyDs_XA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692250" y="3384791"/>
            <a:ext cx="1175354" cy="3343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i="1" dirty="0" err="1">
                <a:solidFill>
                  <a:schemeClr val="tx1"/>
                </a:solidFill>
                <a:cs typeface="Arial" pitchFamily="34" charset="0"/>
              </a:rPr>
              <a:t>NotifyDs_NonXA</a:t>
            </a:r>
            <a:endParaRPr lang="ko-KR" altLang="en-US" sz="900" i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6" name="직선 화살표 연결선 35"/>
          <p:cNvCxnSpPr>
            <a:stCxn id="35" idx="3"/>
            <a:endCxn id="32" idx="1"/>
          </p:cNvCxnSpPr>
          <p:nvPr/>
        </p:nvCxnSpPr>
        <p:spPr>
          <a:xfrm flipV="1">
            <a:off x="6867604" y="3522963"/>
            <a:ext cx="873979" cy="2898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4" idx="3"/>
            <a:endCxn id="32" idx="1"/>
          </p:cNvCxnSpPr>
          <p:nvPr/>
        </p:nvCxnSpPr>
        <p:spPr>
          <a:xfrm>
            <a:off x="6867604" y="3081549"/>
            <a:ext cx="873979" cy="44141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53" idx="3"/>
            <a:endCxn id="34" idx="1"/>
          </p:cNvCxnSpPr>
          <p:nvPr/>
        </p:nvCxnSpPr>
        <p:spPr>
          <a:xfrm>
            <a:off x="3843476" y="2977719"/>
            <a:ext cx="1848774" cy="10383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53" idx="3"/>
            <a:endCxn id="35" idx="1"/>
          </p:cNvCxnSpPr>
          <p:nvPr/>
        </p:nvCxnSpPr>
        <p:spPr>
          <a:xfrm>
            <a:off x="3843476" y="2977719"/>
            <a:ext cx="1848774" cy="57422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 rot="19997144">
            <a:off x="4503442" y="2167123"/>
            <a:ext cx="1010428" cy="1975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b="1" dirty="0">
                <a:cs typeface="Arial" pitchFamily="34" charset="0"/>
              </a:rPr>
              <a:t>기본</a:t>
            </a:r>
            <a:r>
              <a:rPr lang="en-US" altLang="ko-KR" sz="900" b="1" dirty="0">
                <a:cs typeface="Arial" pitchFamily="34" charset="0"/>
              </a:rPr>
              <a:t> </a:t>
            </a:r>
            <a:r>
              <a:rPr lang="en-US" altLang="ko-KR" sz="900" b="1" dirty="0" err="1">
                <a:cs typeface="Arial" pitchFamily="34" charset="0"/>
              </a:rPr>
              <a:t>DataSource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769537" y="2800522"/>
            <a:ext cx="1073939" cy="3543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SqlManager</a:t>
            </a:r>
            <a:endParaRPr lang="en-US" altLang="ko-KR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769537" y="2405869"/>
            <a:ext cx="1078082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DU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3" name="직선 화살표 연결선 82"/>
          <p:cNvCxnSpPr>
            <a:stCxn id="69" idx="2"/>
            <a:endCxn id="53" idx="0"/>
          </p:cNvCxnSpPr>
          <p:nvPr/>
        </p:nvCxnSpPr>
        <p:spPr>
          <a:xfrm flipH="1">
            <a:off x="3306507" y="2657869"/>
            <a:ext cx="2071" cy="1426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표 61"/>
          <p:cNvGraphicFramePr>
            <a:graphicFrameLocks noGrp="1"/>
          </p:cNvGraphicFramePr>
          <p:nvPr/>
        </p:nvGraphicFramePr>
        <p:xfrm>
          <a:off x="668524" y="4149080"/>
          <a:ext cx="8856828" cy="2323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176">
                  <a:extLst>
                    <a:ext uri="{9D8B030D-6E8A-4147-A177-3AD203B41FA5}">
                      <a16:colId xmlns:a16="http://schemas.microsoft.com/office/drawing/2014/main" val="4057965482"/>
                    </a:ext>
                  </a:extLst>
                </a:gridCol>
              </a:tblGrid>
              <a:tr h="33083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종류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사용예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5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(XA)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/>
                        <a:t>JTA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트랜잭션 처리를 위해 </a:t>
                      </a:r>
                      <a:r>
                        <a:rPr lang="en-US" altLang="ko-KR" sz="1000" baseline="0" dirty="0"/>
                        <a:t>XA </a:t>
                      </a:r>
                      <a:r>
                        <a:rPr lang="en-US" altLang="ko-KR" sz="1000" baseline="0" dirty="0" err="1"/>
                        <a:t>Datasource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를 기본 값으로 사용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73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(Non-XA)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dirty="0"/>
                        <a:t>주 트랜잭션 처리 중</a:t>
                      </a:r>
                      <a:r>
                        <a:rPr lang="en-US" altLang="ko-KR" sz="1000" dirty="0"/>
                        <a:t>.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별도 트랜잭션이 필요한 경우를 위해 </a:t>
                      </a:r>
                      <a:r>
                        <a:rPr lang="en-US" altLang="ko-KR" sz="1000" baseline="0" dirty="0"/>
                        <a:t>Non-XA </a:t>
                      </a:r>
                      <a:r>
                        <a:rPr lang="ko-KR" altLang="en-US" sz="1000" baseline="0" dirty="0"/>
                        <a:t>데이터 소스 사용</a:t>
                      </a:r>
                      <a:r>
                        <a:rPr lang="en-US" altLang="ko-KR" sz="1000" baseline="0" dirty="0"/>
                        <a:t>. 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en-US" altLang="ko-KR" sz="1000" baseline="0" dirty="0"/>
                        <a:t>(Non-XA : JTA </a:t>
                      </a:r>
                      <a:r>
                        <a:rPr lang="ko-KR" altLang="en-US" sz="1000" baseline="0" dirty="0"/>
                        <a:t>트랜잭션에 참여하지 않고 </a:t>
                      </a:r>
                      <a:r>
                        <a:rPr lang="en-US" altLang="ko-KR" sz="1000" baseline="0" dirty="0"/>
                        <a:t>App </a:t>
                      </a:r>
                      <a:r>
                        <a:rPr lang="ko-KR" altLang="en-US" sz="1000" baseline="0" dirty="0"/>
                        <a:t>에서 직접 </a:t>
                      </a:r>
                      <a:r>
                        <a:rPr lang="en-US" altLang="ko-KR" sz="1000" baseline="0" dirty="0"/>
                        <a:t>commit </a:t>
                      </a:r>
                      <a:r>
                        <a:rPr lang="ko-KR" altLang="en-US" sz="1000" baseline="0" dirty="0"/>
                        <a:t>처리함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000" baseline="0" dirty="0"/>
                        <a:t>예</a:t>
                      </a:r>
                      <a:r>
                        <a:rPr lang="en-US" altLang="ko-KR" sz="1000" baseline="0" dirty="0"/>
                        <a:t>) </a:t>
                      </a:r>
                      <a:r>
                        <a:rPr lang="ko-KR" altLang="en-US" sz="1000" baseline="0" dirty="0" err="1"/>
                        <a:t>후처리에서</a:t>
                      </a:r>
                      <a:r>
                        <a:rPr lang="ko-KR" altLang="en-US" sz="1000" baseline="0" dirty="0"/>
                        <a:t> 에러 발생 되어 주트랜잭션이 </a:t>
                      </a:r>
                      <a:r>
                        <a:rPr lang="ko-KR" altLang="en-US" sz="1000" baseline="0" dirty="0" err="1"/>
                        <a:t>롤백되는</a:t>
                      </a:r>
                      <a:r>
                        <a:rPr lang="ko-KR" altLang="en-US" sz="1000" baseline="0" dirty="0"/>
                        <a:t> 경우도 </a:t>
                      </a:r>
                      <a:r>
                        <a:rPr lang="en-US" altLang="ko-KR" sz="1000" baseline="0" dirty="0"/>
                        <a:t>Non-XA </a:t>
                      </a:r>
                      <a:r>
                        <a:rPr lang="ko-KR" altLang="en-US" sz="1000" baseline="0" dirty="0"/>
                        <a:t>로 </a:t>
                      </a:r>
                      <a:r>
                        <a:rPr lang="en-US" altLang="ko-KR" sz="1000" baseline="0" dirty="0"/>
                        <a:t>CUD </a:t>
                      </a:r>
                      <a:r>
                        <a:rPr lang="ko-KR" altLang="en-US" sz="1000" baseline="0" dirty="0"/>
                        <a:t>한 것을 롤백 안됨</a:t>
                      </a:r>
                      <a:endParaRPr lang="ko-KR" altLang="en-US" sz="1000" dirty="0"/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NonXA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);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이외의 별도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대상으로 동일 트랜잭션으로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CRUD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처리가 필요한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 플랫폼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고객통지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Insert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Notify_XA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8525"/>
                  </a:ext>
                </a:extLst>
              </a:tr>
              <a:tr h="448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(Non-XA)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대상으로 별도 트랜잭션으로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CUD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경우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 발생시 에러 정보 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insert, </a:t>
                      </a:r>
                      <a:endParaRPr lang="ko-KR" altLang="en-US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dbInsert</a:t>
                      </a:r>
                      <a:r>
                        <a:rPr lang="en-US" altLang="ko-KR" sz="900" dirty="0"/>
                        <a:t>(“SQLID”, </a:t>
                      </a:r>
                      <a:r>
                        <a:rPr lang="ko-KR" altLang="en-US" sz="900" dirty="0" err="1"/>
                        <a:t>입력값</a:t>
                      </a:r>
                      <a:r>
                        <a:rPr lang="en-US" altLang="ko-KR" sz="900" dirty="0"/>
                        <a:t>, “</a:t>
                      </a:r>
                      <a:r>
                        <a:rPr lang="en-US" altLang="ko-KR" sz="900" b="1" dirty="0" err="1">
                          <a:solidFill>
                            <a:srgbClr val="0000FF"/>
                          </a:solidFill>
                        </a:rPr>
                        <a:t>Notify_NonXA</a:t>
                      </a:r>
                      <a:r>
                        <a:rPr lang="en-US" altLang="ko-KR" sz="900" dirty="0"/>
                        <a:t>”, </a:t>
                      </a:r>
                      <a:r>
                        <a:rPr lang="en-US" altLang="ko-KR" sz="900" dirty="0" err="1"/>
                        <a:t>onlineCtx</a:t>
                      </a:r>
                      <a:r>
                        <a:rPr lang="en-US" altLang="ko-KR" sz="900" dirty="0"/>
                        <a:t>);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4376936" y="1395149"/>
            <a:ext cx="737118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dirty="0">
                <a:cs typeface="Arial" pitchFamily="34" charset="0"/>
              </a:rPr>
              <a:t>WAS</a:t>
            </a:r>
            <a:endParaRPr lang="ko-KR" altLang="en-US" sz="1000" b="1" dirty="0">
              <a:cs typeface="Arial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751251" y="1510241"/>
            <a:ext cx="1116353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b="1" dirty="0">
                <a:cs typeface="Arial" pitchFamily="34" charset="0"/>
              </a:rPr>
              <a:t>WAS </a:t>
            </a:r>
            <a:r>
              <a:rPr lang="ko-KR" altLang="en-US" sz="900" b="1" dirty="0">
                <a:cs typeface="Arial" pitchFamily="34" charset="0"/>
              </a:rPr>
              <a:t>자원</a:t>
            </a:r>
            <a:r>
              <a:rPr lang="en-US" altLang="ko-KR" sz="900" b="1" dirty="0">
                <a:cs typeface="Arial" pitchFamily="34" charset="0"/>
              </a:rPr>
              <a:t> </a:t>
            </a:r>
            <a:r>
              <a:rPr lang="ko-KR" altLang="en-US" sz="900" b="1" dirty="0">
                <a:cs typeface="Arial" pitchFamily="34" charset="0"/>
              </a:rPr>
              <a:t>관리 </a:t>
            </a:r>
            <a:r>
              <a:rPr lang="en-US" altLang="ko-KR" sz="900" b="1" dirty="0">
                <a:cs typeface="Arial" pitchFamily="34" charset="0"/>
              </a:rPr>
              <a:t>(</a:t>
            </a:r>
            <a:r>
              <a:rPr lang="en-US" altLang="ko-KR" sz="900" b="1" dirty="0" err="1">
                <a:cs typeface="Arial" pitchFamily="34" charset="0"/>
              </a:rPr>
              <a:t>DataSources</a:t>
            </a:r>
            <a:r>
              <a:rPr lang="en-US" altLang="ko-KR" sz="900" b="1" dirty="0">
                <a:cs typeface="Arial" pitchFamily="34" charset="0"/>
              </a:rPr>
              <a:t>)</a:t>
            </a:r>
            <a:endParaRPr lang="ko-KR" altLang="en-US" sz="900" b="1" dirty="0">
              <a:cs typeface="Arial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754111" y="1548529"/>
            <a:ext cx="11047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cs typeface="Arial" pitchFamily="34" charset="0"/>
              </a:rPr>
              <a:t>프레임워크 런타임</a:t>
            </a:r>
            <a:endParaRPr lang="ko-KR" alt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81883" y="1958989"/>
            <a:ext cx="1586535" cy="145769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36000" rIns="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프레임워크 설정으로 컴포넌트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별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매핑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cs typeface="Arial" pitchFamily="34" charset="0"/>
              </a:rPr>
              <a:t>AppCode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로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매핑 가능</a:t>
            </a: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cs typeface="Arial" pitchFamily="34" charset="0"/>
            </a:endParaRPr>
          </a:p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서버당 </a:t>
            </a:r>
            <a:r>
              <a:rPr lang="ko-KR" altLang="en-US" sz="1000" dirty="0" err="1">
                <a:cs typeface="Arial" pitchFamily="34" charset="0"/>
              </a:rPr>
              <a:t>통계정으로</a:t>
            </a:r>
            <a:r>
              <a:rPr lang="ko-KR" altLang="en-US" sz="1000" dirty="0">
                <a:cs typeface="Arial" pitchFamily="34" charset="0"/>
              </a:rPr>
              <a:t> 간소화하여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구성</a:t>
            </a:r>
          </a:p>
        </p:txBody>
      </p:sp>
      <p:sp>
        <p:nvSpPr>
          <p:cNvPr id="100" name="타원 99"/>
          <p:cNvSpPr/>
          <p:nvPr/>
        </p:nvSpPr>
        <p:spPr>
          <a:xfrm>
            <a:off x="7705989" y="4967722"/>
            <a:ext cx="1008112" cy="1620180"/>
          </a:xfrm>
          <a:prstGeom prst="ellipse">
            <a:avLst/>
          </a:prstGeom>
          <a:noFill/>
          <a:ln w="6350" cap="flat">
            <a:solidFill>
              <a:schemeClr val="accent2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사각형 설명선 100"/>
          <p:cNvSpPr/>
          <p:nvPr/>
        </p:nvSpPr>
        <p:spPr>
          <a:xfrm>
            <a:off x="8989851" y="4925284"/>
            <a:ext cx="864096" cy="720080"/>
          </a:xfrm>
          <a:prstGeom prst="wedgeRectCallout">
            <a:avLst>
              <a:gd name="adj1" fmla="val -77051"/>
              <a:gd name="adj2" fmla="val 36033"/>
            </a:avLst>
          </a:prstGeom>
          <a:solidFill>
            <a:schemeClr val="tx2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매핑을 위한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키값을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파라미터로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b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지정</a:t>
            </a:r>
          </a:p>
        </p:txBody>
      </p:sp>
    </p:spTree>
    <p:extLst>
      <p:ext uri="{BB962C8B-B14F-4D97-AF65-F5344CB8AC3E}">
        <p14:creationId xmlns:p14="http://schemas.microsoft.com/office/powerpoint/2010/main" val="625463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데이터 처리 역할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6883653" y="4545909"/>
            <a:ext cx="1831789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28575" cap="flat">
            <a:solidFill>
              <a:srgbClr val="00B05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787417" y="2457677"/>
            <a:ext cx="3437271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>
            <a:solidFill>
              <a:schemeClr val="accent1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87417" y="3499401"/>
            <a:ext cx="3437271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>
            <a:solidFill>
              <a:schemeClr val="accent1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787417" y="4545909"/>
            <a:ext cx="3437271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28575" cap="flat">
            <a:solidFill>
              <a:srgbClr val="0070C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8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47428" y="1376450"/>
            <a:ext cx="3619872" cy="334183"/>
            <a:chOff x="4680759" y="1849485"/>
            <a:chExt cx="595876" cy="334183"/>
          </a:xfrm>
        </p:grpSpPr>
        <p:cxnSp>
          <p:nvCxnSpPr>
            <p:cNvPr id="9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680759" y="2183668"/>
              <a:ext cx="595876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900520" y="1849485"/>
              <a:ext cx="193871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일반 서버 업무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747428" y="1813794"/>
            <a:ext cx="3619872" cy="4089862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평행 사변형 11"/>
          <p:cNvSpPr/>
          <p:nvPr/>
        </p:nvSpPr>
        <p:spPr>
          <a:xfrm>
            <a:off x="1397869" y="2232608"/>
            <a:ext cx="2887513" cy="3421552"/>
          </a:xfrm>
          <a:prstGeom prst="parallelogram">
            <a:avLst>
              <a:gd name="adj" fmla="val 0"/>
            </a:avLst>
          </a:prstGeom>
          <a:noFill/>
          <a:ln w="28575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118002" y="2754750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50576" y="2826750"/>
            <a:ext cx="144000" cy="14400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5" name="직선 연결선 14"/>
          <p:cNvCxnSpPr>
            <a:stCxn id="14" idx="6"/>
            <a:endCxn id="13" idx="1"/>
          </p:cNvCxnSpPr>
          <p:nvPr/>
        </p:nvCxnSpPr>
        <p:spPr>
          <a:xfrm>
            <a:off x="694576" y="2898750"/>
            <a:ext cx="142342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15"/>
          <p:cNvSpPr/>
          <p:nvPr/>
        </p:nvSpPr>
        <p:spPr>
          <a:xfrm>
            <a:off x="2117950" y="379886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2946094" y="379886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117950" y="483547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342138" y="483547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" name="직선 연결선 19"/>
          <p:cNvCxnSpPr>
            <a:stCxn id="13" idx="2"/>
            <a:endCxn id="16" idx="0"/>
          </p:cNvCxnSpPr>
          <p:nvPr/>
        </p:nvCxnSpPr>
        <p:spPr>
          <a:xfrm flipH="1">
            <a:off x="2351950" y="3042750"/>
            <a:ext cx="52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3" idx="2"/>
            <a:endCxn id="17" idx="0"/>
          </p:cNvCxnSpPr>
          <p:nvPr/>
        </p:nvCxnSpPr>
        <p:spPr>
          <a:xfrm>
            <a:off x="2352002" y="3042750"/>
            <a:ext cx="828092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6" idx="2"/>
            <a:endCxn id="18" idx="0"/>
          </p:cNvCxnSpPr>
          <p:nvPr/>
        </p:nvCxnSpPr>
        <p:spPr>
          <a:xfrm>
            <a:off x="2351950" y="4086866"/>
            <a:ext cx="0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7" idx="2"/>
            <a:endCxn id="19" idx="0"/>
          </p:cNvCxnSpPr>
          <p:nvPr/>
        </p:nvCxnSpPr>
        <p:spPr>
          <a:xfrm>
            <a:off x="3180094" y="4086866"/>
            <a:ext cx="396044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6" idx="3"/>
            <a:endCxn id="17" idx="1"/>
          </p:cNvCxnSpPr>
          <p:nvPr/>
        </p:nvCxnSpPr>
        <p:spPr>
          <a:xfrm>
            <a:off x="2585950" y="3942866"/>
            <a:ext cx="360144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782808" y="1954968"/>
            <a:ext cx="1218812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A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컴포넌트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2608" y="2466718"/>
            <a:ext cx="399395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PU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608" y="3500154"/>
            <a:ext cx="399395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608" y="4546223"/>
            <a:ext cx="504056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DU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191455" y="2457677"/>
            <a:ext cx="3507363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>
            <a:solidFill>
              <a:schemeClr val="accent1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191455" y="3499401"/>
            <a:ext cx="3507363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>
            <a:solidFill>
              <a:schemeClr val="accent1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191456" y="4545909"/>
            <a:ext cx="1543630" cy="87313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28575" cap="flat">
            <a:solidFill>
              <a:srgbClr val="0070C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32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5151466" y="1376450"/>
            <a:ext cx="3672043" cy="334183"/>
            <a:chOff x="4680759" y="1849485"/>
            <a:chExt cx="595876" cy="334183"/>
          </a:xfrm>
        </p:grpSpPr>
        <p:cxnSp>
          <p:nvCxnSpPr>
            <p:cNvPr id="33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680759" y="2183668"/>
              <a:ext cx="595876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918547" y="1849485"/>
              <a:ext cx="15782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계정성 업무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5" name="직사각형 34"/>
          <p:cNvSpPr/>
          <p:nvPr/>
        </p:nvSpPr>
        <p:spPr>
          <a:xfrm>
            <a:off x="5151466" y="1813794"/>
            <a:ext cx="3672043" cy="4089862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6" name="평행 사변형 35"/>
          <p:cNvSpPr/>
          <p:nvPr/>
        </p:nvSpPr>
        <p:spPr>
          <a:xfrm>
            <a:off x="5876720" y="2232608"/>
            <a:ext cx="2887513" cy="3421552"/>
          </a:xfrm>
          <a:prstGeom prst="parallelogram">
            <a:avLst>
              <a:gd name="adj" fmla="val 0"/>
            </a:avLst>
          </a:prstGeom>
          <a:noFill/>
          <a:ln w="28575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596853" y="2754750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4954614" y="2826750"/>
            <a:ext cx="144000" cy="14400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9" name="직선 연결선 38"/>
          <p:cNvCxnSpPr>
            <a:stCxn id="38" idx="6"/>
            <a:endCxn id="37" idx="1"/>
          </p:cNvCxnSpPr>
          <p:nvPr/>
        </p:nvCxnSpPr>
        <p:spPr>
          <a:xfrm>
            <a:off x="5098614" y="2898750"/>
            <a:ext cx="149823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6596801" y="379886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7424945" y="379886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978410" y="4876082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3" name="직선 연결선 42"/>
          <p:cNvCxnSpPr>
            <a:stCxn id="37" idx="2"/>
            <a:endCxn id="40" idx="0"/>
          </p:cNvCxnSpPr>
          <p:nvPr/>
        </p:nvCxnSpPr>
        <p:spPr>
          <a:xfrm flipH="1">
            <a:off x="6830801" y="3042750"/>
            <a:ext cx="52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37" idx="2"/>
            <a:endCxn id="41" idx="0"/>
          </p:cNvCxnSpPr>
          <p:nvPr/>
        </p:nvCxnSpPr>
        <p:spPr>
          <a:xfrm>
            <a:off x="6830853" y="3042750"/>
            <a:ext cx="828092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40" idx="2"/>
            <a:endCxn id="42" idx="0"/>
          </p:cNvCxnSpPr>
          <p:nvPr/>
        </p:nvCxnSpPr>
        <p:spPr>
          <a:xfrm flipH="1">
            <a:off x="6212410" y="4086866"/>
            <a:ext cx="618391" cy="7892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stCxn id="41" idx="2"/>
            <a:endCxn id="67" idx="0"/>
          </p:cNvCxnSpPr>
          <p:nvPr/>
        </p:nvCxnSpPr>
        <p:spPr>
          <a:xfrm>
            <a:off x="7658945" y="4086866"/>
            <a:ext cx="732463" cy="7892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40" idx="3"/>
            <a:endCxn id="41" idx="1"/>
          </p:cNvCxnSpPr>
          <p:nvPr/>
        </p:nvCxnSpPr>
        <p:spPr>
          <a:xfrm>
            <a:off x="7064801" y="3942866"/>
            <a:ext cx="360144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7186846" y="1954968"/>
            <a:ext cx="1218812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A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컴포넌트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86646" y="2466718"/>
            <a:ext cx="399395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PU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86646" y="3500154"/>
            <a:ext cx="399395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FU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86646" y="4546223"/>
            <a:ext cx="504056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DU</a:t>
            </a:r>
            <a:br>
              <a:rPr lang="en-US" altLang="ko-KR" sz="1000" i="1" dirty="0">
                <a:cs typeface="Arial" pitchFamily="34" charset="0"/>
              </a:rPr>
            </a:b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7590084" y="4867812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오른쪽 화살표 52"/>
          <p:cNvSpPr/>
          <p:nvPr/>
        </p:nvSpPr>
        <p:spPr>
          <a:xfrm>
            <a:off x="4222256" y="4609811"/>
            <a:ext cx="1067150" cy="843381"/>
          </a:xfrm>
          <a:prstGeom prst="rightArrow">
            <a:avLst>
              <a:gd name="adj1" fmla="val 61610"/>
              <a:gd name="adj2" fmla="val 27567"/>
            </a:avLst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데이터 처리</a:t>
            </a:r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역할 분리</a:t>
            </a:r>
            <a:endParaRPr lang="ko-KR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48504" y="4546223"/>
            <a:ext cx="504056" cy="21321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i="1" dirty="0">
                <a:cs typeface="Arial" pitchFamily="34" charset="0"/>
              </a:rPr>
              <a:t>DBIO</a:t>
            </a:r>
            <a:endParaRPr lang="ko-KR" altLang="en-US" sz="1000" i="1" dirty="0"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2737319" y="483547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479141" y="483547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7" name="직선 연결선 56"/>
          <p:cNvCxnSpPr>
            <a:stCxn id="16" idx="2"/>
            <a:endCxn id="56" idx="0"/>
          </p:cNvCxnSpPr>
          <p:nvPr/>
        </p:nvCxnSpPr>
        <p:spPr>
          <a:xfrm flipH="1">
            <a:off x="1713141" y="4086866"/>
            <a:ext cx="638809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6" idx="2"/>
            <a:endCxn id="55" idx="0"/>
          </p:cNvCxnSpPr>
          <p:nvPr/>
        </p:nvCxnSpPr>
        <p:spPr>
          <a:xfrm>
            <a:off x="2351950" y="4086866"/>
            <a:ext cx="619369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419338" y="5088135"/>
            <a:ext cx="732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C</a:t>
            </a:r>
            <a:r>
              <a:rPr lang="en-US" altLang="ko-KR" sz="1200" dirty="0"/>
              <a:t>reate</a:t>
            </a:r>
            <a:endParaRPr lang="ko-KR" alt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2087302" y="5088135"/>
            <a:ext cx="569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R</a:t>
            </a:r>
            <a:r>
              <a:rPr lang="en-US" altLang="ko-KR" sz="1200" dirty="0"/>
              <a:t>ead</a:t>
            </a:r>
            <a:endParaRPr lang="ko-KR" alt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2642203" y="5088135"/>
            <a:ext cx="718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U</a:t>
            </a:r>
            <a:r>
              <a:rPr lang="en-US" altLang="ko-KR" sz="1200" dirty="0"/>
              <a:t>pdate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3302595" y="5088135"/>
            <a:ext cx="718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D</a:t>
            </a:r>
            <a:r>
              <a:rPr lang="en-US" altLang="ko-KR" sz="1200" dirty="0"/>
              <a:t>elete</a:t>
            </a:r>
            <a:endParaRPr lang="ko-KR" altLang="en-US" sz="1200" dirty="0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6999586" y="486132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45742" y="5101678"/>
            <a:ext cx="732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C</a:t>
            </a:r>
            <a:r>
              <a:rPr lang="en-US" altLang="ko-KR" sz="1200" dirty="0"/>
              <a:t>reate</a:t>
            </a:r>
            <a:endParaRPr lang="ko-KR" alt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7530487" y="5101678"/>
            <a:ext cx="718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U</a:t>
            </a:r>
            <a:r>
              <a:rPr lang="en-US" altLang="ko-KR" sz="1200" dirty="0"/>
              <a:t>pdate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165793" y="5101678"/>
            <a:ext cx="718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D</a:t>
            </a:r>
            <a:r>
              <a:rPr lang="en-US" altLang="ko-KR" sz="1200" dirty="0"/>
              <a:t>elete</a:t>
            </a:r>
            <a:endParaRPr lang="ko-KR" altLang="en-US" sz="1200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8157408" y="4876082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967773" y="5134937"/>
            <a:ext cx="569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R</a:t>
            </a:r>
            <a:r>
              <a:rPr lang="en-US" altLang="ko-KR" sz="1200" dirty="0"/>
              <a:t>ead</a:t>
            </a:r>
            <a:endParaRPr lang="ko-KR" altLang="en-US" sz="1200" dirty="0"/>
          </a:p>
        </p:txBody>
      </p:sp>
      <p:sp>
        <p:nvSpPr>
          <p:cNvPr id="69" name="원통 68"/>
          <p:cNvSpPr/>
          <p:nvPr/>
        </p:nvSpPr>
        <p:spPr>
          <a:xfrm>
            <a:off x="8914188" y="5419046"/>
            <a:ext cx="744934" cy="491720"/>
          </a:xfrm>
          <a:prstGeom prst="can">
            <a:avLst>
              <a:gd name="adj" fmla="val 21768"/>
            </a:avLst>
          </a:prstGeom>
          <a:solidFill>
            <a:schemeClr val="tx1">
              <a:lumMod val="50000"/>
              <a:lumOff val="50000"/>
            </a:schemeClr>
          </a:solidFill>
          <a:ln w="6350" cap="flat">
            <a:solidFill>
              <a:schemeClr val="bg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100" dirty="0">
                <a:solidFill>
                  <a:schemeClr val="bg1"/>
                </a:solidFill>
                <a:cs typeface="Arial" pitchFamily="34" charset="0"/>
              </a:rPr>
              <a:t>DBIO</a:t>
            </a:r>
            <a:r>
              <a:rPr lang="ko-KR" altLang="en-US" sz="1100" dirty="0">
                <a:solidFill>
                  <a:schemeClr val="bg1"/>
                </a:solidFill>
                <a:cs typeface="Arial" pitchFamily="34" charset="0"/>
              </a:rPr>
              <a:t> 로그</a:t>
            </a:r>
          </a:p>
        </p:txBody>
      </p:sp>
      <p:cxnSp>
        <p:nvCxnSpPr>
          <p:cNvPr id="70" name="꺾인 연결선 69"/>
          <p:cNvCxnSpPr>
            <a:cxnSpLocks/>
            <a:stCxn id="4" idx="3"/>
            <a:endCxn id="69" idx="1"/>
          </p:cNvCxnSpPr>
          <p:nvPr/>
        </p:nvCxnSpPr>
        <p:spPr>
          <a:xfrm>
            <a:off x="8715442" y="4982478"/>
            <a:ext cx="571213" cy="43656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stCxn id="40" idx="2"/>
            <a:endCxn id="63" idx="0"/>
          </p:cNvCxnSpPr>
          <p:nvPr/>
        </p:nvCxnSpPr>
        <p:spPr>
          <a:xfrm>
            <a:off x="6830801" y="4086866"/>
            <a:ext cx="402785" cy="774458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stCxn id="40" idx="2"/>
            <a:endCxn id="52" idx="0"/>
          </p:cNvCxnSpPr>
          <p:nvPr/>
        </p:nvCxnSpPr>
        <p:spPr>
          <a:xfrm>
            <a:off x="6830801" y="4086866"/>
            <a:ext cx="993283" cy="78094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665182"/>
          </a:xfrm>
        </p:spPr>
        <p:txBody>
          <a:bodyPr/>
          <a:lstStyle/>
          <a:p>
            <a:r>
              <a:rPr lang="en-US" altLang="ko-KR">
                <a:latin typeface="+mn-ea"/>
              </a:rPr>
              <a:t>n-KESA 1.0 </a:t>
            </a:r>
            <a:r>
              <a:rPr lang="ko-KR" altLang="en-US">
                <a:latin typeface="+mn-ea"/>
              </a:rPr>
              <a:t>은 </a:t>
            </a:r>
            <a:r>
              <a:rPr lang="en-US" altLang="ko-KR">
                <a:latin typeface="+mn-ea"/>
              </a:rPr>
              <a:t>DU</a:t>
            </a:r>
            <a:r>
              <a:rPr lang="ko-KR" altLang="en-US">
                <a:latin typeface="+mn-ea"/>
              </a:rPr>
              <a:t>가 모든 </a:t>
            </a:r>
            <a:r>
              <a:rPr lang="en-US" altLang="ko-KR">
                <a:latin typeface="+mn-ea"/>
              </a:rPr>
              <a:t>CRUD</a:t>
            </a:r>
            <a:r>
              <a:rPr lang="ko-KR" altLang="en-US">
                <a:latin typeface="+mn-ea"/>
              </a:rPr>
              <a:t>를 처리 허용</a:t>
            </a:r>
            <a:r>
              <a:rPr lang="en-US" altLang="ko-KR">
                <a:latin typeface="+mn-ea"/>
              </a:rPr>
              <a:t> </a:t>
            </a:r>
          </a:p>
          <a:p>
            <a:r>
              <a:rPr lang="en-US" altLang="ko-KR">
                <a:latin typeface="+mn-ea"/>
              </a:rPr>
              <a:t>n-KESA 2.0 </a:t>
            </a:r>
            <a:r>
              <a:rPr lang="ko-KR" altLang="en-US">
                <a:latin typeface="+mn-ea"/>
              </a:rPr>
              <a:t>부터는 계정성 업무인 경우 일자전환 프로세스 지원을 위해 조회</a:t>
            </a:r>
            <a:r>
              <a:rPr lang="en-US" altLang="ko-KR">
                <a:latin typeface="+mn-ea"/>
              </a:rPr>
              <a:t>/</a:t>
            </a:r>
            <a:r>
              <a:rPr lang="ko-KR" altLang="en-US">
                <a:latin typeface="+mn-ea"/>
              </a:rPr>
              <a:t>데이터변경 유닛으로 역할 분리되었다</a:t>
            </a:r>
            <a:r>
              <a:rPr lang="en-US" altLang="ko-KR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583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명명규칙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프로젝트</a:t>
            </a:r>
            <a:r>
              <a:rPr lang="en-US" altLang="ko-KR"/>
              <a:t>, </a:t>
            </a:r>
            <a:r>
              <a:rPr lang="ko-KR" altLang="en-US"/>
              <a:t>패키지</a:t>
            </a:r>
            <a:r>
              <a:rPr lang="en-US" altLang="ko-KR"/>
              <a:t>, </a:t>
            </a:r>
            <a:r>
              <a:rPr lang="ko-KR" altLang="en-US"/>
              <a:t>유닛</a:t>
            </a:r>
            <a:r>
              <a:rPr lang="en-US" altLang="ko-KR"/>
              <a:t>, </a:t>
            </a:r>
            <a:r>
              <a:rPr lang="ko-KR" altLang="en-US"/>
              <a:t>메소드의 명명규칙이며</a:t>
            </a:r>
            <a:endParaRPr lang="en-US" altLang="ko-KR"/>
          </a:p>
          <a:p>
            <a:r>
              <a:rPr lang="en-US" altLang="ko-KR"/>
              <a:t> [Camel</a:t>
            </a:r>
            <a:r>
              <a:rPr lang="ko-KR" altLang="en-US"/>
              <a:t>표기법</a:t>
            </a:r>
            <a:r>
              <a:rPr lang="en-US" altLang="ko-KR"/>
              <a:t>]</a:t>
            </a:r>
            <a:r>
              <a:rPr lang="ko-KR" altLang="en-US"/>
              <a:t>은 단어의 시작은 대문자 그 외는 소문자로 하고</a:t>
            </a:r>
            <a:r>
              <a:rPr lang="en-US" altLang="ko-KR"/>
              <a:t>, </a:t>
            </a:r>
            <a:r>
              <a:rPr lang="ko-KR" altLang="en-US"/>
              <a:t>단어의 사이에 </a:t>
            </a:r>
            <a:r>
              <a:rPr lang="en-US" altLang="ko-KR"/>
              <a:t>‘_’</a:t>
            </a:r>
            <a:r>
              <a:rPr lang="ko-KR" altLang="en-US"/>
              <a:t>를 넣지 않는 표기법이다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23892"/>
              </p:ext>
            </p:extLst>
          </p:nvPr>
        </p:nvGraphicFramePr>
        <p:xfrm>
          <a:off x="385310" y="1484784"/>
          <a:ext cx="9148226" cy="46140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362">
                  <a:extLst>
                    <a:ext uri="{9D8B030D-6E8A-4147-A177-3AD203B41FA5}">
                      <a16:colId xmlns:a16="http://schemas.microsoft.com/office/drawing/2014/main" val="2345863892"/>
                    </a:ext>
                  </a:extLst>
                </a:gridCol>
                <a:gridCol w="4860540">
                  <a:extLst>
                    <a:ext uri="{9D8B030D-6E8A-4147-A177-3AD203B41FA5}">
                      <a16:colId xmlns:a16="http://schemas.microsoft.com/office/drawing/2014/main" val="3542208208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4097409779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구분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설명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예시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42518"/>
                  </a:ext>
                </a:extLst>
              </a:tr>
              <a:tr h="5064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 명명규칙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온라인 프로젝트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어플리케이션코드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(3)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+  -njava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배치 프로젝트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어플리케이션코드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(3) +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-nbatch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SQC-njava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SQC-nbatch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73035"/>
                  </a:ext>
                </a:extLst>
              </a:tr>
              <a:tr h="9096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패키지 명명규칙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기본패키지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         : com.kbstar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코드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 :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업무별 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자리 구성</a:t>
                      </a:r>
                      <a:endParaRPr lang="en-US" altLang="ko-KR" sz="1100" b="0" i="0" u="none" strike="noStrike" baseline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컴포넌트아이디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     :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 기능에 대한 영단어 조합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소문자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이며</a:t>
                      </a:r>
                      <a:endParaRPr lang="en-US" altLang="ko-KR" sz="1100" b="0" i="0" u="none" strike="noStrike" baseline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                             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메타에 등록된 단어 활용하여 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명사형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]+[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명사형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]+[…]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com.kbstar.sqc.custmgt(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고객관리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01547"/>
                  </a:ext>
                </a:extLst>
              </a:tr>
              <a:tr h="6496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거래코드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어플리케이션코드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(3)+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거래구분코드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(2)+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거래구분식별코드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(3)+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단축거래구분코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(1)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+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거래식별번호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(1)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BCA01R0012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871676"/>
                  </a:ext>
                </a:extLst>
              </a:tr>
              <a:tr h="109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클래스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명명규칙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(PU/FU/DU/DBIO)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PU  : PU(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대문자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 +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명사형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].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필요시 일련번호를 붙일 수 있음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FU  :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FU(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대문자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 +  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명사형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].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필요시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일련번호를 붙일 수 있음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DU : DU(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대문자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 + 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테이블명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+ [A-Z] 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또는 </a:t>
                      </a:r>
                      <a:endParaRPr lang="en-US" altLang="ko-KR" sz="1100" b="0" i="0" u="none" strike="noStrike" baseline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      DU(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대문자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 + 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화면아이디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 + [A-Z]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DBIO : DBIO_(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대문자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 + [</a:t>
                      </a:r>
                      <a:r>
                        <a:rPr lang="ko-KR" altLang="en-US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테이블명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 + [A-Z]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PUPpsnCustCnselMgt, PUCustMgt01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FUAccntMgt, FUCustMgt01, FUCustMgt02 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DUTSBNE2000B</a:t>
                      </a:r>
                    </a:p>
                    <a:p>
                      <a:pPr algn="l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DBIO_TSBNE2000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572154"/>
                  </a:ext>
                </a:extLst>
              </a:tr>
              <a:tr h="1091203"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메소드 명명규칙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(PM, FM, DM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pm : pm(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소문자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)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+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거래코드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(10)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altLang="ko-K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fm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: 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동사형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 + [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명사형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]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dm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: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(select, selectList, insert, update, delete) +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의미있는 영단어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. 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        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필요시 일련번호를 붙일 수 있음</a:t>
                      </a:r>
                      <a:endParaRPr lang="en-US" altLang="ko-KR" sz="1100" b="0" i="0" u="none" strike="noStrike" baseline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dbm : insert, select, selectForUpdate, update, delete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pmBCA01R0012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fmValidtAccNo 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계좌번호 검증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select, selectList, select01, update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017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58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메소드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69124" y="2787169"/>
            <a:ext cx="370841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00" b="0"/>
              <a:t>IDataSet </a:t>
            </a:r>
            <a:r>
              <a:rPr lang="ko-KR" altLang="en-US" sz="1100" b="0" dirty="0"/>
              <a:t>타입의 객체로 부터 입력 값을 받아 가공 </a:t>
            </a:r>
            <a:r>
              <a:rPr lang="ko-KR" altLang="en-US" sz="1100" b="0"/>
              <a:t>후 </a:t>
            </a:r>
            <a:endParaRPr lang="en-US" altLang="ko-KR" sz="1100" b="0"/>
          </a:p>
          <a:p>
            <a:pPr>
              <a:lnSpc>
                <a:spcPct val="150000"/>
              </a:lnSpc>
            </a:pPr>
            <a:r>
              <a:rPr lang="en-US" altLang="ko-KR" sz="1100"/>
              <a:t>     </a:t>
            </a:r>
            <a:r>
              <a:rPr lang="en-US" altLang="ko-KR" sz="1100" b="0"/>
              <a:t>IDataSet </a:t>
            </a:r>
            <a:r>
              <a:rPr lang="ko-KR" altLang="en-US" sz="1100" b="0" dirty="0"/>
              <a:t>타입의 출력 </a:t>
            </a:r>
            <a:r>
              <a:rPr lang="ko-KR" altLang="en-US" sz="1100" b="0"/>
              <a:t>값을 리턴</a:t>
            </a:r>
            <a:br>
              <a:rPr lang="en-US" altLang="ko-KR" sz="1100" b="0" dirty="0"/>
            </a:br>
            <a:r>
              <a:rPr lang="en-US" altLang="ko-KR" sz="1100" b="0" dirty="0"/>
              <a:t>- </a:t>
            </a:r>
            <a:r>
              <a:rPr lang="ko-KR" altLang="en-US" sz="1100" b="0" dirty="0"/>
              <a:t>입력 전문의 </a:t>
            </a:r>
            <a:r>
              <a:rPr lang="ko-KR" altLang="en-US" sz="1100" b="0" dirty="0" err="1"/>
              <a:t>헤더값</a:t>
            </a:r>
            <a:r>
              <a:rPr lang="en-US" altLang="ko-KR" sz="1100" b="0" dirty="0"/>
              <a:t>, </a:t>
            </a:r>
            <a:r>
              <a:rPr lang="en-US" altLang="ko-KR" sz="1100" b="0" dirty="0" err="1"/>
              <a:t>CommonArea</a:t>
            </a:r>
            <a:r>
              <a:rPr lang="en-US" altLang="ko-KR" sz="1100" b="0" dirty="0"/>
              <a:t> </a:t>
            </a:r>
            <a:r>
              <a:rPr lang="ko-KR" altLang="en-US" sz="1100" b="0"/>
              <a:t>값은 </a:t>
            </a:r>
            <a:r>
              <a:rPr lang="en-US" altLang="ko-KR" sz="1100" u="sng"/>
              <a:t>onlineCtx</a:t>
            </a:r>
            <a:r>
              <a:rPr lang="ko-KR" altLang="en-US" sz="1100"/>
              <a:t>로 얻음</a:t>
            </a:r>
            <a:endParaRPr lang="en-US" altLang="ko-KR" sz="1100"/>
          </a:p>
          <a:p>
            <a:pPr>
              <a:lnSpc>
                <a:spcPct val="150000"/>
              </a:lnSpc>
            </a:pPr>
            <a:r>
              <a:rPr lang="en-US" altLang="ko-KR" sz="1100"/>
              <a:t>   </a:t>
            </a:r>
            <a:r>
              <a:rPr lang="ko-KR" altLang="en-US" sz="1100" b="0"/>
              <a:t>예</a:t>
            </a:r>
            <a:r>
              <a:rPr lang="en-US" altLang="ko-KR" sz="1100" b="0" dirty="0"/>
              <a:t>) </a:t>
            </a:r>
            <a:r>
              <a:rPr lang="en-US" altLang="ko-KR" sz="1100" b="0" dirty="0">
                <a:solidFill>
                  <a:srgbClr val="FF0000"/>
                </a:solidFill>
              </a:rPr>
              <a:t>FM </a:t>
            </a:r>
            <a:r>
              <a:rPr lang="ko-KR" altLang="en-US" sz="1100" b="0" dirty="0" err="1">
                <a:solidFill>
                  <a:srgbClr val="FF0000"/>
                </a:solidFill>
              </a:rPr>
              <a:t>메소드에</a:t>
            </a:r>
            <a:r>
              <a:rPr lang="ko-KR" altLang="en-US" sz="1100" b="0" dirty="0">
                <a:solidFill>
                  <a:srgbClr val="FF0000"/>
                </a:solidFill>
              </a:rPr>
              <a:t> </a:t>
            </a:r>
            <a:r>
              <a:rPr lang="en-US" altLang="ko-KR" sz="1100" b="0" dirty="0">
                <a:solidFill>
                  <a:srgbClr val="FF0000"/>
                </a:solidFill>
              </a:rPr>
              <a:t>String </a:t>
            </a:r>
            <a:r>
              <a:rPr lang="ko-KR" altLang="en-US" sz="1100" b="0" dirty="0">
                <a:solidFill>
                  <a:srgbClr val="FF0000"/>
                </a:solidFill>
              </a:rPr>
              <a:t>타입 </a:t>
            </a:r>
            <a:r>
              <a:rPr lang="ko-KR" altLang="en-US" sz="1100" b="0" dirty="0" err="1">
                <a:solidFill>
                  <a:srgbClr val="FF0000"/>
                </a:solidFill>
              </a:rPr>
              <a:t>파라미터</a:t>
            </a:r>
            <a:r>
              <a:rPr lang="ko-KR" altLang="en-US" sz="1100" b="0" dirty="0">
                <a:solidFill>
                  <a:srgbClr val="FF0000"/>
                </a:solidFill>
              </a:rPr>
              <a:t> 추가 불가</a:t>
            </a:r>
            <a:r>
              <a:rPr lang="en-US" altLang="ko-KR" sz="1100" b="0" dirty="0"/>
              <a:t>. </a:t>
            </a:r>
            <a:br>
              <a:rPr lang="en-US" altLang="ko-KR" sz="1100" b="0" dirty="0"/>
            </a:br>
            <a:r>
              <a:rPr lang="en-US" altLang="ko-KR" sz="1100" b="0"/>
              <a:t>        </a:t>
            </a:r>
            <a:r>
              <a:rPr lang="ko-KR" altLang="en-US" sz="1100" b="0"/>
              <a:t>필요시 </a:t>
            </a:r>
            <a:r>
              <a:rPr lang="en-US" altLang="ko-KR" sz="1100" b="0" dirty="0" err="1"/>
              <a:t>requestData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에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그 값을 </a:t>
            </a:r>
            <a:r>
              <a:rPr lang="en-US" altLang="ko-KR" sz="1100" b="0" dirty="0"/>
              <a:t>put</a:t>
            </a:r>
            <a:r>
              <a:rPr lang="ko-KR" altLang="en-US" sz="1100" b="0" dirty="0"/>
              <a:t> </a:t>
            </a:r>
            <a:r>
              <a:rPr lang="ko-KR" altLang="en-US" sz="1100" b="0"/>
              <a:t>하여 전달</a:t>
            </a:r>
            <a:endParaRPr lang="ko-KR" altLang="en-US" sz="1100" b="0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25276" y="-155575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359648" cy="443198"/>
          </a:xfrm>
        </p:spPr>
        <p:txBody>
          <a:bodyPr/>
          <a:lstStyle/>
          <a:p>
            <a:r>
              <a:rPr lang="ko-KR" altLang="en-US"/>
              <a:t>컴포넌트 내의 모든 </a:t>
            </a:r>
            <a:r>
              <a:rPr lang="en-US" altLang="ko-KR"/>
              <a:t>PM, FM, DM</a:t>
            </a:r>
            <a:r>
              <a:rPr lang="ko-KR" altLang="en-US"/>
              <a:t>은 동일한 메소드 유형을 가지며 내부 </a:t>
            </a:r>
            <a:r>
              <a:rPr lang="en-US" altLang="ko-KR"/>
              <a:t>private </a:t>
            </a:r>
            <a:r>
              <a:rPr lang="ko-KR" altLang="en-US"/>
              <a:t>메소드는 자유롭게 작성 가능하다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381884" y="1448780"/>
            <a:ext cx="5435212" cy="25202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47199" y="1808820"/>
            <a:ext cx="2821625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47199" y="2022121"/>
            <a:ext cx="2101546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47199" y="2230994"/>
            <a:ext cx="3343684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9591" y="4977172"/>
            <a:ext cx="1441081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394" y="1448780"/>
            <a:ext cx="5723726" cy="415498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public </a:t>
            </a:r>
            <a:r>
              <a:rPr lang="en-US" altLang="ko-KR" sz="1200" b="1" dirty="0" err="1">
                <a:solidFill>
                  <a:srgbClr val="C00000"/>
                </a:solidFill>
              </a:rPr>
              <a:t>IDataSet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methodName</a:t>
            </a:r>
            <a:r>
              <a:rPr lang="en-US" altLang="ko-KR" sz="1200" dirty="0"/>
              <a:t>(</a:t>
            </a:r>
            <a:r>
              <a:rPr lang="en-US" altLang="ko-KR" sz="1200" b="1" dirty="0" err="1">
                <a:solidFill>
                  <a:srgbClr val="C00000"/>
                </a:solidFill>
              </a:rPr>
              <a:t>IDataSet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requestData</a:t>
            </a:r>
            <a:r>
              <a:rPr lang="en-US" altLang="ko-KR" sz="1200" dirty="0"/>
              <a:t>, </a:t>
            </a:r>
            <a:r>
              <a:rPr lang="en-US" altLang="ko-KR" sz="1200" b="1" dirty="0" err="1">
                <a:solidFill>
                  <a:srgbClr val="C00000"/>
                </a:solidFill>
              </a:rPr>
              <a:t>IOnlineContext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onlineCtx</a:t>
            </a:r>
            <a:r>
              <a:rPr lang="en-US" altLang="ko-KR" sz="1200" dirty="0"/>
              <a:t>) {</a:t>
            </a:r>
          </a:p>
          <a:p>
            <a:endParaRPr lang="en-US" altLang="ko-KR" sz="1200" dirty="0"/>
          </a:p>
          <a:p>
            <a:r>
              <a:rPr lang="en-US" altLang="ko-KR" sz="1200"/>
              <a:t>    IDataSet responseData = </a:t>
            </a:r>
            <a:r>
              <a:rPr lang="en-US" altLang="ko-KR" sz="1200" b="1"/>
              <a:t>new</a:t>
            </a:r>
            <a:r>
              <a:rPr lang="en-US" altLang="ko-KR" sz="1200"/>
              <a:t> DataSet();</a:t>
            </a:r>
            <a:endParaRPr lang="ko-KR" altLang="ko-KR" sz="1200"/>
          </a:p>
          <a:p>
            <a:r>
              <a:rPr lang="en-US" altLang="ko-KR" sz="1200"/>
              <a:t>    ILog log = getLog(onlineCtx);</a:t>
            </a:r>
            <a:endParaRPr lang="ko-KR" altLang="ko-KR" sz="1200"/>
          </a:p>
          <a:p>
            <a:r>
              <a:rPr lang="en-US" altLang="ko-KR" sz="1200"/>
              <a:t>    </a:t>
            </a:r>
            <a:r>
              <a:rPr lang="en-US" altLang="ko-KR" sz="1200" u="sng"/>
              <a:t>CommonArea</a:t>
            </a:r>
            <a:r>
              <a:rPr lang="en-US" altLang="ko-KR" sz="1200"/>
              <a:t> ca = getCommonArea(onlineCtx);</a:t>
            </a:r>
            <a:endParaRPr lang="ko-KR" altLang="ko-KR" sz="1200"/>
          </a:p>
          <a:p>
            <a:r>
              <a:rPr lang="en-US" altLang="ko-KR" sz="1200" b="1"/>
              <a:t>    </a:t>
            </a:r>
          </a:p>
          <a:p>
            <a:r>
              <a:rPr lang="en-US" altLang="ko-KR" sz="1200" b="1"/>
              <a:t>    try</a:t>
            </a:r>
            <a:r>
              <a:rPr lang="en-US" altLang="ko-KR" sz="1200"/>
              <a:t> {</a:t>
            </a:r>
            <a:endParaRPr lang="ko-KR" altLang="ko-KR" sz="1200"/>
          </a:p>
          <a:p>
            <a:r>
              <a:rPr lang="en-US" altLang="ko-KR" sz="1200"/>
              <a:t> </a:t>
            </a:r>
            <a:endParaRPr lang="ko-KR" altLang="ko-KR" sz="1200"/>
          </a:p>
          <a:p>
            <a:r>
              <a:rPr lang="en-US" altLang="ko-KR" sz="1200"/>
              <a:t>        // </a:t>
            </a:r>
            <a:r>
              <a:rPr lang="en-US" altLang="ko-KR" sz="1200" b="1"/>
              <a:t>TODO</a:t>
            </a:r>
            <a:r>
              <a:rPr lang="en-US" altLang="ko-KR" sz="1200"/>
              <a:t> </a:t>
            </a:r>
            <a:r>
              <a:rPr lang="ko-KR" altLang="ko-KR" sz="1200"/>
              <a:t>업무 로직 작성</a:t>
            </a:r>
          </a:p>
          <a:p>
            <a:r>
              <a:rPr lang="en-US" altLang="ko-KR" sz="1200"/>
              <a:t>        // </a:t>
            </a:r>
            <a:r>
              <a:rPr lang="en-US" altLang="ko-KR" sz="1200" b="1"/>
              <a:t>TODO</a:t>
            </a:r>
            <a:r>
              <a:rPr lang="en-US" altLang="ko-KR" sz="1200"/>
              <a:t> </a:t>
            </a:r>
            <a:r>
              <a:rPr lang="ko-KR" altLang="ko-KR" sz="1200"/>
              <a:t>출력 값 설정</a:t>
            </a:r>
            <a:r>
              <a:rPr lang="en-US" altLang="ko-KR" sz="1200"/>
              <a:t>.</a:t>
            </a:r>
            <a:endParaRPr lang="ko-KR" altLang="ko-KR" sz="1200"/>
          </a:p>
          <a:p>
            <a:r>
              <a:rPr lang="en-US" altLang="ko-KR" sz="1200"/>
              <a:t> </a:t>
            </a:r>
            <a:endParaRPr lang="ko-KR" altLang="ko-KR" sz="1200"/>
          </a:p>
          <a:p>
            <a:r>
              <a:rPr lang="en-US" altLang="ko-KR" sz="1200"/>
              <a:t>    }</a:t>
            </a:r>
            <a:r>
              <a:rPr lang="en-US" altLang="ko-KR" sz="1200" b="1"/>
              <a:t>catch</a:t>
            </a:r>
            <a:r>
              <a:rPr lang="en-US" altLang="ko-KR" sz="1200"/>
              <a:t>(BusinessException e) {</a:t>
            </a:r>
            <a:endParaRPr lang="ko-KR" altLang="ko-KR" sz="1200"/>
          </a:p>
          <a:p>
            <a:r>
              <a:rPr lang="en-US" altLang="ko-KR" sz="1200"/>
              <a:t>        // </a:t>
            </a:r>
            <a:r>
              <a:rPr lang="ko-KR" altLang="ko-KR" sz="1200"/>
              <a:t>에러 처리가 필요한 경우 여기에 로직을 작성하십시요</a:t>
            </a:r>
          </a:p>
          <a:p>
            <a:r>
              <a:rPr lang="en-US" altLang="ko-KR" sz="1200"/>
              <a:t>        </a:t>
            </a:r>
            <a:r>
              <a:rPr lang="en-US" altLang="ko-KR" sz="1200" b="1"/>
              <a:t>throw</a:t>
            </a:r>
            <a:r>
              <a:rPr lang="en-US" altLang="ko-KR" sz="1200"/>
              <a:t> e;</a:t>
            </a:r>
            <a:endParaRPr lang="ko-KR" altLang="ko-KR" sz="1200"/>
          </a:p>
          <a:p>
            <a:r>
              <a:rPr lang="en-US" altLang="ko-KR" sz="1200"/>
              <a:t>    }</a:t>
            </a:r>
            <a:r>
              <a:rPr lang="en-US" altLang="ko-KR" sz="1200" b="1"/>
              <a:t>catch</a:t>
            </a:r>
            <a:r>
              <a:rPr lang="en-US" altLang="ko-KR" sz="1200"/>
              <a:t>(Exception e) {</a:t>
            </a:r>
            <a:endParaRPr lang="ko-KR" altLang="ko-KR" sz="1200"/>
          </a:p>
          <a:p>
            <a:r>
              <a:rPr lang="en-US" altLang="ko-KR" sz="1200"/>
              <a:t>        // </a:t>
            </a:r>
            <a:r>
              <a:rPr lang="ko-KR" altLang="ko-KR" sz="1200"/>
              <a:t>에러 코드</a:t>
            </a:r>
            <a:r>
              <a:rPr lang="en-US" altLang="ko-KR" sz="1200"/>
              <a:t>, </a:t>
            </a:r>
            <a:r>
              <a:rPr lang="ko-KR" altLang="ko-KR" sz="1200"/>
              <a:t>조치 코드</a:t>
            </a:r>
            <a:r>
              <a:rPr lang="en-US" altLang="ko-KR" sz="1200"/>
              <a:t>, </a:t>
            </a:r>
            <a:r>
              <a:rPr lang="ko-KR" altLang="ko-KR" sz="1200"/>
              <a:t>맞춤메시지 를 설정하십시요</a:t>
            </a:r>
          </a:p>
          <a:p>
            <a:r>
              <a:rPr lang="en-US" altLang="ko-KR" sz="1200"/>
              <a:t>        </a:t>
            </a:r>
            <a:r>
              <a:rPr lang="en-US" altLang="ko-KR" sz="1200" b="1"/>
              <a:t>throw</a:t>
            </a:r>
            <a:r>
              <a:rPr lang="en-US" altLang="ko-KR" sz="1200"/>
              <a:t> </a:t>
            </a:r>
            <a:r>
              <a:rPr lang="en-US" altLang="ko-KR" sz="1200" b="1"/>
              <a:t>new</a:t>
            </a:r>
            <a:r>
              <a:rPr lang="en-US" altLang="ko-KR" sz="1200"/>
              <a:t> BusinessException(</a:t>
            </a:r>
            <a:r>
              <a:rPr lang="ko-KR" altLang="ko-KR" sz="1200" u="sng"/>
              <a:t>에러코드</a:t>
            </a:r>
            <a:r>
              <a:rPr lang="en-US" altLang="ko-KR" sz="1200"/>
              <a:t>, </a:t>
            </a:r>
            <a:r>
              <a:rPr lang="ko-KR" altLang="ko-KR" sz="1200" u="sng"/>
              <a:t>조치메시지</a:t>
            </a:r>
            <a:r>
              <a:rPr lang="en-US" altLang="ko-KR" sz="1200"/>
              <a:t>, </a:t>
            </a:r>
            <a:r>
              <a:rPr lang="ko-KR" altLang="ko-KR" sz="1200" u="sng"/>
              <a:t>맞춤메시지</a:t>
            </a:r>
            <a:r>
              <a:rPr lang="en-US" altLang="ko-KR" sz="1200"/>
              <a:t>, e);</a:t>
            </a:r>
            <a:endParaRPr lang="ko-KR" altLang="ko-KR" sz="1200"/>
          </a:p>
          <a:p>
            <a:r>
              <a:rPr lang="en-US" altLang="ko-KR" sz="1200"/>
              <a:t>    }</a:t>
            </a:r>
            <a:endParaRPr lang="ko-KR" altLang="ko-KR" sz="1200"/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7F0055"/>
                </a:solidFill>
                <a:cs typeface="Times New Roman" panose="02020603050405020304" pitchFamily="18" charset="0"/>
              </a:rPr>
              <a:t>    return</a:t>
            </a:r>
            <a:r>
              <a:rPr lang="en-US" altLang="ko-KR" sz="120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ko-KR" sz="1200" u="sng">
                <a:solidFill>
                  <a:srgbClr val="6A3E3E"/>
                </a:solidFill>
                <a:cs typeface="Times New Roman" panose="02020603050405020304" pitchFamily="18" charset="0"/>
              </a:rPr>
              <a:t>responseData;</a:t>
            </a:r>
            <a:endParaRPr lang="en-US" altLang="ko-KR" sz="1200"/>
          </a:p>
          <a:p>
            <a:endParaRPr lang="en-US" altLang="ko-KR" sz="1200" dirty="0"/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5457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DataSet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416496" y="1854188"/>
            <a:ext cx="3383768" cy="3359333"/>
          </a:xfrm>
          <a:prstGeom prst="roundRect">
            <a:avLst>
              <a:gd name="adj" fmla="val 505"/>
            </a:avLst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ko-KR" altLang="en-US" sz="18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85259" y="2072552"/>
            <a:ext cx="3015024" cy="13593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lang="ko-KR" altLang="en-US" sz="1100" b="0" dirty="0">
              <a:latin typeface="+mn-ea"/>
              <a:cs typeface="굴림" panose="020B0600000101010101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85259" y="3700879"/>
            <a:ext cx="3015024" cy="1351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lang="ko-KR" altLang="en-US" sz="1100" b="0" dirty="0">
              <a:latin typeface="+mn-ea"/>
              <a:cs typeface="굴림" panose="020B0600000101010101" pitchFamily="50" charset="-127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43196"/>
              </p:ext>
            </p:extLst>
          </p:nvPr>
        </p:nvGraphicFramePr>
        <p:xfrm>
          <a:off x="1007396" y="2333201"/>
          <a:ext cx="2036784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392">
                  <a:extLst>
                    <a:ext uri="{9D8B030D-6E8A-4147-A177-3AD203B41FA5}">
                      <a16:colId xmlns:a16="http://schemas.microsoft.com/office/drawing/2014/main" val="4023304552"/>
                    </a:ext>
                  </a:extLst>
                </a:gridCol>
                <a:gridCol w="1018392">
                  <a:extLst>
                    <a:ext uri="{9D8B030D-6E8A-4147-A177-3AD203B41FA5}">
                      <a16:colId xmlns:a16="http://schemas.microsoft.com/office/drawing/2014/main" val="1920106638"/>
                    </a:ext>
                  </a:extLst>
                </a:gridCol>
              </a:tblGrid>
              <a:tr h="23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Key</a:t>
                      </a:r>
                      <a:endParaRPr lang="ko-KR" altLang="en-US" sz="1000" b="1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</a:t>
                      </a:r>
                      <a:endParaRPr lang="ko-KR" altLang="en-US" sz="1000" b="1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764152"/>
                  </a:ext>
                </a:extLst>
              </a:tr>
              <a:tr h="23403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659251"/>
                  </a:ext>
                </a:extLst>
              </a:tr>
              <a:tr h="23403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49816"/>
                  </a:ext>
                </a:extLst>
              </a:tr>
              <a:tr h="23403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2084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87946"/>
              </p:ext>
            </p:extLst>
          </p:nvPr>
        </p:nvGraphicFramePr>
        <p:xfrm>
          <a:off x="667915" y="4165535"/>
          <a:ext cx="1311324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831">
                  <a:extLst>
                    <a:ext uri="{9D8B030D-6E8A-4147-A177-3AD203B41FA5}">
                      <a16:colId xmlns:a16="http://schemas.microsoft.com/office/drawing/2014/main" val="4023304552"/>
                    </a:ext>
                  </a:extLst>
                </a:gridCol>
                <a:gridCol w="327831">
                  <a:extLst>
                    <a:ext uri="{9D8B030D-6E8A-4147-A177-3AD203B41FA5}">
                      <a16:colId xmlns:a16="http://schemas.microsoft.com/office/drawing/2014/main" val="1920106638"/>
                    </a:ext>
                  </a:extLst>
                </a:gridCol>
                <a:gridCol w="327831">
                  <a:extLst>
                    <a:ext uri="{9D8B030D-6E8A-4147-A177-3AD203B41FA5}">
                      <a16:colId xmlns:a16="http://schemas.microsoft.com/office/drawing/2014/main" val="3604243660"/>
                    </a:ext>
                  </a:extLst>
                </a:gridCol>
                <a:gridCol w="327831">
                  <a:extLst>
                    <a:ext uri="{9D8B030D-6E8A-4147-A177-3AD203B41FA5}">
                      <a16:colId xmlns:a16="http://schemas.microsoft.com/office/drawing/2014/main" val="756137115"/>
                    </a:ext>
                  </a:extLst>
                </a:gridCol>
              </a:tblGrid>
              <a:tr h="162983"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764152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659251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49816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20849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240935"/>
              </p:ext>
            </p:extLst>
          </p:nvPr>
        </p:nvGraphicFramePr>
        <p:xfrm>
          <a:off x="2144081" y="4165535"/>
          <a:ext cx="951282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094">
                  <a:extLst>
                    <a:ext uri="{9D8B030D-6E8A-4147-A177-3AD203B41FA5}">
                      <a16:colId xmlns:a16="http://schemas.microsoft.com/office/drawing/2014/main" val="4023304552"/>
                    </a:ext>
                  </a:extLst>
                </a:gridCol>
                <a:gridCol w="317094">
                  <a:extLst>
                    <a:ext uri="{9D8B030D-6E8A-4147-A177-3AD203B41FA5}">
                      <a16:colId xmlns:a16="http://schemas.microsoft.com/office/drawing/2014/main" val="1920106638"/>
                    </a:ext>
                  </a:extLst>
                </a:gridCol>
                <a:gridCol w="317094">
                  <a:extLst>
                    <a:ext uri="{9D8B030D-6E8A-4147-A177-3AD203B41FA5}">
                      <a16:colId xmlns:a16="http://schemas.microsoft.com/office/drawing/2014/main" val="3604243660"/>
                    </a:ext>
                  </a:extLst>
                </a:gridCol>
              </a:tblGrid>
              <a:tr h="16298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764152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659251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49816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500" kern="1200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20849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583772" y="3890409"/>
            <a:ext cx="1524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0">
                <a:latin typeface="+mn-ea"/>
              </a:rPr>
              <a:t>Grid-1 (IRecordSet</a:t>
            </a:r>
            <a:r>
              <a:rPr lang="en-US" altLang="ko-KR" sz="1050" b="0" dirty="0">
                <a:latin typeface="+mn-ea"/>
              </a:rPr>
              <a:t>)</a:t>
            </a:r>
            <a:endParaRPr lang="ko-KR" altLang="en-US" sz="1050" b="0" dirty="0"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92052" y="3890409"/>
            <a:ext cx="1524304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0">
                <a:latin typeface="+mn-ea"/>
              </a:rPr>
              <a:t>Grid-2 (IRecordSet</a:t>
            </a:r>
            <a:r>
              <a:rPr lang="en-US" altLang="ko-KR" sz="1050" b="0" dirty="0">
                <a:latin typeface="+mn-ea"/>
              </a:rPr>
              <a:t>)</a:t>
            </a:r>
            <a:endParaRPr lang="ko-KR" altLang="en-US" sz="1050" b="0" dirty="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759103" y="1536283"/>
            <a:ext cx="1287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+mn-ea"/>
              </a:rPr>
              <a:t>IDataSet</a:t>
            </a:r>
            <a:endParaRPr lang="ko-KR" altLang="en-US" sz="1600" dirty="0"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04020" y="1971459"/>
            <a:ext cx="827865" cy="2616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+mn-ea"/>
              </a:rPr>
              <a:t>필드 영역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09033" y="3557337"/>
            <a:ext cx="1115840" cy="2616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C00000"/>
                </a:solidFill>
                <a:latin typeface="+mn-ea"/>
              </a:rPr>
              <a:t>레코드셋</a:t>
            </a:r>
            <a:r>
              <a:rPr lang="ko-KR" altLang="en-US" sz="1100" dirty="0">
                <a:solidFill>
                  <a:srgbClr val="C00000"/>
                </a:solidFill>
                <a:latin typeface="+mn-ea"/>
              </a:rPr>
              <a:t> 영역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16188" y="4260031"/>
            <a:ext cx="48409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0" dirty="0">
                <a:latin typeface="+mn-ea"/>
              </a:rPr>
              <a:t>… … 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4750" y="5266945"/>
            <a:ext cx="3484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필드 영역 </a:t>
            </a:r>
            <a:r>
              <a:rPr lang="en-US" altLang="ko-KR" sz="1200">
                <a:latin typeface="+mn-ea"/>
              </a:rPr>
              <a:t>: </a:t>
            </a:r>
            <a:r>
              <a:rPr lang="ko-KR" altLang="en-US" sz="1200">
                <a:latin typeface="+mn-ea"/>
              </a:rPr>
              <a:t>단일 </a:t>
            </a:r>
            <a:r>
              <a:rPr lang="en-US" altLang="ko-KR" sz="1200" dirty="0">
                <a:latin typeface="+mn-ea"/>
              </a:rPr>
              <a:t>Key-Value </a:t>
            </a:r>
            <a:r>
              <a:rPr lang="en-US" altLang="ko-KR" sz="1200">
                <a:latin typeface="+mn-ea"/>
              </a:rPr>
              <a:t>map </a:t>
            </a:r>
          </a:p>
          <a:p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레코드 영역 </a:t>
            </a:r>
            <a:r>
              <a:rPr lang="en-US" altLang="ko-KR" sz="1200">
                <a:latin typeface="+mn-ea"/>
              </a:rPr>
              <a:t>: Grid</a:t>
            </a:r>
            <a:r>
              <a:rPr lang="ko-KR" altLang="en-US" sz="1200">
                <a:latin typeface="+mn-ea"/>
              </a:rPr>
              <a:t>로 통칭되는 </a:t>
            </a:r>
            <a:r>
              <a:rPr lang="en-US" altLang="ko-KR" sz="1200">
                <a:latin typeface="+mn-ea"/>
              </a:rPr>
              <a:t>2</a:t>
            </a:r>
            <a:r>
              <a:rPr lang="ko-KR" altLang="en-US" sz="1200">
                <a:latin typeface="+mn-ea"/>
              </a:rPr>
              <a:t>차원 배열정보 </a:t>
            </a:r>
            <a:br>
              <a:rPr lang="en-US" altLang="ko-KR" sz="1200">
                <a:latin typeface="+mn-ea"/>
              </a:rPr>
            </a:br>
            <a:endParaRPr lang="ko-KR" altLang="en-US" sz="1200" dirty="0">
              <a:latin typeface="+mn-ea"/>
            </a:endParaRPr>
          </a:p>
        </p:txBody>
      </p:sp>
      <p:sp>
        <p:nvSpPr>
          <p:cNvPr id="57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359648" cy="443583"/>
          </a:xfrm>
        </p:spPr>
        <p:txBody>
          <a:bodyPr/>
          <a:lstStyle/>
          <a:p>
            <a:r>
              <a:rPr lang="en-US" altLang="ko-KR"/>
              <a:t>IDataSet</a:t>
            </a:r>
            <a:r>
              <a:rPr lang="ko-KR" altLang="en-US"/>
              <a:t>은 업무 데이터를 전달하는 </a:t>
            </a:r>
            <a:r>
              <a:rPr lang="en-US" altLang="ko-KR"/>
              <a:t>DTO(Data Transfer Object)</a:t>
            </a:r>
            <a:r>
              <a:rPr lang="ko-KR" altLang="en-US"/>
              <a:t>이며</a:t>
            </a:r>
            <a:r>
              <a:rPr lang="en-US" altLang="ko-KR"/>
              <a:t> </a:t>
            </a:r>
            <a:r>
              <a:rPr lang="ko-KR" altLang="en-US"/>
              <a:t>메소드가 주고받는 객체이다</a:t>
            </a:r>
            <a:r>
              <a:rPr lang="en-US" altLang="ko-KR"/>
              <a:t>.</a:t>
            </a:r>
          </a:p>
          <a:p>
            <a:r>
              <a:rPr lang="ko-KR" altLang="en-US"/>
              <a:t>모든 </a:t>
            </a:r>
            <a:r>
              <a:rPr lang="en-US" altLang="ko-KR"/>
              <a:t>PM, FM, DM </a:t>
            </a:r>
            <a:r>
              <a:rPr lang="ko-KR" altLang="en-US"/>
              <a:t>메소의 입출력 데이터로 사용된다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34662"/>
              </p:ext>
            </p:extLst>
          </p:nvPr>
        </p:nvGraphicFramePr>
        <p:xfrm>
          <a:off x="4073724" y="2237336"/>
          <a:ext cx="5487788" cy="295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62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Object 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get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(String key)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altLang="en-US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String </a:t>
                      </a:r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getString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(String key)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해당하는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String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타입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</a:t>
                      </a:r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getInt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(String key)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해당하는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타입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</a:t>
                      </a:r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(String key,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value)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기준으로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타입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저장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String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(String key, String value)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기준으로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String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타입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저장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boolean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containsKey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(String key)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key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포함여부를 </a:t>
                      </a:r>
                      <a:r>
                        <a:rPr lang="en-US" altLang="ko-KR" sz="10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boolean</a:t>
                      </a:r>
                      <a:r>
                        <a:rPr lang="ko-KR" altLang="en-US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타입을 반환</a:t>
                      </a:r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Map </a:t>
                      </a:r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toMap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DataSet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전환하여 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96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레코드셋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getRecordSet</a:t>
                      </a:r>
                      <a:r>
                        <a:rPr lang="en-US" altLang="ko-KR" sz="1000" b="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String key)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 해당하는 레코드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셋을 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en-US" altLang="ko-KR" sz="1000" b="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put</a:t>
                      </a:r>
                    </a:p>
                    <a:p>
                      <a:pPr latinLnBrk="1"/>
                      <a:r>
                        <a:rPr lang="en-US" altLang="ko-KR" sz="1000" b="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String key,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recordSet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로 레코드 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셋을 설정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96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Object 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clone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()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IDataSet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객체의 복사본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(deep-copy)</a:t>
                      </a:r>
                      <a:r>
                        <a:rPr lang="ko-KR" altLang="en-US" sz="100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을 반환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11307" y="1961270"/>
            <a:ext cx="1705962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IDataSet </a:t>
            </a:r>
            <a:r>
              <a:rPr lang="ko-KR" altLang="en-US" sz="1400" b="1">
                <a:cs typeface="Arial" pitchFamily="34" charset="0"/>
              </a:rPr>
              <a:t>주요 </a:t>
            </a:r>
            <a:r>
              <a:rPr lang="en-US" altLang="ko-KR" sz="1400" b="1">
                <a:cs typeface="Arial" pitchFamily="34" charset="0"/>
              </a:rPr>
              <a:t>API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77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DataSet</a:t>
            </a:r>
            <a:endParaRPr lang="ko-KR" altLang="en-US" dirty="0"/>
          </a:p>
        </p:txBody>
      </p:sp>
      <p:sp>
        <p:nvSpPr>
          <p:cNvPr id="4" name="Rectangle 418"/>
          <p:cNvSpPr>
            <a:spLocks noChangeArrowheads="1"/>
          </p:cNvSpPr>
          <p:nvPr/>
        </p:nvSpPr>
        <p:spPr bwMode="auto">
          <a:xfrm>
            <a:off x="6141276" y="1520788"/>
            <a:ext cx="1296000" cy="33123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bIns="108000" anchor="t" anchorCtr="0"/>
          <a:lstStyle/>
          <a:p>
            <a:pPr algn="ctr" latinLnBrk="0">
              <a:defRPr/>
            </a:pPr>
            <a:r>
              <a:rPr lang="en-US" altLang="ko-KR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UNIT C</a:t>
            </a:r>
            <a:endParaRPr lang="ko-KR" altLang="en-US" sz="11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24758" y="2060539"/>
            <a:ext cx="951108" cy="244799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b="1" dirty="0">
                <a:solidFill>
                  <a:schemeClr val="tx1"/>
                </a:solidFill>
                <a:cs typeface="Arial" pitchFamily="34" charset="0"/>
              </a:rPr>
              <a:t>메서드</a:t>
            </a:r>
          </a:p>
        </p:txBody>
      </p:sp>
      <p:sp>
        <p:nvSpPr>
          <p:cNvPr id="6" name="Rectangle 418"/>
          <p:cNvSpPr>
            <a:spLocks noChangeArrowheads="1"/>
          </p:cNvSpPr>
          <p:nvPr/>
        </p:nvSpPr>
        <p:spPr bwMode="auto">
          <a:xfrm>
            <a:off x="1936622" y="1520937"/>
            <a:ext cx="1296000" cy="33123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bIns="108000" anchor="t" anchorCtr="0"/>
          <a:lstStyle/>
          <a:p>
            <a:pPr algn="ctr" latinLnBrk="0">
              <a:defRPr/>
            </a:pPr>
            <a:r>
              <a:rPr lang="en-US" altLang="ko-KR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UNIT A</a:t>
            </a:r>
            <a:endParaRPr lang="ko-KR" altLang="en-US" sz="11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Rectangle 418"/>
          <p:cNvSpPr>
            <a:spLocks noChangeArrowheads="1"/>
          </p:cNvSpPr>
          <p:nvPr/>
        </p:nvSpPr>
        <p:spPr bwMode="auto">
          <a:xfrm>
            <a:off x="1926256" y="4958904"/>
            <a:ext cx="5511020" cy="102577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bIns="108000" anchor="t" anchorCtr="0"/>
          <a:lstStyle/>
          <a:p>
            <a:pPr latinLnBrk="0">
              <a:defRPr/>
            </a:pPr>
            <a:r>
              <a:rPr lang="en-US" altLang="ko-KR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onlineContext</a:t>
            </a:r>
            <a:endParaRPr lang="ko-KR" altLang="en-US" sz="11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순서도: 대체 처리 7"/>
          <p:cNvSpPr/>
          <p:nvPr/>
        </p:nvSpPr>
        <p:spPr>
          <a:xfrm>
            <a:off x="2841457" y="5281465"/>
            <a:ext cx="3654555" cy="610529"/>
          </a:xfrm>
          <a:prstGeom prst="flowChartAlternateProcess">
            <a:avLst/>
          </a:prstGeom>
          <a:solidFill>
            <a:srgbClr val="FFC000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b="1" dirty="0" err="1">
                <a:solidFill>
                  <a:schemeClr val="tx1"/>
                </a:solidFill>
                <a:cs typeface="Arial" pitchFamily="34" charset="0"/>
              </a:rPr>
              <a:t>CommonArea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 flipH="1">
            <a:off x="3126169" y="3456607"/>
            <a:ext cx="3075441" cy="932422"/>
          </a:xfrm>
          <a:prstGeom prst="rightArrow">
            <a:avLst>
              <a:gd name="adj1" fmla="val 50000"/>
              <a:gd name="adj2" fmla="val 39903"/>
            </a:avLst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3126170" y="2205013"/>
            <a:ext cx="3075441" cy="932422"/>
          </a:xfrm>
          <a:prstGeom prst="rightArrow">
            <a:avLst>
              <a:gd name="adj1" fmla="val 50000"/>
              <a:gd name="adj2" fmla="val 39903"/>
            </a:avLst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Rectangle 418"/>
          <p:cNvSpPr>
            <a:spLocks noChangeArrowheads="1"/>
          </p:cNvSpPr>
          <p:nvPr/>
        </p:nvSpPr>
        <p:spPr bwMode="auto">
          <a:xfrm>
            <a:off x="4025424" y="1520788"/>
            <a:ext cx="1296000" cy="33123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bIns="108000" anchor="t" anchorCtr="0"/>
          <a:lstStyle/>
          <a:p>
            <a:pPr algn="ctr" latinLnBrk="0">
              <a:defRPr/>
            </a:pPr>
            <a:r>
              <a:rPr lang="en-US" altLang="ko-KR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UNIT B</a:t>
            </a:r>
            <a:endParaRPr lang="ko-KR" altLang="en-US" sz="11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74440" y="2483559"/>
            <a:ext cx="768415" cy="339331"/>
          </a:xfrm>
          <a:prstGeom prst="rect">
            <a:avLst/>
          </a:prstGeom>
          <a:solidFill>
            <a:srgbClr val="FFCA66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request</a:t>
            </a:r>
            <a:b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Data</a:t>
            </a:r>
            <a:endParaRPr lang="ko-KR" altLang="en-US" sz="105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174440" y="3750839"/>
            <a:ext cx="768415" cy="339331"/>
          </a:xfrm>
          <a:prstGeom prst="rect">
            <a:avLst/>
          </a:prstGeom>
          <a:solidFill>
            <a:srgbClr val="FFCA66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response</a:t>
            </a:r>
            <a:b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Data</a:t>
            </a:r>
            <a:endParaRPr lang="ko-KR" altLang="en-US" sz="105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266340" y="2483559"/>
            <a:ext cx="768415" cy="339331"/>
          </a:xfrm>
          <a:prstGeom prst="rect">
            <a:avLst/>
          </a:prstGeom>
          <a:solidFill>
            <a:srgbClr val="FFCA66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request</a:t>
            </a:r>
            <a:b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Data</a:t>
            </a:r>
            <a:endParaRPr lang="ko-KR" altLang="en-US" sz="105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266340" y="3750839"/>
            <a:ext cx="768415" cy="339331"/>
          </a:xfrm>
          <a:prstGeom prst="rect">
            <a:avLst/>
          </a:prstGeom>
          <a:solidFill>
            <a:srgbClr val="FFCA66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response</a:t>
            </a:r>
            <a:b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050" b="1" dirty="0">
                <a:solidFill>
                  <a:schemeClr val="tx1"/>
                </a:solidFill>
                <a:cs typeface="Arial" pitchFamily="34" charset="0"/>
              </a:rPr>
              <a:t>Data</a:t>
            </a:r>
            <a:endParaRPr lang="ko-KR" altLang="en-US" sz="105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82966" y="5538641"/>
            <a:ext cx="972000" cy="260936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항목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C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순서도: 대체 처리 16"/>
          <p:cNvSpPr/>
          <p:nvPr/>
        </p:nvSpPr>
        <p:spPr>
          <a:xfrm>
            <a:off x="4210720" y="5538641"/>
            <a:ext cx="1025152" cy="260936"/>
          </a:xfrm>
          <a:prstGeom prst="flowChartAlternateProcess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항목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B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191066" y="5544477"/>
            <a:ext cx="972000" cy="260936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b="1" dirty="0">
                <a:solidFill>
                  <a:schemeClr val="tx1"/>
                </a:solidFill>
                <a:cs typeface="Arial" pitchFamily="34" charset="0"/>
              </a:rPr>
              <a:t>항목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A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197870" y="2060538"/>
            <a:ext cx="951108" cy="244799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b="1" dirty="0">
                <a:solidFill>
                  <a:schemeClr val="tx1"/>
                </a:solidFill>
                <a:cs typeface="Arial" pitchFamily="34" charset="0"/>
              </a:rPr>
              <a:t>메서드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109068" y="2060537"/>
            <a:ext cx="951108" cy="244799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200" b="1" dirty="0">
                <a:solidFill>
                  <a:schemeClr val="tx1"/>
                </a:solidFill>
                <a:cs typeface="Arial" pitchFamily="34" charset="0"/>
              </a:rPr>
              <a:t>메서드</a:t>
            </a:r>
          </a:p>
        </p:txBody>
      </p:sp>
      <p:cxnSp>
        <p:nvCxnSpPr>
          <p:cNvPr id="21" name="꺾인 연결선 20"/>
          <p:cNvCxnSpPr>
            <a:stCxn id="20" idx="2"/>
            <a:endCxn id="8" idx="0"/>
          </p:cNvCxnSpPr>
          <p:nvPr/>
        </p:nvCxnSpPr>
        <p:spPr>
          <a:xfrm rot="16200000" flipH="1">
            <a:off x="3240210" y="3852939"/>
            <a:ext cx="772937" cy="208411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5" idx="2"/>
            <a:endCxn id="8" idx="0"/>
          </p:cNvCxnSpPr>
          <p:nvPr/>
        </p:nvCxnSpPr>
        <p:spPr>
          <a:xfrm rot="5400000">
            <a:off x="5348057" y="3829209"/>
            <a:ext cx="772935" cy="21315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9" idx="2"/>
            <a:endCxn id="8" idx="0"/>
          </p:cNvCxnSpPr>
          <p:nvPr/>
        </p:nvCxnSpPr>
        <p:spPr>
          <a:xfrm rot="5400000">
            <a:off x="4284612" y="4892653"/>
            <a:ext cx="772936" cy="468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359648" cy="443198"/>
          </a:xfrm>
        </p:spPr>
        <p:txBody>
          <a:bodyPr/>
          <a:lstStyle/>
          <a:p>
            <a:r>
              <a:rPr lang="en-US" altLang="ko-KR">
                <a:latin typeface="+mn-ea"/>
              </a:rPr>
              <a:t>OnlineContext </a:t>
            </a:r>
            <a:r>
              <a:rPr lang="ko-KR" altLang="en-US">
                <a:latin typeface="+mn-ea"/>
              </a:rPr>
              <a:t>객체는 서비스 요청 데이터를 제외한 부가적인 정보를 전달하는 </a:t>
            </a:r>
            <a:r>
              <a:rPr lang="en-US" altLang="ko-KR">
                <a:latin typeface="+mn-ea"/>
              </a:rPr>
              <a:t>DTO.</a:t>
            </a:r>
          </a:p>
          <a:p>
            <a:r>
              <a:rPr lang="ko-KR" altLang="en-US">
                <a:latin typeface="+mn-ea"/>
              </a:rPr>
              <a:t>최초 </a:t>
            </a:r>
            <a:r>
              <a:rPr lang="en-US" altLang="ko-KR">
                <a:latin typeface="+mn-ea"/>
              </a:rPr>
              <a:t>PM </a:t>
            </a:r>
            <a:r>
              <a:rPr lang="ko-KR" altLang="en-US">
                <a:latin typeface="+mn-ea"/>
              </a:rPr>
              <a:t>호출시 생성되어 거래 종료시까지 유지되는 객체이며</a:t>
            </a:r>
            <a:r>
              <a:rPr lang="en-US" altLang="ko-KR">
                <a:latin typeface="+mn-ea"/>
              </a:rPr>
              <a:t> </a:t>
            </a:r>
            <a:r>
              <a:rPr lang="ko-KR" altLang="en-US">
                <a:latin typeface="+mn-ea"/>
              </a:rPr>
              <a:t>거래의 속성정보</a:t>
            </a:r>
            <a:r>
              <a:rPr lang="en-US" altLang="ko-KR">
                <a:latin typeface="+mn-ea"/>
              </a:rPr>
              <a:t>, CommonArea </a:t>
            </a:r>
            <a:r>
              <a:rPr lang="ko-KR" altLang="en-US">
                <a:latin typeface="+mn-ea"/>
              </a:rPr>
              <a:t>정보를 담고 있다</a:t>
            </a:r>
            <a:r>
              <a:rPr lang="en-US" altLang="ko-KR">
                <a:latin typeface="+mn-ea"/>
              </a:rPr>
              <a:t>.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191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CommonArea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en-US" altLang="ko-KR"/>
              <a:t>OnlineContext</a:t>
            </a:r>
            <a:r>
              <a:rPr lang="ko-KR" altLang="en-US"/>
              <a:t>의 정보 중 업무에 특화된 항목들을 별도의 클래스로 구조화 해놓은 것이 </a:t>
            </a:r>
            <a:r>
              <a:rPr lang="en-US" altLang="ko-KR"/>
              <a:t>CommonArea</a:t>
            </a:r>
            <a:r>
              <a:rPr lang="ko-KR" altLang="en-US"/>
              <a:t>이며 </a:t>
            </a:r>
            <a:r>
              <a:rPr lang="en-US" altLang="ko-KR"/>
              <a:t>CommonArea</a:t>
            </a:r>
            <a:r>
              <a:rPr lang="ko-KR" altLang="en-US"/>
              <a:t>는 거래의 시작에서 종료까지 공유되는 공유 메모리 영역이다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65478" y="3286789"/>
            <a:ext cx="77399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+mn-ea"/>
              </a:rPr>
              <a:t>- </a:t>
            </a:r>
            <a:r>
              <a:rPr lang="ko-KR" altLang="en-US" sz="1400" b="0">
                <a:latin typeface="+mn-ea"/>
              </a:rPr>
              <a:t>입력된 표준 전문의 </a:t>
            </a:r>
            <a:r>
              <a:rPr lang="ko-KR" altLang="en-US" sz="1400" b="0" dirty="0" err="1">
                <a:latin typeface="+mn-ea"/>
              </a:rPr>
              <a:t>헤더값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err="1">
                <a:latin typeface="+mn-ea"/>
              </a:rPr>
              <a:t>업무공통</a:t>
            </a:r>
            <a:r>
              <a:rPr lang="ko-KR" altLang="en-US" sz="1400" b="0">
                <a:latin typeface="+mn-ea"/>
              </a:rPr>
              <a:t> 기준정보</a:t>
            </a:r>
            <a:r>
              <a:rPr lang="en-US" altLang="ko-KR" sz="1400" b="0">
                <a:latin typeface="+mn-ea"/>
              </a:rPr>
              <a:t>(</a:t>
            </a:r>
            <a:r>
              <a:rPr lang="ko-KR" altLang="en-US" sz="1400" b="0" dirty="0" err="1">
                <a:latin typeface="+mn-ea"/>
              </a:rPr>
              <a:t>부점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사용자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일자 등</a:t>
            </a:r>
            <a:r>
              <a:rPr lang="en-US" altLang="ko-KR" sz="1400" b="0" dirty="0">
                <a:latin typeface="+mn-ea"/>
              </a:rPr>
              <a:t>), </a:t>
            </a:r>
            <a:r>
              <a:rPr lang="ko-KR" altLang="en-US" sz="1400" b="0" dirty="0">
                <a:latin typeface="+mn-ea"/>
              </a:rPr>
              <a:t>회계정보 </a:t>
            </a:r>
            <a:r>
              <a:rPr lang="ko-KR" altLang="en-US" sz="1400" b="0">
                <a:latin typeface="+mn-ea"/>
              </a:rPr>
              <a:t>등으로 구성된다</a:t>
            </a:r>
            <a:r>
              <a:rPr lang="en-US" altLang="ko-KR" sz="1400" b="0">
                <a:latin typeface="+mn-ea"/>
              </a:rPr>
              <a:t>.</a:t>
            </a:r>
            <a:br>
              <a:rPr lang="en-US" altLang="ko-KR" sz="1400" b="0">
                <a:latin typeface="+mn-ea"/>
              </a:rPr>
            </a:br>
            <a:r>
              <a:rPr lang="en-US" altLang="ko-KR" sz="1400">
                <a:latin typeface="+mn-ea"/>
              </a:rPr>
              <a:t>- </a:t>
            </a:r>
            <a:r>
              <a:rPr lang="ko-KR" altLang="en-US" sz="1400" b="0">
                <a:latin typeface="+mn-ea"/>
              </a:rPr>
              <a:t>프레임워크 </a:t>
            </a:r>
            <a:r>
              <a:rPr lang="ko-KR" altLang="en-US" sz="1400" b="0" dirty="0">
                <a:latin typeface="+mn-ea"/>
              </a:rPr>
              <a:t>선처리</a:t>
            </a:r>
            <a:r>
              <a:rPr lang="en-US" altLang="ko-KR" sz="1400" b="0">
                <a:latin typeface="+mn-ea"/>
              </a:rPr>
              <a:t>, </a:t>
            </a:r>
            <a:r>
              <a:rPr lang="ko-KR" altLang="en-US" sz="1400" b="0">
                <a:latin typeface="+mn-ea"/>
              </a:rPr>
              <a:t>각 업무별 공통 </a:t>
            </a:r>
            <a:r>
              <a:rPr lang="ko-KR" altLang="en-US" sz="1400" b="0" dirty="0" err="1">
                <a:latin typeface="+mn-ea"/>
              </a:rPr>
              <a:t>선처리에서</a:t>
            </a:r>
            <a:r>
              <a:rPr lang="ko-KR" altLang="en-US" sz="1400" b="0" dirty="0">
                <a:latin typeface="+mn-ea"/>
              </a:rPr>
              <a:t> 주요 </a:t>
            </a:r>
            <a:r>
              <a:rPr lang="ko-KR" altLang="en-US" sz="1400" b="0">
                <a:latin typeface="+mn-ea"/>
              </a:rPr>
              <a:t>값들 채워진다</a:t>
            </a:r>
            <a:r>
              <a:rPr lang="en-US" altLang="ko-KR" sz="1400" b="0">
                <a:latin typeface="+mn-ea"/>
              </a:rPr>
              <a:t>.</a:t>
            </a:r>
            <a:br>
              <a:rPr lang="en-US" altLang="ko-KR" sz="1400" b="0">
                <a:latin typeface="+mn-ea"/>
              </a:rPr>
            </a:br>
            <a:r>
              <a:rPr lang="en-US" altLang="ko-KR" sz="1400">
                <a:latin typeface="+mn-ea"/>
              </a:rPr>
              <a:t>- </a:t>
            </a:r>
            <a:r>
              <a:rPr lang="ko-KR" altLang="en-US" sz="1400" b="0">
                <a:latin typeface="+mn-ea"/>
              </a:rPr>
              <a:t>업무 </a:t>
            </a:r>
            <a:r>
              <a:rPr lang="en-US" altLang="ko-KR" sz="1400">
                <a:latin typeface="+mn-ea"/>
              </a:rPr>
              <a:t>PM/FM/DM</a:t>
            </a:r>
            <a:r>
              <a:rPr lang="ko-KR" altLang="en-US" sz="1400">
                <a:latin typeface="+mn-ea"/>
              </a:rPr>
              <a:t>에서 </a:t>
            </a:r>
            <a:r>
              <a:rPr lang="ko-KR" altLang="en-US" sz="1400" b="0" u="sng">
                <a:latin typeface="+mn-ea"/>
              </a:rPr>
              <a:t>추가</a:t>
            </a:r>
            <a:r>
              <a:rPr lang="en-US" altLang="ko-KR" sz="1400" b="0" u="sng" dirty="0">
                <a:latin typeface="+mn-ea"/>
              </a:rPr>
              <a:t>/</a:t>
            </a:r>
            <a:r>
              <a:rPr lang="ko-KR" altLang="en-US" sz="1400" b="0" u="sng" dirty="0">
                <a:latin typeface="+mn-ea"/>
              </a:rPr>
              <a:t>삭제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en-US" altLang="ko-KR" sz="1400" b="0" u="sng" dirty="0">
                <a:latin typeface="+mn-ea"/>
              </a:rPr>
              <a:t>get/put</a:t>
            </a:r>
            <a:r>
              <a:rPr lang="en-US" altLang="ko-KR" sz="1400" b="0" dirty="0">
                <a:latin typeface="+mn-ea"/>
              </a:rPr>
              <a:t> </a:t>
            </a:r>
            <a:r>
              <a:rPr lang="ko-KR" altLang="en-US" sz="1400" b="0">
                <a:latin typeface="+mn-ea"/>
              </a:rPr>
              <a:t>가능 </a:t>
            </a:r>
            <a:endParaRPr lang="en-US" altLang="ko-KR" sz="1400">
              <a:latin typeface="+mn-ea"/>
            </a:endParaRPr>
          </a:p>
          <a:p>
            <a:r>
              <a:rPr lang="en-US" altLang="ko-KR" sz="1400">
                <a:latin typeface="+mn-ea"/>
              </a:rPr>
              <a:t>- String, int, BigDecimal, long </a:t>
            </a:r>
            <a:r>
              <a:rPr lang="ko-KR" altLang="en-US" sz="1400">
                <a:latin typeface="+mn-ea"/>
              </a:rPr>
              <a:t>등 기본 타입만 사용하며 </a:t>
            </a:r>
            <a:r>
              <a:rPr lang="en-US" altLang="ko-KR" sz="1400">
                <a:latin typeface="+mn-ea"/>
              </a:rPr>
              <a:t>object </a:t>
            </a:r>
            <a:r>
              <a:rPr lang="ko-KR" altLang="en-US" sz="1400">
                <a:latin typeface="+mn-ea"/>
              </a:rPr>
              <a:t>타입은 사용할 수 없다</a:t>
            </a:r>
            <a:r>
              <a:rPr lang="en-US" altLang="ko-KR" sz="140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364" y="4329678"/>
            <a:ext cx="7240011" cy="212365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public </a:t>
            </a:r>
            <a:r>
              <a:rPr lang="en-US" altLang="ko-KR" sz="1200" dirty="0" err="1">
                <a:solidFill>
                  <a:srgbClr val="C00000"/>
                </a:solidFill>
                <a:latin typeface="+mj-ea"/>
                <a:ea typeface="+mj-ea"/>
              </a:rPr>
              <a:t>IDataSet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methodName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en-US" altLang="ko-KR" sz="1200" dirty="0" err="1">
                <a:solidFill>
                  <a:srgbClr val="C00000"/>
                </a:solidFill>
                <a:latin typeface="+mj-ea"/>
                <a:ea typeface="+mj-ea"/>
              </a:rPr>
              <a:t>IDataSet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requestData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 err="1">
                <a:solidFill>
                  <a:srgbClr val="C00000"/>
                </a:solidFill>
                <a:latin typeface="+mj-ea"/>
                <a:ea typeface="+mj-ea"/>
              </a:rPr>
              <a:t>IOnlineContext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onlineCtx</a:t>
            </a:r>
            <a:r>
              <a:rPr lang="en-US" altLang="ko-KR" sz="1200" dirty="0">
                <a:latin typeface="+mj-ea"/>
                <a:ea typeface="+mj-ea"/>
              </a:rPr>
              <a:t>) {</a:t>
            </a:r>
          </a:p>
          <a:p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200">
                <a:latin typeface="+mj-ea"/>
                <a:ea typeface="+mj-ea"/>
              </a:rPr>
              <a:t>    IDataSet responseData = new DataSet();</a:t>
            </a:r>
            <a:endParaRPr lang="ko-KR" altLang="ko-KR" sz="1200">
              <a:latin typeface="+mj-ea"/>
              <a:ea typeface="+mj-ea"/>
            </a:endParaRPr>
          </a:p>
          <a:p>
            <a:r>
              <a:rPr lang="en-US" altLang="ko-KR" sz="1200">
                <a:latin typeface="+mj-ea"/>
                <a:ea typeface="+mj-ea"/>
              </a:rPr>
              <a:t>    ILog log = getLog(onlineCtx);</a:t>
            </a:r>
            <a:endParaRPr lang="ko-KR" altLang="ko-KR" sz="1200">
              <a:latin typeface="+mj-ea"/>
              <a:ea typeface="+mj-ea"/>
            </a:endParaRPr>
          </a:p>
          <a:p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en-US" altLang="ko-KR" sz="1200" u="sng">
                <a:latin typeface="+mj-ea"/>
                <a:ea typeface="+mj-ea"/>
              </a:rPr>
              <a:t>CommonArea</a:t>
            </a:r>
            <a:r>
              <a:rPr lang="en-US" altLang="ko-KR" sz="1200">
                <a:latin typeface="+mj-ea"/>
                <a:ea typeface="+mj-ea"/>
              </a:rPr>
              <a:t> ca = getCommonArea(onlineCtx);</a:t>
            </a:r>
            <a:endParaRPr lang="ko-KR" altLang="ko-KR" sz="1200">
              <a:latin typeface="+mj-ea"/>
              <a:ea typeface="+mj-ea"/>
            </a:endParaRPr>
          </a:p>
          <a:p>
            <a:r>
              <a:rPr lang="en-US" altLang="ko-KR" sz="1200">
                <a:latin typeface="+mj-ea"/>
                <a:ea typeface="+mj-ea"/>
              </a:rPr>
              <a:t>    </a:t>
            </a:r>
          </a:p>
          <a:p>
            <a:r>
              <a:rPr lang="en-US" altLang="ko-KR" sz="1200">
                <a:latin typeface="+mj-ea"/>
                <a:ea typeface="+mj-ea"/>
              </a:rPr>
              <a:t>    String screenNo = 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ca.getBiCom().getScrenNo();        // BICOM </a:t>
            </a:r>
            <a:r>
              <a:rPr lang="ko-KR" altLang="ko-KR" sz="1200" b="1">
                <a:solidFill>
                  <a:srgbClr val="FF0000"/>
                </a:solidFill>
                <a:latin typeface="+mj-ea"/>
                <a:ea typeface="+mj-ea"/>
              </a:rPr>
              <a:t>영역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. </a:t>
            </a:r>
            <a:r>
              <a:rPr lang="ko-KR" altLang="ko-KR" sz="1200" b="1">
                <a:solidFill>
                  <a:srgbClr val="FF0000"/>
                </a:solidFill>
                <a:latin typeface="+mj-ea"/>
                <a:ea typeface="+mj-ea"/>
              </a:rPr>
              <a:t>화면번호 조회</a:t>
            </a:r>
          </a:p>
          <a:p>
            <a:r>
              <a:rPr lang="en-US" altLang="ko-KR" sz="1200">
                <a:latin typeface="+mj-ea"/>
                <a:ea typeface="+mj-ea"/>
              </a:rPr>
              <a:t>    IDataSet mmpBizCom 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= ca.getBizCom("MH");           // </a:t>
            </a:r>
            <a:r>
              <a:rPr lang="ko-KR" altLang="en-US" sz="1200" b="1">
                <a:solidFill>
                  <a:srgbClr val="FF0000"/>
                </a:solidFill>
                <a:latin typeface="+mj-ea"/>
                <a:ea typeface="+mj-ea"/>
              </a:rPr>
              <a:t>도메인별 공통영역 조회</a:t>
            </a:r>
            <a:endParaRPr lang="ko-KR" altLang="ko-KR" sz="1200" b="1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altLang="ko-KR" sz="1200">
              <a:latin typeface="+mj-ea"/>
              <a:ea typeface="+mj-ea"/>
            </a:endParaRPr>
          </a:p>
          <a:p>
            <a:r>
              <a:rPr lang="en-US" altLang="ko-KR" sz="1200">
                <a:solidFill>
                  <a:srgbClr val="7F0055"/>
                </a:solidFill>
                <a:latin typeface="+mj-ea"/>
                <a:ea typeface="+mj-ea"/>
                <a:cs typeface="Times New Roman" panose="02020603050405020304" pitchFamily="18" charset="0"/>
              </a:rPr>
              <a:t>    return</a:t>
            </a:r>
            <a:r>
              <a:rPr lang="en-US" altLang="ko-KR" sz="120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u="sng">
                <a:solidFill>
                  <a:srgbClr val="6A3E3E"/>
                </a:solidFill>
                <a:latin typeface="+mj-ea"/>
                <a:ea typeface="+mj-ea"/>
                <a:cs typeface="Times New Roman" panose="02020603050405020304" pitchFamily="18" charset="0"/>
              </a:rPr>
              <a:t>responseData;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200" dirty="0">
                <a:latin typeface="+mj-ea"/>
                <a:ea typeface="+mj-ea"/>
              </a:rPr>
              <a:t>}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BA3709-2D59-4537-8E3F-3E0D0DA42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22" y="1263647"/>
            <a:ext cx="7698685" cy="20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4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로깅 </a:t>
            </a:r>
            <a:r>
              <a:rPr lang="en-US" altLang="ko-KR"/>
              <a:t>API</a:t>
            </a:r>
            <a:endParaRPr lang="ko-KR" altLang="en-US" dirty="0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/>
              <a:t>로그 </a:t>
            </a:r>
            <a:r>
              <a:rPr lang="en-US" altLang="ko-KR"/>
              <a:t>API</a:t>
            </a:r>
            <a:r>
              <a:rPr lang="ko-KR" altLang="en-US"/>
              <a:t>는 </a:t>
            </a:r>
            <a:r>
              <a:rPr lang="en-US" altLang="ko-KR"/>
              <a:t>apache commons-logging </a:t>
            </a:r>
            <a:r>
              <a:rPr lang="ko-KR" altLang="en-US"/>
              <a:t>호환 인터페이스를 제공한다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09008" y="1520788"/>
            <a:ext cx="3780420" cy="16158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if (log.isDebugEnabled()) {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     log.</a:t>
            </a:r>
            <a:r>
              <a:rPr lang="en-US" altLang="ko-KR" sz="1100" b="1">
                <a:latin typeface="+mn-ea"/>
              </a:rPr>
              <a:t>debug</a:t>
            </a:r>
            <a:r>
              <a:rPr lang="en-US" altLang="ko-KR" sz="1100">
                <a:latin typeface="+mn-ea"/>
              </a:rPr>
              <a:t>("[</a:t>
            </a:r>
            <a:r>
              <a:rPr lang="ko-KR" altLang="ko-KR" sz="1100">
                <a:latin typeface="+mn-ea"/>
              </a:rPr>
              <a:t>계좌번호</a:t>
            </a:r>
            <a:r>
              <a:rPr lang="en-US" altLang="ko-KR" sz="1100">
                <a:latin typeface="+mn-ea"/>
              </a:rPr>
              <a:t>] : </a:t>
            </a:r>
            <a:r>
              <a:rPr lang="en-US" altLang="ko-KR" sz="1100" b="1">
                <a:latin typeface="+mn-ea"/>
              </a:rPr>
              <a:t>{0}</a:t>
            </a:r>
            <a:r>
              <a:rPr lang="en-US" altLang="ko-KR" sz="1100">
                <a:latin typeface="+mn-ea"/>
              </a:rPr>
              <a:t>", requestData.get("acno"));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}</a:t>
            </a: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// info </a:t>
            </a:r>
            <a:r>
              <a:rPr lang="ko-KR" altLang="ko-KR" sz="1100">
                <a:latin typeface="+mn-ea"/>
              </a:rPr>
              <a:t>로그</a:t>
            </a:r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if (log.isInfoEnabled()) {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     log.</a:t>
            </a:r>
            <a:r>
              <a:rPr lang="en-US" altLang="ko-KR" sz="1100" b="1">
                <a:latin typeface="+mn-ea"/>
              </a:rPr>
              <a:t>info</a:t>
            </a:r>
            <a:r>
              <a:rPr lang="en-US" altLang="ko-KR" sz="1100">
                <a:latin typeface="+mn-ea"/>
              </a:rPr>
              <a:t>("INFO LOG");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} 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4778"/>
              </p:ext>
            </p:extLst>
          </p:nvPr>
        </p:nvGraphicFramePr>
        <p:xfrm>
          <a:off x="416496" y="1520788"/>
          <a:ext cx="5184576" cy="163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1854036953"/>
                    </a:ext>
                  </a:extLst>
                </a:gridCol>
              </a:tblGrid>
              <a:tr h="2290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 레벨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메소드 정의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70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ERROR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error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error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message, Throwable t)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처리 중 발생한 에러 메시지 기록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WARN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warn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warn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message, Throwable t)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에러는 아니지만 경고성 메시지 기록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84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message, Throwable t)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업무상 필요하다고 판단되는 정보성 기록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71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DEBUG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debug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debug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(Object message, Throwable t)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개발 중 디버깅 용도의 메시지 기록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6496" y="3229235"/>
            <a:ext cx="9072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>
                <a:latin typeface="+mn-ea"/>
              </a:rPr>
              <a:t>- </a:t>
            </a:r>
            <a:r>
              <a:rPr lang="ko-KR" altLang="en-US" sz="1200" b="1">
                <a:latin typeface="+mn-ea"/>
              </a:rPr>
              <a:t>운영 </a:t>
            </a:r>
            <a:r>
              <a:rPr lang="en-US" altLang="ko-KR" sz="1200" b="1">
                <a:latin typeface="+mn-ea"/>
              </a:rPr>
              <a:t>: ERROR, </a:t>
            </a:r>
            <a:r>
              <a:rPr lang="ko-KR" altLang="en-US" sz="1200" b="1">
                <a:latin typeface="+mn-ea"/>
              </a:rPr>
              <a:t>스테이징 </a:t>
            </a:r>
            <a:r>
              <a:rPr lang="en-US" altLang="ko-KR" sz="1200" b="1">
                <a:latin typeface="+mn-ea"/>
              </a:rPr>
              <a:t>: INFO, </a:t>
            </a:r>
            <a:r>
              <a:rPr lang="ko-KR" altLang="en-US" sz="1200" b="1">
                <a:latin typeface="+mn-ea"/>
              </a:rPr>
              <a:t>개발 </a:t>
            </a:r>
            <a:r>
              <a:rPr lang="en-US" altLang="ko-KR" sz="1200" b="1">
                <a:latin typeface="+mn-ea"/>
              </a:rPr>
              <a:t>: DEBUG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으로 설정되어 있다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- if(log.isInfoEnabled()){......}  </a:t>
            </a:r>
            <a:r>
              <a:rPr lang="ko-KR" altLang="en-US" sz="1200">
                <a:latin typeface="+mn-ea"/>
              </a:rPr>
              <a:t>와 같은 구문을 사용하여 성능에 영향을 줄 수 있는 불필요한 연산을 줄인다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복수 개의 파라미터 조립을 허용한다</a:t>
            </a:r>
            <a:r>
              <a:rPr lang="en-US" altLang="ko-KR" sz="1200">
                <a:latin typeface="+mn-ea"/>
              </a:rPr>
              <a:t>. Ex) {0}, {1}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로깅한 로그는 파일에 저장된다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    [</a:t>
            </a:r>
            <a:r>
              <a:rPr lang="ko-KR" altLang="en-US" sz="1200">
                <a:latin typeface="+mn-ea"/>
              </a:rPr>
              <a:t>로컬</a:t>
            </a:r>
            <a:r>
              <a:rPr lang="en-US" altLang="ko-KR" sz="1200">
                <a:latin typeface="+mn-ea"/>
              </a:rPr>
              <a:t>PC] : </a:t>
            </a:r>
            <a:r>
              <a:rPr lang="en-US" altLang="ko-KR" sz="1200" b="1">
                <a:latin typeface="+mn-ea"/>
              </a:rPr>
              <a:t>{nkesa </a:t>
            </a:r>
            <a:r>
              <a:rPr lang="ko-KR" altLang="en-US" sz="1200" b="1">
                <a:latin typeface="+mn-ea"/>
              </a:rPr>
              <a:t>설치파일 경로</a:t>
            </a:r>
            <a:r>
              <a:rPr lang="en-US" altLang="ko-KR" sz="1200" b="1">
                <a:latin typeface="+mn-ea"/>
              </a:rPr>
              <a:t>}</a:t>
            </a:r>
            <a:r>
              <a:rPr lang="en-US" altLang="ko-KR" sz="1200">
                <a:latin typeface="+mn-ea"/>
              </a:rPr>
              <a:t>\logs\runtime\localhost\YYYYMMDD\online-[거래</a:t>
            </a:r>
            <a:r>
              <a:rPr lang="ko-KR" altLang="en-US" sz="1200">
                <a:latin typeface="+mn-ea"/>
              </a:rPr>
              <a:t>코드</a:t>
            </a:r>
            <a:r>
              <a:rPr lang="en-US" altLang="ko-KR" sz="1200">
                <a:latin typeface="+mn-ea"/>
              </a:rPr>
              <a:t>]-YYYYMMDD.log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    [</a:t>
            </a:r>
            <a:r>
              <a:rPr lang="ko-KR" altLang="en-US" sz="1200">
                <a:latin typeface="+mn-ea"/>
              </a:rPr>
              <a:t>서버</a:t>
            </a:r>
            <a:r>
              <a:rPr lang="en-US" altLang="ko-KR" sz="1200">
                <a:latin typeface="+mn-ea"/>
              </a:rPr>
              <a:t>]     : /fslog/${WAS_DOMAIN}/sqc/runtime/{NEXCORE_ID}/YYYYMMDD/online-[거래</a:t>
            </a:r>
            <a:r>
              <a:rPr lang="ko-KR" altLang="en-US" sz="1200">
                <a:latin typeface="+mn-ea"/>
              </a:rPr>
              <a:t>코드</a:t>
            </a:r>
            <a:r>
              <a:rPr lang="en-US" altLang="ko-KR" sz="1200">
                <a:latin typeface="+mn-ea"/>
              </a:rPr>
              <a:t>]-YYYYMMDD.log</a:t>
            </a:r>
          </a:p>
        </p:txBody>
      </p:sp>
    </p:spTree>
    <p:extLst>
      <p:ext uri="{BB962C8B-B14F-4D97-AF65-F5344CB8AC3E}">
        <p14:creationId xmlns:p14="http://schemas.microsoft.com/office/powerpoint/2010/main" val="738853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호출 관계</a:t>
            </a:r>
            <a:endParaRPr lang="ko-KR" altLang="en-US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71" y="1376772"/>
            <a:ext cx="7604584" cy="406845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동일 어플리케이션 코드</a:t>
            </a:r>
            <a:r>
              <a:rPr lang="en-US" altLang="ko-KR"/>
              <a:t>&amp;</a:t>
            </a:r>
            <a:r>
              <a:rPr lang="ko-KR" altLang="en-US"/>
              <a:t>동일 컴포넌트 내 유닛 간 호출 관계도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671" y="5463376"/>
            <a:ext cx="7272808" cy="34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- DB, DBM -&gt; </a:t>
            </a:r>
            <a:r>
              <a:rPr lang="ko-KR" altLang="en-US" sz="1200">
                <a:latin typeface="+mn-ea"/>
              </a:rPr>
              <a:t>타 </a:t>
            </a:r>
            <a:r>
              <a:rPr lang="en-US" altLang="ko-KR" sz="1200">
                <a:latin typeface="+mn-ea"/>
              </a:rPr>
              <a:t>DU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DM, </a:t>
            </a:r>
            <a:r>
              <a:rPr lang="ko-KR" altLang="en-US" sz="1200">
                <a:latin typeface="+mn-ea"/>
              </a:rPr>
              <a:t>타 </a:t>
            </a:r>
            <a:r>
              <a:rPr lang="en-US" altLang="ko-KR" sz="1200">
                <a:latin typeface="+mn-ea"/>
              </a:rPr>
              <a:t>BUIO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DMB </a:t>
            </a:r>
            <a:r>
              <a:rPr lang="ko-KR" altLang="en-US" sz="1200" b="1" u="sng">
                <a:latin typeface="+mn-ea"/>
              </a:rPr>
              <a:t>호출 불가</a:t>
            </a:r>
            <a:endParaRPr lang="en-US" altLang="ko-KR" sz="1200" b="1" u="sng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5031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호출 관계</a:t>
            </a:r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동일 어플리케이션 코드 내 서로 다른 컴포넌트 간 호출 관계도</a:t>
            </a:r>
          </a:p>
        </p:txBody>
      </p:sp>
      <p:pic>
        <p:nvPicPr>
          <p:cNvPr id="7" name="그림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576" y="1418056"/>
            <a:ext cx="7717807" cy="399116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521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호출 관계</a:t>
            </a:r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서로 다른 어플리케이션 코드 간  컴포넌트 호출 관계도</a:t>
            </a:r>
          </a:p>
        </p:txBody>
      </p:sp>
      <p:pic>
        <p:nvPicPr>
          <p:cNvPr id="8" name="그림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572" y="1372935"/>
            <a:ext cx="7578224" cy="391898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00572" y="5351003"/>
            <a:ext cx="784887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en-US" sz="1100">
                <a:latin typeface="+mn-ea"/>
              </a:rPr>
              <a:t>다른 어플리케이션 컴포넌트 </a:t>
            </a:r>
            <a:r>
              <a:rPr lang="en-US" altLang="ko-KR" sz="1100">
                <a:latin typeface="+mn-ea"/>
              </a:rPr>
              <a:t>DM </a:t>
            </a:r>
            <a:r>
              <a:rPr lang="ko-KR" altLang="en-US" sz="1100">
                <a:latin typeface="+mn-ea"/>
              </a:rPr>
              <a:t>및 </a:t>
            </a:r>
            <a:r>
              <a:rPr lang="en-US" altLang="ko-KR" sz="1100">
                <a:latin typeface="+mn-ea"/>
              </a:rPr>
              <a:t>DBM</a:t>
            </a:r>
            <a:r>
              <a:rPr lang="ko-KR" altLang="en-US" sz="1100">
                <a:latin typeface="+mn-ea"/>
              </a:rPr>
              <a:t>을 호출하려면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해당 컴포넌트에서 </a:t>
            </a:r>
            <a:r>
              <a:rPr lang="en-US" altLang="ko-KR" sz="1100" b="1" u="sng">
                <a:latin typeface="+mn-ea"/>
              </a:rPr>
              <a:t>DM </a:t>
            </a:r>
            <a:r>
              <a:rPr lang="ko-KR" altLang="en-US" sz="1100" b="1" u="sng">
                <a:latin typeface="+mn-ea"/>
              </a:rPr>
              <a:t>및 </a:t>
            </a:r>
            <a:r>
              <a:rPr lang="en-US" altLang="ko-KR" sz="1100" b="1" u="sng">
                <a:latin typeface="+mn-ea"/>
              </a:rPr>
              <a:t>DBM</a:t>
            </a:r>
            <a:r>
              <a:rPr lang="ko-KR" altLang="en-US" sz="1100" b="1" u="sng">
                <a:latin typeface="+mn-ea"/>
              </a:rPr>
              <a:t>을 내부 호출하는 </a:t>
            </a:r>
            <a:r>
              <a:rPr lang="en-US" altLang="ko-KR" sz="1100" b="1" u="sng">
                <a:latin typeface="+mn-ea"/>
              </a:rPr>
              <a:t>FM</a:t>
            </a:r>
            <a:r>
              <a:rPr lang="ko-KR" altLang="en-US" sz="1100" b="1" u="sng">
                <a:latin typeface="+mn-ea"/>
              </a:rPr>
              <a:t>을 만들어서</a:t>
            </a:r>
            <a:r>
              <a:rPr lang="ko-KR" altLang="en-US" sz="1100">
                <a:latin typeface="+mn-ea"/>
              </a:rPr>
              <a:t> 호출한다</a:t>
            </a:r>
            <a:r>
              <a:rPr lang="en-US" altLang="ko-KR" sz="110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6155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구조 </a:t>
            </a:r>
            <a:r>
              <a:rPr lang="en-US" altLang="ko-KR"/>
              <a:t>: </a:t>
            </a:r>
            <a:r>
              <a:rPr lang="ko-KR" altLang="en-US"/>
              <a:t>컴포넌트 </a:t>
            </a:r>
            <a:r>
              <a:rPr lang="ko-KR" altLang="en-US" dirty="0" err="1"/>
              <a:t>호출관계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컴포넌트 별로 독립적인 클래스 </a:t>
            </a:r>
            <a:r>
              <a:rPr lang="ko-KR" altLang="en-US" dirty="0" err="1"/>
              <a:t>로더</a:t>
            </a:r>
            <a:r>
              <a:rPr lang="ko-KR" altLang="en-US" dirty="0"/>
              <a:t> 위에 존재하므로 컴포넌트내</a:t>
            </a:r>
            <a:r>
              <a:rPr lang="en-US" altLang="ko-KR" dirty="0"/>
              <a:t>, </a:t>
            </a:r>
            <a:r>
              <a:rPr lang="ko-KR" altLang="en-US" dirty="0" err="1"/>
              <a:t>컴포넌트외</a:t>
            </a:r>
            <a:r>
              <a:rPr lang="ko-KR" altLang="en-US" dirty="0"/>
              <a:t> 호출 관계에 다음과 같은 차이점이 있음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613638" y="1798428"/>
            <a:ext cx="1805396" cy="3421552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60596" y="2320570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064552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460596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" name="직선 연결선 9"/>
          <p:cNvCxnSpPr>
            <a:stCxn id="7" idx="2"/>
            <a:endCxn id="8" idx="0"/>
          </p:cNvCxnSpPr>
          <p:nvPr/>
        </p:nvCxnSpPr>
        <p:spPr>
          <a:xfrm flipH="1">
            <a:off x="1298552" y="2608570"/>
            <a:ext cx="396044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8" idx="2"/>
            <a:endCxn id="9" idx="0"/>
          </p:cNvCxnSpPr>
          <p:nvPr/>
        </p:nvCxnSpPr>
        <p:spPr>
          <a:xfrm>
            <a:off x="1298552" y="3652686"/>
            <a:ext cx="396044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7" idx="2"/>
            <a:endCxn id="9" idx="0"/>
          </p:cNvCxnSpPr>
          <p:nvPr/>
        </p:nvCxnSpPr>
        <p:spPr>
          <a:xfrm>
            <a:off x="1694596" y="2608570"/>
            <a:ext cx="0" cy="1792727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/>
        </p:nvSpPr>
        <p:spPr>
          <a:xfrm>
            <a:off x="3355153" y="1798428"/>
            <a:ext cx="1908212" cy="3421552"/>
          </a:xfrm>
          <a:prstGeom prst="roundRect">
            <a:avLst>
              <a:gd name="adj" fmla="val 5023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642346" y="232807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836089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36089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665020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" name="직선 연결선 19"/>
          <p:cNvCxnSpPr>
            <a:stCxn id="14" idx="2"/>
            <a:endCxn id="17" idx="0"/>
          </p:cNvCxnSpPr>
          <p:nvPr/>
        </p:nvCxnSpPr>
        <p:spPr>
          <a:xfrm>
            <a:off x="3876346" y="2616076"/>
            <a:ext cx="193743" cy="74861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7" idx="2"/>
            <a:endCxn id="18" idx="0"/>
          </p:cNvCxnSpPr>
          <p:nvPr/>
        </p:nvCxnSpPr>
        <p:spPr>
          <a:xfrm>
            <a:off x="4070089" y="3652686"/>
            <a:ext cx="0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4" idx="2"/>
            <a:endCxn id="19" idx="0"/>
          </p:cNvCxnSpPr>
          <p:nvPr/>
        </p:nvCxnSpPr>
        <p:spPr>
          <a:xfrm>
            <a:off x="3876346" y="2616076"/>
            <a:ext cx="1022674" cy="178522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7" idx="2"/>
            <a:endCxn id="19" idx="0"/>
          </p:cNvCxnSpPr>
          <p:nvPr/>
        </p:nvCxnSpPr>
        <p:spPr>
          <a:xfrm>
            <a:off x="4070089" y="3652686"/>
            <a:ext cx="828931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평행 사변형 28"/>
          <p:cNvSpPr/>
          <p:nvPr/>
        </p:nvSpPr>
        <p:spPr>
          <a:xfrm>
            <a:off x="776536" y="5769260"/>
            <a:ext cx="3888484" cy="527586"/>
          </a:xfrm>
          <a:prstGeom prst="parallelogram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프레임워크 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Reflection API </a:t>
            </a:r>
            <a:r>
              <a:rPr lang="ko-KR" altLang="en-US" sz="1200" dirty="0">
                <a:solidFill>
                  <a:schemeClr val="tx1"/>
                </a:solidFill>
                <a:cs typeface="Arial" pitchFamily="34" charset="0"/>
              </a:rPr>
              <a:t>제공</a:t>
            </a:r>
            <a:b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callService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callSharedMethod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cs typeface="Arial" pitchFamily="34" charset="0"/>
              </a:rPr>
              <a:t>callMethod</a:t>
            </a:r>
            <a:r>
              <a:rPr lang="en-US" altLang="ko-KR" sz="1200" dirty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97034" y="1520788"/>
            <a:ext cx="2159199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</a:t>
            </a: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 A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3247139" y="1520788"/>
            <a:ext cx="2138738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 </a:t>
            </a:r>
            <a:r>
              <a:rPr lang="en-US" altLang="ko-KR" sz="1200" b="1" kern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B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375325" y="2630622"/>
            <a:ext cx="951404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callService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46" name="표 61"/>
          <p:cNvGraphicFramePr>
            <a:graphicFrameLocks noGrp="1"/>
          </p:cNvGraphicFramePr>
          <p:nvPr/>
        </p:nvGraphicFramePr>
        <p:xfrm>
          <a:off x="5435110" y="1768624"/>
          <a:ext cx="3874374" cy="42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직접 참조로 직접 호출 가능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fuValidation.validateName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외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 컴포넌트의 클래스는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할 수 없으므로 직접 호출 불가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로더가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다르므로 타 컴포넌트의 클래스를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찾지못함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제공하는 </a:t>
                      </a:r>
                      <a:r>
                        <a:rPr lang="en-US" altLang="ko-KR" sz="1100" b="1" u="sng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Reflection API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통해 간접 호출 필요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callService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callSharedMethod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간접 호출 과정에서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제어를 받으며 필요에 따라 트랜잭션을 분리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RequiresNew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등의 제어가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가능해짐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 컴포넌트 내의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FM/DM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호출시에도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트랜잭션 분리를 위해 간접 호출 가능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callMethodByRequiresNew</a:t>
                      </a:r>
                      <a:endParaRPr lang="ko-KR" altLang="en-US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자유형 50"/>
          <p:cNvSpPr/>
          <p:nvPr/>
        </p:nvSpPr>
        <p:spPr>
          <a:xfrm>
            <a:off x="1475179" y="3682816"/>
            <a:ext cx="2482641" cy="2005432"/>
          </a:xfrm>
          <a:custGeom>
            <a:avLst/>
            <a:gdLst>
              <a:gd name="connsiteX0" fmla="*/ 0 w 2341548"/>
              <a:gd name="connsiteY0" fmla="*/ 0 h 2085917"/>
              <a:gd name="connsiteX1" fmla="*/ 1435694 w 2341548"/>
              <a:gd name="connsiteY1" fmla="*/ 2085174 h 2085917"/>
              <a:gd name="connsiteX2" fmla="*/ 2341548 w 2341548"/>
              <a:gd name="connsiteY2" fmla="*/ 188008 h 2085917"/>
              <a:gd name="connsiteX0" fmla="*/ 0 w 2341548"/>
              <a:gd name="connsiteY0" fmla="*/ 0 h 2133591"/>
              <a:gd name="connsiteX1" fmla="*/ 1189203 w 2341548"/>
              <a:gd name="connsiteY1" fmla="*/ 2132882 h 2133591"/>
              <a:gd name="connsiteX2" fmla="*/ 2341548 w 2341548"/>
              <a:gd name="connsiteY2" fmla="*/ 188008 h 2133591"/>
              <a:gd name="connsiteX0" fmla="*/ 0 w 2341548"/>
              <a:gd name="connsiteY0" fmla="*/ 0 h 2181267"/>
              <a:gd name="connsiteX1" fmla="*/ 1197155 w 2341548"/>
              <a:gd name="connsiteY1" fmla="*/ 2180589 h 2181267"/>
              <a:gd name="connsiteX2" fmla="*/ 2341548 w 2341548"/>
              <a:gd name="connsiteY2" fmla="*/ 188008 h 2181267"/>
              <a:gd name="connsiteX0" fmla="*/ 0 w 2341548"/>
              <a:gd name="connsiteY0" fmla="*/ 0 h 2157428"/>
              <a:gd name="connsiteX1" fmla="*/ 1189203 w 2341548"/>
              <a:gd name="connsiteY1" fmla="*/ 2156735 h 2157428"/>
              <a:gd name="connsiteX2" fmla="*/ 2341548 w 2341548"/>
              <a:gd name="connsiteY2" fmla="*/ 188008 h 215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1548" h="2157428">
                <a:moveTo>
                  <a:pt x="0" y="0"/>
                </a:moveTo>
                <a:cubicBezTo>
                  <a:pt x="522718" y="1026919"/>
                  <a:pt x="798945" y="2125400"/>
                  <a:pt x="1189203" y="2156735"/>
                </a:cubicBezTo>
                <a:cubicBezTo>
                  <a:pt x="1579461" y="2188070"/>
                  <a:pt x="2083750" y="1152258"/>
                  <a:pt x="2341548" y="188008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>
            <a:off x="1145136" y="3657600"/>
            <a:ext cx="538385" cy="2111660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rgbClr val="289055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180692" y="4977172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callSharedMethod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27690" y="5320513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56971" y="2687985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직접</a:t>
            </a:r>
            <a:r>
              <a:rPr lang="en-US" altLang="ko-KR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호출</a:t>
            </a:r>
          </a:p>
        </p:txBody>
      </p:sp>
      <p:sp>
        <p:nvSpPr>
          <p:cNvPr id="33" name="자유형 32"/>
          <p:cNvSpPr/>
          <p:nvPr/>
        </p:nvSpPr>
        <p:spPr>
          <a:xfrm rot="20645807">
            <a:off x="2092671" y="2535223"/>
            <a:ext cx="1684980" cy="2352484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1928596" y="2492896"/>
            <a:ext cx="1713750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모서리가 둥근 직사각형 17">
            <a:extLst>
              <a:ext uri="{FF2B5EF4-FFF2-40B4-BE49-F238E27FC236}">
                <a16:creationId xmlns:a16="http://schemas.microsoft.com/office/drawing/2014/main" id="{DF7DFBBC-B4E8-45B4-9465-CB7BDFFB6AE9}"/>
              </a:ext>
            </a:extLst>
          </p:cNvPr>
          <p:cNvSpPr/>
          <p:nvPr/>
        </p:nvSpPr>
        <p:spPr>
          <a:xfrm>
            <a:off x="3988489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b="1" dirty="0">
                <a:solidFill>
                  <a:srgbClr val="0070C0"/>
                </a:solidFill>
                <a:cs typeface="Arial" pitchFamily="34" charset="0"/>
              </a:rPr>
              <a:t>공유</a:t>
            </a:r>
            <a:endParaRPr lang="en-US" altLang="ko-KR" sz="1000" b="1" dirty="0">
              <a:solidFill>
                <a:srgbClr val="0070C0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7" name="모서리가 둥근 직사각형 18">
            <a:extLst>
              <a:ext uri="{FF2B5EF4-FFF2-40B4-BE49-F238E27FC236}">
                <a16:creationId xmlns:a16="http://schemas.microsoft.com/office/drawing/2014/main" id="{FE421FCD-2439-4D52-9D53-0EFD1B064562}"/>
              </a:ext>
            </a:extLst>
          </p:cNvPr>
          <p:cNvSpPr/>
          <p:nvPr/>
        </p:nvSpPr>
        <p:spPr>
          <a:xfrm>
            <a:off x="4817420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모서리가 둥근 직사각형 8">
            <a:extLst>
              <a:ext uri="{FF2B5EF4-FFF2-40B4-BE49-F238E27FC236}">
                <a16:creationId xmlns:a16="http://schemas.microsoft.com/office/drawing/2014/main" id="{3F53B78F-B3AD-49D5-BBB6-06067FD56427}"/>
              </a:ext>
            </a:extLst>
          </p:cNvPr>
          <p:cNvSpPr/>
          <p:nvPr/>
        </p:nvSpPr>
        <p:spPr>
          <a:xfrm>
            <a:off x="1612996" y="4653168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34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동일 컴포넌트 내 호출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3338" y="872716"/>
            <a:ext cx="3329996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b="1">
                <a:cs typeface="Arial" pitchFamily="34" charset="0"/>
              </a:rPr>
              <a:t>동일 컴포넌트의 </a:t>
            </a:r>
            <a:r>
              <a:rPr lang="en-US" altLang="ko-KR" sz="1400" b="1">
                <a:cs typeface="Arial" pitchFamily="34" charset="0"/>
              </a:rPr>
              <a:t>FM/DM/DBIO </a:t>
            </a:r>
            <a:r>
              <a:rPr lang="ko-KR" altLang="en-US" sz="1400" b="1">
                <a:cs typeface="Arial" pitchFamily="34" charset="0"/>
              </a:rPr>
              <a:t>사용 예시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446229" y="3526122"/>
            <a:ext cx="3780420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862810" y="4714743"/>
            <a:ext cx="2916324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510882" y="5877272"/>
            <a:ext cx="4248472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2650" y="1153877"/>
            <a:ext cx="9030850" cy="517064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>
                <a:latin typeface="+mn-ea"/>
              </a:rPr>
              <a:t>//</a:t>
            </a:r>
            <a:r>
              <a:rPr lang="ko-KR" altLang="en-US" sz="1100" b="1">
                <a:latin typeface="+mn-ea"/>
              </a:rPr>
              <a:t>멤버변수 선언</a:t>
            </a:r>
            <a:endParaRPr lang="en-US" altLang="ko-KR" sz="1100" b="1">
              <a:latin typeface="+mn-ea"/>
            </a:endParaRPr>
          </a:p>
          <a:p>
            <a:r>
              <a:rPr lang="en-US" altLang="ko-KR" sz="1100" b="1">
                <a:latin typeface="+mn-ea"/>
              </a:rPr>
              <a:t>@BizUnitBind</a:t>
            </a:r>
            <a:endParaRPr lang="ko-KR" altLang="ko-KR" sz="1100" b="1">
              <a:latin typeface="+mn-ea"/>
            </a:endParaRPr>
          </a:p>
          <a:p>
            <a:r>
              <a:rPr lang="en-US" altLang="ko-KR" sz="1100">
                <a:latin typeface="+mn-ea"/>
              </a:rPr>
              <a:t>private FUBnkgCustInfo fUBnkgCustInfo;</a:t>
            </a:r>
            <a:endParaRPr lang="ko-KR" altLang="ko-KR" sz="1100">
              <a:latin typeface="+mn-ea"/>
            </a:endParaRPr>
          </a:p>
          <a:p>
            <a:r>
              <a:rPr lang="en-US" altLang="ko-KR" sz="1100" b="1">
                <a:latin typeface="+mn-ea"/>
              </a:rPr>
              <a:t>@BizUnitBind</a:t>
            </a:r>
            <a:endParaRPr lang="ko-KR" altLang="ko-KR" sz="1100" b="1">
              <a:latin typeface="+mn-ea"/>
            </a:endParaRPr>
          </a:p>
          <a:p>
            <a:r>
              <a:rPr lang="en-US" altLang="ko-KR" sz="1100">
                <a:latin typeface="+mn-ea"/>
              </a:rPr>
              <a:t>private DUTSSQC9201A dUTSSQC9201A ;</a:t>
            </a:r>
          </a:p>
          <a:p>
            <a:r>
              <a:rPr lang="en-US" altLang="ko-KR" sz="1100" b="1">
                <a:latin typeface="+mn-ea"/>
              </a:rPr>
              <a:t>@BizUnitBind</a:t>
            </a:r>
          </a:p>
          <a:p>
            <a:r>
              <a:rPr lang="en-US" altLang="ko-KR" sz="1100">
                <a:latin typeface="+mn-ea"/>
              </a:rPr>
              <a:t>private DBIO_TSKINE103 dBIO_TSKINE103;</a:t>
            </a:r>
          </a:p>
          <a:p>
            <a:endParaRPr lang="en-US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파라미터 준비</a:t>
            </a:r>
          </a:p>
          <a:p>
            <a:r>
              <a:rPr lang="en-US" altLang="ko-KR" sz="1100">
                <a:latin typeface="+mn-ea"/>
              </a:rPr>
              <a:t>IDataSet fUBnkgCustInfoReq = new DataSet();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fUBnkgCustInfoReq.put("acno", requestData.get("acno"));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 </a:t>
            </a:r>
            <a:endParaRPr lang="ko-KR" altLang="ko-KR" sz="1100">
              <a:latin typeface="+mn-ea"/>
            </a:endParaRPr>
          </a:p>
          <a:p>
            <a:r>
              <a:rPr lang="en-US" altLang="ko-KR" sz="1100" b="1">
                <a:latin typeface="+mn-ea"/>
              </a:rPr>
              <a:t>// FM</a:t>
            </a:r>
            <a:r>
              <a:rPr lang="ko-KR" altLang="ko-KR" sz="1100" b="1">
                <a:latin typeface="+mn-ea"/>
              </a:rPr>
              <a:t>을 호출</a:t>
            </a:r>
          </a:p>
          <a:p>
            <a:r>
              <a:rPr lang="en-US" altLang="ko-KR" sz="1100">
                <a:latin typeface="+mn-ea"/>
              </a:rPr>
              <a:t>IDataSet fUBnkgCustInfoRes= </a:t>
            </a:r>
            <a:r>
              <a:rPr lang="en-US" altLang="ko-KR" sz="1100" b="1" u="sng">
                <a:solidFill>
                  <a:srgbClr val="0000FF"/>
                </a:solidFill>
                <a:latin typeface="+mn-ea"/>
              </a:rPr>
              <a:t>fUBnkgCustInfo.cusInfoInq</a:t>
            </a:r>
            <a:r>
              <a:rPr lang="en-US" altLang="ko-KR" sz="1100">
                <a:latin typeface="+mn-ea"/>
              </a:rPr>
              <a:t> (fUBnkgCustInfoReq, onlineCtx);</a:t>
            </a: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파라미터 준비</a:t>
            </a:r>
          </a:p>
          <a:p>
            <a:r>
              <a:rPr lang="en-US" altLang="ko-KR" sz="1100">
                <a:latin typeface="+mn-ea"/>
              </a:rPr>
              <a:t>IDataSet selectReq = new DataSet();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selectReq.put("</a:t>
            </a:r>
            <a:r>
              <a:rPr lang="ko-KR" altLang="ko-KR" sz="1100">
                <a:latin typeface="+mn-ea"/>
              </a:rPr>
              <a:t>계좌번호</a:t>
            </a:r>
            <a:r>
              <a:rPr lang="en-US" altLang="ko-KR" sz="1100">
                <a:latin typeface="+mn-ea"/>
              </a:rPr>
              <a:t>", requestData.get("acno"));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 </a:t>
            </a:r>
            <a:endParaRPr lang="ko-KR" altLang="ko-KR" sz="1100">
              <a:latin typeface="+mn-ea"/>
            </a:endParaRPr>
          </a:p>
          <a:p>
            <a:r>
              <a:rPr lang="en-US" altLang="ko-KR" sz="1100" b="1">
                <a:latin typeface="+mn-ea"/>
              </a:rPr>
              <a:t>// DM</a:t>
            </a:r>
            <a:r>
              <a:rPr lang="ko-KR" altLang="ko-KR" sz="1100" b="1">
                <a:latin typeface="+mn-ea"/>
              </a:rPr>
              <a:t>을 호출</a:t>
            </a:r>
          </a:p>
          <a:p>
            <a:r>
              <a:rPr lang="en-US" altLang="ko-KR" sz="1100">
                <a:latin typeface="+mn-ea"/>
              </a:rPr>
              <a:t>IDataSet selectRes = </a:t>
            </a:r>
            <a:r>
              <a:rPr lang="en-US" altLang="ko-KR" sz="1100" b="1" u="sng">
                <a:solidFill>
                  <a:srgbClr val="0000FF"/>
                </a:solidFill>
                <a:latin typeface="+mn-ea"/>
              </a:rPr>
              <a:t>dUTSSQC9201A.select</a:t>
            </a:r>
            <a:r>
              <a:rPr lang="en-US" altLang="ko-KR" sz="1100">
                <a:latin typeface="+mn-ea"/>
              </a:rPr>
              <a:t>(selectReq, onlineCtx);</a:t>
            </a: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파라미터 준비</a:t>
            </a:r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IDataSet selectForUpdateReq = new DataSet();</a:t>
            </a:r>
          </a:p>
          <a:p>
            <a:r>
              <a:rPr lang="en-US" altLang="ko-KR" sz="1100">
                <a:latin typeface="+mn-ea"/>
              </a:rPr>
              <a:t>selectForUpdateReq.put("groupCoCd", requestData.get("groupCoCd")); // </a:t>
            </a:r>
            <a:r>
              <a:rPr lang="ko-KR" altLang="en-US" sz="1100">
                <a:latin typeface="+mn-ea"/>
              </a:rPr>
              <a:t>그룹회사코드</a:t>
            </a:r>
            <a:endParaRPr lang="ko-KR" altLang="ko-KR" sz="1100">
              <a:latin typeface="+mn-ea"/>
            </a:endParaRPr>
          </a:p>
          <a:p>
            <a:endParaRPr lang="en-US" altLang="ko-KR" sz="1100" b="1">
              <a:latin typeface="+mn-ea"/>
            </a:endParaRPr>
          </a:p>
          <a:p>
            <a:r>
              <a:rPr lang="en-US" altLang="ko-KR" sz="1100" b="1">
                <a:latin typeface="+mn-ea"/>
              </a:rPr>
              <a:t>// DBIO</a:t>
            </a:r>
            <a:r>
              <a:rPr lang="ko-KR" altLang="ko-KR" sz="1100" b="1">
                <a:latin typeface="+mn-ea"/>
              </a:rPr>
              <a:t>을 호출</a:t>
            </a:r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IDataSet selectForUpdateRes = </a:t>
            </a:r>
            <a:r>
              <a:rPr lang="en-US" altLang="ko-KR" sz="1100" b="1" u="sng">
                <a:solidFill>
                  <a:srgbClr val="0000FF"/>
                </a:solidFill>
                <a:latin typeface="+mn-ea"/>
              </a:rPr>
              <a:t>dBIO_TSKINE103.selectForUpdate</a:t>
            </a:r>
            <a:r>
              <a:rPr lang="en-US" altLang="ko-KR" sz="1100">
                <a:latin typeface="+mn-ea"/>
              </a:rPr>
              <a:t>(selectForUpdateReq, onlineCtx);</a:t>
            </a:r>
            <a:endParaRPr lang="ko-KR" altLang="ko-KR" sz="1100">
              <a:latin typeface="+mn-ea"/>
            </a:endParaRPr>
          </a:p>
          <a:p>
            <a:endParaRPr lang="ko-KR" altLang="ko-KR" sz="1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2841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동일 컴포넌트 내 호출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3338" y="930150"/>
            <a:ext cx="2694181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b="1">
                <a:cs typeface="Arial" pitchFamily="34" charset="0"/>
              </a:rPr>
              <a:t>동일 컴포넌트 트랜잭션 분리 호출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28664" y="2129374"/>
            <a:ext cx="5184576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2650" y="1268760"/>
            <a:ext cx="9030850" cy="129266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파라미터 준비</a:t>
            </a:r>
          </a:p>
          <a:p>
            <a:r>
              <a:rPr lang="en-US" altLang="ko-KR" sz="1100">
                <a:latin typeface="+mn-ea"/>
              </a:rPr>
              <a:t>IDataSet fUBnkgCustInfoReq = new DataSet();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fUBnkgCustInfoReq.put("acno", requestData.get("acno"));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 </a:t>
            </a:r>
            <a:endParaRPr lang="ko-KR" altLang="ko-KR" sz="1100">
              <a:latin typeface="+mn-ea"/>
            </a:endParaRPr>
          </a:p>
          <a:p>
            <a:r>
              <a:rPr lang="en-US" altLang="ko-KR" sz="1100" b="1">
                <a:latin typeface="+mn-ea"/>
              </a:rPr>
              <a:t>// </a:t>
            </a:r>
            <a:r>
              <a:rPr lang="ko-KR" altLang="en-US" sz="1100" b="1">
                <a:latin typeface="+mn-ea"/>
              </a:rPr>
              <a:t>트랜잭션 분리 호출</a:t>
            </a:r>
            <a:endParaRPr lang="en-US" altLang="ko-KR" sz="1100">
              <a:latin typeface="+mn-ea"/>
            </a:endParaRPr>
          </a:p>
          <a:p>
            <a:r>
              <a:rPr lang="en-US" altLang="ko-KR" sz="1200">
                <a:latin typeface="+mn-ea"/>
              </a:rPr>
              <a:t>IDataSet insertRes = </a:t>
            </a:r>
            <a:r>
              <a:rPr lang="en-US" altLang="ko-KR" sz="1200" b="1" u="sng">
                <a:solidFill>
                  <a:srgbClr val="0000FF"/>
                </a:solidFill>
                <a:latin typeface="+mn-ea"/>
              </a:rPr>
              <a:t>callMethodByRequiresNew</a:t>
            </a:r>
            <a:r>
              <a:rPr lang="en-US" altLang="ko-KR" sz="1200">
                <a:latin typeface="+mn-ea"/>
              </a:rPr>
              <a:t>("</a:t>
            </a:r>
            <a:r>
              <a:rPr lang="en-US" altLang="ko-KR" sz="1200" b="1">
                <a:latin typeface="+mn-ea"/>
              </a:rPr>
              <a:t>DUTSSQC9201A.insert</a:t>
            </a:r>
            <a:r>
              <a:rPr lang="en-US" altLang="ko-KR" sz="1200">
                <a:latin typeface="+mn-ea"/>
              </a:rPr>
              <a:t>", insertReq, onlineCtx);</a:t>
            </a:r>
            <a:endParaRPr lang="ko-KR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0230" y="2600908"/>
            <a:ext cx="8267823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- </a:t>
            </a:r>
            <a:r>
              <a:rPr lang="ko-KR" altLang="en-US" sz="1200" b="1" u="sng">
                <a:latin typeface="+mn-ea"/>
                <a:cs typeface="Arial" pitchFamily="34" charset="0"/>
              </a:rPr>
              <a:t>동일 컴포넌트 내에서 </a:t>
            </a:r>
            <a:r>
              <a:rPr lang="en-US" altLang="ko-KR" sz="1200" b="1" u="sng">
                <a:latin typeface="+mn-ea"/>
                <a:cs typeface="Arial" pitchFamily="34" charset="0"/>
              </a:rPr>
              <a:t>FM, DM, DBIO</a:t>
            </a:r>
            <a:r>
              <a:rPr lang="ko-KR" altLang="en-US" sz="1200">
                <a:latin typeface="+mn-ea"/>
                <a:cs typeface="Arial" pitchFamily="34" charset="0"/>
              </a:rPr>
              <a:t>를 </a:t>
            </a:r>
            <a:r>
              <a:rPr lang="ko-KR" altLang="en-US" sz="1200" b="1" u="sng">
                <a:latin typeface="+mn-ea"/>
                <a:cs typeface="Arial" pitchFamily="34" charset="0"/>
              </a:rPr>
              <a:t>별도 트랜잭션</a:t>
            </a:r>
            <a:r>
              <a:rPr lang="ko-KR" altLang="en-US" sz="1200">
                <a:latin typeface="+mn-ea"/>
                <a:cs typeface="Arial" pitchFamily="34" charset="0"/>
              </a:rPr>
              <a:t>으로 분리하고자 할 경우</a:t>
            </a:r>
            <a:r>
              <a:rPr lang="en-US" altLang="ko-KR" sz="1200">
                <a:latin typeface="+mn-ea"/>
                <a:cs typeface="Arial" pitchFamily="34" charset="0"/>
              </a:rPr>
              <a:t>, callMethodByRequiresNew </a:t>
            </a:r>
            <a:r>
              <a:rPr lang="ko-KR" altLang="en-US" sz="1200">
                <a:latin typeface="+mn-ea"/>
                <a:cs typeface="Arial" pitchFamily="34" charset="0"/>
              </a:rPr>
              <a:t>메소드를 사용한다</a:t>
            </a:r>
            <a:r>
              <a:rPr lang="en-US" altLang="ko-KR" sz="1200"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- </a:t>
            </a:r>
            <a:r>
              <a:rPr lang="ko-KR" altLang="en-US" sz="1200">
                <a:latin typeface="+mn-ea"/>
                <a:cs typeface="Arial" pitchFamily="34" charset="0"/>
              </a:rPr>
              <a:t>동일한 컴포넌트를 호출하기 때문에 컴포넌트</a:t>
            </a:r>
            <a:r>
              <a:rPr lang="en-US" altLang="ko-KR" sz="1200">
                <a:latin typeface="+mn-ea"/>
                <a:cs typeface="Arial" pitchFamily="34" charset="0"/>
              </a:rPr>
              <a:t>ID</a:t>
            </a:r>
            <a:r>
              <a:rPr lang="ko-KR" altLang="en-US" sz="1200">
                <a:latin typeface="+mn-ea"/>
                <a:cs typeface="Arial" pitchFamily="34" charset="0"/>
              </a:rPr>
              <a:t>를 파라미터로 주지 않고</a:t>
            </a:r>
            <a:r>
              <a:rPr lang="en-US" altLang="ko-KR" sz="1200">
                <a:latin typeface="+mn-ea"/>
                <a:cs typeface="Arial" pitchFamily="34" charset="0"/>
              </a:rPr>
              <a:t>, </a:t>
            </a:r>
            <a:r>
              <a:rPr lang="ko-KR" altLang="en-US" sz="1200" b="1" u="sng">
                <a:latin typeface="+mn-ea"/>
                <a:cs typeface="Arial" pitchFamily="34" charset="0"/>
              </a:rPr>
              <a:t>유닛</a:t>
            </a:r>
            <a:r>
              <a:rPr lang="en-US" altLang="ko-KR" sz="1200" b="1" u="sng">
                <a:latin typeface="+mn-ea"/>
                <a:cs typeface="Arial" pitchFamily="34" charset="0"/>
              </a:rPr>
              <a:t>ID.</a:t>
            </a:r>
            <a:r>
              <a:rPr lang="ko-KR" altLang="en-US" sz="1200" b="1" u="sng">
                <a:latin typeface="+mn-ea"/>
                <a:cs typeface="Arial" pitchFamily="34" charset="0"/>
              </a:rPr>
              <a:t>메소드명</a:t>
            </a:r>
            <a:r>
              <a:rPr lang="ko-KR" altLang="en-US" sz="1200">
                <a:latin typeface="+mn-ea"/>
                <a:cs typeface="Arial" pitchFamily="34" charset="0"/>
              </a:rPr>
              <a:t> 만 파라미터로 전달한다</a:t>
            </a:r>
            <a:r>
              <a:rPr lang="en-US" altLang="ko-KR" sz="1200"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- </a:t>
            </a:r>
            <a:r>
              <a:rPr lang="ko-KR" altLang="en-US" sz="1200">
                <a:latin typeface="+mn-ea"/>
                <a:cs typeface="Arial" pitchFamily="34" charset="0"/>
              </a:rPr>
              <a:t>배치에서는 사용이 불가능하다</a:t>
            </a:r>
            <a:r>
              <a:rPr lang="en-US" altLang="ko-KR" sz="1200">
                <a:latin typeface="+mn-ea"/>
                <a:cs typeface="Arial" pitchFamily="34" charset="0"/>
              </a:rPr>
              <a:t>.</a:t>
            </a:r>
            <a:endParaRPr lang="ko-KR" altLang="en-US" sz="1200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27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타 컴포넌트 호출 </a:t>
            </a:r>
            <a:r>
              <a:rPr lang="en-US" altLang="ko-KR"/>
              <a:t>(</a:t>
            </a:r>
            <a:r>
              <a:rPr lang="ko-KR" altLang="en-US"/>
              <a:t>공유메소드</a:t>
            </a:r>
            <a:r>
              <a:rPr lang="en-US" altLang="ko-KR"/>
              <a:t>)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56059"/>
              </p:ext>
            </p:extLst>
          </p:nvPr>
        </p:nvGraphicFramePr>
        <p:xfrm>
          <a:off x="452500" y="1184203"/>
          <a:ext cx="9011402" cy="2913001"/>
        </p:xfrm>
        <a:graphic>
          <a:graphicData uri="http://schemas.openxmlformats.org/drawingml/2006/table">
            <a:tbl>
              <a:tblPr firstRow="1" firstCol="1" bandRow="1"/>
              <a:tblGrid>
                <a:gridCol w="1116124">
                  <a:extLst>
                    <a:ext uri="{9D8B030D-6E8A-4147-A177-3AD203B41FA5}">
                      <a16:colId xmlns:a16="http://schemas.microsoft.com/office/drawing/2014/main" val="4115015274"/>
                    </a:ext>
                  </a:extLst>
                </a:gridCol>
                <a:gridCol w="5593858">
                  <a:extLst>
                    <a:ext uri="{9D8B030D-6E8A-4147-A177-3AD203B41FA5}">
                      <a16:colId xmlns:a16="http://schemas.microsoft.com/office/drawing/2014/main" val="2680330779"/>
                    </a:ext>
                  </a:extLst>
                </a:gridCol>
                <a:gridCol w="573989">
                  <a:extLst>
                    <a:ext uri="{9D8B030D-6E8A-4147-A177-3AD203B41FA5}">
                      <a16:colId xmlns:a16="http://schemas.microsoft.com/office/drawing/2014/main" val="2275278820"/>
                    </a:ext>
                  </a:extLst>
                </a:gridCol>
                <a:gridCol w="612695">
                  <a:extLst>
                    <a:ext uri="{9D8B030D-6E8A-4147-A177-3AD203B41FA5}">
                      <a16:colId xmlns:a16="http://schemas.microsoft.com/office/drawing/2014/main" val="959314465"/>
                    </a:ext>
                  </a:extLst>
                </a:gridCol>
                <a:gridCol w="574257">
                  <a:extLst>
                    <a:ext uri="{9D8B030D-6E8A-4147-A177-3AD203B41FA5}">
                      <a16:colId xmlns:a16="http://schemas.microsoft.com/office/drawing/2014/main" val="539953632"/>
                    </a:ext>
                  </a:extLst>
                </a:gridCol>
                <a:gridCol w="540479">
                  <a:extLst>
                    <a:ext uri="{9D8B030D-6E8A-4147-A177-3AD203B41FA5}">
                      <a16:colId xmlns:a16="http://schemas.microsoft.com/office/drawing/2014/main" val="1740163263"/>
                    </a:ext>
                  </a:extLst>
                </a:gridCol>
              </a:tblGrid>
              <a:tr h="214334">
                <a:tc row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역할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NEXCORE </a:t>
                      </a: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제공</a:t>
                      </a:r>
                      <a:r>
                        <a:rPr lang="en-US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API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트랜잭션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처리패턴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987325"/>
                  </a:ext>
                </a:extLst>
              </a:tr>
              <a:tr h="214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단일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신규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동기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비동기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198590"/>
                  </a:ext>
                </a:extLst>
              </a:tr>
              <a:tr h="477431">
                <a:tc rowSpan="4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공유 메소드</a:t>
                      </a:r>
                      <a:endParaRPr lang="en-US" altLang="ko-KR" sz="1100" kern="10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(FM,</a:t>
                      </a: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DM, DBIO)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callSharedMethodByDirect</a:t>
                      </a: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</a:p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(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</a:t>
                      </a:r>
                      <a:r>
                        <a:rPr lang="en-US" sz="1100" u="sng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compId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String </a:t>
                      </a:r>
                      <a:r>
                        <a:rPr lang="en-US" sz="1100" u="sng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unitMethodId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69401"/>
                  </a:ext>
                </a:extLst>
              </a:tr>
              <a:tr h="6298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caller, callee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 하나의 트랜잭션으로 묶임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callee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 정상 실행되더라도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caller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에서 후에 에러가 발생하여 롤백되면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callee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롤백됨</a:t>
                      </a:r>
                      <a:endParaRPr 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1635657"/>
                  </a:ext>
                </a:extLst>
              </a:tr>
              <a:tr h="4827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callSharedMethodByRequiresNew</a:t>
                      </a: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</a:p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(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compId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unitMethodId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411279"/>
                  </a:ext>
                </a:extLst>
              </a:tr>
              <a:tr h="8741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 b="0">
                          <a:latin typeface="+mn-ea"/>
                          <a:ea typeface="+mn-ea"/>
                        </a:rPr>
                        <a:t>- callee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가 실행될때 새로운 트랜잭션이 기동되어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100" b="0" u="sng">
                          <a:latin typeface="+mn-ea"/>
                          <a:ea typeface="+mn-ea"/>
                        </a:rPr>
                        <a:t>callee </a:t>
                      </a:r>
                      <a:r>
                        <a:rPr lang="ko-KR" altLang="en-US" sz="1100" b="0" u="sng">
                          <a:latin typeface="+mn-ea"/>
                          <a:ea typeface="+mn-ea"/>
                        </a:rPr>
                        <a:t>가 정상 리턴되면 바로 </a:t>
                      </a:r>
                      <a:r>
                        <a:rPr lang="en-US" altLang="ko-KR" sz="1100" b="0" u="sng">
                          <a:latin typeface="+mn-ea"/>
                          <a:ea typeface="+mn-ea"/>
                        </a:rPr>
                        <a:t>commit </a:t>
                      </a:r>
                      <a:r>
                        <a:rPr lang="ko-KR" altLang="en-US" sz="1100" b="0" u="sng">
                          <a:latin typeface="+mn-ea"/>
                          <a:ea typeface="+mn-ea"/>
                        </a:rPr>
                        <a:t>됨</a:t>
                      </a:r>
                      <a:br>
                        <a:rPr lang="en-US" altLang="ko-KR" sz="1100" b="0">
                          <a:latin typeface="+mn-ea"/>
                          <a:ea typeface="+mn-ea"/>
                        </a:rPr>
                      </a:br>
                      <a:r>
                        <a:rPr lang="en-US" altLang="ko-KR" sz="1100" b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후에 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caller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쪽에서 롤백되더라도 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callee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commit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유지</a:t>
                      </a:r>
                      <a:br>
                        <a:rPr lang="en-US" altLang="ko-KR" sz="1100" b="0">
                          <a:latin typeface="+mn-ea"/>
                          <a:ea typeface="+mn-ea"/>
                        </a:rPr>
                      </a:br>
                      <a:r>
                        <a:rPr lang="en-US" altLang="ko-KR" sz="1100" b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배치에서는 사용 불가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06317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1180" y="872556"/>
            <a:ext cx="2697387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>
                <a:cs typeface="Arial" pitchFamily="34" charset="0"/>
              </a:rPr>
              <a:t>타 컴포넌트 </a:t>
            </a:r>
            <a:r>
              <a:rPr lang="ko-KR" altLang="en-US" sz="1400" b="1">
                <a:cs typeface="Arial" pitchFamily="34" charset="0"/>
              </a:rPr>
              <a:t>공유메소드</a:t>
            </a:r>
            <a:r>
              <a:rPr lang="ko-KR" altLang="en-US" sz="1400">
                <a:cs typeface="Arial" pitchFamily="34" charset="0"/>
              </a:rPr>
              <a:t> 호출 </a:t>
            </a:r>
            <a:r>
              <a:rPr lang="en-US" altLang="ko-KR" sz="1400">
                <a:cs typeface="Arial" pitchFamily="34" charset="0"/>
              </a:rPr>
              <a:t>API</a:t>
            </a:r>
            <a:endParaRPr lang="ko-KR" altLang="en-US" sz="1400" dirty="0"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500" y="4257092"/>
            <a:ext cx="9011402" cy="158504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데이터셋 설정</a:t>
            </a:r>
          </a:p>
          <a:p>
            <a:r>
              <a:rPr lang="en-US" altLang="ko-KR" sz="1100">
                <a:latin typeface="+mn-ea"/>
              </a:rPr>
              <a:t>IDataSet cusInfoInqReq = new DataSet();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cusInfoInqReq.put("acno", withdrawAccountNo);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cusInfoInqReq.put("acnBal", amount);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 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계리 처리 호출</a:t>
            </a:r>
          </a:p>
          <a:p>
            <a:r>
              <a:rPr lang="en-US" altLang="ko-KR" sz="1100">
                <a:latin typeface="+mn-ea"/>
              </a:rPr>
              <a:t>// </a:t>
            </a:r>
            <a:r>
              <a:rPr lang="ko-KR" altLang="ko-KR" sz="1100">
                <a:latin typeface="+mn-ea"/>
              </a:rPr>
              <a:t>계리 처리가 오류이면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ko-KR" sz="1100">
                <a:latin typeface="+mn-ea"/>
              </a:rPr>
              <a:t>예외가 발생합니다</a:t>
            </a:r>
            <a:r>
              <a:rPr lang="en-US" altLang="ko-KR" sz="1100">
                <a:latin typeface="+mn-ea"/>
              </a:rPr>
              <a:t>.</a:t>
            </a:r>
            <a:endParaRPr lang="ko-KR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IDataSet cusInfoInqRes = </a:t>
            </a:r>
            <a:r>
              <a:rPr lang="en-US" altLang="ko-KR" sz="1100" b="1" kern="100">
                <a:solidFill>
                  <a:srgbClr val="0033CC"/>
                </a:solidFill>
                <a:latin typeface="+mn-ea"/>
                <a:cs typeface="맑은 고딕" panose="020B0503020000020004" pitchFamily="50" charset="-127"/>
              </a:rPr>
              <a:t>callSharedMethodByDirect</a:t>
            </a:r>
            <a:r>
              <a:rPr lang="en-US" altLang="ko-KR" sz="1100">
                <a:latin typeface="+mn-ea"/>
              </a:rPr>
              <a:t>("</a:t>
            </a:r>
            <a:r>
              <a:rPr lang="en-US" altLang="ko-KR" sz="1100" b="1" u="sng">
                <a:latin typeface="+mn-ea"/>
              </a:rPr>
              <a:t>com.kbstar.edu.bnkg</a:t>
            </a:r>
            <a:r>
              <a:rPr lang="en-US" altLang="ko-KR" sz="1100">
                <a:latin typeface="+mn-ea"/>
              </a:rPr>
              <a:t>","</a:t>
            </a:r>
            <a:r>
              <a:rPr lang="en-US" altLang="ko-KR" sz="1100" b="1" u="sng">
                <a:latin typeface="+mn-ea"/>
              </a:rPr>
              <a:t>FUBnkgCustInfo.cusInfoInq</a:t>
            </a:r>
            <a:r>
              <a:rPr lang="en-US" altLang="ko-KR" sz="1100">
                <a:latin typeface="+mn-ea"/>
              </a:rPr>
              <a:t>", cusInfoInqReq, onlineCtx);</a:t>
            </a:r>
            <a:endParaRPr lang="ko-KR" altLang="ko-KR" sz="1100">
              <a:latin typeface="+mn-ea"/>
            </a:endParaRPr>
          </a:p>
          <a:p>
            <a:endParaRPr lang="en-US" altLang="ko-KR" sz="8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120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타 컴포넌트 호출 </a:t>
            </a:r>
            <a:r>
              <a:rPr lang="en-US" altLang="ko-KR"/>
              <a:t>(</a:t>
            </a:r>
            <a:r>
              <a:rPr lang="ko-KR" altLang="en-US"/>
              <a:t>연동거래</a:t>
            </a:r>
            <a:r>
              <a:rPr lang="en-US" altLang="ko-KR"/>
              <a:t>)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6729"/>
              </p:ext>
            </p:extLst>
          </p:nvPr>
        </p:nvGraphicFramePr>
        <p:xfrm>
          <a:off x="298082" y="1160748"/>
          <a:ext cx="9371442" cy="4494354"/>
        </p:xfrm>
        <a:graphic>
          <a:graphicData uri="http://schemas.openxmlformats.org/drawingml/2006/table">
            <a:tbl>
              <a:tblPr firstRow="1" firstCol="1" bandRow="1"/>
              <a:tblGrid>
                <a:gridCol w="694478">
                  <a:extLst>
                    <a:ext uri="{9D8B030D-6E8A-4147-A177-3AD203B41FA5}">
                      <a16:colId xmlns:a16="http://schemas.microsoft.com/office/drawing/2014/main" val="4115015274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6803307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7527882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959314465"/>
                    </a:ext>
                  </a:extLst>
                </a:gridCol>
                <a:gridCol w="446038">
                  <a:extLst>
                    <a:ext uri="{9D8B030D-6E8A-4147-A177-3AD203B41FA5}">
                      <a16:colId xmlns:a16="http://schemas.microsoft.com/office/drawing/2014/main" val="539953632"/>
                    </a:ext>
                  </a:extLst>
                </a:gridCol>
                <a:gridCol w="562074">
                  <a:extLst>
                    <a:ext uri="{9D8B030D-6E8A-4147-A177-3AD203B41FA5}">
                      <a16:colId xmlns:a16="http://schemas.microsoft.com/office/drawing/2014/main" val="1740163263"/>
                    </a:ext>
                  </a:extLst>
                </a:gridCol>
              </a:tblGrid>
              <a:tr h="171105">
                <a:tc row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역할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NEXCORE </a:t>
                      </a: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제공</a:t>
                      </a:r>
                      <a:r>
                        <a:rPr lang="en-US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API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트랜잭션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처리패턴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987325"/>
                  </a:ext>
                </a:extLst>
              </a:tr>
              <a:tr h="1711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단일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신규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동기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b="1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비동기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198590"/>
                  </a:ext>
                </a:extLst>
              </a:tr>
              <a:tr h="342210">
                <a:tc rowSpan="10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연동</a:t>
                      </a: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거래</a:t>
                      </a:r>
                      <a:endParaRPr lang="en-US" altLang="ko-KR" sz="1100" kern="10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(PM)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callService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(String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txId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226079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수동거래가 정상 리턴되더라도 기동거래에서 에러 발생하면 수동거래도 롤백된다</a:t>
                      </a: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411239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callAsyncServiceAfterCommit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(String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txId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803353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l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기동거래가 정상 </a:t>
                      </a: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commit </a:t>
                      </a:r>
                      <a:r>
                        <a:rPr lang="ko-KR" altLang="en-US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</a:t>
                      </a: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수동거래를 호출한다</a:t>
                      </a: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기동거래가 롤백되면 수동거래를 실행하지 않는다</a:t>
                      </a:r>
                      <a:r>
                        <a:rPr lang="en-US" altLang="ko-KR" sz="1100" kern="100" baseline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5186906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00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callAsyncServiceAfterRollback </a:t>
                      </a: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(String tranCd, IDataSet requestData, IOnlineContext onlineCtx)</a:t>
                      </a:r>
                      <a:endParaRPr lang="ko-KR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altLang="ko-KR" sz="11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429210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기동거래가 에러 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Rollback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된 후에 수동거래를 호출한다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기동거래가 롤백되면 수동거래를 실행한다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9284575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callAsyncServiceNow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(String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txId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784586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메소드 호출 즉시 별도 쓰레드에서 수동 거래를 실행한다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fontAlgn="auto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내부적으로 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DB 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큐를 이용하는 방식이므로 성능에 영향을 준다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(</a:t>
                      </a:r>
                      <a:r>
                        <a:rPr lang="ko-KR" altLang="en-US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꼭 필요한 경우만 사용 권장</a:t>
                      </a: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243716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solidFill>
                            <a:srgbClr val="0033CC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callDelayAsyncService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(String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txId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int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delaySeconds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IDataSet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requestData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IOnlineContext</a:t>
                      </a: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100" kern="100" err="1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onlineCtx</a:t>
                      </a: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)</a:t>
                      </a:r>
                      <a:endParaRPr lang="en-US" sz="1100" kern="1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485141"/>
                  </a:ext>
                </a:extLst>
              </a:tr>
              <a:tr h="342210">
                <a:tc v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기동거래와 독립적으로 수동거래를 지연시간 대기 후 실행한다</a:t>
                      </a:r>
                      <a:r>
                        <a:rPr lang="en-US" altLang="ko-KR" sz="1100" kern="100"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.</a:t>
                      </a:r>
                      <a:endParaRPr lang="en-US" sz="1100" kern="1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auto" latinLnBrk="1" hangingPunct="1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00793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3178" y="872556"/>
            <a:ext cx="2171602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>
                <a:cs typeface="Arial" pitchFamily="34" charset="0"/>
              </a:rPr>
              <a:t>타 컴포넌트 </a:t>
            </a:r>
            <a:r>
              <a:rPr lang="ko-KR" altLang="en-US" sz="1400" b="1">
                <a:cs typeface="Arial" pitchFamily="34" charset="0"/>
              </a:rPr>
              <a:t>연동호출</a:t>
            </a:r>
            <a:r>
              <a:rPr lang="ko-KR" altLang="en-US" sz="1400">
                <a:cs typeface="Arial" pitchFamily="34" charset="0"/>
              </a:rPr>
              <a:t> </a:t>
            </a:r>
            <a:r>
              <a:rPr lang="en-US" altLang="ko-KR" sz="1400">
                <a:cs typeface="Arial" pitchFamily="34" charset="0"/>
              </a:rPr>
              <a:t>API</a:t>
            </a:r>
            <a:endParaRPr lang="ko-KR" altLang="en-US" sz="1400" dirty="0"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0492" y="5734997"/>
            <a:ext cx="8253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+mn-ea"/>
              </a:rPr>
              <a:t>- </a:t>
            </a:r>
            <a:r>
              <a:rPr lang="ko-KR" altLang="en-US" sz="1200" b="1">
                <a:latin typeface="+mn-ea"/>
              </a:rPr>
              <a:t>연동은 기동 거래</a:t>
            </a:r>
            <a:r>
              <a:rPr lang="en-US" altLang="ko-KR" sz="1200" b="1">
                <a:latin typeface="+mn-ea"/>
              </a:rPr>
              <a:t>(PM)</a:t>
            </a:r>
            <a:r>
              <a:rPr lang="ko-KR" altLang="en-US" sz="1200" b="1">
                <a:latin typeface="+mn-ea"/>
              </a:rPr>
              <a:t>에서 수동 거래</a:t>
            </a:r>
            <a:r>
              <a:rPr lang="en-US" altLang="ko-KR" sz="1200" b="1">
                <a:latin typeface="+mn-ea"/>
              </a:rPr>
              <a:t>(PM)</a:t>
            </a:r>
            <a:r>
              <a:rPr lang="ko-KR" altLang="en-US" sz="1200" b="1">
                <a:latin typeface="+mn-ea"/>
              </a:rPr>
              <a:t>를 호출하는 것이다</a:t>
            </a:r>
            <a:r>
              <a:rPr lang="en-US" altLang="ko-KR" sz="1200" b="1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+mn-ea"/>
              </a:rPr>
              <a:t>- commonArea</a:t>
            </a:r>
            <a:r>
              <a:rPr lang="ko-KR" altLang="en-US" sz="1200" b="1">
                <a:latin typeface="+mn-ea"/>
              </a:rPr>
              <a:t>가 복제되어 기동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수동 별도의 영역이 생성되며 기동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수동은 각자 별도의 선후처리가 실행된다</a:t>
            </a:r>
            <a:r>
              <a:rPr lang="en-US" altLang="ko-KR" sz="1200" b="1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215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서로 다른 컴포넌트 간 호출 </a:t>
            </a:r>
            <a:r>
              <a:rPr lang="en-US" altLang="ko-KR"/>
              <a:t>(</a:t>
            </a:r>
            <a:r>
              <a:rPr lang="ko-KR" altLang="en-US"/>
              <a:t>연동거래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6646" y="1160748"/>
            <a:ext cx="9138706" cy="193899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예시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ko-KR" sz="1200">
                <a:latin typeface="+mn-ea"/>
              </a:rPr>
              <a:t>잘못될 가능성 있는</a:t>
            </a:r>
            <a:r>
              <a:rPr lang="en-US" altLang="ko-KR" sz="1200">
                <a:latin typeface="+mn-ea"/>
              </a:rPr>
              <a:t> Exception </a:t>
            </a:r>
            <a:r>
              <a:rPr lang="ko-KR" altLang="ko-KR" sz="1200">
                <a:latin typeface="+mn-ea"/>
              </a:rPr>
              <a:t>처리</a:t>
            </a:r>
          </a:p>
          <a:p>
            <a:r>
              <a:rPr lang="ko-KR" altLang="ko-KR" sz="1200">
                <a:latin typeface="+mn-ea"/>
              </a:rPr>
              <a:t>…</a:t>
            </a:r>
          </a:p>
          <a:p>
            <a:r>
              <a:rPr lang="en-US" altLang="ko-KR" sz="1200">
                <a:latin typeface="+mn-ea"/>
              </a:rPr>
              <a:t>try {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callService</a:t>
            </a:r>
            <a:r>
              <a:rPr lang="en-US" altLang="ko-KR" sz="1200">
                <a:latin typeface="+mn-ea"/>
              </a:rPr>
              <a:t>("EDU0100401", indata, onlineCtx);   //</a:t>
            </a:r>
            <a:r>
              <a:rPr lang="ko-KR" altLang="ko-KR" sz="1200">
                <a:latin typeface="+mn-ea"/>
              </a:rPr>
              <a:t>①</a:t>
            </a:r>
          </a:p>
          <a:p>
            <a:r>
              <a:rPr lang="en-US" altLang="ko-KR" sz="1200">
                <a:latin typeface="+mn-ea"/>
              </a:rPr>
              <a:t>} catch (Exception e) {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log.error ("EDU0100401 </a:t>
            </a:r>
            <a:r>
              <a:rPr lang="ko-KR" altLang="ko-KR" sz="1200">
                <a:latin typeface="+mn-ea"/>
              </a:rPr>
              <a:t>호출 오류</a:t>
            </a:r>
            <a:r>
              <a:rPr lang="en-US" altLang="ko-KR" sz="1200">
                <a:latin typeface="+mn-ea"/>
              </a:rPr>
              <a:t>"); // </a:t>
            </a:r>
            <a:r>
              <a:rPr lang="ko-KR" altLang="ko-KR" sz="1200">
                <a:latin typeface="+mn-ea"/>
              </a:rPr>
              <a:t>예외를 던지지 않았음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en-US" sz="1200">
                <a:latin typeface="+mn-ea"/>
              </a:rPr>
              <a:t>예외무시</a:t>
            </a:r>
            <a:r>
              <a:rPr lang="en-US" altLang="ko-KR" sz="1200">
                <a:latin typeface="+mn-ea"/>
              </a:rPr>
              <a:t>)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} </a:t>
            </a:r>
          </a:p>
          <a:p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①에서 예외가 발생해도 이후 로직은 수행하지만 결과적으로</a:t>
            </a:r>
            <a:r>
              <a:rPr lang="en-US" altLang="ko-KR" sz="1200">
                <a:latin typeface="+mn-ea"/>
              </a:rPr>
              <a:t> rollback </a:t>
            </a:r>
            <a:r>
              <a:rPr lang="ko-KR" altLang="ko-KR" sz="1200">
                <a:latin typeface="+mn-ea"/>
              </a:rPr>
              <a:t>됨</a:t>
            </a:r>
          </a:p>
          <a:p>
            <a:r>
              <a:rPr lang="ko-KR" altLang="ko-KR" sz="1200">
                <a:latin typeface="+mn-ea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21" y="3105999"/>
            <a:ext cx="9129431" cy="575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callService</a:t>
            </a:r>
            <a:r>
              <a:rPr lang="ko-KR" altLang="en-US" sz="1100">
                <a:latin typeface="+mn-ea"/>
              </a:rPr>
              <a:t>는 단일 트랜잭션 연동거래 </a:t>
            </a:r>
            <a:r>
              <a:rPr lang="en-US" altLang="ko-KR" sz="1100">
                <a:latin typeface="+mn-ea"/>
              </a:rPr>
              <a:t>API</a:t>
            </a:r>
            <a:r>
              <a:rPr lang="ko-KR" altLang="en-US" sz="1100">
                <a:latin typeface="+mn-ea"/>
              </a:rPr>
              <a:t>이므로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위와같이 기동거래에서 에러를 무시하고 다음로직을 수행하더라도 </a:t>
            </a:r>
            <a:r>
              <a:rPr lang="ko-KR" altLang="en-US" sz="1100" u="sng">
                <a:latin typeface="+mn-ea"/>
              </a:rPr>
              <a:t>수동거래는 이미 에러가 발생한 상태이므로 거래 전체는 에러로 판단하며 프레임워크 내부적으로 강제 에러를 발생시킨다</a:t>
            </a:r>
            <a:r>
              <a:rPr lang="en-US" altLang="ko-KR" sz="1100" u="sng">
                <a:latin typeface="+mn-e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884" y="4221088"/>
            <a:ext cx="9138706" cy="11772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IDataSet pmEDU0100401Req = new DataSet();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pmEDU0100401Req.put("acno", requestData.get("drwotAcno"));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 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호출</a:t>
            </a:r>
          </a:p>
          <a:p>
            <a:r>
              <a:rPr lang="en-US" altLang="ko-KR" sz="1200">
                <a:latin typeface="+mn-ea"/>
              </a:rPr>
              <a:t>String newGUID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callAsyncServiceNow</a:t>
            </a:r>
            <a:r>
              <a:rPr lang="en-US" altLang="ko-KR" sz="1200">
                <a:latin typeface="+mn-ea"/>
              </a:rPr>
              <a:t>("EDU0100401", pmEDU0100401Req, onlineCtx);</a:t>
            </a:r>
            <a:endParaRPr lang="ko-KR" altLang="ko-KR" sz="1200">
              <a:latin typeface="+mn-ea"/>
            </a:endParaRPr>
          </a:p>
          <a:p>
            <a:endParaRPr lang="ko-KR" altLang="ko-KR" sz="10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503" y="894146"/>
            <a:ext cx="1846193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>
                <a:cs typeface="Arial" pitchFamily="34" charset="0"/>
              </a:rPr>
              <a:t>잘못된 연동거래 예시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0492" y="5385120"/>
            <a:ext cx="91294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FW</a:t>
            </a:r>
            <a:r>
              <a:rPr lang="ko-KR" altLang="en-US" sz="1100">
                <a:latin typeface="+mn-ea"/>
              </a:rPr>
              <a:t>에서 새로운</a:t>
            </a:r>
            <a:r>
              <a:rPr lang="en-US" altLang="ko-KR" sz="1100">
                <a:latin typeface="+mn-ea"/>
              </a:rPr>
              <a:t> guid</a:t>
            </a:r>
            <a:r>
              <a:rPr lang="ko-KR" altLang="en-US" sz="1100">
                <a:latin typeface="+mn-ea"/>
              </a:rPr>
              <a:t>를 재채번하며 </a:t>
            </a:r>
            <a:r>
              <a:rPr lang="en-US" altLang="ko-KR" sz="1100">
                <a:latin typeface="+mn-ea"/>
              </a:rPr>
              <a:t>callAsyncServiceNow </a:t>
            </a:r>
            <a:r>
              <a:rPr lang="ko-KR" altLang="en-US" sz="1100">
                <a:latin typeface="+mn-ea"/>
              </a:rPr>
              <a:t>메소드는 바로 리턴된다</a:t>
            </a:r>
            <a:r>
              <a:rPr lang="en-US" altLang="ko-KR" sz="110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en-US" sz="1100">
                <a:latin typeface="+mn-ea"/>
              </a:rPr>
              <a:t>비동기 거래의 경우 </a:t>
            </a:r>
            <a:r>
              <a:rPr lang="en-US" altLang="ko-KR" sz="1100">
                <a:latin typeface="+mn-ea"/>
              </a:rPr>
              <a:t>MCI</a:t>
            </a:r>
            <a:r>
              <a:rPr lang="ko-KR" altLang="en-US" sz="1100">
                <a:latin typeface="+mn-ea"/>
              </a:rPr>
              <a:t>로 부터 전문을 수신한 것이 아니므로 </a:t>
            </a:r>
            <a:r>
              <a:rPr lang="ko-KR" altLang="en-US" sz="1100" u="sng">
                <a:latin typeface="+mn-ea"/>
              </a:rPr>
              <a:t>거래 프로파일에 설정한 타임아웃 값이 적용된다</a:t>
            </a:r>
            <a:r>
              <a:rPr lang="en-US" altLang="ko-KR" sz="1100" u="sng">
                <a:latin typeface="+mn-ea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502" y="3945372"/>
            <a:ext cx="1846193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>
                <a:cs typeface="Arial" pitchFamily="34" charset="0"/>
              </a:rPr>
              <a:t>비동기 연동거래 예시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56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9035612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타 컴포넌트 호출 </a:t>
            </a:r>
            <a:r>
              <a:rPr lang="en-US" altLang="ko-KR"/>
              <a:t>(</a:t>
            </a:r>
            <a:r>
              <a:rPr lang="ko-KR" altLang="en-US"/>
              <a:t>연동거래</a:t>
            </a:r>
            <a:r>
              <a:rPr lang="en-US" altLang="ko-KR"/>
              <a:t>_</a:t>
            </a:r>
            <a:r>
              <a:rPr lang="ko-KR" altLang="en-US"/>
              <a:t>비동기</a:t>
            </a:r>
            <a:r>
              <a:rPr lang="en-US" altLang="ko-KR"/>
              <a:t>Merge) 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6476" y="1412776"/>
            <a:ext cx="5255192" cy="517064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+mn-ea"/>
              </a:rPr>
              <a:t>// </a:t>
            </a:r>
            <a:r>
              <a:rPr lang="ko-KR" altLang="en-US" sz="1000">
                <a:latin typeface="+mn-ea"/>
              </a:rPr>
              <a:t>수동</a:t>
            </a:r>
            <a:r>
              <a:rPr lang="en-US" altLang="ko-KR" sz="1000">
                <a:latin typeface="+mn-ea"/>
              </a:rPr>
              <a:t>PM</a:t>
            </a:r>
            <a:r>
              <a:rPr lang="ko-KR" altLang="en-US" sz="1000">
                <a:latin typeface="+mn-ea"/>
              </a:rPr>
              <a:t> 결과를 담아올 </a:t>
            </a:r>
            <a:r>
              <a:rPr lang="en-US" altLang="ko-KR" sz="1000">
                <a:latin typeface="+mn-ea"/>
              </a:rPr>
              <a:t>Holder </a:t>
            </a:r>
            <a:r>
              <a:rPr lang="ko-KR" altLang="en-US" sz="1000">
                <a:latin typeface="+mn-ea"/>
              </a:rPr>
              <a:t>객체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각 수동거래에서 이 객체에 결과 </a:t>
            </a:r>
            <a:r>
              <a:rPr lang="en-US" altLang="ko-KR" sz="1000">
                <a:latin typeface="+mn-ea"/>
              </a:rPr>
              <a:t>dataSet </a:t>
            </a:r>
            <a:r>
              <a:rPr lang="ko-KR" altLang="en-US" sz="1000">
                <a:latin typeface="+mn-ea"/>
              </a:rPr>
              <a:t>을 </a:t>
            </a:r>
            <a:r>
              <a:rPr lang="en-US" altLang="ko-KR" sz="1000">
                <a:latin typeface="+mn-ea"/>
              </a:rPr>
              <a:t>put </a:t>
            </a:r>
            <a:r>
              <a:rPr lang="ko-KR" altLang="en-US" sz="1000">
                <a:latin typeface="+mn-ea"/>
              </a:rPr>
              <a:t>한다</a:t>
            </a:r>
            <a:r>
              <a:rPr lang="en-US" altLang="ko-KR" sz="1000">
                <a:latin typeface="+mn-ea"/>
              </a:rPr>
              <a:t>.</a:t>
            </a:r>
          </a:p>
          <a:p>
            <a:r>
              <a:rPr lang="en-US" altLang="ko-KR" sz="1000">
                <a:latin typeface="+mn-ea"/>
              </a:rPr>
              <a:t>Map&lt;String, IDataSet&gt; resultHolderMap = new ConcurrentHashMap&lt;String, IDataSet&gt;();</a:t>
            </a:r>
          </a:p>
          <a:p>
            <a:endParaRPr lang="en-US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DataSet inputData = new DataSet();</a:t>
            </a:r>
          </a:p>
          <a:p>
            <a:r>
              <a:rPr lang="en-US" altLang="ko-KR" sz="1000">
                <a:latin typeface="+mn-ea"/>
              </a:rPr>
              <a:t>inputData .put("</a:t>
            </a:r>
            <a:r>
              <a:rPr lang="ko-KR" altLang="en-US" sz="1000">
                <a:latin typeface="+mn-ea"/>
              </a:rPr>
              <a:t>계좌번호</a:t>
            </a:r>
            <a:r>
              <a:rPr lang="en-US" altLang="ko-KR" sz="1000">
                <a:latin typeface="+mn-ea"/>
              </a:rPr>
              <a:t>", "123456789");</a:t>
            </a:r>
          </a:p>
          <a:p>
            <a:r>
              <a:rPr lang="en-US" altLang="ko-KR" sz="1000" b="1">
                <a:latin typeface="+mn-ea"/>
              </a:rPr>
              <a:t>inputData</a:t>
            </a:r>
            <a:r>
              <a:rPr lang="en-US" altLang="ko-KR" sz="1000">
                <a:latin typeface="+mn-ea"/>
              </a:rPr>
              <a:t> .put("</a:t>
            </a:r>
            <a:r>
              <a:rPr lang="en-US" altLang="ko-KR" sz="1000" b="1">
                <a:solidFill>
                  <a:srgbClr val="FF0000"/>
                </a:solidFill>
                <a:latin typeface="+mn-ea"/>
              </a:rPr>
              <a:t>RESULT_HOLDER_MAP</a:t>
            </a:r>
            <a:r>
              <a:rPr lang="en-US" altLang="ko-KR" sz="1000">
                <a:latin typeface="+mn-ea"/>
              </a:rPr>
              <a:t>", resultHolderMap);  </a:t>
            </a:r>
          </a:p>
          <a:p>
            <a:r>
              <a:rPr lang="en-US" altLang="ko-KR" sz="1000">
                <a:latin typeface="+mn-ea"/>
              </a:rPr>
              <a:t>List&lt;String&gt; </a:t>
            </a:r>
            <a:r>
              <a:rPr lang="en-US" altLang="ko-KR" sz="1000" b="1">
                <a:latin typeface="+mn-ea"/>
              </a:rPr>
              <a:t>subGuidList</a:t>
            </a:r>
            <a:r>
              <a:rPr lang="en-US" altLang="ko-KR" sz="1000">
                <a:latin typeface="+mn-ea"/>
              </a:rPr>
              <a:t> = new ArrayList&lt;&gt;();  // </a:t>
            </a:r>
            <a:r>
              <a:rPr lang="ko-KR" altLang="en-US" sz="1000">
                <a:latin typeface="+mn-ea"/>
              </a:rPr>
              <a:t>수동거래들 </a:t>
            </a:r>
            <a:r>
              <a:rPr lang="en-US" altLang="ko-KR" sz="1000">
                <a:latin typeface="+mn-ea"/>
              </a:rPr>
              <a:t>GUID </a:t>
            </a:r>
            <a:r>
              <a:rPr lang="ko-KR" altLang="en-US" sz="1000">
                <a:latin typeface="+mn-ea"/>
              </a:rPr>
              <a:t>리스트</a:t>
            </a:r>
            <a:endParaRPr lang="en-US" altLang="ko-KR" sz="1000">
              <a:latin typeface="+mn-ea"/>
            </a:endParaRPr>
          </a:p>
          <a:p>
            <a:endParaRPr lang="en-US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int callCount = 10;</a:t>
            </a:r>
          </a:p>
          <a:p>
            <a:r>
              <a:rPr lang="en-US" altLang="ko-KR" sz="1000">
                <a:latin typeface="+mn-ea"/>
              </a:rPr>
              <a:t>for (int i=0; i&lt;callCount; i++) {</a:t>
            </a:r>
          </a:p>
          <a:p>
            <a:r>
              <a:rPr lang="en-US" altLang="ko-KR" sz="1000">
                <a:latin typeface="+mn-ea"/>
              </a:rPr>
              <a:t>    String subGuid = </a:t>
            </a:r>
            <a:r>
              <a:rPr lang="en-US" altLang="ko-KR" sz="1000" b="1">
                <a:solidFill>
                  <a:srgbClr val="0000FF"/>
                </a:solidFill>
                <a:latin typeface="+mn-ea"/>
              </a:rPr>
              <a:t>callAsyncServiceNow</a:t>
            </a:r>
            <a:r>
              <a:rPr lang="en-US" altLang="ko-KR" sz="1000">
                <a:latin typeface="+mn-ea"/>
              </a:rPr>
              <a:t>("EDU0300102", inputData, onlineCtx);</a:t>
            </a:r>
          </a:p>
          <a:p>
            <a:r>
              <a:rPr lang="en-US" altLang="ko-KR" sz="1000">
                <a:latin typeface="+mn-ea"/>
              </a:rPr>
              <a:t>    subGuidList.add(subGuid);</a:t>
            </a:r>
          </a:p>
          <a:p>
            <a:r>
              <a:rPr lang="en-US" altLang="ko-KR" sz="1000">
                <a:latin typeface="+mn-ea"/>
              </a:rPr>
              <a:t>}</a:t>
            </a:r>
          </a:p>
          <a:p>
            <a:endParaRPr lang="en-US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// </a:t>
            </a:r>
            <a:r>
              <a:rPr lang="ko-KR" altLang="en-US" sz="1000">
                <a:latin typeface="+mn-ea"/>
              </a:rPr>
              <a:t>수동거래 모두 마칠때까지 </a:t>
            </a:r>
            <a:r>
              <a:rPr lang="en-US" altLang="ko-KR" sz="1000">
                <a:latin typeface="+mn-ea"/>
              </a:rPr>
              <a:t>sleep &amp; loop</a:t>
            </a:r>
          </a:p>
          <a:p>
            <a:r>
              <a:rPr lang="en-US" altLang="ko-KR" sz="1000">
                <a:latin typeface="+mn-ea"/>
              </a:rPr>
              <a:t>while(true) {</a:t>
            </a:r>
          </a:p>
          <a:p>
            <a:r>
              <a:rPr lang="en-US" altLang="ko-KR" sz="1000">
                <a:latin typeface="+mn-ea"/>
              </a:rPr>
              <a:t>    if (subGuidList.size() == resultHolderMap.size()) {</a:t>
            </a:r>
          </a:p>
          <a:p>
            <a:r>
              <a:rPr lang="en-US" altLang="ko-KR" sz="1000">
                <a:latin typeface="+mn-ea"/>
              </a:rPr>
              <a:t>        log.info("{0} </a:t>
            </a:r>
            <a:r>
              <a:rPr lang="ko-KR" altLang="en-US" sz="1000">
                <a:latin typeface="+mn-ea"/>
              </a:rPr>
              <a:t>개 모두 완료</a:t>
            </a:r>
            <a:r>
              <a:rPr lang="en-US" altLang="ko-KR" sz="1000">
                <a:latin typeface="+mn-ea"/>
              </a:rPr>
              <a:t>", subGuidList.size());</a:t>
            </a:r>
          </a:p>
          <a:p>
            <a:r>
              <a:rPr lang="en-US" altLang="ko-KR" sz="1000">
                <a:latin typeface="+mn-ea"/>
              </a:rPr>
              <a:t>        break;</a:t>
            </a:r>
          </a:p>
          <a:p>
            <a:r>
              <a:rPr lang="en-US" altLang="ko-KR" sz="1000">
                <a:latin typeface="+mn-ea"/>
              </a:rPr>
              <a:t>    }else {</a:t>
            </a:r>
          </a:p>
          <a:p>
            <a:r>
              <a:rPr lang="en-US" altLang="ko-KR" sz="1000">
                <a:latin typeface="+mn-ea"/>
              </a:rPr>
              <a:t>        try {</a:t>
            </a:r>
          </a:p>
          <a:p>
            <a:r>
              <a:rPr lang="en-US" altLang="ko-KR" sz="1000">
                <a:latin typeface="+mn-ea"/>
              </a:rPr>
              <a:t>            Thread.sleep(1000);</a:t>
            </a:r>
          </a:p>
          <a:p>
            <a:r>
              <a:rPr lang="en-US" altLang="ko-KR" sz="1000">
                <a:latin typeface="+mn-ea"/>
              </a:rPr>
              <a:t>        }catch(InterruptedException e) {;</a:t>
            </a:r>
          </a:p>
          <a:p>
            <a:r>
              <a:rPr lang="en-US" altLang="ko-KR" sz="1000">
                <a:latin typeface="+mn-ea"/>
              </a:rPr>
              <a:t>        }</a:t>
            </a:r>
          </a:p>
          <a:p>
            <a:r>
              <a:rPr lang="en-US" altLang="ko-KR" sz="1000">
                <a:latin typeface="+mn-ea"/>
              </a:rPr>
              <a:t>         // maxWaitTime </a:t>
            </a:r>
            <a:r>
              <a:rPr lang="ko-KR" altLang="en-US" sz="1000">
                <a:latin typeface="+mn-ea"/>
              </a:rPr>
              <a:t>체크하여 시간초과시 </a:t>
            </a:r>
            <a:r>
              <a:rPr lang="en-US" altLang="ko-KR" sz="1000">
                <a:latin typeface="+mn-ea"/>
              </a:rPr>
              <a:t>timeout </a:t>
            </a:r>
            <a:r>
              <a:rPr lang="ko-KR" altLang="en-US" sz="1000">
                <a:latin typeface="+mn-ea"/>
              </a:rPr>
              <a:t>에러 발생 시켜야함</a:t>
            </a:r>
          </a:p>
          <a:p>
            <a:r>
              <a:rPr lang="ko-KR" altLang="en-US" sz="1000">
                <a:latin typeface="+mn-ea"/>
              </a:rPr>
              <a:t>    </a:t>
            </a:r>
            <a:r>
              <a:rPr lang="en-US" altLang="ko-KR" sz="1000">
                <a:latin typeface="+mn-ea"/>
              </a:rPr>
              <a:t>}</a:t>
            </a:r>
          </a:p>
          <a:p>
            <a:r>
              <a:rPr lang="en-US" altLang="ko-KR" sz="1000">
                <a:latin typeface="+mn-ea"/>
              </a:rPr>
              <a:t>}</a:t>
            </a:r>
          </a:p>
          <a:p>
            <a:r>
              <a:rPr lang="en-US" altLang="ko-KR" sz="1000">
                <a:latin typeface="+mn-ea"/>
              </a:rPr>
              <a:t>        </a:t>
            </a:r>
          </a:p>
          <a:p>
            <a:r>
              <a:rPr lang="en-US" altLang="ko-KR" sz="1000">
                <a:latin typeface="+mn-ea"/>
              </a:rPr>
              <a:t>// </a:t>
            </a:r>
            <a:r>
              <a:rPr lang="ko-KR" altLang="en-US" sz="1000">
                <a:latin typeface="+mn-ea"/>
              </a:rPr>
              <a:t>수동거래에서 </a:t>
            </a:r>
            <a:r>
              <a:rPr lang="en-US" altLang="ko-KR" sz="1000">
                <a:latin typeface="+mn-ea"/>
              </a:rPr>
              <a:t>put </a:t>
            </a:r>
            <a:r>
              <a:rPr lang="ko-KR" altLang="en-US" sz="1000">
                <a:latin typeface="+mn-ea"/>
              </a:rPr>
              <a:t>한 결과값을 꺼내 </a:t>
            </a:r>
            <a:r>
              <a:rPr lang="en-US" altLang="ko-KR" sz="1000">
                <a:latin typeface="+mn-ea"/>
              </a:rPr>
              <a:t>merge </a:t>
            </a:r>
            <a:r>
              <a:rPr lang="ko-KR" altLang="en-US" sz="1000">
                <a:latin typeface="+mn-ea"/>
              </a:rPr>
              <a:t>하여 </a:t>
            </a:r>
            <a:r>
              <a:rPr lang="en-US" altLang="ko-KR" sz="1000">
                <a:latin typeface="+mn-ea"/>
              </a:rPr>
              <a:t>responseData </a:t>
            </a:r>
            <a:r>
              <a:rPr lang="ko-KR" altLang="en-US" sz="1000">
                <a:latin typeface="+mn-ea"/>
              </a:rPr>
              <a:t>에 담음</a:t>
            </a:r>
          </a:p>
          <a:p>
            <a:r>
              <a:rPr lang="en-US" altLang="ko-KR" sz="1000">
                <a:latin typeface="+mn-ea"/>
              </a:rPr>
              <a:t>for (int i=0; i&lt;callCount; i++) {</a:t>
            </a:r>
          </a:p>
          <a:p>
            <a:r>
              <a:rPr lang="en-US" altLang="ko-KR" sz="1000">
                <a:latin typeface="+mn-ea"/>
              </a:rPr>
              <a:t>    IDataSet outData = resultHolderMap.get(subGuidList.get(i));</a:t>
            </a:r>
          </a:p>
          <a:p>
            <a:r>
              <a:rPr lang="en-US" altLang="ko-KR" sz="1000">
                <a:latin typeface="+mn-ea"/>
              </a:rPr>
              <a:t>    // outData </a:t>
            </a:r>
            <a:r>
              <a:rPr lang="ko-KR" altLang="en-US" sz="1000">
                <a:latin typeface="+mn-ea"/>
              </a:rPr>
              <a:t>들을 </a:t>
            </a:r>
            <a:r>
              <a:rPr lang="en-US" altLang="ko-KR" sz="1000">
                <a:latin typeface="+mn-ea"/>
              </a:rPr>
              <a:t>merge </a:t>
            </a:r>
            <a:r>
              <a:rPr lang="ko-KR" altLang="en-US" sz="1000">
                <a:latin typeface="+mn-ea"/>
              </a:rPr>
              <a:t>하여 </a:t>
            </a:r>
            <a:r>
              <a:rPr lang="en-US" altLang="ko-KR" sz="1000">
                <a:latin typeface="+mn-ea"/>
              </a:rPr>
              <a:t>responseData </a:t>
            </a:r>
            <a:r>
              <a:rPr lang="ko-KR" altLang="en-US" sz="1000">
                <a:latin typeface="+mn-ea"/>
              </a:rPr>
              <a:t>구성</a:t>
            </a:r>
          </a:p>
          <a:p>
            <a:r>
              <a:rPr lang="en-US" altLang="ko-KR" sz="1000">
                <a:latin typeface="+mn-ea"/>
              </a:rPr>
              <a:t>}</a:t>
            </a:r>
          </a:p>
        </p:txBody>
      </p:sp>
      <p:sp>
        <p:nvSpPr>
          <p:cNvPr id="11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387798"/>
          </a:xfrm>
        </p:spPr>
        <p:txBody>
          <a:bodyPr/>
          <a:lstStyle/>
          <a:p>
            <a:r>
              <a:rPr lang="ko-KR" altLang="en-US" sz="1400">
                <a:latin typeface="+mn-ea"/>
              </a:rPr>
              <a:t>기동거래에서 비동기 수동거래의 결과를 취합하여 리턴해야 하는 경우 메모리 참조 방법을 사용할 수 있다</a:t>
            </a:r>
            <a:r>
              <a:rPr lang="en-US" altLang="ko-KR" sz="1400">
                <a:latin typeface="+mn-ea"/>
              </a:rPr>
              <a:t>.</a:t>
            </a:r>
          </a:p>
          <a:p>
            <a:r>
              <a:rPr lang="ko-KR" altLang="en-US" sz="1400">
                <a:latin typeface="+mn-ea"/>
              </a:rPr>
              <a:t>기동거래에서 </a:t>
            </a:r>
            <a:r>
              <a:rPr lang="en-US" altLang="ko-KR" sz="1400">
                <a:latin typeface="+mn-ea"/>
              </a:rPr>
              <a:t>Holder Map </a:t>
            </a:r>
            <a:r>
              <a:rPr lang="ko-KR" altLang="en-US" sz="1400">
                <a:latin typeface="+mn-ea"/>
              </a:rPr>
              <a:t>객체를 생성하여 수동거래에 전달하고 수동거래에서는 </a:t>
            </a:r>
            <a:r>
              <a:rPr lang="en-US" altLang="ko-KR" sz="1400">
                <a:latin typeface="+mn-ea"/>
              </a:rPr>
              <a:t>Holder Map </a:t>
            </a:r>
            <a:r>
              <a:rPr lang="ko-KR" altLang="en-US" sz="1400">
                <a:latin typeface="+mn-ea"/>
              </a:rPr>
              <a:t>객체에 리턴값을 담는다</a:t>
            </a:r>
            <a:r>
              <a:rPr lang="en-US" altLang="ko-KR" sz="1400">
                <a:latin typeface="+mn-ea"/>
              </a:rPr>
              <a:t>. </a:t>
            </a:r>
            <a:endParaRPr lang="ko-KR" altLang="en-US" sz="140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9004" y="2636912"/>
            <a:ext cx="4788074" cy="28700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50">
                <a:latin typeface="+mn-ea"/>
              </a:rPr>
              <a:t>@BizMethod("</a:t>
            </a:r>
            <a:r>
              <a:rPr lang="ko-KR" altLang="en-US" sz="950">
                <a:latin typeface="+mn-ea"/>
              </a:rPr>
              <a:t>비동기 수동</a:t>
            </a:r>
            <a:r>
              <a:rPr lang="en-US" altLang="ko-KR" sz="950">
                <a:latin typeface="+mn-ea"/>
              </a:rPr>
              <a:t>")</a:t>
            </a:r>
          </a:p>
          <a:p>
            <a:r>
              <a:rPr lang="en-US" altLang="ko-KR" sz="950">
                <a:latin typeface="+mn-ea"/>
              </a:rPr>
              <a:t>public IDataSet pm EDU0300102(IDataSet requestData, IOnlineContext onlineCtx) {</a:t>
            </a:r>
          </a:p>
          <a:p>
            <a:r>
              <a:rPr lang="en-US" altLang="ko-KR" sz="950">
                <a:latin typeface="+mn-ea"/>
              </a:rPr>
              <a:t>    IDataSet responseData = new DataSet();</a:t>
            </a:r>
          </a:p>
          <a:p>
            <a:r>
              <a:rPr lang="en-US" altLang="ko-KR" sz="950">
                <a:latin typeface="+mn-ea"/>
              </a:rPr>
              <a:t>    ILog log = getLog(onlineCtx);</a:t>
            </a:r>
          </a:p>
          <a:p>
            <a:r>
              <a:rPr lang="en-US" altLang="ko-KR" sz="950">
                <a:latin typeface="+mn-ea"/>
              </a:rPr>
              <a:t>    CommonArea ca = getCommonArea(onlineCtx);</a:t>
            </a:r>
          </a:p>
          <a:p>
            <a:r>
              <a:rPr lang="en-US" altLang="ko-KR" sz="950">
                <a:latin typeface="+mn-ea"/>
              </a:rPr>
              <a:t>    try {</a:t>
            </a:r>
          </a:p>
          <a:p>
            <a:r>
              <a:rPr lang="en-US" altLang="ko-KR" sz="950">
                <a:latin typeface="+mn-ea"/>
              </a:rPr>
              <a:t>    </a:t>
            </a:r>
          </a:p>
          <a:p>
            <a:r>
              <a:rPr lang="en-US" altLang="ko-KR" sz="950">
                <a:latin typeface="+mn-ea"/>
              </a:rPr>
              <a:t>        // </a:t>
            </a:r>
            <a:r>
              <a:rPr lang="ko-KR" altLang="en-US" sz="950">
                <a:latin typeface="+mn-ea"/>
              </a:rPr>
              <a:t>결과 </a:t>
            </a:r>
            <a:r>
              <a:rPr lang="en-US" altLang="ko-KR" sz="950">
                <a:latin typeface="+mn-ea"/>
              </a:rPr>
              <a:t>dataset </a:t>
            </a:r>
            <a:r>
              <a:rPr lang="ko-KR" altLang="en-US" sz="950">
                <a:latin typeface="+mn-ea"/>
              </a:rPr>
              <a:t>을 담을 </a:t>
            </a:r>
            <a:r>
              <a:rPr lang="en-US" altLang="ko-KR" sz="950">
                <a:latin typeface="+mn-ea"/>
              </a:rPr>
              <a:t>Map. </a:t>
            </a:r>
            <a:r>
              <a:rPr lang="ko-KR" altLang="en-US" sz="950">
                <a:latin typeface="+mn-ea"/>
              </a:rPr>
              <a:t>기동이 넣어준 </a:t>
            </a:r>
            <a:r>
              <a:rPr lang="en-US" altLang="ko-KR" sz="950">
                <a:latin typeface="+mn-ea"/>
              </a:rPr>
              <a:t>Map </a:t>
            </a:r>
            <a:r>
              <a:rPr lang="ko-KR" altLang="en-US" sz="950">
                <a:latin typeface="+mn-ea"/>
              </a:rPr>
              <a:t>객체</a:t>
            </a:r>
          </a:p>
          <a:p>
            <a:r>
              <a:rPr lang="ko-KR" altLang="en-US" sz="950">
                <a:latin typeface="+mn-ea"/>
              </a:rPr>
              <a:t>        </a:t>
            </a:r>
            <a:r>
              <a:rPr lang="en-US" altLang="ko-KR" sz="950">
                <a:latin typeface="+mn-ea"/>
              </a:rPr>
              <a:t>Map&lt;String,IDataSet&gt; resultHolderMap </a:t>
            </a:r>
          </a:p>
          <a:p>
            <a:r>
              <a:rPr lang="en-US" altLang="ko-KR" sz="950">
                <a:latin typeface="+mn-ea"/>
              </a:rPr>
              <a:t>                   =  (Map&lt;String, DataSet&gt;)requestData.get("RESULT_HOLDER_MAP");</a:t>
            </a:r>
          </a:p>
          <a:p>
            <a:r>
              <a:rPr lang="en-US" altLang="ko-KR" sz="950">
                <a:latin typeface="+mn-ea"/>
              </a:rPr>
              <a:t>    </a:t>
            </a:r>
          </a:p>
          <a:p>
            <a:r>
              <a:rPr lang="en-US" altLang="ko-KR" sz="950">
                <a:latin typeface="+mn-ea"/>
              </a:rPr>
              <a:t>        // </a:t>
            </a:r>
            <a:r>
              <a:rPr lang="ko-KR" altLang="en-US" sz="950">
                <a:latin typeface="+mn-ea"/>
              </a:rPr>
              <a:t>결과 </a:t>
            </a:r>
            <a:r>
              <a:rPr lang="en-US" altLang="ko-KR" sz="950">
                <a:latin typeface="+mn-ea"/>
              </a:rPr>
              <a:t>Map </a:t>
            </a:r>
            <a:r>
              <a:rPr lang="ko-KR" altLang="en-US" sz="950">
                <a:latin typeface="+mn-ea"/>
              </a:rPr>
              <a:t>의 </a:t>
            </a:r>
            <a:r>
              <a:rPr lang="en-US" altLang="ko-KR" sz="950">
                <a:latin typeface="+mn-ea"/>
              </a:rPr>
              <a:t>Key </a:t>
            </a:r>
            <a:r>
              <a:rPr lang="ko-KR" altLang="en-US" sz="950">
                <a:latin typeface="+mn-ea"/>
              </a:rPr>
              <a:t>는 </a:t>
            </a:r>
            <a:r>
              <a:rPr lang="en-US" altLang="ko-KR" sz="950">
                <a:latin typeface="+mn-ea"/>
              </a:rPr>
              <a:t>GUID </a:t>
            </a:r>
            <a:r>
              <a:rPr lang="ko-KR" altLang="en-US" sz="950">
                <a:latin typeface="+mn-ea"/>
              </a:rPr>
              <a:t>로</a:t>
            </a:r>
          </a:p>
          <a:p>
            <a:r>
              <a:rPr lang="ko-KR" altLang="en-US" sz="950">
                <a:latin typeface="+mn-ea"/>
              </a:rPr>
              <a:t>        </a:t>
            </a:r>
            <a:r>
              <a:rPr lang="en-US" altLang="ko-KR" sz="950" b="1">
                <a:solidFill>
                  <a:srgbClr val="0000FF"/>
                </a:solidFill>
                <a:latin typeface="+mn-ea"/>
              </a:rPr>
              <a:t>resultHolderMap.put</a:t>
            </a:r>
            <a:r>
              <a:rPr lang="en-US" altLang="ko-KR" sz="950">
                <a:latin typeface="+mn-ea"/>
              </a:rPr>
              <a:t>(onlineCtx.getGlobId(), responseData);</a:t>
            </a:r>
          </a:p>
          <a:p>
            <a:r>
              <a:rPr lang="en-US" altLang="ko-KR" sz="950">
                <a:latin typeface="+mn-ea"/>
              </a:rPr>
              <a:t>    }catch(Exception e) {</a:t>
            </a:r>
          </a:p>
          <a:p>
            <a:r>
              <a:rPr lang="en-US" altLang="ko-KR" sz="950">
                <a:latin typeface="+mn-ea"/>
              </a:rPr>
              <a:t>        // </a:t>
            </a:r>
            <a:r>
              <a:rPr lang="ko-KR" altLang="en-US" sz="950">
                <a:latin typeface="+mn-ea"/>
              </a:rPr>
              <a:t>에러처리     </a:t>
            </a:r>
          </a:p>
          <a:p>
            <a:r>
              <a:rPr lang="ko-KR" altLang="en-US" sz="950">
                <a:latin typeface="+mn-ea"/>
              </a:rPr>
              <a:t>    </a:t>
            </a:r>
            <a:r>
              <a:rPr lang="en-US" altLang="ko-KR" sz="950">
                <a:latin typeface="+mn-ea"/>
              </a:rPr>
              <a:t>}</a:t>
            </a:r>
          </a:p>
          <a:p>
            <a:r>
              <a:rPr lang="en-US" altLang="ko-KR" sz="950">
                <a:latin typeface="+mn-ea"/>
              </a:rPr>
              <a:t>    </a:t>
            </a:r>
          </a:p>
          <a:p>
            <a:r>
              <a:rPr lang="en-US" altLang="ko-KR" sz="950">
                <a:latin typeface="+mn-ea"/>
              </a:rPr>
              <a:t>    return responseData;</a:t>
            </a:r>
          </a:p>
          <a:p>
            <a:r>
              <a:rPr lang="en-US" altLang="ko-KR" sz="950">
                <a:latin typeface="+mn-ea"/>
              </a:rPr>
              <a:t>}</a:t>
            </a:r>
          </a:p>
        </p:txBody>
      </p:sp>
      <p:cxnSp>
        <p:nvCxnSpPr>
          <p:cNvPr id="22" name="꺾인 연결선 21"/>
          <p:cNvCxnSpPr/>
          <p:nvPr/>
        </p:nvCxnSpPr>
        <p:spPr>
          <a:xfrm>
            <a:off x="2432720" y="3140968"/>
            <a:ext cx="2556284" cy="360040"/>
          </a:xfrm>
          <a:prstGeom prst="bentConnector3">
            <a:avLst>
              <a:gd name="adj1" fmla="val 56"/>
            </a:avLst>
          </a:prstGeom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3426" y="1145853"/>
            <a:ext cx="76737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b="1">
                <a:cs typeface="Arial" pitchFamily="34" charset="0"/>
              </a:rPr>
              <a:t>기동거래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53618" y="2385920"/>
            <a:ext cx="76737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b="1">
                <a:cs typeface="Arial" pitchFamily="34" charset="0"/>
              </a:rPr>
              <a:t>수동거래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839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8999608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</a:t>
            </a:r>
            <a:r>
              <a:rPr lang="ko-KR" altLang="en-US"/>
              <a:t>타 컴포넌트 호출 </a:t>
            </a:r>
            <a:r>
              <a:rPr lang="en-US" altLang="ko-KR"/>
              <a:t>(</a:t>
            </a:r>
            <a:r>
              <a:rPr lang="ko-KR" altLang="en-US"/>
              <a:t>연동거래</a:t>
            </a:r>
            <a:r>
              <a:rPr lang="en-US" altLang="ko-KR"/>
              <a:t>) </a:t>
            </a:r>
            <a:endParaRPr lang="ko-KR" altLang="en-US" dirty="0"/>
          </a:p>
        </p:txBody>
      </p:sp>
      <p:sp>
        <p:nvSpPr>
          <p:cNvPr id="1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72019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sz="1200">
                <a:latin typeface="+mn-ea"/>
              </a:rPr>
              <a:t>연동거래시 거래마다 각자의 </a:t>
            </a:r>
            <a:r>
              <a:rPr lang="en-US" altLang="ko-KR" sz="1200">
                <a:latin typeface="+mn-ea"/>
              </a:rPr>
              <a:t>CommonArea </a:t>
            </a:r>
            <a:r>
              <a:rPr lang="ko-KR" altLang="en-US" sz="1200">
                <a:latin typeface="+mn-ea"/>
              </a:rPr>
              <a:t>메모리 영역을 갖고 있으며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연동 호출시 기동에서 수동으로 각 영역의 값을 복제하여 넘겨주고 수동거래 종료시 수동에서 세팅된 일부의 값들이 선택적으로 기동의 </a:t>
            </a:r>
            <a:r>
              <a:rPr lang="en-US" altLang="ko-KR" sz="1200">
                <a:latin typeface="+mn-ea"/>
              </a:rPr>
              <a:t>CommonArea </a:t>
            </a:r>
            <a:r>
              <a:rPr lang="ko-KR" altLang="en-US" sz="1200">
                <a:latin typeface="+mn-ea"/>
              </a:rPr>
              <a:t>영역으로 역복제된다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latin typeface="+mn-ea"/>
              </a:rPr>
              <a:t>CommonArea </a:t>
            </a:r>
            <a:r>
              <a:rPr lang="ko-KR" altLang="en-US" sz="1200">
                <a:latin typeface="+mn-ea"/>
              </a:rPr>
              <a:t>복제의 기본원칙은 </a:t>
            </a:r>
            <a:r>
              <a:rPr lang="en-US" altLang="ko-KR" sz="1200" u="sng">
                <a:latin typeface="+mn-ea"/>
              </a:rPr>
              <a:t>SICOM, BICOM, BOCOM</a:t>
            </a:r>
            <a:r>
              <a:rPr lang="ko-KR" altLang="en-US" sz="1200" u="sng">
                <a:latin typeface="+mn-ea"/>
              </a:rPr>
              <a:t>은 프레임워크에서 복제</a:t>
            </a:r>
            <a:r>
              <a:rPr lang="ko-KR" altLang="en-US" sz="1200">
                <a:latin typeface="+mn-ea"/>
              </a:rPr>
              <a:t>하며 이후 영역은 </a:t>
            </a:r>
            <a:r>
              <a:rPr lang="ko-KR" altLang="en-US" sz="1200" u="sng">
                <a:latin typeface="+mn-ea"/>
              </a:rPr>
              <a:t>각 업무 선후처리 </a:t>
            </a:r>
            <a:r>
              <a:rPr lang="en-US" altLang="ko-KR" sz="1200" u="sng">
                <a:latin typeface="+mn-ea"/>
              </a:rPr>
              <a:t>FM</a:t>
            </a:r>
            <a:r>
              <a:rPr lang="ko-KR" altLang="en-US" sz="1200" u="sng">
                <a:latin typeface="+mn-ea"/>
              </a:rPr>
              <a:t>에서 선별하여 복제</a:t>
            </a:r>
            <a:r>
              <a:rPr lang="ko-KR" altLang="en-US" sz="1200">
                <a:latin typeface="+mn-ea"/>
              </a:rPr>
              <a:t>한다</a:t>
            </a:r>
            <a:r>
              <a:rPr lang="en-US" altLang="ko-KR" sz="1200">
                <a:latin typeface="+mn-ea"/>
              </a:rPr>
              <a:t>.</a:t>
            </a:r>
            <a:endParaRPr lang="ko-KR" altLang="en-US" sz="120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884" y="1893017"/>
            <a:ext cx="9066854" cy="452431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CommonArea ca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getCommonArea(onlineCtx)</a:t>
            </a:r>
            <a:r>
              <a:rPr lang="en-US" altLang="ko-KR" sz="1200">
                <a:latin typeface="+mn-ea"/>
              </a:rPr>
              <a:t>;  </a:t>
            </a:r>
            <a:r>
              <a:rPr lang="en-US" altLang="ko-KR" sz="1200" b="1">
                <a:latin typeface="+mn-ea"/>
              </a:rPr>
              <a:t>// </a:t>
            </a:r>
            <a:r>
              <a:rPr lang="ko-KR" altLang="en-US" sz="1200" b="1">
                <a:latin typeface="+mn-ea"/>
              </a:rPr>
              <a:t>현재거래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수동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>
                <a:latin typeface="+mn-ea"/>
              </a:rPr>
              <a:t> </a:t>
            </a:r>
            <a:r>
              <a:rPr lang="en-US" altLang="ko-KR" sz="1200" b="1">
                <a:latin typeface="+mn-ea"/>
              </a:rPr>
              <a:t>CA</a:t>
            </a:r>
          </a:p>
          <a:p>
            <a:r>
              <a:rPr lang="en-US" altLang="ko-KR" sz="1200">
                <a:latin typeface="+mn-ea"/>
              </a:rPr>
              <a:t>IDataSet </a:t>
            </a:r>
            <a:r>
              <a:rPr lang="en-US" altLang="ko-KR" sz="1200" b="1">
                <a:latin typeface="+mn-ea"/>
              </a:rPr>
              <a:t>globalCAThis</a:t>
            </a:r>
            <a:r>
              <a:rPr lang="en-US" altLang="ko-KR" sz="1200">
                <a:latin typeface="+mn-ea"/>
              </a:rPr>
              <a:t> = ca.getBizCom("GL"); //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CA (</a:t>
            </a:r>
            <a:r>
              <a:rPr lang="ko-KR" altLang="en-US" sz="1200">
                <a:latin typeface="+mn-ea"/>
              </a:rPr>
              <a:t>수동거래</a:t>
            </a:r>
            <a:r>
              <a:rPr lang="en-US" altLang="ko-KR" sz="1200">
                <a:latin typeface="+mn-ea"/>
              </a:rPr>
              <a:t>) </a:t>
            </a:r>
            <a:r>
              <a:rPr lang="ko-KR" altLang="en-US" sz="1200">
                <a:latin typeface="+mn-ea"/>
              </a:rPr>
              <a:t>의 글로벌 영역</a:t>
            </a:r>
          </a:p>
          <a:p>
            <a:endParaRPr lang="ko-KR" altLang="en-US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if ("1".equals(ca.getBiCom().getCupldTranDstcd())) {  </a:t>
            </a:r>
            <a:r>
              <a:rPr lang="en-US" altLang="ko-KR" sz="1200" b="1">
                <a:latin typeface="+mn-ea"/>
              </a:rPr>
              <a:t>// </a:t>
            </a:r>
            <a:r>
              <a:rPr lang="ko-KR" altLang="en-US" sz="1200" b="1">
                <a:latin typeface="+mn-ea"/>
              </a:rPr>
              <a:t>기동거래</a:t>
            </a:r>
            <a:endParaRPr lang="en-US" altLang="ko-KR" sz="1200" b="1">
              <a:latin typeface="+mn-ea"/>
            </a:endParaRPr>
          </a:p>
          <a:p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// </a:t>
            </a:r>
            <a:r>
              <a:rPr lang="ko-KR" altLang="en-US" sz="1200">
                <a:latin typeface="+mn-ea"/>
              </a:rPr>
              <a:t>최초 기동거래이므로 </a:t>
            </a:r>
            <a:r>
              <a:rPr lang="en-US" altLang="ko-KR" sz="1200">
                <a:latin typeface="+mn-ea"/>
              </a:rPr>
              <a:t>CommonArea </a:t>
            </a:r>
            <a:r>
              <a:rPr lang="ko-KR" altLang="en-US" sz="1200">
                <a:latin typeface="+mn-ea"/>
              </a:rPr>
              <a:t>값 초기화함</a:t>
            </a: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globalCAThis.put("A", "1"); </a:t>
            </a:r>
          </a:p>
          <a:p>
            <a:r>
              <a:rPr lang="en-US" altLang="ko-KR" sz="1200">
                <a:latin typeface="+mn-ea"/>
              </a:rPr>
              <a:t>    globalCAThis.put("B", "22");</a:t>
            </a:r>
          </a:p>
          <a:p>
            <a:r>
              <a:rPr lang="en-US" altLang="ko-KR" sz="1200">
                <a:latin typeface="+mn-ea"/>
              </a:rPr>
              <a:t>    globalCAThis.put("C", "333");</a:t>
            </a:r>
          </a:p>
          <a:p>
            <a:r>
              <a:rPr lang="en-US" altLang="ko-KR" sz="1200">
                <a:latin typeface="+mn-ea"/>
              </a:rPr>
              <a:t>    globalCAThis.put("D", "4444"); </a:t>
            </a: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}else {                                                                          </a:t>
            </a:r>
            <a:r>
              <a:rPr lang="en-US" altLang="ko-KR" sz="1200" b="1">
                <a:latin typeface="+mn-ea"/>
              </a:rPr>
              <a:t> // </a:t>
            </a:r>
            <a:r>
              <a:rPr lang="ko-KR" altLang="en-US" sz="1200" b="1">
                <a:latin typeface="+mn-ea"/>
              </a:rPr>
              <a:t>수동거래</a:t>
            </a:r>
            <a:endParaRPr lang="en-US" altLang="ko-KR" sz="1200" b="1">
              <a:latin typeface="+mn-ea"/>
            </a:endParaRPr>
          </a:p>
          <a:p>
            <a:endParaRPr lang="ko-KR" altLang="en-US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// </a:t>
            </a:r>
            <a:r>
              <a:rPr lang="ko-KR" altLang="en-US" sz="1200">
                <a:latin typeface="+mn-ea"/>
              </a:rPr>
              <a:t>수동 거래이므로 기동의 값들을 선별하여 </a:t>
            </a:r>
            <a:r>
              <a:rPr lang="en-US" altLang="ko-KR" sz="1200">
                <a:latin typeface="+mn-ea"/>
              </a:rPr>
              <a:t>this 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set</a:t>
            </a:r>
          </a:p>
          <a:p>
            <a:r>
              <a:rPr lang="en-US" altLang="ko-KR" sz="1200">
                <a:latin typeface="+mn-ea"/>
              </a:rPr>
              <a:t>    CommonArea callerCA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getCallerCommonArea(onlineCtx)</a:t>
            </a:r>
            <a:r>
              <a:rPr lang="en-US" altLang="ko-KR" sz="1200">
                <a:latin typeface="+mn-ea"/>
              </a:rPr>
              <a:t>; </a:t>
            </a:r>
            <a:r>
              <a:rPr lang="en-US" altLang="ko-KR" sz="1200" b="1">
                <a:latin typeface="+mn-ea"/>
              </a:rPr>
              <a:t>// </a:t>
            </a:r>
            <a:r>
              <a:rPr lang="ko-KR" altLang="en-US" sz="1200" b="1">
                <a:latin typeface="+mn-ea"/>
              </a:rPr>
              <a:t>수동거래에서 기동거래의 </a:t>
            </a:r>
            <a:r>
              <a:rPr lang="en-US" altLang="ko-KR" sz="1200" b="1">
                <a:latin typeface="+mn-ea"/>
              </a:rPr>
              <a:t>CA </a:t>
            </a:r>
            <a:r>
              <a:rPr lang="ko-KR" altLang="en-US" sz="1200" b="1">
                <a:latin typeface="+mn-ea"/>
              </a:rPr>
              <a:t>를 조회함</a:t>
            </a: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IDataSet </a:t>
            </a:r>
            <a:r>
              <a:rPr lang="en-US" altLang="ko-KR" sz="1200" b="1">
                <a:latin typeface="+mn-ea"/>
              </a:rPr>
              <a:t>globalCACaller</a:t>
            </a:r>
            <a:r>
              <a:rPr lang="en-US" altLang="ko-KR" sz="1200">
                <a:latin typeface="+mn-ea"/>
              </a:rPr>
              <a:t> = callerCA.getBizCom("GL"); // </a:t>
            </a:r>
            <a:r>
              <a:rPr lang="ko-KR" altLang="en-US" sz="1200">
                <a:latin typeface="+mn-ea"/>
              </a:rPr>
              <a:t>기동 </a:t>
            </a:r>
            <a:r>
              <a:rPr lang="en-US" altLang="ko-KR" sz="1200">
                <a:latin typeface="+mn-ea"/>
              </a:rPr>
              <a:t>CA</a:t>
            </a:r>
          </a:p>
          <a:p>
            <a:r>
              <a:rPr lang="en-US" altLang="ko-KR" sz="1200">
                <a:latin typeface="+mn-ea"/>
              </a:rPr>
              <a:t>    </a:t>
            </a:r>
          </a:p>
          <a:p>
            <a:r>
              <a:rPr lang="en-US" altLang="ko-KR" sz="1200">
                <a:latin typeface="+mn-ea"/>
              </a:rPr>
              <a:t>    // </a:t>
            </a:r>
            <a:r>
              <a:rPr lang="ko-KR" altLang="en-US" sz="1200">
                <a:latin typeface="+mn-ea"/>
              </a:rPr>
              <a:t>선처리에서 기동의 </a:t>
            </a:r>
            <a:r>
              <a:rPr lang="en-US" altLang="ko-KR" sz="1200">
                <a:latin typeface="+mn-ea"/>
              </a:rPr>
              <a:t>CA </a:t>
            </a:r>
            <a:r>
              <a:rPr lang="ko-KR" altLang="en-US" sz="1200">
                <a:latin typeface="+mn-ea"/>
              </a:rPr>
              <a:t>값 조회하여 수동 </a:t>
            </a:r>
            <a:r>
              <a:rPr lang="en-US" altLang="ko-KR" sz="1200">
                <a:latin typeface="+mn-ea"/>
              </a:rPr>
              <a:t>CA </a:t>
            </a:r>
            <a:r>
              <a:rPr lang="ko-KR" altLang="en-US" sz="1200">
                <a:latin typeface="+mn-ea"/>
              </a:rPr>
              <a:t>에 넣어줌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예</a:t>
            </a:r>
            <a:r>
              <a:rPr lang="en-US" altLang="ko-KR" sz="1200">
                <a:latin typeface="+mn-ea"/>
              </a:rPr>
              <a:t>) A, B </a:t>
            </a:r>
          </a:p>
          <a:p>
            <a:r>
              <a:rPr lang="en-US" altLang="ko-KR" sz="1200">
                <a:latin typeface="+mn-ea"/>
              </a:rPr>
              <a:t>    globalCAThis.put("A", </a:t>
            </a:r>
            <a:r>
              <a:rPr lang="en-US" altLang="ko-KR" sz="1200" b="1">
                <a:latin typeface="+mn-ea"/>
              </a:rPr>
              <a:t>globalCACaller.getString("A")</a:t>
            </a:r>
            <a:r>
              <a:rPr lang="en-US" altLang="ko-KR" sz="1200">
                <a:latin typeface="+mn-ea"/>
              </a:rPr>
              <a:t>);    // </a:t>
            </a:r>
            <a:r>
              <a:rPr lang="ko-KR" altLang="en-US" sz="1200">
                <a:latin typeface="+mn-ea"/>
              </a:rPr>
              <a:t>기동에서의 </a:t>
            </a:r>
            <a:r>
              <a:rPr lang="en-US" altLang="ko-KR" sz="1200">
                <a:latin typeface="+mn-ea"/>
              </a:rPr>
              <a:t>A,B </a:t>
            </a:r>
            <a:r>
              <a:rPr lang="ko-KR" altLang="en-US" sz="1200">
                <a:latin typeface="+mn-ea"/>
              </a:rPr>
              <a:t>값으로 수동에 전달</a:t>
            </a: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globalCAThis.put("B", </a:t>
            </a:r>
            <a:r>
              <a:rPr lang="en-US" altLang="ko-KR" sz="1200" b="1">
                <a:latin typeface="+mn-ea"/>
              </a:rPr>
              <a:t>globalCACaller.getString("B")</a:t>
            </a:r>
            <a:r>
              <a:rPr lang="en-US" altLang="ko-KR" sz="1200">
                <a:latin typeface="+mn-ea"/>
              </a:rPr>
              <a:t>);</a:t>
            </a:r>
          </a:p>
          <a:p>
            <a:r>
              <a:rPr lang="en-US" altLang="ko-KR" sz="1200">
                <a:latin typeface="+mn-ea"/>
              </a:rPr>
              <a:t>    globalCAThis.put("C", "333");                                          // C,D </a:t>
            </a:r>
            <a:r>
              <a:rPr lang="ko-KR" altLang="en-US" sz="1200">
                <a:latin typeface="+mn-ea"/>
              </a:rPr>
              <a:t>는 기동의 값으로 하지 않고 기본 값으로 재생성</a:t>
            </a:r>
          </a:p>
          <a:p>
            <a:r>
              <a:rPr lang="ko-KR" altLang="en-US" sz="1200">
                <a:latin typeface="+mn-ea"/>
              </a:rPr>
              <a:t>    </a:t>
            </a:r>
            <a:r>
              <a:rPr lang="en-US" altLang="ko-KR" sz="1200">
                <a:latin typeface="+mn-ea"/>
              </a:rPr>
              <a:t>globalCAThis.put("D", "4444");</a:t>
            </a: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484" y="1603636"/>
            <a:ext cx="3068322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>
                <a:cs typeface="Arial" pitchFamily="34" charset="0"/>
              </a:rPr>
              <a:t>업무 선처리 </a:t>
            </a:r>
            <a:r>
              <a:rPr lang="en-US" altLang="ko-KR" sz="1400">
                <a:cs typeface="Arial" pitchFamily="34" charset="0"/>
              </a:rPr>
              <a:t>CommonArea </a:t>
            </a:r>
            <a:r>
              <a:rPr lang="ko-KR" altLang="en-US" sz="1400">
                <a:cs typeface="Arial" pitchFamily="34" charset="0"/>
              </a:rPr>
              <a:t>복제 예제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648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 </a:t>
            </a:r>
            <a:r>
              <a:rPr lang="en-US" altLang="ko-KR"/>
              <a:t>(</a:t>
            </a:r>
            <a:r>
              <a:rPr lang="ko-KR" altLang="en-US"/>
              <a:t>동기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8044" y="789173"/>
            <a:ext cx="9143468" cy="443583"/>
          </a:xfrm>
        </p:spPr>
        <p:txBody>
          <a:bodyPr/>
          <a:lstStyle/>
          <a:p>
            <a:r>
              <a:rPr lang="ko-KR" altLang="en-US"/>
              <a:t>거래 실행 중에 </a:t>
            </a:r>
            <a:r>
              <a:rPr lang="en-US" altLang="ko-KR"/>
              <a:t>EAI, MCI </a:t>
            </a:r>
            <a:r>
              <a:rPr lang="ko-KR" altLang="en-US"/>
              <a:t>등을 호출하는 것을 </a:t>
            </a:r>
            <a:r>
              <a:rPr lang="en-US" altLang="ko-KR"/>
              <a:t>Outbound</a:t>
            </a:r>
            <a:r>
              <a:rPr lang="ko-KR" altLang="en-US"/>
              <a:t>라고 한다</a:t>
            </a:r>
            <a:r>
              <a:rPr lang="en-US" altLang="ko-KR"/>
              <a:t>.</a:t>
            </a:r>
          </a:p>
          <a:p>
            <a:r>
              <a:rPr lang="ko-KR" altLang="en-US"/>
              <a:t>호출 후 응답을 기다려서 받는 동기 방식은 </a:t>
            </a:r>
            <a:r>
              <a:rPr lang="en-US" altLang="ko-KR" b="1"/>
              <a:t>CallOutbound</a:t>
            </a:r>
            <a:r>
              <a:rPr lang="ko-KR" altLang="en-US"/>
              <a:t>이며 하나의 </a:t>
            </a:r>
            <a:r>
              <a:rPr lang="en-US" altLang="ko-KR"/>
              <a:t>PM</a:t>
            </a:r>
            <a:r>
              <a:rPr lang="ko-KR" altLang="en-US"/>
              <a:t>에서 요청</a:t>
            </a:r>
            <a:r>
              <a:rPr lang="en-US" altLang="ko-KR"/>
              <a:t>/</a:t>
            </a:r>
            <a:r>
              <a:rPr lang="ko-KR" altLang="en-US"/>
              <a:t>응답을 처리한다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1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72852"/>
              </p:ext>
            </p:extLst>
          </p:nvPr>
        </p:nvGraphicFramePr>
        <p:xfrm>
          <a:off x="488504" y="1412776"/>
          <a:ext cx="8820824" cy="2597301"/>
        </p:xfrm>
        <a:graphic>
          <a:graphicData uri="http://schemas.openxmlformats.org/drawingml/2006/table">
            <a:tbl>
              <a:tblPr/>
              <a:tblGrid>
                <a:gridCol w="831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4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39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전문 패턴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동기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IOutboundResponse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callOutbound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</a:t>
                      </a:r>
                      <a:r>
                        <a:rPr lang="en-US" altLang="ko-KR" sz="1100" b="0" u="non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IOutboundTarget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kind,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IOutboundHeader header,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ByteArrayWrap requestData,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기본 타임아웃 적용</a:t>
                      </a:r>
                      <a:r>
                        <a:rPr kumimoji="1" lang="en-US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1" lang="ko-KR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기본 타임아웃 별도 정의</a:t>
                      </a:r>
                      <a:r>
                        <a:rPr kumimoji="1" lang="en-US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</a:t>
                      </a:r>
                      <a:r>
                        <a:rPr kumimoji="1" lang="en-US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EAI </a:t>
                      </a:r>
                      <a:r>
                        <a:rPr kumimoji="1" lang="ko-KR" altLang="ko-KR" sz="11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동기 호출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0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IOutboundResponse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callOutbound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</a:t>
                      </a:r>
                      <a:r>
                        <a:rPr lang="en-US" altLang="ko-KR" sz="1100" b="0" u="sng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IOutboundTarget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kind,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IOutboundHeader header,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ByteArrayWrap requestData,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int timeoutSeconds,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Sync timeout(</a:t>
                      </a:r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초단위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지정하여 동기 호출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80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96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 </a:t>
            </a:r>
            <a:r>
              <a:rPr lang="en-US" altLang="ko-KR"/>
              <a:t>(</a:t>
            </a:r>
            <a:r>
              <a:rPr lang="ko-KR" altLang="en-US"/>
              <a:t>동기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1282" y="1250754"/>
            <a:ext cx="9253028" cy="32316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200" b="1">
              <a:latin typeface="+mn-ea"/>
            </a:endParaRPr>
          </a:p>
          <a:p>
            <a:r>
              <a:rPr lang="en-US" altLang="ko-KR" sz="1200">
                <a:latin typeface="+mn-ea"/>
              </a:rPr>
              <a:t>    </a:t>
            </a:r>
            <a:r>
              <a:rPr lang="en-US" altLang="ko-KR" sz="1200" b="1">
                <a:latin typeface="+mn-ea"/>
              </a:rPr>
              <a:t>OutboundHeader</a:t>
            </a:r>
            <a:r>
              <a:rPr lang="en-US" altLang="ko-KR" sz="1200">
                <a:latin typeface="+mn-ea"/>
              </a:rPr>
              <a:t> eaiHeader = new OutboundHeader(onlineCtx);</a:t>
            </a:r>
            <a:endParaRPr lang="ko-KR" altLang="ko-KR" sz="1200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KBMessage</a:t>
            </a:r>
            <a:r>
              <a:rPr lang="en-US" altLang="ko-KR" sz="1200">
                <a:latin typeface="+mn-ea"/>
              </a:rPr>
              <a:t> kbmsg = eaiHeader.getKBMessage();</a:t>
            </a:r>
            <a:endParaRPr lang="ko-KR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//</a:t>
            </a:r>
            <a:r>
              <a:rPr lang="ko-KR" altLang="en-US" sz="1200">
                <a:latin typeface="+mn-ea"/>
              </a:rPr>
              <a:t>표준전문 세팅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kbmsg.getHeaderType().setStndCicsTrncd(“FAE$”); // CICS </a:t>
            </a:r>
            <a:r>
              <a:rPr lang="ko-KR" altLang="ko-KR" sz="1200">
                <a:latin typeface="+mn-ea"/>
              </a:rPr>
              <a:t>트랜잭션 코드 </a:t>
            </a:r>
          </a:p>
          <a:p>
            <a:r>
              <a:rPr lang="en-US" altLang="ko-KR" sz="1200">
                <a:latin typeface="+mn-ea"/>
              </a:rPr>
              <a:t>    kbmsg.getHeaderType().setStndPrcssTCicsTrncd(“FA01”); // </a:t>
            </a:r>
            <a:r>
              <a:rPr lang="ko-KR" altLang="ko-KR" sz="1200">
                <a:latin typeface="+mn-ea"/>
              </a:rPr>
              <a:t>처리대상 </a:t>
            </a:r>
            <a:r>
              <a:rPr lang="en-US" altLang="ko-KR" sz="1200">
                <a:latin typeface="+mn-ea"/>
              </a:rPr>
              <a:t>CICS </a:t>
            </a:r>
            <a:r>
              <a:rPr lang="ko-KR" altLang="ko-KR" sz="1200">
                <a:latin typeface="+mn-ea"/>
              </a:rPr>
              <a:t>트랜잭션 코드</a:t>
            </a:r>
          </a:p>
          <a:p>
            <a:r>
              <a:rPr lang="en-US" altLang="ko-KR" sz="1200">
                <a:latin typeface="+mn-ea"/>
              </a:rPr>
              <a:t> </a:t>
            </a:r>
            <a:endParaRPr lang="ko-KR" altLang="ko-KR" sz="1200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ByteArrayWrap</a:t>
            </a:r>
            <a:r>
              <a:rPr lang="en-US" altLang="ko-KR" sz="1200">
                <a:latin typeface="+mn-ea"/>
              </a:rPr>
              <a:t> eaiSendTelgm = </a:t>
            </a:r>
            <a:r>
              <a:rPr lang="en-US" altLang="ko-KR" sz="1200" b="1">
                <a:latin typeface="+mn-ea"/>
              </a:rPr>
              <a:t>EAITransformer.</a:t>
            </a:r>
            <a:r>
              <a:rPr lang="en-US" altLang="ko-KR" sz="1200" b="1" i="1">
                <a:latin typeface="+mn-ea"/>
              </a:rPr>
              <a:t>convertToEAIMessage</a:t>
            </a:r>
            <a:r>
              <a:rPr lang="en-US" altLang="ko-KR" sz="1200">
                <a:latin typeface="+mn-ea"/>
              </a:rPr>
              <a:t>(kbmsg, responseData, </a:t>
            </a:r>
            <a:r>
              <a:rPr lang="en-US" altLang="ko-KR" sz="1200" b="1">
                <a:latin typeface="+mn-ea"/>
              </a:rPr>
              <a:t>&lt;</a:t>
            </a:r>
            <a:r>
              <a:rPr lang="ko-KR" altLang="en-US" sz="1200" b="1">
                <a:latin typeface="+mn-ea"/>
              </a:rPr>
              <a:t>요청 </a:t>
            </a:r>
            <a:r>
              <a:rPr lang="en-US" altLang="ko-KR" sz="1200" b="1">
                <a:latin typeface="+mn-ea"/>
              </a:rPr>
              <a:t>XIO</a:t>
            </a:r>
            <a:r>
              <a:rPr lang="ko-KR" altLang="ko-KR" sz="1200" b="1">
                <a:latin typeface="+mn-ea"/>
              </a:rPr>
              <a:t>아이디</a:t>
            </a:r>
            <a:r>
              <a:rPr lang="en-US" altLang="ko-KR" sz="1200" b="1">
                <a:latin typeface="+mn-ea"/>
              </a:rPr>
              <a:t>&gt;, </a:t>
            </a:r>
            <a:r>
              <a:rPr lang="en-US" altLang="ko-KR" sz="1200">
                <a:latin typeface="+mn-ea"/>
              </a:rPr>
              <a:t>true, onlineCtx); 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		    </a:t>
            </a:r>
            <a:endParaRPr lang="ko-KR" altLang="ko-KR" sz="1200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// </a:t>
            </a:r>
            <a:r>
              <a:rPr lang="ko-KR" altLang="en-US" sz="1200" b="1">
                <a:latin typeface="+mn-ea"/>
              </a:rPr>
              <a:t>동기호출</a:t>
            </a:r>
            <a:endParaRPr lang="en-US" altLang="ko-KR" sz="1200" b="1">
              <a:latin typeface="+mn-ea"/>
            </a:endParaRPr>
          </a:p>
          <a:p>
            <a:r>
              <a:rPr lang="en-US" altLang="ko-KR" sz="1200">
                <a:latin typeface="+mn-ea"/>
              </a:rPr>
              <a:t>    IOutboundResponse eaiRecv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callOutbound</a:t>
            </a:r>
            <a:r>
              <a:rPr lang="en-US" altLang="ko-KR" sz="1200">
                <a:latin typeface="+mn-ea"/>
              </a:rPr>
              <a:t>(</a:t>
            </a:r>
            <a:r>
              <a:rPr lang="en-US" altLang="ko-KR" sz="1200" u="sng">
                <a:latin typeface="+mn-ea"/>
              </a:rPr>
              <a:t>OutboundTarget.</a:t>
            </a:r>
            <a:r>
              <a:rPr lang="en-US" altLang="ko-KR" sz="1200" i="1" u="sng">
                <a:latin typeface="+mn-ea"/>
              </a:rPr>
              <a:t>EAI1</a:t>
            </a:r>
            <a:r>
              <a:rPr lang="en-US" altLang="ko-KR" sz="1200">
                <a:latin typeface="+mn-ea"/>
              </a:rPr>
              <a:t>, eaiHeader, eaiSendTelgm, onlineCtx);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 </a:t>
            </a:r>
          </a:p>
          <a:p>
            <a:r>
              <a:rPr lang="en-US" altLang="ko-KR" sz="1200">
                <a:latin typeface="+mn-ea"/>
              </a:rPr>
              <a:t>    </a:t>
            </a:r>
            <a:r>
              <a:rPr lang="en-US" altLang="ko-KR" sz="1200" b="1">
                <a:latin typeface="+mn-ea"/>
              </a:rPr>
              <a:t>//</a:t>
            </a:r>
            <a:r>
              <a:rPr lang="ko-KR" altLang="en-US" sz="1200" b="1">
                <a:latin typeface="+mn-ea"/>
              </a:rPr>
              <a:t>응답</a:t>
            </a:r>
            <a:endParaRPr lang="en-US" altLang="ko-KR" sz="1200" b="1">
              <a:latin typeface="+mn-ea"/>
            </a:endParaRPr>
          </a:p>
          <a:p>
            <a:r>
              <a:rPr lang="en-US" altLang="ko-KR" sz="1200">
                <a:latin typeface="+mn-ea"/>
              </a:rPr>
              <a:t>    KBMessage kbm = (KBMessage) eaiRecv.</a:t>
            </a:r>
            <a:r>
              <a:rPr lang="en-US" altLang="ko-KR" sz="1200" b="1">
                <a:latin typeface="+mn-ea"/>
              </a:rPr>
              <a:t>getHeader</a:t>
            </a:r>
            <a:r>
              <a:rPr lang="en-US" altLang="ko-KR" sz="1200">
                <a:latin typeface="+mn-ea"/>
              </a:rPr>
              <a:t>();   //</a:t>
            </a:r>
            <a:r>
              <a:rPr lang="ko-KR" altLang="en-US" sz="1200">
                <a:latin typeface="+mn-ea"/>
              </a:rPr>
              <a:t>응답 전문 헤더부 조회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IDataSet eaiRecvDs = </a:t>
            </a:r>
            <a:r>
              <a:rPr lang="en-US" altLang="ko-KR" sz="1200" b="1">
                <a:latin typeface="+mn-ea"/>
              </a:rPr>
              <a:t>EAITransformer.</a:t>
            </a:r>
            <a:r>
              <a:rPr lang="en-US" altLang="ko-KR" sz="1200" b="1" i="1">
                <a:latin typeface="+mn-ea"/>
              </a:rPr>
              <a:t>convertEAIIndividualToDataSet</a:t>
            </a:r>
            <a:r>
              <a:rPr lang="en-US" altLang="ko-KR" sz="1200">
                <a:latin typeface="+mn-ea"/>
              </a:rPr>
              <a:t>(eaiRecv, </a:t>
            </a:r>
            <a:r>
              <a:rPr lang="en-US" altLang="ko-KR" sz="1200" b="1">
                <a:latin typeface="+mn-ea"/>
              </a:rPr>
              <a:t>&lt;</a:t>
            </a:r>
            <a:r>
              <a:rPr lang="ko-KR" altLang="en-US" sz="1200" b="1">
                <a:latin typeface="+mn-ea"/>
              </a:rPr>
              <a:t>응답</a:t>
            </a:r>
            <a:r>
              <a:rPr lang="en-US" altLang="ko-KR" sz="1200" b="1">
                <a:latin typeface="+mn-ea"/>
              </a:rPr>
              <a:t> XIO</a:t>
            </a:r>
            <a:r>
              <a:rPr lang="ko-KR" altLang="en-US" sz="1200" b="1">
                <a:latin typeface="+mn-ea"/>
              </a:rPr>
              <a:t>아이디</a:t>
            </a:r>
            <a:r>
              <a:rPr lang="en-US" altLang="ko-KR" sz="1200" b="1">
                <a:latin typeface="+mn-ea"/>
              </a:rPr>
              <a:t>&gt;</a:t>
            </a:r>
            <a:r>
              <a:rPr lang="en-US" altLang="ko-KR" sz="1200">
                <a:latin typeface="+mn-ea"/>
              </a:rPr>
              <a:t>, onlineCtx);  //</a:t>
            </a:r>
            <a:r>
              <a:rPr lang="ko-KR" altLang="en-US" sz="1200">
                <a:latin typeface="+mn-ea"/>
              </a:rPr>
              <a:t>응답 전문 개별부 조회</a:t>
            </a:r>
            <a:endParaRPr lang="ko-KR" altLang="ko-KR" sz="1200">
              <a:latin typeface="+mn-ea"/>
            </a:endParaRPr>
          </a:p>
          <a:p>
            <a:endParaRPr lang="ko-KR" altLang="ko-KR" sz="120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2510" y="944724"/>
            <a:ext cx="1663451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EAI </a:t>
            </a:r>
            <a:r>
              <a:rPr lang="ko-KR" altLang="en-US" sz="1400" b="1">
                <a:cs typeface="Arial" pitchFamily="34" charset="0"/>
              </a:rPr>
              <a:t>동기 호출 예제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282" y="4530023"/>
            <a:ext cx="90729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+mn-ea"/>
                <a:cs typeface="Arial" pitchFamily="34" charset="0"/>
              </a:rPr>
              <a:t>① </a:t>
            </a:r>
            <a:r>
              <a:rPr lang="en-US" altLang="ko-KR" sz="1200">
                <a:latin typeface="+mn-ea"/>
                <a:cs typeface="Arial" pitchFamily="34" charset="0"/>
              </a:rPr>
              <a:t>OutBoundHeader</a:t>
            </a:r>
            <a:r>
              <a:rPr lang="ko-KR" altLang="en-US" sz="1200">
                <a:latin typeface="+mn-ea"/>
                <a:cs typeface="Arial" pitchFamily="34" charset="0"/>
              </a:rPr>
              <a:t>는 </a:t>
            </a:r>
            <a:r>
              <a:rPr lang="en-US" altLang="ko-KR" sz="1200">
                <a:latin typeface="+mn-ea"/>
                <a:cs typeface="Arial" pitchFamily="34" charset="0"/>
              </a:rPr>
              <a:t>EAI </a:t>
            </a:r>
            <a:r>
              <a:rPr lang="ko-KR" altLang="en-US" sz="1200">
                <a:latin typeface="+mn-ea"/>
                <a:cs typeface="Arial" pitchFamily="34" charset="0"/>
              </a:rPr>
              <a:t>전송용 전문 변환시 타입 정의</a:t>
            </a:r>
            <a:r>
              <a:rPr lang="en-US" altLang="ko-KR" sz="1200">
                <a:latin typeface="+mn-ea"/>
                <a:cs typeface="Arial" pitchFamily="34" charset="0"/>
              </a:rPr>
              <a:t>, </a:t>
            </a:r>
            <a:r>
              <a:rPr lang="ko-KR" altLang="en-US" sz="1200">
                <a:latin typeface="+mn-ea"/>
                <a:cs typeface="Arial" pitchFamily="34" charset="0"/>
              </a:rPr>
              <a:t>전문 객체 복제 등의 작업을 한다</a:t>
            </a:r>
            <a:r>
              <a:rPr lang="en-US" altLang="ko-KR" sz="1200">
                <a:latin typeface="+mn-ea"/>
                <a:cs typeface="Arial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     getKBMessage()</a:t>
            </a:r>
            <a:r>
              <a:rPr lang="ko-KR" altLang="en-US" sz="1200">
                <a:latin typeface="+mn-ea"/>
                <a:cs typeface="Arial" pitchFamily="34" charset="0"/>
              </a:rPr>
              <a:t> 메소드 호출로 복제된 전문 객체가 리턴되며 여기에 전문 헤더값을 </a:t>
            </a:r>
            <a:r>
              <a:rPr lang="en-US" altLang="ko-KR" sz="1200">
                <a:latin typeface="+mn-ea"/>
                <a:cs typeface="Arial" pitchFamily="34" charset="0"/>
              </a:rPr>
              <a:t>set</a:t>
            </a:r>
            <a:r>
              <a:rPr lang="ko-KR" altLang="en-US" sz="1200">
                <a:latin typeface="+mn-ea"/>
                <a:cs typeface="Arial" pitchFamily="34" charset="0"/>
              </a:rPr>
              <a:t>해도 원거래 전문의 값은 바뀌지 않는다</a:t>
            </a:r>
            <a:r>
              <a:rPr lang="en-US" altLang="ko-KR" sz="1200">
                <a:latin typeface="+mn-ea"/>
                <a:cs typeface="Arial" pitchFamily="34" charset="0"/>
              </a:rPr>
              <a:t>.</a:t>
            </a:r>
            <a:endParaRPr lang="ko-KR" altLang="en-US" sz="1200">
              <a:latin typeface="+mn-ea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     EAI </a:t>
            </a:r>
            <a:r>
              <a:rPr lang="ko-KR" altLang="en-US" sz="1200">
                <a:latin typeface="+mn-ea"/>
              </a:rPr>
              <a:t>전송에 필요한 전문 항목들의 세팅은 </a:t>
            </a:r>
            <a:r>
              <a:rPr lang="en-US" altLang="ko-KR" sz="1200">
                <a:latin typeface="+mn-ea"/>
              </a:rPr>
              <a:t>EAITransformer </a:t>
            </a:r>
            <a:r>
              <a:rPr lang="ko-KR" altLang="en-US" sz="1200">
                <a:latin typeface="+mn-ea"/>
              </a:rPr>
              <a:t>호출 전에 수행되어야 한다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+mn-ea"/>
              </a:rPr>
              <a:t>② </a:t>
            </a:r>
            <a:r>
              <a:rPr lang="en-US" altLang="ko-KR" sz="1200">
                <a:latin typeface="+mn-ea"/>
              </a:rPr>
              <a:t>KBMessage </a:t>
            </a:r>
            <a:r>
              <a:rPr lang="ko-KR" altLang="en-US" sz="1200">
                <a:latin typeface="+mn-ea"/>
              </a:rPr>
              <a:t>클래스는 내부표준 전문을 자바 클래스로 매핑한 것 으로써 온라인 거래의 입력 전문이 파싱되어 </a:t>
            </a:r>
            <a:endParaRPr lang="en-US" altLang="ko-KR" sz="12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n-ea"/>
              </a:rPr>
              <a:t>     IOnlineContext</a:t>
            </a:r>
            <a:r>
              <a:rPr lang="ko-KR" altLang="en-US" sz="1200">
                <a:latin typeface="+mn-ea"/>
              </a:rPr>
              <a:t>의 내부에 저장되어 있으며</a:t>
            </a:r>
            <a:r>
              <a:rPr lang="en-US" altLang="ko-KR" sz="1200">
                <a:latin typeface="+mn-ea"/>
              </a:rPr>
              <a:t>, EAI </a:t>
            </a:r>
            <a:r>
              <a:rPr lang="ko-KR" altLang="en-US" sz="1200">
                <a:latin typeface="+mn-ea"/>
              </a:rPr>
              <a:t>전송 등 </a:t>
            </a:r>
            <a:r>
              <a:rPr lang="en-US" altLang="ko-KR" sz="1200">
                <a:latin typeface="+mn-ea"/>
              </a:rPr>
              <a:t>Outbound</a:t>
            </a:r>
            <a:r>
              <a:rPr lang="ko-KR" altLang="en-US" sz="1200">
                <a:latin typeface="+mn-ea"/>
              </a:rPr>
              <a:t> 처리가 필요한 시점에 복제되어 별도의 </a:t>
            </a:r>
            <a:r>
              <a:rPr lang="en-US" altLang="ko-KR" sz="1200">
                <a:latin typeface="+mn-ea"/>
              </a:rPr>
              <a:t>KBMessage </a:t>
            </a:r>
            <a:r>
              <a:rPr lang="ko-KR" altLang="en-US" sz="1200">
                <a:latin typeface="+mn-ea"/>
              </a:rPr>
              <a:t>객체가 생성된다</a:t>
            </a:r>
            <a:r>
              <a:rPr lang="en-US" altLang="ko-KR" sz="12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/>
              <a:t>③ </a:t>
            </a:r>
            <a:r>
              <a:rPr lang="en-US" altLang="ko-KR" sz="1200">
                <a:latin typeface="+mn-ea"/>
              </a:rPr>
              <a:t>OutboundTarget.</a:t>
            </a:r>
            <a:r>
              <a:rPr lang="en-US" altLang="ko-KR" sz="1200" u="sng">
                <a:latin typeface="+mn-ea"/>
              </a:rPr>
              <a:t>EAI1 : </a:t>
            </a:r>
            <a:r>
              <a:rPr lang="ko-KR" altLang="en-US" sz="1200" u="sng">
                <a:latin typeface="+mn-ea"/>
              </a:rPr>
              <a:t>내부</a:t>
            </a:r>
            <a:r>
              <a:rPr lang="en-US" altLang="ko-KR" sz="1200" u="sng">
                <a:latin typeface="+mn-ea"/>
              </a:rPr>
              <a:t>, EAI2 : </a:t>
            </a:r>
            <a:r>
              <a:rPr lang="ko-KR" altLang="en-US" sz="1200" u="sng">
                <a:latin typeface="+mn-ea"/>
              </a:rPr>
              <a:t>외부</a:t>
            </a:r>
            <a:r>
              <a:rPr lang="en-US" altLang="ko-KR" sz="1200" u="sng">
                <a:latin typeface="+mn-ea"/>
              </a:rPr>
              <a:t>, EAI3 : </a:t>
            </a:r>
            <a:r>
              <a:rPr lang="ko-KR" altLang="en-US" sz="1200" u="sng">
                <a:latin typeface="+mn-ea"/>
              </a:rPr>
              <a:t>공동망</a:t>
            </a:r>
            <a:r>
              <a:rPr lang="en-US" altLang="ko-KR" sz="1200" u="sng">
                <a:latin typeface="+mn-ea"/>
              </a:rPr>
              <a:t>, EAI4 : DMA, EAI5 : </a:t>
            </a:r>
            <a:r>
              <a:rPr lang="ko-KR" altLang="en-US" sz="1200" u="sng">
                <a:latin typeface="+mn-ea"/>
              </a:rPr>
              <a:t>오픈뱅킹</a:t>
            </a:r>
            <a:endParaRPr lang="en-US" altLang="ko-KR" sz="1200" u="sng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150" y="1422965"/>
            <a:ext cx="336164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b="1">
                <a:cs typeface="Arial" pitchFamily="34" charset="0"/>
              </a:rPr>
              <a:t>①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150" y="1628800"/>
            <a:ext cx="336164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b="1">
                <a:cs typeface="Arial" pitchFamily="34" charset="0"/>
              </a:rPr>
              <a:t>②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480" y="2730029"/>
            <a:ext cx="14547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69414" y="2550009"/>
            <a:ext cx="336164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r>
              <a:rPr lang="ko-KR" altLang="en-US"/>
              <a:t>⑤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706627" y="3104964"/>
            <a:ext cx="336164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r>
              <a:rPr lang="ko-KR" altLang="en-US"/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6" y="2545258"/>
            <a:ext cx="336164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r>
              <a:rPr lang="ko-KR" altLang="en-US"/>
              <a:t>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16" y="2709909"/>
            <a:ext cx="336164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r>
              <a:rPr lang="ko-KR" altLang="en-US"/>
              <a:t>④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5502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8377" y="908720"/>
            <a:ext cx="6952975" cy="77956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400" b="1">
                <a:cs typeface="Arial" pitchFamily="34" charset="0"/>
              </a:rPr>
              <a:t>④ </a:t>
            </a:r>
            <a:r>
              <a:rPr lang="en-US" altLang="ko-KR" sz="1400" b="1">
                <a:cs typeface="Arial" pitchFamily="34" charset="0"/>
              </a:rPr>
              <a:t>ByteArrayWrap</a:t>
            </a:r>
          </a:p>
          <a:p>
            <a:pPr>
              <a:lnSpc>
                <a:spcPts val="2000"/>
              </a:lnSpc>
            </a:pPr>
            <a:r>
              <a:rPr lang="en-US" altLang="ko-KR" sz="1400"/>
              <a:t>     </a:t>
            </a:r>
            <a:r>
              <a:rPr lang="ko-KR" altLang="en-US" sz="1400"/>
              <a:t>전문 변환 시 전문 </a:t>
            </a:r>
            <a:r>
              <a:rPr lang="en-US" altLang="ko-KR" sz="1400"/>
              <a:t>byte[]</a:t>
            </a:r>
            <a:r>
              <a:rPr lang="ko-KR" altLang="en-US" sz="1400"/>
              <a:t>를 담고 있는 객체로써 </a:t>
            </a:r>
            <a:r>
              <a:rPr lang="en-US" altLang="ko-KR" sz="1400"/>
              <a:t>byte[] </a:t>
            </a:r>
            <a:r>
              <a:rPr lang="ko-KR" altLang="en-US" sz="1400"/>
              <a:t>재사용을 위해 제공되는 편의 메소드</a:t>
            </a:r>
            <a:r>
              <a:rPr lang="en-US" altLang="ko-KR" sz="1400"/>
              <a:t>.</a:t>
            </a:r>
          </a:p>
          <a:p>
            <a:pPr>
              <a:lnSpc>
                <a:spcPts val="2000"/>
              </a:lnSpc>
            </a:pPr>
            <a:r>
              <a:rPr lang="en-US" altLang="ko-KR" sz="1400">
                <a:cs typeface="Arial" pitchFamily="34" charset="0"/>
              </a:rPr>
              <a:t>     </a:t>
            </a:r>
            <a:r>
              <a:rPr lang="ko-KR" altLang="en-US" sz="1400">
                <a:cs typeface="Arial" pitchFamily="34" charset="0"/>
              </a:rPr>
              <a:t>한번 확보한 </a:t>
            </a:r>
            <a:r>
              <a:rPr lang="en-US" altLang="ko-KR" sz="1400">
                <a:cs typeface="Arial" pitchFamily="34" charset="0"/>
              </a:rPr>
              <a:t>byte[] </a:t>
            </a:r>
            <a:r>
              <a:rPr lang="ko-KR" altLang="en-US" sz="1400">
                <a:cs typeface="Arial" pitchFamily="34" charset="0"/>
              </a:rPr>
              <a:t>메모리를 재사용해야하는 상황에서 사용 가능하다</a:t>
            </a:r>
            <a:r>
              <a:rPr lang="en-US" altLang="ko-KR" sz="1400">
                <a:cs typeface="Arial" pitchFamily="34" charset="0"/>
              </a:rPr>
              <a:t>.</a:t>
            </a:r>
          </a:p>
        </p:txBody>
      </p:sp>
      <p:graphicFrame>
        <p:nvGraphicFramePr>
          <p:cNvPr id="8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67010"/>
              </p:ext>
            </p:extLst>
          </p:nvPr>
        </p:nvGraphicFramePr>
        <p:xfrm>
          <a:off x="560512" y="1823346"/>
          <a:ext cx="8856984" cy="3185778"/>
        </p:xfrm>
        <a:graphic>
          <a:graphicData uri="http://schemas.openxmlformats.org/drawingml/2006/table">
            <a:tbl>
              <a:tblPr/>
              <a:tblGrid>
                <a:gridCol w="364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3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메소드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ByteArrayWrap(byte[] bytes)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bytes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전체를 사용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ByteArrayWrap(byte[] bytes, int offset, int length)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bytes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offset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부터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length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만큼 사용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335808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String getString(int offset, int length)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bytes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사용 부분 중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offset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length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만큼만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String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변환하여 리턴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564326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byte[] getByteArray(int offset, int length)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bytes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사용 부분 중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offset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length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만큼 잘라 새로운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byte[]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담아 리턴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384203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 reuse(int offset, int length)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bytes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사용 부분 중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offset, length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적용하여 새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ByteArrayWrap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리턴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bytes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재사용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81110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 clone()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bytes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사용 부분 만큼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byte[]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생성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복제한 후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ByteArrayWrap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만들어 리턴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570598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 merge(ByteArrayWrap input)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this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length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input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length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더하여 새로운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byte[]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만들어 값을 복제한 후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ByteArrayWrap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리턴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306243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String toString()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 부분을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String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변환하여 리턴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457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90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</a:t>
            </a:r>
            <a:endParaRPr lang="ko-KR" altLang="en-US" dirty="0"/>
          </a:p>
        </p:txBody>
      </p:sp>
      <p:graphicFrame>
        <p:nvGraphicFramePr>
          <p:cNvPr id="1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528032"/>
              </p:ext>
            </p:extLst>
          </p:nvPr>
        </p:nvGraphicFramePr>
        <p:xfrm>
          <a:off x="448377" y="1572452"/>
          <a:ext cx="9009246" cy="4181976"/>
        </p:xfrm>
        <a:graphic>
          <a:graphicData uri="http://schemas.openxmlformats.org/drawingml/2006/table">
            <a:tbl>
              <a:tblPr/>
              <a:tblGrid>
                <a:gridCol w="3938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05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3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kern="12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EAITransformer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클래스의 메소드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 </a:t>
                      </a:r>
                      <a:r>
                        <a:rPr lang="en-US" altLang="ko-KR" sz="1200" b="1" kern="12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convertToEAIMessage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KBMessage kbm,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IDataSet dataset,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String xioId,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boolean isInData,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전송 송신 메시지로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변환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kbm :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전문변환을 위한 헤더 객체</a:t>
                      </a:r>
                    </a:p>
                    <a:p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dataset : EAI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 변환할 개별부 데이터</a:t>
                      </a:r>
                    </a:p>
                    <a:p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xioId :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변환시 사용할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XIO ID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isInData :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 데이터 여부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"InData"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"OutData"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생성 지시자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ByteArrayWrap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convertToEAIMessage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KBMessage kbm,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IDataSet dataset,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String xioId,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String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encoding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boolean isInData,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ko-KR" altLang="ko-KR" sz="12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위와 동일하며 </a:t>
                      </a:r>
                      <a:r>
                        <a:rPr kumimoji="1" lang="en-US" altLang="ko-KR" sz="12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encoding </a:t>
                      </a:r>
                      <a:r>
                        <a:rPr kumimoji="1" lang="ko-KR" altLang="ko-KR" sz="12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별도로 선택 가능함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en-US" altLang="ko-KR" sz="12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“euc-kr”, “UTF-8” </a:t>
                      </a:r>
                      <a:r>
                        <a:rPr kumimoji="1" lang="ko-KR" altLang="ko-KR" sz="1200" b="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선택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1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IDataSet </a:t>
                      </a:r>
                      <a:r>
                        <a:rPr lang="en-US" altLang="ko-KR" sz="1200" b="1" kern="12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convertEAIIndividualToDataSet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IOutboundResponse eaiRecv,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String xioId, 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동기 방식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EAI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호출 후 리턴 받은 전문 중 개별부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(Individual/OutData)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데이터를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IDataSet </a:t>
                      </a:r>
                      <a:r>
                        <a:rPr lang="ko-KR" altLang="ko-KR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변환함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8377" y="829788"/>
            <a:ext cx="8281480" cy="8421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00" b="1">
                <a:cs typeface="Arial" pitchFamily="34" charset="0"/>
              </a:rPr>
              <a:t>⑤ </a:t>
            </a:r>
            <a:r>
              <a:rPr lang="en-US" altLang="ko-KR" sz="1400" b="1">
                <a:cs typeface="Arial" pitchFamily="34" charset="0"/>
              </a:rPr>
              <a:t>EAITransformer</a:t>
            </a:r>
          </a:p>
          <a:p>
            <a:pPr>
              <a:lnSpc>
                <a:spcPts val="2000"/>
              </a:lnSpc>
            </a:pPr>
            <a:r>
              <a:rPr lang="en-US" altLang="ko-KR" sz="1400"/>
              <a:t>     EAI </a:t>
            </a:r>
            <a:r>
              <a:rPr lang="ko-KR" altLang="en-US" sz="1400"/>
              <a:t>송신용 전문 변환 메소드와 </a:t>
            </a:r>
            <a:r>
              <a:rPr lang="en-US" altLang="ko-KR" sz="1400"/>
              <a:t>EAI </a:t>
            </a:r>
            <a:r>
              <a:rPr lang="ko-KR" altLang="en-US" sz="1400"/>
              <a:t>응답 전문 수신 후 </a:t>
            </a:r>
            <a:r>
              <a:rPr lang="en-US" altLang="ko-KR" sz="1400"/>
              <a:t>IDataSet</a:t>
            </a:r>
            <a:r>
              <a:rPr lang="ko-KR" altLang="en-US" sz="1400"/>
              <a:t>으로 변환하는 양뱡향 변환 메소드를 제공한다</a:t>
            </a:r>
            <a:r>
              <a:rPr lang="en-US" altLang="ko-KR" sz="1400"/>
              <a:t>.</a:t>
            </a:r>
            <a:endParaRPr lang="en-US" altLang="ko-KR" sz="1400" b="1">
              <a:cs typeface="Arial" pitchFamily="34" charset="0"/>
            </a:endParaRP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427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2799" y="829788"/>
            <a:ext cx="6810501" cy="84214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00" b="1">
                <a:cs typeface="Arial" pitchFamily="34" charset="0"/>
              </a:rPr>
              <a:t>⑥ </a:t>
            </a:r>
            <a:r>
              <a:rPr lang="en-US" altLang="ko-KR" sz="1400" b="1">
                <a:cs typeface="Arial" pitchFamily="34" charset="0"/>
              </a:rPr>
              <a:t>XIO</a:t>
            </a:r>
          </a:p>
          <a:p>
            <a:pPr>
              <a:lnSpc>
                <a:spcPts val="2000"/>
              </a:lnSpc>
            </a:pPr>
            <a:r>
              <a:rPr lang="en-US" altLang="ko-KR" sz="1400" b="1">
                <a:cs typeface="Arial" pitchFamily="34" charset="0"/>
              </a:rPr>
              <a:t>     </a:t>
            </a:r>
            <a:r>
              <a:rPr lang="en-US" altLang="ko-KR" sz="1400"/>
              <a:t>EAI </a:t>
            </a:r>
            <a:r>
              <a:rPr lang="ko-KR" altLang="en-US" sz="1400"/>
              <a:t>전송용 전문 변환</a:t>
            </a:r>
            <a:r>
              <a:rPr lang="en-US" altLang="ko-KR" sz="1400"/>
              <a:t>, MCI BID/PUSH </a:t>
            </a:r>
            <a:r>
              <a:rPr lang="ko-KR" altLang="en-US" sz="1400"/>
              <a:t>전문 변환을 위한 레이아웃 정보를 저장한 </a:t>
            </a:r>
            <a:r>
              <a:rPr lang="en-US" altLang="ko-KR" sz="1400"/>
              <a:t>xml</a:t>
            </a:r>
            <a:r>
              <a:rPr lang="ko-KR" altLang="en-US" sz="1400"/>
              <a:t>파일</a:t>
            </a:r>
            <a:endParaRPr lang="en-US" altLang="ko-KR" sz="1400"/>
          </a:p>
          <a:p>
            <a:pPr>
              <a:lnSpc>
                <a:spcPts val="2000"/>
              </a:lnSpc>
            </a:pPr>
            <a:r>
              <a:rPr lang="en-US" altLang="ko-KR" sz="1400" b="1">
                <a:cs typeface="Arial" pitchFamily="34" charset="0"/>
              </a:rPr>
              <a:t>     XIO_(EAI</a:t>
            </a:r>
            <a:r>
              <a:rPr lang="ko-KR" altLang="en-US" sz="1400" b="1">
                <a:cs typeface="Arial" pitchFamily="34" charset="0"/>
              </a:rPr>
              <a:t>서비스코드 </a:t>
            </a:r>
            <a:r>
              <a:rPr lang="en-US" altLang="ko-KR" sz="1400" b="1">
                <a:cs typeface="Arial" pitchFamily="34" charset="0"/>
              </a:rPr>
              <a:t>|</a:t>
            </a:r>
            <a:r>
              <a:rPr lang="ko-KR" altLang="en-US" sz="1400" b="1">
                <a:cs typeface="Arial" pitchFamily="34" charset="0"/>
              </a:rPr>
              <a:t> </a:t>
            </a:r>
            <a:r>
              <a:rPr lang="en-US" altLang="ko-KR" sz="1400" b="1">
                <a:cs typeface="Arial" pitchFamily="34" charset="0"/>
              </a:rPr>
              <a:t>MCI </a:t>
            </a:r>
            <a:r>
              <a:rPr lang="ko-KR" altLang="en-US" sz="1400" b="1">
                <a:cs typeface="Arial" pitchFamily="34" charset="0"/>
              </a:rPr>
              <a:t>거래코드 </a:t>
            </a:r>
            <a:r>
              <a:rPr lang="en-US" altLang="ko-KR" sz="1400" b="1">
                <a:cs typeface="Arial" pitchFamily="34" charset="0"/>
              </a:rPr>
              <a:t>| </a:t>
            </a:r>
            <a:r>
              <a:rPr lang="ko-KR" altLang="en-US" sz="1400" b="1">
                <a:cs typeface="Arial" pitchFamily="34" charset="0"/>
              </a:rPr>
              <a:t>전문</a:t>
            </a:r>
            <a:r>
              <a:rPr lang="en-US" altLang="ko-KR" sz="1400" b="1">
                <a:cs typeface="Arial" pitchFamily="34" charset="0"/>
              </a:rPr>
              <a:t>IO ID)(REQ1 | RES2)</a:t>
            </a:r>
            <a:endParaRPr lang="ko-KR" altLang="en-US" sz="1400" b="1" dirty="0">
              <a:cs typeface="Arial" pitchFamily="34" charset="0"/>
            </a:endParaRPr>
          </a:p>
        </p:txBody>
      </p:sp>
      <p:graphicFrame>
        <p:nvGraphicFramePr>
          <p:cNvPr id="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64"/>
              </p:ext>
            </p:extLst>
          </p:nvPr>
        </p:nvGraphicFramePr>
        <p:xfrm>
          <a:off x="488504" y="3933056"/>
          <a:ext cx="8928992" cy="2336570"/>
        </p:xfrm>
        <a:graphic>
          <a:graphicData uri="http://schemas.openxmlformats.org/drawingml/2006/table">
            <a:tbl>
              <a:tblPr/>
              <a:tblGrid>
                <a:gridCol w="10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9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57217">
                  <a:extLst>
                    <a:ext uri="{9D8B030D-6E8A-4147-A177-3AD203B41FA5}">
                      <a16:colId xmlns:a16="http://schemas.microsoft.com/office/drawing/2014/main" val="41385407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타입 설정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전문 정의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REQ1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소스 시스템 →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EAI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요청 전문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소스가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nKESA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경우 </a:t>
                      </a:r>
                      <a:r>
                        <a:rPr lang="en-US" altLang="ko-KR" sz="1200" b="1" kern="12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XIO</a:t>
                      </a:r>
                      <a:r>
                        <a:rPr lang="en-US" altLang="ko-KR" sz="1200" b="1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 생성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REQ2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1"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→ 타겟 시스템 전달 전문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타켓이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nKESA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 경우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PM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Input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정의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7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RES1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 타겟 시스템 응답 전문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타켓이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nKESA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경우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Output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정의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RES2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소스 시스템 ←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응답 전문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소스가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nKESA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경우 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Sync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거래이면 </a:t>
                      </a:r>
                      <a:r>
                        <a:rPr lang="en-US" altLang="ko-KR" sz="1200" b="1" kern="120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XIO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 생성</a:t>
                      </a:r>
                      <a:endParaRPr lang="en-US" altLang="ko-KR" sz="1200" b="0" kern="120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거래이면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Input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정의</a:t>
                      </a:r>
                      <a:endParaRPr kumimoji="0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59342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576736" y="1915446"/>
            <a:ext cx="432048" cy="17935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b="1">
                <a:solidFill>
                  <a:schemeClr val="tx1"/>
                </a:solidFill>
                <a:latin typeface="+mn-ea"/>
                <a:cs typeface="Arial" pitchFamily="34" charset="0"/>
              </a:rPr>
              <a:t>소스시스템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233933" y="1905729"/>
            <a:ext cx="612068" cy="17935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b="1">
                <a:solidFill>
                  <a:schemeClr val="tx1"/>
                </a:solidFill>
                <a:latin typeface="+mn-ea"/>
                <a:cs typeface="Arial" pitchFamily="34" charset="0"/>
              </a:rPr>
              <a:t>EAI</a:t>
            </a:r>
            <a:endParaRPr lang="ko-KR" altLang="en-US" b="1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105128" y="1905729"/>
            <a:ext cx="432048" cy="17935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b="1">
                <a:solidFill>
                  <a:schemeClr val="tx1"/>
                </a:solidFill>
                <a:latin typeface="+mn-ea"/>
                <a:cs typeface="Arial" pitchFamily="34" charset="0"/>
              </a:rPr>
              <a:t>타겟시스템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116796" y="2384884"/>
            <a:ext cx="1044116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4953000" y="2384884"/>
            <a:ext cx="1044116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4953000" y="3212976"/>
            <a:ext cx="1044116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>
            <a:off x="3116796" y="3212976"/>
            <a:ext cx="1044116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1963" y="2136831"/>
            <a:ext cx="526921" cy="238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>
                <a:solidFill>
                  <a:srgbClr val="0000FF"/>
                </a:solidFill>
                <a:latin typeface="+mn-ea"/>
                <a:cs typeface="Arial" pitchFamily="34" charset="0"/>
              </a:rPr>
              <a:t>REQ1</a:t>
            </a:r>
            <a:endParaRPr lang="ko-KR" altLang="en-US" sz="1200" b="1" dirty="0">
              <a:solidFill>
                <a:srgbClr val="0000FF"/>
              </a:solidFill>
              <a:latin typeface="+mn-ea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08549" y="2159705"/>
            <a:ext cx="536539" cy="238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REQ2</a:t>
            </a:r>
            <a:endParaRPr lang="ko-KR" altLang="en-US" sz="1200" dirty="0">
              <a:latin typeface="+mn-ea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41032" y="3248980"/>
            <a:ext cx="502876" cy="238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RES1</a:t>
            </a:r>
            <a:endParaRPr lang="ko-KR" altLang="en-US" sz="1200" dirty="0">
              <a:latin typeface="+mn-ea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8771" y="3276136"/>
            <a:ext cx="922991" cy="238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>
                <a:solidFill>
                  <a:srgbClr val="0000FF"/>
                </a:solidFill>
                <a:latin typeface="+mn-ea"/>
                <a:cs typeface="Arial" pitchFamily="34" charset="0"/>
              </a:rPr>
              <a:t>RES2(Sync)</a:t>
            </a:r>
            <a:endParaRPr lang="ko-KR" altLang="en-US" sz="1200" b="1" dirty="0">
              <a:solidFill>
                <a:srgbClr val="0000FF"/>
              </a:solidFill>
              <a:latin typeface="+mn-ea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4259" y="3478130"/>
            <a:ext cx="1028661" cy="2389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>
                <a:latin typeface="+mn-ea"/>
                <a:cs typeface="Arial" pitchFamily="34" charset="0"/>
              </a:rPr>
              <a:t>RES2(Async)</a:t>
            </a:r>
            <a:endParaRPr lang="ko-KR" altLang="en-US" sz="1200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001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 </a:t>
            </a:r>
            <a:r>
              <a:rPr lang="en-US" altLang="ko-KR"/>
              <a:t>(</a:t>
            </a:r>
            <a:r>
              <a:rPr lang="ko-KR" altLang="en-US"/>
              <a:t>비동기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924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>
                <a:latin typeface="+mn-ea"/>
              </a:rPr>
              <a:t>비동기 전송은 전문 송신 후 응답을 기다리지 않고 별도의 </a:t>
            </a:r>
            <a:r>
              <a:rPr lang="en-US" altLang="ko-KR">
                <a:latin typeface="+mn-ea"/>
              </a:rPr>
              <a:t>Inbound </a:t>
            </a:r>
            <a:r>
              <a:rPr lang="ko-KR" altLang="en-US">
                <a:latin typeface="+mn-ea"/>
              </a:rPr>
              <a:t>거래로 응답 전문을 받는 방식</a:t>
            </a:r>
            <a:endParaRPr lang="en-US" altLang="ko-KR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b="1">
                <a:latin typeface="+mn-ea"/>
              </a:rPr>
              <a:t>송신</a:t>
            </a:r>
            <a:r>
              <a:rPr lang="en-US" altLang="ko-KR" b="1">
                <a:latin typeface="+mn-ea"/>
              </a:rPr>
              <a:t>PM</a:t>
            </a:r>
            <a:r>
              <a:rPr lang="ko-KR" altLang="en-US">
                <a:latin typeface="+mn-ea"/>
              </a:rPr>
              <a:t>과 </a:t>
            </a:r>
            <a:r>
              <a:rPr lang="ko-KR" altLang="en-US" b="1">
                <a:latin typeface="+mn-ea"/>
              </a:rPr>
              <a:t>수신</a:t>
            </a:r>
            <a:r>
              <a:rPr lang="en-US" altLang="ko-KR" b="1">
                <a:latin typeface="+mn-ea"/>
              </a:rPr>
              <a:t>PM</a:t>
            </a:r>
            <a:r>
              <a:rPr lang="ko-KR" altLang="en-US">
                <a:latin typeface="+mn-ea"/>
              </a:rPr>
              <a:t>을 나누어 개발하는 패턴</a:t>
            </a:r>
          </a:p>
        </p:txBody>
      </p:sp>
      <p:graphicFrame>
        <p:nvGraphicFramePr>
          <p:cNvPr id="11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398847"/>
              </p:ext>
            </p:extLst>
          </p:nvPr>
        </p:nvGraphicFramePr>
        <p:xfrm>
          <a:off x="524664" y="1373187"/>
          <a:ext cx="8820824" cy="2429661"/>
        </p:xfrm>
        <a:graphic>
          <a:graphicData uri="http://schemas.openxmlformats.org/drawingml/2006/table">
            <a:tbl>
              <a:tblPr/>
              <a:tblGrid>
                <a:gridCol w="831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4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39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전문 패턴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비동기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즉시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sendOutboundNow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Object kind,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IOutboundHeader header,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ByteArrayWrap requestData,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 거래 트랜잭션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commit/rollback 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상관없이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sendOutboundNow 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메소드 호출 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즉시 전문전송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비동기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커밋후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sendOutboundAfterCommit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Object kind,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IOutboundHeader header,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ByteArrayWrap requestData, 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	IOnlineContext onlineCtx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정상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commit </a:t>
                      </a:r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 전송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sendOutboundAfterCommit </a:t>
                      </a:r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호출시 내부에 저장한 후 정상 트랜잭션 커밋되면 전송함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ko-KR" sz="11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후처리에서 에러 발생하여 트랜잭션 롤백되는 경우 이 전문 전송하지 않음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575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 </a:t>
            </a:r>
            <a:r>
              <a:rPr lang="en-US" altLang="ko-KR"/>
              <a:t>(</a:t>
            </a:r>
            <a:r>
              <a:rPr lang="ko-KR" altLang="en-US"/>
              <a:t>비동기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51905" y="4978554"/>
            <a:ext cx="14547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defRPr sz="1400" b="1"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55291" y="3304495"/>
            <a:ext cx="9330317" cy="25545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+mn-ea"/>
              </a:rPr>
              <a:t>    // </a:t>
            </a:r>
            <a:r>
              <a:rPr lang="ko-KR" altLang="ko-KR" sz="1000">
                <a:latin typeface="+mn-ea"/>
              </a:rPr>
              <a:t>출력전문용 헤더 객체 생성</a:t>
            </a:r>
          </a:p>
          <a:p>
            <a:r>
              <a:rPr lang="en-US" altLang="ko-KR" sz="1000" b="1">
                <a:latin typeface="+mn-ea"/>
              </a:rPr>
              <a:t>    AsyncResponseHeader </a:t>
            </a:r>
            <a:r>
              <a:rPr lang="en-US" altLang="ko-KR" sz="1000">
                <a:latin typeface="+mn-ea"/>
              </a:rPr>
              <a:t>arh = new AsyncResponseHeader(onlineCtx);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 </a:t>
            </a:r>
            <a:r>
              <a:rPr lang="ko-KR" altLang="ko-KR" sz="1000">
                <a:latin typeface="+mn-ea"/>
              </a:rPr>
              <a:t>전문 헤더 가공 처리</a:t>
            </a:r>
          </a:p>
          <a:p>
            <a:r>
              <a:rPr lang="en-US" altLang="ko-KR" sz="1000">
                <a:latin typeface="+mn-ea"/>
              </a:rPr>
              <a:t>    KBMessage kbmsg = arh.getKBMessage();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 </a:t>
            </a:r>
            <a:r>
              <a:rPr lang="ko-KR" altLang="ko-KR" sz="1000">
                <a:latin typeface="+mn-ea"/>
              </a:rPr>
              <a:t>헤더값 </a:t>
            </a:r>
            <a:r>
              <a:rPr lang="en-US" altLang="ko-KR" sz="1000">
                <a:latin typeface="+mn-ea"/>
              </a:rPr>
              <a:t>set </a:t>
            </a:r>
            <a:r>
              <a:rPr lang="ko-KR" altLang="ko-KR" sz="1000">
                <a:latin typeface="+mn-ea"/>
              </a:rPr>
              <a:t>가 필요한 경우 여기서 수행</a:t>
            </a: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IdataSet responseData = new DataSet();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 </a:t>
            </a:r>
            <a:r>
              <a:rPr lang="ko-KR" altLang="ko-KR" sz="1000">
                <a:latin typeface="+mn-ea"/>
              </a:rPr>
              <a:t>화면으로 내려보낼 응답 데이터 가공</a:t>
            </a: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 </a:t>
            </a:r>
            <a:r>
              <a:rPr lang="ko-KR" altLang="ko-KR" sz="1000">
                <a:latin typeface="+mn-ea"/>
              </a:rPr>
              <a:t>출력 폼데이타 설정</a:t>
            </a:r>
          </a:p>
          <a:p>
            <a:r>
              <a:rPr lang="en-US" altLang="ko-KR" sz="1000" b="1">
                <a:latin typeface="+mn-ea"/>
              </a:rPr>
              <a:t>    arh.addOutFormInfo</a:t>
            </a:r>
            <a:r>
              <a:rPr lang="en-US" altLang="ko-KR" sz="1000">
                <a:latin typeface="+mn-ea"/>
              </a:rPr>
              <a:t>("XXX06M18000", "V1", "01", "01", "", "");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 </a:t>
            </a:r>
            <a:r>
              <a:rPr lang="ko-KR" altLang="ko-KR" sz="1000">
                <a:latin typeface="+mn-ea"/>
              </a:rPr>
              <a:t>최초 단말로 응답 전문 전송</a:t>
            </a:r>
            <a:r>
              <a:rPr lang="en-US" altLang="ko-KR" sz="1000">
                <a:latin typeface="+mn-ea"/>
              </a:rPr>
              <a:t>. (MCI </a:t>
            </a:r>
            <a:r>
              <a:rPr lang="ko-KR" altLang="ko-KR" sz="1000">
                <a:latin typeface="+mn-ea"/>
              </a:rPr>
              <a:t>송신</a:t>
            </a:r>
            <a:r>
              <a:rPr lang="en-US" altLang="ko-KR" sz="1000">
                <a:latin typeface="+mn-ea"/>
              </a:rPr>
              <a:t>)</a:t>
            </a:r>
            <a:endParaRPr lang="ko-KR" altLang="ko-KR" sz="1000">
              <a:latin typeface="+mn-ea"/>
            </a:endParaRPr>
          </a:p>
          <a:p>
            <a:r>
              <a:rPr lang="en-US" altLang="ko-KR" sz="1000" b="1">
                <a:latin typeface="+mn-ea"/>
              </a:rPr>
              <a:t>    </a:t>
            </a:r>
            <a:r>
              <a:rPr lang="en-US" altLang="ko-KR" sz="1000" b="1">
                <a:solidFill>
                  <a:srgbClr val="0000FF"/>
                </a:solidFill>
                <a:latin typeface="+mn-ea"/>
              </a:rPr>
              <a:t>sendAsyncResponseNow</a:t>
            </a:r>
            <a:r>
              <a:rPr lang="en-US" altLang="ko-KR" sz="1000">
                <a:latin typeface="+mn-ea"/>
              </a:rPr>
              <a:t>(arh, responseData, "EDU0432141", true, false, onlineCtx);</a:t>
            </a:r>
            <a:endParaRPr lang="ko-KR" altLang="ko-KR" sz="10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2126" y="2970268"/>
            <a:ext cx="1188833" cy="25307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300" b="1">
                <a:latin typeface="+mn-ea"/>
                <a:cs typeface="Arial" pitchFamily="34" charset="0"/>
              </a:rPr>
              <a:t>수신</a:t>
            </a:r>
            <a:r>
              <a:rPr lang="en-US" altLang="ko-KR" sz="1300" b="1">
                <a:latin typeface="+mn-ea"/>
                <a:cs typeface="Arial" pitchFamily="34" charset="0"/>
              </a:rPr>
              <a:t>PM </a:t>
            </a:r>
            <a:r>
              <a:rPr lang="ko-KR" altLang="en-US" sz="1300" b="1">
                <a:latin typeface="+mn-ea"/>
                <a:cs typeface="Arial" pitchFamily="34" charset="0"/>
              </a:rPr>
              <a:t>예시</a:t>
            </a:r>
            <a:endParaRPr lang="ko-KR" altLang="en-US" sz="1300" b="1" dirty="0">
              <a:latin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222" y="5878307"/>
            <a:ext cx="9309607" cy="575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sendAsyncResponseNow </a:t>
            </a:r>
            <a:r>
              <a:rPr lang="ko-KR" altLang="ko-KR" sz="1100">
                <a:latin typeface="+mn-ea"/>
              </a:rPr>
              <a:t>는 </a:t>
            </a:r>
            <a:r>
              <a:rPr lang="en-US" altLang="ko-KR" sz="1100">
                <a:latin typeface="+mn-ea"/>
              </a:rPr>
              <a:t>EAI </a:t>
            </a:r>
            <a:r>
              <a:rPr lang="ko-KR" altLang="ko-KR" sz="1100">
                <a:latin typeface="+mn-ea"/>
              </a:rPr>
              <a:t>비동기 응답을 받은 응답</a:t>
            </a:r>
            <a:r>
              <a:rPr lang="en-US" altLang="ko-KR" sz="1100">
                <a:latin typeface="+mn-ea"/>
              </a:rPr>
              <a:t> PM </a:t>
            </a:r>
            <a:r>
              <a:rPr lang="ko-KR" altLang="ko-KR" sz="1100">
                <a:latin typeface="+mn-ea"/>
              </a:rPr>
              <a:t>에서 현재 모래시계 대기하고 있는 원거래 쪽으로 응답 전문을 송신하는 메소드</a:t>
            </a:r>
            <a:r>
              <a:rPr lang="ko-KR" altLang="en-US" sz="1100">
                <a:latin typeface="+mn-ea"/>
              </a:rPr>
              <a:t>이다</a:t>
            </a:r>
            <a:r>
              <a:rPr lang="en-US" altLang="ko-KR" sz="110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</a:t>
            </a:r>
            <a:r>
              <a:rPr lang="ko-KR" altLang="ko-KR" sz="1100">
                <a:latin typeface="+mn-ea"/>
              </a:rPr>
              <a:t>전문 헤더 세팅을 위해 </a:t>
            </a:r>
            <a:r>
              <a:rPr lang="en-US" altLang="ko-KR" sz="1100">
                <a:latin typeface="+mn-ea"/>
              </a:rPr>
              <a:t>AsyncResponseHeader </a:t>
            </a:r>
            <a:r>
              <a:rPr lang="ko-KR" altLang="ko-KR" sz="1100">
                <a:latin typeface="+mn-ea"/>
              </a:rPr>
              <a:t>객체를 생성할 때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ko-KR" sz="1100">
                <a:latin typeface="+mn-ea"/>
              </a:rPr>
              <a:t>최초 원 단말 요청전문의 헤더</a:t>
            </a:r>
            <a:r>
              <a:rPr lang="en-US" altLang="ko-KR" sz="1100">
                <a:latin typeface="+mn-ea"/>
              </a:rPr>
              <a:t> (KBMessage </a:t>
            </a:r>
            <a:r>
              <a:rPr lang="ko-KR" altLang="ko-KR" sz="1100">
                <a:latin typeface="+mn-ea"/>
              </a:rPr>
              <a:t>객체</a:t>
            </a:r>
            <a:r>
              <a:rPr lang="en-US" altLang="ko-KR" sz="1100">
                <a:latin typeface="+mn-ea"/>
              </a:rPr>
              <a:t>) </a:t>
            </a:r>
            <a:r>
              <a:rPr lang="ko-KR" altLang="ko-KR" sz="1100">
                <a:latin typeface="+mn-ea"/>
              </a:rPr>
              <a:t>가 복원되어 세트</a:t>
            </a:r>
            <a:r>
              <a:rPr lang="ko-KR" altLang="en-US" sz="1100">
                <a:latin typeface="+mn-ea"/>
              </a:rPr>
              <a:t>된다</a:t>
            </a:r>
            <a:r>
              <a:rPr lang="en-US" altLang="ko-KR" sz="1100">
                <a:latin typeface="+mn-ea"/>
              </a:rPr>
              <a:t>. </a:t>
            </a:r>
            <a:endParaRPr lang="ko-KR" altLang="ko-KR" sz="110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8892" y="1091666"/>
            <a:ext cx="9316717" cy="17851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>
                <a:latin typeface="+mn-ea"/>
              </a:rPr>
              <a:t>    OutboundHeader</a:t>
            </a:r>
            <a:r>
              <a:rPr lang="en-US" altLang="ko-KR" sz="1000">
                <a:latin typeface="+mn-ea"/>
              </a:rPr>
              <a:t> eaiHeader = new OutboundHeader(onlineCtx);</a:t>
            </a:r>
            <a:endParaRPr lang="ko-KR" altLang="ko-KR" sz="1000">
              <a:latin typeface="+mn-ea"/>
            </a:endParaRPr>
          </a:p>
          <a:p>
            <a:r>
              <a:rPr lang="en-US" altLang="ko-KR" sz="1000" b="1">
                <a:latin typeface="+mn-ea"/>
              </a:rPr>
              <a:t>    KBMessage</a:t>
            </a:r>
            <a:r>
              <a:rPr lang="en-US" altLang="ko-KR" sz="1000">
                <a:latin typeface="+mn-ea"/>
              </a:rPr>
              <a:t> kbmsg = eaiHeader.getKBMessage();</a:t>
            </a:r>
            <a:endParaRPr lang="ko-KR" altLang="ko-KR" sz="1000">
              <a:latin typeface="+mn-ea"/>
            </a:endParaRPr>
          </a:p>
          <a:p>
            <a:endParaRPr lang="en-US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//</a:t>
            </a:r>
            <a:r>
              <a:rPr lang="ko-KR" altLang="en-US" sz="1000">
                <a:latin typeface="+mn-ea"/>
              </a:rPr>
              <a:t>표준전문 세팅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    kbmsg.getHeaderType().setStndCicsTrncd(“FAE$”); // CICS </a:t>
            </a:r>
            <a:r>
              <a:rPr lang="ko-KR" altLang="ko-KR" sz="1000">
                <a:latin typeface="+mn-ea"/>
              </a:rPr>
              <a:t>트랜잭션 코드 </a:t>
            </a:r>
          </a:p>
          <a:p>
            <a:r>
              <a:rPr lang="en-US" altLang="ko-KR" sz="1000">
                <a:latin typeface="+mn-ea"/>
              </a:rPr>
              <a:t>    kbmsg.getHeaderType().setStndPrcssTCicsTrncd(“FA01”); // </a:t>
            </a:r>
            <a:r>
              <a:rPr lang="ko-KR" altLang="ko-KR" sz="1000">
                <a:latin typeface="+mn-ea"/>
              </a:rPr>
              <a:t>처리대상 </a:t>
            </a:r>
            <a:r>
              <a:rPr lang="en-US" altLang="ko-KR" sz="1000">
                <a:latin typeface="+mn-ea"/>
              </a:rPr>
              <a:t>CICS </a:t>
            </a:r>
            <a:r>
              <a:rPr lang="ko-KR" altLang="ko-KR" sz="1000">
                <a:latin typeface="+mn-ea"/>
              </a:rPr>
              <a:t>트랜잭션 코드</a:t>
            </a:r>
          </a:p>
          <a:p>
            <a:r>
              <a:rPr lang="en-US" altLang="ko-KR" sz="1000">
                <a:latin typeface="+mn-ea"/>
              </a:rPr>
              <a:t> </a:t>
            </a:r>
            <a:endParaRPr lang="ko-KR" altLang="ko-KR" sz="1000">
              <a:latin typeface="+mn-ea"/>
            </a:endParaRPr>
          </a:p>
          <a:p>
            <a:r>
              <a:rPr lang="en-US" altLang="ko-KR" sz="1000" b="1">
                <a:latin typeface="+mn-ea"/>
              </a:rPr>
              <a:t>    ByteArrayWrap</a:t>
            </a:r>
            <a:r>
              <a:rPr lang="en-US" altLang="ko-KR" sz="1000">
                <a:latin typeface="+mn-ea"/>
              </a:rPr>
              <a:t> eaiSendTelgm = </a:t>
            </a:r>
            <a:r>
              <a:rPr lang="en-US" altLang="ko-KR" sz="1000" b="1">
                <a:latin typeface="+mn-ea"/>
              </a:rPr>
              <a:t>EAITransformer.</a:t>
            </a:r>
            <a:r>
              <a:rPr lang="en-US" altLang="ko-KR" sz="1000" b="1" i="1">
                <a:latin typeface="+mn-ea"/>
              </a:rPr>
              <a:t>convertToEAIMessage</a:t>
            </a:r>
            <a:r>
              <a:rPr lang="en-US" altLang="ko-KR" sz="1000">
                <a:latin typeface="+mn-ea"/>
              </a:rPr>
              <a:t>(kbmsg, responseData, </a:t>
            </a:r>
            <a:r>
              <a:rPr lang="en-US" altLang="ko-KR" sz="1000" b="1">
                <a:latin typeface="+mn-ea"/>
              </a:rPr>
              <a:t>&lt;</a:t>
            </a:r>
            <a:r>
              <a:rPr lang="ko-KR" altLang="en-US" sz="1000" b="1">
                <a:latin typeface="+mn-ea"/>
              </a:rPr>
              <a:t>요청 </a:t>
            </a:r>
            <a:r>
              <a:rPr lang="en-US" altLang="ko-KR" sz="1000" b="1">
                <a:latin typeface="+mn-ea"/>
              </a:rPr>
              <a:t>XIO</a:t>
            </a:r>
            <a:r>
              <a:rPr lang="ko-KR" altLang="ko-KR" sz="1000" b="1">
                <a:latin typeface="+mn-ea"/>
              </a:rPr>
              <a:t>아이디</a:t>
            </a:r>
            <a:r>
              <a:rPr lang="en-US" altLang="ko-KR" sz="1000" b="1">
                <a:latin typeface="+mn-ea"/>
              </a:rPr>
              <a:t>&gt;, </a:t>
            </a:r>
            <a:r>
              <a:rPr lang="en-US" altLang="ko-KR" sz="1000">
                <a:latin typeface="+mn-ea"/>
              </a:rPr>
              <a:t>true, onlineCtx); </a:t>
            </a:r>
            <a:endParaRPr lang="ko-KR" altLang="ko-KR" sz="1000">
              <a:latin typeface="+mn-ea"/>
            </a:endParaRPr>
          </a:p>
          <a:p>
            <a:r>
              <a:rPr lang="en-US" altLang="ko-KR" sz="1000">
                <a:latin typeface="+mn-ea"/>
              </a:rPr>
              <a:t>		    </a:t>
            </a:r>
            <a:endParaRPr lang="ko-KR" altLang="ko-KR" sz="1000">
              <a:latin typeface="+mn-ea"/>
            </a:endParaRPr>
          </a:p>
          <a:p>
            <a:r>
              <a:rPr lang="en-US" altLang="ko-KR" sz="1000" b="1">
                <a:latin typeface="+mn-ea"/>
              </a:rPr>
              <a:t>    // </a:t>
            </a:r>
            <a:r>
              <a:rPr lang="ko-KR" altLang="en-US" sz="1000" b="1">
                <a:latin typeface="+mn-ea"/>
              </a:rPr>
              <a:t>비동기 호출</a:t>
            </a:r>
            <a:endParaRPr lang="ko-KR" altLang="ko-KR" sz="1000" b="1">
              <a:latin typeface="+mn-ea"/>
            </a:endParaRPr>
          </a:p>
          <a:p>
            <a:r>
              <a:rPr lang="en-US" altLang="ko-KR" sz="1000" b="1">
                <a:solidFill>
                  <a:srgbClr val="0000FF"/>
                </a:solidFill>
                <a:latin typeface="+mn-ea"/>
              </a:rPr>
              <a:t>    sendOutboundNow</a:t>
            </a:r>
            <a:r>
              <a:rPr lang="en-US" altLang="ko-KR" sz="1000">
                <a:latin typeface="+mn-ea"/>
              </a:rPr>
              <a:t>(</a:t>
            </a:r>
            <a:r>
              <a:rPr lang="en-US" altLang="ko-KR" sz="1000" u="sng">
                <a:latin typeface="+mn-ea"/>
              </a:rPr>
              <a:t>OutboundTarget.</a:t>
            </a:r>
            <a:r>
              <a:rPr lang="en-US" altLang="ko-KR" sz="1000" i="1" u="sng">
                <a:latin typeface="+mn-ea"/>
              </a:rPr>
              <a:t>EAI1</a:t>
            </a:r>
            <a:r>
              <a:rPr lang="en-US" altLang="ko-KR" sz="1000">
                <a:latin typeface="+mn-ea"/>
              </a:rPr>
              <a:t>, eaiHeader, eaiSendTelgm, onlineCtx);</a:t>
            </a:r>
            <a:endParaRPr lang="ko-KR" altLang="ko-KR" sz="10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92" y="802001"/>
            <a:ext cx="1255667" cy="25307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300" b="1">
                <a:latin typeface="+mn-ea"/>
                <a:cs typeface="Arial" pitchFamily="34" charset="0"/>
              </a:rPr>
              <a:t>송신</a:t>
            </a:r>
            <a:r>
              <a:rPr lang="en-US" altLang="ko-KR" sz="1300" b="1">
                <a:latin typeface="+mn-ea"/>
                <a:cs typeface="Arial" pitchFamily="34" charset="0"/>
              </a:rPr>
              <a:t>PM </a:t>
            </a:r>
            <a:r>
              <a:rPr lang="ko-KR" altLang="en-US" sz="1300" b="1">
                <a:latin typeface="+mn-ea"/>
                <a:cs typeface="Arial" pitchFamily="34" charset="0"/>
              </a:rPr>
              <a:t>예시</a:t>
            </a:r>
            <a:endParaRPr lang="ko-KR" altLang="en-US" sz="13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057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온라인 어플리케이션 호출 </a:t>
            </a:r>
            <a:r>
              <a:rPr lang="en-US" altLang="ko-KR"/>
              <a:t>: EAI </a:t>
            </a:r>
            <a:r>
              <a:rPr lang="ko-KR" altLang="en-US"/>
              <a:t>연계 </a:t>
            </a:r>
            <a:r>
              <a:rPr lang="en-US" altLang="ko-KR"/>
              <a:t>(</a:t>
            </a:r>
            <a:r>
              <a:rPr lang="ko-KR" altLang="en-US"/>
              <a:t>비동기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/>
              <a:t>비동기 </a:t>
            </a:r>
            <a:r>
              <a:rPr lang="en-US" altLang="ko-KR"/>
              <a:t>EAI</a:t>
            </a:r>
            <a:r>
              <a:rPr lang="ko-KR" altLang="en-US"/>
              <a:t>호출 방식은 </a:t>
            </a:r>
            <a:r>
              <a:rPr lang="en-US" altLang="ko-KR"/>
              <a:t>IR</a:t>
            </a:r>
            <a:r>
              <a:rPr lang="ko-KR" altLang="en-US"/>
              <a:t>방식과 </a:t>
            </a:r>
            <a:r>
              <a:rPr lang="en-US" altLang="ko-KR"/>
              <a:t>SAF </a:t>
            </a:r>
            <a:r>
              <a:rPr lang="ko-KR" altLang="en-US"/>
              <a:t>방식으로 구분된다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132041"/>
              </p:ext>
            </p:extLst>
          </p:nvPr>
        </p:nvGraphicFramePr>
        <p:xfrm>
          <a:off x="360295" y="1188372"/>
          <a:ext cx="9273225" cy="4544884"/>
        </p:xfrm>
        <a:graphic>
          <a:graphicData uri="http://schemas.openxmlformats.org/drawingml/2006/table">
            <a:tbl>
              <a:tblPr/>
              <a:tblGrid>
                <a:gridCol w="4628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445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39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lang="ko-KR" altLang="ko-KR" sz="1200" b="1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방식</a:t>
                      </a:r>
                      <a:endParaRPr lang="ko-KR" altLang="ko-KR" sz="12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SAF </a:t>
                      </a:r>
                      <a:r>
                        <a:rPr lang="ko-KR" altLang="ko-KR" sz="1200" b="1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방식</a:t>
                      </a:r>
                      <a:endParaRPr lang="ko-KR" altLang="ko-KR" sz="12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337">
                <a:tc>
                  <a:txBody>
                    <a:bodyPr/>
                    <a:lstStyle/>
                    <a:p>
                      <a:pPr marL="111760" marR="11176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095"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nKESA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온라인 거래에서 한번 호출한 후 한번 응답 거래 수신함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1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nKESA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온라인 거래에서 여러 번 송신하고 그에 따른 응답을 여러 번</a:t>
                      </a:r>
                      <a:r>
                        <a:rPr lang="en-US" altLang="ko-KR" sz="1100" kern="100" baseline="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수신함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60620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GUID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고정부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(33)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가 유지되며 경로번호 만 증가함</a:t>
                      </a:r>
                    </a:p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+10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증가함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EAI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송신시 미다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GUID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고정부를 재채번하며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원거래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GUID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에 최초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nKESA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온라인 거래의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GUID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를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set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386805"/>
                  </a:ext>
                </a:extLst>
              </a:tr>
              <a:tr h="524624"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EAI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전송 후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MCI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로 더미리턴을 하여 단말이 계속 응답을 기다리게 함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통합단말 입장에서는 한번의 요청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응답만 존재함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EAI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송신한 후 단말로 일반 응답을 내려줘 단말 락을 해제한 후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, EAI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응답 전문 수신시 원 거래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GUID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최초 단말 정보를 획득한 후 별도의 전문으로 응답을 전송함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100" kern="100"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15424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sendOutbound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를 한 번만 할 수 있음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두 번 이상 하면 에러 발생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sendOutbound 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를 최대 </a:t>
                      </a:r>
                      <a:r>
                        <a:rPr lang="en-US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999</a:t>
                      </a:r>
                      <a:r>
                        <a:rPr lang="ko-KR" sz="1100" kern="100"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Times New Roman" panose="02020603050405020304" pitchFamily="18" charset="0"/>
                        </a:rPr>
                        <a:t>건 까지 할 수 있음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02959"/>
                  </a:ext>
                </a:extLst>
              </a:tr>
              <a:tr h="336464">
                <a:tc>
                  <a:txBody>
                    <a:bodyPr/>
                    <a:lstStyle/>
                    <a:p>
                      <a:pPr marL="111760" marR="11176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OutboundHeader eaiHeader =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OutboundHeader(onlineCtx,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true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);</a:t>
                      </a:r>
                      <a:endParaRPr lang="ko-KR" altLang="ko-KR" sz="11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760" marR="11176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OutboundHeader eaiHeader =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OutboundHeader(onlineCtx, 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false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);</a:t>
                      </a:r>
                      <a:endParaRPr lang="ko-KR" altLang="ko-KR" sz="11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11760" marR="111760" algn="l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ko-KR" sz="11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38356"/>
                  </a:ext>
                </a:extLst>
              </a:tr>
            </a:tbl>
          </a:graphicData>
        </a:graphic>
      </p:graphicFrame>
      <p:pic>
        <p:nvPicPr>
          <p:cNvPr id="8" name="그림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80" y="1628800"/>
            <a:ext cx="4188200" cy="1512168"/>
          </a:xfrm>
          <a:prstGeom prst="rect">
            <a:avLst/>
          </a:prstGeom>
          <a:noFill/>
        </p:spPr>
      </p:pic>
      <p:pic>
        <p:nvPicPr>
          <p:cNvPr id="9" name="그림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631" y="1664804"/>
            <a:ext cx="4252865" cy="1476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8192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</a:t>
            </a:r>
            <a:r>
              <a:rPr lang="ko-KR" altLang="en-US"/>
              <a:t> 기본 </a:t>
            </a:r>
            <a:r>
              <a:rPr lang="ko-KR" altLang="en-US" dirty="0"/>
              <a:t>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통합단말에서 </a:t>
            </a:r>
            <a:r>
              <a:rPr lang="en-US" altLang="ko-KR" dirty="0"/>
              <a:t>MCI</a:t>
            </a:r>
            <a:r>
              <a:rPr lang="ko-KR" altLang="en-US" dirty="0"/>
              <a:t>를 거쳐 </a:t>
            </a:r>
            <a:r>
              <a:rPr lang="ko-KR" altLang="en-US" dirty="0" err="1"/>
              <a:t>표준전문이</a:t>
            </a:r>
            <a:r>
              <a:rPr lang="ko-KR" altLang="en-US" dirty="0"/>
              <a:t> 서버로 전달되고 </a:t>
            </a:r>
            <a:r>
              <a:rPr lang="en-US" altLang="ko-KR" dirty="0"/>
              <a:t>WAS </a:t>
            </a:r>
            <a:r>
              <a:rPr lang="ko-KR" altLang="en-US" dirty="0"/>
              <a:t>상의 프레임워크 레이어에서 전문 </a:t>
            </a:r>
            <a:r>
              <a:rPr lang="ko-KR" altLang="en-US" dirty="0" err="1"/>
              <a:t>파싱</a:t>
            </a:r>
            <a:r>
              <a:rPr lang="en-US" altLang="ko-KR" dirty="0"/>
              <a:t>, </a:t>
            </a:r>
            <a:r>
              <a:rPr lang="ko-KR" altLang="en-US" dirty="0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어플리케이션 호출</a:t>
            </a:r>
            <a:r>
              <a:rPr lang="en-US" altLang="ko-KR" dirty="0"/>
              <a:t>, </a:t>
            </a:r>
            <a:r>
              <a:rPr lang="ko-KR" altLang="en-US" dirty="0"/>
              <a:t>후처리</a:t>
            </a:r>
            <a:r>
              <a:rPr lang="en-US" altLang="ko-KR" dirty="0"/>
              <a:t>, </a:t>
            </a:r>
            <a:r>
              <a:rPr lang="ko-KR" altLang="en-US" dirty="0" err="1"/>
              <a:t>거래로깅</a:t>
            </a:r>
            <a:r>
              <a:rPr lang="ko-KR" altLang="en-US" dirty="0"/>
              <a:t> 등 순서로 거래가 처리됨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067331" y="181158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412940" y="2492896"/>
            <a:ext cx="3205654" cy="352839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lIns="180000" rIns="54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84548" y="3161328"/>
            <a:ext cx="1214438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84548" y="2640335"/>
            <a:ext cx="122872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566909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834764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384596" y="2640335"/>
            <a:ext cx="1001713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34764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4" name="Line 20"/>
          <p:cNvSpPr>
            <a:spLocks noChangeShapeType="1"/>
          </p:cNvSpPr>
          <p:nvPr/>
        </p:nvSpPr>
        <p:spPr bwMode="auto">
          <a:xfrm flipV="1">
            <a:off x="2098987" y="3588969"/>
            <a:ext cx="735778" cy="87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386184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6456034" y="3499390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6741784" y="4086771"/>
            <a:ext cx="573087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6743371" y="4679231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566909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4638346" y="3254990"/>
            <a:ext cx="857250" cy="247826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 err="1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1" name="Text Box 25"/>
          <p:cNvSpPr txBox="1">
            <a:spLocks noChangeArrowheads="1"/>
          </p:cNvSpPr>
          <p:nvPr/>
        </p:nvSpPr>
        <p:spPr bwMode="auto">
          <a:xfrm>
            <a:off x="2906201" y="3254990"/>
            <a:ext cx="857250" cy="247826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1058755" y="3254990"/>
            <a:ext cx="857250" cy="6604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000000"/>
                </a:solidFill>
                <a:latin typeface="+mn-ea"/>
              </a:rPr>
              <a:t>통합단말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85" name="Text Box 25"/>
          <p:cNvSpPr txBox="1">
            <a:spLocks noChangeArrowheads="1"/>
          </p:cNvSpPr>
          <p:nvPr/>
        </p:nvSpPr>
        <p:spPr bwMode="auto">
          <a:xfrm>
            <a:off x="5694605" y="4005064"/>
            <a:ext cx="50006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91" name="Text Box 25"/>
          <p:cNvSpPr txBox="1">
            <a:spLocks noChangeArrowheads="1"/>
          </p:cNvSpPr>
          <p:nvPr/>
        </p:nvSpPr>
        <p:spPr bwMode="auto">
          <a:xfrm>
            <a:off x="2252700" y="3392996"/>
            <a:ext cx="50006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TCP/IP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2" name="Line 20"/>
          <p:cNvSpPr>
            <a:spLocks noChangeShapeType="1"/>
          </p:cNvSpPr>
          <p:nvPr/>
        </p:nvSpPr>
        <p:spPr bwMode="auto">
          <a:xfrm flipV="1">
            <a:off x="5567034" y="4164525"/>
            <a:ext cx="817562" cy="669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3" name="Line 20"/>
          <p:cNvSpPr>
            <a:spLocks noChangeShapeType="1"/>
          </p:cNvSpPr>
          <p:nvPr/>
        </p:nvSpPr>
        <p:spPr bwMode="auto">
          <a:xfrm flipH="1" flipV="1">
            <a:off x="5567034" y="4794129"/>
            <a:ext cx="817562" cy="302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4" name="Text Box 25"/>
          <p:cNvSpPr txBox="1">
            <a:spLocks noChangeArrowheads="1"/>
          </p:cNvSpPr>
          <p:nvPr/>
        </p:nvSpPr>
        <p:spPr bwMode="auto">
          <a:xfrm>
            <a:off x="3912878" y="3176972"/>
            <a:ext cx="5000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</a:p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5" name="Line 20"/>
          <p:cNvSpPr>
            <a:spLocks noChangeShapeType="1"/>
          </p:cNvSpPr>
          <p:nvPr/>
        </p:nvSpPr>
        <p:spPr bwMode="auto">
          <a:xfrm rot="16200000" flipH="1" flipV="1">
            <a:off x="6875219" y="3923169"/>
            <a:ext cx="306217" cy="158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6" name="Line 20"/>
          <p:cNvSpPr>
            <a:spLocks noChangeShapeType="1"/>
          </p:cNvSpPr>
          <p:nvPr/>
        </p:nvSpPr>
        <p:spPr bwMode="auto">
          <a:xfrm rot="16200000" flipH="1" flipV="1">
            <a:off x="6870210" y="4520321"/>
            <a:ext cx="316235" cy="1588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7" name="Text Box 25"/>
          <p:cNvSpPr txBox="1">
            <a:spLocks noChangeArrowheads="1"/>
          </p:cNvSpPr>
          <p:nvPr/>
        </p:nvSpPr>
        <p:spPr bwMode="auto">
          <a:xfrm>
            <a:off x="6457621" y="5291299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98" name="Line 20"/>
          <p:cNvSpPr>
            <a:spLocks noChangeShapeType="1"/>
          </p:cNvSpPr>
          <p:nvPr/>
        </p:nvSpPr>
        <p:spPr bwMode="auto">
          <a:xfrm rot="16200000" flipH="1">
            <a:off x="5835510" y="4526316"/>
            <a:ext cx="152997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9" name="Text Box 25"/>
          <p:cNvSpPr txBox="1">
            <a:spLocks noChangeArrowheads="1"/>
          </p:cNvSpPr>
          <p:nvPr/>
        </p:nvSpPr>
        <p:spPr bwMode="auto">
          <a:xfrm>
            <a:off x="5709909" y="462409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결과출력</a:t>
            </a:r>
          </a:p>
        </p:txBody>
      </p:sp>
      <p:sp>
        <p:nvSpPr>
          <p:cNvPr id="100" name="Line 20"/>
          <p:cNvSpPr>
            <a:spLocks noChangeShapeType="1"/>
          </p:cNvSpPr>
          <p:nvPr/>
        </p:nvSpPr>
        <p:spPr bwMode="auto">
          <a:xfrm flipV="1">
            <a:off x="3834889" y="3474337"/>
            <a:ext cx="73202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non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 bwMode="auto">
          <a:xfrm>
            <a:off x="725996" y="1556792"/>
            <a:ext cx="928688" cy="714375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7" name="직사각형 106"/>
          <p:cNvSpPr/>
          <p:nvPr/>
        </p:nvSpPr>
        <p:spPr bwMode="auto">
          <a:xfrm>
            <a:off x="1797559" y="1556792"/>
            <a:ext cx="7295901" cy="714375"/>
          </a:xfrm>
          <a:prstGeom prst="rect">
            <a:avLst/>
          </a:prstGeom>
          <a:solidFill>
            <a:srgbClr val="F2F2F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마다 부여된 거래코드를 기준으로 서비스를 요청하고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거래코드와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간의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매핑은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Framework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이 담당함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Tx/>
              <a:buNone/>
              <a:defRPr/>
            </a:pP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 -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FM, DM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직접 호출 불가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함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회 요청에 대해 정상 처리시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거래로그를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기록하고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오류 발생시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에러로그를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기록함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013340" y="2640335"/>
            <a:ext cx="1001712" cy="4286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인프라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013340" y="3161328"/>
            <a:ext cx="1000125" cy="2715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0" name="Text Box 25"/>
          <p:cNvSpPr txBox="1">
            <a:spLocks noChangeArrowheads="1"/>
          </p:cNvSpPr>
          <p:nvPr/>
        </p:nvSpPr>
        <p:spPr bwMode="auto">
          <a:xfrm>
            <a:off x="8084777" y="3254990"/>
            <a:ext cx="857250" cy="24782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DBMS</a:t>
            </a:r>
          </a:p>
        </p:txBody>
      </p:sp>
      <p:sp>
        <p:nvSpPr>
          <p:cNvPr id="111" name="Line 20"/>
          <p:cNvSpPr>
            <a:spLocks noChangeShapeType="1"/>
          </p:cNvSpPr>
          <p:nvPr/>
        </p:nvSpPr>
        <p:spPr bwMode="auto">
          <a:xfrm rot="16200000" flipH="1">
            <a:off x="7520438" y="4935370"/>
            <a:ext cx="2" cy="985807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2" name="Line 20"/>
          <p:cNvSpPr>
            <a:spLocks noChangeShapeType="1"/>
          </p:cNvSpPr>
          <p:nvPr/>
        </p:nvSpPr>
        <p:spPr bwMode="auto">
          <a:xfrm rot="16200000" flipH="1">
            <a:off x="7663313" y="4461412"/>
            <a:ext cx="2" cy="700056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3" name="Text Box 25"/>
          <p:cNvSpPr txBox="1">
            <a:spLocks noChangeArrowheads="1"/>
          </p:cNvSpPr>
          <p:nvPr/>
        </p:nvSpPr>
        <p:spPr bwMode="auto">
          <a:xfrm>
            <a:off x="4732847" y="5183287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4" name="Text Box 25"/>
          <p:cNvSpPr txBox="1">
            <a:spLocks noChangeArrowheads="1"/>
          </p:cNvSpPr>
          <p:nvPr/>
        </p:nvSpPr>
        <p:spPr bwMode="auto">
          <a:xfrm>
            <a:off x="4732847" y="3743127"/>
            <a:ext cx="660400" cy="3897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거래제어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거래통제</a:t>
            </a:r>
            <a:endParaRPr kumimoji="0" lang="ko-KR" altLang="en-US" sz="1050" kern="0" dirty="0">
              <a:latin typeface="+mn-ea"/>
            </a:endParaRP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4732847" y="3420374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6" name="Text Box 25"/>
          <p:cNvSpPr txBox="1">
            <a:spLocks noChangeArrowheads="1"/>
          </p:cNvSpPr>
          <p:nvPr/>
        </p:nvSpPr>
        <p:spPr bwMode="auto">
          <a:xfrm>
            <a:off x="4732847" y="4862538"/>
            <a:ext cx="6604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거래로깅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506995" y="5733256"/>
            <a:ext cx="90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n-ea"/>
              </a:rPr>
              <a:t>WAS</a:t>
            </a:r>
          </a:p>
        </p:txBody>
      </p:sp>
      <p:sp>
        <p:nvSpPr>
          <p:cNvPr id="118" name="Line 20"/>
          <p:cNvSpPr>
            <a:spLocks noChangeShapeType="1"/>
          </p:cNvSpPr>
          <p:nvPr/>
        </p:nvSpPr>
        <p:spPr bwMode="auto">
          <a:xfrm flipH="1">
            <a:off x="3834890" y="5301206"/>
            <a:ext cx="732020" cy="662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non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BB59F70D-046A-4450-A0D4-065F229D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5771" y="4895255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47" name="Text Box 25">
            <a:extLst>
              <a:ext uri="{FF2B5EF4-FFF2-40B4-BE49-F238E27FC236}">
                <a16:creationId xmlns:a16="http://schemas.microsoft.com/office/drawing/2014/main" id="{4637A4B3-4CE6-4028-912C-927A46EAF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907" y="5471319"/>
            <a:ext cx="569913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2209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</a:t>
            </a:r>
            <a:r>
              <a:rPr lang="ko-KR" altLang="en-US"/>
              <a:t> 연동거래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하나의 </a:t>
            </a:r>
            <a:r>
              <a:rPr lang="en-US" altLang="ko-KR" dirty="0"/>
              <a:t>PM </a:t>
            </a:r>
            <a:r>
              <a:rPr lang="ko-KR" altLang="en-US" dirty="0"/>
              <a:t>에서 또 다른 </a:t>
            </a:r>
            <a:r>
              <a:rPr lang="en-US" altLang="ko-KR" dirty="0"/>
              <a:t>PM </a:t>
            </a:r>
            <a:r>
              <a:rPr lang="ko-KR" altLang="en-US" dirty="0"/>
              <a:t>을 호출하여 두 개 이상의 거래를 실행하는 것을 의미하며</a:t>
            </a:r>
            <a:r>
              <a:rPr lang="en-US" altLang="ko-KR" dirty="0"/>
              <a:t>, 1-</a:t>
            </a:r>
            <a:r>
              <a:rPr lang="ko-KR" altLang="en-US" dirty="0"/>
              <a:t>트랜잭션</a:t>
            </a:r>
            <a:r>
              <a:rPr lang="en-US" altLang="ko-KR" dirty="0"/>
              <a:t>, 2-</a:t>
            </a:r>
            <a:r>
              <a:rPr lang="ko-KR" altLang="en-US" dirty="0"/>
              <a:t>트랜잭션 등 트랜잭션 처리를 선택적으로 할 수 있음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728192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775"/>
            <a:ext cx="7295901" cy="172819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채널은 기본거래와 동일한 방식으로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Framework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상의 서비스를 호출함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기동거래는 수동거래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호출시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수동거래가 정의한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IO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레이아웃과 일치하도록 입출력항목을 조립해야 함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 (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전문이 아닌 </a:t>
            </a:r>
            <a:r>
              <a:rPr lang="en-US" altLang="ko-KR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DataSet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정상처리시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거래로그는 기동거래와 모든 수동거래 각각에 대해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건씩 기록됨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에러 발생시 수동거래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각각에 대해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건씩 기록됨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기동거래에서 에러 발생시 수동거래가 정상일지라도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되며 수동거래에서 생성한 거래로그도 같이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된다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정상 </a:t>
            </a:r>
            <a:r>
              <a:rPr lang="ko-KR" altLang="en-US" sz="10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리턴후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기동 거래에서 에러 발생시 수동거래의 거래로그가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되며 기동거래에만 에러로그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건 저장됨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수동거래가 또 다른 수동거래를 호출할 수 있으나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성능상의 이유로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Depth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를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제한할 수 있음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또한 채널에서 직접 호출할 수 있는 완전성을 가지고 있어야 하며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채널에서 호출되지 않는 거래는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FM, DM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변경해야 함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오류가 발생한 경우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기동거래에서는 </a:t>
            </a:r>
            <a:r>
              <a:rPr lang="en-US" altLang="ko-KR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Update, Insert, Delete </a:t>
            </a:r>
            <a:r>
              <a:rPr lang="ko-KR" altLang="en-US" sz="1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처리 불가함</a:t>
            </a:r>
            <a:endParaRPr lang="en-US" altLang="ko-KR" sz="1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780855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356992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356992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356992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356992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780855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780855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838005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838005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838005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 flipV="1">
            <a:off x="4019177" y="3706369"/>
            <a:ext cx="16534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077322" y="3590355"/>
            <a:ext cx="10001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190500" eaLnBrk="0" fontAlgn="base" hangingPunct="0">
              <a:spcBef>
                <a:spcPct val="0"/>
              </a:spcBef>
              <a:spcAft>
                <a:spcPct val="0"/>
              </a:spcAft>
              <a:tabLst>
                <a:tab pos="1238250" algn="l"/>
              </a:tabLs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b="1" dirty="0">
                <a:solidFill>
                  <a:srgbClr val="000000"/>
                </a:solidFill>
                <a:latin typeface="+mn-lt"/>
                <a:ea typeface="+mn-ea"/>
              </a:rPr>
              <a:t>1 Commit</a:t>
            </a:r>
            <a:endParaRPr lang="ko-KR" altLang="en-US" b="1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rot="10800000" flipH="1">
            <a:off x="7092279" y="3685605"/>
            <a:ext cx="1898693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2743809" y="4414267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H="1">
            <a:off x="2743808" y="5330255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24" name="직선 연결선 99"/>
          <p:cNvCxnSpPr>
            <a:cxnSpLocks noChangeShapeType="1"/>
            <a:endCxn id="20" idx="1"/>
          </p:cNvCxnSpPr>
          <p:nvPr/>
        </p:nvCxnSpPr>
        <p:spPr bwMode="auto">
          <a:xfrm>
            <a:off x="4139951" y="3685605"/>
            <a:ext cx="1937371" cy="0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25" name="직사각형 49"/>
          <p:cNvSpPr>
            <a:spLocks noChangeArrowheads="1"/>
          </p:cNvSpPr>
          <p:nvPr/>
        </p:nvSpPr>
        <p:spPr bwMode="auto">
          <a:xfrm>
            <a:off x="704528" y="3212975"/>
            <a:ext cx="8456612" cy="3067175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6" name="직선 화살표 연결선 102"/>
          <p:cNvCxnSpPr>
            <a:cxnSpLocks noChangeShapeType="1"/>
          </p:cNvCxnSpPr>
          <p:nvPr/>
        </p:nvCxnSpPr>
        <p:spPr bwMode="auto">
          <a:xfrm>
            <a:off x="3801283" y="4410695"/>
            <a:ext cx="410676" cy="3572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7" name="직선 화살표 연결선 104"/>
          <p:cNvCxnSpPr>
            <a:cxnSpLocks noChangeShapeType="1"/>
          </p:cNvCxnSpPr>
          <p:nvPr/>
        </p:nvCxnSpPr>
        <p:spPr bwMode="auto">
          <a:xfrm flipH="1">
            <a:off x="3801284" y="5330255"/>
            <a:ext cx="410675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8" name="직선 화살표 연결선 105"/>
          <p:cNvCxnSpPr>
            <a:cxnSpLocks noChangeShapeType="1"/>
          </p:cNvCxnSpPr>
          <p:nvPr/>
        </p:nvCxnSpPr>
        <p:spPr bwMode="auto">
          <a:xfrm>
            <a:off x="1749124" y="4401567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9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319143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4211959" y="3814440"/>
            <a:ext cx="1000125" cy="211589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283397" y="4193853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계리호출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FF0000"/>
                </a:solidFill>
                <a:latin typeface="+mn-ea"/>
              </a:rPr>
              <a:t>거래로깅</a:t>
            </a:r>
            <a:endParaRPr kumimoji="0" lang="en-US" altLang="ko-KR" sz="1000" kern="0" dirty="0">
              <a:solidFill>
                <a:srgbClr val="FF0000"/>
              </a:solidFill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1959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4354834" y="4922515"/>
            <a:ext cx="714375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</a:t>
            </a:r>
            <a:r>
              <a:rPr kumimoji="0" lang="en-US" altLang="ko-KR" sz="800" kern="0" dirty="0">
                <a:latin typeface="+mn-ea"/>
              </a:rPr>
              <a:t>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0985" y="3814440"/>
            <a:ext cx="1000125" cy="211589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6248772" y="4193853"/>
            <a:ext cx="857250" cy="157162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계리호출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solidFill>
                  <a:srgbClr val="FF0000"/>
                </a:solidFill>
                <a:latin typeface="+mn-ea"/>
              </a:rPr>
              <a:t>거래로깅</a:t>
            </a:r>
            <a:endParaRPr kumimoji="0" lang="en-US" altLang="ko-KR" sz="1000" kern="0" dirty="0">
              <a:solidFill>
                <a:srgbClr val="FF0000"/>
              </a:solidFill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0985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r>
              <a:rPr kumimoji="0" lang="en-US" altLang="ko-KR" sz="1100" kern="0" dirty="0">
                <a:solidFill>
                  <a:sysClr val="window" lastClr="FFFFFF"/>
                </a:solidFill>
                <a:latin typeface="+mn-ea"/>
              </a:rPr>
              <a:t>1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7676330" y="4932040"/>
            <a:ext cx="1000125" cy="19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1000" b="1" dirty="0">
                <a:latin typeface="+mn-ea"/>
                <a:ea typeface="+mn-ea"/>
              </a:rPr>
              <a:t>…. (</a:t>
            </a:r>
            <a:r>
              <a:rPr lang="ko-KR" altLang="en-US" sz="1000" b="1" dirty="0">
                <a:latin typeface="+mn-ea"/>
                <a:ea typeface="+mn-ea"/>
              </a:rPr>
              <a:t>多연동</a:t>
            </a:r>
            <a:r>
              <a:rPr lang="en-US" altLang="ko-KR" sz="1000" b="1" dirty="0">
                <a:latin typeface="+mn-ea"/>
                <a:ea typeface="+mn-ea"/>
              </a:rPr>
              <a:t>)</a:t>
            </a:r>
            <a:endParaRPr lang="ko-KR" altLang="en-US" sz="1000" b="1" dirty="0">
              <a:latin typeface="+mn-ea"/>
              <a:ea typeface="+mn-ea"/>
            </a:endParaRPr>
          </a:p>
        </p:txBody>
      </p:sp>
      <p:cxnSp>
        <p:nvCxnSpPr>
          <p:cNvPr id="38" name="직선 화살표 연결선 70"/>
          <p:cNvCxnSpPr>
            <a:cxnSpLocks noChangeShapeType="1"/>
          </p:cNvCxnSpPr>
          <p:nvPr/>
        </p:nvCxnSpPr>
        <p:spPr bwMode="auto">
          <a:xfrm flipV="1">
            <a:off x="5220072" y="4193853"/>
            <a:ext cx="1143000" cy="714375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직선 화살표 연결선 71"/>
          <p:cNvCxnSpPr>
            <a:cxnSpLocks noChangeShapeType="1"/>
          </p:cNvCxnSpPr>
          <p:nvPr/>
        </p:nvCxnSpPr>
        <p:spPr bwMode="auto">
          <a:xfrm rot="10800000">
            <a:off x="5220072" y="5193978"/>
            <a:ext cx="1143000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직선 화살표 연결선 77"/>
          <p:cNvCxnSpPr>
            <a:cxnSpLocks noChangeShapeType="1"/>
          </p:cNvCxnSpPr>
          <p:nvPr/>
        </p:nvCxnSpPr>
        <p:spPr bwMode="auto">
          <a:xfrm rot="5400000" flipH="1" flipV="1">
            <a:off x="7604892" y="4265291"/>
            <a:ext cx="714375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직선 화살표 연결선 78"/>
          <p:cNvCxnSpPr>
            <a:cxnSpLocks noChangeShapeType="1"/>
          </p:cNvCxnSpPr>
          <p:nvPr/>
        </p:nvCxnSpPr>
        <p:spPr bwMode="auto">
          <a:xfrm rot="16200000" flipV="1">
            <a:off x="7676330" y="5193978"/>
            <a:ext cx="571500" cy="57150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5434385" y="4678040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① 수동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호출</a:t>
            </a: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5434385" y="5193978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③ 수동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종료</a:t>
            </a: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4895377" y="4734397"/>
            <a:ext cx="34766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4788221" y="5484491"/>
            <a:ext cx="56197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188265" y="56571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>
                <a:latin typeface="+mn-ea"/>
                <a:ea typeface="+mn-ea"/>
              </a:rPr>
              <a:t>④ 기동</a:t>
            </a:r>
            <a:r>
              <a:rPr lang="en-US" altLang="ko-KR" sz="800" u="sng">
                <a:latin typeface="+mn-ea"/>
                <a:ea typeface="+mn-ea"/>
              </a:rPr>
              <a:t>PM </a:t>
            </a:r>
            <a:r>
              <a:rPr lang="ko-KR" altLang="en-US" sz="800" u="sng">
                <a:latin typeface="+mn-ea"/>
                <a:ea typeface="+mn-ea"/>
              </a:rPr>
              <a:t>종료</a:t>
            </a: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5577259" y="4979666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220197" y="4892353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 기동</a:t>
            </a:r>
            <a:r>
              <a:rPr lang="en-US" altLang="ko-KR" sz="800" u="sng" dirty="0">
                <a:latin typeface="+mn-ea"/>
                <a:ea typeface="+mn-ea"/>
              </a:rPr>
              <a:t>/</a:t>
            </a:r>
            <a:r>
              <a:rPr lang="ko-KR" altLang="en-US" sz="800" u="sng" dirty="0">
                <a:latin typeface="+mn-ea"/>
                <a:ea typeface="+mn-ea"/>
              </a:rPr>
              <a:t>수동판단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4322" y="3789040"/>
            <a:ext cx="1000125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r>
              <a:rPr kumimoji="0" lang="en-US" altLang="ko-KR" sz="1100" kern="0" dirty="0">
                <a:solidFill>
                  <a:sysClr val="window" lastClr="FFFFFF"/>
                </a:solidFill>
                <a:latin typeface="+mn-ea"/>
              </a:rPr>
              <a:t>2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50" name="Line 20"/>
          <p:cNvSpPr>
            <a:spLocks noChangeShapeType="1"/>
          </p:cNvSpPr>
          <p:nvPr/>
        </p:nvSpPr>
        <p:spPr bwMode="auto">
          <a:xfrm rot="16200000" flipH="1" flipV="1">
            <a:off x="8928421" y="3706366"/>
            <a:ext cx="16534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3131839" y="5214297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3120344" y="4270598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 rot="19662771">
            <a:off x="5225886" y="4436328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callService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6329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</a:t>
            </a:r>
            <a:r>
              <a:rPr lang="ko-KR" altLang="en-US"/>
              <a:t> 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Non-Transactional 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호출되는 </a:t>
            </a:r>
            <a:r>
              <a:rPr lang="ko-KR" altLang="en-US" dirty="0" err="1"/>
              <a:t>수동거래를</a:t>
            </a:r>
            <a:r>
              <a:rPr lang="ko-KR" altLang="en-US" dirty="0"/>
              <a:t> 비동기 방식으로 호출하여 </a:t>
            </a:r>
            <a:r>
              <a:rPr lang="ko-KR" altLang="en-US" dirty="0" err="1"/>
              <a:t>기동거래가</a:t>
            </a:r>
            <a:r>
              <a:rPr lang="ko-KR" altLang="en-US" dirty="0"/>
              <a:t> </a:t>
            </a:r>
            <a:r>
              <a:rPr lang="ko-KR" altLang="en-US" dirty="0" err="1"/>
              <a:t>수동거래의</a:t>
            </a:r>
            <a:r>
              <a:rPr lang="ko-KR" altLang="en-US" dirty="0"/>
              <a:t> 응답을 기다리지 않도록 하는 것을 비동기 연동거래라고 함</a:t>
            </a:r>
            <a:r>
              <a:rPr lang="en-US" altLang="ko-KR" dirty="0"/>
              <a:t>. Transactional </a:t>
            </a:r>
            <a:r>
              <a:rPr lang="ko-KR" altLang="en-US" dirty="0"/>
              <a:t>과 </a:t>
            </a:r>
            <a:r>
              <a:rPr lang="en-US" altLang="ko-KR" dirty="0"/>
              <a:t>Non-Transactional </a:t>
            </a:r>
            <a:r>
              <a:rPr lang="ko-KR" altLang="en-US" dirty="0"/>
              <a:t>두가지 방식 </a:t>
            </a:r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8102278" y="4860855"/>
            <a:ext cx="924199" cy="880439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lang="ko-KR" altLang="en-US" sz="800" dirty="0">
                <a:latin typeface="+mn-ea"/>
              </a:rPr>
              <a:t>기동거래와 수동거래가 동시에 실행되며</a:t>
            </a:r>
            <a:r>
              <a:rPr lang="en-US" altLang="ko-KR" sz="800" dirty="0">
                <a:latin typeface="+mn-ea"/>
              </a:rPr>
              <a:t>, </a:t>
            </a:r>
          </a:p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lang="ko-KR" altLang="en-US" sz="800" dirty="0">
                <a:latin typeface="+mn-ea"/>
              </a:rPr>
              <a:t>어느 것이 먼저 종료될지는 알 수 없음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1039" y="1412776"/>
            <a:ext cx="928688" cy="1296144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2602" y="1412775"/>
            <a:ext cx="7295901" cy="12961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동기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오류가 발생하더라도 기동거래에서는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Insert, Update, Delete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처리 가능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기동거래는 수동거래의 처리결과를 기다리지 않고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다음 처리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로직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즉시 실행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채널로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부터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회 거래요청에 대해 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비동기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연동거래를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혼용하여 사용할 수 있음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814064" y="3564832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814064" y="3140969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3015470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957997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097783" y="3140969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1957997" y="3564832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3015470" y="3564832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086908" y="3621982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029434" y="3621982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885502" y="3621982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43809" y="4198244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2743808" y="5114232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직사각형 49"/>
          <p:cNvSpPr>
            <a:spLocks noChangeArrowheads="1"/>
          </p:cNvSpPr>
          <p:nvPr/>
        </p:nvSpPr>
        <p:spPr bwMode="auto">
          <a:xfrm>
            <a:off x="704528" y="2996952"/>
            <a:ext cx="8456612" cy="324036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" name="직선 화살표 연결선 102"/>
          <p:cNvCxnSpPr>
            <a:cxnSpLocks noChangeShapeType="1"/>
          </p:cNvCxnSpPr>
          <p:nvPr/>
        </p:nvCxnSpPr>
        <p:spPr bwMode="auto">
          <a:xfrm>
            <a:off x="3801283" y="4194672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114232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5"/>
          <p:cNvCxnSpPr>
            <a:cxnSpLocks noChangeShapeType="1"/>
          </p:cNvCxnSpPr>
          <p:nvPr/>
        </p:nvCxnSpPr>
        <p:spPr bwMode="auto">
          <a:xfrm>
            <a:off x="1749124" y="4185544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6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103120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31839" y="4998274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120344" y="4054575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63963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4435401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3963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4506838" y="4809432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8258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7099695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8258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6" name="직선 화살표 연결선 70"/>
          <p:cNvCxnSpPr>
            <a:cxnSpLocks noChangeShapeType="1"/>
            <a:stCxn id="38" idx="1"/>
          </p:cNvCxnSpPr>
          <p:nvPr/>
        </p:nvCxnSpPr>
        <p:spPr bwMode="auto">
          <a:xfrm flipV="1">
            <a:off x="5292652" y="4054575"/>
            <a:ext cx="1735606" cy="873919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5802981" y="46983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rot="16200000" flipH="1">
            <a:off x="5118820" y="4754663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5292651" y="548411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 flipV="1">
            <a:off x="6313882" y="4857057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6200000" flipH="1">
            <a:off x="4297288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 flipH="1">
            <a:off x="4363963" y="357118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363963" y="342195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5297413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6961583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rot="10800000" flipH="1">
            <a:off x="7028258" y="357753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7028258" y="342830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 rot="16200000" flipH="1">
            <a:off x="7961708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7086210" y="5741294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②수동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50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322194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 Box 25"/>
          <p:cNvSpPr txBox="1">
            <a:spLocks noChangeArrowheads="1"/>
          </p:cNvSpPr>
          <p:nvPr/>
        </p:nvSpPr>
        <p:spPr bwMode="auto">
          <a:xfrm rot="19938636">
            <a:off x="5335871" y="4281605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callAsyncServiceNow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4276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</a:t>
            </a:r>
            <a:r>
              <a:rPr lang="ko-KR" altLang="en-US"/>
              <a:t> 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Transactional 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비동기 거래 중 </a:t>
            </a:r>
            <a:r>
              <a:rPr lang="ko-KR" altLang="en-US" dirty="0" err="1"/>
              <a:t>기동거래가</a:t>
            </a:r>
            <a:r>
              <a:rPr lang="ko-KR" altLang="en-US" dirty="0"/>
              <a:t> 정상 </a:t>
            </a:r>
            <a:r>
              <a:rPr lang="en-US" altLang="ko-KR" dirty="0"/>
              <a:t>commit </a:t>
            </a:r>
            <a:r>
              <a:rPr lang="ko-KR" altLang="en-US" dirty="0"/>
              <a:t>일 경우만 </a:t>
            </a:r>
            <a:r>
              <a:rPr lang="ko-KR" altLang="en-US" dirty="0" err="1"/>
              <a:t>수동거래가</a:t>
            </a:r>
            <a:r>
              <a:rPr lang="ko-KR" altLang="en-US" dirty="0"/>
              <a:t> 실행되도록 함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296144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875"/>
            <a:ext cx="7295901" cy="12961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동기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수동거래는 기동거래가 정상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commit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될 때까지 대기후 수행됨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에러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rollback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일 경우 수동거래는 수행되지 않고 취소됨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564832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140969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140969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140969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564832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564832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621982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621982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621982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2743809" y="4198244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2743808" y="5114232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49"/>
          <p:cNvSpPr>
            <a:spLocks noChangeArrowheads="1"/>
          </p:cNvSpPr>
          <p:nvPr/>
        </p:nvSpPr>
        <p:spPr bwMode="auto">
          <a:xfrm>
            <a:off x="704528" y="2996952"/>
            <a:ext cx="8456612" cy="324036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" name="직선 화살표 연결선 102"/>
          <p:cNvCxnSpPr>
            <a:cxnSpLocks noChangeShapeType="1"/>
          </p:cNvCxnSpPr>
          <p:nvPr/>
        </p:nvCxnSpPr>
        <p:spPr bwMode="auto">
          <a:xfrm>
            <a:off x="3801283" y="4194672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3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114232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5"/>
          <p:cNvCxnSpPr>
            <a:cxnSpLocks noChangeShapeType="1"/>
          </p:cNvCxnSpPr>
          <p:nvPr/>
        </p:nvCxnSpPr>
        <p:spPr bwMode="auto">
          <a:xfrm>
            <a:off x="1749124" y="4185544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103120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3131839" y="4998274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20344" y="4054575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63963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4435401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3963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506838" y="4809432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338" y="3691832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819775" y="4071244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8338" y="3666432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5" name="직선 화살표 연결선 70"/>
          <p:cNvCxnSpPr>
            <a:cxnSpLocks noChangeShapeType="1"/>
            <a:stCxn id="37" idx="1"/>
            <a:endCxn id="50" idx="1"/>
          </p:cNvCxnSpPr>
          <p:nvPr/>
        </p:nvCxnSpPr>
        <p:spPr bwMode="auto">
          <a:xfrm flipV="1">
            <a:off x="5292652" y="4286263"/>
            <a:ext cx="1377195" cy="64223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5658965" y="4698307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rot="16200000" flipH="1">
            <a:off x="5118820" y="4754663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5292651" y="548411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 rot="16200000" flipH="1" flipV="1">
            <a:off x="7033962" y="4857057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>
            <a:off x="4297288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 flipH="1">
            <a:off x="4363963" y="357118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4363963" y="342195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13" y="357594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7681663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0800000" flipH="1">
            <a:off x="7748338" y="3577532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748338" y="3428307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8681788" y="358229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7781701" y="5741294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⑤ </a:t>
            </a:r>
            <a:r>
              <a:rPr lang="ko-KR" altLang="en-US" sz="800" u="sng" dirty="0">
                <a:latin typeface="+mn-ea"/>
                <a:ea typeface="+mn-ea"/>
              </a:rPr>
              <a:t>수동</a:t>
            </a:r>
            <a:r>
              <a:rPr lang="en-US" altLang="ko-KR" sz="800" u="sng" dirty="0">
                <a:latin typeface="+mn-ea"/>
                <a:ea typeface="+mn-ea"/>
              </a:rPr>
              <a:t> 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49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322194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6669847" y="4099400"/>
            <a:ext cx="702533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cxnSp>
        <p:nvCxnSpPr>
          <p:cNvPr id="51" name="직선 화살표 연결선 70"/>
          <p:cNvCxnSpPr>
            <a:cxnSpLocks noChangeShapeType="1"/>
            <a:stCxn id="28" idx="2"/>
            <a:endCxn id="50" idx="2"/>
          </p:cNvCxnSpPr>
          <p:nvPr/>
        </p:nvCxnSpPr>
        <p:spPr bwMode="auto">
          <a:xfrm rot="5400000" flipH="1" flipV="1">
            <a:off x="5321979" y="4015173"/>
            <a:ext cx="1241181" cy="2157088"/>
          </a:xfrm>
          <a:prstGeom prst="bentConnector3">
            <a:avLst>
              <a:gd name="adj1" fmla="val -32743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148063" y="5801676"/>
            <a:ext cx="15513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기동 정상 </a:t>
            </a:r>
            <a:r>
              <a:rPr lang="en-US" altLang="ko-KR" sz="800" u="sng" dirty="0">
                <a:latin typeface="+mn-ea"/>
                <a:ea typeface="+mn-ea"/>
              </a:rPr>
              <a:t>Commit </a:t>
            </a:r>
            <a:r>
              <a:rPr lang="ko-KR" altLang="en-US" sz="800" u="sng" dirty="0">
                <a:latin typeface="+mn-ea"/>
                <a:ea typeface="+mn-ea"/>
              </a:rPr>
              <a:t>후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수동 실행 요청</a:t>
            </a:r>
          </a:p>
        </p:txBody>
      </p:sp>
      <p:cxnSp>
        <p:nvCxnSpPr>
          <p:cNvPr id="53" name="직선 화살표 연결선 70"/>
          <p:cNvCxnSpPr>
            <a:cxnSpLocks noChangeShapeType="1"/>
            <a:stCxn id="50" idx="3"/>
          </p:cNvCxnSpPr>
          <p:nvPr/>
        </p:nvCxnSpPr>
        <p:spPr bwMode="auto">
          <a:xfrm>
            <a:off x="7372380" y="4286263"/>
            <a:ext cx="375958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6957666" y="3826545"/>
            <a:ext cx="857250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④ </a:t>
            </a:r>
            <a:r>
              <a:rPr lang="ko-KR" altLang="en-US" sz="800" u="sng" dirty="0">
                <a:latin typeface="+mn-ea"/>
                <a:ea typeface="+mn-ea"/>
              </a:rPr>
              <a:t>수동 실행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시작</a:t>
            </a: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 rot="20068542">
            <a:off x="5241082" y="4344709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callAsyncServiceAfterCommit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6308687" y="4421666"/>
            <a:ext cx="34662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적재</a:t>
            </a: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7020271" y="4637690"/>
            <a:ext cx="34662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4056015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아래쪽 화살표 7">
            <a:extLst>
              <a:ext uri="{FF2B5EF4-FFF2-40B4-BE49-F238E27FC236}">
                <a16:creationId xmlns:a16="http://schemas.microsoft.com/office/drawing/2014/main" id="{57866659-6535-495C-A314-AB3569686C4D}"/>
              </a:ext>
            </a:extLst>
          </p:cNvPr>
          <p:cNvSpPr/>
          <p:nvPr/>
        </p:nvSpPr>
        <p:spPr>
          <a:xfrm rot="16200000">
            <a:off x="4864633" y="3880051"/>
            <a:ext cx="1054190" cy="3588323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동기거래 </a:t>
            </a:r>
            <a:r>
              <a:rPr lang="en-US" altLang="ko-KR" dirty="0"/>
              <a:t>+ </a:t>
            </a:r>
            <a:r>
              <a:rPr lang="ko-KR" altLang="en-US" dirty="0"/>
              <a:t>비동기 보상패턴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/>
              <a:t>기동거래 내 동기형태로 </a:t>
            </a:r>
            <a:r>
              <a:rPr lang="en-US" altLang="ko-KR" dirty="0"/>
              <a:t>EAI</a:t>
            </a:r>
            <a:r>
              <a:rPr lang="ko-KR" altLang="en-US" dirty="0"/>
              <a:t>를 통한 동기거래를 호출하는 경우</a:t>
            </a:r>
            <a:r>
              <a:rPr lang="en-US" altLang="ko-KR" dirty="0"/>
              <a:t>, *</a:t>
            </a:r>
            <a:r>
              <a:rPr lang="en-US" altLang="ko-KR" dirty="0" err="1"/>
              <a:t>AfterRollback</a:t>
            </a:r>
            <a:r>
              <a:rPr lang="ko-KR" altLang="en-US" dirty="0"/>
              <a:t>기능으로 보상거래 호출 거래를 등록하여 기동거래가 </a:t>
            </a:r>
            <a:r>
              <a:rPr lang="en-US" altLang="ko-KR" dirty="0"/>
              <a:t>rollback</a:t>
            </a:r>
            <a:r>
              <a:rPr lang="ko-KR" altLang="en-US" dirty="0"/>
              <a:t>된 경우 호출되도록 함</a:t>
            </a:r>
            <a:endParaRPr lang="en-US" altLang="ko-KR" dirty="0"/>
          </a:p>
        </p:txBody>
      </p:sp>
      <p:sp>
        <p:nvSpPr>
          <p:cNvPr id="8" name="아래쪽 화살표 7"/>
          <p:cNvSpPr/>
          <p:nvPr/>
        </p:nvSpPr>
        <p:spPr>
          <a:xfrm rot="16200000">
            <a:off x="3534510" y="462063"/>
            <a:ext cx="1054190" cy="6301337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82374" y="1780651"/>
            <a:ext cx="1333500" cy="18911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741039" y="1275258"/>
            <a:ext cx="928688" cy="1169200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812602" y="1275259"/>
            <a:ext cx="7295901" cy="11692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 내부에서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통한 동기거래를 호출하는 경우에 해당함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callAsyncServiceAfterRollback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보상거래를 호출할 수동거래를 등록함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기동거래가 에러가 발생하여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되면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callAsyncServiceAfterRollback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으로 등록한 수동거래가 호출됨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 내부에선 원거래에 대한 보상거래를 호출하는 로직을 구현해야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호출에 대한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원거래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보상거래 호출내역은 업무에서 업무의 처리내역로그로 쌓아야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2" name="직사각형 49"/>
          <p:cNvSpPr>
            <a:spLocks noChangeArrowheads="1"/>
          </p:cNvSpPr>
          <p:nvPr/>
        </p:nvSpPr>
        <p:spPr bwMode="auto">
          <a:xfrm>
            <a:off x="704528" y="2541333"/>
            <a:ext cx="8456612" cy="3744416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720430" y="2694444"/>
            <a:ext cx="2506906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 – Core #2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170141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20162" y="3100726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52276" y="5207966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82740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6242295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EAI</a:t>
            </a: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2794033" y="3185021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94033" y="3175495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기동거래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- A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3526147" y="5279404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26147" y="5279404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수동거래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- C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cxnSp>
        <p:nvCxnSpPr>
          <p:cNvPr id="42" name="직선 화살표 연결선 108"/>
          <p:cNvCxnSpPr>
            <a:cxnSpLocks noChangeShapeType="1"/>
          </p:cNvCxnSpPr>
          <p:nvPr/>
        </p:nvCxnSpPr>
        <p:spPr bwMode="auto">
          <a:xfrm>
            <a:off x="4365540" y="3463416"/>
            <a:ext cx="972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화살표 연결선 115"/>
          <p:cNvCxnSpPr>
            <a:cxnSpLocks noChangeShapeType="1"/>
          </p:cNvCxnSpPr>
          <p:nvPr/>
        </p:nvCxnSpPr>
        <p:spPr bwMode="auto">
          <a:xfrm flipH="1">
            <a:off x="4365597" y="3524890"/>
            <a:ext cx="972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직사각형 78"/>
          <p:cNvSpPr/>
          <p:nvPr/>
        </p:nvSpPr>
        <p:spPr>
          <a:xfrm>
            <a:off x="2910614" y="3416301"/>
            <a:ext cx="14666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 요청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보상거래 호출거래 등록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lang="en-US" altLang="ko-KR" sz="800" kern="0" dirty="0">
                <a:latin typeface="+mn-ea"/>
              </a:rPr>
              <a:t>B</a:t>
            </a:r>
            <a:r>
              <a:rPr lang="ko-KR" altLang="en-US" sz="800" kern="0" dirty="0">
                <a:latin typeface="+mn-ea"/>
              </a:rPr>
              <a:t>거래 처리내역로그등록</a:t>
            </a:r>
            <a:br>
              <a:rPr lang="en-US" altLang="ko-KR" sz="800" kern="0" dirty="0">
                <a:latin typeface="+mn-ea"/>
              </a:rPr>
            </a:br>
            <a:r>
              <a:rPr lang="en-US" altLang="ko-KR" sz="800" kern="0" dirty="0">
                <a:latin typeface="+mn-ea"/>
              </a:rPr>
              <a:t>  </a:t>
            </a:r>
            <a:r>
              <a:rPr lang="ko-KR" altLang="en-US" sz="800" kern="0" dirty="0">
                <a:latin typeface="+mn-ea"/>
              </a:rPr>
              <a:t>상태</a:t>
            </a:r>
            <a:r>
              <a:rPr lang="en-US" altLang="ko-KR" sz="800" kern="0" dirty="0">
                <a:latin typeface="+mn-ea"/>
              </a:rPr>
              <a:t>=</a:t>
            </a:r>
            <a:r>
              <a:rPr lang="ko-KR" altLang="en-US" sz="800" kern="0" dirty="0">
                <a:latin typeface="+mn-ea"/>
              </a:rPr>
              <a:t>정상 </a:t>
            </a:r>
            <a:r>
              <a:rPr lang="en-US" altLang="ko-KR" sz="800" kern="0" dirty="0">
                <a:latin typeface="+mn-ea"/>
              </a:rPr>
              <a:t>or </a:t>
            </a:r>
            <a:r>
              <a:rPr lang="ko-KR" altLang="en-US" sz="800" kern="0" dirty="0">
                <a:latin typeface="+mn-ea"/>
              </a:rPr>
              <a:t>오류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720991" y="5470975"/>
            <a:ext cx="1506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보상거래</a:t>
            </a:r>
            <a:r>
              <a:rPr lang="en-US" altLang="ko-KR" sz="800" kern="0" dirty="0">
                <a:latin typeface="+mn-ea"/>
              </a:rPr>
              <a:t>(D) </a:t>
            </a:r>
            <a:r>
              <a:rPr lang="ko-KR" altLang="en-US" sz="800" kern="0" dirty="0">
                <a:latin typeface="+mn-ea"/>
              </a:rPr>
              <a:t>요청</a:t>
            </a:r>
            <a:endParaRPr kumimoji="0" lang="en-US" altLang="ko-KR" sz="800" kern="0" dirty="0">
              <a:latin typeface="+mn-ea"/>
            </a:endParaRPr>
          </a:p>
          <a:p>
            <a:pPr defTabSz="190500"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lang="ko-KR" altLang="en-US" sz="800" kern="0" dirty="0">
                <a:latin typeface="+mn-ea"/>
              </a:rPr>
              <a:t>보상거래</a:t>
            </a:r>
            <a:r>
              <a:rPr lang="en-US" altLang="ko-KR" sz="800" kern="0" dirty="0">
                <a:latin typeface="+mn-ea"/>
              </a:rPr>
              <a:t>(D) </a:t>
            </a:r>
            <a:r>
              <a:rPr lang="ko-KR" altLang="en-US" sz="800" kern="0" dirty="0">
                <a:latin typeface="+mn-ea"/>
              </a:rPr>
              <a:t>처리내역로그등록</a:t>
            </a:r>
            <a:br>
              <a:rPr lang="en-US" altLang="ko-KR" sz="800" kern="0" dirty="0">
                <a:latin typeface="+mn-ea"/>
              </a:rPr>
            </a:br>
            <a:r>
              <a:rPr lang="en-US" altLang="ko-KR" sz="800" kern="0" dirty="0">
                <a:latin typeface="+mn-ea"/>
              </a:rPr>
              <a:t>  </a:t>
            </a:r>
            <a:r>
              <a:rPr lang="ko-KR" altLang="en-US" sz="800" kern="0" dirty="0">
                <a:latin typeface="+mn-ea"/>
              </a:rPr>
              <a:t>상태</a:t>
            </a:r>
            <a:r>
              <a:rPr lang="en-US" altLang="ko-KR" sz="800" kern="0" dirty="0">
                <a:latin typeface="+mn-ea"/>
              </a:rPr>
              <a:t>=</a:t>
            </a:r>
            <a:r>
              <a:rPr lang="ko-KR" altLang="en-US" sz="800" kern="0" dirty="0">
                <a:latin typeface="+mn-ea"/>
              </a:rPr>
              <a:t>정상 </a:t>
            </a:r>
            <a:r>
              <a:rPr lang="en-US" altLang="ko-KR" sz="800" kern="0" dirty="0">
                <a:latin typeface="+mn-ea"/>
              </a:rPr>
              <a:t>or </a:t>
            </a:r>
            <a:r>
              <a:rPr lang="ko-KR" altLang="en-US" sz="800" kern="0" dirty="0">
                <a:latin typeface="+mn-ea"/>
              </a:rPr>
              <a:t>오류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DFE2362-F6DA-4B10-B59C-A9BB9EEC9027}"/>
              </a:ext>
            </a:extLst>
          </p:cNvPr>
          <p:cNvSpPr/>
          <p:nvPr/>
        </p:nvSpPr>
        <p:spPr>
          <a:xfrm>
            <a:off x="7060750" y="2700756"/>
            <a:ext cx="1960701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 – Core #1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9AF070-65AD-44DF-A7C4-9703AEDCFD0A}"/>
              </a:ext>
            </a:extLst>
          </p:cNvPr>
          <p:cNvSpPr txBox="1"/>
          <p:nvPr/>
        </p:nvSpPr>
        <p:spPr>
          <a:xfrm>
            <a:off x="7196692" y="3107038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44B9F2-6810-4910-B928-BFBA3190166E}"/>
              </a:ext>
            </a:extLst>
          </p:cNvPr>
          <p:cNvSpPr txBox="1"/>
          <p:nvPr/>
        </p:nvSpPr>
        <p:spPr>
          <a:xfrm>
            <a:off x="7196692" y="5214278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0" name="Text Box 25">
            <a:extLst>
              <a:ext uri="{FF2B5EF4-FFF2-40B4-BE49-F238E27FC236}">
                <a16:creationId xmlns:a16="http://schemas.microsoft.com/office/drawing/2014/main" id="{44D2E318-E3FA-4892-B73D-1F50C2942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563" y="3191333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52B4F57-E73C-4452-9F8F-7AE6A34F367A}"/>
              </a:ext>
            </a:extLst>
          </p:cNvPr>
          <p:cNvSpPr txBox="1"/>
          <p:nvPr/>
        </p:nvSpPr>
        <p:spPr>
          <a:xfrm>
            <a:off x="7270563" y="3181807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B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92" name="Text Box 25">
            <a:extLst>
              <a:ext uri="{FF2B5EF4-FFF2-40B4-BE49-F238E27FC236}">
                <a16:creationId xmlns:a16="http://schemas.microsoft.com/office/drawing/2014/main" id="{DA78122B-C0B0-488B-A3C2-9B79313E3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563" y="5285716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DB4520-654E-478F-91B0-194DDACD13BD}"/>
              </a:ext>
            </a:extLst>
          </p:cNvPr>
          <p:cNvSpPr txBox="1"/>
          <p:nvPr/>
        </p:nvSpPr>
        <p:spPr>
          <a:xfrm>
            <a:off x="7270563" y="5285716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D</a:t>
            </a: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거래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A672C45-2157-4726-ACCD-974C75591ABD}"/>
              </a:ext>
            </a:extLst>
          </p:cNvPr>
          <p:cNvSpPr/>
          <p:nvPr/>
        </p:nvSpPr>
        <p:spPr>
          <a:xfrm>
            <a:off x="7387144" y="3422613"/>
            <a:ext cx="14666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 처리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6330C36-6736-4E27-9BEB-DE7D59FD443D}"/>
              </a:ext>
            </a:extLst>
          </p:cNvPr>
          <p:cNvSpPr/>
          <p:nvPr/>
        </p:nvSpPr>
        <p:spPr>
          <a:xfrm>
            <a:off x="7393989" y="5477287"/>
            <a:ext cx="150634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B</a:t>
            </a:r>
            <a:r>
              <a:rPr kumimoji="0" lang="ko-KR" altLang="en-US" sz="800" kern="0" dirty="0">
                <a:latin typeface="+mn-ea"/>
              </a:rPr>
              <a:t>거래에 대한 보상처리</a:t>
            </a:r>
            <a:endParaRPr kumimoji="0" lang="en-US" altLang="ko-KR" sz="800" kern="0" dirty="0">
              <a:latin typeface="+mn-ea"/>
            </a:endParaRPr>
          </a:p>
        </p:txBody>
      </p:sp>
      <p:cxnSp>
        <p:nvCxnSpPr>
          <p:cNvPr id="100" name="직선 화살표 연결선 108">
            <a:extLst>
              <a:ext uri="{FF2B5EF4-FFF2-40B4-BE49-F238E27FC236}">
                <a16:creationId xmlns:a16="http://schemas.microsoft.com/office/drawing/2014/main" id="{E2A3256B-3515-4A15-8549-0B24518B77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16783" y="3465004"/>
            <a:ext cx="288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순서도: 자기 디스크 101">
            <a:extLst>
              <a:ext uri="{FF2B5EF4-FFF2-40B4-BE49-F238E27FC236}">
                <a16:creationId xmlns:a16="http://schemas.microsoft.com/office/drawing/2014/main" id="{23AF8B65-48CE-4EB2-9958-91D11ABA1972}"/>
              </a:ext>
            </a:extLst>
          </p:cNvPr>
          <p:cNvSpPr/>
          <p:nvPr/>
        </p:nvSpPr>
        <p:spPr>
          <a:xfrm>
            <a:off x="2648744" y="5473207"/>
            <a:ext cx="610301" cy="47935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처리내역</a:t>
            </a:r>
            <a:b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87B495D-3D28-448A-A6FD-69CA04881125}"/>
              </a:ext>
            </a:extLst>
          </p:cNvPr>
          <p:cNvSpPr/>
          <p:nvPr/>
        </p:nvSpPr>
        <p:spPr>
          <a:xfrm>
            <a:off x="5341130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FW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1D755D-6F33-4564-8E2A-3FDB8C724682}"/>
              </a:ext>
            </a:extLst>
          </p:cNvPr>
          <p:cNvSpPr txBox="1"/>
          <p:nvPr/>
        </p:nvSpPr>
        <p:spPr>
          <a:xfrm>
            <a:off x="5353729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5" name="Text Box 25">
            <a:extLst>
              <a:ext uri="{FF2B5EF4-FFF2-40B4-BE49-F238E27FC236}">
                <a16:creationId xmlns:a16="http://schemas.microsoft.com/office/drawing/2014/main" id="{403186BC-D693-4E6A-8DAF-E9D3ECEE2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284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FW</a:t>
            </a:r>
          </a:p>
        </p:txBody>
      </p:sp>
      <p:cxnSp>
        <p:nvCxnSpPr>
          <p:cNvPr id="124" name="직선 화살표 연결선 115">
            <a:extLst>
              <a:ext uri="{FF2B5EF4-FFF2-40B4-BE49-F238E27FC236}">
                <a16:creationId xmlns:a16="http://schemas.microsoft.com/office/drawing/2014/main" id="{D1AC902D-7EF3-49A4-BBF9-9AE7FF552FC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97216" y="3524890"/>
            <a:ext cx="288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직선 화살표 연결선 108">
            <a:extLst>
              <a:ext uri="{FF2B5EF4-FFF2-40B4-BE49-F238E27FC236}">
                <a16:creationId xmlns:a16="http://schemas.microsoft.com/office/drawing/2014/main" id="{5AFE94F6-EE9F-4D55-9AB0-E4C86B7F83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69064" y="3465004"/>
            <a:ext cx="144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6" name="직선 화살표 연결선 115">
            <a:extLst>
              <a:ext uri="{FF2B5EF4-FFF2-40B4-BE49-F238E27FC236}">
                <a16:creationId xmlns:a16="http://schemas.microsoft.com/office/drawing/2014/main" id="{6F259ACC-6146-4D49-A97D-7B0708E2145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49497" y="3524890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7" name="직선 화살표 연결선 70">
            <a:extLst>
              <a:ext uri="{FF2B5EF4-FFF2-40B4-BE49-F238E27FC236}">
                <a16:creationId xmlns:a16="http://schemas.microsoft.com/office/drawing/2014/main" id="{81130B7E-B611-43C0-9595-66A7122AD6B8}"/>
              </a:ext>
            </a:extLst>
          </p:cNvPr>
          <p:cNvCxnSpPr>
            <a:cxnSpLocks noChangeShapeType="1"/>
            <a:endCxn id="102" idx="1"/>
          </p:cNvCxnSpPr>
          <p:nvPr/>
        </p:nvCxnSpPr>
        <p:spPr bwMode="auto">
          <a:xfrm rot="16200000" flipH="1">
            <a:off x="2228654" y="4747966"/>
            <a:ext cx="1444132" cy="6350"/>
          </a:xfrm>
          <a:prstGeom prst="bentConnector3">
            <a:avLst>
              <a:gd name="adj1" fmla="val 1123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0" name="Text Box 25">
            <a:extLst>
              <a:ext uri="{FF2B5EF4-FFF2-40B4-BE49-F238E27FC236}">
                <a16:creationId xmlns:a16="http://schemas.microsoft.com/office/drawing/2014/main" id="{1B943DF4-30EA-4E44-87C4-EE84F9F87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904" y="5174712"/>
            <a:ext cx="348654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처리</a:t>
            </a:r>
            <a:endParaRPr lang="en-US" altLang="ko-KR" sz="800" dirty="0">
              <a:latin typeface="+mn-ea"/>
              <a:ea typeface="+mn-ea"/>
            </a:endParaRPr>
          </a:p>
          <a:p>
            <a:pPr eaLnBrk="1" hangingPunct="1"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내역</a:t>
            </a:r>
          </a:p>
        </p:txBody>
      </p:sp>
      <p:cxnSp>
        <p:nvCxnSpPr>
          <p:cNvPr id="131" name="직선 화살표 연결선 70">
            <a:extLst>
              <a:ext uri="{FF2B5EF4-FFF2-40B4-BE49-F238E27FC236}">
                <a16:creationId xmlns:a16="http://schemas.microsoft.com/office/drawing/2014/main" id="{0582ABBB-D53F-4F4F-B0E5-B74FA30F59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96916" y="3748081"/>
            <a:ext cx="1394000" cy="43992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2" name="Text Box 25">
            <a:extLst>
              <a:ext uri="{FF2B5EF4-FFF2-40B4-BE49-F238E27FC236}">
                <a16:creationId xmlns:a16="http://schemas.microsoft.com/office/drawing/2014/main" id="{0EB30040-D6B9-4560-AEC3-D1159E75C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826" y="4243406"/>
            <a:ext cx="508254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sp>
        <p:nvSpPr>
          <p:cNvPr id="135" name="Text Box 25">
            <a:extLst>
              <a:ext uri="{FF2B5EF4-FFF2-40B4-BE49-F238E27FC236}">
                <a16:creationId xmlns:a16="http://schemas.microsoft.com/office/drawing/2014/main" id="{4070A270-A2E5-45FC-8879-8220A224B651}"/>
              </a:ext>
            </a:extLst>
          </p:cNvPr>
          <p:cNvSpPr txBox="1">
            <a:spLocks noChangeArrowheads="1"/>
          </p:cNvSpPr>
          <p:nvPr/>
        </p:nvSpPr>
        <p:spPr bwMode="auto">
          <a:xfrm rot="1012039">
            <a:off x="3844631" y="3755128"/>
            <a:ext cx="1545329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callAsyncServiceAfterRollback</a:t>
            </a:r>
            <a:b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  <a:t>(C</a:t>
            </a:r>
            <a:r>
              <a:rPr lang="ko-KR" altLang="en-US" sz="800" b="1" dirty="0">
                <a:solidFill>
                  <a:srgbClr val="0000FF"/>
                </a:solidFill>
                <a:latin typeface="+mn-ea"/>
                <a:ea typeface="+mn-ea"/>
              </a:rPr>
              <a:t>거래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41" name="직선 화살표 연결선 108">
            <a:extLst>
              <a:ext uri="{FF2B5EF4-FFF2-40B4-BE49-F238E27FC236}">
                <a16:creationId xmlns:a16="http://schemas.microsoft.com/office/drawing/2014/main" id="{7D2BE2C6-C2FC-4250-A7F4-79432DA87E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60841" y="5434429"/>
            <a:ext cx="168232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" name="직선 화살표 연결선 70">
            <a:extLst>
              <a:ext uri="{FF2B5EF4-FFF2-40B4-BE49-F238E27FC236}">
                <a16:creationId xmlns:a16="http://schemas.microsoft.com/office/drawing/2014/main" id="{7DA56D99-2AF0-4A29-B8F9-36AD34C5E008}"/>
              </a:ext>
            </a:extLst>
          </p:cNvPr>
          <p:cNvCxnSpPr>
            <a:cxnSpLocks noChangeShapeType="1"/>
            <a:stCxn id="40" idx="1"/>
            <a:endCxn id="102" idx="4"/>
          </p:cNvCxnSpPr>
          <p:nvPr/>
        </p:nvCxnSpPr>
        <p:spPr bwMode="auto">
          <a:xfrm rot="10800000" flipV="1">
            <a:off x="3259045" y="5711230"/>
            <a:ext cx="267102" cy="1656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6D83824E-0DD5-4249-A9B0-5536D8562E74}"/>
              </a:ext>
            </a:extLst>
          </p:cNvPr>
          <p:cNvSpPr txBox="1"/>
          <p:nvPr/>
        </p:nvSpPr>
        <p:spPr bwMode="auto">
          <a:xfrm>
            <a:off x="776538" y="3151733"/>
            <a:ext cx="448602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2AAD11CE-C72F-4302-96CB-E85F21986A8F}"/>
              </a:ext>
            </a:extLst>
          </p:cNvPr>
          <p:cNvSpPr/>
          <p:nvPr/>
        </p:nvSpPr>
        <p:spPr bwMode="auto">
          <a:xfrm>
            <a:off x="776536" y="2694444"/>
            <a:ext cx="104871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DC2F51E-BCBA-4E26-AA25-B6E071029498}"/>
              </a:ext>
            </a:extLst>
          </p:cNvPr>
          <p:cNvSpPr/>
          <p:nvPr/>
        </p:nvSpPr>
        <p:spPr bwMode="auto">
          <a:xfrm>
            <a:off x="1956870" y="2694444"/>
            <a:ext cx="631941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+mn-ea"/>
              </a:rPr>
              <a:t>W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E0DA53A-166E-4E83-B20D-8085DEE2CEFD}"/>
              </a:ext>
            </a:extLst>
          </p:cNvPr>
          <p:cNvSpPr txBox="1"/>
          <p:nvPr/>
        </p:nvSpPr>
        <p:spPr bwMode="auto">
          <a:xfrm>
            <a:off x="1388971" y="3151733"/>
            <a:ext cx="444432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E91FFCA-EB25-4F8A-B085-84E510050F10}"/>
              </a:ext>
            </a:extLst>
          </p:cNvPr>
          <p:cNvSpPr txBox="1"/>
          <p:nvPr/>
        </p:nvSpPr>
        <p:spPr bwMode="auto">
          <a:xfrm>
            <a:off x="1992874" y="3151733"/>
            <a:ext cx="595937" cy="306332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3" name="Text Box 25">
            <a:extLst>
              <a:ext uri="{FF2B5EF4-FFF2-40B4-BE49-F238E27FC236}">
                <a16:creationId xmlns:a16="http://schemas.microsoft.com/office/drawing/2014/main" id="{3E2AAA58-2D91-42A9-928D-F7377007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313" y="3208883"/>
            <a:ext cx="436216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FW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4" name="Text Box 25">
            <a:extLst>
              <a:ext uri="{FF2B5EF4-FFF2-40B4-BE49-F238E27FC236}">
                <a16:creationId xmlns:a16="http://schemas.microsoft.com/office/drawing/2014/main" id="{CAC6401D-DCAA-45B9-897F-8D2B721E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07" y="3208883"/>
            <a:ext cx="291644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5" name="Text Box 25">
            <a:extLst>
              <a:ext uri="{FF2B5EF4-FFF2-40B4-BE49-F238E27FC236}">
                <a16:creationId xmlns:a16="http://schemas.microsoft.com/office/drawing/2014/main" id="{32C3552D-86F6-4D56-B4C7-5A481DCA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977" y="3208883"/>
            <a:ext cx="316182" cy="28676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56" name="Line 20">
            <a:extLst>
              <a:ext uri="{FF2B5EF4-FFF2-40B4-BE49-F238E27FC236}">
                <a16:creationId xmlns:a16="http://schemas.microsoft.com/office/drawing/2014/main" id="{5E5E094E-5A66-4D17-AEB7-040BFFD4F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6794" y="3420632"/>
            <a:ext cx="1800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158" name="직선 화살표 연결선 105">
            <a:extLst>
              <a:ext uri="{FF2B5EF4-FFF2-40B4-BE49-F238E27FC236}">
                <a16:creationId xmlns:a16="http://schemas.microsoft.com/office/drawing/2014/main" id="{E464369D-82BC-4C5F-838D-C15B0AF63C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0786" y="3407932"/>
            <a:ext cx="18000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59" name="직선 화살표 연결선 106">
            <a:extLst>
              <a:ext uri="{FF2B5EF4-FFF2-40B4-BE49-F238E27FC236}">
                <a16:creationId xmlns:a16="http://schemas.microsoft.com/office/drawing/2014/main" id="{82C3DE57-1313-4F4B-828B-8C2605DE1B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00787" y="3785874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0" name="Text Box 25">
            <a:extLst>
              <a:ext uri="{FF2B5EF4-FFF2-40B4-BE49-F238E27FC236}">
                <a16:creationId xmlns:a16="http://schemas.microsoft.com/office/drawing/2014/main" id="{C174D2ED-C4E3-4F3D-AADB-15FD2652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243" y="3681028"/>
            <a:ext cx="319149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1" name="Text Box 25">
            <a:extLst>
              <a:ext uri="{FF2B5EF4-FFF2-40B4-BE49-F238E27FC236}">
                <a16:creationId xmlns:a16="http://schemas.microsoft.com/office/drawing/2014/main" id="{EE4F66C1-4EAB-40C8-9D5F-AF00B786A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748" y="3276963"/>
            <a:ext cx="319149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cxnSp>
        <p:nvCxnSpPr>
          <p:cNvPr id="181" name="직선 화살표 연결선 108">
            <a:extLst>
              <a:ext uri="{FF2B5EF4-FFF2-40B4-BE49-F238E27FC236}">
                <a16:creationId xmlns:a16="http://schemas.microsoft.com/office/drawing/2014/main" id="{1369B1BD-8238-4DA3-9166-9561200374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52736" y="5434429"/>
            <a:ext cx="144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" name="직선 화살표 연결선 115">
            <a:extLst>
              <a:ext uri="{FF2B5EF4-FFF2-40B4-BE49-F238E27FC236}">
                <a16:creationId xmlns:a16="http://schemas.microsoft.com/office/drawing/2014/main" id="{40181E76-FFBC-4C97-A080-D673BDE1FD9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33169" y="5578445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1" name="직선 화살표 연결선 108">
            <a:extLst>
              <a:ext uri="{FF2B5EF4-FFF2-40B4-BE49-F238E27FC236}">
                <a16:creationId xmlns:a16="http://schemas.microsoft.com/office/drawing/2014/main" id="{65B591A7-C996-46CF-97FC-AB94B70C7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04842" y="5409220"/>
            <a:ext cx="288000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2" name="직선 화살표 연결선 115">
            <a:extLst>
              <a:ext uri="{FF2B5EF4-FFF2-40B4-BE49-F238E27FC236}">
                <a16:creationId xmlns:a16="http://schemas.microsoft.com/office/drawing/2014/main" id="{0E3A944B-980E-4540-A4F6-70090AE212C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85275" y="5517232"/>
            <a:ext cx="288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3" name="직선 화살표 연결선 115">
            <a:extLst>
              <a:ext uri="{FF2B5EF4-FFF2-40B4-BE49-F238E27FC236}">
                <a16:creationId xmlns:a16="http://schemas.microsoft.com/office/drawing/2014/main" id="{DA2C5E5B-F6DA-403F-AD1B-7FBF0F3732E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65095" y="5581219"/>
            <a:ext cx="144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" name="Text Box 25">
            <a:extLst>
              <a:ext uri="{FF2B5EF4-FFF2-40B4-BE49-F238E27FC236}">
                <a16:creationId xmlns:a16="http://schemas.microsoft.com/office/drawing/2014/main" id="{4446D761-1615-4470-8A20-317FD3D89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702" y="4113076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</a:t>
            </a:r>
            <a:r>
              <a:rPr lang="en-US" altLang="ko-KR" sz="800" u="sng" dirty="0">
                <a:latin typeface="+mn-ea"/>
                <a:ea typeface="+mn-ea"/>
              </a:rPr>
              <a:t>A</a:t>
            </a:r>
            <a:r>
              <a:rPr lang="ko-KR" altLang="en-US" sz="800" u="sng" dirty="0">
                <a:latin typeface="+mn-ea"/>
                <a:ea typeface="+mn-ea"/>
              </a:rPr>
              <a:t>거래</a:t>
            </a:r>
            <a:r>
              <a:rPr lang="en-US" altLang="ko-KR" sz="800" u="sng" dirty="0">
                <a:latin typeface="+mn-ea"/>
                <a:ea typeface="+mn-ea"/>
              </a:rPr>
              <a:t>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195" name="직선 화살표 연결선 113">
            <a:extLst>
              <a:ext uri="{FF2B5EF4-FFF2-40B4-BE49-F238E27FC236}">
                <a16:creationId xmlns:a16="http://schemas.microsoft.com/office/drawing/2014/main" id="{45A6F2C9-F5B8-4136-8341-86EDF70CFD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99259" y="3408936"/>
            <a:ext cx="0" cy="70414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" name="직선 화살표 연결선 70">
            <a:extLst>
              <a:ext uri="{FF2B5EF4-FFF2-40B4-BE49-F238E27FC236}">
                <a16:creationId xmlns:a16="http://schemas.microsoft.com/office/drawing/2014/main" id="{88E27EBE-30A2-402D-B2F7-AE2EB1690B71}"/>
              </a:ext>
            </a:extLst>
          </p:cNvPr>
          <p:cNvCxnSpPr>
            <a:cxnSpLocks noChangeShapeType="1"/>
            <a:stCxn id="194" idx="2"/>
            <a:endCxn id="132" idx="1"/>
          </p:cNvCxnSpPr>
          <p:nvPr/>
        </p:nvCxnSpPr>
        <p:spPr bwMode="auto">
          <a:xfrm rot="16200000" flipH="1">
            <a:off x="4693711" y="3671153"/>
            <a:ext cx="157731" cy="1360499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" name="Text Box 25">
            <a:extLst>
              <a:ext uri="{FF2B5EF4-FFF2-40B4-BE49-F238E27FC236}">
                <a16:creationId xmlns:a16="http://schemas.microsoft.com/office/drawing/2014/main" id="{69532781-80B3-41D5-83F0-72548F5B0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526" y="4454619"/>
            <a:ext cx="1161504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기동 오류 </a:t>
            </a:r>
            <a:r>
              <a:rPr lang="en-US" altLang="ko-KR" sz="800" u="sng" dirty="0">
                <a:latin typeface="+mn-ea"/>
                <a:ea typeface="+mn-ea"/>
                <a:sym typeface="Wingdings" panose="05000000000000000000" pitchFamily="2" charset="2"/>
              </a:rPr>
              <a:t> </a:t>
            </a:r>
            <a:br>
              <a:rPr lang="en-US" altLang="ko-KR" sz="800" u="sng" dirty="0">
                <a:latin typeface="+mn-ea"/>
                <a:ea typeface="+mn-ea"/>
                <a:sym typeface="Wingdings" panose="05000000000000000000" pitchFamily="2" charset="2"/>
              </a:rPr>
            </a:br>
            <a:r>
              <a:rPr lang="en-US" altLang="ko-KR" sz="800" u="sng" dirty="0">
                <a:latin typeface="+mn-ea"/>
                <a:ea typeface="+mn-ea"/>
              </a:rPr>
              <a:t>Rollback </a:t>
            </a:r>
            <a:r>
              <a:rPr lang="ko-KR" altLang="en-US" sz="800" u="sng" dirty="0">
                <a:latin typeface="+mn-ea"/>
                <a:ea typeface="+mn-ea"/>
              </a:rPr>
              <a:t>후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수동 실행 요청</a:t>
            </a:r>
          </a:p>
        </p:txBody>
      </p:sp>
      <p:cxnSp>
        <p:nvCxnSpPr>
          <p:cNvPr id="227" name="직선 화살표 연결선 105">
            <a:extLst>
              <a:ext uri="{FF2B5EF4-FFF2-40B4-BE49-F238E27FC236}">
                <a16:creationId xmlns:a16="http://schemas.microsoft.com/office/drawing/2014/main" id="{771CC249-403E-48F1-91C7-C764FAC208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6675" y="3409038"/>
            <a:ext cx="18000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28" name="직선 화살표 연결선 106">
            <a:extLst>
              <a:ext uri="{FF2B5EF4-FFF2-40B4-BE49-F238E27FC236}">
                <a16:creationId xmlns:a16="http://schemas.microsoft.com/office/drawing/2014/main" id="{025A697C-6F86-4C20-A4CD-8FB29ACDAFD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56676" y="3786980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9" name="직선 화살표 연결선 106">
            <a:extLst>
              <a:ext uri="{FF2B5EF4-FFF2-40B4-BE49-F238E27FC236}">
                <a16:creationId xmlns:a16="http://schemas.microsoft.com/office/drawing/2014/main" id="{33A19D0D-61CE-4A5B-A5D9-77F4E3B191C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76756" y="3789040"/>
            <a:ext cx="18000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7" name="직선 화살표 연결선 70">
            <a:extLst>
              <a:ext uri="{FF2B5EF4-FFF2-40B4-BE49-F238E27FC236}">
                <a16:creationId xmlns:a16="http://schemas.microsoft.com/office/drawing/2014/main" id="{81F6FD3C-7E6A-474F-B300-38C181FE477A}"/>
              </a:ext>
            </a:extLst>
          </p:cNvPr>
          <p:cNvCxnSpPr>
            <a:cxnSpLocks noChangeShapeType="1"/>
            <a:stCxn id="132" idx="2"/>
            <a:endCxn id="31" idx="0"/>
          </p:cNvCxnSpPr>
          <p:nvPr/>
        </p:nvCxnSpPr>
        <p:spPr bwMode="auto">
          <a:xfrm rot="5400000">
            <a:off x="4740388" y="4241401"/>
            <a:ext cx="590834" cy="134229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9333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지연 </a:t>
            </a:r>
            <a:r>
              <a:rPr lang="ko-KR" altLang="en-US" dirty="0"/>
              <a:t>비동기 </a:t>
            </a:r>
            <a:r>
              <a:rPr lang="ko-KR" altLang="en-US" dirty="0" err="1"/>
              <a:t>연동거래</a:t>
            </a:r>
            <a:r>
              <a:rPr lang="ko-KR" altLang="en-US" dirty="0"/>
              <a:t> </a:t>
            </a:r>
            <a:r>
              <a:rPr lang="en-US" altLang="ko-KR" dirty="0"/>
              <a:t>( Timer 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비동기 거래 중 일정 시간 지연 후에 실행되도록 </a:t>
            </a:r>
            <a:r>
              <a:rPr lang="en-US" altLang="ko-KR" dirty="0"/>
              <a:t>Timer </a:t>
            </a:r>
            <a:r>
              <a:rPr lang="ko-KR" altLang="en-US" dirty="0"/>
              <a:t>를 통해 </a:t>
            </a:r>
            <a:r>
              <a:rPr lang="ko-KR" altLang="en-US" dirty="0" err="1"/>
              <a:t>기동되게</a:t>
            </a:r>
            <a:r>
              <a:rPr lang="ko-KR" altLang="en-US" dirty="0"/>
              <a:t> 함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2374" y="2000077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1039" y="1412776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2602" y="1412775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아래 사항을 제외하고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Non-Transactional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비동기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연동거래와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처리기준은 동일함</a:t>
            </a:r>
            <a:b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수동거래는 지정된 시간만큼 대기후 기동거래 정상 여부와 상관없이 수행됨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수동거래에서 기동거래로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Common Area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역복제는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발생하지 않음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연계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거래시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지정된 시간 동안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취급응답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전문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미수신되는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경우 에러 처리를 위해 사용됨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14064" y="3492824"/>
            <a:ext cx="935060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4064" y="3068961"/>
            <a:ext cx="935060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15470" y="3068961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서비스기반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57997" y="3068961"/>
            <a:ext cx="785813" cy="349250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97783" y="3068961"/>
            <a:ext cx="4930775" cy="21907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57997" y="3492824"/>
            <a:ext cx="785812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015470" y="3492824"/>
            <a:ext cx="785813" cy="2149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086908" y="3549974"/>
            <a:ext cx="642937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NEXCORE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029434" y="3549974"/>
            <a:ext cx="642938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en-US" altLang="ko-KR" sz="1000" kern="0" dirty="0">
                <a:solidFill>
                  <a:srgbClr val="000000"/>
                </a:solidFill>
                <a:latin typeface="+mn-ea"/>
              </a:rPr>
              <a:t>MCI</a:t>
            </a:r>
            <a:endParaRPr kumimoji="0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885502" y="3549974"/>
            <a:ext cx="784225" cy="204946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2743809" y="4126236"/>
            <a:ext cx="271661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2743808" y="5042224"/>
            <a:ext cx="271661" cy="794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49"/>
          <p:cNvSpPr>
            <a:spLocks noChangeArrowheads="1"/>
          </p:cNvSpPr>
          <p:nvPr/>
        </p:nvSpPr>
        <p:spPr bwMode="auto">
          <a:xfrm>
            <a:off x="704528" y="2924944"/>
            <a:ext cx="8456612" cy="3312368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" name="직선 화살표 연결선 102"/>
          <p:cNvCxnSpPr>
            <a:cxnSpLocks noChangeShapeType="1"/>
          </p:cNvCxnSpPr>
          <p:nvPr/>
        </p:nvCxnSpPr>
        <p:spPr bwMode="auto">
          <a:xfrm>
            <a:off x="3801283" y="4122664"/>
            <a:ext cx="562680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3" name="직선 화살표 연결선 104"/>
          <p:cNvCxnSpPr>
            <a:cxnSpLocks noChangeShapeType="1"/>
          </p:cNvCxnSpPr>
          <p:nvPr/>
        </p:nvCxnSpPr>
        <p:spPr bwMode="auto">
          <a:xfrm flipH="1" flipV="1">
            <a:off x="3801285" y="5042224"/>
            <a:ext cx="562678" cy="79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4" name="직선 화살표 연결선 105"/>
          <p:cNvCxnSpPr>
            <a:cxnSpLocks noChangeShapeType="1"/>
          </p:cNvCxnSpPr>
          <p:nvPr/>
        </p:nvCxnSpPr>
        <p:spPr bwMode="auto">
          <a:xfrm>
            <a:off x="1749124" y="4113536"/>
            <a:ext cx="212774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5" name="직선 화살표 연결선 106"/>
          <p:cNvCxnSpPr>
            <a:cxnSpLocks noChangeShapeType="1"/>
          </p:cNvCxnSpPr>
          <p:nvPr/>
        </p:nvCxnSpPr>
        <p:spPr bwMode="auto">
          <a:xfrm flipH="1">
            <a:off x="1749125" y="5031112"/>
            <a:ext cx="208872" cy="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</p:cxn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3131839" y="4926266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전문조립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120344" y="3982567"/>
            <a:ext cx="576064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63963" y="3619824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4435401" y="3999236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입력체크</a:t>
            </a:r>
            <a:r>
              <a:rPr kumimoji="0" lang="ko-KR" altLang="en-US" sz="1000" kern="0" dirty="0">
                <a:latin typeface="+mn-ea"/>
              </a:rPr>
              <a:t> 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</a:t>
            </a:r>
            <a:r>
              <a:rPr kumimoji="0" lang="en-US" altLang="ko-KR" sz="1000" kern="0" dirty="0">
                <a:latin typeface="+mn-ea"/>
              </a:rPr>
              <a:t> </a:t>
            </a:r>
            <a:r>
              <a:rPr kumimoji="0" lang="ko-KR" altLang="en-US" sz="1000" kern="0" dirty="0">
                <a:latin typeface="+mn-ea"/>
              </a:rPr>
              <a:t>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 조립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ko-KR" altLang="en-US" sz="1000" kern="0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3963" y="3594424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기동거래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4506838" y="4737424"/>
            <a:ext cx="714375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18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New PM</a:t>
            </a:r>
            <a:r>
              <a:rPr kumimoji="0" lang="ko-KR" altLang="en-US" sz="800" kern="0" dirty="0">
                <a:latin typeface="+mn-ea"/>
              </a:rPr>
              <a:t>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338" y="3619824"/>
            <a:ext cx="1000125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819775" y="3999236"/>
            <a:ext cx="857250" cy="157162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입력체크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본처리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 err="1">
                <a:latin typeface="+mn-ea"/>
              </a:rPr>
              <a:t>처리결과</a:t>
            </a:r>
            <a:r>
              <a:rPr kumimoji="0" lang="ko-KR" altLang="en-US" sz="1000" kern="0" dirty="0">
                <a:latin typeface="+mn-ea"/>
              </a:rPr>
              <a:t> </a:t>
            </a:r>
            <a:r>
              <a:rPr kumimoji="0" lang="en-US" altLang="ko-KR" sz="1000" kern="0" dirty="0">
                <a:latin typeface="+mn-ea"/>
              </a:rPr>
              <a:t>DB </a:t>
            </a:r>
            <a:r>
              <a:rPr kumimoji="0" lang="ko-KR" altLang="en-US" sz="1000" kern="0" dirty="0">
                <a:latin typeface="+mn-ea"/>
              </a:rPr>
              <a:t>저장</a:t>
            </a:r>
            <a:endParaRPr kumimoji="0" lang="en-US" altLang="ko-KR" sz="1000" kern="0" dirty="0">
              <a:latin typeface="+mn-ea"/>
            </a:endParaRP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로그조립 </a:t>
            </a: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정상</a:t>
            </a:r>
            <a:r>
              <a:rPr kumimoji="0" lang="en-US" altLang="ko-KR" sz="1000" kern="0" dirty="0">
                <a:latin typeface="+mn-ea"/>
              </a:rPr>
              <a:t>)</a:t>
            </a:r>
          </a:p>
          <a:p>
            <a:pPr marL="92075" indent="-92075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출력조립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8338" y="3594424"/>
            <a:ext cx="1000125" cy="261937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>
            <a:spAutoFit/>
          </a:bodyPr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kern="0" dirty="0" err="1">
                <a:solidFill>
                  <a:sysClr val="window" lastClr="FFFFFF"/>
                </a:solidFill>
                <a:latin typeface="+mn-ea"/>
              </a:rPr>
              <a:t>수동거래</a:t>
            </a:r>
            <a:endParaRPr kumimoji="0" lang="ko-KR" altLang="en-US" sz="11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35" name="직선 화살표 연결선 70"/>
          <p:cNvCxnSpPr>
            <a:cxnSpLocks noChangeShapeType="1"/>
            <a:stCxn id="37" idx="1"/>
            <a:endCxn id="50" idx="1"/>
          </p:cNvCxnSpPr>
          <p:nvPr/>
        </p:nvCxnSpPr>
        <p:spPr bwMode="auto">
          <a:xfrm flipV="1">
            <a:off x="5292652" y="4043224"/>
            <a:ext cx="1241110" cy="813262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5658965" y="4626299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b="1" u="sng" dirty="0">
                <a:latin typeface="+mn-ea"/>
                <a:ea typeface="+mn-ea"/>
              </a:rPr>
              <a:t>①수동 </a:t>
            </a:r>
            <a:r>
              <a:rPr lang="en-US" altLang="ko-KR" sz="800" b="1" u="sng" dirty="0">
                <a:latin typeface="+mn-ea"/>
                <a:ea typeface="+mn-ea"/>
              </a:rPr>
              <a:t>PM </a:t>
            </a:r>
            <a:r>
              <a:rPr lang="ko-KR" altLang="en-US" sz="800" b="1" u="sng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rot="16200000" flipH="1">
            <a:off x="5118820" y="4682655"/>
            <a:ext cx="34766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5292651" y="5412111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②기동 </a:t>
            </a:r>
            <a:r>
              <a:rPr lang="en-US" altLang="ko-KR" sz="800" u="sng" dirty="0">
                <a:latin typeface="+mn-ea"/>
                <a:ea typeface="+mn-ea"/>
              </a:rPr>
              <a:t>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 rot="16200000" flipH="1" flipV="1">
            <a:off x="7033962" y="4785049"/>
            <a:ext cx="15716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6200000" flipH="1">
            <a:off x="4297288" y="350393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 flipH="1">
            <a:off x="4363963" y="3499174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4363963" y="3349949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13" y="350393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6200000" flipH="1">
            <a:off x="7681663" y="351028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0800000" flipH="1">
            <a:off x="7748338" y="3505524"/>
            <a:ext cx="100012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748338" y="3356299"/>
            <a:ext cx="100012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rot="16200000" flipH="1">
            <a:off x="8681788" y="3510286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7781701" y="5669286"/>
            <a:ext cx="85725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⑤ </a:t>
            </a:r>
            <a:r>
              <a:rPr lang="ko-KR" altLang="en-US" sz="800" u="sng" dirty="0">
                <a:latin typeface="+mn-ea"/>
                <a:ea typeface="+mn-ea"/>
              </a:rPr>
              <a:t>수동</a:t>
            </a:r>
            <a:r>
              <a:rPr lang="en-US" altLang="ko-KR" sz="800" u="sng" dirty="0">
                <a:latin typeface="+mn-ea"/>
                <a:ea typeface="+mn-ea"/>
              </a:rPr>
              <a:t> PM </a:t>
            </a:r>
            <a:r>
              <a:rPr lang="ko-KR" altLang="en-US" sz="800" u="sng" dirty="0">
                <a:latin typeface="+mn-ea"/>
                <a:ea typeface="+mn-ea"/>
              </a:rPr>
              <a:t>종료</a:t>
            </a:r>
          </a:p>
        </p:txBody>
      </p:sp>
      <p:cxnSp>
        <p:nvCxnSpPr>
          <p:cNvPr id="49" name="직선 화살표 연결선 113"/>
          <p:cNvCxnSpPr>
            <a:cxnSpLocks noChangeShapeType="1"/>
          </p:cNvCxnSpPr>
          <p:nvPr/>
        </p:nvCxnSpPr>
        <p:spPr bwMode="auto">
          <a:xfrm rot="5400000">
            <a:off x="4970388" y="5250186"/>
            <a:ext cx="64293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6533762" y="3856361"/>
            <a:ext cx="702533" cy="373726"/>
          </a:xfrm>
          <a:prstGeom prst="flowChartAlternateProcess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prstDash val="sysDash"/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수동 실행 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요청 대기</a:t>
            </a:r>
          </a:p>
        </p:txBody>
      </p:sp>
      <p:cxnSp>
        <p:nvCxnSpPr>
          <p:cNvPr id="51" name="직선 화살표 연결선 70"/>
          <p:cNvCxnSpPr>
            <a:cxnSpLocks noChangeShapeType="1"/>
            <a:stCxn id="55" idx="0"/>
            <a:endCxn id="50" idx="2"/>
          </p:cNvCxnSpPr>
          <p:nvPr/>
        </p:nvCxnSpPr>
        <p:spPr bwMode="auto">
          <a:xfrm rot="16200000" flipV="1">
            <a:off x="6643511" y="4471605"/>
            <a:ext cx="555674" cy="7263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6282852" y="5237710"/>
            <a:ext cx="134962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③ 지정된 시간 후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Timer </a:t>
            </a:r>
            <a:r>
              <a:rPr lang="ko-KR" altLang="en-US" sz="800" u="sng" dirty="0">
                <a:latin typeface="+mn-ea"/>
                <a:ea typeface="+mn-ea"/>
              </a:rPr>
              <a:t>에 의해 실행됨</a:t>
            </a:r>
          </a:p>
        </p:txBody>
      </p:sp>
      <p:cxnSp>
        <p:nvCxnSpPr>
          <p:cNvPr id="53" name="직선 화살표 연결선 70"/>
          <p:cNvCxnSpPr>
            <a:cxnSpLocks noChangeShapeType="1"/>
            <a:stCxn id="50" idx="3"/>
          </p:cNvCxnSpPr>
          <p:nvPr/>
        </p:nvCxnSpPr>
        <p:spPr bwMode="auto">
          <a:xfrm>
            <a:off x="7236295" y="4043224"/>
            <a:ext cx="512043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6957666" y="3573016"/>
            <a:ext cx="857250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u="sng" dirty="0">
                <a:latin typeface="+mn-ea"/>
                <a:ea typeface="+mn-ea"/>
              </a:rPr>
              <a:t>④ </a:t>
            </a:r>
            <a:r>
              <a:rPr lang="ko-KR" altLang="en-US" sz="800" u="sng" dirty="0">
                <a:latin typeface="+mn-ea"/>
                <a:ea typeface="+mn-ea"/>
              </a:rPr>
              <a:t>수동 실행 </a:t>
            </a:r>
            <a:endParaRPr lang="en-US" altLang="ko-KR" sz="800" u="sng" dirty="0">
              <a:latin typeface="+mn-ea"/>
              <a:ea typeface="+mn-ea"/>
            </a:endParaRPr>
          </a:p>
          <a:p>
            <a:pPr algn="ctr" eaLnBrk="1" hangingPunct="1">
              <a:buFontTx/>
              <a:buNone/>
            </a:pPr>
            <a:r>
              <a:rPr lang="ko-KR" altLang="en-US" sz="800" u="sng" dirty="0">
                <a:latin typeface="+mn-ea"/>
                <a:ea typeface="+mn-ea"/>
              </a:rPr>
              <a:t>시작</a:t>
            </a:r>
          </a:p>
        </p:txBody>
      </p:sp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42" y="4785761"/>
            <a:ext cx="323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 Box 25"/>
          <p:cNvSpPr txBox="1">
            <a:spLocks noChangeArrowheads="1"/>
          </p:cNvSpPr>
          <p:nvPr/>
        </p:nvSpPr>
        <p:spPr bwMode="auto">
          <a:xfrm rot="19555908">
            <a:off x="5258334" y="4076447"/>
            <a:ext cx="163218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b="1" dirty="0" err="1">
                <a:solidFill>
                  <a:srgbClr val="0000FF"/>
                </a:solidFill>
                <a:latin typeface="+mn-ea"/>
                <a:ea typeface="+mn-ea"/>
              </a:rPr>
              <a:t>reserveCallTimerService</a:t>
            </a:r>
            <a:r>
              <a:rPr lang="en-US" altLang="ko-KR" sz="800" b="1" dirty="0">
                <a:latin typeface="+mn-ea"/>
                <a:ea typeface="+mn-ea"/>
              </a:rPr>
              <a:t>()</a:t>
            </a:r>
            <a:endParaRPr lang="ko-KR" altLang="en-US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34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중단 거래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ko-KR"/>
              <a:t>사용자 요청을 처리하기 위하여</a:t>
            </a:r>
            <a:r>
              <a:rPr lang="en-US" altLang="ko-KR"/>
              <a:t> 1</a:t>
            </a:r>
            <a:r>
              <a:rPr lang="ko-KR" altLang="ko-KR"/>
              <a:t>회의 입력전문을 받아 업무처리 후 출력전문을 내보낼 때</a:t>
            </a:r>
            <a:r>
              <a:rPr lang="en-US" altLang="ko-KR"/>
              <a:t>, </a:t>
            </a:r>
            <a:r>
              <a:rPr lang="ko-KR" altLang="ko-KR"/>
              <a:t>추가 데이터가 있음을 사용자에게 전달하여</a:t>
            </a:r>
            <a:r>
              <a:rPr lang="en-US" altLang="ko-KR"/>
              <a:t>, </a:t>
            </a:r>
            <a:r>
              <a:rPr lang="ko-KR" altLang="ko-KR"/>
              <a:t>추가 데이터에 대한 거래 진행여부를 사용자가 결정토록 하는 거래패턴</a:t>
            </a:r>
            <a:r>
              <a:rPr lang="en-US" altLang="ko-KR"/>
              <a:t> </a:t>
            </a:r>
            <a:r>
              <a:rPr lang="ko-KR" altLang="en-US"/>
              <a:t>임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1086702" y="1928069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5367" y="1412775"/>
            <a:ext cx="928688" cy="1135373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6930" y="1412775"/>
            <a:ext cx="7295901" cy="1135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프레임워크에서 중단 거래 요청 기능 및 차회 요청시 계속 처리를 위한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정보의 저장 및 복원기능을 제공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업무팀이 지정한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데이터를 결과 출력시 프레임워크에서 보관하며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차회 요청시 보관된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를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 복원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업무팀은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복원된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영역을 참조하여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Query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시 전 차수 조회 결과 이후의 데이터를 조회 처리</a:t>
            </a:r>
            <a:endParaRPr lang="en-US" altLang="ko-KR" sz="105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중단거래구분코드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단말에서 차회 요청에 대하여 조작자의 개입여부 판단시 사용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(0.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일반거래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1.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2.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중단거래 자동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Nextkey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정보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: 100bytes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이내 연속데이터 처리 구분값으로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F/W API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통해 출력시 저장되고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차회 요청시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F/W 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에서 복원하여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Common Area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의 </a:t>
            </a:r>
            <a:r>
              <a:rPr lang="en-US" altLang="ko-KR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BOCOM-BF-TDK-INFO-CNT</a:t>
            </a:r>
            <a:r>
              <a:rPr lang="ko-KR" altLang="en-US" sz="1050">
                <a:solidFill>
                  <a:schemeClr val="tx1">
                    <a:lumMod val="50000"/>
                  </a:schemeClr>
                </a:solidFill>
                <a:latin typeface="+mn-ea"/>
              </a:rPr>
              <a:t>에 설정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직사각형 49"/>
          <p:cNvSpPr>
            <a:spLocks noChangeArrowheads="1"/>
          </p:cNvSpPr>
          <p:nvPr/>
        </p:nvSpPr>
        <p:spPr bwMode="auto">
          <a:xfrm>
            <a:off x="708856" y="2672916"/>
            <a:ext cx="8456612" cy="345638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43090" y="2751918"/>
            <a:ext cx="10017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>
            <a:off x="2527837" y="346629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4677" y="3301193"/>
            <a:ext cx="1000125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6714527" y="3394855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7000277" y="3942543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7001865" y="4466418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7149502" y="380443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7148909" y="4341599"/>
            <a:ext cx="274235" cy="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6716115" y="489504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6251771" y="4264012"/>
            <a:ext cx="121443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44615" y="327738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691422" y="3491693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2527837" y="368060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826076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32820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2820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26076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4897513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404257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2602963" y="3491693"/>
            <a:ext cx="827296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5691422" y="3684376"/>
            <a:ext cx="1500187" cy="65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조회 결과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중단거래항목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중단거래구분코드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Nextkey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625128" y="3466293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>
            <a:off x="5625128" y="368060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5625128" y="5273367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3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332341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16805" y="360916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최초거래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2527837" y="5098164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2527837" y="5273367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2562251" y="5105742"/>
            <a:ext cx="55153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144615" y="4909394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5625128" y="5098164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43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4955844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2585897" y="4909251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차회요청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5691422" y="5301208"/>
            <a:ext cx="1500187" cy="65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 </a:t>
            </a:r>
            <a:r>
              <a:rPr lang="ko-KR" altLang="en-US" sz="800">
                <a:latin typeface="+mn-ea"/>
                <a:ea typeface="+mn-ea"/>
              </a:rPr>
              <a:t>조회 결과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중단거래항목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중단거래구분코드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Nextkey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691422" y="5105742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4628" y="3323418"/>
            <a:ext cx="919130" cy="271462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04629" y="2751918"/>
            <a:ext cx="91913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9" name="직선 화살표 연결선 158"/>
          <p:cNvCxnSpPr>
            <a:cxnSpLocks noChangeShapeType="1"/>
          </p:cNvCxnSpPr>
          <p:nvPr/>
        </p:nvCxnSpPr>
        <p:spPr bwMode="auto">
          <a:xfrm>
            <a:off x="4140180" y="3466293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직선 화살표 연결선 159"/>
          <p:cNvCxnSpPr>
            <a:cxnSpLocks noChangeShapeType="1"/>
          </p:cNvCxnSpPr>
          <p:nvPr/>
        </p:nvCxnSpPr>
        <p:spPr bwMode="auto">
          <a:xfrm>
            <a:off x="4140180" y="5098164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60"/>
          <p:cNvCxnSpPr>
            <a:cxnSpLocks noChangeShapeType="1"/>
          </p:cNvCxnSpPr>
          <p:nvPr/>
        </p:nvCxnSpPr>
        <p:spPr bwMode="auto">
          <a:xfrm flipH="1">
            <a:off x="4140180" y="3680605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61"/>
          <p:cNvCxnSpPr>
            <a:cxnSpLocks noChangeShapeType="1"/>
          </p:cNvCxnSpPr>
          <p:nvPr/>
        </p:nvCxnSpPr>
        <p:spPr bwMode="auto">
          <a:xfrm flipH="1">
            <a:off x="4140180" y="5273367"/>
            <a:ext cx="679120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직선 화살표 연결선 162"/>
          <p:cNvCxnSpPr>
            <a:cxnSpLocks noChangeShapeType="1"/>
          </p:cNvCxnSpPr>
          <p:nvPr/>
        </p:nvCxnSpPr>
        <p:spPr bwMode="auto">
          <a:xfrm>
            <a:off x="1245430" y="3466293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직선 화살표 연결선 163"/>
          <p:cNvCxnSpPr>
            <a:cxnSpLocks noChangeShapeType="1"/>
          </p:cNvCxnSpPr>
          <p:nvPr/>
        </p:nvCxnSpPr>
        <p:spPr bwMode="auto">
          <a:xfrm>
            <a:off x="1245430" y="5113006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1676702" y="3416146"/>
            <a:ext cx="759728" cy="249713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cxnSp>
        <p:nvCxnSpPr>
          <p:cNvPr id="34" name="직선 화살표 연결선 33"/>
          <p:cNvCxnSpPr>
            <a:cxnSpLocks/>
            <a:stCxn id="18" idx="3"/>
            <a:endCxn id="57" idx="2"/>
          </p:cNvCxnSpPr>
          <p:nvPr/>
        </p:nvCxnSpPr>
        <p:spPr>
          <a:xfrm flipV="1">
            <a:off x="7286027" y="4871623"/>
            <a:ext cx="981251" cy="98103"/>
          </a:xfrm>
          <a:prstGeom prst="bentConnector3">
            <a:avLst>
              <a:gd name="adj1" fmla="val 64714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57" name="순서도: 자기 디스크 56"/>
          <p:cNvSpPr/>
          <p:nvPr/>
        </p:nvSpPr>
        <p:spPr>
          <a:xfrm>
            <a:off x="8267278" y="4550049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8" name="직선 화살표 연결선 33"/>
          <p:cNvCxnSpPr>
            <a:cxnSpLocks/>
            <a:stCxn id="15" idx="3"/>
            <a:endCxn id="57" idx="2"/>
          </p:cNvCxnSpPr>
          <p:nvPr/>
        </p:nvCxnSpPr>
        <p:spPr>
          <a:xfrm>
            <a:off x="7571777" y="4541101"/>
            <a:ext cx="695501" cy="33052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8085348" y="3969060"/>
            <a:ext cx="1164734" cy="57130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최종전달 데이터 이후 값으로 전달되도록 </a:t>
            </a:r>
            <a:r>
              <a:rPr lang="en-US" altLang="ko-KR" sz="900">
                <a:cs typeface="Arial" pitchFamily="34" charset="0"/>
              </a:rPr>
              <a:t>Nextkey</a:t>
            </a:r>
            <a:r>
              <a:rPr lang="ko-KR" altLang="en-US" sz="900">
                <a:cs typeface="Arial" pitchFamily="34" charset="0"/>
              </a:rPr>
              <a:t>를 참조하여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부분범위 조회 </a:t>
            </a:r>
            <a:r>
              <a:rPr lang="en-US" altLang="ko-KR" sz="900">
                <a:cs typeface="Arial" pitchFamily="34" charset="0"/>
              </a:rPr>
              <a:t> 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5" name="순서도: 자기 디스크 64"/>
          <p:cNvSpPr/>
          <p:nvPr/>
        </p:nvSpPr>
        <p:spPr>
          <a:xfrm>
            <a:off x="5781092" y="4447428"/>
            <a:ext cx="608332" cy="28707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>
                <a:solidFill>
                  <a:schemeClr val="tx1"/>
                </a:solidFill>
                <a:cs typeface="Arial" pitchFamily="34" charset="0"/>
              </a:rPr>
              <a:t>Nextkey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6" name="직선 화살표 연결선 33"/>
          <p:cNvCxnSpPr>
            <a:endCxn id="65" idx="1"/>
          </p:cNvCxnSpPr>
          <p:nvPr/>
        </p:nvCxnSpPr>
        <p:spPr>
          <a:xfrm>
            <a:off x="5540451" y="4293096"/>
            <a:ext cx="544807" cy="154332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cxnSp>
        <p:nvCxnSpPr>
          <p:cNvPr id="69" name="직선 화살표 연결선 33"/>
          <p:cNvCxnSpPr>
            <a:stCxn id="65" idx="3"/>
          </p:cNvCxnSpPr>
          <p:nvPr/>
        </p:nvCxnSpPr>
        <p:spPr>
          <a:xfrm rot="5400000">
            <a:off x="5755606" y="4519353"/>
            <a:ext cx="114500" cy="544805"/>
          </a:xfrm>
          <a:prstGeom prst="bentConnector2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791554" y="5260644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차회요청</a:t>
            </a:r>
          </a:p>
        </p:txBody>
      </p:sp>
      <p:sp>
        <p:nvSpPr>
          <p:cNvPr id="73" name="Text Box 25"/>
          <p:cNvSpPr txBox="1">
            <a:spLocks noChangeArrowheads="1"/>
          </p:cNvSpPr>
          <p:nvPr/>
        </p:nvSpPr>
        <p:spPr bwMode="auto">
          <a:xfrm>
            <a:off x="4962950" y="3933056"/>
            <a:ext cx="619782" cy="528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중단거래 </a:t>
            </a:r>
            <a:r>
              <a:rPr lang="en-US" altLang="ko-KR" sz="800">
                <a:latin typeface="+mn-ea"/>
                <a:ea typeface="+mn-ea"/>
              </a:rPr>
              <a:t>Flag On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Nextkey </a:t>
            </a:r>
            <a:r>
              <a:rPr lang="ko-KR" altLang="en-US" sz="800">
                <a:latin typeface="+mn-ea"/>
                <a:ea typeface="+mn-ea"/>
              </a:rPr>
              <a:t>데이터 저장</a:t>
            </a:r>
          </a:p>
        </p:txBody>
      </p:sp>
      <p:sp>
        <p:nvSpPr>
          <p:cNvPr id="74" name="Text Box 25"/>
          <p:cNvSpPr txBox="1">
            <a:spLocks noChangeArrowheads="1"/>
          </p:cNvSpPr>
          <p:nvPr/>
        </p:nvSpPr>
        <p:spPr bwMode="auto">
          <a:xfrm>
            <a:off x="4962949" y="4797152"/>
            <a:ext cx="642937" cy="775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-</a:t>
            </a:r>
            <a:r>
              <a:rPr lang="ko-KR" altLang="en-US" sz="800" dirty="0" err="1">
                <a:latin typeface="+mn-ea"/>
                <a:ea typeface="+mn-ea"/>
              </a:rPr>
              <a:t>원거래</a:t>
            </a:r>
            <a:r>
              <a:rPr lang="ko-KR" altLang="en-US" sz="800" dirty="0">
                <a:latin typeface="+mn-ea"/>
                <a:ea typeface="+mn-ea"/>
              </a:rPr>
              <a:t> 일치여부 확인</a:t>
            </a:r>
            <a:endParaRPr lang="en-US" altLang="ko-KR" sz="800" dirty="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- </a:t>
            </a:r>
            <a:r>
              <a:rPr lang="en-US" altLang="ko-KR" sz="800" dirty="0" err="1">
                <a:latin typeface="+mn-ea"/>
                <a:ea typeface="+mn-ea"/>
              </a:rPr>
              <a:t>Nextkey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복원 후 </a:t>
            </a:r>
            <a:r>
              <a:rPr lang="en-US" altLang="ko-KR" sz="800" dirty="0" err="1">
                <a:latin typeface="+mn-ea"/>
                <a:ea typeface="+mn-ea"/>
              </a:rPr>
              <a:t>CommArea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설정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75" name="Text Box 25"/>
          <p:cNvSpPr txBox="1">
            <a:spLocks noChangeArrowheads="1"/>
          </p:cNvSpPr>
          <p:nvPr/>
        </p:nvSpPr>
        <p:spPr bwMode="auto">
          <a:xfrm>
            <a:off x="2585897" y="3292106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최초요청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73288" y="4886284"/>
            <a:ext cx="1164734" cy="8206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사용자로부터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차회 진행 요청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또는 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채널에서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자동 차회 진행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900">
                <a:cs typeface="Arial" pitchFamily="34" charset="0"/>
              </a:rPr>
              <a:t>요청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7" name="Text Box 25">
            <a:extLst>
              <a:ext uri="{FF2B5EF4-FFF2-40B4-BE49-F238E27FC236}">
                <a16:creationId xmlns:a16="http://schemas.microsoft.com/office/drawing/2014/main" id="{8AAF85D1-0DE7-454C-9919-95BA3F59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265" y="460416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8" name="Text Box 25">
            <a:extLst>
              <a:ext uri="{FF2B5EF4-FFF2-40B4-BE49-F238E27FC236}">
                <a16:creationId xmlns:a16="http://schemas.microsoft.com/office/drawing/2014/main" id="{C26E8B19-5D47-41A1-A37D-F408C546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515" y="5036211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0948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페이징 </a:t>
            </a:r>
            <a:r>
              <a:rPr lang="ko-KR" altLang="en-US" dirty="0"/>
              <a:t>거래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 dirty="0" err="1"/>
              <a:t>단말화면에</a:t>
            </a:r>
            <a:r>
              <a:rPr lang="ko-KR" altLang="en-US" dirty="0"/>
              <a:t> </a:t>
            </a:r>
            <a:r>
              <a:rPr lang="en-US" altLang="ko-KR" dirty="0"/>
              <a:t>Grid </a:t>
            </a:r>
            <a:r>
              <a:rPr lang="ko-KR" altLang="en-US" dirty="0"/>
              <a:t>형태로 대량 데이터를 출력해야 하는 경우 사용자가 동일한 조건을 이용하여 </a:t>
            </a:r>
            <a:r>
              <a:rPr lang="en-US" altLang="ko-KR" dirty="0"/>
              <a:t>Page</a:t>
            </a:r>
            <a:r>
              <a:rPr lang="ko-KR" altLang="en-US" dirty="0"/>
              <a:t>별로 거래를 발생시키는 패턴 임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86702" y="1928069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745367" y="1412775"/>
            <a:ext cx="928688" cy="1135373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816930" y="1412775"/>
            <a:ext cx="7295901" cy="1135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사용자의 최초거래에 대한 출력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Data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전체 페이지 정보와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1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페이지 출력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Data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임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전문의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개별부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항목으로 </a:t>
            </a:r>
            <a:r>
              <a:rPr lang="ko-KR" altLang="en-US" sz="1050" u="sng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페이지당 건수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1050" u="sng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next key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값을 포함시킴</a:t>
            </a:r>
            <a:endParaRPr lang="en-US" altLang="ko-KR" sz="105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조회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API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중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페이징조회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메소드를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호출하거나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</a:t>
            </a:r>
            <a:b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</a:b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DBMS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제공 </a:t>
            </a:r>
            <a:r>
              <a:rPr lang="ko-KR" altLang="en-US" sz="105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페이징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기능 이용하는 두가지 방식 가능 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오라클</a:t>
            </a:r>
            <a:r>
              <a:rPr lang="en-US" altLang="ko-KR" sz="105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: ROWNUM, DB2 : FETCH FIRST)</a:t>
            </a:r>
          </a:p>
        </p:txBody>
      </p:sp>
      <p:sp>
        <p:nvSpPr>
          <p:cNvPr id="9" name="직사각형 49"/>
          <p:cNvSpPr>
            <a:spLocks noChangeArrowheads="1"/>
          </p:cNvSpPr>
          <p:nvPr/>
        </p:nvSpPr>
        <p:spPr bwMode="auto">
          <a:xfrm>
            <a:off x="708856" y="2672916"/>
            <a:ext cx="8456612" cy="345638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43090" y="2751918"/>
            <a:ext cx="10017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>
            <a:off x="2527837" y="346629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4677" y="3301193"/>
            <a:ext cx="1000125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6714527" y="3394855"/>
            <a:ext cx="85725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7000277" y="3942543"/>
            <a:ext cx="573088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FM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6200000" flipH="1">
            <a:off x="7149502" y="380443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rot="16200000" flipH="1">
            <a:off x="7149502" y="4356881"/>
            <a:ext cx="2762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16200000" flipH="1">
            <a:off x="6251771" y="4264012"/>
            <a:ext cx="121443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44615" y="3277380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691422" y="3491693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2527837" y="368060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826076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32820" y="2751918"/>
            <a:ext cx="785812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2820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26076" y="3301193"/>
            <a:ext cx="785812" cy="273685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4897513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NEXCORE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3404257" y="3394855"/>
            <a:ext cx="642938" cy="257175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2602963" y="3491693"/>
            <a:ext cx="827296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①출력결과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5691422" y="3731405"/>
            <a:ext cx="1500187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</a:t>
            </a:r>
            <a:r>
              <a:rPr lang="ko-KR" altLang="en-US" sz="800">
                <a:latin typeface="+mn-ea"/>
                <a:ea typeface="+mn-ea"/>
              </a:rPr>
              <a:t>전체 페이지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페이지별 </a:t>
            </a:r>
            <a:r>
              <a:rPr lang="en-US" altLang="ko-KR" sz="800">
                <a:latin typeface="+mn-ea"/>
                <a:ea typeface="+mn-ea"/>
              </a:rPr>
              <a:t>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625128" y="3466293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>
            <a:off x="5625128" y="368060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5625128" y="5274455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3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332341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16805" y="360916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최초거래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2527837" y="5022043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2527837" y="5236355"/>
            <a:ext cx="80230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2562251" y="5045855"/>
            <a:ext cx="551533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6144615" y="4849005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5625128" y="5037918"/>
            <a:ext cx="101440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43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680" y="4879168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816805" y="5164918"/>
            <a:ext cx="50006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Page</a:t>
            </a:r>
            <a:r>
              <a:rPr lang="ko-KR" altLang="en-US" sz="800">
                <a:latin typeface="+mn-ea"/>
                <a:ea typeface="+mn-ea"/>
              </a:rPr>
              <a:t>클릭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5691422" y="5345893"/>
            <a:ext cx="1500187" cy="405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[</a:t>
            </a:r>
            <a:r>
              <a:rPr lang="ko-KR" altLang="en-US" sz="800">
                <a:latin typeface="+mn-ea"/>
                <a:ea typeface="+mn-ea"/>
              </a:rPr>
              <a:t>출력항목</a:t>
            </a:r>
            <a:r>
              <a:rPr lang="en-US" altLang="ko-KR" sz="800">
                <a:latin typeface="+mn-ea"/>
                <a:ea typeface="+mn-ea"/>
              </a:rPr>
              <a:t>]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 -</a:t>
            </a:r>
            <a:r>
              <a:rPr lang="ko-KR" altLang="en-US" sz="800">
                <a:latin typeface="+mn-ea"/>
                <a:ea typeface="+mn-ea"/>
              </a:rPr>
              <a:t>전체 페이지</a:t>
            </a:r>
            <a:endParaRPr lang="en-US" altLang="ko-KR" sz="800">
              <a:latin typeface="+mn-ea"/>
              <a:ea typeface="+mn-ea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- </a:t>
            </a:r>
            <a:r>
              <a:rPr lang="ko-KR" altLang="en-US" sz="800">
                <a:latin typeface="+mn-ea"/>
                <a:ea typeface="+mn-ea"/>
              </a:rPr>
              <a:t>페이지별 </a:t>
            </a:r>
            <a:r>
              <a:rPr lang="en-US" altLang="ko-KR" sz="800">
                <a:latin typeface="+mn-ea"/>
                <a:ea typeface="+mn-ea"/>
              </a:rPr>
              <a:t>Key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5691422" y="5063318"/>
            <a:ext cx="714375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②출력결과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4628" y="3323418"/>
            <a:ext cx="919130" cy="271462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604629" y="2751918"/>
            <a:ext cx="91913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9" name="직선 화살표 연결선 158"/>
          <p:cNvCxnSpPr>
            <a:cxnSpLocks noChangeShapeType="1"/>
          </p:cNvCxnSpPr>
          <p:nvPr/>
        </p:nvCxnSpPr>
        <p:spPr bwMode="auto">
          <a:xfrm>
            <a:off x="4140180" y="3466293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직선 화살표 연결선 159"/>
          <p:cNvCxnSpPr>
            <a:cxnSpLocks noChangeShapeType="1"/>
          </p:cNvCxnSpPr>
          <p:nvPr/>
        </p:nvCxnSpPr>
        <p:spPr bwMode="auto">
          <a:xfrm>
            <a:off x="4140180" y="5037918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60"/>
          <p:cNvCxnSpPr>
            <a:cxnSpLocks noChangeShapeType="1"/>
          </p:cNvCxnSpPr>
          <p:nvPr/>
        </p:nvCxnSpPr>
        <p:spPr bwMode="auto">
          <a:xfrm flipH="1">
            <a:off x="4140180" y="3680605"/>
            <a:ext cx="67912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61"/>
          <p:cNvCxnSpPr>
            <a:cxnSpLocks noChangeShapeType="1"/>
          </p:cNvCxnSpPr>
          <p:nvPr/>
        </p:nvCxnSpPr>
        <p:spPr bwMode="auto">
          <a:xfrm flipH="1">
            <a:off x="4140180" y="5250643"/>
            <a:ext cx="679120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직선 화살표 연결선 162"/>
          <p:cNvCxnSpPr>
            <a:cxnSpLocks noChangeShapeType="1"/>
          </p:cNvCxnSpPr>
          <p:nvPr/>
        </p:nvCxnSpPr>
        <p:spPr bwMode="auto">
          <a:xfrm>
            <a:off x="1245430" y="3466293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직선 화살표 연결선 163"/>
          <p:cNvCxnSpPr>
            <a:cxnSpLocks noChangeShapeType="1"/>
          </p:cNvCxnSpPr>
          <p:nvPr/>
        </p:nvCxnSpPr>
        <p:spPr bwMode="auto">
          <a:xfrm>
            <a:off x="1245430" y="5036330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1676702" y="3416146"/>
            <a:ext cx="759728" cy="249713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spcBef>
                <a:spcPts val="0"/>
              </a:spcBef>
              <a:spcAft>
                <a:spcPts val="0"/>
              </a:spcAft>
              <a:tabLst>
                <a:tab pos="1238250" algn="l"/>
              </a:tabLs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</a:rPr>
              <a:t>통합단말</a:t>
            </a:r>
          </a:p>
        </p:txBody>
      </p:sp>
      <p:sp>
        <p:nvSpPr>
          <p:cNvPr id="56" name="순서도: 자기 디스크 55"/>
          <p:cNvSpPr/>
          <p:nvPr/>
        </p:nvSpPr>
        <p:spPr>
          <a:xfrm>
            <a:off x="8267279" y="4930494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4" name="직선 화살표 연결선 33"/>
          <p:cNvCxnSpPr>
            <a:cxnSpLocks/>
            <a:stCxn id="61" idx="3"/>
            <a:endCxn id="56" idx="2"/>
          </p:cNvCxnSpPr>
          <p:nvPr/>
        </p:nvCxnSpPr>
        <p:spPr>
          <a:xfrm>
            <a:off x="7286027" y="4969726"/>
            <a:ext cx="981252" cy="28234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57" name="순서도: 자기 디스크 56"/>
          <p:cNvSpPr/>
          <p:nvPr/>
        </p:nvSpPr>
        <p:spPr>
          <a:xfrm>
            <a:off x="8267278" y="3681028"/>
            <a:ext cx="753505" cy="643147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8" name="직선 화살표 연결선 33"/>
          <p:cNvCxnSpPr>
            <a:cxnSpLocks/>
            <a:stCxn id="60" idx="3"/>
            <a:endCxn id="57" idx="2"/>
          </p:cNvCxnSpPr>
          <p:nvPr/>
        </p:nvCxnSpPr>
        <p:spPr>
          <a:xfrm flipV="1">
            <a:off x="7571777" y="4002602"/>
            <a:ext cx="695501" cy="538499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7894779" y="4469356"/>
            <a:ext cx="1379379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Fetch </a:t>
            </a:r>
            <a:r>
              <a:rPr lang="ko-KR" altLang="en-US" sz="900" dirty="0">
                <a:cs typeface="Arial" pitchFamily="34" charset="0"/>
              </a:rPr>
              <a:t>과정에서 앞 페이지 만큼 </a:t>
            </a:r>
            <a:r>
              <a:rPr lang="en-US" altLang="ko-KR" sz="900" dirty="0">
                <a:cs typeface="Arial" pitchFamily="34" charset="0"/>
              </a:rPr>
              <a:t>skip (</a:t>
            </a:r>
            <a:r>
              <a:rPr lang="ko-KR" altLang="en-US" sz="900" dirty="0">
                <a:cs typeface="Arial" pitchFamily="34" charset="0"/>
              </a:rPr>
              <a:t>버림</a:t>
            </a:r>
            <a:r>
              <a:rPr lang="en-US" altLang="ko-KR" sz="900" dirty="0">
                <a:cs typeface="Arial" pitchFamily="34" charset="0"/>
              </a:rPr>
              <a:t>) </a:t>
            </a:r>
            <a:r>
              <a:rPr lang="ko-KR" altLang="en-US" sz="900" dirty="0">
                <a:cs typeface="Arial" pitchFamily="34" charset="0"/>
              </a:rPr>
              <a:t>후 리턴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1292" y="5605974"/>
            <a:ext cx="1683110" cy="44665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Query </a:t>
            </a:r>
            <a:r>
              <a:rPr lang="ko-KR" altLang="en-US" sz="900" dirty="0">
                <a:cs typeface="Arial" pitchFamily="34" charset="0"/>
              </a:rPr>
              <a:t>시 </a:t>
            </a:r>
            <a:r>
              <a:rPr lang="en-US" altLang="ko-KR" sz="900" dirty="0">
                <a:cs typeface="Arial" pitchFamily="34" charset="0"/>
              </a:rPr>
              <a:t>DB </a:t>
            </a:r>
            <a:r>
              <a:rPr lang="ko-KR" altLang="en-US" sz="900" dirty="0">
                <a:cs typeface="Arial" pitchFamily="34" charset="0"/>
              </a:rPr>
              <a:t>기능을 이용하여 해당 페이지만 조회</a:t>
            </a:r>
            <a:r>
              <a:rPr lang="en-US" altLang="ko-KR" sz="900" dirty="0">
                <a:cs typeface="Arial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(</a:t>
            </a:r>
            <a:r>
              <a:rPr lang="ko-KR" altLang="en-US" sz="900" dirty="0">
                <a:cs typeface="Arial" pitchFamily="34" charset="0"/>
              </a:rPr>
              <a:t>예</a:t>
            </a:r>
            <a:r>
              <a:rPr lang="en-US" altLang="ko-KR" sz="900" dirty="0">
                <a:cs typeface="Arial" pitchFamily="34" charset="0"/>
              </a:rPr>
              <a:t>, ROWNUM, FETCH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>
                <a:cs typeface="Arial" pitchFamily="34" charset="0"/>
              </a:rPr>
              <a:t>FIRST)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715445" y="2948217"/>
            <a:ext cx="1519873" cy="44665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1</a:t>
            </a:r>
            <a:r>
              <a:rPr lang="ko-KR" altLang="en-US" sz="900">
                <a:cs typeface="Arial" pitchFamily="34" charset="0"/>
              </a:rPr>
              <a:t>회 </a:t>
            </a:r>
            <a:r>
              <a:rPr lang="en-US" altLang="ko-KR" sz="900">
                <a:cs typeface="Arial" pitchFamily="34" charset="0"/>
              </a:rPr>
              <a:t>fetch 1</a:t>
            </a:r>
            <a:r>
              <a:rPr lang="ko-KR" altLang="en-US" sz="900">
                <a:cs typeface="Arial" pitchFamily="34" charset="0"/>
              </a:rPr>
              <a:t>만건 제한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IRecordSet</a:t>
            </a:r>
            <a:r>
              <a:rPr lang="ko-KR" altLang="en-US" sz="900">
                <a:cs typeface="Arial" pitchFamily="34" charset="0"/>
              </a:rPr>
              <a:t> 최대 </a:t>
            </a:r>
            <a:r>
              <a:rPr lang="en-US" altLang="ko-KR" sz="900">
                <a:cs typeface="Arial" pitchFamily="34" charset="0"/>
              </a:rPr>
              <a:t>1</a:t>
            </a:r>
            <a:r>
              <a:rPr lang="ko-KR" altLang="en-US" sz="900">
                <a:cs typeface="Arial" pitchFamily="34" charset="0"/>
              </a:rPr>
              <a:t>만건 제한</a:t>
            </a:r>
            <a:endParaRPr lang="en-US" altLang="ko-KR" sz="9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900">
                <a:cs typeface="Arial" pitchFamily="34" charset="0"/>
              </a:rPr>
              <a:t>1page </a:t>
            </a:r>
            <a:r>
              <a:rPr lang="ko-KR" altLang="en-US" sz="900">
                <a:cs typeface="Arial" pitchFamily="34" charset="0"/>
              </a:rPr>
              <a:t>당 최대 </a:t>
            </a:r>
            <a:r>
              <a:rPr lang="en-US" altLang="ko-KR" sz="900">
                <a:cs typeface="Arial" pitchFamily="34" charset="0"/>
              </a:rPr>
              <a:t>1000</a:t>
            </a:r>
            <a:r>
              <a:rPr lang="ko-KR" altLang="en-US" sz="900">
                <a:cs typeface="Arial" pitchFamily="34" charset="0"/>
              </a:rPr>
              <a:t>건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60" name="Text Box 25">
            <a:extLst>
              <a:ext uri="{FF2B5EF4-FFF2-40B4-BE49-F238E27FC236}">
                <a16:creationId xmlns:a16="http://schemas.microsoft.com/office/drawing/2014/main" id="{C9346595-F8DC-4A4E-BCB1-CECDA4ED4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865" y="4466418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1" name="Text Box 25">
            <a:extLst>
              <a:ext uri="{FF2B5EF4-FFF2-40B4-BE49-F238E27FC236}">
                <a16:creationId xmlns:a16="http://schemas.microsoft.com/office/drawing/2014/main" id="{80292722-F18F-4710-B4CA-E3F70C83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115" y="489504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5" name="Text Box 25">
            <a:extLst>
              <a:ext uri="{FF2B5EF4-FFF2-40B4-BE49-F238E27FC236}">
                <a16:creationId xmlns:a16="http://schemas.microsoft.com/office/drawing/2014/main" id="{6090DC03-6F42-4165-BA51-75F7E1833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265" y="4604163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66" name="Text Box 25">
            <a:extLst>
              <a:ext uri="{FF2B5EF4-FFF2-40B4-BE49-F238E27FC236}">
                <a16:creationId xmlns:a16="http://schemas.microsoft.com/office/drawing/2014/main" id="{34D8D891-7F97-44BB-911E-2999C1C80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515" y="5036211"/>
            <a:ext cx="569912" cy="1493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DBM</a:t>
            </a:r>
            <a:endParaRPr kumimoji="0" lang="ko-KR" altLang="en-US" sz="1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644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 rot="16200000">
            <a:off x="1713729" y="2295414"/>
            <a:ext cx="3399455" cy="42604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 rot="16200000">
            <a:off x="5673132" y="2736070"/>
            <a:ext cx="3404909" cy="3381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5915539" y="3316099"/>
            <a:ext cx="721853" cy="1013001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968842" y="3407554"/>
            <a:ext cx="604338" cy="8495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+mn-ea"/>
              </a:rPr>
              <a:t>JAS</a:t>
            </a:r>
            <a:endParaRPr kumimoji="0" lang="en-US" altLang="ko-KR" sz="1000" kern="0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온디맨드 </a:t>
            </a:r>
            <a:r>
              <a:rPr lang="ko-KR" altLang="en-US" dirty="0"/>
              <a:t>배치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프레임워크 기반에서 사용자가 배치</a:t>
            </a:r>
            <a:r>
              <a:rPr lang="en-US" altLang="ko-KR" dirty="0"/>
              <a:t>JOB </a:t>
            </a:r>
            <a:r>
              <a:rPr lang="ko-KR" altLang="en-US"/>
              <a:t>을 호출하는 패턴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온디맨드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배치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Job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의 실행은 배치 스케줄러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(Control-M)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를 통해서만 실행함</a:t>
            </a:r>
            <a:endParaRPr lang="en-US" altLang="ko-KR" sz="110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온라인서비스의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PM, FM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에서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Job Name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과 배치 파라미터를 넣어 호출함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온디맨드 배치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API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안에서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JAS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를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호출하여 배치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Job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실행</a:t>
            </a:r>
            <a:endParaRPr lang="en-US" altLang="ko-KR" sz="110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개발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스테이징은 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JAS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가 없으므로</a:t>
            </a:r>
            <a:r>
              <a:rPr lang="en-US" altLang="ko-KR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, FW </a:t>
            </a:r>
            <a:r>
              <a:rPr lang="ko-KR" altLang="en-US" sz="1100">
                <a:solidFill>
                  <a:schemeClr val="tx1">
                    <a:lumMod val="50000"/>
                  </a:schemeClr>
                </a:solidFill>
                <a:latin typeface="+mn-ea"/>
              </a:rPr>
              <a:t>에서 별도의 배치실행 데몬 실행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406403" y="2820857"/>
            <a:ext cx="1001713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407991" y="3332241"/>
            <a:ext cx="1000125" cy="246389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1479428" y="3411407"/>
            <a:ext cx="857250" cy="642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통합단말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688511" y="2820857"/>
            <a:ext cx="644525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 err="1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56856" y="2820857"/>
            <a:ext cx="7472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8186" y="3298695"/>
            <a:ext cx="746104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721876" y="3392357"/>
            <a:ext cx="625708" cy="185737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 err="1">
                <a:latin typeface="+mn-ea"/>
              </a:rPr>
              <a:t>NEXCORE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온라인</a:t>
            </a:r>
            <a:r>
              <a:rPr kumimoji="0" lang="en-US" altLang="ko-KR" sz="1000" kern="0" dirty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00972" y="2820857"/>
            <a:ext cx="725800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02561" y="3298695"/>
            <a:ext cx="724211" cy="2022475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4763324" y="3392357"/>
            <a:ext cx="602114" cy="71437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PM, FM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(</a:t>
            </a:r>
            <a:r>
              <a:rPr kumimoji="0" lang="ko-KR" altLang="en-US" sz="1000" kern="0" dirty="0">
                <a:latin typeface="+mn-ea"/>
              </a:rPr>
              <a:t>온라인</a:t>
            </a:r>
            <a:br>
              <a:rPr kumimoji="0" lang="en-US" altLang="ko-KR" sz="1000" kern="0" dirty="0">
                <a:latin typeface="+mn-ea"/>
              </a:rPr>
            </a:br>
            <a:r>
              <a:rPr kumimoji="0" lang="ko-KR" altLang="en-US" sz="1000" kern="0" dirty="0">
                <a:latin typeface="+mn-ea"/>
              </a:rPr>
              <a:t>프로그램</a:t>
            </a:r>
            <a:r>
              <a:rPr kumimoji="0" lang="en-US" altLang="ko-KR" sz="1000" kern="0" dirty="0">
                <a:latin typeface="+mn-ea"/>
              </a:rPr>
              <a:t>)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56544" y="3316099"/>
            <a:ext cx="766263" cy="1013001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7014979" y="3407554"/>
            <a:ext cx="641518" cy="8495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 dirty="0">
                <a:latin typeface="+mn-ea"/>
              </a:rPr>
              <a:t>Control-M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8131052" y="2820857"/>
            <a:ext cx="8542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8132521" y="3298695"/>
            <a:ext cx="852927" cy="2497438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8193446" y="3392357"/>
            <a:ext cx="731079" cy="226713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배치</a:t>
            </a:r>
            <a:br>
              <a:rPr kumimoji="0" lang="en-US" altLang="ko-KR" sz="1000" kern="0" dirty="0">
                <a:latin typeface="+mn-ea"/>
              </a:rPr>
            </a:br>
            <a:r>
              <a:rPr kumimoji="0" lang="ko-KR" altLang="en-US" sz="1000" kern="0" dirty="0">
                <a:latin typeface="+mn-ea"/>
              </a:rPr>
              <a:t>프로그램</a:t>
            </a:r>
          </a:p>
        </p:txBody>
      </p:sp>
      <p:cxnSp>
        <p:nvCxnSpPr>
          <p:cNvPr id="27" name="직선 화살표 연결선 70"/>
          <p:cNvCxnSpPr>
            <a:cxnSpLocks noChangeShapeType="1"/>
          </p:cNvCxnSpPr>
          <p:nvPr/>
        </p:nvCxnSpPr>
        <p:spPr bwMode="auto">
          <a:xfrm>
            <a:off x="2406528" y="3463795"/>
            <a:ext cx="283571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직선 화살표 연결선 71"/>
          <p:cNvCxnSpPr>
            <a:cxnSpLocks noChangeShapeType="1"/>
          </p:cNvCxnSpPr>
          <p:nvPr/>
        </p:nvCxnSpPr>
        <p:spPr bwMode="auto">
          <a:xfrm>
            <a:off x="3338569" y="3463795"/>
            <a:ext cx="318287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직선 화살표 연결선 72"/>
          <p:cNvCxnSpPr>
            <a:cxnSpLocks noChangeShapeType="1"/>
          </p:cNvCxnSpPr>
          <p:nvPr/>
        </p:nvCxnSpPr>
        <p:spPr bwMode="auto">
          <a:xfrm flipV="1">
            <a:off x="4412940" y="3463795"/>
            <a:ext cx="276690" cy="793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직선 화살표 연결선 73"/>
          <p:cNvCxnSpPr>
            <a:cxnSpLocks noChangeShapeType="1"/>
          </p:cNvCxnSpPr>
          <p:nvPr/>
        </p:nvCxnSpPr>
        <p:spPr bwMode="auto">
          <a:xfrm>
            <a:off x="5435630" y="3840516"/>
            <a:ext cx="479909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직선 화살표 연결선 75"/>
          <p:cNvCxnSpPr>
            <a:cxnSpLocks noChangeShapeType="1"/>
          </p:cNvCxnSpPr>
          <p:nvPr/>
        </p:nvCxnSpPr>
        <p:spPr bwMode="auto">
          <a:xfrm>
            <a:off x="7725308" y="3846118"/>
            <a:ext cx="367427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직선 화살표 연결선 76"/>
          <p:cNvCxnSpPr>
            <a:cxnSpLocks noChangeShapeType="1"/>
          </p:cNvCxnSpPr>
          <p:nvPr/>
        </p:nvCxnSpPr>
        <p:spPr bwMode="auto">
          <a:xfrm flipH="1" flipV="1">
            <a:off x="4412941" y="4033707"/>
            <a:ext cx="276690" cy="159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직선 화살표 연결선 77"/>
          <p:cNvCxnSpPr>
            <a:cxnSpLocks noChangeShapeType="1"/>
          </p:cNvCxnSpPr>
          <p:nvPr/>
        </p:nvCxnSpPr>
        <p:spPr bwMode="auto">
          <a:xfrm flipH="1">
            <a:off x="3332820" y="4033707"/>
            <a:ext cx="291022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화살표 연결선 78"/>
          <p:cNvCxnSpPr>
            <a:cxnSpLocks noChangeShapeType="1"/>
          </p:cNvCxnSpPr>
          <p:nvPr/>
        </p:nvCxnSpPr>
        <p:spPr bwMode="auto">
          <a:xfrm flipH="1" flipV="1">
            <a:off x="2406529" y="4033707"/>
            <a:ext cx="281982" cy="1589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88"/>
          <p:cNvSpPr txBox="1">
            <a:spLocks noChangeArrowheads="1"/>
          </p:cNvSpPr>
          <p:nvPr/>
        </p:nvSpPr>
        <p:spPr bwMode="auto">
          <a:xfrm>
            <a:off x="5238164" y="3530375"/>
            <a:ext cx="687984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 실행</a:t>
            </a:r>
            <a:endParaRPr lang="en-US" altLang="ko-KR" sz="800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호출</a:t>
            </a:r>
            <a:endParaRPr lang="en-US" altLang="ko-KR" sz="1000" baseline="30000" dirty="0">
              <a:latin typeface="+mn-ea"/>
              <a:ea typeface="+mn-ea"/>
            </a:endParaRPr>
          </a:p>
        </p:txBody>
      </p:sp>
      <p:sp>
        <p:nvSpPr>
          <p:cNvPr id="39" name="TextBox 90"/>
          <p:cNvSpPr txBox="1">
            <a:spLocks noChangeArrowheads="1"/>
          </p:cNvSpPr>
          <p:nvPr/>
        </p:nvSpPr>
        <p:spPr bwMode="auto">
          <a:xfrm>
            <a:off x="4738370" y="4175818"/>
            <a:ext cx="646678" cy="528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배치프로그램 호출 후 결과 확인하지 않고 단말로 응답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0099" y="3298695"/>
            <a:ext cx="642937" cy="235746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2761536" y="3392357"/>
            <a:ext cx="500063" cy="213302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pic>
        <p:nvPicPr>
          <p:cNvPr id="45" name="Picture 105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6805" y="3338172"/>
            <a:ext cx="2857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26317" y="3623922"/>
            <a:ext cx="500063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배치</a:t>
            </a:r>
            <a:endParaRPr lang="en-US" altLang="ko-KR" sz="800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실행 요청</a:t>
            </a: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>
            <a:off x="1209712" y="3481046"/>
            <a:ext cx="196692" cy="3175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8" name="TextBox 88"/>
          <p:cNvSpPr txBox="1">
            <a:spLocks noChangeArrowheads="1"/>
          </p:cNvSpPr>
          <p:nvPr/>
        </p:nvSpPr>
        <p:spPr bwMode="auto">
          <a:xfrm>
            <a:off x="7628594" y="3501008"/>
            <a:ext cx="5287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배치쉘</a:t>
            </a:r>
            <a:endParaRPr lang="en-US" altLang="ko-KR" sz="80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실행</a:t>
            </a:r>
            <a:endParaRPr lang="en-US" altLang="ko-KR" sz="800" baseline="30000" dirty="0">
              <a:latin typeface="+mn-ea"/>
              <a:ea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온라인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거래 패턴</a:t>
            </a:r>
          </a:p>
        </p:txBody>
      </p:sp>
      <p:cxnSp>
        <p:nvCxnSpPr>
          <p:cNvPr id="55" name="직선 화살표 연결선 72"/>
          <p:cNvCxnSpPr>
            <a:cxnSpLocks noChangeShapeType="1"/>
          </p:cNvCxnSpPr>
          <p:nvPr/>
        </p:nvCxnSpPr>
        <p:spPr bwMode="auto">
          <a:xfrm>
            <a:off x="6635622" y="3846118"/>
            <a:ext cx="279304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/>
          <p:cNvSpPr txBox="1"/>
          <p:nvPr/>
        </p:nvSpPr>
        <p:spPr>
          <a:xfrm>
            <a:off x="3008784" y="5928748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온라인 서버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87331" y="4905164"/>
            <a:ext cx="721853" cy="1064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5932838" y="5049180"/>
            <a:ext cx="604338" cy="85601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+mn-ea"/>
              </a:rPr>
              <a:t>FW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+mn-ea"/>
              </a:rPr>
              <a:t>배치실행</a:t>
            </a:r>
            <a:endParaRPr lang="en-US" altLang="ko-KR" sz="1000" kern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+mn-ea"/>
              </a:rPr>
              <a:t>데몬</a:t>
            </a:r>
            <a:endParaRPr lang="en-US" altLang="ko-KR" sz="1000" kern="0">
              <a:latin typeface="+mn-ea"/>
            </a:endParaRPr>
          </a:p>
        </p:txBody>
      </p:sp>
      <p:cxnSp>
        <p:nvCxnSpPr>
          <p:cNvPr id="64" name="직선 화살표 연결선 72"/>
          <p:cNvCxnSpPr>
            <a:cxnSpLocks noChangeShapeType="1"/>
          </p:cNvCxnSpPr>
          <p:nvPr/>
        </p:nvCxnSpPr>
        <p:spPr bwMode="auto">
          <a:xfrm flipV="1">
            <a:off x="6564351" y="5409220"/>
            <a:ext cx="1528384" cy="1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직사각형 41"/>
          <p:cNvSpPr/>
          <p:nvPr/>
        </p:nvSpPr>
        <p:spPr>
          <a:xfrm>
            <a:off x="5812223" y="2802521"/>
            <a:ext cx="2020536" cy="1610129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811249" y="4541167"/>
            <a:ext cx="2020536" cy="1444117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8" name="직선 화살표 연결선 73"/>
          <p:cNvCxnSpPr>
            <a:cxnSpLocks noChangeShapeType="1"/>
            <a:endCxn id="62" idx="1"/>
          </p:cNvCxnSpPr>
          <p:nvPr/>
        </p:nvCxnSpPr>
        <p:spPr bwMode="auto">
          <a:xfrm>
            <a:off x="5398109" y="3978313"/>
            <a:ext cx="534729" cy="1498876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6371467" y="2888940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운영계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16388" y="4655410"/>
            <a:ext cx="900100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개발</a:t>
            </a:r>
            <a:r>
              <a:rPr lang="en-US" altLang="ko-KR" sz="1000">
                <a:cs typeface="Arial" pitchFamily="34" charset="0"/>
              </a:rPr>
              <a:t>/</a:t>
            </a:r>
            <a:r>
              <a:rPr lang="ko-KR" altLang="en-US" sz="1000">
                <a:cs typeface="Arial" pitchFamily="34" charset="0"/>
              </a:rPr>
              <a:t>스테이징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1" name="TextBox 88"/>
          <p:cNvSpPr txBox="1">
            <a:spLocks noChangeArrowheads="1"/>
          </p:cNvSpPr>
          <p:nvPr/>
        </p:nvSpPr>
        <p:spPr bwMode="auto">
          <a:xfrm>
            <a:off x="6974105" y="5085184"/>
            <a:ext cx="528762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배치쉘</a:t>
            </a:r>
            <a:endParaRPr lang="en-US" altLang="ko-KR" sz="80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>
                <a:latin typeface="+mn-ea"/>
                <a:ea typeface="+mn-ea"/>
              </a:rPr>
              <a:t>실행</a:t>
            </a:r>
            <a:endParaRPr lang="en-US" altLang="ko-KR" sz="800" baseline="30000" dirty="0">
              <a:latin typeface="+mn-ea"/>
              <a:ea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781092" y="3217797"/>
            <a:ext cx="105012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계정 </a:t>
            </a:r>
            <a:r>
              <a:rPr lang="en-US" altLang="ko-KR" sz="1000">
                <a:cs typeface="Arial" pitchFamily="34" charset="0"/>
              </a:rPr>
              <a:t>: opsadm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71393" y="4873981"/>
            <a:ext cx="1050124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>
                <a:cs typeface="Arial" pitchFamily="34" charset="0"/>
              </a:rPr>
              <a:t>계정 </a:t>
            </a:r>
            <a:r>
              <a:rPr lang="en-US" altLang="ko-KR" sz="1000">
                <a:cs typeface="Arial" pitchFamily="34" charset="0"/>
              </a:rPr>
              <a:t>: sqc000</a:t>
            </a: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212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인터페이스 </a:t>
            </a:r>
            <a:r>
              <a:rPr lang="ko-KR" altLang="en-US" dirty="0"/>
              <a:t>거래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대외 기관과의 연계는 대외 </a:t>
            </a:r>
            <a:r>
              <a:rPr lang="en-US" altLang="ko-KR" dirty="0"/>
              <a:t>EAI </a:t>
            </a:r>
            <a:r>
              <a:rPr lang="ko-KR" altLang="en-US" dirty="0"/>
              <a:t>를 통해 전문통신으로 처리하며 다음과 같은 패턴들이 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5" name="Group 69"/>
          <p:cNvGraphicFramePr>
            <a:graphicFrameLocks noGrp="1"/>
          </p:cNvGraphicFramePr>
          <p:nvPr/>
        </p:nvGraphicFramePr>
        <p:xfrm>
          <a:off x="740531" y="1221763"/>
          <a:ext cx="8424937" cy="5101582"/>
        </p:xfrm>
        <a:graphic>
          <a:graphicData uri="http://schemas.openxmlformats.org/drawingml/2006/table">
            <a:tbl>
              <a:tblPr/>
              <a:tblGrid>
                <a:gridCol w="74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844"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In/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Out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Sync/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요청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패턴 설명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73">
                <a:tc rowSpan="5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취급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취급응답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Outbound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Sync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응답이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때까지 </a:t>
                      </a:r>
                      <a:r>
                        <a:rPr kumimoji="0" lang="ko-KR" alt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기다린 후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동일세션으로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 전문을 받아 그 결과를 통합단말로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무응답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응답을 기다리지 않고 바로 리턴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전송 상태까지만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대외 기관의 응답 전문에 대해서는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리턴하지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않음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(3)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 대기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단말에서 시작한 거래 요청 처리 중 대외 기관 연계를 위해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호출하고 응답을 기다리지 않고 바로 리턴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더미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리턴하여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해당 거래를 종료하고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단말로 응답 전문 회신하지 않는다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이때까지 단말은 계속 대기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아래의 대외 응답 전문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수신시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별도의 거래에서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원거래의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글로벌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찾아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 전문 전송함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대외기관으로는 별도의 세션으로 응답 전문을 전송한다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응답전문 처리를 위한 프레임워크 거래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대외업무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PM)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호출한다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요청전문의 헤더를 복원한다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해당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연동거래로 호출하고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MCI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응답전문을 전송한다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후 경우 정해진 시간에 응답이 오지 않을 경우 취소 거래를 기동시켜 취소 처리를 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sendOutboundAfterCommit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()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메소드로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후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callDelayAsyncService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타임아웃시간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취소 거래를 등록한다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05">
                <a:tc rowSpan="2"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개설거래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DE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Inbound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Sync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buFont typeface="Wingdings" pitchFamily="2" charset="2"/>
                        <a:defRPr kumimoji="1" sz="1200">
                          <a:solidFill>
                            <a:srgbClr val="000000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기관에서 요청 전문 받아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표준전문으로 헤더 변환하여 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연동거래로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호출하며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응답을 받아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회신함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508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Async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(5)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요청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기관에서 요청 전문 받아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표준전문으로 헤더 변환하여 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비동기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연동거래로 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호출하고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종료함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업무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업무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처리후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응답용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호출하고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sendOutbound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()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대외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응답 전문 전송함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127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통신방식 </a:t>
            </a:r>
            <a:r>
              <a:rPr lang="ko-KR" altLang="en-US" dirty="0"/>
              <a:t>정의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011800" y="4408438"/>
            <a:ext cx="2486819" cy="465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788746" y="2537145"/>
            <a:ext cx="1052686" cy="3690626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180000" rIns="54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20" y="3157858"/>
            <a:ext cx="664616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32619" y="2606973"/>
            <a:ext cx="664616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64968" y="2606973"/>
            <a:ext cx="733307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33264" y="2606973"/>
            <a:ext cx="65092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92402" y="2606973"/>
            <a:ext cx="108012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33264" y="3157858"/>
            <a:ext cx="65092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2402" y="3157858"/>
            <a:ext cx="1080120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4867943" y="3893887"/>
            <a:ext cx="699082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PM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5163512" y="4441574"/>
            <a:ext cx="46735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FM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5165277" y="4965449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83900" y="315785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3555338" y="3251520"/>
            <a:ext cx="573087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2189463" y="3251520"/>
            <a:ext cx="522186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  <a:endParaRPr kumimoji="0" lang="ko-KR" altLang="en-US" sz="1000" kern="0" dirty="0">
              <a:latin typeface="+mn-ea"/>
            </a:endParaRP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1025533" y="3251520"/>
            <a:ext cx="468529" cy="285428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통합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단말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7256119" y="3962544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rot="16200000" flipH="1">
            <a:off x="5274897" y="4303463"/>
            <a:ext cx="276225" cy="3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rot="16200000" flipH="1">
            <a:off x="5289188" y="4841626"/>
            <a:ext cx="247650" cy="1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836417" y="5394074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 rot="16200000" flipH="1">
            <a:off x="4441458" y="4774949"/>
            <a:ext cx="12382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931620" y="2608583"/>
            <a:ext cx="714375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19618" y="315463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6386985" y="3248300"/>
            <a:ext cx="577158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31620" y="3157858"/>
            <a:ext cx="714375" cy="302260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8003058" y="3251520"/>
            <a:ext cx="573087" cy="28575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 dirty="0">
                <a:latin typeface="+mn-ea"/>
              </a:rPr>
              <a:t>EAI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272872" y="2598733"/>
            <a:ext cx="801920" cy="428625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 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7238654" y="4610616"/>
            <a:ext cx="329252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4" name="오른쪽으로 구부러진 화살표 43"/>
          <p:cNvSpPr/>
          <p:nvPr/>
        </p:nvSpPr>
        <p:spPr>
          <a:xfrm>
            <a:off x="7077236" y="4106560"/>
            <a:ext cx="661303" cy="165547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왼쪽으로 구부러진 화살표 44"/>
          <p:cNvSpPr/>
          <p:nvPr/>
        </p:nvSpPr>
        <p:spPr>
          <a:xfrm>
            <a:off x="2841238" y="4219126"/>
            <a:ext cx="540349" cy="238538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2939029" y="4069653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2888882" y="4985441"/>
            <a:ext cx="44814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9" name="모서리가 둥근 사각형 설명선 48"/>
          <p:cNvSpPr/>
          <p:nvPr/>
        </p:nvSpPr>
        <p:spPr>
          <a:xfrm>
            <a:off x="2959684" y="3523313"/>
            <a:ext cx="764084" cy="360040"/>
          </a:xfrm>
          <a:prstGeom prst="wedgeRoundRectCallout">
            <a:avLst>
              <a:gd name="adj1" fmla="val -37787"/>
              <a:gd name="adj2" fmla="val 81548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일반거래</a:t>
            </a:r>
          </a:p>
        </p:txBody>
      </p:sp>
      <p:sp>
        <p:nvSpPr>
          <p:cNvPr id="50" name="모서리가 둥근 사각형 설명선 49"/>
          <p:cNvSpPr/>
          <p:nvPr/>
        </p:nvSpPr>
        <p:spPr>
          <a:xfrm>
            <a:off x="3000213" y="5697252"/>
            <a:ext cx="764084" cy="360040"/>
          </a:xfrm>
          <a:prstGeom prst="wedgeRoundRectCallout">
            <a:avLst>
              <a:gd name="adj1" fmla="val -41776"/>
              <a:gd name="adj2" fmla="val -68719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BID, PUSH</a:t>
            </a: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>
            <a:off x="1604628" y="4685033"/>
            <a:ext cx="49164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1715493" y="4457664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1" name="오른쪽 화살표 60"/>
          <p:cNvSpPr/>
          <p:nvPr/>
        </p:nvSpPr>
        <p:spPr>
          <a:xfrm>
            <a:off x="7078542" y="4759980"/>
            <a:ext cx="652619" cy="119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모서리가 둥근 사각형 설명선 61"/>
          <p:cNvSpPr/>
          <p:nvPr/>
        </p:nvSpPr>
        <p:spPr>
          <a:xfrm>
            <a:off x="7409570" y="3565821"/>
            <a:ext cx="1249545" cy="324716"/>
          </a:xfrm>
          <a:prstGeom prst="wedgeRoundRectCallout">
            <a:avLst>
              <a:gd name="adj1" fmla="val -37787"/>
              <a:gd name="adj2" fmla="val 81548"/>
              <a:gd name="adj3" fmla="val 16667"/>
            </a:avLst>
          </a:prstGeom>
          <a:solidFill>
            <a:srgbClr val="FFFF99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취급응답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async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개설요청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/</a:t>
            </a:r>
          </a:p>
        </p:txBody>
      </p:sp>
      <p:sp>
        <p:nvSpPr>
          <p:cNvPr id="63" name="직사각형 49"/>
          <p:cNvSpPr>
            <a:spLocks noChangeArrowheads="1"/>
          </p:cNvSpPr>
          <p:nvPr/>
        </p:nvSpPr>
        <p:spPr bwMode="auto">
          <a:xfrm>
            <a:off x="704528" y="2420888"/>
            <a:ext cx="8456612" cy="3870214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828520" y="4462622"/>
            <a:ext cx="5790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(inbound)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2613" y="4261744"/>
            <a:ext cx="5790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(inbound)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65713" y="4835847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(outbound)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84356" y="5358182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ea"/>
              </a:rPr>
              <a:t>(outbound)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82374" y="1568030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741039" y="980729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1812602" y="980728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J2EE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표준을 고려하여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요청을 받는다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프레임워크 기준으로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Inbound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요청받아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Outbound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통신은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HTTP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하며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TCP/IP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프로토콜로 통신한다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lnSpc>
                <a:spcPct val="100000"/>
              </a:lnSpc>
              <a:buFont typeface="Wingdings" pitchFamily="2" charset="2"/>
              <a:buChar char="§"/>
              <a:defRPr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Outbound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통신은 유형에 따라 응답을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리턴받거나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응답없이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send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만 한다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53" name="왼쪽으로 구부러진 화살표 52"/>
          <p:cNvSpPr/>
          <p:nvPr/>
        </p:nvSpPr>
        <p:spPr>
          <a:xfrm flipH="1">
            <a:off x="2795384" y="5134679"/>
            <a:ext cx="645624" cy="238538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 Box 25">
            <a:extLst>
              <a:ext uri="{FF2B5EF4-FFF2-40B4-BE49-F238E27FC236}">
                <a16:creationId xmlns:a16="http://schemas.microsoft.com/office/drawing/2014/main" id="{8DD19A03-FB0D-474A-A48F-B4753B51D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817" y="5600094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  <p:sp>
        <p:nvSpPr>
          <p:cNvPr id="56" name="Text Box 25">
            <a:extLst>
              <a:ext uri="{FF2B5EF4-FFF2-40B4-BE49-F238E27FC236}">
                <a16:creationId xmlns:a16="http://schemas.microsoft.com/office/drawing/2014/main" id="{FECCA5C1-7799-4AAE-A415-40F324D66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677" y="5171469"/>
            <a:ext cx="464761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DBM</a:t>
            </a:r>
            <a:endParaRPr kumimoji="0" lang="ko-KR" altLang="en-US" sz="9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1591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Outbound </a:t>
            </a:r>
            <a:r>
              <a:rPr lang="en-US" altLang="ko-KR" dirty="0"/>
              <a:t>+ Sync </a:t>
            </a:r>
            <a:r>
              <a:rPr lang="ko-KR" altLang="en-US" dirty="0"/>
              <a:t>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취급거래</a:t>
            </a:r>
            <a:r>
              <a:rPr lang="ko-KR" altLang="en-US" dirty="0"/>
              <a:t> 패턴으로 </a:t>
            </a:r>
            <a:r>
              <a:rPr lang="ko-KR" altLang="en-US" dirty="0" err="1"/>
              <a:t>대외기관의</a:t>
            </a:r>
            <a:r>
              <a:rPr lang="ko-KR" altLang="en-US" dirty="0"/>
              <a:t> </a:t>
            </a:r>
            <a:r>
              <a:rPr lang="ko-KR" altLang="en-US" dirty="0" err="1"/>
              <a:t>응답전문을</a:t>
            </a:r>
            <a:r>
              <a:rPr lang="ko-KR" altLang="en-US" dirty="0"/>
              <a:t> 수신할 때가지 대기</a:t>
            </a:r>
            <a:r>
              <a:rPr lang="en-US" altLang="ko-KR" dirty="0"/>
              <a:t>(Blocking) </a:t>
            </a:r>
            <a:r>
              <a:rPr lang="ko-KR" altLang="en-US" dirty="0"/>
              <a:t>후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업무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직접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API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callOutbound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대외기관이 응답 전문 회신할 때까지 대기한 후 응답 전문 받아 동일 세션에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기관은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또는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응답할 수 있으나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merge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하여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호출과 응답의 전문은 개발도구의 전문설계기를 이용하여 레이아웃 설계함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변환은 프레임워크 전문 변환 기능을 이용하여 변환함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callOutbound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호출시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타임아웃 값을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파라미터로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전달하여 일정시간 동안 응답 전문수신되지 않으면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Exception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발생하도록 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6805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29505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934821" y="2857500"/>
            <a:ext cx="152345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93495" y="2857500"/>
            <a:ext cx="72911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22303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22303" y="3500438"/>
            <a:ext cx="671479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93495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664932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789646" y="3594100"/>
            <a:ext cx="538381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043381" y="2857500"/>
            <a:ext cx="791142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43381" y="3500439"/>
            <a:ext cx="789555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6110742" y="3594100"/>
            <a:ext cx="654425" cy="247808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191711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1711" y="3500439"/>
            <a:ext cx="712787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263148" y="3594100"/>
            <a:ext cx="571500" cy="247808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 제거 및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 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1535299" y="3879850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2397112" y="3879850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6834523" y="3913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6878973" y="3945880"/>
            <a:ext cx="35718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TCP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요청</a:t>
            </a: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7906086" y="3913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7906086" y="387985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(sync)</a:t>
            </a:r>
            <a:endParaRPr lang="ko-KR" altLang="en-US" sz="800">
              <a:latin typeface="+mn-ea"/>
              <a:ea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3322612" y="3879850"/>
            <a:ext cx="6439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3366417" y="3721100"/>
            <a:ext cx="5000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42379" y="3522663"/>
            <a:ext cx="1515893" cy="262096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4021967" y="3594100"/>
            <a:ext cx="1311405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1492" y="3603346"/>
            <a:ext cx="1329658" cy="25269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4207322" y="4318732"/>
            <a:ext cx="1026042" cy="95394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요청전문</a:t>
            </a:r>
            <a:r>
              <a:rPr kumimoji="0" lang="en-US" altLang="ko-KR" sz="900" kern="0" dirty="0">
                <a:latin typeface="+mn-ea"/>
              </a:rPr>
              <a:t>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 err="1">
                <a:latin typeface="+mn-ea"/>
              </a:rPr>
              <a:t>callOutbound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Waiting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call  return</a:t>
            </a:r>
          </a:p>
          <a:p>
            <a:pPr defTabSz="190500" fontAlgn="auto" latinLnBrk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응답전문 </a:t>
            </a:r>
            <a:r>
              <a:rPr kumimoji="0" lang="ko-KR" altLang="en-US" sz="900" kern="0" dirty="0" err="1">
                <a:latin typeface="+mn-ea"/>
              </a:rPr>
              <a:t>파싱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5349044" y="4478285"/>
            <a:ext cx="752392" cy="17485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callOutbound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0800000">
            <a:off x="1535299" y="5805264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0800000">
            <a:off x="2397112" y="5805264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>
            <a:off x="3321793" y="5805264"/>
            <a:ext cx="61302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3895488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rot="10800000" flipH="1">
            <a:off x="3966483" y="3378198"/>
            <a:ext cx="1491789" cy="1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Line 20"/>
          <p:cNvSpPr>
            <a:spLocks noChangeShapeType="1"/>
          </p:cNvSpPr>
          <p:nvPr/>
        </p:nvSpPr>
        <p:spPr bwMode="auto">
          <a:xfrm rot="16200000" flipH="1">
            <a:off x="5401419" y="3368675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4405965" y="3214688"/>
            <a:ext cx="62034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flipH="1">
            <a:off x="6834523" y="535363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6809123" y="5013176"/>
            <a:ext cx="35718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ko-KR" altLang="en-US" sz="800" dirty="0">
                <a:latin typeface="+mn-ea"/>
                <a:ea typeface="+mn-ea"/>
              </a:rPr>
              <a:t>응답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7906086" y="5193301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 flipH="1">
            <a:off x="7906086" y="5336176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3273" y="3500439"/>
            <a:ext cx="712788" cy="2643186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8275973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8334711" y="3594100"/>
            <a:ext cx="571500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cxnSp>
        <p:nvCxnSpPr>
          <p:cNvPr id="55" name="구부러진 연결선 82"/>
          <p:cNvCxnSpPr>
            <a:cxnSpLocks noChangeShapeType="1"/>
            <a:stCxn id="31" idx="3"/>
            <a:endCxn id="50" idx="3"/>
          </p:cNvCxnSpPr>
          <p:nvPr/>
        </p:nvCxnSpPr>
        <p:spPr bwMode="auto">
          <a:xfrm>
            <a:off x="8263273" y="3959225"/>
            <a:ext cx="12700" cy="1313451"/>
          </a:xfrm>
          <a:prstGeom prst="curvedConnector3">
            <a:avLst>
              <a:gd name="adj1" fmla="val 1800000"/>
            </a:avLst>
          </a:prstGeom>
          <a:noFill/>
          <a:ln w="12700" algn="ctr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887448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7870765" y="4800348"/>
            <a:ext cx="357187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5343293" y="4807838"/>
            <a:ext cx="76516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defPPr>
              <a:defRPr lang="ko-KR"/>
            </a:defPPr>
            <a:lvl1pPr algn="ctr" defTabSz="190500" eaLnBrk="1" hangingPunct="1">
              <a:lnSpc>
                <a:spcPct val="100000"/>
              </a:lnSpc>
              <a:buFontTx/>
              <a:buNone/>
              <a:tabLst>
                <a:tab pos="1238250" algn="l"/>
              </a:tabLs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900" dirty="0" err="1">
                <a:latin typeface="+mn-ea"/>
                <a:ea typeface="+mn-ea"/>
              </a:rPr>
              <a:t>callOutbound</a:t>
            </a:r>
            <a:r>
              <a:rPr lang="en-US" altLang="ko-KR" sz="90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리턴</a:t>
            </a:r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5362017" y="4689140"/>
            <a:ext cx="7200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8062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Outbound </a:t>
            </a:r>
            <a:r>
              <a:rPr lang="en-US" altLang="ko-KR" dirty="0"/>
              <a:t>+ </a:t>
            </a:r>
            <a:r>
              <a:rPr lang="en-US" altLang="ko-KR" dirty="0" err="1"/>
              <a:t>Async</a:t>
            </a:r>
            <a:r>
              <a:rPr lang="en-US" altLang="ko-KR" dirty="0"/>
              <a:t> + </a:t>
            </a:r>
            <a:r>
              <a:rPr lang="ko-KR" altLang="en-US" dirty="0"/>
              <a:t>무응답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취급거래</a:t>
            </a:r>
            <a:r>
              <a:rPr lang="ko-KR" altLang="en-US" dirty="0"/>
              <a:t> 패턴으로 대외기관으로 전문을 보내기만 하고 응답을 수신하지 않음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96565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309264"/>
            <a:ext cx="928688" cy="122413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309263"/>
            <a:ext cx="7295901" cy="12241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API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sendOutboundAfterCommit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이용하여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트랜잭션 여부에 따라 전문 전송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sendOutboundAfterCommit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트랜잭션 관계없이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전송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sendOutboundNow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호출 전문은 개발도구의 전문설계기를 이용하여 레이아웃 설계함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전문 변환은 프레임워크 전문 변환 기능을 이용하여 변환함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4712" y="3500439"/>
            <a:ext cx="712787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217412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981402" y="2857500"/>
            <a:ext cx="73180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0210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10210" y="3500439"/>
            <a:ext cx="671479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1402" y="3500439"/>
            <a:ext cx="712787" cy="237683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052839" y="3594100"/>
            <a:ext cx="571500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177553" y="3594100"/>
            <a:ext cx="538381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1923206" y="3879850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85019" y="3879850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rot="10800000">
            <a:off x="1923206" y="5094288"/>
            <a:ext cx="17217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rot="10800000">
            <a:off x="2785019" y="5094288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275355" y="3594100"/>
            <a:ext cx="571500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175660" y="2857500"/>
            <a:ext cx="118841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757631" y="2857500"/>
            <a:ext cx="791142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57631" y="3500439"/>
            <a:ext cx="789555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824992" y="3594100"/>
            <a:ext cx="654425" cy="221116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905961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5961" y="3500439"/>
            <a:ext cx="712787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6977398" y="3594100"/>
            <a:ext cx="571500" cy="221116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 dirty="0">
                <a:latin typeface="+mn-ea"/>
              </a:rPr>
              <a:t>대외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 dirty="0">
                <a:latin typeface="+mn-ea"/>
              </a:rPr>
              <a:t>EAI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제거</a:t>
            </a:r>
            <a:r>
              <a:rPr kumimoji="0" lang="en-US" altLang="ko-KR" sz="900" kern="0" dirty="0">
                <a:latin typeface="+mn-ea"/>
              </a:rPr>
              <a:t>/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6548773" y="3913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7620336" y="3913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620336" y="387985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3702689" y="3879850"/>
            <a:ext cx="450096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3668599" y="3721100"/>
            <a:ext cx="5000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latin typeface="+mn-ea"/>
                <a:ea typeface="+mn-ea"/>
              </a:rPr>
              <a:t>PM </a:t>
            </a:r>
            <a:r>
              <a:rPr lang="ko-KR" altLang="en-US" sz="800">
                <a:latin typeface="+mn-ea"/>
                <a:ea typeface="+mn-ea"/>
              </a:rPr>
              <a:t>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5644" y="3522663"/>
            <a:ext cx="1198435" cy="235684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4238675" y="3594100"/>
            <a:ext cx="1050824" cy="221116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3878" y="3598861"/>
            <a:ext cx="1040419" cy="206375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>
            <a:off x="5374677" y="4358248"/>
            <a:ext cx="382954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rot="10800000">
            <a:off x="3698035" y="5094288"/>
            <a:ext cx="44585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1" name="Line 20"/>
          <p:cNvSpPr>
            <a:spLocks noChangeShapeType="1"/>
          </p:cNvSpPr>
          <p:nvPr/>
        </p:nvSpPr>
        <p:spPr bwMode="auto">
          <a:xfrm rot="16200000" flipH="1">
            <a:off x="4108984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rot="10800000" flipH="1">
            <a:off x="4172746" y="3368674"/>
            <a:ext cx="1191333" cy="4764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rot="16200000" flipH="1">
            <a:off x="5297404" y="3394074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4463979" y="3214688"/>
            <a:ext cx="62034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77523" y="3500439"/>
            <a:ext cx="712788" cy="2376833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90223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8048961" y="3594100"/>
            <a:ext cx="571500" cy="20699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5398847" y="4379913"/>
            <a:ext cx="90943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sendOutbound</a:t>
            </a:r>
            <a:endParaRPr lang="en-US" altLang="ko-KR" sz="9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AfterCommit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4364960" y="4287141"/>
            <a:ext cx="799801" cy="80342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출력전문</a:t>
            </a:r>
            <a:br>
              <a:rPr kumimoji="0" lang="en-US" altLang="ko-KR" sz="900" kern="0" dirty="0">
                <a:latin typeface="+mn-ea"/>
              </a:rPr>
            </a:br>
            <a:r>
              <a:rPr kumimoji="0" lang="en-US" altLang="ko-KR" sz="900" kern="0" dirty="0">
                <a:latin typeface="+mn-ea"/>
              </a:rPr>
              <a:t>  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send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5395083" y="4771834"/>
            <a:ext cx="909436" cy="31335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 err="1">
                <a:latin typeface="+mn-ea"/>
                <a:ea typeface="+mn-ea"/>
              </a:rPr>
              <a:t>sendOutbound</a:t>
            </a:r>
            <a:endParaRPr lang="en-US" altLang="ko-KR" sz="9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900" b="1" dirty="0">
                <a:latin typeface="+mn-ea"/>
                <a:ea typeface="+mn-ea"/>
              </a:rPr>
              <a:t>Now</a:t>
            </a:r>
            <a:endParaRPr lang="ko-KR" altLang="en-US" sz="9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60067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Outbound </a:t>
            </a:r>
            <a:r>
              <a:rPr lang="en-US" altLang="ko-KR" dirty="0"/>
              <a:t>+ </a:t>
            </a:r>
            <a:r>
              <a:rPr lang="en-US" altLang="ko-KR" dirty="0" err="1"/>
              <a:t>Async</a:t>
            </a:r>
            <a:r>
              <a:rPr lang="en-US" altLang="ko-KR" dirty="0"/>
              <a:t> + </a:t>
            </a:r>
            <a:r>
              <a:rPr lang="ko-KR" altLang="en-US" dirty="0"/>
              <a:t>응답 </a:t>
            </a:r>
            <a:r>
              <a:rPr lang="en-US" altLang="ko-KR" dirty="0"/>
              <a:t>+ Timeout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취급</a:t>
            </a:r>
            <a:r>
              <a:rPr lang="en-US" altLang="ko-KR"/>
              <a:t>/</a:t>
            </a:r>
            <a:r>
              <a:rPr lang="ko-KR" altLang="en-US"/>
              <a:t>응답거래 </a:t>
            </a:r>
            <a:r>
              <a:rPr lang="ko-KR" altLang="en-US" dirty="0"/>
              <a:t>패턴으로 </a:t>
            </a:r>
            <a:r>
              <a:rPr lang="ko-KR" altLang="en-US" dirty="0" err="1"/>
              <a:t>대외기관</a:t>
            </a:r>
            <a:r>
              <a:rPr lang="ko-KR" altLang="en-US" dirty="0"/>
              <a:t> 전문 전송 후 </a:t>
            </a:r>
            <a:r>
              <a:rPr lang="en-US" altLang="ko-KR" dirty="0" err="1"/>
              <a:t>Async</a:t>
            </a:r>
            <a:r>
              <a:rPr lang="en-US" altLang="ko-KR" dirty="0"/>
              <a:t> </a:t>
            </a:r>
            <a:r>
              <a:rPr lang="ko-KR" altLang="en-US" dirty="0"/>
              <a:t>방식으로 응답 전문이 </a:t>
            </a:r>
            <a:r>
              <a:rPr lang="ko-KR" altLang="en-US"/>
              <a:t>수신되는 패턴임</a:t>
            </a:r>
            <a:r>
              <a:rPr lang="en-US" altLang="ko-KR"/>
              <a:t>. </a:t>
            </a:r>
            <a:endParaRPr lang="en-US" altLang="ko-KR" dirty="0"/>
          </a:p>
          <a:p>
            <a:r>
              <a:rPr lang="ko-KR" altLang="en-US" dirty="0"/>
              <a:t>두 개의 트랜잭션으로 처리됨 </a:t>
            </a:r>
          </a:p>
        </p:txBody>
      </p:sp>
      <p:sp>
        <p:nvSpPr>
          <p:cNvPr id="7" name="아래쪽 화살표 6"/>
          <p:cNvSpPr/>
          <p:nvPr/>
        </p:nvSpPr>
        <p:spPr>
          <a:xfrm rot="5400000">
            <a:off x="4807445" y="1152940"/>
            <a:ext cx="1055675" cy="6947229"/>
          </a:xfrm>
          <a:prstGeom prst="downArrow">
            <a:avLst>
              <a:gd name="adj1" fmla="val 72905"/>
              <a:gd name="adj2" fmla="val 18305"/>
            </a:avLst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아래쪽 화살표 7"/>
          <p:cNvSpPr/>
          <p:nvPr/>
        </p:nvSpPr>
        <p:spPr>
          <a:xfrm rot="16200000">
            <a:off x="4233121" y="34950"/>
            <a:ext cx="1054190" cy="7155564"/>
          </a:xfrm>
          <a:prstGeom prst="downArrow">
            <a:avLst>
              <a:gd name="adj1" fmla="val 72905"/>
              <a:gd name="adj2" fmla="val 26484"/>
            </a:avLst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82374" y="1780651"/>
            <a:ext cx="1333500" cy="18911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741039" y="1275258"/>
            <a:ext cx="928688" cy="1169200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812602" y="1275259"/>
            <a:ext cx="7295901" cy="11692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취급 거래는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Timer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등록을 제외하고는 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와 동일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Timeout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발생시 호출될 거래 등록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callDelayAsyncService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요청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거래에서는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dummy return.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정상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응답시에는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Timer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 등록한 서비스 해제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removeDelayAsyncService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MCI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응답 전문 전송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sendOutboundNow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메소드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2" name="직사각형 49"/>
          <p:cNvSpPr>
            <a:spLocks noChangeArrowheads="1"/>
          </p:cNvSpPr>
          <p:nvPr/>
        </p:nvSpPr>
        <p:spPr bwMode="auto">
          <a:xfrm>
            <a:off x="704528" y="2564904"/>
            <a:ext cx="8456612" cy="3744416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6182" y="3152824"/>
            <a:ext cx="712787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8882" y="2699008"/>
            <a:ext cx="712787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912872" y="2699008"/>
            <a:ext cx="725078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04579" y="2699008"/>
            <a:ext cx="640330" cy="31147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6307" y="3152824"/>
            <a:ext cx="576852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2872" y="3152824"/>
            <a:ext cx="712787" cy="3062232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2984309" y="3246486"/>
            <a:ext cx="571500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2202982" y="3246486"/>
            <a:ext cx="444422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1854676" y="3406726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2716489" y="3406726"/>
            <a:ext cx="214313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rot="10800000">
            <a:off x="1854675" y="4824955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rot="10800000">
            <a:off x="2707523" y="3918353"/>
            <a:ext cx="205347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1206825" y="3246486"/>
            <a:ext cx="571500" cy="288940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통합단말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800" kern="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922987" y="2694444"/>
            <a:ext cx="1824759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098133" y="2694444"/>
            <a:ext cx="727075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182295" y="2694444"/>
            <a:ext cx="712787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253857" y="2694444"/>
            <a:ext cx="439738" cy="315456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22987" y="3100726"/>
            <a:ext cx="1824760" cy="982999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22987" y="4165392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10732" y="3151682"/>
            <a:ext cx="70012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6170287" y="3235821"/>
            <a:ext cx="569093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 err="1">
                <a:latin typeface="+mn-ea"/>
              </a:rPr>
              <a:t>NEXCORE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94995" y="3151682"/>
            <a:ext cx="712787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7266432" y="3245346"/>
            <a:ext cx="571500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대외전문수신시</a:t>
            </a:r>
            <a:r>
              <a:rPr kumimoji="0" lang="ko-KR" altLang="en-US" sz="900" kern="0" dirty="0">
                <a:latin typeface="+mn-ea"/>
              </a:rPr>
              <a:t> </a:t>
            </a:r>
            <a:r>
              <a:rPr kumimoji="0" lang="ko-KR" altLang="en-US" sz="900" kern="0" dirty="0" err="1">
                <a:latin typeface="+mn-ea"/>
              </a:rPr>
              <a:t>표준헤더복원</a:t>
            </a: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66557" y="3151682"/>
            <a:ext cx="427038" cy="3063374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8328470" y="3245346"/>
            <a:ext cx="300037" cy="284072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 err="1">
                <a:latin typeface="+mn-ea"/>
              </a:rPr>
              <a:t>대외기관</a:t>
            </a: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8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800" kern="0" dirty="0">
              <a:latin typeface="+mn-ea"/>
            </a:endParaRP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3996858" y="3185021"/>
            <a:ext cx="1678753" cy="84405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96858" y="3175495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3996858" y="4236830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96858" y="4236830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응답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cxnSp>
        <p:nvCxnSpPr>
          <p:cNvPr id="42" name="직선 화살표 연결선 108"/>
          <p:cNvCxnSpPr>
            <a:cxnSpLocks noChangeShapeType="1"/>
          </p:cNvCxnSpPr>
          <p:nvPr/>
        </p:nvCxnSpPr>
        <p:spPr bwMode="auto">
          <a:xfrm>
            <a:off x="5754340" y="3667522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직선 화살표 연결선 109"/>
          <p:cNvCxnSpPr>
            <a:cxnSpLocks noChangeShapeType="1"/>
          </p:cNvCxnSpPr>
          <p:nvPr/>
        </p:nvCxnSpPr>
        <p:spPr bwMode="auto">
          <a:xfrm>
            <a:off x="6837807" y="3669110"/>
            <a:ext cx="357188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직선 화살표 연결선 110"/>
          <p:cNvCxnSpPr>
            <a:cxnSpLocks noChangeShapeType="1"/>
          </p:cNvCxnSpPr>
          <p:nvPr/>
        </p:nvCxnSpPr>
        <p:spPr bwMode="auto">
          <a:xfrm>
            <a:off x="7909370" y="3669110"/>
            <a:ext cx="357187" cy="1587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직선 화살표 연결선 113"/>
          <p:cNvCxnSpPr>
            <a:cxnSpLocks noChangeShapeType="1"/>
          </p:cNvCxnSpPr>
          <p:nvPr/>
        </p:nvCxnSpPr>
        <p:spPr bwMode="auto">
          <a:xfrm rot="10800000">
            <a:off x="7909370" y="4398772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직선 화살표 연결선 114"/>
          <p:cNvCxnSpPr>
            <a:cxnSpLocks noChangeShapeType="1"/>
          </p:cNvCxnSpPr>
          <p:nvPr/>
        </p:nvCxnSpPr>
        <p:spPr bwMode="auto">
          <a:xfrm rot="10800000">
            <a:off x="6837807" y="4398772"/>
            <a:ext cx="357188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화살표 연결선 115"/>
          <p:cNvCxnSpPr>
            <a:cxnSpLocks noChangeShapeType="1"/>
          </p:cNvCxnSpPr>
          <p:nvPr/>
        </p:nvCxnSpPr>
        <p:spPr bwMode="auto">
          <a:xfrm rot="10800000">
            <a:off x="5753644" y="4426270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화살표 연결선 117"/>
          <p:cNvCxnSpPr>
            <a:cxnSpLocks noChangeShapeType="1"/>
          </p:cNvCxnSpPr>
          <p:nvPr/>
        </p:nvCxnSpPr>
        <p:spPr bwMode="auto">
          <a:xfrm>
            <a:off x="5766245" y="4883959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125"/>
          <p:cNvSpPr txBox="1">
            <a:spLocks noChangeArrowheads="1"/>
          </p:cNvSpPr>
          <p:nvPr/>
        </p:nvSpPr>
        <p:spPr bwMode="auto">
          <a:xfrm>
            <a:off x="5698109" y="4937374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>
                <a:latin typeface="+mn-ea"/>
                <a:ea typeface="+mn-ea"/>
              </a:rPr>
              <a:t>Dummy</a:t>
            </a:r>
            <a:br>
              <a:rPr lang="en-US" altLang="ko-KR" sz="800" i="1">
                <a:latin typeface="+mn-ea"/>
                <a:ea typeface="+mn-ea"/>
              </a:rPr>
            </a:br>
            <a:r>
              <a:rPr lang="en-US" altLang="ko-KR" sz="800" i="1">
                <a:latin typeface="+mn-ea"/>
                <a:ea typeface="+mn-ea"/>
              </a:rPr>
              <a:t>Return</a:t>
            </a:r>
            <a:endParaRPr lang="ko-KR" altLang="en-US" sz="800" i="1">
              <a:latin typeface="+mn-ea"/>
              <a:ea typeface="+mn-ea"/>
            </a:endParaRPr>
          </a:p>
        </p:txBody>
      </p:sp>
      <p:cxnSp>
        <p:nvCxnSpPr>
          <p:cNvPr id="50" name="직선 화살표 연결선 126"/>
          <p:cNvCxnSpPr>
            <a:cxnSpLocks noChangeShapeType="1"/>
          </p:cNvCxnSpPr>
          <p:nvPr/>
        </p:nvCxnSpPr>
        <p:spPr bwMode="auto">
          <a:xfrm>
            <a:off x="6836220" y="4931915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직선 화살표 연결선 106"/>
          <p:cNvCxnSpPr>
            <a:cxnSpLocks noChangeShapeType="1"/>
          </p:cNvCxnSpPr>
          <p:nvPr/>
        </p:nvCxnSpPr>
        <p:spPr bwMode="auto">
          <a:xfrm>
            <a:off x="3626171" y="3436665"/>
            <a:ext cx="297174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직선 화살표 연결선 112"/>
          <p:cNvCxnSpPr>
            <a:cxnSpLocks noChangeShapeType="1"/>
          </p:cNvCxnSpPr>
          <p:nvPr/>
        </p:nvCxnSpPr>
        <p:spPr bwMode="auto">
          <a:xfrm flipH="1">
            <a:off x="3637950" y="3819493"/>
            <a:ext cx="297174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Box 124"/>
          <p:cNvSpPr txBox="1">
            <a:spLocks noChangeArrowheads="1"/>
          </p:cNvSpPr>
          <p:nvPr/>
        </p:nvSpPr>
        <p:spPr bwMode="auto">
          <a:xfrm>
            <a:off x="3555794" y="3510261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Dummy</a:t>
            </a:r>
            <a:br>
              <a:rPr lang="en-US" altLang="ko-KR" sz="800" i="1" dirty="0">
                <a:latin typeface="+mn-ea"/>
                <a:ea typeface="+mn-ea"/>
              </a:rPr>
            </a:br>
            <a:r>
              <a:rPr lang="en-US" altLang="ko-KR" sz="800" i="1" dirty="0">
                <a:latin typeface="+mn-ea"/>
                <a:ea typeface="+mn-ea"/>
              </a:rPr>
              <a:t>Return</a:t>
            </a:r>
            <a:endParaRPr lang="ko-KR" altLang="en-US" sz="800" i="1" dirty="0">
              <a:latin typeface="+mn-ea"/>
              <a:ea typeface="+mn-ea"/>
            </a:endParaRPr>
          </a:p>
        </p:txBody>
      </p:sp>
      <p:sp>
        <p:nvSpPr>
          <p:cNvPr id="54" name="Line 20"/>
          <p:cNvSpPr>
            <a:spLocks noChangeShapeType="1"/>
          </p:cNvSpPr>
          <p:nvPr/>
        </p:nvSpPr>
        <p:spPr bwMode="auto">
          <a:xfrm rot="10800000">
            <a:off x="1861668" y="3918353"/>
            <a:ext cx="274637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1900323" y="3854998"/>
            <a:ext cx="123738" cy="1177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V="1">
            <a:off x="1900323" y="3851795"/>
            <a:ext cx="123738" cy="1141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Line 20"/>
          <p:cNvSpPr>
            <a:spLocks noChangeShapeType="1"/>
          </p:cNvSpPr>
          <p:nvPr/>
        </p:nvSpPr>
        <p:spPr bwMode="auto">
          <a:xfrm rot="10800000">
            <a:off x="2716267" y="4851850"/>
            <a:ext cx="196604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8" name="Line 20"/>
          <p:cNvSpPr>
            <a:spLocks noChangeShapeType="1"/>
          </p:cNvSpPr>
          <p:nvPr/>
        </p:nvSpPr>
        <p:spPr bwMode="auto">
          <a:xfrm rot="10800000">
            <a:off x="3626171" y="4650646"/>
            <a:ext cx="30664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9" name="TextBox 124"/>
          <p:cNvSpPr txBox="1">
            <a:spLocks noChangeArrowheads="1"/>
          </p:cNvSpPr>
          <p:nvPr/>
        </p:nvSpPr>
        <p:spPr bwMode="auto">
          <a:xfrm>
            <a:off x="2574401" y="4643883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6821387" y="3689639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TCP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1" name="Text Box 25"/>
          <p:cNvSpPr txBox="1">
            <a:spLocks noChangeArrowheads="1"/>
          </p:cNvSpPr>
          <p:nvPr/>
        </p:nvSpPr>
        <p:spPr bwMode="auto">
          <a:xfrm>
            <a:off x="7891659" y="36860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7901507" y="42118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en-US" altLang="ko-KR" sz="800" dirty="0" err="1">
                <a:latin typeface="+mn-ea"/>
                <a:ea typeface="+mn-ea"/>
              </a:rPr>
              <a:t>async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6821387" y="4211835"/>
            <a:ext cx="35718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22987" y="5228026"/>
            <a:ext cx="1824760" cy="987030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3996858" y="5299464"/>
            <a:ext cx="1678753" cy="86365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996858" y="5299464"/>
            <a:ext cx="1678753" cy="21431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" lastClr="FFFFFF"/>
                </a:solidFill>
                <a:latin typeface="+mn-ea"/>
              </a:rPr>
              <a:t>취소 </a:t>
            </a: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pic>
        <p:nvPicPr>
          <p:cNvPr id="6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917" y="5283767"/>
            <a:ext cx="323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4"/>
          <p:cNvSpPr txBox="1">
            <a:spLocks noChangeArrowheads="1"/>
          </p:cNvSpPr>
          <p:nvPr/>
        </p:nvSpPr>
        <p:spPr bwMode="auto">
          <a:xfrm>
            <a:off x="6225913" y="5636549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Timer</a:t>
            </a:r>
            <a:endParaRPr lang="ko-KR" altLang="en-US" sz="800" i="1" dirty="0">
              <a:latin typeface="+mn-ea"/>
              <a:ea typeface="+mn-ea"/>
            </a:endParaRPr>
          </a:p>
        </p:txBody>
      </p:sp>
      <p:cxnSp>
        <p:nvCxnSpPr>
          <p:cNvPr id="69" name="직선 화살표 연결선 115"/>
          <p:cNvCxnSpPr>
            <a:cxnSpLocks noChangeShapeType="1"/>
            <a:stCxn id="67" idx="1"/>
          </p:cNvCxnSpPr>
          <p:nvPr/>
        </p:nvCxnSpPr>
        <p:spPr bwMode="auto">
          <a:xfrm flipH="1">
            <a:off x="5764657" y="5445692"/>
            <a:ext cx="526260" cy="0"/>
          </a:xfrm>
          <a:prstGeom prst="straightConnector1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Line 20"/>
          <p:cNvSpPr>
            <a:spLocks noChangeShapeType="1"/>
          </p:cNvSpPr>
          <p:nvPr/>
        </p:nvSpPr>
        <p:spPr bwMode="auto">
          <a:xfrm rot="10800000">
            <a:off x="3626171" y="5724003"/>
            <a:ext cx="30664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1" name="Line 20"/>
          <p:cNvSpPr>
            <a:spLocks noChangeShapeType="1"/>
          </p:cNvSpPr>
          <p:nvPr/>
        </p:nvSpPr>
        <p:spPr bwMode="auto">
          <a:xfrm rot="10800000">
            <a:off x="2716848" y="5741925"/>
            <a:ext cx="196022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2" name="Line 20"/>
          <p:cNvSpPr>
            <a:spLocks noChangeShapeType="1"/>
          </p:cNvSpPr>
          <p:nvPr/>
        </p:nvSpPr>
        <p:spPr bwMode="auto">
          <a:xfrm rot="10800000">
            <a:off x="1854675" y="5757500"/>
            <a:ext cx="281629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 type="triangle" w="med" len="med"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TextBox 124"/>
          <p:cNvSpPr txBox="1">
            <a:spLocks noChangeArrowheads="1"/>
          </p:cNvSpPr>
          <p:nvPr/>
        </p:nvSpPr>
        <p:spPr bwMode="auto">
          <a:xfrm>
            <a:off x="1766503" y="5564541"/>
            <a:ext cx="519100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 dirty="0">
                <a:latin typeface="+mn-ea"/>
                <a:ea typeface="+mn-ea"/>
              </a:rPr>
              <a:t>Timeout</a:t>
            </a:r>
          </a:p>
        </p:txBody>
      </p:sp>
      <p:cxnSp>
        <p:nvCxnSpPr>
          <p:cNvPr id="74" name="직선 화살표 연결선 117"/>
          <p:cNvCxnSpPr>
            <a:cxnSpLocks noChangeShapeType="1"/>
          </p:cNvCxnSpPr>
          <p:nvPr/>
        </p:nvCxnSpPr>
        <p:spPr bwMode="auto">
          <a:xfrm>
            <a:off x="5759852" y="5968413"/>
            <a:ext cx="357187" cy="1588"/>
          </a:xfrm>
          <a:prstGeom prst="straightConnector1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TextBox 125"/>
          <p:cNvSpPr txBox="1">
            <a:spLocks noChangeArrowheads="1"/>
          </p:cNvSpPr>
          <p:nvPr/>
        </p:nvSpPr>
        <p:spPr bwMode="auto">
          <a:xfrm>
            <a:off x="5691716" y="6021828"/>
            <a:ext cx="453858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i="1">
                <a:latin typeface="+mn-ea"/>
                <a:ea typeface="+mn-ea"/>
              </a:rPr>
              <a:t>Dummy</a:t>
            </a:r>
            <a:br>
              <a:rPr lang="en-US" altLang="ko-KR" sz="800" i="1">
                <a:latin typeface="+mn-ea"/>
                <a:ea typeface="+mn-ea"/>
              </a:rPr>
            </a:br>
            <a:r>
              <a:rPr lang="en-US" altLang="ko-KR" sz="800" i="1">
                <a:latin typeface="+mn-ea"/>
                <a:ea typeface="+mn-ea"/>
              </a:rPr>
              <a:t>Return</a:t>
            </a:r>
            <a:endParaRPr lang="ko-KR" altLang="en-US" sz="800" i="1">
              <a:latin typeface="+mn-ea"/>
              <a:ea typeface="+mn-ea"/>
            </a:endParaRPr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5767932" y="3347844"/>
            <a:ext cx="783948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AfterCommit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3110396" y="4717524"/>
            <a:ext cx="791787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AfterCommit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3140201" y="5757686"/>
            <a:ext cx="791787" cy="282573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 err="1">
                <a:latin typeface="+mn-ea"/>
                <a:ea typeface="+mn-ea"/>
              </a:rPr>
              <a:t>sendOutbound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Now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13439" y="3416301"/>
            <a:ext cx="14666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수신거래코드 </a:t>
            </a:r>
            <a:r>
              <a:rPr kumimoji="0" lang="en-US" altLang="ko-KR" sz="800" kern="0" dirty="0">
                <a:latin typeface="+mn-ea"/>
              </a:rPr>
              <a:t>Set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Timer </a:t>
            </a:r>
            <a:r>
              <a:rPr kumimoji="0" lang="ko-KR" altLang="en-US" sz="800" kern="0" dirty="0">
                <a:latin typeface="+mn-ea"/>
              </a:rPr>
              <a:t>등록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대외전문 변환 </a:t>
            </a:r>
            <a:r>
              <a:rPr kumimoji="0" lang="en-US" altLang="ko-KR" sz="800" kern="0" dirty="0">
                <a:latin typeface="+mn-ea"/>
              </a:rPr>
              <a:t>&amp; </a:t>
            </a:r>
            <a:r>
              <a:rPr kumimoji="0" lang="ko-KR" altLang="en-US" sz="800" kern="0" dirty="0">
                <a:latin typeface="+mn-ea"/>
              </a:rPr>
              <a:t>전송</a:t>
            </a:r>
            <a:r>
              <a:rPr kumimoji="0" lang="en-US" altLang="ko-KR" sz="800" kern="0" dirty="0">
                <a:latin typeface="+mn-ea"/>
              </a:rPr>
              <a:t> 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ko-KR" altLang="en-US" sz="800" kern="0" dirty="0">
                <a:latin typeface="+mn-ea"/>
              </a:rPr>
              <a:t>더미 응답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120284" y="4428401"/>
            <a:ext cx="15063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</a:t>
            </a:r>
            <a:r>
              <a:rPr kumimoji="0" lang="en-US" altLang="ko-KR" sz="800" kern="0" dirty="0">
                <a:latin typeface="+mn-ea"/>
              </a:rPr>
              <a:t>Timer </a:t>
            </a:r>
            <a:r>
              <a:rPr kumimoji="0" lang="ko-KR" altLang="en-US" sz="800" kern="0" dirty="0">
                <a:latin typeface="+mn-ea"/>
              </a:rPr>
              <a:t>해제 </a:t>
            </a:r>
            <a:r>
              <a:rPr kumimoji="0" lang="en-US" altLang="ko-KR" sz="800" kern="0" dirty="0">
                <a:latin typeface="+mn-ea"/>
              </a:rPr>
              <a:t>(</a:t>
            </a:r>
            <a:r>
              <a:rPr kumimoji="0" lang="en-US" altLang="ko-KR" sz="800" kern="0" dirty="0" err="1">
                <a:latin typeface="+mn-ea"/>
              </a:rPr>
              <a:t>removeDelayAsyncService</a:t>
            </a:r>
            <a:r>
              <a:rPr kumimoji="0" lang="en-US" altLang="ko-KR" sz="800" kern="0" dirty="0">
                <a:latin typeface="+mn-ea"/>
              </a:rPr>
              <a:t>)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수신 처리</a:t>
            </a:r>
            <a:r>
              <a:rPr kumimoji="0" lang="en-US" altLang="ko-KR" sz="800" kern="0" dirty="0">
                <a:latin typeface="+mn-ea"/>
              </a:rPr>
              <a:t> </a:t>
            </a: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en-US" altLang="ko-KR" sz="800" kern="0" dirty="0" err="1">
                <a:latin typeface="+mn-ea"/>
              </a:rPr>
              <a:t>sendOutbound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더미 응답</a:t>
            </a:r>
            <a:endParaRPr kumimoji="0" lang="en-US" altLang="ko-KR" sz="800" kern="0" dirty="0">
              <a:latin typeface="+mn-ea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39951" y="5559623"/>
            <a:ext cx="104843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 취소 처리 </a:t>
            </a:r>
            <a:endParaRPr kumimoji="0" lang="en-US" altLang="ko-KR" sz="8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en-US" altLang="ko-KR" sz="800" kern="0" dirty="0">
                <a:latin typeface="+mn-ea"/>
              </a:rPr>
              <a:t> </a:t>
            </a:r>
            <a:r>
              <a:rPr kumimoji="0" lang="en-US" altLang="ko-KR" sz="800" kern="0" dirty="0" err="1">
                <a:latin typeface="+mn-ea"/>
              </a:rPr>
              <a:t>sendOutbound</a:t>
            </a:r>
            <a:r>
              <a:rPr kumimoji="0" lang="en-US" altLang="ko-KR" sz="800" kern="0" dirty="0">
                <a:latin typeface="+mn-ea"/>
              </a:rPr>
              <a:t> </a:t>
            </a:r>
            <a:br>
              <a:rPr kumimoji="0" lang="en-US" altLang="ko-KR" sz="800" kern="0" dirty="0">
                <a:latin typeface="+mn-ea"/>
              </a:rPr>
            </a:br>
            <a:r>
              <a:rPr kumimoji="0" lang="en-US" altLang="ko-KR" sz="800" kern="0" dirty="0">
                <a:latin typeface="+mn-ea"/>
              </a:rPr>
              <a:t>   (</a:t>
            </a:r>
            <a:r>
              <a:rPr kumimoji="0" lang="ko-KR" altLang="en-US" sz="800" kern="0" dirty="0">
                <a:latin typeface="+mn-ea"/>
              </a:rPr>
              <a:t>응답 전송</a:t>
            </a:r>
            <a:r>
              <a:rPr kumimoji="0" lang="en-US" altLang="ko-KR" sz="800" kern="0" dirty="0">
                <a:latin typeface="+mn-ea"/>
              </a:rPr>
              <a:t>)</a:t>
            </a:r>
          </a:p>
        </p:txBody>
      </p:sp>
      <p:sp>
        <p:nvSpPr>
          <p:cNvPr id="82" name="TextBox 124"/>
          <p:cNvSpPr txBox="1">
            <a:spLocks noChangeArrowheads="1"/>
          </p:cNvSpPr>
          <p:nvPr/>
        </p:nvSpPr>
        <p:spPr bwMode="auto">
          <a:xfrm>
            <a:off x="2564742" y="3251090"/>
            <a:ext cx="453858" cy="1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HTTP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3" name="Line 20"/>
          <p:cNvSpPr>
            <a:spLocks noChangeShapeType="1"/>
          </p:cNvSpPr>
          <p:nvPr/>
        </p:nvSpPr>
        <p:spPr bwMode="auto">
          <a:xfrm rot="10800000" flipH="1" flipV="1">
            <a:off x="2707068" y="5013176"/>
            <a:ext cx="207197" cy="740"/>
          </a:xfrm>
          <a:prstGeom prst="line">
            <a:avLst/>
          </a:prstGeom>
          <a:noFill/>
          <a:ln w="19050">
            <a:solidFill>
              <a:srgbClr val="333333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>
            <a:off x="2741030" y="4958888"/>
            <a:ext cx="123738" cy="1177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2741030" y="4955685"/>
            <a:ext cx="123738" cy="1141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5601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Inbound </a:t>
            </a:r>
            <a:r>
              <a:rPr lang="en-US" altLang="ko-KR" dirty="0"/>
              <a:t>+ Sync </a:t>
            </a:r>
            <a:r>
              <a:rPr lang="ko-KR" altLang="en-US" dirty="0"/>
              <a:t>패턴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대외 기관으로부터 요청 전문을 받아 거래 처리 후 동기식으로 응답하는 패턴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86702" y="1887116"/>
            <a:ext cx="1333500" cy="204787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ko-KR" altLang="en-US" sz="10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745367" y="1423564"/>
            <a:ext cx="928688" cy="1039616"/>
          </a:xfrm>
          <a:prstGeom prst="rect">
            <a:avLst/>
          </a:prstGeom>
          <a:solidFill>
            <a:srgbClr val="85827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처리기준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816930" y="1423563"/>
            <a:ext cx="7295901" cy="1039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기관의 전문을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가 받아 표준전문으로 헤더 변환 후 대외 서비스 호출함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업무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PM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이 종료될 때까지 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에서는 대기한 후 </a:t>
            </a:r>
            <a:r>
              <a:rPr lang="ko-KR" altLang="en-US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리턴함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.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FW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간의 구간은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Sync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로 처리함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대외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EAI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에서 대외 기관에 전송하는 응답 전문은 대외 기관 과의 규약에 따라 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sync/</a:t>
            </a:r>
            <a:r>
              <a:rPr lang="en-US" altLang="ko-KR" sz="11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async</a:t>
            </a:r>
            <a:r>
              <a:rPr lang="en-US" altLang="ko-KR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선택적으로 전송함</a:t>
            </a:r>
            <a:endParaRPr lang="en-US" altLang="ko-KR" sz="1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직사각형 49"/>
          <p:cNvSpPr>
            <a:spLocks noChangeArrowheads="1"/>
          </p:cNvSpPr>
          <p:nvPr/>
        </p:nvSpPr>
        <p:spPr bwMode="auto">
          <a:xfrm>
            <a:off x="708856" y="2636912"/>
            <a:ext cx="8456612" cy="3600400"/>
          </a:xfrm>
          <a:prstGeom prst="rect">
            <a:avLst/>
          </a:prstGeom>
          <a:noFill/>
          <a:ln w="3175" algn="ctr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>
            <a:lvl1pPr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defTabSz="785813" eaLnBrk="0" hangingPunct="0"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defTabSz="78581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0" marR="0" lvl="0" indent="0" algn="ctr" defTabSz="785813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0580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43280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64768" y="2857500"/>
            <a:ext cx="785590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36078" y="2857500"/>
            <a:ext cx="671479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36078" y="3500438"/>
            <a:ext cx="671479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7270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2978707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103422" y="3594100"/>
            <a:ext cx="520062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MCI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201223" y="3594100"/>
            <a:ext cx="571500" cy="24780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통합단말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57198" y="2857500"/>
            <a:ext cx="134042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817096" y="2857500"/>
            <a:ext cx="778191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Framework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63190" y="3500438"/>
            <a:ext cx="712788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5934628" y="3555251"/>
            <a:ext cx="571500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 dirty="0">
                <a:latin typeface="+mn-ea"/>
              </a:rPr>
              <a:t>NEXCORE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900" kern="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34753" y="2857500"/>
            <a:ext cx="712787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채널통합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 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4753" y="3500438"/>
            <a:ext cx="712787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006190" y="3555251"/>
            <a:ext cx="571500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 dirty="0">
                <a:latin typeface="+mn-ea"/>
              </a:rPr>
              <a:t>대외</a:t>
            </a:r>
            <a:endParaRPr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+mn-ea"/>
              </a:rPr>
              <a:t>EAI</a:t>
            </a: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 err="1">
                <a:latin typeface="+mn-ea"/>
              </a:rPr>
              <a:t>전문로깅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표준전문</a:t>
            </a: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 제거</a:t>
            </a:r>
            <a:r>
              <a:rPr kumimoji="0" lang="en-US" altLang="ko-KR" sz="900" kern="0" dirty="0">
                <a:latin typeface="+mn-ea"/>
              </a:rPr>
              <a:t>/</a:t>
            </a:r>
            <a:r>
              <a:rPr kumimoji="0" lang="ko-KR" altLang="en-US" sz="900" kern="0" dirty="0">
                <a:latin typeface="+mn-ea"/>
              </a:rPr>
              <a:t>조립</a:t>
            </a:r>
            <a:endParaRPr kumimoji="0" lang="en-US" altLang="ko-KR" sz="900" kern="0" dirty="0">
              <a:latin typeface="+mn-ea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6577565" y="38171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7649128" y="3817188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36931" y="3500438"/>
            <a:ext cx="1359476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4008366" y="3555251"/>
            <a:ext cx="1197813" cy="2516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08367" y="3555250"/>
            <a:ext cx="1197812" cy="26193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lIns="18000" tIns="18000" rIns="18000" bIns="18000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" lastClr="FFFFFF"/>
                </a:solidFill>
                <a:latin typeface="+mn-ea"/>
              </a:rPr>
              <a:t>PM</a:t>
            </a:r>
            <a:endParaRPr kumimoji="0" lang="ko-KR" altLang="en-US" sz="100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5294754" y="3785438"/>
            <a:ext cx="564525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rot="16200000" flipH="1">
            <a:off x="3895712" y="3378200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 rot="10800000" flipH="1">
            <a:off x="3957198" y="3368674"/>
            <a:ext cx="1340421" cy="4764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 rot="16200000" flipH="1">
            <a:off x="5238121" y="3368675"/>
            <a:ext cx="13335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4108419" y="3223653"/>
            <a:ext cx="10001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b="1" dirty="0">
                <a:latin typeface="+mn-ea"/>
                <a:ea typeface="+mn-ea"/>
              </a:rPr>
              <a:t>1 Commit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flipH="1">
            <a:off x="6577565" y="6021288"/>
            <a:ext cx="3571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5300636" y="6021288"/>
            <a:ext cx="570170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7649128" y="5860951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 flipH="1">
            <a:off x="7649128" y="6003826"/>
            <a:ext cx="357187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  <a:headEnd type="triangle" w="med" len="med"/>
            <a:tailEnd/>
          </a:ln>
        </p:spPr>
        <p:txBody>
          <a:bodyPr lIns="360000" rIns="360000" anchor="ctr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06315" y="3500438"/>
            <a:ext cx="712788" cy="2643187"/>
          </a:xfrm>
          <a:prstGeom prst="rect">
            <a:avLst/>
          </a:prstGeom>
          <a:solidFill>
            <a:srgbClr val="FFEDCC"/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019015" y="2857500"/>
            <a:ext cx="712788" cy="357188"/>
          </a:xfrm>
          <a:prstGeom prst="rect">
            <a:avLst/>
          </a:prstGeom>
          <a:solidFill>
            <a:srgbClr val="FFEDCC"/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+mn-ea"/>
              </a:rPr>
              <a:t>채널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8077753" y="3553663"/>
            <a:ext cx="571500" cy="261937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800" kern="0" dirty="0">
                <a:latin typeface="+mn-ea"/>
              </a:rPr>
              <a:t>대외기관</a:t>
            </a: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5320980" y="3605398"/>
            <a:ext cx="509259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호출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7647539" y="5739883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648229" y="3910108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rgbClr val="FF0000"/>
                </a:solidFill>
                <a:latin typeface="+mn-ea"/>
                <a:ea typeface="+mn-ea"/>
              </a:rPr>
              <a:t>(sync)</a:t>
            </a:r>
            <a:endParaRPr lang="ko-KR" altLang="en-US" sz="8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7646640" y="3789040"/>
            <a:ext cx="3571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  <a:ea typeface="+mn-ea"/>
              </a:rPr>
              <a:t>async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604146" y="5661248"/>
            <a:ext cx="35718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>
                <a:solidFill>
                  <a:schemeClr val="tx1"/>
                </a:solidFill>
                <a:latin typeface="+mn-ea"/>
                <a:ea typeface="+mn-ea"/>
              </a:rPr>
              <a:t>HTTP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응답</a:t>
            </a: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6641381" y="3866507"/>
            <a:ext cx="357187" cy="28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HTTP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요청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5311896" y="5846330"/>
            <a:ext cx="55145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18000" rIns="18000" bIns="18000">
            <a:spAutoFit/>
          </a:bodyPr>
          <a:lstStyle>
            <a:lvl1pPr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190500" eaLnBrk="0" hangingPunct="0"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190500" eaLnBrk="0" fontAlgn="base" hangingPunct="0">
              <a:lnSpc>
                <a:spcPct val="150000"/>
              </a:lnSpc>
              <a:spcBef>
                <a:spcPct val="25000"/>
              </a:spcBef>
              <a:spcAft>
                <a:spcPct val="0"/>
              </a:spcAft>
              <a:buClr>
                <a:srgbClr val="333333"/>
              </a:buClr>
              <a:buChar char="–"/>
              <a:tabLst>
                <a:tab pos="1238250" algn="l"/>
              </a:tabLst>
              <a:defRPr kumimoji="1" sz="16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buFontTx/>
              <a:buNone/>
            </a:pPr>
            <a:r>
              <a:rPr lang="en-US" altLang="ko-KR" sz="800" dirty="0">
                <a:latin typeface="+mn-ea"/>
                <a:ea typeface="+mn-ea"/>
              </a:rPr>
              <a:t>PM </a:t>
            </a:r>
            <a:r>
              <a:rPr lang="ko-KR" altLang="en-US" sz="800" dirty="0">
                <a:latin typeface="+mn-ea"/>
                <a:ea typeface="+mn-ea"/>
              </a:rPr>
              <a:t>리턴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252433" y="4077072"/>
            <a:ext cx="697218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입력체크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원장갱신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로그조립</a:t>
            </a:r>
            <a:endParaRPr kumimoji="0" lang="en-US" altLang="ko-KR" sz="900" kern="0" dirty="0">
              <a:latin typeface="+mn-ea"/>
            </a:endParaRPr>
          </a:p>
          <a:p>
            <a:pPr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Wingdings" pitchFamily="2" charset="2"/>
              <a:buChar char="§"/>
              <a:tabLst>
                <a:tab pos="1238250" algn="l"/>
              </a:tabLst>
              <a:defRPr/>
            </a:pPr>
            <a:r>
              <a:rPr kumimoji="0" lang="ko-KR" altLang="en-US" sz="900" kern="0" dirty="0">
                <a:latin typeface="+mn-ea"/>
              </a:rPr>
              <a:t>출력조립</a:t>
            </a:r>
          </a:p>
        </p:txBody>
      </p:sp>
    </p:spTree>
    <p:extLst>
      <p:ext uri="{BB962C8B-B14F-4D97-AF65-F5344CB8AC3E}">
        <p14:creationId xmlns:p14="http://schemas.microsoft.com/office/powerpoint/2010/main" val="5441660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거래 복원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err="1"/>
              <a:t>책임자승인</a:t>
            </a:r>
            <a:r>
              <a:rPr lang="en-US" altLang="ko-KR" dirty="0"/>
              <a:t>, </a:t>
            </a:r>
            <a:r>
              <a:rPr lang="ko-KR" altLang="en-US" dirty="0" err="1"/>
              <a:t>취소거래</a:t>
            </a:r>
            <a:r>
              <a:rPr lang="ko-KR" altLang="en-US" dirty="0"/>
              <a:t> 등을 위해 </a:t>
            </a:r>
            <a:r>
              <a:rPr lang="ko-KR" altLang="en-US" dirty="0" err="1"/>
              <a:t>원전문의</a:t>
            </a:r>
            <a:r>
              <a:rPr lang="ko-KR" altLang="en-US" dirty="0"/>
              <a:t> </a:t>
            </a:r>
            <a:r>
              <a:rPr lang="ko-KR" altLang="en-US" dirty="0" err="1"/>
              <a:t>개별부</a:t>
            </a:r>
            <a:r>
              <a:rPr lang="ko-KR" altLang="en-US" dirty="0"/>
              <a:t> 정보를 </a:t>
            </a:r>
            <a:r>
              <a:rPr lang="en-US" altLang="ko-KR"/>
              <a:t>FW </a:t>
            </a:r>
            <a:r>
              <a:rPr lang="ko-KR" altLang="en-US"/>
              <a:t>전문</a:t>
            </a:r>
            <a:r>
              <a:rPr lang="en-US" altLang="ko-KR"/>
              <a:t>(</a:t>
            </a:r>
            <a:r>
              <a:rPr lang="ko-KR" altLang="en-US"/>
              <a:t>중계</a:t>
            </a:r>
            <a:r>
              <a:rPr lang="en-US" altLang="ko-KR"/>
              <a:t>)</a:t>
            </a:r>
            <a:r>
              <a:rPr lang="ko-KR" altLang="en-US"/>
              <a:t>로그 테이블에서 필요시 복원함</a:t>
            </a:r>
            <a:r>
              <a:rPr lang="en-US" altLang="ko-KR"/>
              <a:t>. </a:t>
            </a:r>
            <a:r>
              <a:rPr lang="ko-KR" altLang="en-US"/>
              <a:t>전문로그는 모든 거래의 </a:t>
            </a:r>
            <a:r>
              <a:rPr lang="en-US" altLang="ko-KR"/>
              <a:t>IQ (Inbound </a:t>
            </a:r>
            <a:r>
              <a:rPr lang="ko-KR" altLang="en-US"/>
              <a:t>요청</a:t>
            </a:r>
            <a:r>
              <a:rPr lang="en-US" altLang="ko-KR"/>
              <a:t>(Q)) </a:t>
            </a:r>
            <a:r>
              <a:rPr lang="ko-KR" altLang="en-US"/>
              <a:t>는 필수로 저장하고 있음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509671" y="1849528"/>
            <a:ext cx="802423" cy="207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94885" y="2048789"/>
            <a:ext cx="2658015" cy="206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93572" y="1418887"/>
            <a:ext cx="1742886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3572" y="2051918"/>
            <a:ext cx="1742886" cy="20643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4412940" y="2625829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 dirty="0">
                <a:latin typeface="맑은 고딕" pitchFamily="50" charset="-127"/>
                <a:ea typeface="맑은 고딕" pitchFamily="50" charset="-127"/>
              </a:rPr>
              <a:t>PM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71426" y="1412776"/>
            <a:ext cx="268147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 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563630" y="2183371"/>
            <a:ext cx="876462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전문</a:t>
            </a:r>
            <a:endParaRPr kumimoji="0"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핸들러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2850107" y="2183371"/>
            <a:ext cx="861579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처리</a:t>
            </a:r>
            <a:r>
              <a:rPr lang="en-US" altLang="ko-KR" sz="1000" ker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kern="0">
                <a:latin typeface="맑은 고딕" pitchFamily="50" charset="-127"/>
                <a:ea typeface="맑은 고딕" pitchFamily="50" charset="-127"/>
              </a:rPr>
              <a:t>메인</a:t>
            </a:r>
            <a:endParaRPr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Command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2850107" y="3226119"/>
            <a:ext cx="861579" cy="75279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1000" kern="0">
                <a:latin typeface="맑은 고딕" pitchFamily="50" charset="-127"/>
                <a:ea typeface="맑은 고딕" pitchFamily="50" charset="-127"/>
              </a:rPr>
              <a:t>서비스</a:t>
            </a:r>
            <a:endParaRPr kumimoji="0" lang="en-US" altLang="ko-KR" sz="10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1000" kern="0">
                <a:latin typeface="맑은 고딕" pitchFamily="50" charset="-127"/>
                <a:ea typeface="맑은 고딕" pitchFamily="50" charset="-127"/>
              </a:rPr>
              <a:t>Façade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꺾인 연결선 4"/>
          <p:cNvCxnSpPr>
            <a:stCxn id="13" idx="2"/>
            <a:endCxn id="60" idx="1"/>
          </p:cNvCxnSpPr>
          <p:nvPr/>
        </p:nvCxnSpPr>
        <p:spPr>
          <a:xfrm rot="16200000" flipH="1">
            <a:off x="4724141" y="2919239"/>
            <a:ext cx="591100" cy="52815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5283769" y="2625829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FM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5283769" y="3347898"/>
            <a:ext cx="685346" cy="261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DM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2" name="꺾인 연결선 61"/>
          <p:cNvCxnSpPr>
            <a:stCxn id="13" idx="3"/>
            <a:endCxn id="59" idx="1"/>
          </p:cNvCxnSpPr>
          <p:nvPr/>
        </p:nvCxnSpPr>
        <p:spPr>
          <a:xfrm>
            <a:off x="5098286" y="2756798"/>
            <a:ext cx="18548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1"/>
          <p:cNvCxnSpPr>
            <a:stCxn id="59" idx="2"/>
            <a:endCxn id="60" idx="0"/>
          </p:cNvCxnSpPr>
          <p:nvPr/>
        </p:nvCxnSpPr>
        <p:spPr>
          <a:xfrm>
            <a:off x="5626442" y="2887767"/>
            <a:ext cx="0" cy="46013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43"/>
          <p:cNvSpPr>
            <a:spLocks noChangeArrowheads="1"/>
          </p:cNvSpPr>
          <p:nvPr/>
        </p:nvSpPr>
        <p:spPr bwMode="auto">
          <a:xfrm>
            <a:off x="838280" y="4285724"/>
            <a:ext cx="5198178" cy="624588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ko-KR" altLang="en-US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파일</a:t>
            </a:r>
          </a:p>
        </p:txBody>
      </p:sp>
      <p:sp>
        <p:nvSpPr>
          <p:cNvPr id="68" name="AutoShape 51"/>
          <p:cNvSpPr>
            <a:spLocks noChangeArrowheads="1"/>
          </p:cNvSpPr>
          <p:nvPr/>
        </p:nvSpPr>
        <p:spPr bwMode="auto">
          <a:xfrm>
            <a:off x="2933403" y="5046594"/>
            <a:ext cx="687449" cy="279568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72000" tIns="36000" rIns="72000" bIns="36000" anchor="ctr"/>
          <a:lstStyle/>
          <a:p>
            <a:pPr algn="ctr" eaLnBrk="0" hangingPunct="0">
              <a:buFont typeface="Wingdings" panose="05000000000000000000" pitchFamily="2" charset="2"/>
              <a:buNone/>
            </a:pPr>
            <a:r>
              <a:rPr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거래로그</a:t>
            </a:r>
            <a:endParaRPr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5350436" y="5262562"/>
            <a:ext cx="718688" cy="716586"/>
            <a:chOff x="2182573" y="1435459"/>
            <a:chExt cx="718688" cy="716586"/>
          </a:xfrm>
        </p:grpSpPr>
        <p:pic>
          <p:nvPicPr>
            <p:cNvPr id="70" name="Picture 117" descr="D:\모스트비주얼\아이콘 작업\01\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32948" y="1435459"/>
              <a:ext cx="421166" cy="42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직사각형 70"/>
            <p:cNvSpPr/>
            <p:nvPr/>
          </p:nvSpPr>
          <p:spPr>
            <a:xfrm>
              <a:off x="2182573" y="1972813"/>
              <a:ext cx="718688" cy="179232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FW </a:t>
              </a:r>
              <a:r>
                <a:rPr lang="ko-KR" altLang="en-US" sz="1000" b="1">
                  <a:solidFill>
                    <a:schemeClr val="tx1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Arial" pitchFamily="34" charset="0"/>
                </a:rPr>
                <a:t>관리콘솔</a:t>
              </a:r>
              <a:endParaRPr lang="ko-KR" altLang="en-US" sz="1000" b="1" dirty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74" name="꺾인 연결선 73"/>
          <p:cNvCxnSpPr>
            <a:stCxn id="57" idx="3"/>
            <a:endCxn id="13" idx="1"/>
          </p:cNvCxnSpPr>
          <p:nvPr/>
        </p:nvCxnSpPr>
        <p:spPr>
          <a:xfrm flipV="1">
            <a:off x="3711686" y="2756798"/>
            <a:ext cx="701254" cy="845720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61"/>
          <p:cNvCxnSpPr>
            <a:stCxn id="56" idx="2"/>
            <a:endCxn id="57" idx="0"/>
          </p:cNvCxnSpPr>
          <p:nvPr/>
        </p:nvCxnSpPr>
        <p:spPr>
          <a:xfrm>
            <a:off x="3280897" y="2993755"/>
            <a:ext cx="0" cy="232364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61"/>
          <p:cNvCxnSpPr>
            <a:stCxn id="23" idx="3"/>
            <a:endCxn id="56" idx="1"/>
          </p:cNvCxnSpPr>
          <p:nvPr/>
        </p:nvCxnSpPr>
        <p:spPr>
          <a:xfrm>
            <a:off x="2440092" y="2588563"/>
            <a:ext cx="4100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utoShape 51"/>
          <p:cNvSpPr>
            <a:spLocks noChangeArrowheads="1"/>
          </p:cNvSpPr>
          <p:nvPr/>
        </p:nvSpPr>
        <p:spPr bwMode="auto">
          <a:xfrm>
            <a:off x="2930774" y="5648460"/>
            <a:ext cx="687449" cy="504000"/>
          </a:xfrm>
          <a:prstGeom prst="flowChartMagneticDisk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algn="ctr" eaLnBrk="0" hangingPunct="0">
              <a:buFont typeface="Wingdings" panose="05000000000000000000" pitchFamily="2" charset="2"/>
              <a:buNone/>
            </a:pPr>
            <a:r>
              <a:rPr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전문로그</a:t>
            </a:r>
            <a:endParaRPr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sp>
        <p:nvSpPr>
          <p:cNvPr id="85" name="AutoShape 47"/>
          <p:cNvSpPr>
            <a:spLocks noChangeArrowheads="1"/>
          </p:cNvSpPr>
          <p:nvPr/>
        </p:nvSpPr>
        <p:spPr bwMode="auto">
          <a:xfrm>
            <a:off x="4376936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업무로그</a:t>
            </a:r>
          </a:p>
        </p:txBody>
      </p:sp>
      <p:sp>
        <p:nvSpPr>
          <p:cNvPr id="86" name="AutoShape 47"/>
          <p:cNvSpPr>
            <a:spLocks noChangeArrowheads="1"/>
          </p:cNvSpPr>
          <p:nvPr/>
        </p:nvSpPr>
        <p:spPr bwMode="auto">
          <a:xfrm>
            <a:off x="3367554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에러로그</a:t>
            </a:r>
          </a:p>
        </p:txBody>
      </p:sp>
      <p:sp>
        <p:nvSpPr>
          <p:cNvPr id="87" name="AutoShape 47"/>
          <p:cNvSpPr>
            <a:spLocks noChangeArrowheads="1"/>
          </p:cNvSpPr>
          <p:nvPr/>
        </p:nvSpPr>
        <p:spPr bwMode="auto">
          <a:xfrm>
            <a:off x="2504728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F/W</a:t>
            </a:r>
          </a:p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로그</a:t>
            </a:r>
          </a:p>
        </p:txBody>
      </p:sp>
      <p:sp>
        <p:nvSpPr>
          <p:cNvPr id="88" name="AutoShape 47"/>
          <p:cNvSpPr>
            <a:spLocks noChangeArrowheads="1"/>
          </p:cNvSpPr>
          <p:nvPr/>
        </p:nvSpPr>
        <p:spPr bwMode="auto">
          <a:xfrm>
            <a:off x="1659188" y="4516956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중계로그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236538" y="1412776"/>
            <a:ext cx="86403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채널통합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50825" y="2048789"/>
            <a:ext cx="849748" cy="206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 Box 25"/>
          <p:cNvSpPr txBox="1">
            <a:spLocks noChangeArrowheads="1"/>
          </p:cNvSpPr>
          <p:nvPr/>
        </p:nvSpPr>
        <p:spPr bwMode="auto">
          <a:xfrm>
            <a:off x="315828" y="2183371"/>
            <a:ext cx="716574" cy="81038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1000" kern="0">
                <a:latin typeface="맑은 고딕" pitchFamily="50" charset="-127"/>
                <a:ea typeface="맑은 고딕" pitchFamily="50" charset="-127"/>
              </a:rPr>
              <a:t>MCI</a:t>
            </a:r>
            <a:endParaRPr kumimoji="0" lang="ko-KR" altLang="en-US" sz="10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6" name="꺾인 연결선 61"/>
          <p:cNvCxnSpPr>
            <a:stCxn id="23" idx="2"/>
            <a:endCxn id="88" idx="0"/>
          </p:cNvCxnSpPr>
          <p:nvPr/>
        </p:nvCxnSpPr>
        <p:spPr>
          <a:xfrm>
            <a:off x="2001861" y="2993755"/>
            <a:ext cx="0" cy="1523201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61"/>
          <p:cNvCxnSpPr>
            <a:stCxn id="88" idx="2"/>
            <a:endCxn id="84" idx="2"/>
          </p:cNvCxnSpPr>
          <p:nvPr/>
        </p:nvCxnSpPr>
        <p:spPr>
          <a:xfrm rot="16200000" flipH="1">
            <a:off x="1935631" y="4905317"/>
            <a:ext cx="1061372" cy="928913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61"/>
          <p:cNvCxnSpPr>
            <a:stCxn id="57" idx="2"/>
            <a:endCxn id="87" idx="0"/>
          </p:cNvCxnSpPr>
          <p:nvPr/>
        </p:nvCxnSpPr>
        <p:spPr>
          <a:xfrm flipH="1">
            <a:off x="2847401" y="3978917"/>
            <a:ext cx="433496" cy="538039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1"/>
          <p:cNvCxnSpPr>
            <a:stCxn id="57" idx="2"/>
            <a:endCxn id="86" idx="0"/>
          </p:cNvCxnSpPr>
          <p:nvPr/>
        </p:nvCxnSpPr>
        <p:spPr>
          <a:xfrm>
            <a:off x="3280897" y="3978917"/>
            <a:ext cx="429330" cy="538039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61"/>
          <p:cNvCxnSpPr>
            <a:endCxn id="68" idx="1"/>
          </p:cNvCxnSpPr>
          <p:nvPr/>
        </p:nvCxnSpPr>
        <p:spPr>
          <a:xfrm flipH="1">
            <a:off x="3277128" y="4060506"/>
            <a:ext cx="3770" cy="986088"/>
          </a:xfrm>
          <a:prstGeom prst="straightConnector1">
            <a:avLst/>
          </a:prstGeom>
          <a:ln w="19050" cap="flat">
            <a:solidFill>
              <a:srgbClr val="FFC000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AutoShape 43"/>
          <p:cNvSpPr>
            <a:spLocks noChangeArrowheads="1"/>
          </p:cNvSpPr>
          <p:nvPr/>
        </p:nvSpPr>
        <p:spPr bwMode="auto">
          <a:xfrm>
            <a:off x="2809301" y="4981037"/>
            <a:ext cx="903552" cy="1386766"/>
          </a:xfrm>
          <a:prstGeom prst="roundRect">
            <a:avLst>
              <a:gd name="adj" fmla="val 6412"/>
            </a:avLst>
          </a:prstGeom>
          <a:noFill/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ko-KR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DB</a:t>
            </a:r>
            <a:endParaRPr lang="ko-KR" altLang="en-US"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cxnSp>
        <p:nvCxnSpPr>
          <p:cNvPr id="143" name="꺾인 연결선 61"/>
          <p:cNvCxnSpPr>
            <a:endCxn id="85" idx="0"/>
          </p:cNvCxnSpPr>
          <p:nvPr/>
        </p:nvCxnSpPr>
        <p:spPr>
          <a:xfrm rot="16200000" flipH="1">
            <a:off x="3863333" y="3660679"/>
            <a:ext cx="1629189" cy="83364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61"/>
          <p:cNvCxnSpPr>
            <a:stCxn id="114" idx="3"/>
            <a:endCxn id="23" idx="1"/>
          </p:cNvCxnSpPr>
          <p:nvPr/>
        </p:nvCxnSpPr>
        <p:spPr>
          <a:xfrm>
            <a:off x="1032402" y="2588563"/>
            <a:ext cx="531228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AutoShape 51"/>
          <p:cNvSpPr>
            <a:spLocks noChangeArrowheads="1"/>
          </p:cNvSpPr>
          <p:nvPr/>
        </p:nvSpPr>
        <p:spPr bwMode="auto">
          <a:xfrm>
            <a:off x="2933403" y="5371045"/>
            <a:ext cx="687449" cy="279568"/>
          </a:xfrm>
          <a:prstGeom prst="flowChartMagneticDisk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72000" tIns="36000" rIns="72000" bIns="36000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에러로그</a:t>
            </a:r>
            <a:endParaRPr kumimoji="0"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graphicFrame>
        <p:nvGraphicFramePr>
          <p:cNvPr id="147" name="표 61"/>
          <p:cNvGraphicFramePr>
            <a:graphicFrameLocks noGrp="1"/>
          </p:cNvGraphicFramePr>
          <p:nvPr/>
        </p:nvGraphicFramePr>
        <p:xfrm>
          <a:off x="6226060" y="1418887"/>
          <a:ext cx="3443404" cy="3681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91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로그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설명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중계로그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전문로그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DB)</a:t>
                      </a:r>
                      <a:endParaRPr lang="en-US" altLang="ko-KR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MCI, EAI, 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간 연계시 거래 요청 및 응답시 전문 기록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정상분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DB)</a:t>
                      </a:r>
                      <a:endParaRPr lang="ko-KR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된 어플리케이션의 거래 정상 처리 결과 기록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,CommonArea)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운영에서는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 감소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  <a:tr h="3931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에러로그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에러</a:t>
                      </a:r>
                      <a:r>
                        <a:rPr lang="en-US" altLang="ko-KR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1" kern="1200" baseline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DB)</a:t>
                      </a:r>
                      <a:endParaRPr lang="en-US" altLang="ko-KR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중인 어플리케이션의 에러 정보 기록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(DB)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22269"/>
                  </a:ext>
                </a:extLst>
              </a:tr>
              <a:tr h="5405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 필요 데이터를 고유한 방식으로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fwk-yyyymmdd.log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파일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92033"/>
                  </a:ext>
                </a:extLst>
              </a:tr>
              <a:tr h="70763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에러 파일 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업무에서 발생하는 에러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대해 하나의 파일에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service-error-yyyymmdd.log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운영에서는 기록하지 않음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128559"/>
                  </a:ext>
                </a:extLst>
              </a:tr>
              <a:tr h="3931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(USER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로그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남긴 로그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파일에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 기록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 로그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파일에 포함되어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DEBUG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레벨일 경우만 기록됨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637209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116" y="5129104"/>
            <a:ext cx="1439787" cy="886259"/>
          </a:xfrm>
          <a:prstGeom prst="rect">
            <a:avLst/>
          </a:prstGeom>
        </p:spPr>
      </p:pic>
      <p:cxnSp>
        <p:nvCxnSpPr>
          <p:cNvPr id="53" name="꺾인 연결선 52"/>
          <p:cNvCxnSpPr>
            <a:stCxn id="68" idx="4"/>
            <a:endCxn id="4" idx="1"/>
          </p:cNvCxnSpPr>
          <p:nvPr/>
        </p:nvCxnSpPr>
        <p:spPr>
          <a:xfrm>
            <a:off x="3620852" y="5186378"/>
            <a:ext cx="361264" cy="385856"/>
          </a:xfrm>
          <a:prstGeom prst="bentConnector3">
            <a:avLst>
              <a:gd name="adj1" fmla="val 50000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146" idx="4"/>
            <a:endCxn id="4" idx="1"/>
          </p:cNvCxnSpPr>
          <p:nvPr/>
        </p:nvCxnSpPr>
        <p:spPr>
          <a:xfrm>
            <a:off x="3620852" y="5510829"/>
            <a:ext cx="361264" cy="61405"/>
          </a:xfrm>
          <a:prstGeom prst="bentConnector3">
            <a:avLst>
              <a:gd name="adj1" fmla="val 50000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84" idx="4"/>
            <a:endCxn id="4" idx="1"/>
          </p:cNvCxnSpPr>
          <p:nvPr/>
        </p:nvCxnSpPr>
        <p:spPr>
          <a:xfrm flipV="1">
            <a:off x="3618223" y="5572234"/>
            <a:ext cx="363893" cy="328226"/>
          </a:xfrm>
          <a:prstGeom prst="bentConnector3">
            <a:avLst>
              <a:gd name="adj1" fmla="val 52371"/>
            </a:avLst>
          </a:prstGeom>
          <a:ln w="9525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2847401" y="3786398"/>
            <a:ext cx="865452" cy="1925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 err="1">
                <a:solidFill>
                  <a:schemeClr val="tx1"/>
                </a:solidFill>
                <a:cs typeface="Arial" pitchFamily="34" charset="0"/>
              </a:rPr>
              <a:t>시스템후처리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847401" y="3225141"/>
            <a:ext cx="865452" cy="1925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tx1"/>
                </a:solidFill>
                <a:cs typeface="Arial" pitchFamily="34" charset="0"/>
              </a:rPr>
              <a:t>시스템전처리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6226060" y="5371045"/>
            <a:ext cx="3443403" cy="996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[</a:t>
            </a:r>
            <a:r>
              <a:rPr lang="ko-KR" altLang="en-US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거래로그 복원</a:t>
            </a:r>
            <a:r>
              <a:rPr lang="en-US" altLang="ko-KR" sz="1050" b="1">
                <a:solidFill>
                  <a:schemeClr val="tx1"/>
                </a:solidFill>
                <a:latin typeface="+mn-ea"/>
                <a:cs typeface="Arial" pitchFamily="34" charset="0"/>
              </a:rPr>
              <a:t>]</a:t>
            </a:r>
          </a:p>
          <a:p>
            <a:pPr marL="171450" indent="-171450">
              <a:spcBef>
                <a:spcPts val="600"/>
              </a:spcBef>
              <a:buFontTx/>
              <a:buChar char="-"/>
            </a:pP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책임자승인 및 취소거래 등에서 필요시 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FW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에서 전문</a:t>
            </a:r>
            <a:r>
              <a:rPr lang="en-US" altLang="ko-KR" sz="105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50">
                <a:solidFill>
                  <a:schemeClr val="tx1"/>
                </a:solidFill>
                <a:latin typeface="+mn-ea"/>
                <a:cs typeface="Arial" pitchFamily="34" charset="0"/>
              </a:rPr>
              <a:t>로그 테이블에 저장된 원전문 개별부를 복원하여 업무 서비스 호출</a:t>
            </a:r>
            <a:endParaRPr lang="en-US" altLang="ko-KR" sz="105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2" name="AutoShape 47"/>
          <p:cNvSpPr>
            <a:spLocks noChangeArrowheads="1"/>
          </p:cNvSpPr>
          <p:nvPr/>
        </p:nvSpPr>
        <p:spPr bwMode="auto">
          <a:xfrm>
            <a:off x="5205028" y="4515104"/>
            <a:ext cx="685346" cy="322132"/>
          </a:xfrm>
          <a:prstGeom prst="roundRect">
            <a:avLst>
              <a:gd name="adj" fmla="val 6412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SQL</a:t>
            </a:r>
            <a:r>
              <a:rPr lang="ko-KR" altLang="en-US" sz="1000"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로그</a:t>
            </a:r>
          </a:p>
        </p:txBody>
      </p:sp>
      <p:cxnSp>
        <p:nvCxnSpPr>
          <p:cNvPr id="75" name="꺾인 연결선 61"/>
          <p:cNvCxnSpPr>
            <a:stCxn id="60" idx="2"/>
            <a:endCxn id="72" idx="0"/>
          </p:cNvCxnSpPr>
          <p:nvPr/>
        </p:nvCxnSpPr>
        <p:spPr>
          <a:xfrm rot="5400000">
            <a:off x="5134438" y="4023100"/>
            <a:ext cx="905268" cy="78741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5857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916248" y="2197824"/>
            <a:ext cx="1294880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Text Box 25"/>
          <p:cNvSpPr txBox="1">
            <a:spLocks noChangeArrowheads="1"/>
          </p:cNvSpPr>
          <p:nvPr/>
        </p:nvSpPr>
        <p:spPr bwMode="auto">
          <a:xfrm>
            <a:off x="3059449" y="4417087"/>
            <a:ext cx="1038980" cy="124393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n-KESA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499" y="2200989"/>
            <a:ext cx="864000" cy="37122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051" y="2197824"/>
            <a:ext cx="781577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15818" y="2200989"/>
            <a:ext cx="864000" cy="37122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77158" y="2197824"/>
            <a:ext cx="859035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38389" y="2197824"/>
            <a:ext cx="781577" cy="37161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책임자 </a:t>
            </a:r>
            <a:r>
              <a:rPr lang="ko-KR" altLang="en-US" dirty="0"/>
              <a:t>승인 </a:t>
            </a:r>
            <a:r>
              <a:rPr lang="ko-KR" altLang="en-US"/>
              <a:t>거래 처리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책임자승인 요건 발생시 최초 거래는 롤백후 책임자승인 관련 정보를 전문 헤더에 담아 리턴하고</a:t>
            </a:r>
            <a:r>
              <a:rPr lang="en-US" altLang="ko-KR"/>
              <a:t>, </a:t>
            </a:r>
            <a:r>
              <a:rPr lang="ko-KR" altLang="en-US"/>
              <a:t>승인 완료 후 거래가 올라오면 원거래의 개별부를 복원하여 호출함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267653" y="1601550"/>
            <a:ext cx="1801375" cy="172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0"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4394144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 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규칙확인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898135" y="1595438"/>
            <a:ext cx="129614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 </a:t>
            </a: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993225" y="2312876"/>
            <a:ext cx="1105204" cy="1188076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n-KESA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5294355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사유판단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" name="꺾인 연결선 61"/>
          <p:cNvCxnSpPr>
            <a:stCxn id="14" idx="3"/>
            <a:endCxn id="20" idx="1"/>
          </p:cNvCxnSpPr>
          <p:nvPr/>
        </p:nvCxnSpPr>
        <p:spPr>
          <a:xfrm>
            <a:off x="5079490" y="2564876"/>
            <a:ext cx="21486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endCxn id="14" idx="1"/>
          </p:cNvCxnSpPr>
          <p:nvPr/>
        </p:nvCxnSpPr>
        <p:spPr>
          <a:xfrm>
            <a:off x="4098429" y="2564876"/>
            <a:ext cx="2957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61"/>
          <p:cNvCxnSpPr>
            <a:stCxn id="49" idx="3"/>
          </p:cNvCxnSpPr>
          <p:nvPr/>
        </p:nvCxnSpPr>
        <p:spPr>
          <a:xfrm>
            <a:off x="1879444" y="2564876"/>
            <a:ext cx="1113781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960727" y="1595438"/>
            <a:ext cx="864034" cy="428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채널통합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Layer(MCI)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267653" y="1850579"/>
            <a:ext cx="864000" cy="172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업무프로그램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205028" y="1850579"/>
            <a:ext cx="864000" cy="172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전행공통</a:t>
            </a:r>
            <a:endParaRPr kumimoji="0" lang="en-US" altLang="ko-KR" sz="10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50825" y="1595439"/>
            <a:ext cx="1636528" cy="1790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채널</a:t>
            </a: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Layer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50825" y="1850580"/>
            <a:ext cx="781577" cy="1844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책임자단말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105776" y="1850580"/>
            <a:ext cx="781577" cy="1844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lIns="36000" rIns="36000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사용자단말</a:t>
            </a:r>
            <a:endParaRPr kumimoji="0" lang="ko-KR" altLang="en-US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4394144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거래종료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처리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2087877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승인메시지사유조립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1194098" y="299695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등록책임자 </a:t>
            </a: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List</a:t>
            </a: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조회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(MCI)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1194098" y="2312876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승인전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1194098" y="393509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승인요청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(1,2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차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312237" y="3935092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(1,2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차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1194098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거래요청</a:t>
            </a:r>
            <a:endParaRPr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승인후</a:t>
            </a:r>
            <a:r>
              <a:rPr kumimoji="0" lang="en-US" altLang="ko-KR" sz="900" kern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4412940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 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규칙확인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5283769" y="4514324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책임자승인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사유판단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4412940" y="5157248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거래종료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처리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1194098" y="5157248"/>
            <a:ext cx="685346" cy="50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거래완료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1" name="꺾인 연결선 23"/>
          <p:cNvCxnSpPr>
            <a:stCxn id="14" idx="2"/>
            <a:endCxn id="45" idx="0"/>
          </p:cNvCxnSpPr>
          <p:nvPr/>
        </p:nvCxnSpPr>
        <p:spPr>
          <a:xfrm>
            <a:off x="4736817" y="2816876"/>
            <a:ext cx="0" cy="180076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23"/>
          <p:cNvCxnSpPr>
            <a:stCxn id="45" idx="1"/>
          </p:cNvCxnSpPr>
          <p:nvPr/>
        </p:nvCxnSpPr>
        <p:spPr>
          <a:xfrm flipH="1" flipV="1">
            <a:off x="4098429" y="3248925"/>
            <a:ext cx="295715" cy="27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23"/>
          <p:cNvCxnSpPr>
            <a:endCxn id="47" idx="3"/>
          </p:cNvCxnSpPr>
          <p:nvPr/>
        </p:nvCxnSpPr>
        <p:spPr>
          <a:xfrm flipH="1">
            <a:off x="2773223" y="3248952"/>
            <a:ext cx="220002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23"/>
          <p:cNvCxnSpPr>
            <a:stCxn id="47" idx="1"/>
            <a:endCxn id="48" idx="3"/>
          </p:cNvCxnSpPr>
          <p:nvPr/>
        </p:nvCxnSpPr>
        <p:spPr>
          <a:xfrm flipH="1">
            <a:off x="1879444" y="3248952"/>
            <a:ext cx="20843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2087877" y="3642520"/>
            <a:ext cx="685346" cy="325371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ctr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kumimoji="0" lang="ko-KR" altLang="en-US" sz="900" kern="0">
                <a:latin typeface="맑은 고딕" pitchFamily="50" charset="-127"/>
                <a:ea typeface="맑은 고딕" pitchFamily="50" charset="-127"/>
              </a:rPr>
              <a:t>등록책임자</a:t>
            </a:r>
            <a:endParaRPr kumimoji="0" lang="en-US" altLang="ko-KR" sz="900" kern="0">
              <a:latin typeface="맑은 고딕" pitchFamily="50" charset="-127"/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900" kern="0">
                <a:latin typeface="맑은 고딕" pitchFamily="50" charset="-127"/>
                <a:ea typeface="맑은 고딕" pitchFamily="50" charset="-127"/>
              </a:rPr>
              <a:t>List</a:t>
            </a:r>
            <a:r>
              <a:rPr lang="ko-KR" altLang="en-US" sz="900" kern="0">
                <a:latin typeface="맑은 고딕" pitchFamily="50" charset="-127"/>
                <a:ea typeface="맑은 고딕" pitchFamily="50" charset="-127"/>
              </a:rPr>
              <a:t>전달</a:t>
            </a:r>
            <a:endParaRPr kumimoji="0" lang="ko-KR" altLang="en-US" sz="9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5" name="꺾인 연결선 23"/>
          <p:cNvCxnSpPr>
            <a:stCxn id="48" idx="2"/>
            <a:endCxn id="84" idx="1"/>
          </p:cNvCxnSpPr>
          <p:nvPr/>
        </p:nvCxnSpPr>
        <p:spPr>
          <a:xfrm rot="16200000" flipH="1">
            <a:off x="1660197" y="3377526"/>
            <a:ext cx="304254" cy="55110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23"/>
          <p:cNvCxnSpPr>
            <a:endCxn id="50" idx="3"/>
          </p:cNvCxnSpPr>
          <p:nvPr/>
        </p:nvCxnSpPr>
        <p:spPr>
          <a:xfrm rot="5400000">
            <a:off x="2063399" y="3819940"/>
            <a:ext cx="183197" cy="551106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23"/>
          <p:cNvCxnSpPr>
            <a:stCxn id="50" idx="1"/>
            <a:endCxn id="51" idx="3"/>
          </p:cNvCxnSpPr>
          <p:nvPr/>
        </p:nvCxnSpPr>
        <p:spPr>
          <a:xfrm flipH="1">
            <a:off x="997583" y="4187092"/>
            <a:ext cx="19651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23"/>
          <p:cNvCxnSpPr>
            <a:stCxn id="51" idx="2"/>
            <a:endCxn id="52" idx="1"/>
          </p:cNvCxnSpPr>
          <p:nvPr/>
        </p:nvCxnSpPr>
        <p:spPr>
          <a:xfrm rot="16200000" flipH="1">
            <a:off x="760888" y="4333114"/>
            <a:ext cx="327232" cy="539188"/>
          </a:xfrm>
          <a:prstGeom prst="bentConnector2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23"/>
          <p:cNvCxnSpPr>
            <a:stCxn id="52" idx="3"/>
          </p:cNvCxnSpPr>
          <p:nvPr/>
        </p:nvCxnSpPr>
        <p:spPr>
          <a:xfrm>
            <a:off x="1879444" y="4766324"/>
            <a:ext cx="1180005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타원 99"/>
          <p:cNvSpPr/>
          <p:nvPr/>
        </p:nvSpPr>
        <p:spPr>
          <a:xfrm>
            <a:off x="3080792" y="3058612"/>
            <a:ext cx="805166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승인전거래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Rollback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3080792" y="2492896"/>
            <a:ext cx="805166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전문로그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적재 </a:t>
            </a:r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(IQ)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3116068" y="4690042"/>
            <a:ext cx="916354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원거래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개별부 복원</a:t>
            </a:r>
          </a:p>
        </p:txBody>
      </p:sp>
      <p:sp>
        <p:nvSpPr>
          <p:cNvPr id="108" name="타원 107"/>
          <p:cNvSpPr/>
          <p:nvPr/>
        </p:nvSpPr>
        <p:spPr>
          <a:xfrm>
            <a:off x="3116068" y="5217362"/>
            <a:ext cx="916354" cy="334384"/>
          </a:xfrm>
          <a:prstGeom prst="ellipse">
            <a:avLst/>
          </a:prstGeom>
          <a:solidFill>
            <a:srgbClr val="FFC000"/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cs typeface="Arial" pitchFamily="34" charset="0"/>
              </a:rPr>
              <a:t>승인후거래</a:t>
            </a:r>
            <a:endParaRPr lang="en-US" altLang="ko-KR" sz="900" b="1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  <a:cs typeface="Arial" pitchFamily="34" charset="0"/>
              </a:rPr>
              <a:t>Commit</a:t>
            </a:r>
            <a:endParaRPr lang="ko-KR" altLang="en-US" sz="9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81026" y="6057292"/>
            <a:ext cx="2323822" cy="377463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345123" y="6156012"/>
            <a:ext cx="612000" cy="1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66980" y="6066913"/>
            <a:ext cx="1637867" cy="21812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50" dirty="0">
                <a:cs typeface="Arial" pitchFamily="34" charset="0"/>
              </a:rPr>
              <a:t>책임자 승인 요청</a:t>
            </a:r>
          </a:p>
        </p:txBody>
      </p:sp>
      <p:cxnSp>
        <p:nvCxnSpPr>
          <p:cNvPr id="113" name="직선 화살표 연결선 112"/>
          <p:cNvCxnSpPr/>
          <p:nvPr/>
        </p:nvCxnSpPr>
        <p:spPr>
          <a:xfrm flipV="1">
            <a:off x="345123" y="6336031"/>
            <a:ext cx="612000" cy="1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66980" y="6246932"/>
            <a:ext cx="1637867" cy="21812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50" dirty="0">
                <a:cs typeface="Arial" pitchFamily="34" charset="0"/>
              </a:rPr>
              <a:t>책임자 승인 후 재 거래 요청</a:t>
            </a:r>
          </a:p>
        </p:txBody>
      </p:sp>
      <p:cxnSp>
        <p:nvCxnSpPr>
          <p:cNvPr id="115" name="꺾인 연결선 23"/>
          <p:cNvCxnSpPr>
            <a:endCxn id="56" idx="1"/>
          </p:cNvCxnSpPr>
          <p:nvPr/>
        </p:nvCxnSpPr>
        <p:spPr>
          <a:xfrm>
            <a:off x="4089041" y="4763708"/>
            <a:ext cx="323899" cy="2616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23"/>
          <p:cNvCxnSpPr>
            <a:stCxn id="56" idx="3"/>
            <a:endCxn id="57" idx="1"/>
          </p:cNvCxnSpPr>
          <p:nvPr/>
        </p:nvCxnSpPr>
        <p:spPr>
          <a:xfrm>
            <a:off x="5098286" y="4766324"/>
            <a:ext cx="185483" cy="0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23"/>
          <p:cNvCxnSpPr>
            <a:stCxn id="56" idx="2"/>
            <a:endCxn id="58" idx="0"/>
          </p:cNvCxnSpPr>
          <p:nvPr/>
        </p:nvCxnSpPr>
        <p:spPr>
          <a:xfrm>
            <a:off x="4755613" y="5018324"/>
            <a:ext cx="0" cy="138924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23"/>
          <p:cNvCxnSpPr>
            <a:stCxn id="58" idx="1"/>
          </p:cNvCxnSpPr>
          <p:nvPr/>
        </p:nvCxnSpPr>
        <p:spPr>
          <a:xfrm flipH="1">
            <a:off x="4098429" y="5409248"/>
            <a:ext cx="314511" cy="6102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23"/>
          <p:cNvCxnSpPr>
            <a:endCxn id="60" idx="3"/>
          </p:cNvCxnSpPr>
          <p:nvPr/>
        </p:nvCxnSpPr>
        <p:spPr>
          <a:xfrm flipH="1" flipV="1">
            <a:off x="1879444" y="5409248"/>
            <a:ext cx="1171810" cy="6102"/>
          </a:xfrm>
          <a:prstGeom prst="straightConnector1">
            <a:avLst/>
          </a:prstGeom>
          <a:ln w="190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utoShape 51"/>
          <p:cNvSpPr>
            <a:spLocks noChangeArrowheads="1"/>
          </p:cNvSpPr>
          <p:nvPr/>
        </p:nvSpPr>
        <p:spPr bwMode="auto">
          <a:xfrm>
            <a:off x="3230520" y="3789040"/>
            <a:ext cx="687449" cy="279568"/>
          </a:xfrm>
          <a:prstGeom prst="flowChartMagneticDisk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lIns="72000" tIns="36000" rIns="72000" bIns="36000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latinLnBrk="0">
              <a:buFont typeface="Wingdings" panose="05000000000000000000" pitchFamily="2" charset="2"/>
              <a:buNone/>
            </a:pPr>
            <a:r>
              <a:rPr kumimoji="0" lang="ko-KR" altLang="en-US" sz="1050">
                <a:solidFill>
                  <a:srgbClr val="000000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전문로그</a:t>
            </a:r>
            <a:endParaRPr kumimoji="0" lang="en-US" altLang="ko-KR" sz="1050">
              <a:solidFill>
                <a:srgbClr val="000000"/>
              </a:solidFill>
              <a:latin typeface="KB금융 본문체 Bold" panose="020B0803000000000000" pitchFamily="50" charset="-127"/>
              <a:ea typeface="KB금융 본문체 Bold" panose="020B0803000000000000" pitchFamily="50" charset="-127"/>
            </a:endParaRPr>
          </a:p>
        </p:txBody>
      </p:sp>
      <p:cxnSp>
        <p:nvCxnSpPr>
          <p:cNvPr id="133" name="직선 화살표 연결선 132"/>
          <p:cNvCxnSpPr>
            <a:stCxn id="101" idx="6"/>
            <a:endCxn id="132" idx="1"/>
          </p:cNvCxnSpPr>
          <p:nvPr/>
        </p:nvCxnSpPr>
        <p:spPr>
          <a:xfrm flipH="1">
            <a:off x="3574245" y="2660088"/>
            <a:ext cx="311713" cy="1128952"/>
          </a:xfrm>
          <a:prstGeom prst="curvedConnector4">
            <a:avLst>
              <a:gd name="adj1" fmla="val -48430"/>
              <a:gd name="adj2" fmla="val 80328"/>
            </a:avLst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/>
          <p:cNvCxnSpPr>
            <a:stCxn id="132" idx="3"/>
            <a:endCxn id="107" idx="0"/>
          </p:cNvCxnSpPr>
          <p:nvPr/>
        </p:nvCxnSpPr>
        <p:spPr>
          <a:xfrm>
            <a:off x="3574245" y="4068608"/>
            <a:ext cx="0" cy="621434"/>
          </a:xfrm>
          <a:prstGeom prst="straightConnector1">
            <a:avLst/>
          </a:prstGeom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61"/>
          <p:cNvGraphicFramePr>
            <a:graphicFrameLocks noGrp="1"/>
          </p:cNvGraphicFramePr>
          <p:nvPr/>
        </p:nvGraphicFramePr>
        <p:xfrm>
          <a:off x="6226060" y="1601548"/>
          <a:ext cx="3443404" cy="431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25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 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거래처리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 전 거래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업무프로그램에서 승인전 거래시 전행공통을 통해 책임자승인사유 조건을 판단하고 해당 책임자 승인 사유코드를 결정하여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 Area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승인완료구분코드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“1” (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승인요청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책임자승인구분코드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책임자승인사유코드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[10]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에선 거래 응답시 승인요청건이면 승인전 거래를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Rollback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처리하며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해당 거래 개별부를 거래로그에 적재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5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승인 후 거래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에선 책임자 승인 후 거래 요청 수신시 원거래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의해 전문로그를 통해 원거래 전문 개별부 복원 후 거래를 호출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 승인 후 거래 종료시 책임자 승인 정합성 검증 후 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의한 승인전 사유코드와 승인후 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사유코드를 비교</a:t>
                      </a:r>
                      <a:endParaRPr lang="en-US" altLang="ko-KR" sz="1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03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620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취소 </a:t>
            </a:r>
            <a:r>
              <a:rPr lang="ko-KR" altLang="en-US" dirty="0"/>
              <a:t>거래 </a:t>
            </a:r>
            <a:r>
              <a:rPr lang="ko-KR" altLang="en-US"/>
              <a:t>처리 방안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81000" y="1862279"/>
            <a:ext cx="2781924" cy="902345"/>
          </a:xfrm>
          <a:prstGeom prst="roundRect">
            <a:avLst>
              <a:gd name="adj" fmla="val 8360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400" dirty="0">
              <a:solidFill>
                <a:schemeClr val="tx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7386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“(1)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 단말 저널로 취소 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(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기본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)”</a:t>
            </a:r>
            <a:r>
              <a:rPr lang="ko-KR" altLang="en-US">
                <a:latin typeface="+mn-ea"/>
              </a:rPr>
              <a:t>는 단말 조작자가 단말 저널을 조회한 내역에서 취소 대상 거래를 선택해서 표준전문 취소관련 항목과 원 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를 전송 후 프레임워크가 중계로그 조회 정보로 업무 시스템에서 취소 거래 처리함 </a:t>
            </a:r>
            <a:endParaRPr lang="ko-KR" altLang="en-US" dirty="0">
              <a:latin typeface="+mn-ea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81000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단말</a:t>
            </a:r>
          </a:p>
        </p:txBody>
      </p:sp>
      <p:cxnSp>
        <p:nvCxnSpPr>
          <p:cNvPr id="11" name="직선 연결선 10"/>
          <p:cNvCxnSpPr>
            <a:stCxn id="10" idx="2"/>
          </p:cNvCxnSpPr>
          <p:nvPr/>
        </p:nvCxnSpPr>
        <p:spPr>
          <a:xfrm>
            <a:off x="1028818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2143751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MCI</a:t>
            </a:r>
            <a:endParaRPr lang="ko-KR" altLang="en-US" sz="1400" dirty="0">
              <a:solidFill>
                <a:schemeClr val="accent6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3" name="직선 연결선 12"/>
          <p:cNvCxnSpPr>
            <a:stCxn id="12" idx="2"/>
          </p:cNvCxnSpPr>
          <p:nvPr/>
        </p:nvCxnSpPr>
        <p:spPr>
          <a:xfrm>
            <a:off x="2791569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3906502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프레임워크</a:t>
            </a:r>
          </a:p>
        </p:txBody>
      </p:sp>
      <p:cxnSp>
        <p:nvCxnSpPr>
          <p:cNvPr id="15" name="직선 연결선 14"/>
          <p:cNvCxnSpPr>
            <a:stCxn id="14" idx="2"/>
          </p:cNvCxnSpPr>
          <p:nvPr/>
        </p:nvCxnSpPr>
        <p:spPr>
          <a:xfrm>
            <a:off x="4554320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7041232" y="1424348"/>
          <a:ext cx="2483768" cy="4920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3634678504"/>
                    </a:ext>
                  </a:extLst>
                </a:gridCol>
              </a:tblGrid>
              <a:tr h="359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1372"/>
                  </a:ext>
                </a:extLst>
              </a:tr>
              <a:tr h="4561701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/>
                        <a:t>채널 표준 전문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&gt; </a:t>
                      </a:r>
                      <a:r>
                        <a:rPr lang="ko-KR" altLang="en-US" sz="1000" baseline="0" dirty="0"/>
                        <a:t>채널 개별 헤더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    &gt; </a:t>
                      </a:r>
                      <a:r>
                        <a:rPr lang="ko-KR" altLang="en-US" sz="1000" baseline="0" dirty="0"/>
                        <a:t>단말 채널 개별 헤더 </a:t>
                      </a:r>
                      <a:r>
                        <a:rPr lang="en-US" altLang="ko-KR" sz="1000" baseline="0" dirty="0"/>
                        <a:t>(TER)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MCI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매핑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내부표준전문 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&gt;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공통부</a:t>
                      </a: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endParaRPr lang="en-US" altLang="ko-KR" sz="1000" baseline="0" dirty="0"/>
                    </a:p>
                  </a:txBody>
                  <a:tcPr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060335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19" idx="6"/>
            <a:endCxn id="18" idx="6"/>
          </p:cNvCxnSpPr>
          <p:nvPr/>
        </p:nvCxnSpPr>
        <p:spPr>
          <a:xfrm>
            <a:off x="1079666" y="2053482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971666" y="243127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971666" y="199948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38134" y="2015382"/>
            <a:ext cx="1712116" cy="77409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28600" indent="-228600">
              <a:lnSpc>
                <a:spcPct val="90000"/>
              </a:lnSpc>
              <a:buAutoNum type="arabicPeriod"/>
            </a:pPr>
            <a:r>
              <a:rPr lang="ko-KR" altLang="en-US" sz="1100" dirty="0">
                <a:cs typeface="Arial" pitchFamily="34" charset="0"/>
              </a:rPr>
              <a:t>단말 저널 조회</a:t>
            </a:r>
            <a:br>
              <a:rPr lang="en-US" altLang="ko-KR" sz="1100" dirty="0">
                <a:cs typeface="Arial" pitchFamily="34" charset="0"/>
              </a:rPr>
            </a:br>
            <a:endParaRPr lang="en-US" altLang="ko-KR" sz="1100" dirty="0">
              <a:cs typeface="Arial" pitchFamily="34" charset="0"/>
            </a:endParaRPr>
          </a:p>
          <a:p>
            <a:pPr marL="182563" indent="-90488">
              <a:lnSpc>
                <a:spcPct val="90000"/>
              </a:lnSpc>
            </a:pPr>
            <a:r>
              <a:rPr lang="en-US" altLang="ko-KR" sz="1000" dirty="0">
                <a:cs typeface="Arial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 err="1">
                <a:cs typeface="Arial" pitchFamily="34" charset="0"/>
              </a:rPr>
              <a:t>조작자가</a:t>
            </a:r>
            <a:r>
              <a:rPr lang="ko-KR" altLang="en-US" sz="1000" dirty="0">
                <a:cs typeface="Arial" pitchFamily="34" charset="0"/>
              </a:rPr>
              <a:t> 저널 목록 화면에서 취소 대상 선택 후 원 거래 화면으로 이동</a:t>
            </a:r>
          </a:p>
        </p:txBody>
      </p:sp>
      <p:sp>
        <p:nvSpPr>
          <p:cNvPr id="21" name="타원 20"/>
          <p:cNvSpPr/>
          <p:nvPr/>
        </p:nvSpPr>
        <p:spPr>
          <a:xfrm>
            <a:off x="971666" y="302444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732726" y="302405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1079666" y="3078055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7666" y="3132448"/>
            <a:ext cx="1384211" cy="146533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2.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채널 표준 </a:t>
            </a:r>
            <a:r>
              <a:rPr lang="ko-KR" altLang="en-US" sz="1100">
                <a:cs typeface="Arial" pitchFamily="34" charset="0"/>
              </a:rPr>
              <a:t>전문</a:t>
            </a:r>
            <a:r>
              <a:rPr lang="en-US" altLang="ko-KR" sz="1100">
                <a:cs typeface="Arial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ko-KR" sz="1100">
                <a:cs typeface="Arial" pitchFamily="34" charset="0"/>
              </a:rPr>
              <a:t>※</a:t>
            </a:r>
            <a:r>
              <a:rPr lang="en-US" altLang="ko-KR" sz="1100">
                <a:cs typeface="Arial" pitchFamily="34" charset="0"/>
              </a:rPr>
              <a:t> </a:t>
            </a:r>
            <a:r>
              <a:rPr lang="ko-KR" altLang="en-US" sz="1100">
                <a:cs typeface="Arial" pitchFamily="34" charset="0"/>
              </a:rPr>
              <a:t>취소 정보 설정</a:t>
            </a:r>
            <a:endParaRPr lang="en-US" altLang="ko-KR" sz="11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원거래 </a:t>
            </a:r>
            <a:r>
              <a:rPr lang="en-US" altLang="ko-KR" sz="1000">
                <a:cs typeface="Arial" pitchFamily="34" charset="0"/>
              </a:rPr>
              <a:t>GUID</a:t>
            </a: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유형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내용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2732726" y="331196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494294" y="331196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7" name="직선 화살표 연결선 26"/>
          <p:cNvCxnSpPr>
            <a:stCxn id="25" idx="6"/>
            <a:endCxn id="26" idx="2"/>
          </p:cNvCxnSpPr>
          <p:nvPr/>
        </p:nvCxnSpPr>
        <p:spPr>
          <a:xfrm>
            <a:off x="2840726" y="3365960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62925" y="3412340"/>
            <a:ext cx="103399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3.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29" name="원통 28"/>
          <p:cNvSpPr/>
          <p:nvPr/>
        </p:nvSpPr>
        <p:spPr>
          <a:xfrm>
            <a:off x="504400" y="1999482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단말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저널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7130086" y="3039683"/>
          <a:ext cx="2287410" cy="3195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410">
                  <a:extLst>
                    <a:ext uri="{9D8B030D-6E8A-4147-A177-3AD203B41FA5}">
                      <a16:colId xmlns:a16="http://schemas.microsoft.com/office/drawing/2014/main" val="384413983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57216024"/>
                    </a:ext>
                  </a:extLst>
                </a:gridCol>
              </a:tblGrid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원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대상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96448"/>
                  </a:ext>
                </a:extLst>
              </a:tr>
              <a:tr h="8232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7=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취소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9=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70692"/>
                  </a:ext>
                </a:extLst>
              </a:tr>
              <a:tr h="15594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유형 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단말 거래 복원 취소</a:t>
                      </a:r>
                      <a:endParaRPr lang="en-US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2=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거래내역조회취소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/>
                        <a:t>3</a:t>
                      </a:r>
                      <a:r>
                        <a:rPr lang="en-US" altLang="ko-KR" sz="1000" dirty="0"/>
                        <a:t>=</a:t>
                      </a:r>
                      <a:r>
                        <a:rPr lang="ko-KR" altLang="en-US" sz="1000" dirty="0"/>
                        <a:t>에러 응답 수신으로 인한 자동취소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4=Timer</a:t>
                      </a:r>
                      <a:r>
                        <a:rPr lang="ko-KR" altLang="en-US" sz="1000" dirty="0"/>
                        <a:t>에 의한 자동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5=</a:t>
                      </a:r>
                      <a:r>
                        <a:rPr lang="ko-KR" altLang="en-US" sz="1000" dirty="0" err="1"/>
                        <a:t>센터컷</a:t>
                      </a:r>
                      <a:r>
                        <a:rPr lang="ko-KR" altLang="en-US" sz="1000" dirty="0"/>
                        <a:t>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6=</a:t>
                      </a:r>
                      <a:r>
                        <a:rPr lang="ko-KR" altLang="en-US" sz="1000" dirty="0"/>
                        <a:t>거래내역조회취소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개별</a:t>
                      </a:r>
                      <a:r>
                        <a:rPr lang="en-US" altLang="ko-KR" sz="1000" dirty="0"/>
                        <a:t>) 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5778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코드를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1411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내용을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559926"/>
                  </a:ext>
                </a:extLst>
              </a:tr>
            </a:tbl>
          </a:graphicData>
        </a:graphic>
      </p:graphicFrame>
      <p:cxnSp>
        <p:nvCxnSpPr>
          <p:cNvPr id="31" name="꺾인 연결선 30"/>
          <p:cNvCxnSpPr>
            <a:stCxn id="33" idx="6"/>
            <a:endCxn id="32" idx="6"/>
          </p:cNvCxnSpPr>
          <p:nvPr/>
        </p:nvCxnSpPr>
        <p:spPr>
          <a:xfrm>
            <a:off x="4606918" y="3763019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4498918" y="4140813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498918" y="370901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4" name="원통 33"/>
          <p:cNvSpPr/>
          <p:nvPr/>
        </p:nvSpPr>
        <p:spPr>
          <a:xfrm>
            <a:off x="4910796" y="3303579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3184" y="4537504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5. </a:t>
            </a:r>
            <a:r>
              <a:rPr lang="ko-KR" altLang="en-US" sz="1100" dirty="0">
                <a:cs typeface="Arial" pitchFamily="34" charset="0"/>
              </a:rPr>
              <a:t>취소 거래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8467" y="3861048"/>
            <a:ext cx="1363307" cy="39444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4. </a:t>
            </a:r>
            <a:r>
              <a:rPr lang="ko-KR" altLang="en-US" sz="1100" dirty="0">
                <a:cs typeface="Arial" pitchFamily="34" charset="0"/>
              </a:rPr>
              <a:t>중계 </a:t>
            </a:r>
            <a:r>
              <a:rPr lang="ko-KR" altLang="en-US" sz="1100">
                <a:cs typeface="Arial" pitchFamily="34" charset="0"/>
              </a:rPr>
              <a:t>로그 조회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altLang="ko-KR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기동거래 전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문 복원</a:t>
            </a:r>
            <a:endParaRPr lang="ko-KR" altLang="en-US" sz="11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669253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어플리케이션</a:t>
            </a:r>
          </a:p>
        </p:txBody>
      </p:sp>
      <p:cxnSp>
        <p:nvCxnSpPr>
          <p:cNvPr id="38" name="직선 연결선 37"/>
          <p:cNvCxnSpPr>
            <a:stCxn id="37" idx="2"/>
          </p:cNvCxnSpPr>
          <p:nvPr/>
        </p:nvCxnSpPr>
        <p:spPr>
          <a:xfrm>
            <a:off x="6317071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498918" y="450912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260486" y="450912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1" name="직선 화살표 연결선 40"/>
          <p:cNvCxnSpPr>
            <a:stCxn id="39" idx="6"/>
            <a:endCxn id="40" idx="2"/>
          </p:cNvCxnSpPr>
          <p:nvPr/>
        </p:nvCxnSpPr>
        <p:spPr>
          <a:xfrm>
            <a:off x="4606918" y="4563120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93184" y="5005556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6.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</a:p>
        </p:txBody>
      </p:sp>
      <p:sp>
        <p:nvSpPr>
          <p:cNvPr id="43" name="타원 42"/>
          <p:cNvSpPr/>
          <p:nvPr/>
        </p:nvSpPr>
        <p:spPr>
          <a:xfrm>
            <a:off x="4498918" y="497717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6260486" y="497717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5" name="직선 화살표 연결선 44"/>
          <p:cNvCxnSpPr>
            <a:stCxn id="43" idx="6"/>
            <a:endCxn id="44" idx="2"/>
          </p:cNvCxnSpPr>
          <p:nvPr/>
        </p:nvCxnSpPr>
        <p:spPr>
          <a:xfrm>
            <a:off x="4606918" y="5031172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126992" y="5490757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7.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(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2732726" y="538213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494294" y="538213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9" name="직선 화살표 연결선 48"/>
          <p:cNvCxnSpPr>
            <a:stCxn id="47" idx="6"/>
            <a:endCxn id="48" idx="2"/>
          </p:cNvCxnSpPr>
          <p:nvPr/>
        </p:nvCxnSpPr>
        <p:spPr>
          <a:xfrm>
            <a:off x="2840726" y="5436131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65932" y="5949534"/>
            <a:ext cx="101284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8.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(</a:t>
            </a:r>
            <a:r>
              <a:rPr lang="ko-KR" altLang="en-US" sz="1100" dirty="0">
                <a:cs typeface="Arial" pitchFamily="34" charset="0"/>
              </a:rPr>
              <a:t>채널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971666" y="58409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733234" y="58409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3" name="직선 화살표 연결선 52"/>
          <p:cNvCxnSpPr>
            <a:stCxn id="51" idx="6"/>
            <a:endCxn id="52" idx="2"/>
          </p:cNvCxnSpPr>
          <p:nvPr/>
        </p:nvCxnSpPr>
        <p:spPr>
          <a:xfrm>
            <a:off x="1079666" y="5894908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사각형 설명선 53"/>
          <p:cNvSpPr/>
          <p:nvPr/>
        </p:nvSpPr>
        <p:spPr>
          <a:xfrm>
            <a:off x="5235081" y="2823842"/>
            <a:ext cx="773005" cy="389134"/>
          </a:xfrm>
          <a:prstGeom prst="wedgeRoundRectCallout">
            <a:avLst>
              <a:gd name="adj1" fmla="val -56369"/>
              <a:gd name="adj2" fmla="val 87895"/>
              <a:gd name="adj3" fmla="val 16667"/>
            </a:avLst>
          </a:prstGeom>
          <a:solidFill>
            <a:schemeClr val="bg1"/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취소 정보 포함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953603" y="2852936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728864" y="3131940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403557" y="366313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58" name="꺾인 연결선 57"/>
          <p:cNvCxnSpPr>
            <a:stCxn id="57" idx="0"/>
            <a:endCxn id="34" idx="4"/>
          </p:cNvCxnSpPr>
          <p:nvPr/>
        </p:nvCxnSpPr>
        <p:spPr>
          <a:xfrm rot="16200000" flipV="1">
            <a:off x="5490375" y="3401151"/>
            <a:ext cx="98826" cy="425147"/>
          </a:xfrm>
          <a:prstGeom prst="bentConnector2">
            <a:avLst/>
          </a:prstGeom>
          <a:ln w="6350" cap="flat">
            <a:solidFill>
              <a:schemeClr val="accent3">
                <a:lumMod val="75000"/>
              </a:schemeClr>
            </a:solidFill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507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취소 </a:t>
            </a:r>
            <a:r>
              <a:rPr lang="ko-KR" altLang="en-US" dirty="0"/>
              <a:t>거래 </a:t>
            </a:r>
            <a:r>
              <a:rPr lang="ko-KR" altLang="en-US"/>
              <a:t>처리 방안</a:t>
            </a:r>
            <a:r>
              <a:rPr lang="en-US" altLang="ko-KR"/>
              <a:t>(2/2)</a:t>
            </a:r>
            <a:endParaRPr lang="ko-KR" altLang="en-US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6105297" y="2179636"/>
            <a:ext cx="1080587" cy="601822"/>
          </a:xfrm>
          <a:prstGeom prst="roundRect">
            <a:avLst>
              <a:gd name="adj" fmla="val 8360"/>
            </a:avLst>
          </a:prstGeom>
          <a:solidFill>
            <a:schemeClr val="tx2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400" dirty="0">
              <a:solidFill>
                <a:schemeClr val="tx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60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924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“(2)</a:t>
            </a:r>
            <a:r>
              <a:rPr lang="ko-KR" altLang="en-US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 거래 내역으로 취소</a:t>
            </a:r>
            <a:r>
              <a:rPr lang="en-US" altLang="ko-KR">
                <a:latin typeface="KB금융 제목체 Bold" panose="020B0803000000000000" pitchFamily="50" charset="-127"/>
                <a:ea typeface="KB금융 제목체 Bold" panose="020B0803000000000000" pitchFamily="50" charset="-127"/>
              </a:rPr>
              <a:t>”</a:t>
            </a:r>
            <a:r>
              <a:rPr lang="ko-KR" altLang="en-US">
                <a:latin typeface="+mn-ea"/>
              </a:rPr>
              <a:t>는 단말 조작자가 거래 내역 조회 거래를 통해 취소 대상 거래를 선택해서 표준전문 취소관련 항목과 원 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를 전송 후 프레임워크에서 원</a:t>
            </a:r>
            <a:r>
              <a:rPr lang="en-US" altLang="ko-KR">
                <a:latin typeface="+mn-ea"/>
              </a:rPr>
              <a:t>GUID</a:t>
            </a:r>
            <a:r>
              <a:rPr lang="ko-KR" altLang="en-US">
                <a:latin typeface="+mn-ea"/>
              </a:rPr>
              <a:t>로 프레임워크에서 원거래복원 취소 거래 처리함 </a:t>
            </a:r>
            <a:endParaRPr lang="ko-KR" altLang="en-US" dirty="0">
              <a:latin typeface="+mn-ea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81000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단말</a:t>
            </a:r>
          </a:p>
        </p:txBody>
      </p:sp>
      <p:cxnSp>
        <p:nvCxnSpPr>
          <p:cNvPr id="62" name="직선 연결선 61"/>
          <p:cNvCxnSpPr>
            <a:stCxn id="61" idx="2"/>
          </p:cNvCxnSpPr>
          <p:nvPr/>
        </p:nvCxnSpPr>
        <p:spPr>
          <a:xfrm>
            <a:off x="1028818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2143751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MCI</a:t>
            </a:r>
            <a:endParaRPr lang="ko-KR" altLang="en-US" sz="1400" dirty="0">
              <a:solidFill>
                <a:schemeClr val="accent6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64" name="직선 연결선 63"/>
          <p:cNvCxnSpPr>
            <a:stCxn id="63" idx="2"/>
          </p:cNvCxnSpPr>
          <p:nvPr/>
        </p:nvCxnSpPr>
        <p:spPr>
          <a:xfrm>
            <a:off x="2791569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/>
          <p:cNvSpPr/>
          <p:nvPr/>
        </p:nvSpPr>
        <p:spPr>
          <a:xfrm>
            <a:off x="3906502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프레임워크</a:t>
            </a:r>
          </a:p>
        </p:txBody>
      </p:sp>
      <p:cxnSp>
        <p:nvCxnSpPr>
          <p:cNvPr id="66" name="직선 연결선 65"/>
          <p:cNvCxnSpPr>
            <a:stCxn id="65" idx="2"/>
          </p:cNvCxnSpPr>
          <p:nvPr/>
        </p:nvCxnSpPr>
        <p:spPr>
          <a:xfrm>
            <a:off x="4554320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7041232" y="1424348"/>
          <a:ext cx="2483768" cy="4920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3634678504"/>
                    </a:ext>
                  </a:extLst>
                </a:gridCol>
              </a:tblGrid>
              <a:tr h="359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1372"/>
                  </a:ext>
                </a:extLst>
              </a:tr>
              <a:tr h="4561701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/>
                        <a:t>채널 표준 전문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&gt; </a:t>
                      </a:r>
                      <a:r>
                        <a:rPr lang="ko-KR" altLang="en-US" sz="1000" baseline="0" dirty="0"/>
                        <a:t>채널 개별 헤더 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/>
                        <a:t>        &gt; </a:t>
                      </a:r>
                      <a:r>
                        <a:rPr lang="ko-KR" altLang="en-US" sz="1000" baseline="0" dirty="0"/>
                        <a:t>단말 채널 개별 헤더 </a:t>
                      </a:r>
                      <a:r>
                        <a:rPr lang="en-US" altLang="ko-KR" sz="1000" baseline="0" dirty="0"/>
                        <a:t>(TER)</a:t>
                      </a:r>
                      <a:br>
                        <a:rPr lang="en-US" altLang="ko-KR" sz="1000" baseline="0" dirty="0"/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MCI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매핑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내부표준전문 </a:t>
                      </a:r>
                      <a:br>
                        <a:rPr lang="en-US" altLang="ko-KR" sz="1000" baseline="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&gt;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공통부</a:t>
                      </a: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aseline="0" dirty="0"/>
                    </a:p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endParaRPr lang="en-US" altLang="ko-KR" sz="1000" baseline="0" dirty="0"/>
                    </a:p>
                  </a:txBody>
                  <a:tcPr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060335"/>
                  </a:ext>
                </a:extLst>
              </a:tr>
            </a:tbl>
          </a:graphicData>
        </a:graphic>
      </p:graphicFrame>
      <p:sp>
        <p:nvSpPr>
          <p:cNvPr id="68" name="타원 67"/>
          <p:cNvSpPr/>
          <p:nvPr/>
        </p:nvSpPr>
        <p:spPr>
          <a:xfrm>
            <a:off x="971666" y="184521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732726" y="1844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0" name="직선 화살표 연결선 69"/>
          <p:cNvCxnSpPr/>
          <p:nvPr/>
        </p:nvCxnSpPr>
        <p:spPr>
          <a:xfrm flipV="1">
            <a:off x="1079666" y="1898824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156009" y="1880828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1.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7130086" y="3039683"/>
          <a:ext cx="2287410" cy="3195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410">
                  <a:extLst>
                    <a:ext uri="{9D8B030D-6E8A-4147-A177-3AD203B41FA5}">
                      <a16:colId xmlns:a16="http://schemas.microsoft.com/office/drawing/2014/main" val="384413983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57216024"/>
                    </a:ext>
                  </a:extLst>
                </a:gridCol>
              </a:tblGrid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원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대상 거래 </a:t>
                      </a:r>
                      <a:r>
                        <a:rPr lang="en-US" altLang="ko-KR" sz="1000" dirty="0"/>
                        <a:t>GUID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96448"/>
                  </a:ext>
                </a:extLst>
              </a:tr>
              <a:tr h="8232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7=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취소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</a:t>
                      </a:r>
                      <a:br>
                        <a:rPr lang="en-US" altLang="ko-KR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9=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70692"/>
                  </a:ext>
                </a:extLst>
              </a:tr>
              <a:tr h="15594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유형 구분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0=</a:t>
                      </a:r>
                      <a:r>
                        <a:rPr lang="ko-KR" altLang="en-US" sz="1000" dirty="0"/>
                        <a:t>정상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1=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단말 거래 복원 취소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=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거래내역조회취소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/>
                        <a:t>3=</a:t>
                      </a:r>
                      <a:r>
                        <a:rPr lang="ko-KR" altLang="en-US" sz="1000" dirty="0"/>
                        <a:t>에러 응답 수신으로 인한 자동취소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4=Timer</a:t>
                      </a:r>
                      <a:r>
                        <a:rPr lang="ko-KR" altLang="en-US" sz="1000" dirty="0"/>
                        <a:t>에 의한 자동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5=</a:t>
                      </a:r>
                      <a:r>
                        <a:rPr lang="ko-KR" altLang="en-US" sz="1000" dirty="0" err="1"/>
                        <a:t>센터컷</a:t>
                      </a:r>
                      <a:r>
                        <a:rPr lang="ko-KR" altLang="en-US" sz="1000" dirty="0"/>
                        <a:t> 취소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6=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거래내역조회취소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5778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코드를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1411"/>
                  </a:ext>
                </a:extLst>
              </a:tr>
              <a:tr h="271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취소 사유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정정 사유 내용을 기록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559926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4893184" y="5301728"/>
            <a:ext cx="1212113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12. </a:t>
            </a:r>
            <a:r>
              <a:rPr lang="ko-KR" altLang="en-US" sz="1100" dirty="0">
                <a:cs typeface="Arial" pitchFamily="34" charset="0"/>
              </a:rPr>
              <a:t>취소 거래 호출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669253" y="1421322"/>
            <a:ext cx="1295636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400" dirty="0">
                <a:solidFill>
                  <a:schemeClr val="accent6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어플리케이션</a:t>
            </a:r>
          </a:p>
        </p:txBody>
      </p:sp>
      <p:cxnSp>
        <p:nvCxnSpPr>
          <p:cNvPr id="75" name="직선 연결선 74"/>
          <p:cNvCxnSpPr>
            <a:stCxn id="74" idx="2"/>
          </p:cNvCxnSpPr>
          <p:nvPr/>
        </p:nvCxnSpPr>
        <p:spPr>
          <a:xfrm>
            <a:off x="6317071" y="1781322"/>
            <a:ext cx="0" cy="4563916"/>
          </a:xfrm>
          <a:prstGeom prst="line">
            <a:avLst/>
          </a:prstGeom>
          <a:ln w="28575" cap="flat">
            <a:solidFill>
              <a:schemeClr val="bg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4498918" y="526520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6260486" y="526520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8" name="직선 화살표 연결선 77"/>
          <p:cNvCxnSpPr>
            <a:stCxn id="76" idx="6"/>
            <a:endCxn id="77" idx="2"/>
          </p:cNvCxnSpPr>
          <p:nvPr/>
        </p:nvCxnSpPr>
        <p:spPr>
          <a:xfrm>
            <a:off x="4606918" y="5319204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893184" y="5568180"/>
            <a:ext cx="1259798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13.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</a:p>
        </p:txBody>
      </p:sp>
      <p:sp>
        <p:nvSpPr>
          <p:cNvPr id="80" name="타원 79"/>
          <p:cNvSpPr/>
          <p:nvPr/>
        </p:nvSpPr>
        <p:spPr>
          <a:xfrm>
            <a:off x="4498918" y="553979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6260486" y="553979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2" name="직선 화살표 연결선 81"/>
          <p:cNvCxnSpPr>
            <a:stCxn id="80" idx="6"/>
            <a:endCxn id="81" idx="2"/>
          </p:cNvCxnSpPr>
          <p:nvPr/>
        </p:nvCxnSpPr>
        <p:spPr>
          <a:xfrm>
            <a:off x="4606918" y="5593796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126992" y="5801411"/>
            <a:ext cx="1219350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14.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732726" y="577824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4494294" y="5778245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6" name="직선 화살표 연결선 85"/>
          <p:cNvCxnSpPr>
            <a:stCxn id="84" idx="6"/>
            <a:endCxn id="85" idx="2"/>
          </p:cNvCxnSpPr>
          <p:nvPr/>
        </p:nvCxnSpPr>
        <p:spPr>
          <a:xfrm>
            <a:off x="2840726" y="5832245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365932" y="6017435"/>
            <a:ext cx="1210804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15. </a:t>
            </a:r>
            <a:r>
              <a:rPr lang="ko-KR" altLang="en-US" sz="1100" dirty="0">
                <a:cs typeface="Arial" pitchFamily="34" charset="0"/>
              </a:rPr>
              <a:t>취소 거래 결과</a:t>
            </a:r>
            <a:endParaRPr lang="en-US" altLang="ko-KR" sz="1100" dirty="0">
              <a:cs typeface="Arial" pitchFamily="34" charset="0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971666" y="599426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2733234" y="599426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0" name="직선 화살표 연결선 89"/>
          <p:cNvCxnSpPr>
            <a:stCxn id="88" idx="6"/>
            <a:endCxn id="89" idx="2"/>
          </p:cNvCxnSpPr>
          <p:nvPr/>
        </p:nvCxnSpPr>
        <p:spPr>
          <a:xfrm>
            <a:off x="1079666" y="6048269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/>
          <p:cNvSpPr/>
          <p:nvPr/>
        </p:nvSpPr>
        <p:spPr>
          <a:xfrm>
            <a:off x="2741272" y="2007641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4502332" y="200724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 flipV="1">
            <a:off x="2849272" y="2061248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925615" y="2043252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>
                <a:cs typeface="Arial" pitchFamily="34" charset="0"/>
              </a:rPr>
              <a:t>2.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sp>
        <p:nvSpPr>
          <p:cNvPr id="95" name="타원 94"/>
          <p:cNvSpPr/>
          <p:nvPr/>
        </p:nvSpPr>
        <p:spPr>
          <a:xfrm>
            <a:off x="2730694" y="285293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492262" y="2852936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7" name="직선 화살표 연결선 96"/>
          <p:cNvCxnSpPr>
            <a:stCxn id="95" idx="6"/>
            <a:endCxn id="96" idx="2"/>
          </p:cNvCxnSpPr>
          <p:nvPr/>
        </p:nvCxnSpPr>
        <p:spPr>
          <a:xfrm>
            <a:off x="2838694" y="2906936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932748" y="2888940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6.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sp>
        <p:nvSpPr>
          <p:cNvPr id="99" name="타원 98"/>
          <p:cNvSpPr/>
          <p:nvPr/>
        </p:nvSpPr>
        <p:spPr>
          <a:xfrm>
            <a:off x="971104" y="3078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2732672" y="307882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1" name="직선 화살표 연결선 100"/>
          <p:cNvCxnSpPr>
            <a:stCxn id="99" idx="6"/>
            <a:endCxn id="100" idx="2"/>
          </p:cNvCxnSpPr>
          <p:nvPr/>
        </p:nvCxnSpPr>
        <p:spPr>
          <a:xfrm>
            <a:off x="1079104" y="3132824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173158" y="3114828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7.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sp>
        <p:nvSpPr>
          <p:cNvPr id="103" name="타원 102"/>
          <p:cNvSpPr/>
          <p:nvPr/>
        </p:nvSpPr>
        <p:spPr>
          <a:xfrm>
            <a:off x="971666" y="4185477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2732726" y="418732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5" name="직선 화살표 연결선 104"/>
          <p:cNvCxnSpPr/>
          <p:nvPr/>
        </p:nvCxnSpPr>
        <p:spPr>
          <a:xfrm flipV="1">
            <a:off x="1079666" y="4239084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00997" y="4293477"/>
            <a:ext cx="1409923" cy="142458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9.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채널 표준 </a:t>
            </a:r>
            <a:r>
              <a:rPr lang="ko-KR" altLang="en-US" sz="1100">
                <a:cs typeface="Arial" pitchFamily="34" charset="0"/>
              </a:rPr>
              <a:t>전문</a:t>
            </a:r>
            <a:r>
              <a:rPr lang="en-US" altLang="ko-KR" sz="1100">
                <a:cs typeface="Arial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ko-KR" sz="14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ko-KR" sz="1100">
                <a:cs typeface="Arial" pitchFamily="34" charset="0"/>
              </a:rPr>
              <a:t>※</a:t>
            </a:r>
            <a:r>
              <a:rPr lang="en-US" altLang="ko-KR" sz="1100">
                <a:cs typeface="Arial" pitchFamily="34" charset="0"/>
              </a:rPr>
              <a:t> </a:t>
            </a:r>
            <a:r>
              <a:rPr lang="ko-KR" altLang="en-US" sz="1100">
                <a:cs typeface="Arial" pitchFamily="34" charset="0"/>
              </a:rPr>
              <a:t>취소 정보 설정</a:t>
            </a:r>
            <a:endParaRPr lang="en-US" altLang="ko-KR" sz="11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원거래 </a:t>
            </a:r>
            <a:r>
              <a:rPr lang="en-US" altLang="ko-KR" sz="1000">
                <a:cs typeface="Arial" pitchFamily="34" charset="0"/>
              </a:rPr>
              <a:t>GUID</a:t>
            </a: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유형 구분코드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코드</a:t>
            </a:r>
            <a:endParaRPr lang="en-US" altLang="ko-KR" sz="1000">
              <a:cs typeface="Arial" pitchFamily="34" charset="0"/>
            </a:endParaRPr>
          </a:p>
          <a:p>
            <a:pPr marL="171450" indent="-171450">
              <a:lnSpc>
                <a:spcPct val="90000"/>
              </a:lnSpc>
              <a:buFontTx/>
              <a:buChar char="-"/>
            </a:pPr>
            <a:r>
              <a:rPr lang="ko-KR" altLang="en-US" sz="1000">
                <a:cs typeface="Arial" pitchFamily="34" charset="0"/>
              </a:rPr>
              <a:t>취소 사유 내용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2732726" y="440728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8" name="타원 107"/>
          <p:cNvSpPr/>
          <p:nvPr/>
        </p:nvSpPr>
        <p:spPr>
          <a:xfrm>
            <a:off x="4494294" y="4407289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9" name="직선 화살표 연결선 108"/>
          <p:cNvCxnSpPr>
            <a:stCxn id="107" idx="6"/>
            <a:endCxn id="108" idx="2"/>
          </p:cNvCxnSpPr>
          <p:nvPr/>
        </p:nvCxnSpPr>
        <p:spPr>
          <a:xfrm>
            <a:off x="2840726" y="4461289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162925" y="4507669"/>
            <a:ext cx="1033991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10. </a:t>
            </a:r>
            <a:r>
              <a:rPr lang="ko-KR" altLang="en-US" sz="1100" dirty="0">
                <a:cs typeface="Arial" pitchFamily="34" charset="0"/>
              </a:rPr>
              <a:t>취소 요청</a:t>
            </a:r>
            <a:br>
              <a:rPr lang="en-US" altLang="ko-KR" sz="1100" dirty="0">
                <a:cs typeface="Arial" pitchFamily="34" charset="0"/>
              </a:rPr>
            </a:br>
            <a:r>
              <a:rPr lang="en-US" altLang="ko-KR" sz="1100" dirty="0">
                <a:cs typeface="Arial" pitchFamily="34" charset="0"/>
              </a:rPr>
              <a:t>(* </a:t>
            </a:r>
            <a:r>
              <a:rPr lang="ko-KR" altLang="en-US" sz="1100" dirty="0">
                <a:cs typeface="Arial" pitchFamily="34" charset="0"/>
              </a:rPr>
              <a:t>내부 표준 전문</a:t>
            </a:r>
            <a:r>
              <a:rPr lang="en-US" altLang="ko-KR" sz="1100" dirty="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cxnSp>
        <p:nvCxnSpPr>
          <p:cNvPr id="111" name="꺾인 연결선 110"/>
          <p:cNvCxnSpPr>
            <a:stCxn id="113" idx="6"/>
            <a:endCxn id="112" idx="6"/>
          </p:cNvCxnSpPr>
          <p:nvPr/>
        </p:nvCxnSpPr>
        <p:spPr>
          <a:xfrm>
            <a:off x="1079666" y="3555008"/>
            <a:ext cx="12700" cy="285936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타원 111"/>
          <p:cNvSpPr/>
          <p:nvPr/>
        </p:nvSpPr>
        <p:spPr>
          <a:xfrm>
            <a:off x="971666" y="378694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971666" y="350100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372318" y="3624016"/>
            <a:ext cx="1360916" cy="21213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8. </a:t>
            </a:r>
            <a:r>
              <a:rPr lang="ko-KR" altLang="en-US" sz="1100" dirty="0">
                <a:cs typeface="Arial" pitchFamily="34" charset="0"/>
              </a:rPr>
              <a:t>취소 대상 </a:t>
            </a:r>
            <a:r>
              <a:rPr lang="ko-KR" altLang="en-US" sz="1100">
                <a:cs typeface="Arial" pitchFamily="34" charset="0"/>
              </a:rPr>
              <a:t>거래 선택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(</a:t>
            </a:r>
            <a:r>
              <a:rPr lang="ko-KR" altLang="en-US" sz="1100">
                <a:cs typeface="Arial" pitchFamily="34" charset="0"/>
              </a:rPr>
              <a:t>전체거래</a:t>
            </a:r>
            <a:r>
              <a:rPr lang="en-US" altLang="ko-KR" sz="1100">
                <a:cs typeface="Arial" pitchFamily="34" charset="0"/>
              </a:rPr>
              <a:t>=</a:t>
            </a:r>
            <a:r>
              <a:rPr lang="ko-KR" altLang="en-US" sz="1100">
                <a:cs typeface="Arial" pitchFamily="34" charset="0"/>
              </a:rPr>
              <a:t>기동</a:t>
            </a:r>
            <a:r>
              <a:rPr lang="en-US" altLang="ko-KR" sz="1100">
                <a:cs typeface="Arial" pitchFamily="34" charset="0"/>
              </a:rPr>
              <a:t>+</a:t>
            </a:r>
            <a:r>
              <a:rPr lang="ko-KR" altLang="en-US" sz="1100">
                <a:cs typeface="Arial" pitchFamily="34" charset="0"/>
              </a:rPr>
              <a:t>수동</a:t>
            </a:r>
            <a:r>
              <a:rPr lang="en-US" altLang="ko-KR" sz="1100">
                <a:cs typeface="Arial" pitchFamily="34" charset="0"/>
              </a:rPr>
              <a:t>)</a:t>
            </a:r>
            <a:endParaRPr lang="ko-KR" altLang="en-US" sz="1100" dirty="0">
              <a:cs typeface="Arial" pitchFamily="34" charset="0"/>
            </a:endParaRPr>
          </a:p>
        </p:txBody>
      </p:sp>
      <p:cxnSp>
        <p:nvCxnSpPr>
          <p:cNvPr id="115" name="꺾인 연결선 114"/>
          <p:cNvCxnSpPr>
            <a:stCxn id="117" idx="6"/>
            <a:endCxn id="116" idx="6"/>
          </p:cNvCxnSpPr>
          <p:nvPr/>
        </p:nvCxnSpPr>
        <p:spPr>
          <a:xfrm>
            <a:off x="6367236" y="2267474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타원 115"/>
          <p:cNvSpPr/>
          <p:nvPr/>
        </p:nvSpPr>
        <p:spPr>
          <a:xfrm>
            <a:off x="6259236" y="264526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259236" y="2213474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8" name="원통 117"/>
          <p:cNvSpPr/>
          <p:nvPr/>
        </p:nvSpPr>
        <p:spPr>
          <a:xfrm>
            <a:off x="6489999" y="2021086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내역</a:t>
            </a:r>
            <a:endParaRPr lang="ko-KR" altLang="en-US" sz="11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475550" y="2574285"/>
            <a:ext cx="767384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4. </a:t>
            </a:r>
            <a:r>
              <a:rPr lang="ko-KR" altLang="en-US" sz="1100">
                <a:cs typeface="Arial" pitchFamily="34" charset="0"/>
              </a:rPr>
              <a:t>거래 내역</a:t>
            </a:r>
            <a:br>
              <a:rPr lang="en-US" altLang="ko-KR" sz="1100">
                <a:cs typeface="Arial" pitchFamily="34" charset="0"/>
              </a:rPr>
            </a:br>
            <a:r>
              <a:rPr lang="ko-KR" altLang="en-US" sz="1100">
                <a:cs typeface="Arial" pitchFamily="34" charset="0"/>
              </a:rPr>
              <a:t>조회</a:t>
            </a:r>
            <a:endParaRPr lang="ko-KR" altLang="en-US" sz="1100" dirty="0">
              <a:cs typeface="Arial" pitchFamily="34" charset="0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500227" y="2212900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1" name="직선 화살표 연결선 120"/>
          <p:cNvCxnSpPr/>
          <p:nvPr/>
        </p:nvCxnSpPr>
        <p:spPr>
          <a:xfrm flipV="1">
            <a:off x="4608227" y="2266507"/>
            <a:ext cx="1653060" cy="393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684570" y="2248511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3. </a:t>
            </a:r>
            <a:r>
              <a:rPr lang="ko-KR" altLang="en-US" sz="1100" dirty="0">
                <a:cs typeface="Arial" pitchFamily="34" charset="0"/>
              </a:rPr>
              <a:t>거래 내역 조회 요청</a:t>
            </a:r>
          </a:p>
        </p:txBody>
      </p:sp>
      <p:sp>
        <p:nvSpPr>
          <p:cNvPr id="123" name="타원 122"/>
          <p:cNvSpPr/>
          <p:nvPr/>
        </p:nvSpPr>
        <p:spPr>
          <a:xfrm>
            <a:off x="4493943" y="2646353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4" name="직선 화살표 연결선 123"/>
          <p:cNvCxnSpPr>
            <a:stCxn id="123" idx="6"/>
          </p:cNvCxnSpPr>
          <p:nvPr/>
        </p:nvCxnSpPr>
        <p:spPr>
          <a:xfrm>
            <a:off x="4601943" y="2700353"/>
            <a:ext cx="1653568" cy="0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695997" y="2682357"/>
            <a:ext cx="1420727" cy="28765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5. </a:t>
            </a:r>
            <a:r>
              <a:rPr lang="ko-KR" altLang="en-US" sz="1100" dirty="0">
                <a:cs typeface="Arial" pitchFamily="34" charset="0"/>
              </a:rPr>
              <a:t>거래 내역 조회 결과</a:t>
            </a:r>
          </a:p>
        </p:txBody>
      </p:sp>
      <p:cxnSp>
        <p:nvCxnSpPr>
          <p:cNvPr id="126" name="꺾인 연결선 125"/>
          <p:cNvCxnSpPr>
            <a:stCxn id="128" idx="6"/>
            <a:endCxn id="127" idx="6"/>
          </p:cNvCxnSpPr>
          <p:nvPr/>
        </p:nvCxnSpPr>
        <p:spPr>
          <a:xfrm>
            <a:off x="4606918" y="4671398"/>
            <a:ext cx="12700" cy="431794"/>
          </a:xfrm>
          <a:prstGeom prst="bentConnector3">
            <a:avLst>
              <a:gd name="adj1" fmla="val 1800000"/>
            </a:avLst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타원 126"/>
          <p:cNvSpPr/>
          <p:nvPr/>
        </p:nvSpPr>
        <p:spPr>
          <a:xfrm>
            <a:off x="4498918" y="5049192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8" name="타원 127"/>
          <p:cNvSpPr/>
          <p:nvPr/>
        </p:nvSpPr>
        <p:spPr>
          <a:xfrm>
            <a:off x="4498918" y="4617398"/>
            <a:ext cx="108000" cy="10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9" name="원통 128"/>
          <p:cNvSpPr/>
          <p:nvPr/>
        </p:nvSpPr>
        <p:spPr>
          <a:xfrm>
            <a:off x="4910796" y="4211958"/>
            <a:ext cx="416418" cy="521465"/>
          </a:xfrm>
          <a:prstGeom prst="can">
            <a:avLst/>
          </a:prstGeom>
          <a:solidFill>
            <a:schemeClr val="accent5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>
                <a:solidFill>
                  <a:schemeClr val="tx1"/>
                </a:solidFill>
                <a:cs typeface="Arial" pitchFamily="34" charset="0"/>
              </a:rPr>
              <a:t>거래</a:t>
            </a:r>
            <a:b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로그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88467" y="4792002"/>
            <a:ext cx="1321100" cy="3291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100">
                <a:cs typeface="Arial" pitchFamily="34" charset="0"/>
              </a:rPr>
              <a:t>11. </a:t>
            </a:r>
            <a:r>
              <a:rPr lang="ko-KR" altLang="en-US" sz="1100">
                <a:cs typeface="Arial" pitchFamily="34" charset="0"/>
              </a:rPr>
              <a:t>거래 로그 조회</a:t>
            </a:r>
            <a:endParaRPr lang="en-US" altLang="ko-KR" sz="110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기동 거래 전</a:t>
            </a:r>
            <a:r>
              <a:rPr lang="ko-KR" altLang="en-US" sz="1100">
                <a:solidFill>
                  <a:srgbClr val="FF0000"/>
                </a:solidFill>
                <a:cs typeface="Arial" pitchFamily="34" charset="0"/>
              </a:rPr>
              <a:t>문 복원</a:t>
            </a:r>
            <a:endParaRPr lang="ko-KR" altLang="en-US" sz="10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31" name="모서리가 둥근 사각형 설명선 130"/>
          <p:cNvSpPr/>
          <p:nvPr/>
        </p:nvSpPr>
        <p:spPr>
          <a:xfrm>
            <a:off x="5235081" y="3732221"/>
            <a:ext cx="773005" cy="389134"/>
          </a:xfrm>
          <a:prstGeom prst="wedgeRoundRectCallout">
            <a:avLst>
              <a:gd name="adj1" fmla="val -56369"/>
              <a:gd name="adj2" fmla="val 87895"/>
              <a:gd name="adj3" fmla="val 16667"/>
            </a:avLst>
          </a:prstGeom>
          <a:solidFill>
            <a:schemeClr val="bg1"/>
          </a:solidFill>
          <a:ln w="6350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취소 정보 포함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1953603" y="402249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3715283" y="4246928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5403557" y="4562812"/>
            <a:ext cx="697608" cy="162586"/>
          </a:xfrm>
          <a:prstGeom prst="roundRect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원거래 </a:t>
            </a:r>
            <a:r>
              <a:rPr lang="en-US" altLang="ko-KR" sz="900">
                <a:solidFill>
                  <a:schemeClr val="bg1"/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  <a:cs typeface="Arial" pitchFamily="34" charset="0"/>
              </a:rPr>
              <a:t>GUID</a:t>
            </a:r>
            <a:endParaRPr lang="ko-KR" altLang="en-US" sz="900" dirty="0">
              <a:solidFill>
                <a:schemeClr val="bg1"/>
              </a:solidFill>
              <a:latin typeface="KB금융 제목체 Bold" panose="020B0803000000000000" pitchFamily="50" charset="-127"/>
              <a:ea typeface="KB금융 제목체 Bold" panose="020B0803000000000000" pitchFamily="50" charset="-127"/>
              <a:cs typeface="Arial" pitchFamily="34" charset="0"/>
            </a:endParaRPr>
          </a:p>
        </p:txBody>
      </p:sp>
      <p:cxnSp>
        <p:nvCxnSpPr>
          <p:cNvPr id="135" name="꺾인 연결선 134"/>
          <p:cNvCxnSpPr>
            <a:stCxn id="134" idx="0"/>
            <a:endCxn id="129" idx="4"/>
          </p:cNvCxnSpPr>
          <p:nvPr/>
        </p:nvCxnSpPr>
        <p:spPr>
          <a:xfrm rot="16200000" flipV="1">
            <a:off x="5494728" y="4305178"/>
            <a:ext cx="90121" cy="425147"/>
          </a:xfrm>
          <a:prstGeom prst="bentConnector2">
            <a:avLst/>
          </a:prstGeom>
          <a:ln w="6350" cap="flat">
            <a:solidFill>
              <a:schemeClr val="accent3">
                <a:lumMod val="75000"/>
              </a:schemeClr>
            </a:solidFill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54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대량 입력 처리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통합단말 화면에서 대량 전문 전송시 </a:t>
            </a:r>
            <a:r>
              <a:rPr lang="en-US" altLang="ko-KR"/>
              <a:t>256 K </a:t>
            </a:r>
            <a:r>
              <a:rPr lang="ko-KR" altLang="en-US"/>
              <a:t>가 넘지 않도록 잘라 여러 번 올리고</a:t>
            </a:r>
            <a:r>
              <a:rPr lang="en-US" altLang="ko-KR"/>
              <a:t>, nKESA </a:t>
            </a:r>
            <a:r>
              <a:rPr lang="ko-KR" altLang="en-US"/>
              <a:t>에서는 전문 전체를 </a:t>
            </a:r>
            <a:r>
              <a:rPr lang="en-US" altLang="ko-KR"/>
              <a:t>merge </a:t>
            </a:r>
            <a:r>
              <a:rPr lang="ko-KR" altLang="en-US"/>
              <a:t>하여 하나의 거래로 실행하여 응답함</a:t>
            </a:r>
            <a:endParaRPr lang="ko-KR" altLang="en-US" dirty="0"/>
          </a:p>
        </p:txBody>
      </p:sp>
      <p:sp>
        <p:nvSpPr>
          <p:cNvPr id="9" name="오른쪽 화살표 8"/>
          <p:cNvSpPr/>
          <p:nvPr/>
        </p:nvSpPr>
        <p:spPr>
          <a:xfrm>
            <a:off x="1748644" y="2132856"/>
            <a:ext cx="3740646" cy="161190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0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11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1796884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372605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대량 전문 입력 처리 </a:t>
              </a:r>
              <a:r>
                <a:rPr lang="ko-KR" altLang="en-US" sz="1400" b="1" kern="0">
                  <a:solidFill>
                    <a:srgbClr val="000000"/>
                  </a:solidFill>
                  <a:cs typeface="Arial" panose="020B0604020202020204" pitchFamily="34" charset="0"/>
                </a:rPr>
                <a:t>흐름 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489290" y="1836888"/>
            <a:ext cx="4169282" cy="21594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업무 시스템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b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</a:br>
            <a:endParaRPr lang="en-US" altLang="ko-KR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576954" y="2218494"/>
            <a:ext cx="2605610" cy="168311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F/W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38806" y="3266007"/>
            <a:ext cx="2484000" cy="591887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" pitchFamily="34" charset="0"/>
              </a:rPr>
              <a:t>변환</a:t>
            </a: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121823"/>
            <a:ext cx="300328" cy="661561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1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121823"/>
            <a:ext cx="4289794" cy="66156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내부 채널에서 대량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입력정보를</a:t>
            </a:r>
            <a:r>
              <a:rPr lang="ko-KR" altLang="en-US" sz="1200" kern="0" dirty="0">
                <a:solidFill>
                  <a:srgbClr val="000000"/>
                </a:solidFill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</a:rPr>
              <a:t>회 메시지 전송 </a:t>
            </a:r>
            <a:r>
              <a:rPr lang="en-US" altLang="ko-KR" sz="1200" kern="0">
                <a:solidFill>
                  <a:srgbClr val="000000"/>
                </a:solidFill>
              </a:rPr>
              <a:t>Size </a:t>
            </a:r>
            <a:r>
              <a:rPr lang="ko-KR" altLang="en-US" sz="1200" kern="0">
                <a:solidFill>
                  <a:srgbClr val="000000"/>
                </a:solidFill>
              </a:rPr>
              <a:t>단위</a:t>
            </a:r>
            <a:r>
              <a:rPr lang="en-US" altLang="ko-KR" sz="1200" kern="0">
                <a:solidFill>
                  <a:srgbClr val="000000"/>
                </a:solidFill>
              </a:rPr>
              <a:t>(</a:t>
            </a:r>
            <a:r>
              <a:rPr lang="ko-KR" altLang="en-US" sz="1200" kern="0">
                <a:solidFill>
                  <a:srgbClr val="000000"/>
                </a:solidFill>
              </a:rPr>
              <a:t>최대 </a:t>
            </a:r>
            <a:r>
              <a:rPr lang="en-US" altLang="ko-KR" sz="1200" kern="0">
                <a:solidFill>
                  <a:srgbClr val="000000"/>
                </a:solidFill>
              </a:rPr>
              <a:t>256KB)</a:t>
            </a:r>
            <a:r>
              <a:rPr lang="ko-KR" altLang="en-US" sz="1200" kern="0">
                <a:solidFill>
                  <a:srgbClr val="000000"/>
                </a:solidFill>
              </a:rPr>
              <a:t>로 </a:t>
            </a:r>
            <a:r>
              <a:rPr lang="ko-KR" altLang="en-US" sz="1200" kern="0" dirty="0">
                <a:solidFill>
                  <a:srgbClr val="000000"/>
                </a:solidFill>
              </a:rPr>
              <a:t>나누어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채널전문</a:t>
            </a:r>
            <a:r>
              <a:rPr lang="en-US" altLang="ko-KR" sz="1200" kern="0" dirty="0">
                <a:solidFill>
                  <a:srgbClr val="000000"/>
                </a:solidFill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</a:rPr>
              <a:t>입력</a:t>
            </a:r>
            <a:r>
              <a:rPr lang="en-US" altLang="ko-KR" sz="1200" kern="0" dirty="0">
                <a:solidFill>
                  <a:srgbClr val="000000"/>
                </a:solidFill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</a:rPr>
              <a:t>을 조립하여 전송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72710" y="1844675"/>
            <a:ext cx="1301080" cy="21603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480916" y="1861942"/>
            <a:ext cx="1968028" cy="2160388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채널통합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267123" y="2638446"/>
            <a:ext cx="463313" cy="396044"/>
            <a:chOff x="3267123" y="2816932"/>
            <a:chExt cx="463313" cy="396044"/>
          </a:xfrm>
        </p:grpSpPr>
        <p:sp>
          <p:nvSpPr>
            <p:cNvPr id="21" name="직사각형 20"/>
            <p:cNvSpPr/>
            <p:nvPr/>
          </p:nvSpPr>
          <p:spPr>
            <a:xfrm>
              <a:off x="3267123" y="2816932"/>
              <a:ext cx="463313" cy="3960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30316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9118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30316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59118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cxnSp>
          <p:nvCxnSpPr>
            <p:cNvPr id="26" name="직선 연결선 25"/>
            <p:cNvCxnSpPr>
              <a:stCxn id="22" idx="3"/>
              <a:endCxn id="25" idx="1"/>
            </p:cNvCxnSpPr>
            <p:nvPr/>
          </p:nvCxnSpPr>
          <p:spPr>
            <a:xfrm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23" idx="1"/>
              <a:endCxn id="24" idx="3"/>
            </p:cNvCxnSpPr>
            <p:nvPr/>
          </p:nvCxnSpPr>
          <p:spPr>
            <a:xfrm flipH="1"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직사각형 27"/>
          <p:cNvSpPr/>
          <p:nvPr/>
        </p:nvSpPr>
        <p:spPr>
          <a:xfrm>
            <a:off x="8604733" y="2691832"/>
            <a:ext cx="975856" cy="29149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온라인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2462" y="2292545"/>
            <a:ext cx="102157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내부채널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85206" y="2292545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채널표준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입력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90462" y="2292544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내부표준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입력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32" name="직선 화살표 연결선 31"/>
          <p:cNvCxnSpPr>
            <a:stCxn id="29" idx="3"/>
            <a:endCxn id="30" idx="1"/>
          </p:cNvCxnSpPr>
          <p:nvPr/>
        </p:nvCxnSpPr>
        <p:spPr>
          <a:xfrm>
            <a:off x="1434037" y="2839541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30" idx="3"/>
            <a:endCxn id="21" idx="1"/>
          </p:cNvCxnSpPr>
          <p:nvPr/>
        </p:nvCxnSpPr>
        <p:spPr>
          <a:xfrm flipV="1">
            <a:off x="2897501" y="2836468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1" idx="3"/>
            <a:endCxn id="31" idx="1"/>
          </p:cNvCxnSpPr>
          <p:nvPr/>
        </p:nvCxnSpPr>
        <p:spPr>
          <a:xfrm>
            <a:off x="3730436" y="283646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1" idx="3"/>
            <a:endCxn id="36" idx="1"/>
          </p:cNvCxnSpPr>
          <p:nvPr/>
        </p:nvCxnSpPr>
        <p:spPr>
          <a:xfrm flipV="1">
            <a:off x="4802757" y="28388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5977252" y="2654561"/>
            <a:ext cx="903554" cy="368550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처리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999463" y="2654561"/>
            <a:ext cx="904119" cy="368550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서비스 처리</a:t>
            </a:r>
          </a:p>
        </p:txBody>
      </p:sp>
      <p:cxnSp>
        <p:nvCxnSpPr>
          <p:cNvPr id="38" name="직선 화살표 연결선 37"/>
          <p:cNvCxnSpPr>
            <a:stCxn id="36" idx="3"/>
            <a:endCxn id="37" idx="1"/>
          </p:cNvCxnSpPr>
          <p:nvPr/>
        </p:nvCxnSpPr>
        <p:spPr>
          <a:xfrm>
            <a:off x="6880806" y="2838836"/>
            <a:ext cx="118657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7" idx="3"/>
            <a:endCxn id="28" idx="1"/>
          </p:cNvCxnSpPr>
          <p:nvPr/>
        </p:nvCxnSpPr>
        <p:spPr>
          <a:xfrm flipV="1">
            <a:off x="7903582" y="2837580"/>
            <a:ext cx="701151" cy="125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5679842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헤더부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55234" y="3465512"/>
            <a:ext cx="812295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CommArea</a:t>
            </a:r>
            <a:endParaRPr lang="ko-KR" altLang="en-US" sz="9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300110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입력개별부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43" name="직선 화살표 연결선 95"/>
          <p:cNvCxnSpPr>
            <a:stCxn id="28" idx="2"/>
            <a:endCxn id="15" idx="3"/>
          </p:cNvCxnSpPr>
          <p:nvPr/>
        </p:nvCxnSpPr>
        <p:spPr>
          <a:xfrm rot="5400000">
            <a:off x="8318422" y="2787712"/>
            <a:ext cx="578624" cy="96985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5"/>
          <p:cNvCxnSpPr>
            <a:stCxn id="36" idx="2"/>
            <a:endCxn id="15" idx="0"/>
          </p:cNvCxnSpPr>
          <p:nvPr/>
        </p:nvCxnSpPr>
        <p:spPr>
          <a:xfrm rot="16200000" flipH="1">
            <a:off x="6533469" y="2918670"/>
            <a:ext cx="242896" cy="45177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93360" y="3330051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참조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81474" y="2348880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요청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16538" y="3095119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 err="1">
                <a:latin typeface="+mn-ea"/>
              </a:rPr>
              <a:t>입력전문</a:t>
            </a:r>
            <a:r>
              <a:rPr lang="ko-KR" altLang="en-US" sz="1000" kern="0" dirty="0">
                <a:latin typeface="+mn-ea"/>
              </a:rPr>
              <a:t> </a:t>
            </a:r>
            <a:r>
              <a:rPr lang="ko-KR" altLang="en-US" sz="1000" kern="0" dirty="0" err="1">
                <a:latin typeface="+mn-ea"/>
              </a:rPr>
              <a:t>파싱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98983" y="2096852"/>
            <a:ext cx="1014457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서비스 </a:t>
            </a:r>
            <a:r>
              <a:rPr lang="en-US" altLang="ko-KR" sz="1000" kern="0" dirty="0">
                <a:latin typeface="+mn-ea"/>
              </a:rPr>
              <a:t>1</a:t>
            </a:r>
            <a:r>
              <a:rPr lang="ko-KR" altLang="en-US" sz="1000" kern="0" dirty="0">
                <a:latin typeface="+mn-ea"/>
              </a:rPr>
              <a:t>회 호출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855157"/>
            <a:ext cx="300328" cy="1562176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2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855157"/>
            <a:ext cx="4289794" cy="156217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채널통합서버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(MCI)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는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변환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채널표준전문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-&gt;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내부표준전문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))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처리하여 업무 시스템으로 전송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채널에서 수신된 입력메시지는 </a:t>
            </a:r>
            <a:r>
              <a:rPr lang="en-US" altLang="ko-KR" sz="1200" kern="0" dirty="0">
                <a:solidFill>
                  <a:srgbClr val="000000"/>
                </a:solidFill>
              </a:rPr>
              <a:t>Buffering </a:t>
            </a:r>
            <a:r>
              <a:rPr lang="ko-KR" altLang="en-US" sz="1200" kern="0" dirty="0">
                <a:solidFill>
                  <a:srgbClr val="000000"/>
                </a:solidFill>
              </a:rPr>
              <a:t>없이 </a:t>
            </a:r>
            <a:r>
              <a:rPr lang="en-US" altLang="ko-KR" sz="1200" kern="0" dirty="0">
                <a:solidFill>
                  <a:srgbClr val="000000"/>
                </a:solidFill>
              </a:rPr>
              <a:t>I/O </a:t>
            </a:r>
            <a:r>
              <a:rPr lang="ko-KR" altLang="en-US" sz="1200" kern="0" dirty="0">
                <a:solidFill>
                  <a:srgbClr val="000000"/>
                </a:solidFill>
              </a:rPr>
              <a:t>변환하여 </a:t>
            </a:r>
            <a:r>
              <a:rPr lang="ko-KR" altLang="en-US" sz="1200" kern="0">
                <a:solidFill>
                  <a:srgbClr val="000000"/>
                </a:solidFill>
              </a:rPr>
              <a:t>업무시스템으로 전송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4121823"/>
            <a:ext cx="300328" cy="1067644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3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5" y="4121824"/>
            <a:ext cx="4289794" cy="106764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프레임워크는 수신된 내부표준전문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공통부의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입력메시지유형구분코드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에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대량메시지</a:t>
            </a:r>
            <a:r>
              <a:rPr lang="en-US" altLang="ko-KR" sz="1200" kern="0" dirty="0">
                <a:solidFill>
                  <a:srgbClr val="000000"/>
                </a:solidFill>
              </a:rPr>
              <a:t> Flag</a:t>
            </a:r>
            <a:r>
              <a:rPr lang="ko-KR" altLang="en-US" sz="1200" kern="0" dirty="0">
                <a:solidFill>
                  <a:srgbClr val="000000"/>
                </a:solidFill>
              </a:rPr>
              <a:t>가 </a:t>
            </a:r>
            <a:r>
              <a:rPr lang="en-US" altLang="ko-KR" sz="1200" kern="0" dirty="0">
                <a:solidFill>
                  <a:srgbClr val="000000"/>
                </a:solidFill>
              </a:rPr>
              <a:t>Set</a:t>
            </a:r>
            <a:r>
              <a:rPr lang="ko-KR" altLang="en-US" sz="1200" kern="0" dirty="0">
                <a:solidFill>
                  <a:srgbClr val="000000"/>
                </a:solidFill>
              </a:rPr>
              <a:t>되어 있는 경우 </a:t>
            </a:r>
            <a:r>
              <a:rPr lang="en-US" altLang="ko-KR" sz="1200" kern="0" dirty="0">
                <a:solidFill>
                  <a:srgbClr val="000000"/>
                </a:solidFill>
              </a:rPr>
              <a:t>“</a:t>
            </a:r>
            <a:r>
              <a:rPr lang="ko-KR" altLang="en-US" sz="1200" kern="0" dirty="0">
                <a:solidFill>
                  <a:srgbClr val="000000"/>
                </a:solidFill>
              </a:rPr>
              <a:t>입력메시지계속여부</a:t>
            </a:r>
            <a:r>
              <a:rPr lang="en-US" altLang="ko-KR" sz="1200" kern="0" dirty="0">
                <a:solidFill>
                  <a:srgbClr val="000000"/>
                </a:solidFill>
              </a:rPr>
              <a:t>“ </a:t>
            </a:r>
            <a:r>
              <a:rPr lang="ko-KR" altLang="en-US" sz="1200" kern="0" dirty="0">
                <a:solidFill>
                  <a:srgbClr val="000000"/>
                </a:solidFill>
              </a:rPr>
              <a:t>항목에 종료 </a:t>
            </a:r>
            <a:r>
              <a:rPr lang="en-US" altLang="ko-KR" sz="1200" kern="0" dirty="0">
                <a:solidFill>
                  <a:srgbClr val="000000"/>
                </a:solidFill>
              </a:rPr>
              <a:t>Flag</a:t>
            </a:r>
            <a:r>
              <a:rPr lang="ko-KR" altLang="en-US" sz="1200" kern="0" dirty="0">
                <a:solidFill>
                  <a:srgbClr val="000000"/>
                </a:solidFill>
              </a:rPr>
              <a:t>일 때까지 대량입력데이터를 별도의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입력메시지</a:t>
            </a:r>
            <a:r>
              <a:rPr lang="ko-KR" altLang="en-US" sz="1200" kern="0" dirty="0">
                <a:solidFill>
                  <a:srgbClr val="000000"/>
                </a:solidFill>
              </a:rPr>
              <a:t> 저장공간</a:t>
            </a:r>
            <a:r>
              <a:rPr lang="en-US" altLang="ko-KR" sz="1200" kern="0" dirty="0">
                <a:solidFill>
                  <a:srgbClr val="000000"/>
                </a:solidFill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</a:rPr>
              <a:t>테이블</a:t>
            </a:r>
            <a:r>
              <a:rPr lang="en-US" altLang="ko-KR" sz="1200" kern="0" dirty="0">
                <a:solidFill>
                  <a:srgbClr val="000000"/>
                </a:solidFill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</a:rPr>
              <a:t>에 계속 저장 처리</a:t>
            </a: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53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5314925"/>
            <a:ext cx="300328" cy="1102407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4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5" y="5314926"/>
            <a:ext cx="4289794" cy="110240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프레임워크는 내부표준전문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입력메시지계속여부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＂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항목에 종료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Flag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인 경우 별도의 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입력메시지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저장공간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테이블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에 저장된 데이터를 하나로 병합하여 온라인 프로그램을 호출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srgbClr val="000000"/>
                </a:solidFill>
              </a:rPr>
              <a:t>거래처래</a:t>
            </a:r>
            <a:r>
              <a:rPr lang="ko-KR" altLang="en-US" sz="1200" kern="0" dirty="0">
                <a:solidFill>
                  <a:srgbClr val="000000"/>
                </a:solidFill>
              </a:rPr>
              <a:t> 결과 </a:t>
            </a:r>
            <a:r>
              <a:rPr lang="en-US" altLang="ko-KR" sz="1200" kern="0" dirty="0">
                <a:solidFill>
                  <a:srgbClr val="000000"/>
                </a:solidFill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</a:rPr>
              <a:t>번의 </a:t>
            </a:r>
            <a:r>
              <a:rPr lang="en-US" altLang="ko-KR" sz="1200" kern="0" dirty="0">
                <a:solidFill>
                  <a:srgbClr val="000000"/>
                </a:solidFill>
              </a:rPr>
              <a:t>Commit </a:t>
            </a:r>
            <a:r>
              <a:rPr lang="ko-KR" altLang="en-US" sz="1200" kern="0" dirty="0">
                <a:solidFill>
                  <a:srgbClr val="000000"/>
                </a:solidFill>
              </a:rPr>
              <a:t>발생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3390779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637100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7725332" y="2105765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64353" y="3160983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I/O Mapping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1434037" y="269476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1434037" y="300634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97501" y="2711274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flipV="1">
            <a:off x="2897501" y="2987129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3730436" y="297638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3730436" y="2711274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V="1">
            <a:off x="4802757" y="2692442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V="1">
            <a:off x="4802757" y="29760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256"/>
          <p:cNvSpPr>
            <a:spLocks noChangeArrowheads="1"/>
          </p:cNvSpPr>
          <p:nvPr/>
        </p:nvSpPr>
        <p:spPr bwMode="auto">
          <a:xfrm>
            <a:off x="5952576" y="2090487"/>
            <a:ext cx="716090" cy="438413"/>
          </a:xfrm>
          <a:prstGeom prst="can">
            <a:avLst>
              <a:gd name="adj" fmla="val 25000"/>
            </a:avLst>
          </a:prstGeom>
          <a:solidFill>
            <a:srgbClr val="FFCA66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입력메시지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저장공간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8" name="직선 화살표 연결선 95"/>
          <p:cNvCxnSpPr/>
          <p:nvPr/>
        </p:nvCxnSpPr>
        <p:spPr>
          <a:xfrm flipV="1">
            <a:off x="6446121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5"/>
          <p:cNvCxnSpPr/>
          <p:nvPr/>
        </p:nvCxnSpPr>
        <p:spPr>
          <a:xfrm flipV="1">
            <a:off x="6310372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95"/>
          <p:cNvCxnSpPr/>
          <p:nvPr/>
        </p:nvCxnSpPr>
        <p:spPr>
          <a:xfrm flipV="1">
            <a:off x="6157746" y="2528900"/>
            <a:ext cx="6813" cy="12566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2862" y="1868627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>
                <a:latin typeface="+mn-ea"/>
              </a:rPr>
              <a:t>F/W </a:t>
            </a:r>
            <a:r>
              <a:rPr lang="ko-KR" altLang="en-US" sz="1000" kern="0" dirty="0">
                <a:latin typeface="+mn-ea"/>
              </a:rPr>
              <a:t>적재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1115142" y="2133414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36424" y="1972512"/>
            <a:ext cx="1304732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err="1">
                <a:ln>
                  <a:noFill/>
                </a:ln>
                <a:effectLst/>
                <a:uLnTx/>
                <a:uFillTx/>
                <a:latin typeface="+mn-ea"/>
              </a:rPr>
              <a:t>입력메시지</a:t>
            </a:r>
            <a:r>
              <a:rPr kumimoji="0" lang="ko-KR" altLang="en-US" sz="10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 </a:t>
            </a:r>
            <a:endParaRPr kumimoji="0" lang="en-US" altLang="ko-KR" sz="1000" i="0" u="none" strike="noStrike" kern="0" cap="none" spc="0" normalizeH="0" noProof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noProof="0">
                <a:latin typeface="+mn-ea"/>
              </a:rPr>
              <a:t>최대전문길이</a:t>
            </a:r>
            <a:r>
              <a:rPr lang="en-US" altLang="ko-KR" sz="1000" kern="0" noProof="0">
                <a:latin typeface="+mn-ea"/>
              </a:rPr>
              <a:t>(256KB)</a:t>
            </a:r>
            <a:r>
              <a:rPr lang="ko-KR" altLang="en-US" sz="1000" kern="0" noProof="0">
                <a:latin typeface="+mn-ea"/>
              </a:rPr>
              <a:t>로 </a:t>
            </a:r>
            <a:r>
              <a:rPr kumimoji="0" lang="ko-KR" altLang="en-US" sz="100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ea"/>
              </a:rPr>
              <a:t>나누어 </a:t>
            </a: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송신</a:t>
            </a:r>
          </a:p>
        </p:txBody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7720" y="2448304"/>
            <a:ext cx="1025038" cy="25155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 dirty="0">
                <a:latin typeface="+mn-ea"/>
              </a:rPr>
              <a:t>1</a:t>
            </a:r>
            <a:r>
              <a:rPr lang="ko-KR" altLang="en-US" sz="1000" kern="0" noProof="0" dirty="0">
                <a:latin typeface="+mn-ea"/>
              </a:rPr>
              <a:t>회 </a:t>
            </a:r>
            <a:r>
              <a:rPr lang="en-US" altLang="ko-KR" sz="1000" kern="0" noProof="0" dirty="0">
                <a:latin typeface="+mn-ea"/>
              </a:rPr>
              <a:t>Commit </a:t>
            </a:r>
            <a:r>
              <a:rPr lang="ko-KR" altLang="en-US" sz="1000" kern="0" noProof="0" dirty="0">
                <a:latin typeface="+mn-ea"/>
              </a:rPr>
              <a:t>발생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60267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거래 패턴 </a:t>
            </a:r>
            <a:r>
              <a:rPr lang="en-US" altLang="ko-KR"/>
              <a:t>: </a:t>
            </a:r>
            <a:r>
              <a:rPr lang="ko-KR" altLang="en-US"/>
              <a:t>대량 출력 처리</a:t>
            </a:r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>
          <a:xfrm flipH="1">
            <a:off x="1572394" y="2054122"/>
            <a:ext cx="3740646" cy="1611907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err="1"/>
              <a:t>내부채널</a:t>
            </a:r>
            <a:r>
              <a:rPr lang="ko-KR" altLang="en-US" dirty="0"/>
              <a:t> 요청 거래를 처리하여 출력 정보가 전송 구간의 메시지 </a:t>
            </a:r>
            <a:r>
              <a:rPr lang="en-US" altLang="ko-KR" dirty="0"/>
              <a:t>Size </a:t>
            </a:r>
            <a:r>
              <a:rPr lang="ko-KR" altLang="en-US" dirty="0"/>
              <a:t>제한으로 인해 </a:t>
            </a:r>
            <a:r>
              <a:rPr lang="en-US" altLang="ko-KR" dirty="0"/>
              <a:t>F/W</a:t>
            </a:r>
            <a:r>
              <a:rPr lang="ko-KR" altLang="en-US" dirty="0"/>
              <a:t>에서 여러 번 나누어 복수의 출력메시지를 처리하는 방식임</a:t>
            </a:r>
          </a:p>
        </p:txBody>
      </p:sp>
      <p:grpSp>
        <p:nvGrpSpPr>
          <p:cNvPr id="10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11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1796884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363104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대량 전문 출력 처리 흐름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489290" y="1836888"/>
            <a:ext cx="4169282" cy="21594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업무 시스템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b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</a:br>
            <a:endParaRPr lang="en-US" altLang="ko-KR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576954" y="2218494"/>
            <a:ext cx="2605610" cy="168311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F/W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38806" y="3266007"/>
            <a:ext cx="2484000" cy="591887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내부표준전문으로 변환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121822"/>
            <a:ext cx="300328" cy="603882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1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121822"/>
            <a:ext cx="4289794" cy="60388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</a:rPr>
              <a:t>온라인 프로그램에서 </a:t>
            </a:r>
            <a:r>
              <a:rPr lang="ko-KR" altLang="en-US" sz="1200" kern="0">
                <a:solidFill>
                  <a:srgbClr val="000000"/>
                </a:solidFill>
              </a:rPr>
              <a:t>채널에 관계 없이 </a:t>
            </a:r>
            <a:r>
              <a:rPr lang="ko-KR" altLang="en-US" sz="1200" kern="0" dirty="0">
                <a:solidFill>
                  <a:srgbClr val="000000"/>
                </a:solidFill>
              </a:rPr>
              <a:t>정의된 출력개별부에 출력해야 할 </a:t>
            </a:r>
            <a:r>
              <a:rPr lang="ko-KR" altLang="en-US" sz="1200" kern="0">
                <a:solidFill>
                  <a:srgbClr val="000000"/>
                </a:solidFill>
              </a:rPr>
              <a:t>정보를 조립 </a:t>
            </a:r>
            <a:r>
              <a:rPr lang="en-US" altLang="ko-KR" sz="1200" kern="0">
                <a:solidFill>
                  <a:srgbClr val="000000"/>
                </a:solidFill>
              </a:rPr>
              <a:t>(</a:t>
            </a:r>
            <a:r>
              <a:rPr lang="ko-KR" altLang="en-US" sz="1200" kern="0">
                <a:solidFill>
                  <a:srgbClr val="000000"/>
                </a:solidFill>
              </a:rPr>
              <a:t>단일 출력메시지 조립과 마찬가지로 대량출력에 대한 의식 없이 조립</a:t>
            </a:r>
            <a:r>
              <a:rPr lang="en-US" altLang="ko-KR" sz="1200" kern="0">
                <a:solidFill>
                  <a:srgbClr val="000000"/>
                </a:solidFill>
              </a:rPr>
              <a:t>)</a:t>
            </a:r>
            <a:endParaRPr lang="en-US" altLang="ko-KR" sz="1100" kern="0" dirty="0">
              <a:solidFill>
                <a:srgbClr val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72710" y="1844675"/>
            <a:ext cx="1301080" cy="21603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480916" y="1861942"/>
            <a:ext cx="1968028" cy="2160388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채널통합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rPr>
              <a:t>Layer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267123" y="2638446"/>
            <a:ext cx="463313" cy="396044"/>
            <a:chOff x="3267123" y="2816932"/>
            <a:chExt cx="463313" cy="396044"/>
          </a:xfrm>
        </p:grpSpPr>
        <p:sp>
          <p:nvSpPr>
            <p:cNvPr id="21" name="직사각형 20"/>
            <p:cNvSpPr/>
            <p:nvPr/>
          </p:nvSpPr>
          <p:spPr>
            <a:xfrm>
              <a:off x="3267123" y="2816932"/>
              <a:ext cx="463313" cy="3960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30316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591184" y="2848173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30316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591184" y="3076834"/>
              <a:ext cx="108000" cy="108000"/>
            </a:xfrm>
            <a:prstGeom prst="rect">
              <a:avLst/>
            </a:prstGeom>
            <a:solidFill>
              <a:schemeClr val="bg1"/>
            </a:solidFill>
            <a:ln w="3175" cap="flat">
              <a:solidFill>
                <a:schemeClr val="accent6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cxnSp>
          <p:nvCxnSpPr>
            <p:cNvPr id="26" name="직선 연결선 25"/>
            <p:cNvCxnSpPr>
              <a:stCxn id="22" idx="3"/>
              <a:endCxn id="25" idx="1"/>
            </p:cNvCxnSpPr>
            <p:nvPr/>
          </p:nvCxnSpPr>
          <p:spPr>
            <a:xfrm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23" idx="1"/>
              <a:endCxn id="24" idx="3"/>
            </p:cNvCxnSpPr>
            <p:nvPr/>
          </p:nvCxnSpPr>
          <p:spPr>
            <a:xfrm flipH="1">
              <a:off x="3411164" y="2902173"/>
              <a:ext cx="180020" cy="228661"/>
            </a:xfrm>
            <a:prstGeom prst="line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직사각형 27"/>
          <p:cNvSpPr/>
          <p:nvPr/>
        </p:nvSpPr>
        <p:spPr>
          <a:xfrm>
            <a:off x="8604733" y="2691832"/>
            <a:ext cx="975856" cy="29149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온라인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2462" y="2292545"/>
            <a:ext cx="102157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>
                <a:solidFill>
                  <a:schemeClr val="tx1"/>
                </a:solidFill>
                <a:latin typeface="+mn-ea"/>
                <a:cs typeface="Arial" pitchFamily="34" charset="0"/>
              </a:rPr>
              <a:t>내부채널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085206" y="2292545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채널표준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출력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90462" y="2292544"/>
            <a:ext cx="812295" cy="109399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내부표준</a:t>
            </a:r>
            <a:endParaRPr lang="en-US" altLang="ko-KR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전문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출력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32" name="직선 화살표 연결선 31"/>
          <p:cNvCxnSpPr>
            <a:stCxn id="29" idx="3"/>
            <a:endCxn id="30" idx="1"/>
          </p:cNvCxnSpPr>
          <p:nvPr/>
        </p:nvCxnSpPr>
        <p:spPr>
          <a:xfrm>
            <a:off x="1434037" y="2839541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30" idx="3"/>
            <a:endCxn id="21" idx="1"/>
          </p:cNvCxnSpPr>
          <p:nvPr/>
        </p:nvCxnSpPr>
        <p:spPr>
          <a:xfrm flipV="1">
            <a:off x="2897501" y="2836468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1" idx="3"/>
            <a:endCxn id="31" idx="1"/>
          </p:cNvCxnSpPr>
          <p:nvPr/>
        </p:nvCxnSpPr>
        <p:spPr>
          <a:xfrm>
            <a:off x="3730436" y="283646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1" idx="3"/>
            <a:endCxn id="36" idx="1"/>
          </p:cNvCxnSpPr>
          <p:nvPr/>
        </p:nvCxnSpPr>
        <p:spPr>
          <a:xfrm flipV="1">
            <a:off x="4802757" y="28388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5977252" y="2671324"/>
            <a:ext cx="913516" cy="335024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처리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063248" y="2671324"/>
            <a:ext cx="914088" cy="335024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Arial" pitchFamily="34" charset="0"/>
              </a:rPr>
              <a:t>서비스 처리</a:t>
            </a:r>
          </a:p>
        </p:txBody>
      </p:sp>
      <p:cxnSp>
        <p:nvCxnSpPr>
          <p:cNvPr id="38" name="직선 화살표 연결선 37"/>
          <p:cNvCxnSpPr>
            <a:stCxn id="37" idx="1"/>
            <a:endCxn id="36" idx="3"/>
          </p:cNvCxnSpPr>
          <p:nvPr/>
        </p:nvCxnSpPr>
        <p:spPr>
          <a:xfrm flipH="1">
            <a:off x="6890768" y="2838836"/>
            <a:ext cx="172480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7" idx="3"/>
            <a:endCxn id="28" idx="1"/>
          </p:cNvCxnSpPr>
          <p:nvPr/>
        </p:nvCxnSpPr>
        <p:spPr>
          <a:xfrm flipV="1">
            <a:off x="7977336" y="2837580"/>
            <a:ext cx="627397" cy="1256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5679842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latin typeface="+mn-ea"/>
                <a:cs typeface="Arial" pitchFamily="34" charset="0"/>
              </a:rPr>
              <a:t>헤더부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455234" y="3465512"/>
            <a:ext cx="812295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CommArea</a:t>
            </a:r>
            <a:endParaRPr lang="ko-KR" altLang="en-US" sz="9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300110" y="3465512"/>
            <a:ext cx="756000" cy="279251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" pitchFamily="34" charset="0"/>
              </a:rPr>
              <a:t>출력개별부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43" name="직선 화살표 연결선 95"/>
          <p:cNvCxnSpPr>
            <a:stCxn id="28" idx="2"/>
            <a:endCxn id="15" idx="3"/>
          </p:cNvCxnSpPr>
          <p:nvPr/>
        </p:nvCxnSpPr>
        <p:spPr>
          <a:xfrm rot="5400000">
            <a:off x="8318422" y="2787712"/>
            <a:ext cx="578624" cy="96985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5"/>
          <p:cNvCxnSpPr>
            <a:stCxn id="15" idx="0"/>
            <a:endCxn id="36" idx="2"/>
          </p:cNvCxnSpPr>
          <p:nvPr/>
        </p:nvCxnSpPr>
        <p:spPr>
          <a:xfrm rot="16200000" flipV="1">
            <a:off x="6527579" y="2912780"/>
            <a:ext cx="259659" cy="44679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93360" y="3330051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조립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81474" y="2270146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응답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2248" y="2645258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dirty="0">
                <a:latin typeface="+mn-ea"/>
              </a:rPr>
              <a:t>서비스 응답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0185" y="4778974"/>
            <a:ext cx="300328" cy="1780003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2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3102" y="4778974"/>
            <a:ext cx="4289794" cy="178237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200" kern="0">
                <a:solidFill>
                  <a:srgbClr val="000000"/>
                </a:solidFill>
              </a:rPr>
              <a:t>어플리케이션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처리 종료 시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프레임워크에서 대량 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출력 메시지를 아래의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흐름에 </a:t>
            </a:r>
            <a:r>
              <a:rPr kumimoji="0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따라 처리</a:t>
            </a:r>
            <a:endParaRPr kumimoji="0" lang="en-US" altLang="ko-KR" sz="120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eaLnBrk="0" fontAlgn="auto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kern="0">
                <a:solidFill>
                  <a:srgbClr val="000000"/>
                </a:solidFill>
              </a:rPr>
              <a:t>MCI</a:t>
            </a:r>
            <a:r>
              <a:rPr lang="ko-KR" altLang="en-US" sz="1100" kern="0">
                <a:solidFill>
                  <a:srgbClr val="000000"/>
                </a:solidFill>
              </a:rPr>
              <a:t>로 출력전문을 전송하기 위해 내부표준전문 조립한다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  <a:br>
              <a:rPr lang="en-US" altLang="ko-KR" sz="1100" kern="0">
                <a:solidFill>
                  <a:srgbClr val="000000"/>
                </a:solidFill>
              </a:rPr>
            </a:br>
            <a:r>
              <a:rPr lang="ko-KR" altLang="en-US" sz="1100" kern="0">
                <a:solidFill>
                  <a:srgbClr val="000000"/>
                </a:solidFill>
              </a:rPr>
              <a:t>헤더부와</a:t>
            </a:r>
            <a:r>
              <a:rPr lang="en-US" altLang="ko-KR" sz="1100" kern="0">
                <a:solidFill>
                  <a:srgbClr val="000000"/>
                </a:solidFill>
              </a:rPr>
              <a:t> </a:t>
            </a:r>
            <a:r>
              <a:rPr lang="ko-KR" altLang="en-US" sz="1100" kern="0">
                <a:solidFill>
                  <a:srgbClr val="000000"/>
                </a:solidFill>
              </a:rPr>
              <a:t>공통부를 조립하고</a:t>
            </a:r>
            <a:r>
              <a:rPr lang="en-US" altLang="ko-KR" sz="1100" kern="0">
                <a:solidFill>
                  <a:srgbClr val="000000"/>
                </a:solidFill>
              </a:rPr>
              <a:t>,</a:t>
            </a:r>
            <a:r>
              <a:rPr lang="ko-KR" altLang="en-US" sz="1100" kern="0">
                <a:solidFill>
                  <a:srgbClr val="000000"/>
                </a:solidFill>
              </a:rPr>
              <a:t> 어플리케이션이 조립한 출력개별부를 내부표준전문 데이터 형식에 맞게 조립한다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</a:rPr>
              <a:t>조립한 </a:t>
            </a: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메시지 길이가 </a:t>
            </a: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256KB</a:t>
            </a:r>
            <a:r>
              <a:rPr lang="ko-KR" altLang="en-US" sz="1100" kern="0">
                <a:solidFill>
                  <a:srgbClr val="000000"/>
                </a:solidFill>
                <a:latin typeface="+mn-ea"/>
              </a:rPr>
              <a:t>를 초과하는 경우</a:t>
            </a:r>
            <a:r>
              <a:rPr lang="en-US" altLang="ko-KR" sz="1100" kern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</a:rPr>
              <a:t>별도 출력메시지 보관 장소에 저장한다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  <a:r>
              <a:rPr lang="ko-KR" altLang="en-US" sz="1100" kern="0">
                <a:solidFill>
                  <a:srgbClr val="000000"/>
                </a:solidFill>
              </a:rPr>
              <a:t>저장 단위는 내부표준전문 전송 단위 이다</a:t>
            </a:r>
            <a:r>
              <a:rPr lang="en-US" altLang="ko-KR" sz="1100" kern="0">
                <a:solidFill>
                  <a:srgbClr val="000000"/>
                </a:solidFill>
              </a:rPr>
              <a:t>. </a:t>
            </a:r>
          </a:p>
          <a:p>
            <a:pPr marL="17145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</a:rPr>
              <a:t>저장 완료 후 출력메시지 저장공간에 저장되어있는 데이터를 </a:t>
            </a:r>
            <a:r>
              <a:rPr lang="en-US" altLang="ko-KR" sz="1100" kern="0">
                <a:solidFill>
                  <a:srgbClr val="000000"/>
                </a:solidFill>
              </a:rPr>
              <a:t>Record </a:t>
            </a:r>
            <a:r>
              <a:rPr lang="ko-KR" altLang="en-US" sz="1100" kern="0">
                <a:solidFill>
                  <a:srgbClr val="000000"/>
                </a:solidFill>
              </a:rPr>
              <a:t> 단위로 </a:t>
            </a:r>
            <a:r>
              <a:rPr lang="en-US" altLang="ko-KR" sz="1100" kern="0">
                <a:solidFill>
                  <a:srgbClr val="000000"/>
                </a:solidFill>
              </a:rPr>
              <a:t>MCI</a:t>
            </a:r>
            <a:r>
              <a:rPr lang="ko-KR" altLang="en-US" sz="1100" kern="0">
                <a:solidFill>
                  <a:srgbClr val="000000"/>
                </a:solidFill>
              </a:rPr>
              <a:t>에 송신 </a:t>
            </a:r>
            <a:endParaRPr lang="en-US" altLang="ko-KR" sz="1100" kern="0" dirty="0">
              <a:solidFill>
                <a:srgbClr val="000000"/>
              </a:solidFill>
            </a:endParaRP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4121822"/>
            <a:ext cx="300328" cy="1042703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3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4" y="4121823"/>
            <a:ext cx="4329007" cy="1042703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lvl="0" eaLnBrk="0" hangingPunct="0">
              <a:spcBef>
                <a:spcPts val="600"/>
              </a:spcBef>
              <a:buSzPct val="100000"/>
              <a:defRPr/>
            </a:pPr>
            <a:r>
              <a:rPr lang="ko-KR" altLang="en-US" sz="1200" kern="0" dirty="0"/>
              <a:t>채널통합서버</a:t>
            </a:r>
            <a:r>
              <a:rPr lang="en-US" altLang="ko-KR" sz="1200" kern="0" dirty="0"/>
              <a:t>(MCI)</a:t>
            </a:r>
            <a:r>
              <a:rPr lang="ko-KR" altLang="en-US" sz="1200" kern="0" dirty="0"/>
              <a:t>는 </a:t>
            </a:r>
            <a:r>
              <a:rPr lang="en-US" altLang="ko-KR" sz="1200" kern="0" dirty="0"/>
              <a:t>I/O </a:t>
            </a:r>
            <a:r>
              <a:rPr lang="ko-KR" altLang="en-US" sz="1200" kern="0" dirty="0"/>
              <a:t>변환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내부표준전문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출력</a:t>
            </a:r>
            <a:r>
              <a:rPr lang="en-US" altLang="ko-KR" sz="1200" kern="0" dirty="0"/>
              <a:t>) -&gt; </a:t>
            </a:r>
            <a:r>
              <a:rPr lang="ko-KR" altLang="en-US" sz="1200" kern="0" dirty="0"/>
              <a:t>채널표준전문</a:t>
            </a:r>
            <a:r>
              <a:rPr lang="en-US" altLang="ko-KR" sz="1200" kern="0" dirty="0"/>
              <a:t>(</a:t>
            </a:r>
            <a:r>
              <a:rPr lang="ko-KR" altLang="en-US" sz="1200" kern="0" dirty="0"/>
              <a:t>출력</a:t>
            </a:r>
            <a:r>
              <a:rPr lang="en-US" altLang="ko-KR" sz="1200" kern="0" dirty="0"/>
              <a:t>)) </a:t>
            </a:r>
            <a:r>
              <a:rPr lang="ko-KR" altLang="en-US" sz="1200" kern="0" dirty="0"/>
              <a:t>처리하여 채널로 전송</a:t>
            </a:r>
            <a:endParaRPr lang="en-US" altLang="ko-KR" sz="1200" kern="0" dirty="0"/>
          </a:p>
          <a:p>
            <a:pPr marL="171450" lvl="0" indent="-171450" eaLnBrk="0" hangingPunct="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kern="0" dirty="0"/>
              <a:t>업무시스템에서 수신된 출력메시지는 </a:t>
            </a:r>
            <a:r>
              <a:rPr lang="en-US" altLang="ko-KR" sz="1100" kern="0" dirty="0"/>
              <a:t>Buffering </a:t>
            </a:r>
            <a:r>
              <a:rPr lang="ko-KR" altLang="en-US" sz="1100" kern="0" dirty="0"/>
              <a:t>없이 </a:t>
            </a:r>
            <a:r>
              <a:rPr lang="en-US" altLang="ko-KR" sz="1100" kern="0" dirty="0"/>
              <a:t>I/O </a:t>
            </a:r>
            <a:r>
              <a:rPr lang="ko-KR" altLang="en-US" sz="1100" kern="0" dirty="0"/>
              <a:t>변환하여 채널로 전송</a:t>
            </a:r>
            <a:endParaRPr lang="en-US" altLang="ko-KR" sz="1100" kern="0" dirty="0"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79F343E4-1EED-4E5A-B8AB-08551D9276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6648" y="5227102"/>
            <a:ext cx="300328" cy="1334245"/>
          </a:xfrm>
          <a:prstGeom prst="rect">
            <a:avLst/>
          </a:prstGeom>
          <a:solidFill>
            <a:schemeClr val="accent5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algn="ctr" eaLnBrk="0" hangingPunct="0">
              <a:spcBef>
                <a:spcPts val="600"/>
              </a:spcBef>
              <a:buSzPct val="100000"/>
            </a:pPr>
            <a:r>
              <a:rPr lang="en-US" altLang="ko-KR" sz="1300" b="1" kern="0" dirty="0">
                <a:solidFill>
                  <a:srgbClr val="000000"/>
                </a:solidFill>
              </a:rPr>
              <a:t>4</a:t>
            </a:r>
            <a:endParaRPr lang="ko-KR" altLang="en-US" sz="1300" b="1" kern="0" dirty="0">
              <a:solidFill>
                <a:srgbClr val="000000"/>
              </a:solidFill>
            </a:endParaRPr>
          </a:p>
        </p:txBody>
      </p:sp>
      <p:sp>
        <p:nvSpPr>
          <p:cNvPr id="5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29564" y="5227104"/>
            <a:ext cx="4329007" cy="133424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내부 채널은 채널표준전문의 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“</a:t>
            </a:r>
            <a:r>
              <a:rPr kumimoji="0" lang="ko-KR" altLang="en-US" sz="1200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</a:rPr>
              <a:t>출력메시지유형구분코드</a:t>
            </a:r>
            <a:r>
              <a:rPr kumimoji="0" lang="en-US" altLang="ko-KR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”</a:t>
            </a:r>
            <a:r>
              <a:rPr lang="ko-KR" altLang="en-US" sz="1200" kern="0" dirty="0"/>
              <a:t>에 </a:t>
            </a:r>
            <a:r>
              <a:rPr lang="en-US" altLang="ko-KR" sz="1200" kern="0" dirty="0"/>
              <a:t>“</a:t>
            </a:r>
            <a:r>
              <a:rPr lang="ko-KR" altLang="en-US" sz="1200" kern="0" dirty="0" err="1"/>
              <a:t>대량출력</a:t>
            </a:r>
            <a:r>
              <a:rPr lang="en-US" altLang="ko-KR" sz="1200" kern="0" dirty="0"/>
              <a:t>” Flag</a:t>
            </a:r>
            <a:r>
              <a:rPr lang="ko-KR" altLang="en-US" sz="1200" kern="0" dirty="0"/>
              <a:t>가 </a:t>
            </a:r>
            <a:r>
              <a:rPr lang="en-US" altLang="ko-KR" sz="1200" kern="0" dirty="0"/>
              <a:t>Set</a:t>
            </a:r>
            <a:r>
              <a:rPr lang="ko-KR" altLang="en-US" sz="1200" kern="0" dirty="0"/>
              <a:t>된 경우 </a:t>
            </a:r>
            <a:r>
              <a:rPr lang="en-US" altLang="ko-KR" sz="1200" kern="0" dirty="0"/>
              <a:t>“</a:t>
            </a:r>
            <a:r>
              <a:rPr lang="ko-KR" altLang="en-US" sz="1200" kern="0" dirty="0"/>
              <a:t>출력계속여부</a:t>
            </a:r>
            <a:r>
              <a:rPr lang="en-US" altLang="ko-KR" sz="1200" kern="0" dirty="0"/>
              <a:t>＂</a:t>
            </a:r>
            <a:r>
              <a:rPr lang="ko-KR" altLang="en-US" sz="1200" kern="0" dirty="0"/>
              <a:t>항목에 종료 </a:t>
            </a:r>
            <a:r>
              <a:rPr lang="en-US" altLang="ko-KR" sz="1200" kern="0" dirty="0"/>
              <a:t>Flag </a:t>
            </a:r>
            <a:r>
              <a:rPr lang="ko-KR" altLang="en-US" sz="1200" kern="0" dirty="0"/>
              <a:t>가 </a:t>
            </a:r>
            <a:r>
              <a:rPr kumimoji="0" lang="ko-KR" altLang="en-US" sz="12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체크될 때까지 나누어 수신된 출력 메시지를 병합 후 응답을 처리</a:t>
            </a:r>
            <a:endParaRPr kumimoji="0" lang="en-US" altLang="ko-KR" sz="1200" i="0" u="none" strike="noStrike" kern="0" cap="none" spc="0" normalizeH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1100572" y="2077940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3390779" y="2100463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6650436" y="3042582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r>
              <a:rPr lang="en-US" altLang="ko-KR" sz="1100" b="1" baseline="3000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baseline="30000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64353" y="3160983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I/O Mapping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1434037" y="269476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1434037" y="3006348"/>
            <a:ext cx="651169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V="1">
            <a:off x="2897501" y="2711274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97501" y="2987129"/>
            <a:ext cx="369622" cy="307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3730436" y="2976388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3730436" y="2711274"/>
            <a:ext cx="260026" cy="307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V="1">
            <a:off x="4802757" y="270929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V="1">
            <a:off x="4802757" y="2976036"/>
            <a:ext cx="1174495" cy="70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256"/>
          <p:cNvSpPr>
            <a:spLocks noChangeArrowheads="1"/>
          </p:cNvSpPr>
          <p:nvPr/>
        </p:nvSpPr>
        <p:spPr bwMode="auto">
          <a:xfrm>
            <a:off x="5952576" y="2090487"/>
            <a:ext cx="716090" cy="438413"/>
          </a:xfrm>
          <a:prstGeom prst="can">
            <a:avLst>
              <a:gd name="adj" fmla="val 25000"/>
            </a:avLst>
          </a:prstGeom>
          <a:solidFill>
            <a:srgbClr val="FFCA66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900" b="0" dirty="0" err="1">
                <a:latin typeface="+mn-ea"/>
                <a:ea typeface="+mn-ea"/>
              </a:rPr>
              <a:t>출력메시지</a:t>
            </a:r>
            <a:endParaRPr lang="en-US" altLang="ko-KR" sz="9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900" b="0" dirty="0">
                <a:latin typeface="+mn-ea"/>
                <a:ea typeface="+mn-ea"/>
              </a:rPr>
              <a:t>저장공간</a:t>
            </a:r>
            <a:endParaRPr lang="en-US" altLang="ko-KR" sz="900" b="0" dirty="0">
              <a:latin typeface="+mn-ea"/>
              <a:ea typeface="+mn-ea"/>
            </a:endParaRPr>
          </a:p>
        </p:txBody>
      </p:sp>
      <p:cxnSp>
        <p:nvCxnSpPr>
          <p:cNvPr id="67" name="직선 화살표 연결선 95"/>
          <p:cNvCxnSpPr>
            <a:endCxn id="36" idx="0"/>
          </p:cNvCxnSpPr>
          <p:nvPr/>
        </p:nvCxnSpPr>
        <p:spPr>
          <a:xfrm flipH="1">
            <a:off x="6434010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1212" y="3065532"/>
            <a:ext cx="1686941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err="1">
                <a:latin typeface="+mn-ea"/>
              </a:rPr>
              <a:t>출력메시지</a:t>
            </a:r>
            <a:r>
              <a:rPr lang="ko-KR" altLang="en-US" sz="1000" kern="0">
                <a:latin typeface="+mn-ea"/>
              </a:rPr>
              <a:t> 분할 저장</a:t>
            </a:r>
            <a:br>
              <a:rPr lang="en-US" altLang="ko-KR" sz="1000" kern="0">
                <a:latin typeface="+mn-ea"/>
              </a:rPr>
            </a:br>
            <a:r>
              <a:rPr lang="en-US" altLang="ko-KR" sz="1000" kern="0">
                <a:latin typeface="+mn-ea"/>
              </a:rPr>
              <a:t>(256 KB </a:t>
            </a:r>
            <a:r>
              <a:rPr lang="ko-KR" altLang="en-US" sz="1000" kern="0">
                <a:latin typeface="+mn-ea"/>
              </a:rPr>
              <a:t>단위</a:t>
            </a:r>
            <a:r>
              <a:rPr lang="en-US" altLang="ko-KR" sz="1000" kern="0">
                <a:latin typeface="+mn-ea"/>
              </a:rPr>
              <a:t>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69" name="직선 화살표 연결선 95"/>
          <p:cNvCxnSpPr/>
          <p:nvPr/>
        </p:nvCxnSpPr>
        <p:spPr>
          <a:xfrm flipH="1">
            <a:off x="6322113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5"/>
          <p:cNvCxnSpPr/>
          <p:nvPr/>
        </p:nvCxnSpPr>
        <p:spPr>
          <a:xfrm flipH="1">
            <a:off x="6204594" y="2519837"/>
            <a:ext cx="1832" cy="15148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62862" y="1868627"/>
            <a:ext cx="90864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noProof="0">
                <a:latin typeface="+mn-ea"/>
              </a:rPr>
              <a:t>F/W </a:t>
            </a:r>
            <a:r>
              <a:rPr lang="ko-KR" altLang="en-US" sz="1000" kern="0" noProof="0">
                <a:latin typeface="+mn-ea"/>
              </a:rPr>
              <a:t>저장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82995" y="2079760"/>
            <a:ext cx="1304732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수신된 메시지 조립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16374" y="1376772"/>
            <a:ext cx="1739106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최대 </a:t>
            </a:r>
            <a:r>
              <a:rPr lang="en-US" altLang="ko-KR" sz="1000" kern="0">
                <a:latin typeface="+mn-ea"/>
              </a:rPr>
              <a:t>256KB </a:t>
            </a:r>
            <a:r>
              <a:rPr lang="ko-KR" altLang="en-US" sz="1000" kern="0">
                <a:latin typeface="+mn-ea"/>
              </a:rPr>
              <a:t>단위로 출력전문 분할 저장 후 </a:t>
            </a:r>
            <a:r>
              <a:rPr lang="en-US" altLang="ko-KR" sz="1000" kern="0">
                <a:latin typeface="+mn-ea"/>
              </a:rPr>
              <a:t>Record </a:t>
            </a:r>
            <a:r>
              <a:rPr lang="ko-KR" altLang="en-US" sz="1000" kern="0">
                <a:latin typeface="+mn-ea"/>
              </a:rPr>
              <a:t>단위 전송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8288228" y="3328608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4916996" y="2513660"/>
            <a:ext cx="216000" cy="179462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altLang="ko-KR" sz="1100" b="1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r>
              <a:rPr lang="en-US" altLang="ko-KR" sz="1100" b="1" baseline="3000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baseline="30000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7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33020" y="2501959"/>
            <a:ext cx="1686941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>
                <a:latin typeface="+mn-ea"/>
              </a:rPr>
              <a:t>저장</a:t>
            </a:r>
            <a:r>
              <a:rPr lang="en-US" altLang="ko-KR" sz="1000" kern="0">
                <a:latin typeface="+mn-ea"/>
              </a:rPr>
              <a:t> </a:t>
            </a:r>
            <a:r>
              <a:rPr lang="ko-KR" altLang="en-US" sz="1000" kern="0">
                <a:latin typeface="+mn-ea"/>
              </a:rPr>
              <a:t>단위별 전송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8454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643069" y="4895560"/>
            <a:ext cx="4894107" cy="21057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기타 </a:t>
            </a:r>
            <a:r>
              <a:rPr lang="en-US" altLang="ko-KR"/>
              <a:t>: </a:t>
            </a:r>
            <a:r>
              <a:rPr lang="ko-KR" altLang="en-US"/>
              <a:t>예외처리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업무 에러 상황 발생시 </a:t>
            </a:r>
            <a:r>
              <a:rPr lang="en-US" altLang="ko-KR"/>
              <a:t>com.kbstar.sqc.base.BusinessException </a:t>
            </a:r>
            <a:r>
              <a:rPr lang="ko-KR" altLang="en-US"/>
              <a:t>객체를 </a:t>
            </a:r>
            <a:r>
              <a:rPr lang="en-US" altLang="ko-KR"/>
              <a:t>throw</a:t>
            </a:r>
            <a:r>
              <a:rPr lang="ko-KR" altLang="en-US"/>
              <a:t>하여 처리한다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86646" y="1360887"/>
            <a:ext cx="9030850" cy="95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altLang="ko-KR" sz="1400">
                <a:latin typeface="+mn-ea"/>
              </a:rPr>
              <a:t>BusinessException(String errorCode, String processCode)</a:t>
            </a:r>
            <a:endParaRPr lang="ko-KR" altLang="ko-KR" sz="1400">
              <a:latin typeface="+mn-ea"/>
            </a:endParaRPr>
          </a:p>
          <a:p>
            <a:pPr lvl="0"/>
            <a:r>
              <a:rPr lang="en-US" altLang="ko-KR" sz="1400">
                <a:latin typeface="+mn-ea"/>
              </a:rPr>
              <a:t>BusinessException(String errorCode, String processCode, Throwable cause) </a:t>
            </a:r>
            <a:endParaRPr lang="ko-KR" altLang="ko-KR" sz="1400">
              <a:latin typeface="+mn-ea"/>
            </a:endParaRPr>
          </a:p>
          <a:p>
            <a:pPr lvl="0"/>
            <a:r>
              <a:rPr lang="en-US" altLang="ko-KR" sz="1400">
                <a:latin typeface="+mn-ea"/>
              </a:rPr>
              <a:t>BusinessException(String errorCode, String processCode, String customMsg)</a:t>
            </a:r>
            <a:endParaRPr lang="ko-KR" altLang="ko-KR" sz="1400">
              <a:latin typeface="+mn-ea"/>
            </a:endParaRPr>
          </a:p>
          <a:p>
            <a:pPr lvl="0"/>
            <a:r>
              <a:rPr lang="en-US" altLang="ko-KR" sz="1400">
                <a:latin typeface="+mn-ea"/>
              </a:rPr>
              <a:t>BusinessException(String errorCode, String processCode, String customMsg, Throwable cause) </a:t>
            </a:r>
            <a:endParaRPr lang="ko-KR" altLang="ko-KR" sz="1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884" y="1088740"/>
            <a:ext cx="2300292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BusinessException </a:t>
            </a:r>
            <a:r>
              <a:rPr lang="ko-KR" altLang="en-US" sz="1400" b="1">
                <a:cs typeface="Arial" pitchFamily="34" charset="0"/>
              </a:rPr>
              <a:t>생성자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7888" y="5343701"/>
            <a:ext cx="9035612" cy="108836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ko-KR" sz="1100">
                <a:latin typeface="+mn-ea"/>
              </a:rPr>
              <a:t>예상한</a:t>
            </a:r>
            <a:r>
              <a:rPr lang="en-US" altLang="ko-KR" sz="1100">
                <a:latin typeface="+mn-ea"/>
              </a:rPr>
              <a:t> BusinessException </a:t>
            </a:r>
            <a:r>
              <a:rPr lang="ko-KR" altLang="ko-KR" sz="1100">
                <a:latin typeface="+mn-ea"/>
              </a:rPr>
              <a:t>예외는 그대로 상위 계층으로 전달</a:t>
            </a:r>
            <a:r>
              <a:rPr lang="ko-KR" altLang="en-US" sz="1100">
                <a:latin typeface="+mn-ea"/>
              </a:rPr>
              <a:t>한다</a:t>
            </a:r>
            <a:r>
              <a:rPr lang="en-US" altLang="ko-KR" sz="110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ko-KR" sz="1100">
                <a:latin typeface="+mn-ea"/>
              </a:rPr>
              <a:t>예상하지 못한</a:t>
            </a:r>
            <a:r>
              <a:rPr lang="en-US" altLang="ko-KR" sz="1100">
                <a:latin typeface="+mn-ea"/>
              </a:rPr>
              <a:t> Exception </a:t>
            </a:r>
            <a:r>
              <a:rPr lang="ko-KR" altLang="ko-KR" sz="1100">
                <a:latin typeface="+mn-ea"/>
              </a:rPr>
              <a:t>예외 발생시</a:t>
            </a:r>
            <a:r>
              <a:rPr lang="en-US" altLang="ko-KR" sz="1100">
                <a:latin typeface="+mn-ea"/>
              </a:rPr>
              <a:t> BusinessException </a:t>
            </a:r>
            <a:r>
              <a:rPr lang="ko-KR" altLang="ko-KR" sz="1100">
                <a:latin typeface="+mn-ea"/>
              </a:rPr>
              <a:t>감싸서 처리합니다</a:t>
            </a:r>
            <a:r>
              <a:rPr lang="en-US" altLang="ko-KR" sz="1100">
                <a:latin typeface="+mn-ea"/>
              </a:rPr>
              <a:t>.</a:t>
            </a:r>
            <a:endParaRPr lang="ko-KR" altLang="ko-KR" sz="1100">
              <a:latin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Exception </a:t>
            </a:r>
            <a:r>
              <a:rPr lang="ko-KR" altLang="ko-KR" sz="1100">
                <a:latin typeface="+mn-ea"/>
              </a:rPr>
              <a:t>을 </a:t>
            </a:r>
            <a:r>
              <a:rPr lang="en-US" altLang="ko-KR" sz="1100" b="1" u="sng">
                <a:latin typeface="+mn-ea"/>
              </a:rPr>
              <a:t>catch </a:t>
            </a:r>
            <a:r>
              <a:rPr lang="ko-KR" altLang="ko-KR" sz="1100" b="1" u="sng">
                <a:latin typeface="+mn-ea"/>
              </a:rPr>
              <a:t>하여</a:t>
            </a:r>
            <a:r>
              <a:rPr lang="ko-KR" altLang="ko-KR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BusinessException </a:t>
            </a:r>
            <a:r>
              <a:rPr lang="ko-KR" altLang="ko-KR" sz="1100">
                <a:latin typeface="+mn-ea"/>
              </a:rPr>
              <a:t>로 감싸는 경우 반드시 </a:t>
            </a:r>
            <a:r>
              <a:rPr lang="ko-KR" altLang="ko-KR" sz="1100" b="1" u="sng">
                <a:latin typeface="+mn-ea"/>
              </a:rPr>
              <a:t>예외 객체를 생성자의</a:t>
            </a:r>
            <a:r>
              <a:rPr lang="en-US" altLang="ko-KR" sz="1100" b="1" u="sng">
                <a:latin typeface="+mn-ea"/>
              </a:rPr>
              <a:t> Parameter </a:t>
            </a:r>
            <a:r>
              <a:rPr lang="ko-KR" altLang="ko-KR" sz="1100" b="1" u="sng">
                <a:latin typeface="+mn-ea"/>
              </a:rPr>
              <a:t>로 전달</a:t>
            </a:r>
            <a:r>
              <a:rPr lang="ko-KR" altLang="en-US" sz="1100" b="1" u="sng">
                <a:latin typeface="+mn-ea"/>
              </a:rPr>
              <a:t>한다</a:t>
            </a:r>
            <a:r>
              <a:rPr lang="en-US" altLang="ko-KR" sz="1100" b="1" u="sng">
                <a:latin typeface="+mn-ea"/>
              </a:rPr>
              <a:t>.</a:t>
            </a:r>
            <a:endParaRPr lang="en-US" altLang="ko-KR" sz="11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  <a:cs typeface="Arial" pitchFamily="34" charset="0"/>
              </a:rPr>
              <a:t>- errorCode, ProcessCode</a:t>
            </a:r>
            <a:r>
              <a:rPr lang="ko-KR" altLang="en-US" sz="1100">
                <a:latin typeface="+mn-ea"/>
                <a:cs typeface="Arial" pitchFamily="34" charset="0"/>
              </a:rPr>
              <a:t>에 대한 내용은 </a:t>
            </a:r>
            <a:r>
              <a:rPr lang="en-US" altLang="ko-KR" sz="1100">
                <a:latin typeface="+mn-ea"/>
                <a:cs typeface="Arial" pitchFamily="34" charset="0"/>
              </a:rPr>
              <a:t>MCI</a:t>
            </a:r>
            <a:r>
              <a:rPr lang="ko-KR" altLang="en-US" sz="1100">
                <a:latin typeface="+mn-ea"/>
                <a:cs typeface="Arial" pitchFamily="34" charset="0"/>
              </a:rPr>
              <a:t>에서 상세 조립이 이루어진다</a:t>
            </a:r>
            <a:r>
              <a:rPr lang="en-US" altLang="ko-KR" sz="1100">
                <a:latin typeface="+mn-ea"/>
                <a:cs typeface="Arial" pitchFamily="34" charset="0"/>
              </a:rPr>
              <a:t>.</a:t>
            </a:r>
            <a:endParaRPr lang="ko-KR" altLang="en-US" sz="1100" dirty="0">
              <a:latin typeface="+mn-ea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2901" y="2666045"/>
            <a:ext cx="9030850" cy="267765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// errorCod(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에러메시지 코드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_</a:t>
            </a:r>
            <a:r>
              <a:rPr lang="ko-KR" altLang="en-US" sz="1200" b="1">
                <a:latin typeface="+mn-ea"/>
                <a:cs typeface="굴림" panose="020B0600000101010101" pitchFamily="50" charset="-127"/>
              </a:rPr>
              <a:t>필수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) 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 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: B3800205 : 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에러 발생 유형 및 원인을 설명하는 기본 메시지</a:t>
            </a:r>
            <a:endParaRPr lang="ko-KR" altLang="en-US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// processCode(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조치메시지 코드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_</a:t>
            </a:r>
            <a:r>
              <a:rPr lang="ko-KR" altLang="en-US" sz="1200" b="1">
                <a:latin typeface="+mn-ea"/>
                <a:cs typeface="굴림" panose="020B0600000101010101" pitchFamily="50" charset="-127"/>
              </a:rPr>
              <a:t>필수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)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 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: UBNE0070 : 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에러 발생 시 업무 조치 내용을 사용자에게 설명하는 메시지 </a:t>
            </a:r>
            <a:endParaRPr lang="ko-KR" altLang="en-US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// customMsg(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사용자출력 맞춤메시지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_</a:t>
            </a:r>
            <a:r>
              <a:rPr lang="ko-KR" altLang="en-US" sz="1200" b="1">
                <a:latin typeface="+mn-ea"/>
                <a:cs typeface="굴림" panose="020B0600000101010101" pitchFamily="50" charset="-127"/>
              </a:rPr>
              <a:t>생략가능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)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 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: 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발생원인을 상세하게 설명하기 위한 입력내용</a:t>
            </a:r>
            <a:endParaRPr lang="en-US" altLang="ko-KR" sz="1200">
              <a:latin typeface="+mn-ea"/>
              <a:cs typeface="굴림" panose="020B0600000101010101" pitchFamily="50" charset="-127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</a:rPr>
              <a:t>// cause(</a:t>
            </a:r>
            <a:r>
              <a:rPr lang="ko-KR" altLang="en-US" sz="1200">
                <a:latin typeface="+mn-ea"/>
              </a:rPr>
              <a:t>최초 에러 원인 객체</a:t>
            </a:r>
            <a:r>
              <a:rPr lang="en-US" altLang="ko-KR" sz="1200">
                <a:latin typeface="+mn-ea"/>
              </a:rPr>
              <a:t>_</a:t>
            </a:r>
            <a:r>
              <a:rPr lang="ko-KR" altLang="en-US" sz="1200" b="1">
                <a:latin typeface="+mn-ea"/>
              </a:rPr>
              <a:t>존재시 필수 권장</a:t>
            </a:r>
            <a:r>
              <a:rPr lang="en-US" altLang="ko-KR" sz="1200">
                <a:latin typeface="+mn-ea"/>
              </a:rPr>
              <a:t>) </a:t>
            </a: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try{</a:t>
            </a:r>
            <a:endParaRPr lang="en-US" altLang="ko-KR" sz="1200">
              <a:latin typeface="+mn-ea"/>
            </a:endParaRPr>
          </a:p>
          <a:p>
            <a:pPr indent="2286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>
              <a:latin typeface="+mn-ea"/>
              <a:cs typeface="굴림" panose="020B0600000101010101" pitchFamily="50" charset="-127"/>
            </a:endParaRPr>
          </a:p>
          <a:p>
            <a:pPr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    </a:t>
            </a:r>
            <a:r>
              <a:rPr lang="en-US" altLang="ko-KR" sz="1200">
                <a:latin typeface="+mn-ea"/>
              </a:rPr>
              <a:t>…</a:t>
            </a:r>
          </a:p>
          <a:p>
            <a:pPr indent="2286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>
              <a:latin typeface="+mn-ea"/>
              <a:cs typeface="굴림" panose="020B0600000101010101" pitchFamily="50" charset="-127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}catch(BusinessException be){</a:t>
            </a:r>
            <a:endParaRPr lang="en-US" altLang="ko-KR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    throw be;</a:t>
            </a:r>
            <a:endParaRPr lang="en-US" altLang="ko-KR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}catch(Exception e){</a:t>
            </a:r>
            <a:endParaRPr lang="en-US" altLang="ko-KR" sz="1200">
              <a:latin typeface="+mn-ea"/>
            </a:endParaRP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  <a:cs typeface="굴림" panose="020B0600000101010101" pitchFamily="50" charset="-127"/>
              </a:rPr>
              <a:t>    throw new BusinessException("B3800205", "UBNE0070", "</a:t>
            </a:r>
            <a:r>
              <a:rPr lang="ko-KR" altLang="en-US" sz="1200">
                <a:latin typeface="+mn-ea"/>
                <a:cs typeface="굴림" panose="020B0600000101010101" pitchFamily="50" charset="-127"/>
              </a:rPr>
              <a:t>사용자출력맞춤메시지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"</a:t>
            </a:r>
            <a:r>
              <a:rPr lang="en-US" altLang="ko-KR" sz="1200" b="1">
                <a:solidFill>
                  <a:srgbClr val="FF0000"/>
                </a:solidFill>
                <a:latin typeface="+mn-ea"/>
                <a:cs typeface="굴림" panose="020B0600000101010101" pitchFamily="50" charset="-127"/>
              </a:rPr>
              <a:t>, e</a:t>
            </a:r>
            <a:r>
              <a:rPr lang="en-US" altLang="ko-KR" sz="1200">
                <a:latin typeface="+mn-ea"/>
                <a:cs typeface="굴림" panose="020B0600000101010101" pitchFamily="50" charset="-127"/>
              </a:rPr>
              <a:t>);</a:t>
            </a:r>
          </a:p>
          <a:p>
            <a:pPr lvl="0" indent="228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+mn-ea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492" y="2420888"/>
            <a:ext cx="2505476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BusinessException </a:t>
            </a:r>
            <a:r>
              <a:rPr lang="ko-KR" altLang="en-US" sz="1400" b="1">
                <a:cs typeface="Arial" pitchFamily="34" charset="0"/>
              </a:rPr>
              <a:t>사용 예시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61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기타 </a:t>
            </a:r>
            <a:r>
              <a:rPr lang="en-US" altLang="ko-KR"/>
              <a:t>: </a:t>
            </a:r>
            <a:r>
              <a:rPr lang="ko-KR" altLang="en-US"/>
              <a:t>예외처리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3571" y="944724"/>
            <a:ext cx="1301172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b="1">
                <a:cs typeface="Arial" pitchFamily="34" charset="0"/>
              </a:rPr>
              <a:t>에러처리 유형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2595" y="3027010"/>
            <a:ext cx="4460965" cy="210402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en-US" sz="1100">
                <a:latin typeface="+mn-ea"/>
              </a:rPr>
              <a:t>멀티에러는 프로그램 계층 구조 중 </a:t>
            </a:r>
            <a:r>
              <a:rPr lang="en-US" altLang="ko-KR" sz="1100" b="1">
                <a:latin typeface="+mn-ea"/>
              </a:rPr>
              <a:t>PM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에서만 사용이 가능하다</a:t>
            </a:r>
            <a:r>
              <a:rPr lang="en-US" altLang="ko-KR" sz="1100">
                <a:latin typeface="+mn-ea"/>
              </a:rPr>
              <a:t>.</a:t>
            </a:r>
            <a:endParaRPr lang="en-US" altLang="ko-KR" sz="1100" dirty="0">
              <a:latin typeface="+mn-ea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  <a:cs typeface="Arial" pitchFamily="34" charset="0"/>
              </a:rPr>
              <a:t>- addBusinessException</a:t>
            </a:r>
            <a:r>
              <a:rPr lang="ko-KR" altLang="en-US" sz="1100">
                <a:latin typeface="+mn-ea"/>
                <a:cs typeface="Arial" pitchFamily="34" charset="0"/>
              </a:rPr>
              <a:t>은 </a:t>
            </a:r>
            <a:r>
              <a:rPr lang="en-US" altLang="ko-KR" sz="1100">
                <a:latin typeface="+mn-ea"/>
                <a:cs typeface="Arial" pitchFamily="34" charset="0"/>
              </a:rPr>
              <a:t>BusinessException</a:t>
            </a:r>
            <a:r>
              <a:rPr lang="ko-KR" altLang="en-US" sz="1100">
                <a:latin typeface="+mn-ea"/>
                <a:cs typeface="Arial" pitchFamily="34" charset="0"/>
              </a:rPr>
              <a:t>와 같이 사용할 수 없다</a:t>
            </a:r>
            <a:r>
              <a:rPr lang="en-US" altLang="ko-KR" sz="1100"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en-US" sz="1100">
                <a:latin typeface="+mn-ea"/>
              </a:rPr>
              <a:t>멀티에러는 </a:t>
            </a:r>
            <a:r>
              <a:rPr lang="ko-KR" altLang="en-US" sz="1100" b="1" u="sng">
                <a:latin typeface="+mn-ea"/>
              </a:rPr>
              <a:t>최대 </a:t>
            </a:r>
            <a:r>
              <a:rPr lang="en-US" altLang="ko-KR" sz="1100" b="1" u="sng">
                <a:latin typeface="+mn-ea"/>
              </a:rPr>
              <a:t>10</a:t>
            </a:r>
            <a:r>
              <a:rPr lang="ko-KR" altLang="en-US" sz="1100" b="1" u="sng">
                <a:latin typeface="+mn-ea"/>
              </a:rPr>
              <a:t>건</a:t>
            </a:r>
            <a:r>
              <a:rPr lang="ko-KR" altLang="en-US" sz="1100">
                <a:latin typeface="+mn-ea"/>
              </a:rPr>
              <a:t>까지만 에러 조건을 처리한다</a:t>
            </a:r>
            <a:r>
              <a:rPr lang="en-US" altLang="ko-KR" sz="1100">
                <a:latin typeface="+mn-ea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en-US" sz="1100" b="1" u="sng">
                <a:latin typeface="+mn-ea"/>
              </a:rPr>
              <a:t>단일에러</a:t>
            </a:r>
            <a:r>
              <a:rPr lang="ko-KR" altLang="en-US" sz="1100">
                <a:latin typeface="+mn-ea"/>
              </a:rPr>
              <a:t>는 </a:t>
            </a:r>
            <a:r>
              <a:rPr lang="en-US" altLang="ko-KR" sz="1100">
                <a:latin typeface="+mn-ea"/>
              </a:rPr>
              <a:t>throw new Exception </a:t>
            </a:r>
            <a:r>
              <a:rPr lang="ko-KR" altLang="ko-KR" sz="1100">
                <a:latin typeface="+mn-ea"/>
              </a:rPr>
              <a:t>시 즉시 구문을 빠져나오</a:t>
            </a:r>
            <a:r>
              <a:rPr lang="ko-KR" altLang="en-US" sz="1100">
                <a:latin typeface="+mn-ea"/>
              </a:rPr>
              <a:t>지만</a:t>
            </a:r>
            <a:endParaRPr lang="ko-KR" altLang="ko-KR" sz="1100">
              <a:latin typeface="+mn-ea"/>
            </a:endParaRPr>
          </a:p>
          <a:p>
            <a:pPr latinLnBrk="1" hangingPunct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</a:t>
            </a:r>
            <a:r>
              <a:rPr lang="ko-KR" altLang="en-US" sz="1100" b="1" u="sng">
                <a:latin typeface="+mn-ea"/>
              </a:rPr>
              <a:t>멀티에러</a:t>
            </a:r>
            <a:r>
              <a:rPr lang="ko-KR" altLang="en-US" sz="1100">
                <a:latin typeface="+mn-ea"/>
              </a:rPr>
              <a:t>는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ko-KR" sz="1100">
                <a:latin typeface="+mn-ea"/>
              </a:rPr>
              <a:t>멀티 예외 처리의 특성 상 즉시 구문을 빠져나오지 않고</a:t>
            </a:r>
            <a:r>
              <a:rPr lang="en-US" altLang="ko-KR" sz="1100">
                <a:latin typeface="+mn-ea"/>
              </a:rPr>
              <a:t>, </a:t>
            </a:r>
          </a:p>
          <a:p>
            <a:pPr latinLnBrk="1" hangingPunct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</a:t>
            </a:r>
            <a:r>
              <a:rPr lang="ko-KR" altLang="ko-KR" sz="1100">
                <a:latin typeface="+mn-ea"/>
              </a:rPr>
              <a:t>전체</a:t>
            </a:r>
            <a:r>
              <a:rPr lang="en-US" altLang="ko-KR" sz="1100">
                <a:latin typeface="+mn-ea"/>
              </a:rPr>
              <a:t> pm </a:t>
            </a:r>
            <a:r>
              <a:rPr lang="ko-KR" altLang="ko-KR" sz="1100">
                <a:latin typeface="+mn-ea"/>
              </a:rPr>
              <a:t>로직이 처리가 모두 이뤄진 후 일괄로 예외 처리를 진행</a:t>
            </a:r>
            <a:r>
              <a:rPr lang="ko-KR" altLang="en-US" sz="1100">
                <a:latin typeface="+mn-ea"/>
              </a:rPr>
              <a:t>한다</a:t>
            </a:r>
            <a:r>
              <a:rPr lang="en-US" altLang="ko-KR" sz="1100">
                <a:latin typeface="+mn-ea"/>
              </a:rPr>
              <a:t>.</a:t>
            </a:r>
          </a:p>
          <a:p>
            <a:pPr latinLnBrk="1" hangingPunct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</a:t>
            </a:r>
            <a:r>
              <a:rPr lang="ko-KR" altLang="ko-KR" sz="1100">
                <a:latin typeface="+mn-ea"/>
              </a:rPr>
              <a:t>예외 처리후 다음 로직을 수행하지 않고 프로그램 </a:t>
            </a:r>
            <a:r>
              <a:rPr lang="ko-KR" altLang="en-US" sz="1100">
                <a:latin typeface="+mn-ea"/>
              </a:rPr>
              <a:t>종료하려면</a:t>
            </a:r>
            <a:endParaRPr lang="en-US" altLang="ko-KR" sz="1100">
              <a:latin typeface="+mn-ea"/>
            </a:endParaRPr>
          </a:p>
          <a:p>
            <a:pPr latinLnBrk="1" hangingPunct="0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"return responseData;" </a:t>
            </a:r>
            <a:r>
              <a:rPr lang="ko-KR" altLang="ko-KR" sz="1100">
                <a:latin typeface="+mn-ea"/>
              </a:rPr>
              <a:t>으로 </a:t>
            </a:r>
            <a:r>
              <a:rPr lang="ko-KR" altLang="en-US" sz="1100">
                <a:latin typeface="+mn-ea"/>
              </a:rPr>
              <a:t>종료</a:t>
            </a:r>
            <a:r>
              <a:rPr lang="ko-KR" altLang="ko-KR" sz="1100">
                <a:latin typeface="+mn-ea"/>
              </a:rPr>
              <a:t> 구문을 작성</a:t>
            </a:r>
            <a:r>
              <a:rPr lang="ko-KR" altLang="en-US" sz="1100">
                <a:latin typeface="+mn-ea"/>
              </a:rPr>
              <a:t>한다</a:t>
            </a:r>
            <a:r>
              <a:rPr lang="en-US" altLang="ko-KR" sz="1100">
                <a:latin typeface="+mn-ea"/>
              </a:rPr>
              <a:t>.</a:t>
            </a:r>
            <a:endParaRPr lang="ko-KR" altLang="ko-KR" sz="110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488" y="3079125"/>
            <a:ext cx="5188107" cy="31624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>
                <a:latin typeface="+mn-ea"/>
              </a:rPr>
              <a:t>try{</a:t>
            </a:r>
          </a:p>
          <a:p>
            <a:r>
              <a:rPr lang="en-US" altLang="ko-KR" sz="1050">
                <a:latin typeface="+mn-ea"/>
              </a:rPr>
              <a:t>       boolean stop = false;</a:t>
            </a:r>
          </a:p>
          <a:p>
            <a:r>
              <a:rPr lang="en-US" altLang="ko-KR" sz="1050">
                <a:latin typeface="+mn-ea"/>
              </a:rPr>
              <a:t>       if("</a:t>
            </a:r>
            <a:r>
              <a:rPr lang="ko-KR" altLang="en-US" sz="1050">
                <a:latin typeface="+mn-ea"/>
              </a:rPr>
              <a:t>조건</a:t>
            </a:r>
            <a:r>
              <a:rPr lang="en-US" altLang="ko-KR" sz="1050">
                <a:latin typeface="+mn-ea"/>
              </a:rPr>
              <a:t>"){</a:t>
            </a:r>
          </a:p>
          <a:p>
            <a:r>
              <a:rPr lang="en-US" altLang="ko-KR" sz="1050">
                <a:latin typeface="+mn-ea"/>
              </a:rPr>
              <a:t>          addBusinessException("B3800205", "UBNE0070", onlineCtx);</a:t>
            </a:r>
          </a:p>
          <a:p>
            <a:r>
              <a:rPr lang="en-US" altLang="ko-KR" sz="1050">
                <a:latin typeface="+mn-ea"/>
              </a:rPr>
              <a:t>       }</a:t>
            </a:r>
          </a:p>
          <a:p>
            <a:r>
              <a:rPr lang="en-US" altLang="ko-KR" sz="1050">
                <a:latin typeface="+mn-ea"/>
              </a:rPr>
              <a:t>       if("</a:t>
            </a:r>
            <a:r>
              <a:rPr lang="ko-KR" altLang="en-US" sz="1050">
                <a:latin typeface="+mn-ea"/>
              </a:rPr>
              <a:t>조건</a:t>
            </a:r>
            <a:r>
              <a:rPr lang="en-US" altLang="ko-KR" sz="1050">
                <a:latin typeface="+mn-ea"/>
              </a:rPr>
              <a:t>"){</a:t>
            </a:r>
          </a:p>
          <a:p>
            <a:r>
              <a:rPr lang="en-US" altLang="ko-KR" sz="1050">
                <a:latin typeface="+mn-ea"/>
              </a:rPr>
              <a:t>          addBusinessException("B3800300", "UBNE0070", onlineCtx); </a:t>
            </a:r>
          </a:p>
          <a:p>
            <a:r>
              <a:rPr lang="en-US" altLang="ko-KR" sz="1050">
                <a:latin typeface="+mn-ea"/>
              </a:rPr>
              <a:t>       }</a:t>
            </a:r>
          </a:p>
          <a:p>
            <a:r>
              <a:rPr lang="en-US" altLang="ko-KR" sz="1050">
                <a:latin typeface="+mn-ea"/>
              </a:rPr>
              <a:t>       if("</a:t>
            </a:r>
            <a:r>
              <a:rPr lang="ko-KR" altLang="en-US" sz="1050">
                <a:latin typeface="+mn-ea"/>
              </a:rPr>
              <a:t>조건</a:t>
            </a:r>
            <a:r>
              <a:rPr lang="en-US" altLang="ko-KR" sz="1050">
                <a:latin typeface="+mn-ea"/>
              </a:rPr>
              <a:t>"){</a:t>
            </a:r>
          </a:p>
          <a:p>
            <a:r>
              <a:rPr lang="en-US" altLang="ko-KR" sz="1050">
                <a:latin typeface="+mn-ea"/>
              </a:rPr>
              <a:t>          addBusinessException("B3800401", "UBNE0070", "</a:t>
            </a:r>
            <a:r>
              <a:rPr lang="ko-KR" altLang="en-US" sz="1050">
                <a:latin typeface="+mn-ea"/>
              </a:rPr>
              <a:t>전문항목필드명</a:t>
            </a:r>
            <a:r>
              <a:rPr lang="en-US" altLang="ko-KR" sz="1050">
                <a:latin typeface="+mn-ea"/>
              </a:rPr>
              <a:t>", onlineCtx);</a:t>
            </a:r>
          </a:p>
          <a:p>
            <a:r>
              <a:rPr lang="en-US" altLang="ko-KR" sz="1050">
                <a:latin typeface="+mn-ea"/>
              </a:rPr>
              <a:t>          stop = true;</a:t>
            </a:r>
          </a:p>
          <a:p>
            <a:r>
              <a:rPr lang="en-US" altLang="ko-KR" sz="1050">
                <a:latin typeface="+mn-ea"/>
              </a:rPr>
              <a:t>       }</a:t>
            </a:r>
          </a:p>
          <a:p>
            <a:r>
              <a:rPr lang="en-US" altLang="ko-KR" sz="1050">
                <a:latin typeface="+mn-ea"/>
              </a:rPr>
              <a:t>       if (stop) { // stop(flag</a:t>
            </a:r>
            <a:r>
              <a:rPr lang="ko-KR" altLang="en-US" sz="1050">
                <a:latin typeface="+mn-ea"/>
              </a:rPr>
              <a:t>변수</a:t>
            </a:r>
            <a:r>
              <a:rPr lang="en-US" altLang="ko-KR" sz="1050">
                <a:latin typeface="+mn-ea"/>
              </a:rPr>
              <a:t>)</a:t>
            </a:r>
            <a:r>
              <a:rPr lang="ko-KR" altLang="en-US" sz="1050">
                <a:latin typeface="+mn-ea"/>
              </a:rPr>
              <a:t>를 이용하여 </a:t>
            </a:r>
            <a:r>
              <a:rPr lang="en-US" altLang="ko-KR" sz="1050">
                <a:latin typeface="+mn-ea"/>
              </a:rPr>
              <a:t>PM </a:t>
            </a:r>
            <a:r>
              <a:rPr lang="ko-KR" altLang="en-US" sz="1050">
                <a:latin typeface="+mn-ea"/>
              </a:rPr>
              <a:t>끝까지 수행할지</a:t>
            </a:r>
            <a:r>
              <a:rPr lang="en-US" altLang="ko-KR" sz="1050">
                <a:latin typeface="+mn-ea"/>
              </a:rPr>
              <a:t>, </a:t>
            </a:r>
            <a:r>
              <a:rPr lang="ko-KR" altLang="en-US" sz="1050">
                <a:latin typeface="+mn-ea"/>
              </a:rPr>
              <a:t>여기서 멈출지 판단함</a:t>
            </a:r>
          </a:p>
          <a:p>
            <a:r>
              <a:rPr lang="ko-KR" altLang="en-US" sz="1050">
                <a:latin typeface="+mn-ea"/>
              </a:rPr>
              <a:t>          </a:t>
            </a:r>
            <a:r>
              <a:rPr lang="en-US" altLang="ko-KR" sz="1050">
                <a:latin typeface="+mn-ea"/>
              </a:rPr>
              <a:t>return responseData;</a:t>
            </a:r>
          </a:p>
          <a:p>
            <a:r>
              <a:rPr lang="en-US" altLang="ko-KR" sz="1050">
                <a:latin typeface="+mn-ea"/>
              </a:rPr>
              <a:t>       }</a:t>
            </a:r>
          </a:p>
          <a:p>
            <a:r>
              <a:rPr lang="en-US" altLang="ko-KR" sz="1050">
                <a:latin typeface="+mn-ea"/>
              </a:rPr>
              <a:t>}catch(Exception e){ </a:t>
            </a:r>
          </a:p>
          <a:p>
            <a:r>
              <a:rPr lang="en-US" altLang="ko-KR" sz="1050">
                <a:latin typeface="+mn-ea"/>
              </a:rPr>
              <a:t>       addBusinessException("B3800205", "UBNE0070", e, onlineCtx);</a:t>
            </a:r>
          </a:p>
          <a:p>
            <a:r>
              <a:rPr lang="en-US" altLang="ko-KR" sz="1050">
                <a:latin typeface="+mn-ea"/>
              </a:rPr>
              <a:t>}</a:t>
            </a:r>
          </a:p>
          <a:p>
            <a:r>
              <a:rPr lang="en-US" altLang="ko-KR" sz="1050">
                <a:latin typeface="+mn-ea"/>
              </a:rPr>
              <a:t>return responseData;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334311"/>
              </p:ext>
            </p:extLst>
          </p:nvPr>
        </p:nvGraphicFramePr>
        <p:xfrm>
          <a:off x="524508" y="1232955"/>
          <a:ext cx="8820980" cy="1192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5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단일에러 </a:t>
                      </a: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(BusinessException)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100" kern="100">
                          <a:effectLst/>
                          <a:latin typeface="+mn-ea"/>
                          <a:ea typeface="+mn-ea"/>
                        </a:rPr>
                        <a:t>프로그램에서 에러가 발생하면 바로거래를 종료하는 일반적인 에러 유형</a:t>
                      </a:r>
                      <a:endParaRPr lang="ko-KR" altLang="ko-KR" sz="11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멀티에러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b="1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addBusinessException)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100" kern="100">
                          <a:effectLst/>
                          <a:latin typeface="+mn-ea"/>
                          <a:ea typeface="+mn-ea"/>
                        </a:rPr>
                        <a:t>창구거래에서 처리되는 에러유형</a:t>
                      </a: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100" kern="100">
                          <a:effectLst/>
                          <a:latin typeface="+mn-ea"/>
                          <a:ea typeface="+mn-ea"/>
                        </a:rPr>
                        <a:t>입력데이터 정당성 체크시 발생</a:t>
                      </a:r>
                    </a:p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100" kern="100">
                          <a:effectLst/>
                          <a:latin typeface="+mn-ea"/>
                          <a:ea typeface="+mn-ea"/>
                        </a:rPr>
                        <a:t>여러 개의 에러 발생 원인을 사용자에게 일괄제공</a:t>
                      </a:r>
                      <a:endParaRPr lang="ko-KR" altLang="ko-KR" sz="11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0492" y="2770410"/>
            <a:ext cx="2803634" cy="2666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solidFill>
                  <a:schemeClr val="dk1"/>
                </a:solidFill>
                <a:latin typeface="+mn-ea"/>
              </a:rPr>
              <a:t>addBusinessException </a:t>
            </a:r>
            <a:r>
              <a:rPr lang="ko-KR" altLang="en-US" sz="1400" b="1">
                <a:solidFill>
                  <a:schemeClr val="dk1"/>
                </a:solidFill>
                <a:latin typeface="+mn-ea"/>
              </a:rPr>
              <a:t>사용 예시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8682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기타 </a:t>
            </a:r>
            <a:r>
              <a:rPr lang="en-US" altLang="ko-KR"/>
              <a:t>: </a:t>
            </a:r>
            <a:r>
              <a:rPr lang="ko-KR" altLang="en-US"/>
              <a:t>데이터 암복호화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583"/>
          </a:xfrm>
        </p:spPr>
        <p:txBody>
          <a:bodyPr/>
          <a:lstStyle/>
          <a:p>
            <a:r>
              <a:rPr lang="ko-KR" altLang="en-US"/>
              <a:t>암호화 요건이 있고 업무팀 자체 구현이 어려운 경우 행내에서 제공하는 </a:t>
            </a:r>
            <a:r>
              <a:rPr lang="en-US" altLang="ko-KR"/>
              <a:t>KMS</a:t>
            </a:r>
            <a:r>
              <a:rPr lang="ko-KR" altLang="en-US"/>
              <a:t>를 사용할 수 있다</a:t>
            </a:r>
            <a:r>
              <a:rPr lang="en-US" altLang="ko-KR"/>
              <a:t>.</a:t>
            </a:r>
          </a:p>
          <a:p>
            <a:r>
              <a:rPr lang="en-US" altLang="ko-KR"/>
              <a:t>KB</a:t>
            </a:r>
            <a:r>
              <a:rPr lang="ko-KR" altLang="en-US"/>
              <a:t> 정보보호부에서 제공하는 암호화 모듈을 </a:t>
            </a:r>
            <a:r>
              <a:rPr lang="en-US" altLang="ko-KR"/>
              <a:t>nKESA </a:t>
            </a:r>
            <a:r>
              <a:rPr lang="ko-KR" altLang="en-US"/>
              <a:t>에서 </a:t>
            </a:r>
            <a:r>
              <a:rPr lang="en-US" altLang="ko-KR"/>
              <a:t>wrappin</a:t>
            </a:r>
            <a:r>
              <a:rPr lang="ko-KR" altLang="en-US"/>
              <a:t>하여 암호화 </a:t>
            </a:r>
            <a:r>
              <a:rPr lang="en-US" altLang="ko-KR"/>
              <a:t>API</a:t>
            </a:r>
            <a:r>
              <a:rPr lang="ko-KR" altLang="en-US"/>
              <a:t>를 제공한다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607519"/>
              </p:ext>
            </p:extLst>
          </p:nvPr>
        </p:nvGraphicFramePr>
        <p:xfrm>
          <a:off x="381884" y="1701004"/>
          <a:ext cx="4751136" cy="2379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메소드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설명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encryptText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(String planText)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 텍스트 암호화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576922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decyptText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(String encryptedText)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 텍스트 복호화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812683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encryptBytes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(byte[]</a:t>
                      </a: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 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plainBytes)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 byte </a:t>
                      </a: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암호화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1963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decyptBytes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 (byte[] encryptedBytes)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 byte </a:t>
                      </a: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복호화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539476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encryptFile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(String plainFile, String encryptedFile)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 파일 암호화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099271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decyptFile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(String encryptedFilePath, String plainFile)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 파일 복호화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65861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encryptTextHash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(int algorithm, String plainText)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개인정보 텍스트 단방향 암호화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444548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encryptTextHmac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(String plainText)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Hmac </a:t>
                      </a: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KB금융 본문체 Light" panose="020B0303000000000000" pitchFamily="50" charset="-127"/>
                          <a:cs typeface="맑은 고딕" panose="020B0503020000020004" pitchFamily="50" charset="-127"/>
                        </a:rPr>
                        <a:t>텍스트 단방향 암호화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3366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884" y="4293096"/>
            <a:ext cx="9109012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개인정보 텍스트 암호화</a:t>
            </a:r>
          </a:p>
          <a:p>
            <a:r>
              <a:rPr lang="en-US" altLang="ko-KR" sz="1200">
                <a:latin typeface="+mn-ea"/>
              </a:rPr>
              <a:t>String encryptText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KBCryptoUtils.</a:t>
            </a:r>
            <a:r>
              <a:rPr lang="en-US" altLang="ko-KR" sz="1200" b="1" i="1">
                <a:solidFill>
                  <a:srgbClr val="0000FF"/>
                </a:solidFill>
                <a:latin typeface="+mn-ea"/>
              </a:rPr>
              <a:t>encryptText</a:t>
            </a:r>
            <a:r>
              <a:rPr lang="en-US" altLang="ko-KR" sz="1200" i="1">
                <a:latin typeface="+mn-ea"/>
              </a:rPr>
              <a:t>(</a:t>
            </a:r>
            <a:r>
              <a:rPr lang="en-US" altLang="ko-KR" sz="1200">
                <a:latin typeface="+mn-ea"/>
              </a:rPr>
              <a:t>"KB </a:t>
            </a:r>
            <a:r>
              <a:rPr lang="ko-KR" altLang="ko-KR" sz="1200">
                <a:latin typeface="+mn-ea"/>
              </a:rPr>
              <a:t>국민은행</a:t>
            </a:r>
            <a:r>
              <a:rPr lang="en-US" altLang="ko-KR" sz="1200">
                <a:latin typeface="+mn-ea"/>
              </a:rPr>
              <a:t>");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개인정보 텍스트 암호화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ko-KR" sz="1200">
                <a:latin typeface="+mn-ea"/>
              </a:rPr>
              <a:t>인코딩 추가</a:t>
            </a:r>
            <a:r>
              <a:rPr lang="en-US" altLang="ko-KR" sz="1200">
                <a:latin typeface="+mn-ea"/>
              </a:rPr>
              <a:t> : EUC-KR, UTF-8 </a:t>
            </a:r>
            <a:r>
              <a:rPr lang="ko-KR" altLang="ko-KR" sz="1200">
                <a:latin typeface="+mn-ea"/>
              </a:rPr>
              <a:t>택</a:t>
            </a:r>
            <a:r>
              <a:rPr lang="en-US" altLang="ko-KR" sz="1200">
                <a:latin typeface="+mn-ea"/>
              </a:rPr>
              <a:t>1, </a:t>
            </a:r>
            <a:r>
              <a:rPr lang="ko-KR" altLang="ko-KR" sz="1200">
                <a:latin typeface="+mn-ea"/>
              </a:rPr>
              <a:t>기본값</a:t>
            </a:r>
            <a:r>
              <a:rPr lang="en-US" altLang="ko-KR" sz="1200">
                <a:latin typeface="+mn-ea"/>
              </a:rPr>
              <a:t>:UTF-8)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String encryptTextWithEncoding = KBCryptoUtils.</a:t>
            </a:r>
            <a:r>
              <a:rPr lang="en-US" altLang="ko-KR" sz="1200" i="1">
                <a:latin typeface="+mn-ea"/>
              </a:rPr>
              <a:t>encryptText</a:t>
            </a:r>
            <a:r>
              <a:rPr lang="en-US" altLang="ko-KR" sz="1200">
                <a:latin typeface="+mn-ea"/>
              </a:rPr>
              <a:t>("KB </a:t>
            </a:r>
            <a:r>
              <a:rPr lang="ko-KR" altLang="ko-KR" sz="1200">
                <a:latin typeface="+mn-ea"/>
              </a:rPr>
              <a:t>국민은행</a:t>
            </a:r>
            <a:r>
              <a:rPr lang="en-US" altLang="ko-KR" sz="1200">
                <a:latin typeface="+mn-ea"/>
              </a:rPr>
              <a:t>", KBCryptoUtils.</a:t>
            </a:r>
            <a:r>
              <a:rPr lang="en-US" altLang="ko-KR" sz="1200" b="1" i="1">
                <a:latin typeface="+mn-ea"/>
              </a:rPr>
              <a:t>ENCODRDING_UTF8</a:t>
            </a:r>
            <a:r>
              <a:rPr lang="en-US" altLang="ko-KR" sz="1200">
                <a:latin typeface="+mn-ea"/>
              </a:rPr>
              <a:t>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    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개인정보 텍스트 복호화</a:t>
            </a:r>
          </a:p>
          <a:p>
            <a:r>
              <a:rPr lang="en-US" altLang="ko-KR" sz="1200">
                <a:latin typeface="+mn-ea"/>
              </a:rPr>
              <a:t>String </a:t>
            </a:r>
            <a:r>
              <a:rPr lang="en-US" altLang="ko-KR" sz="1200" u="sng">
                <a:latin typeface="+mn-ea"/>
              </a:rPr>
              <a:t>decryptText</a:t>
            </a:r>
            <a:r>
              <a:rPr lang="en-US" altLang="ko-KR" sz="1200">
                <a:latin typeface="+mn-ea"/>
              </a:rPr>
              <a:t>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KBCryptoUtils.</a:t>
            </a:r>
            <a:r>
              <a:rPr lang="en-US" altLang="ko-KR" sz="1200" b="1" i="1">
                <a:solidFill>
                  <a:srgbClr val="0000FF"/>
                </a:solidFill>
                <a:latin typeface="+mn-ea"/>
              </a:rPr>
              <a:t>decryptText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(encryptText);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 </a:t>
            </a:r>
            <a:r>
              <a:rPr lang="ko-KR" altLang="ko-KR" sz="1200">
                <a:latin typeface="+mn-ea"/>
              </a:rPr>
              <a:t>개인정보 텍스트 복호화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ko-KR" sz="1200">
                <a:latin typeface="+mn-ea"/>
              </a:rPr>
              <a:t>인코딩 추가</a:t>
            </a:r>
            <a:r>
              <a:rPr lang="en-US" altLang="ko-KR" sz="1200">
                <a:latin typeface="+mn-ea"/>
              </a:rPr>
              <a:t> : EUC-KR, UTF-8 </a:t>
            </a:r>
            <a:r>
              <a:rPr lang="ko-KR" altLang="ko-KR" sz="1200">
                <a:latin typeface="+mn-ea"/>
              </a:rPr>
              <a:t>택</a:t>
            </a:r>
            <a:r>
              <a:rPr lang="en-US" altLang="ko-KR" sz="1200">
                <a:latin typeface="+mn-ea"/>
              </a:rPr>
              <a:t>1, </a:t>
            </a:r>
            <a:r>
              <a:rPr lang="ko-KR" altLang="ko-KR" sz="1200">
                <a:latin typeface="+mn-ea"/>
              </a:rPr>
              <a:t>기본값</a:t>
            </a:r>
            <a:r>
              <a:rPr lang="en-US" altLang="ko-KR" sz="1200">
                <a:latin typeface="+mn-ea"/>
              </a:rPr>
              <a:t>:UTF-8)</a:t>
            </a:r>
            <a:endParaRPr lang="ko-KR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String decryptTextWithEncoding = KBCryptoUtils.</a:t>
            </a:r>
            <a:r>
              <a:rPr lang="en-US" altLang="ko-KR" sz="1200" i="1">
                <a:latin typeface="+mn-ea"/>
              </a:rPr>
              <a:t>decryptText</a:t>
            </a:r>
            <a:r>
              <a:rPr lang="en-US" altLang="ko-KR" sz="1200">
                <a:latin typeface="+mn-ea"/>
              </a:rPr>
              <a:t>(encryptTextWithEncoding, KBCryptoUtils.</a:t>
            </a:r>
            <a:r>
              <a:rPr lang="en-US" altLang="ko-KR" sz="1200" b="1" i="1">
                <a:latin typeface="+mn-ea"/>
              </a:rPr>
              <a:t>ENCODRDING_UTF8</a:t>
            </a:r>
            <a:r>
              <a:rPr lang="en-US" altLang="ko-KR" sz="1200">
                <a:latin typeface="+mn-ea"/>
              </a:rPr>
              <a:t>);</a:t>
            </a:r>
            <a:endParaRPr lang="ko-KR" altLang="ko-KR" sz="12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3571" y="1384291"/>
            <a:ext cx="59104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API</a:t>
            </a:r>
            <a:endParaRPr lang="ko-KR" alt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3403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기타 </a:t>
            </a:r>
            <a:r>
              <a:rPr lang="en-US" altLang="ko-KR"/>
              <a:t>: PropertyUtils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87313"/>
          </a:xfrm>
        </p:spPr>
        <p:txBody>
          <a:bodyPr/>
          <a:lstStyle/>
          <a:p>
            <a:pPr>
              <a:lnSpc>
                <a:spcPts val="1900"/>
              </a:lnSpc>
            </a:pPr>
            <a:r>
              <a:rPr lang="ko-KR" altLang="en-US"/>
              <a:t>업무 프로그램 내에서 프로퍼티 파일을 읽어서 정보를 사용할 수 있는 </a:t>
            </a:r>
            <a:r>
              <a:rPr lang="en-US" altLang="ko-KR"/>
              <a:t>API </a:t>
            </a:r>
            <a:r>
              <a:rPr lang="ko-KR" altLang="en-US"/>
              <a:t>지원한다</a:t>
            </a:r>
            <a:r>
              <a:rPr lang="en-US" altLang="ko-KR"/>
              <a:t>.</a:t>
            </a:r>
          </a:p>
          <a:p>
            <a:pPr>
              <a:lnSpc>
                <a:spcPts val="1900"/>
              </a:lnSpc>
            </a:pPr>
            <a:r>
              <a:rPr lang="ko-KR" altLang="en-US"/>
              <a:t>업무 프로그램이 올라간 서버의 </a:t>
            </a:r>
            <a:r>
              <a:rPr lang="en-US" altLang="ko-KR"/>
              <a:t>/fsconfig/(</a:t>
            </a:r>
            <a:r>
              <a:rPr lang="ko-KR" altLang="en-US"/>
              <a:t>어플리케이션코드 </a:t>
            </a:r>
            <a:r>
              <a:rPr lang="en-US" altLang="ko-KR"/>
              <a:t>3</a:t>
            </a:r>
            <a:r>
              <a:rPr lang="ko-KR" altLang="en-US"/>
              <a:t>자리</a:t>
            </a:r>
            <a:r>
              <a:rPr lang="en-US" altLang="ko-KR"/>
              <a:t>)/ </a:t>
            </a:r>
            <a:r>
              <a:rPr lang="ko-KR" altLang="en-US"/>
              <a:t>하위에 존재하는 프로퍼티 파일을 읽는다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72298"/>
              </p:ext>
            </p:extLst>
          </p:nvPr>
        </p:nvGraphicFramePr>
        <p:xfrm>
          <a:off x="381884" y="1820416"/>
          <a:ext cx="4751136" cy="1724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메소드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설명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</a:t>
                      </a: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getProperty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(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appCode,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fileName,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key,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boolean reloadIfModified)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Key</a:t>
                      </a: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값으로 프로퍼티 조회 </a:t>
                      </a:r>
                      <a:endParaRPr lang="en-US" alt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  <a:p>
                      <a:pPr marL="0" indent="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appCode : </a:t>
                      </a:r>
                      <a:r>
                        <a:rPr lang="ko-KR" altLang="en-US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어플리케이션코드 </a:t>
                      </a: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자리</a:t>
                      </a:r>
                      <a:endParaRPr lang="en-US" altLang="ko-KR" sz="1000" kern="10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Filename : </a:t>
                      </a:r>
                      <a:r>
                        <a:rPr lang="ko-KR" altLang="en-US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프로퍼티 파일명</a:t>
                      </a:r>
                      <a:endParaRPr lang="en-US" altLang="ko-KR" sz="1000" kern="10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key : </a:t>
                      </a:r>
                      <a:r>
                        <a:rPr lang="ko-KR" altLang="en-US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프로퍼티 키값</a:t>
                      </a:r>
                      <a:endParaRPr lang="en-US" altLang="ko-KR" sz="1000" kern="10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reloadIfModified : </a:t>
                      </a:r>
                      <a:r>
                        <a:rPr lang="ko-KR" altLang="en-US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파일 변경 시 재로딩 여부</a:t>
                      </a:r>
                      <a:r>
                        <a:rPr lang="en-US" altLang="ko-KR" sz="1000" kern="10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576922"/>
                  </a:ext>
                </a:extLst>
              </a:tr>
              <a:tr h="25596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Properties </a:t>
                      </a:r>
                      <a:r>
                        <a:rPr lang="en-US" sz="10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getProperties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(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appCode,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String fileName, 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79400"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bolean reloadIfModified)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프로퍼티파일에 기술된 전체 프로퍼티들을 읽는다</a:t>
                      </a: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맑은 고딕" panose="020B0503020000020004" pitchFamily="50" charset="-127"/>
                        </a:rPr>
                        <a:t>.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81268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3571" y="1539903"/>
            <a:ext cx="591041" cy="26692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>
                <a:cs typeface="Arial" pitchFamily="34" charset="0"/>
              </a:rPr>
              <a:t>API</a:t>
            </a:r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0718" y="4177237"/>
            <a:ext cx="8818782" cy="138499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//</a:t>
            </a:r>
            <a:r>
              <a:rPr lang="ko-KR" altLang="en-US" sz="1200">
                <a:latin typeface="+mn-ea"/>
              </a:rPr>
              <a:t>예시</a:t>
            </a:r>
            <a:r>
              <a:rPr lang="en-US" altLang="ko-KR" sz="1200">
                <a:latin typeface="+mn-ea"/>
              </a:rPr>
              <a:t>1</a:t>
            </a:r>
          </a:p>
          <a:p>
            <a:r>
              <a:rPr lang="en-US" altLang="ko-KR" sz="1200">
                <a:latin typeface="+mn-ea"/>
              </a:rPr>
              <a:t>String prop 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PropertyUtils.getProperty</a:t>
            </a:r>
            <a:r>
              <a:rPr lang="en-US" altLang="ko-KR" sz="1200" b="1">
                <a:latin typeface="+mn-ea"/>
              </a:rPr>
              <a:t>(</a:t>
            </a:r>
            <a:r>
              <a:rPr lang="en-US" altLang="ko-KR" sz="1200">
                <a:latin typeface="+mn-ea"/>
              </a:rPr>
              <a:t>"</a:t>
            </a:r>
            <a:r>
              <a:rPr lang="en-US" altLang="ko-KR" sz="1200" b="1">
                <a:latin typeface="+mn-ea"/>
              </a:rPr>
              <a:t>kgn</a:t>
            </a:r>
            <a:r>
              <a:rPr lang="en-US" altLang="ko-KR" sz="1200">
                <a:latin typeface="+mn-ea"/>
              </a:rPr>
              <a:t>", "</a:t>
            </a:r>
            <a:r>
              <a:rPr lang="en-US" altLang="ko-KR" sz="1200" b="1">
                <a:latin typeface="+mn-ea"/>
              </a:rPr>
              <a:t>myconfig.properties</a:t>
            </a:r>
            <a:r>
              <a:rPr lang="en-US" altLang="ko-KR" sz="1200">
                <a:latin typeface="+mn-ea"/>
              </a:rPr>
              <a:t>", “</a:t>
            </a:r>
            <a:r>
              <a:rPr lang="en-US" altLang="ko-KR" sz="1200" b="1">
                <a:latin typeface="+mn-ea"/>
              </a:rPr>
              <a:t>serverInfo</a:t>
            </a:r>
            <a:r>
              <a:rPr lang="en-US" altLang="ko-KR" sz="1200">
                <a:latin typeface="+mn-ea"/>
              </a:rPr>
              <a:t>", true</a:t>
            </a:r>
            <a:r>
              <a:rPr lang="en-US" altLang="ko-KR" sz="1200" b="1">
                <a:latin typeface="+mn-ea"/>
              </a:rPr>
              <a:t>)</a:t>
            </a:r>
            <a:r>
              <a:rPr lang="en-US" altLang="ko-KR" sz="1200">
                <a:latin typeface="+mn-ea"/>
              </a:rPr>
              <a:t>;</a:t>
            </a: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//</a:t>
            </a:r>
            <a:r>
              <a:rPr lang="ko-KR" altLang="en-US" sz="1200">
                <a:latin typeface="+mn-ea"/>
              </a:rPr>
              <a:t>예시</a:t>
            </a:r>
            <a:r>
              <a:rPr lang="en-US" altLang="ko-KR" sz="1200">
                <a:latin typeface="+mn-ea"/>
              </a:rPr>
              <a:t>2</a:t>
            </a:r>
          </a:p>
          <a:p>
            <a:r>
              <a:rPr lang="en-US" altLang="ko-KR" sz="1200">
                <a:latin typeface="+mn-ea"/>
              </a:rPr>
              <a:t>String sysOEvirnDstcd = BaseUtils.getRuntimeMode(); // import nexcore.framework.core.util; </a:t>
            </a:r>
            <a:r>
              <a:rPr lang="ko-KR" altLang="ko-KR" sz="1200">
                <a:latin typeface="+mn-ea"/>
              </a:rPr>
              <a:t>필요</a:t>
            </a:r>
          </a:p>
          <a:p>
            <a:r>
              <a:rPr lang="en-US" altLang="ko-KR" sz="1200">
                <a:latin typeface="+mn-ea"/>
              </a:rPr>
              <a:t>String prop =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PropertyUtils.getProperty</a:t>
            </a:r>
            <a:r>
              <a:rPr lang="en-US" altLang="ko-KR" sz="1200">
                <a:latin typeface="+mn-ea"/>
              </a:rPr>
              <a:t>("kgn", "myconfig@"+ sysOEvirnDstcd + ".properties"," serverInfo”, true);</a:t>
            </a:r>
            <a:endParaRPr lang="ko-KR" altLang="ko-KR" sz="1200">
              <a:latin typeface="+mn-ea"/>
            </a:endParaRPr>
          </a:p>
          <a:p>
            <a:endParaRPr lang="ko-KR" altLang="ko-KR" sz="120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3215" y="3322002"/>
            <a:ext cx="3022137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serverInfo=10.38.123.44</a:t>
            </a:r>
          </a:p>
          <a:p>
            <a:r>
              <a:rPr lang="en-US" altLang="ko-KR" sz="1200">
                <a:latin typeface="+mn-ea"/>
              </a:rPr>
              <a:t>NDM_MAMAPD01=10.180.111.31</a:t>
            </a:r>
          </a:p>
          <a:p>
            <a:r>
              <a:rPr lang="en-US" altLang="ko-KR" sz="1200">
                <a:latin typeface="+mn-ea"/>
              </a:rPr>
              <a:t>SFTP_MFCAPD01=10.38.113.71</a:t>
            </a:r>
          </a:p>
          <a:p>
            <a:endParaRPr lang="ko-KR" altLang="ko-KR" sz="120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3214" y="3068960"/>
            <a:ext cx="3113719" cy="2391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>
                <a:cs typeface="Arial" pitchFamily="34" charset="0"/>
              </a:rPr>
              <a:t>/fsconfig/kgn/myconfig.properties </a:t>
            </a:r>
            <a:r>
              <a:rPr lang="ko-KR" altLang="en-US" sz="1200" b="1">
                <a:cs typeface="Arial" pitchFamily="34" charset="0"/>
              </a:rPr>
              <a:t>파일 예시</a:t>
            </a:r>
            <a:endParaRPr lang="ko-KR" altLang="en-US" sz="12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656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 프로그램 실행 구조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271463" y="1842176"/>
            <a:ext cx="6584878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2794" y="2935702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" name="양쪽 모서리가 둥근 사각형 9"/>
          <p:cNvSpPr/>
          <p:nvPr/>
        </p:nvSpPr>
        <p:spPr>
          <a:xfrm>
            <a:off x="3447681" y="2611666"/>
            <a:ext cx="28349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2668" y="2861999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양쪽 모서리가 둥근 사각형 11"/>
          <p:cNvSpPr/>
          <p:nvPr/>
        </p:nvSpPr>
        <p:spPr>
          <a:xfrm>
            <a:off x="3415175" y="2537963"/>
            <a:ext cx="2834933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6298" y="2791686"/>
            <a:ext cx="2842354" cy="224027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실행 환경은 단일 계층 프로그램으로 독립된 </a:t>
            </a:r>
            <a:r>
              <a:rPr lang="en-US" altLang="ko-KR" dirty="0"/>
              <a:t>JVM </a:t>
            </a:r>
            <a:r>
              <a:rPr lang="ko-KR" altLang="en-US" dirty="0"/>
              <a:t>기반으로 구성하며</a:t>
            </a:r>
            <a:r>
              <a:rPr lang="en-US" altLang="ko-KR" dirty="0"/>
              <a:t>, </a:t>
            </a:r>
            <a:r>
              <a:rPr lang="ko-KR" altLang="en-US" dirty="0"/>
              <a:t>프레임워크 기반의 표준화된 </a:t>
            </a:r>
            <a:r>
              <a:rPr lang="ko-KR" altLang="en-US" dirty="0" err="1"/>
              <a:t>배치잡</a:t>
            </a:r>
            <a:r>
              <a:rPr lang="ko-KR" altLang="en-US" dirty="0"/>
              <a:t> 스크립트</a:t>
            </a:r>
            <a:r>
              <a:rPr lang="en-US" altLang="ko-KR" dirty="0"/>
              <a:t>, </a:t>
            </a:r>
            <a:r>
              <a:rPr lang="ko-KR" altLang="en-US" dirty="0"/>
              <a:t>파일</a:t>
            </a:r>
            <a:r>
              <a:rPr lang="en-US" altLang="ko-KR" dirty="0"/>
              <a:t>, DB </a:t>
            </a:r>
            <a:r>
              <a:rPr lang="ko-KR" altLang="en-US" dirty="0"/>
              <a:t>처리 및 온라인 연계 처리 환경을 제공함</a:t>
            </a:r>
          </a:p>
        </p:txBody>
      </p:sp>
      <p:grpSp>
        <p:nvGrpSpPr>
          <p:cNvPr id="15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36538" y="1421700"/>
            <a:ext cx="6619804" cy="316485"/>
            <a:chOff x="4085431" y="1867183"/>
            <a:chExt cx="658192" cy="316485"/>
          </a:xfrm>
        </p:grpSpPr>
        <p:cxnSp>
          <p:nvCxnSpPr>
            <p:cNvPr id="16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5431" y="1867183"/>
              <a:ext cx="236260" cy="307777"/>
            </a:xfrm>
            <a:prstGeom prst="rect">
              <a:avLst/>
            </a:prstGeom>
            <a:noFill/>
          </p:spPr>
          <p:txBody>
            <a:bodyPr wrap="squar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프레임워크 실행 아키텍처</a:t>
              </a:r>
            </a:p>
          </p:txBody>
        </p:sp>
      </p:grpSp>
      <p:sp>
        <p:nvSpPr>
          <p:cNvPr id="1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3394" y="2456892"/>
            <a:ext cx="612000" cy="12241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상용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배치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스케쥴러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84090" y="2456892"/>
            <a:ext cx="612000" cy="122413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상용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에이전트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32358" y="3732091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0350" y="3660083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91218" y="3581231"/>
            <a:ext cx="670248" cy="595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Job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Shell Script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29238" y="4762429"/>
            <a:ext cx="2700000" cy="210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JVM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29238" y="4464504"/>
            <a:ext cx="2700000" cy="210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lvl="0" algn="ctr" eaLnBrk="0" hangingPunct="0">
              <a:spcBef>
                <a:spcPts val="600"/>
              </a:spcBef>
              <a:buSzPct val="100000"/>
              <a:defRPr/>
            </a:pPr>
            <a:r>
              <a:rPr lang="en-US" altLang="ko-KR" sz="1100" dirty="0"/>
              <a:t>n-KESA</a:t>
            </a: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프레임워크</a:t>
            </a: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8005" y="3763715"/>
            <a:ext cx="756000" cy="23539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DB </a:t>
            </a: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핸들러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0" y="3763715"/>
            <a:ext cx="756000" cy="235394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파일</a:t>
            </a:r>
            <a:r>
              <a:rPr kumimoji="0" lang="en-US" altLang="ko-KR" sz="11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10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핸들러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1759" y="2874451"/>
            <a:ext cx="1687281" cy="7856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배치 프로그램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(Java)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양쪽 모서리가 둥근 사각형 27"/>
          <p:cNvSpPr/>
          <p:nvPr/>
        </p:nvSpPr>
        <p:spPr>
          <a:xfrm>
            <a:off x="3356298" y="2467650"/>
            <a:ext cx="2847820" cy="324036"/>
          </a:xfrm>
          <a:prstGeom prst="round2Same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배치 </a:t>
            </a:r>
            <a:r>
              <a:rPr lang="en-US" altLang="ko-KR" sz="1100" b="1" dirty="0">
                <a:solidFill>
                  <a:schemeClr val="tx1"/>
                </a:solidFill>
                <a:cs typeface="Arial" pitchFamily="34" charset="0"/>
              </a:rPr>
              <a:t>Job </a:t>
            </a:r>
            <a:r>
              <a:rPr lang="ko-KR" altLang="en-US" sz="1100" b="1" dirty="0">
                <a:solidFill>
                  <a:schemeClr val="tx1"/>
                </a:solidFill>
                <a:cs typeface="Arial" pitchFamily="34" charset="0"/>
              </a:rPr>
              <a:t>프로세스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0434" y="4140468"/>
            <a:ext cx="763572" cy="23539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XSQL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140968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FM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31" name="AutoShape 256"/>
          <p:cNvSpPr>
            <a:spLocks noChangeArrowheads="1"/>
          </p:cNvSpPr>
          <p:nvPr/>
        </p:nvSpPr>
        <p:spPr bwMode="auto">
          <a:xfrm>
            <a:off x="2406773" y="4683235"/>
            <a:ext cx="720000" cy="482704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배치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5272" y="4441627"/>
            <a:ext cx="917103" cy="58574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 Unit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(PU, FU)</a:t>
            </a:r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1897089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일반 배치 </a:t>
            </a:r>
            <a:r>
              <a:rPr lang="ko-KR" altLang="en-US" sz="1200" b="1" kern="0" dirty="0">
                <a:solidFill>
                  <a:srgbClr val="000000"/>
                </a:solidFill>
              </a:rPr>
              <a:t>실행</a:t>
            </a:r>
            <a:endParaRPr kumimoji="0" lang="ko-KR" altLang="en-US" sz="1200" b="1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7052014" y="181255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6" name="직선 화살표 연결선 35"/>
          <p:cNvCxnSpPr>
            <a:stCxn id="18" idx="3"/>
            <a:endCxn id="19" idx="1"/>
          </p:cNvCxnSpPr>
          <p:nvPr/>
        </p:nvCxnSpPr>
        <p:spPr>
          <a:xfrm>
            <a:off x="1305394" y="3068961"/>
            <a:ext cx="178696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cxnSpLocks/>
            <a:stCxn id="32" idx="0"/>
            <a:endCxn id="18" idx="2"/>
          </p:cNvCxnSpPr>
          <p:nvPr/>
        </p:nvCxnSpPr>
        <p:spPr>
          <a:xfrm flipH="1" flipV="1">
            <a:off x="999394" y="3681029"/>
            <a:ext cx="4430" cy="760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57"/>
          <p:cNvCxnSpPr>
            <a:stCxn id="19" idx="3"/>
            <a:endCxn id="22" idx="1"/>
          </p:cNvCxnSpPr>
          <p:nvPr/>
        </p:nvCxnSpPr>
        <p:spPr>
          <a:xfrm>
            <a:off x="2096090" y="3068961"/>
            <a:ext cx="295128" cy="80998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2" idx="3"/>
          </p:cNvCxnSpPr>
          <p:nvPr/>
        </p:nvCxnSpPr>
        <p:spPr>
          <a:xfrm>
            <a:off x="3061466" y="3878948"/>
            <a:ext cx="294832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131446" y="3438685"/>
            <a:ext cx="32631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57"/>
          <p:cNvCxnSpPr>
            <a:stCxn id="31" idx="4"/>
            <a:endCxn id="24" idx="1"/>
          </p:cNvCxnSpPr>
          <p:nvPr/>
        </p:nvCxnSpPr>
        <p:spPr>
          <a:xfrm flipV="1">
            <a:off x="3126773" y="4569578"/>
            <a:ext cx="302465" cy="35500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2312182" y="321709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902108" y="509944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4458150" y="3425985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5286414" y="280244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64328" y="3132683"/>
            <a:ext cx="1247602" cy="25972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noProof="0" dirty="0">
                <a:solidFill>
                  <a:srgbClr val="000000"/>
                </a:solidFill>
                <a:latin typeface="+mn-ea"/>
              </a:rPr>
              <a:t>배치 </a:t>
            </a:r>
            <a:r>
              <a:rPr lang="ko-KR" altLang="en-US" sz="1100" kern="0" noProof="0" dirty="0" err="1">
                <a:solidFill>
                  <a:srgbClr val="000000"/>
                </a:solidFill>
                <a:latin typeface="+mn-ea"/>
              </a:rPr>
              <a:t>처리로직</a:t>
            </a:r>
            <a:endParaRPr kumimoji="0" lang="ko-KR" altLang="en-US" sz="11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47" name="직선 화살표 연결선 46"/>
          <p:cNvCxnSpPr>
            <a:endCxn id="25" idx="0"/>
          </p:cNvCxnSpPr>
          <p:nvPr/>
        </p:nvCxnSpPr>
        <p:spPr>
          <a:xfrm>
            <a:off x="3816005" y="3384117"/>
            <a:ext cx="0" cy="379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endCxn id="26" idx="0"/>
          </p:cNvCxnSpPr>
          <p:nvPr/>
        </p:nvCxnSpPr>
        <p:spPr>
          <a:xfrm>
            <a:off x="4751040" y="3384117"/>
            <a:ext cx="0" cy="37959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5" idx="2"/>
            <a:endCxn id="29" idx="0"/>
          </p:cNvCxnSpPr>
          <p:nvPr/>
        </p:nvCxnSpPr>
        <p:spPr>
          <a:xfrm flipH="1">
            <a:off x="3812220" y="3999109"/>
            <a:ext cx="3785" cy="14135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1284" y="5138216"/>
            <a:ext cx="972040" cy="144019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 err="1">
                <a:ln>
                  <a:noFill/>
                </a:ln>
                <a:effectLst/>
                <a:uLnTx/>
                <a:uFillTx/>
                <a:latin typeface="+mn-ea"/>
              </a:rPr>
              <a:t>배치호출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</a:t>
            </a:r>
            <a:r>
              <a:rPr lang="ko-KR" altLang="en-US" sz="800" b="1" kern="0" dirty="0">
                <a:latin typeface="+mn-ea"/>
              </a:rPr>
              <a:t>비동기 </a:t>
            </a:r>
            <a:r>
              <a:rPr lang="en-US" altLang="ko-KR" sz="800" b="1" kern="0" dirty="0">
                <a:latin typeface="+mn-ea"/>
              </a:rPr>
              <a:t>FW API)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49722" y="324355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배치</a:t>
            </a:r>
            <a:r>
              <a:rPr lang="ko-KR" altLang="en-US" sz="800" b="1" kern="0" dirty="0">
                <a:latin typeface="+mn-ea"/>
              </a:rPr>
              <a:t>실행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</a:t>
            </a:r>
            <a:r>
              <a:rPr lang="ko-KR" altLang="en-US" sz="800" b="1" kern="0" dirty="0">
                <a:latin typeface="+mn-ea"/>
              </a:rPr>
              <a:t>스크립트호출</a:t>
            </a:r>
            <a:r>
              <a:rPr lang="en-US" altLang="ko-KR" sz="800" b="1" kern="0" dirty="0">
                <a:latin typeface="+mn-ea"/>
              </a:rPr>
              <a:t>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75086" y="287295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온라인 공유 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Method 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호출</a:t>
            </a:r>
            <a:endParaRPr kumimoji="0" lang="en-US" altLang="ko-KR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b="1" kern="0" dirty="0">
                <a:latin typeface="+mn-ea"/>
              </a:rPr>
              <a:t>(FW API)</a:t>
            </a:r>
            <a:endParaRPr kumimoji="0" lang="ko-KR" altLang="en-US" sz="8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cxnSp>
        <p:nvCxnSpPr>
          <p:cNvPr id="53" name="구부러진 연결선 52"/>
          <p:cNvCxnSpPr/>
          <p:nvPr/>
        </p:nvCxnSpPr>
        <p:spPr>
          <a:xfrm flipH="1">
            <a:off x="4821704" y="3299934"/>
            <a:ext cx="110148" cy="92282"/>
          </a:xfrm>
          <a:prstGeom prst="curvedConnector4">
            <a:avLst>
              <a:gd name="adj1" fmla="val -109874"/>
              <a:gd name="adj2" fmla="val 266117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49696" y="3511766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데몬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루프</a:t>
            </a:r>
            <a:r>
              <a:rPr kumimoji="0" lang="en-US" altLang="ko-KR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)</a:t>
            </a:r>
            <a:r>
              <a:rPr kumimoji="0" lang="ko-KR" altLang="en-US" sz="8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ea"/>
              </a:rPr>
              <a:t>처리</a:t>
            </a:r>
          </a:p>
        </p:txBody>
      </p:sp>
      <p:grpSp>
        <p:nvGrpSpPr>
          <p:cNvPr id="55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185884" y="1412776"/>
            <a:ext cx="2435125" cy="325409"/>
            <a:chOff x="4088904" y="1858259"/>
            <a:chExt cx="654719" cy="325409"/>
          </a:xfrm>
        </p:grpSpPr>
        <p:cxnSp>
          <p:nvCxnSpPr>
            <p:cNvPr id="56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90608" y="1858259"/>
              <a:ext cx="191755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algn="ctr" eaLnBrk="0" hangingPunct="0">
                <a:defRPr/>
              </a:pPr>
              <a:r>
                <a:rPr lang="ko-KR" altLang="en-US" sz="1400" b="1" kern="0" dirty="0" err="1">
                  <a:solidFill>
                    <a:srgbClr val="000000"/>
                  </a:solidFill>
                  <a:cs typeface="Arial" panose="020B0604020202020204" pitchFamily="34" charset="0"/>
                </a:rPr>
                <a:t>구성개요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009483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온디맨드</a:t>
            </a: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배치 실행</a:t>
            </a:r>
          </a:p>
        </p:txBody>
      </p:sp>
      <p:sp>
        <p:nvSpPr>
          <p:cNvPr id="59" name="타원 58"/>
          <p:cNvSpPr/>
          <p:nvPr/>
        </p:nvSpPr>
        <p:spPr>
          <a:xfrm>
            <a:off x="7052014" y="292494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4244571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데몬 배치 실행</a:t>
            </a:r>
          </a:p>
        </p:txBody>
      </p:sp>
      <p:sp>
        <p:nvSpPr>
          <p:cNvPr id="61" name="타원 60"/>
          <p:cNvSpPr/>
          <p:nvPr/>
        </p:nvSpPr>
        <p:spPr>
          <a:xfrm>
            <a:off x="7052014" y="416003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349743"/>
            <a:ext cx="2483578" cy="282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온라인 호출</a:t>
            </a:r>
          </a:p>
        </p:txBody>
      </p:sp>
      <p:sp>
        <p:nvSpPr>
          <p:cNvPr id="63" name="타원 62"/>
          <p:cNvSpPr/>
          <p:nvPr/>
        </p:nvSpPr>
        <p:spPr>
          <a:xfrm>
            <a:off x="7052014" y="5265204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2175659"/>
            <a:ext cx="2483578" cy="70748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배치는 별도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JVM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프로세스로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기반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쉘스크립트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파일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, DB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스케쥴러에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의해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쉘스크립트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3289761"/>
            <a:ext cx="2483578" cy="81471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온라인 프로그램에서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통해 배치 프로그램 실행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는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배치스케쥴러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명령을 통해 비동기 배치 호출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4524802"/>
            <a:ext cx="2483578" cy="68114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배치 실행 후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제공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Loop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체크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이용하여 정해진 조건 동안 배치 </a:t>
            </a:r>
            <a:r>
              <a:rPr lang="ko-KR" altLang="en-US" sz="1100" dirty="0" err="1">
                <a:solidFill>
                  <a:schemeClr val="dk1"/>
                </a:solidFill>
                <a:latin typeface="+mn-ea"/>
              </a:rPr>
              <a:t>로직을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 반복 처리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5884" y="5623985"/>
            <a:ext cx="2483578" cy="72125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108000" indent="-108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F/W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제공 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를 통해 공유</a:t>
            </a:r>
            <a:r>
              <a:rPr lang="en-US" altLang="ko-KR" sz="1100" dirty="0">
                <a:solidFill>
                  <a:schemeClr val="dk1"/>
                </a:solidFill>
                <a:latin typeface="+mn-ea"/>
              </a:rPr>
              <a:t>FM/DM/DBM </a:t>
            </a:r>
            <a:r>
              <a:rPr lang="ko-KR" altLang="en-US" sz="1100" dirty="0">
                <a:solidFill>
                  <a:schemeClr val="dk1"/>
                </a:solidFill>
                <a:latin typeface="+mn-ea"/>
              </a:rPr>
              <a:t>호출</a:t>
            </a:r>
            <a:endParaRPr lang="en-US" altLang="ko-KR" sz="1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6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8207" y="4104471"/>
            <a:ext cx="914168" cy="237540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F/W API</a:t>
            </a:r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546933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DM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0" name="Rectangle 29">
            <a:extLst>
              <a:ext uri="{FF2B5EF4-FFF2-40B4-BE49-F238E27FC236}">
                <a16:creationId xmlns:a16="http://schemas.microsoft.com/office/drawing/2014/main" id="{B9C95FBB-0C18-4415-A2BB-56BDECCD61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8974" y="3952897"/>
            <a:ext cx="720079" cy="3762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DBM</a:t>
            </a:r>
            <a:br>
              <a:rPr lang="en-US" altLang="ko-KR" sz="1100" kern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온라인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51343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 어플리케이션 구조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71463" y="1842176"/>
            <a:ext cx="4681537" cy="4503061"/>
          </a:xfrm>
          <a:prstGeom prst="roundRect">
            <a:avLst>
              <a:gd name="adj" fmla="val 3580"/>
            </a:avLst>
          </a:prstGeom>
          <a:noFill/>
          <a:ln w="19050" cap="flat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3" y="2417942"/>
            <a:ext cx="1000111" cy="25349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 프로그램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(Java)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728843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JVM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Job </a:t>
            </a:r>
            <a:r>
              <a:rPr lang="ko-KR" altLang="en-US" dirty="0"/>
              <a:t>당 </a:t>
            </a:r>
            <a:r>
              <a:rPr lang="en-US" altLang="ko-KR" dirty="0"/>
              <a:t>Shell </a:t>
            </a:r>
            <a:r>
              <a:rPr lang="ko-KR" altLang="en-US" dirty="0"/>
              <a:t>에서 업무 배치 프로그램을 호출하는 방식으로</a:t>
            </a:r>
            <a:r>
              <a:rPr lang="en-US" altLang="ko-KR" dirty="0"/>
              <a:t>, </a:t>
            </a:r>
            <a:r>
              <a:rPr lang="ko-KR" altLang="en-US" dirty="0"/>
              <a:t>배치 프로그램은 별도 계층 구조 없이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Class/Method</a:t>
            </a:r>
            <a:r>
              <a:rPr lang="ko-KR" altLang="en-US" dirty="0"/>
              <a:t>로 구현하며</a:t>
            </a:r>
            <a:r>
              <a:rPr lang="en-US" altLang="ko-KR" dirty="0"/>
              <a:t>, </a:t>
            </a:r>
            <a:r>
              <a:rPr lang="ko-KR" altLang="en-US" dirty="0"/>
              <a:t>하나의 배치 프로그램에서 처리되는 모든 </a:t>
            </a:r>
            <a:r>
              <a:rPr lang="en-US" altLang="ko-KR" dirty="0"/>
              <a:t>SQL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XSQL </a:t>
            </a:r>
            <a:r>
              <a:rPr lang="ko-KR" altLang="en-US" dirty="0"/>
              <a:t>로 구성함</a:t>
            </a:r>
          </a:p>
        </p:txBody>
      </p:sp>
      <p:grpSp>
        <p:nvGrpSpPr>
          <p:cNvPr id="13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61129" y="1412776"/>
            <a:ext cx="4691872" cy="325409"/>
            <a:chOff x="4087876" y="1858259"/>
            <a:chExt cx="655747" cy="325409"/>
          </a:xfrm>
        </p:grpSpPr>
        <p:cxnSp>
          <p:nvCxnSpPr>
            <p:cNvPr id="14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148020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구조</a:t>
              </a:r>
            </a:p>
          </p:txBody>
        </p:sp>
      </p:grpSp>
      <p:grpSp>
        <p:nvGrpSpPr>
          <p:cNvPr id="1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5187191" y="1412776"/>
            <a:ext cx="4491505" cy="325409"/>
            <a:chOff x="4087876" y="1858259"/>
            <a:chExt cx="655747" cy="325409"/>
          </a:xfrm>
        </p:grpSpPr>
        <p:cxnSp>
          <p:nvCxnSpPr>
            <p:cNvPr id="1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088904" y="2183668"/>
              <a:ext cx="654719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7876" y="1858259"/>
              <a:ext cx="258476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cs typeface="Arial" panose="020B0604020202020204" pitchFamily="34" charset="0"/>
                </a:rPr>
                <a:t>배치 프로그램 설계 규칙</a:t>
              </a:r>
            </a:p>
          </p:txBody>
        </p:sp>
      </p:grpSp>
      <p:sp>
        <p:nvSpPr>
          <p:cNvPr id="1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570" y="2417941"/>
            <a:ext cx="748044" cy="253499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배치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쉘 스크립트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8008" y="2417942"/>
            <a:ext cx="828000" cy="9922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XSQL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4535" y="3660774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22" name="Group 43"/>
          <p:cNvGrpSpPr>
            <a:grpSpLocks/>
          </p:cNvGrpSpPr>
          <p:nvPr/>
        </p:nvGrpSpPr>
        <p:grpSpPr bwMode="auto">
          <a:xfrm>
            <a:off x="4091807" y="3694768"/>
            <a:ext cx="723909" cy="372940"/>
            <a:chOff x="401" y="3124"/>
            <a:chExt cx="1139" cy="531"/>
          </a:xfrm>
          <a:solidFill>
            <a:schemeClr val="bg1"/>
          </a:solidFill>
        </p:grpSpPr>
        <p:sp>
          <p:nvSpPr>
            <p:cNvPr id="23" name="AutoShape 201"/>
            <p:cNvSpPr>
              <a:spLocks noChangeArrowheads="1"/>
            </p:cNvSpPr>
            <p:nvPr/>
          </p:nvSpPr>
          <p:spPr bwMode="auto">
            <a:xfrm>
              <a:off x="500" y="3173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SAM</a:t>
              </a:r>
            </a:p>
          </p:txBody>
        </p:sp>
        <p:sp>
          <p:nvSpPr>
            <p:cNvPr id="24" name="AutoShape 241"/>
            <p:cNvSpPr>
              <a:spLocks noChangeArrowheads="1"/>
            </p:cNvSpPr>
            <p:nvPr/>
          </p:nvSpPr>
          <p:spPr bwMode="auto">
            <a:xfrm>
              <a:off x="401" y="3124"/>
              <a:ext cx="1040" cy="482"/>
            </a:xfrm>
            <a:prstGeom prst="flowChartDocument">
              <a:avLst/>
            </a:prstGeom>
            <a:grpFill/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1pPr>
              <a:lvl2pPr marL="742950" indent="-28575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2pPr>
              <a:lvl3pPr marL="11430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3pPr>
              <a:lvl4pPr marL="16002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4pPr>
              <a:lvl5pPr marL="2057400" indent="-228600" eaLnBrk="0" hangingPunct="0"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600" b="1">
                  <a:solidFill>
                    <a:schemeClr val="tx1"/>
                  </a:solidFill>
                  <a:latin typeface="-2002" panose="02030504000101010101" pitchFamily="18" charset="-127"/>
                  <a:ea typeface="-2002" panose="02030504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ko-KR" sz="1000" b="0">
                  <a:latin typeface="+mn-ea"/>
                  <a:ea typeface="+mn-ea"/>
                </a:rPr>
                <a:t>File</a:t>
              </a:r>
            </a:p>
          </p:txBody>
        </p:sp>
      </p:grpSp>
      <p:sp>
        <p:nvSpPr>
          <p:cNvPr id="25" name="AutoShape 256"/>
          <p:cNvSpPr>
            <a:spLocks noChangeArrowheads="1"/>
          </p:cNvSpPr>
          <p:nvPr/>
        </p:nvSpPr>
        <p:spPr bwMode="auto">
          <a:xfrm>
            <a:off x="4091807" y="2439638"/>
            <a:ext cx="720000" cy="449267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graphicFrame>
        <p:nvGraphicFramePr>
          <p:cNvPr id="26" name="표 61"/>
          <p:cNvGraphicFramePr>
            <a:graphicFrameLocks noGrp="1"/>
          </p:cNvGraphicFramePr>
          <p:nvPr/>
        </p:nvGraphicFramePr>
        <p:xfrm>
          <a:off x="5187192" y="1808170"/>
          <a:ext cx="4482268" cy="464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8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마다 별도의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JVM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프로세스로 기동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배치는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무계층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구조나 최대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프로그램으로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 Class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배치유닛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스탭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클래스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b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Main Method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XSQL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마다 배치 프로파일 정보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9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쉘 구성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프로그램과 배치 쉘 파일은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 기본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병렬 처리를 위해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1:N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재활용 목적으로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파라미터를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다르게히여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N:1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62837"/>
                  </a:ext>
                </a:extLst>
              </a:tr>
              <a:tr h="1129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11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lang="en-US" altLang="ko-KR" sz="11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배치 프로그램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구성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개의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배치에서 사용되는 모든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등록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F/W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개발도구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설계기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이용하여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XSQL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XA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불가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JDBC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가능</a:t>
                      </a: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멀티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활용한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조회는 가능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명시적으로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Commit/Rollback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1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처리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(FIO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정의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Read/Write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위해 파일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정의 생성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프로그램에서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FIO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통한 </a:t>
                      </a:r>
                      <a:r>
                        <a:rPr lang="en-US" altLang="ko-KR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IRecordSet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1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스트림간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변환 처리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863552"/>
                  </a:ext>
                </a:extLst>
              </a:tr>
              <a:tr h="5244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공유모듈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프로그램에서 온라인 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DM/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공유 </a:t>
                      </a:r>
                      <a:r>
                        <a:rPr lang="en-US" altLang="ko-KR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</a:t>
                      </a:r>
                      <a:r>
                        <a:rPr lang="ko-KR" altLang="en-US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은 동일 어플리케이션 범위에서만 호출 가능</a:t>
                      </a:r>
                      <a:endParaRPr lang="en-US" altLang="ko-KR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07502"/>
                  </a:ext>
                </a:extLst>
              </a:tr>
            </a:tbl>
          </a:graphicData>
        </a:graphic>
      </p:graphicFrame>
      <p:sp>
        <p:nvSpPr>
          <p:cNvPr id="2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7924" y="2636912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2888905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SQL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53052" y="3071975"/>
            <a:ext cx="720000" cy="55023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Main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Method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38860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cxnSp>
        <p:nvCxnSpPr>
          <p:cNvPr id="31" name="직선 화살표 연결선 30"/>
          <p:cNvCxnSpPr>
            <a:cxnSpLocks/>
            <a:stCxn id="19" idx="3"/>
            <a:endCxn id="10" idx="1"/>
          </p:cNvCxnSpPr>
          <p:nvPr/>
        </p:nvCxnSpPr>
        <p:spPr>
          <a:xfrm>
            <a:off x="1169614" y="3685440"/>
            <a:ext cx="326989" cy="1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6"/>
          <p:cNvCxnSpPr>
            <a:stCxn id="29" idx="3"/>
            <a:endCxn id="20" idx="1"/>
          </p:cNvCxnSpPr>
          <p:nvPr/>
        </p:nvCxnSpPr>
        <p:spPr>
          <a:xfrm flipV="1">
            <a:off x="2273052" y="2914092"/>
            <a:ext cx="614956" cy="432999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7"/>
          <p:cNvCxnSpPr>
            <a:stCxn id="29" idx="3"/>
            <a:endCxn id="21" idx="1"/>
          </p:cNvCxnSpPr>
          <p:nvPr/>
        </p:nvCxnSpPr>
        <p:spPr>
          <a:xfrm>
            <a:off x="2273052" y="3347091"/>
            <a:ext cx="611483" cy="4763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36087" y="3705367"/>
            <a:ext cx="764427" cy="32523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FIO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5" name="직선 화살표 연결선 39"/>
          <p:cNvCxnSpPr>
            <a:stCxn id="27" idx="3"/>
            <a:endCxn id="25" idx="2"/>
          </p:cNvCxnSpPr>
          <p:nvPr/>
        </p:nvCxnSpPr>
        <p:spPr>
          <a:xfrm flipV="1">
            <a:off x="3564762" y="2664272"/>
            <a:ext cx="527045" cy="74574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3"/>
            <a:endCxn id="24" idx="1"/>
          </p:cNvCxnSpPr>
          <p:nvPr/>
        </p:nvCxnSpPr>
        <p:spPr>
          <a:xfrm flipV="1">
            <a:off x="3700514" y="3864031"/>
            <a:ext cx="391293" cy="395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256"/>
          <p:cNvSpPr>
            <a:spLocks noChangeArrowheads="1"/>
          </p:cNvSpPr>
          <p:nvPr/>
        </p:nvSpPr>
        <p:spPr bwMode="auto">
          <a:xfrm>
            <a:off x="4091807" y="2992895"/>
            <a:ext cx="720000" cy="467294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데이터</a:t>
            </a:r>
            <a:endParaRPr lang="en-US" altLang="ko-KR" sz="1000" b="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베이스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38" name="직선 화살표 연결선 48"/>
          <p:cNvCxnSpPr>
            <a:stCxn id="28" idx="3"/>
            <a:endCxn id="37" idx="2"/>
          </p:cNvCxnSpPr>
          <p:nvPr/>
        </p:nvCxnSpPr>
        <p:spPr>
          <a:xfrm>
            <a:off x="3565622" y="2990839"/>
            <a:ext cx="526185" cy="23570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8784" y="3133167"/>
            <a:ext cx="556838" cy="20386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…..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1689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DM</a:t>
            </a:r>
            <a:endParaRPr kumimoji="0" lang="en-US" altLang="ko-KR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245689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19765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686617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Read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4848" y="385750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Write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400485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latin typeface="+mn-ea"/>
              </a:rPr>
              <a:t>기본</a:t>
            </a:r>
            <a:endParaRPr lang="en-US" altLang="ko-KR" sz="800" kern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2664272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8163" y="3846744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1 : n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381884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838003" y="214123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2838003" y="3513200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187073" y="2043302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1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187073" y="3007935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2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187073" y="3933056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3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5187073" y="50486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4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5187073" y="580354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68497" y="3870111"/>
            <a:ext cx="720080" cy="206961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noProof="0" dirty="0">
                <a:latin typeface="+mn-ea"/>
              </a:rPr>
              <a:t>필요시</a:t>
            </a:r>
            <a:endParaRPr lang="en-US" altLang="ko-KR" sz="800" kern="0" noProof="0" dirty="0">
              <a:latin typeface="+mn-ea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dirty="0">
                <a:ln>
                  <a:noFill/>
                </a:ln>
                <a:effectLst/>
                <a:uLnTx/>
                <a:uFillTx/>
                <a:latin typeface="+mn-ea"/>
              </a:rPr>
              <a:t>1 : n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dirty="0">
                <a:latin typeface="+mn-ea"/>
              </a:rPr>
              <a:t>n : 1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0455" y="6050997"/>
            <a:ext cx="756000" cy="19221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000000"/>
                </a:solidFill>
                <a:latin typeface="+mn-ea"/>
              </a:rPr>
              <a:t>개발자 작업 영역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AutoShape 256"/>
          <p:cNvSpPr>
            <a:spLocks noChangeArrowheads="1"/>
          </p:cNvSpPr>
          <p:nvPr/>
        </p:nvSpPr>
        <p:spPr bwMode="auto">
          <a:xfrm>
            <a:off x="426442" y="5077454"/>
            <a:ext cx="743172" cy="295762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-2002" panose="02030504000101010101" pitchFamily="18" charset="-127"/>
                <a:ea typeface="-2002" panose="02030504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ko-KR" altLang="en-US" sz="1000" b="0" dirty="0">
                <a:latin typeface="+mn-ea"/>
                <a:ea typeface="+mn-ea"/>
              </a:rPr>
              <a:t>배치 프로파일</a:t>
            </a:r>
            <a:endParaRPr lang="en-US" altLang="ko-KR" sz="1000" b="0" dirty="0">
              <a:latin typeface="+mn-ea"/>
              <a:ea typeface="+mn-ea"/>
            </a:endParaRPr>
          </a:p>
        </p:txBody>
      </p:sp>
      <p:sp>
        <p:nvSpPr>
          <p:cNvPr id="5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96604" y="4509120"/>
            <a:ext cx="828000" cy="224096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t"/>
          <a:lstStyle/>
          <a:p>
            <a:pPr lvl="0" algn="ctr" eaLnBrk="0" hangingPunct="0">
              <a:buSzPct val="100000"/>
              <a:defRPr/>
            </a:pPr>
            <a:r>
              <a:rPr lang="en-US" altLang="ko-KR" sz="900" dirty="0"/>
              <a:t>n-KESA</a:t>
            </a:r>
            <a:r>
              <a:rPr kumimoji="0" lang="en-US" altLang="ko-KR" sz="9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F/W</a:t>
            </a:r>
            <a:endParaRPr kumimoji="0" lang="ko-KR" altLang="en-US" sz="9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0" name="직선 화살표 연결선 67"/>
          <p:cNvCxnSpPr>
            <a:cxnSpLocks/>
            <a:stCxn id="29" idx="2"/>
            <a:endCxn id="40" idx="0"/>
          </p:cNvCxnSpPr>
          <p:nvPr/>
        </p:nvCxnSpPr>
        <p:spPr>
          <a:xfrm rot="16200000" flipH="1">
            <a:off x="1840616" y="3694643"/>
            <a:ext cx="238889" cy="94016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37"/>
          <p:cNvCxnSpPr>
            <a:cxnSpLocks/>
            <a:stCxn id="59" idx="1"/>
            <a:endCxn id="58" idx="4"/>
          </p:cNvCxnSpPr>
          <p:nvPr/>
        </p:nvCxnSpPr>
        <p:spPr>
          <a:xfrm rot="10800000" flipV="1">
            <a:off x="1169614" y="4621167"/>
            <a:ext cx="326990" cy="604167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45412" y="3861096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 </a:t>
            </a:r>
            <a:r>
              <a:rPr lang="en-US" altLang="ko-KR" sz="900" kern="0" dirty="0">
                <a:solidFill>
                  <a:srgbClr val="000000"/>
                </a:solidFill>
                <a:latin typeface="+mn-ea"/>
              </a:rPr>
              <a:t>FM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3" name="직선 화살표 연결선 67"/>
          <p:cNvCxnSpPr>
            <a:cxnSpLocks/>
            <a:stCxn id="29" idx="2"/>
            <a:endCxn id="62" idx="0"/>
          </p:cNvCxnSpPr>
          <p:nvPr/>
        </p:nvCxnSpPr>
        <p:spPr>
          <a:xfrm rot="5400000">
            <a:off x="1682478" y="3630521"/>
            <a:ext cx="238889" cy="222261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1428838" y="4185108"/>
            <a:ext cx="216000" cy="216000"/>
          </a:xfrm>
          <a:prstGeom prst="ellipse">
            <a:avLst/>
          </a:prstGeom>
          <a:solidFill>
            <a:schemeClr val="tx2"/>
          </a:solidFill>
          <a:ln w="12700" algn="ctr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algn="ctr"/>
            <a:r>
              <a:rPr lang="en-US" altLang="ko-KR" sz="1100" b="1" dirty="0">
                <a:ln>
                  <a:solidFill>
                    <a:srgbClr val="364086">
                      <a:lumMod val="75000"/>
                      <a:alpha val="0"/>
                    </a:srgbClr>
                  </a:solidFill>
                </a:ln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5</a:t>
            </a:r>
            <a:endParaRPr lang="ko-KR" altLang="en-US" sz="1100" b="1" dirty="0">
              <a:ln>
                <a:solidFill>
                  <a:srgbClr val="364086">
                    <a:lumMod val="75000"/>
                    <a:alpha val="0"/>
                  </a:srgbClr>
                </a:solidFill>
              </a:ln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9CE5018C-05CB-4231-81D5-A6A516800D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77966" y="3861048"/>
            <a:ext cx="29075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900" kern="0" dirty="0">
                <a:solidFill>
                  <a:srgbClr val="000000"/>
                </a:solidFill>
                <a:latin typeface="+mn-ea"/>
              </a:rPr>
              <a:t>공유</a:t>
            </a:r>
            <a:r>
              <a:rPr lang="ko-KR" altLang="en-US" sz="10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700" kern="0" dirty="0">
                <a:solidFill>
                  <a:srgbClr val="000000"/>
                </a:solidFill>
                <a:latin typeface="+mn-ea"/>
              </a:rPr>
              <a:t>DBM</a:t>
            </a:r>
            <a:endParaRPr kumimoji="0" lang="en-US" altLang="ko-KR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6" name="직선 화살표 연결선 67">
            <a:extLst>
              <a:ext uri="{FF2B5EF4-FFF2-40B4-BE49-F238E27FC236}">
                <a16:creationId xmlns:a16="http://schemas.microsoft.com/office/drawing/2014/main" id="{9F225DC0-D040-4DC3-9E9A-5F7CF6DD023C}"/>
              </a:ext>
            </a:extLst>
          </p:cNvPr>
          <p:cNvCxnSpPr>
            <a:cxnSpLocks/>
            <a:stCxn id="29" idx="2"/>
            <a:endCxn id="65" idx="0"/>
          </p:cNvCxnSpPr>
          <p:nvPr/>
        </p:nvCxnSpPr>
        <p:spPr>
          <a:xfrm rot="16200000" flipH="1">
            <a:off x="1998778" y="3536480"/>
            <a:ext cx="238841" cy="410293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4254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/>
              <a:t>배치 어플리케이션</a:t>
            </a:r>
            <a:r>
              <a:rPr lang="en-US" altLang="ko-KR"/>
              <a:t> </a:t>
            </a:r>
            <a:r>
              <a:rPr lang="ko-KR" altLang="en-US" dirty="0"/>
              <a:t>트랜잭션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/>
              <a:t>배치 </a:t>
            </a:r>
            <a:r>
              <a:rPr lang="en-US" altLang="ko-KR" dirty="0"/>
              <a:t>FW </a:t>
            </a:r>
            <a:r>
              <a:rPr lang="ko-KR" altLang="en-US" dirty="0"/>
              <a:t>은 </a:t>
            </a:r>
            <a:r>
              <a:rPr lang="en-US" altLang="ko-KR" dirty="0"/>
              <a:t>WAS </a:t>
            </a:r>
            <a:r>
              <a:rPr lang="ko-KR" altLang="en-US" dirty="0"/>
              <a:t>기반의 동작이 아니므로 온라인 </a:t>
            </a:r>
            <a:r>
              <a:rPr lang="en-US" altLang="ko-KR" dirty="0"/>
              <a:t>FW </a:t>
            </a:r>
            <a:r>
              <a:rPr lang="ko-KR" altLang="en-US" dirty="0"/>
              <a:t>과 다르게 동작하며</a:t>
            </a:r>
            <a:r>
              <a:rPr lang="en-US" altLang="ko-KR" dirty="0"/>
              <a:t>, </a:t>
            </a:r>
            <a:r>
              <a:rPr lang="ko-KR" altLang="en-US" dirty="0"/>
              <a:t>어플리케이션에서 </a:t>
            </a:r>
            <a:r>
              <a:rPr lang="en-US" altLang="ko-KR" dirty="0"/>
              <a:t>begin/commit </a:t>
            </a:r>
            <a:r>
              <a:rPr lang="ko-KR" altLang="en-US" dirty="0"/>
              <a:t>등의 </a:t>
            </a:r>
            <a:r>
              <a:rPr lang="en-US" altLang="ko-KR" dirty="0"/>
              <a:t>API</a:t>
            </a:r>
            <a:r>
              <a:rPr lang="ko-KR" altLang="en-US" dirty="0"/>
              <a:t>를 통해 트랜잭션을 제어함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6" name="Text Box 25"/>
          <p:cNvSpPr txBox="1">
            <a:spLocks noChangeArrowheads="1"/>
          </p:cNvSpPr>
          <p:nvPr/>
        </p:nvSpPr>
        <p:spPr bwMode="auto">
          <a:xfrm>
            <a:off x="1354743" y="1880828"/>
            <a:ext cx="1299125" cy="43106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ysClr val="windowText" lastClr="000000">
                <a:lumMod val="85000"/>
                <a:lumOff val="15000"/>
              </a:sysClr>
            </a:solidFill>
            <a:miter lim="800000"/>
            <a:headEnd/>
            <a:tailEnd/>
          </a:ln>
        </p:spPr>
        <p:txBody>
          <a:bodyPr lIns="36000" tIns="18000" rIns="18000" bIns="18000" anchor="t"/>
          <a:lstStyle/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en-US" altLang="ko-KR" sz="1000" kern="0" dirty="0">
              <a:ea typeface="맑은 고딕" pitchFamily="50" charset="-127"/>
            </a:endParaRPr>
          </a:p>
          <a:p>
            <a:pPr algn="ctr" defTabSz="1905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1238250" algn="l"/>
              </a:tabLst>
              <a:defRPr/>
            </a:pPr>
            <a:endParaRPr kumimoji="0" lang="ko-KR" altLang="en-US" sz="1000" kern="0" dirty="0">
              <a:ea typeface="맑은 고딕" pitchFamily="50" charset="-127"/>
            </a:endParaRPr>
          </a:p>
        </p:txBody>
      </p:sp>
      <p:sp>
        <p:nvSpPr>
          <p:cNvPr id="129" name="순서도: 자기 디스크 128"/>
          <p:cNvSpPr/>
          <p:nvPr/>
        </p:nvSpPr>
        <p:spPr>
          <a:xfrm>
            <a:off x="6231179" y="3969662"/>
            <a:ext cx="919419" cy="39466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Sub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5" name="순서도: 자기 디스크 134"/>
          <p:cNvSpPr/>
          <p:nvPr/>
        </p:nvSpPr>
        <p:spPr>
          <a:xfrm>
            <a:off x="6231180" y="3051465"/>
            <a:ext cx="919419" cy="684985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Main DB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8" name="사각형 설명선 147"/>
          <p:cNvSpPr/>
          <p:nvPr/>
        </p:nvSpPr>
        <p:spPr>
          <a:xfrm>
            <a:off x="3454000" y="5479631"/>
            <a:ext cx="4049569" cy="781959"/>
          </a:xfrm>
          <a:prstGeom prst="wedgeRectCallout">
            <a:avLst>
              <a:gd name="adj1" fmla="val -65890"/>
              <a:gd name="adj2" fmla="val -39689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메소드로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수동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실행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대량 처리시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DB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부하 방지를 위해 중간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이 필요하여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api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로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제공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중간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commit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을 자동으로 처리하는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FW API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별도 제공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45090" y="2784993"/>
            <a:ext cx="1011303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b="1" dirty="0">
                <a:cs typeface="Arial" pitchFamily="34" charset="0"/>
              </a:rPr>
              <a:t>트랜잭션 구간</a:t>
            </a:r>
          </a:p>
        </p:txBody>
      </p:sp>
      <p:sp>
        <p:nvSpPr>
          <p:cNvPr id="4" name="타원 3"/>
          <p:cNvSpPr/>
          <p:nvPr/>
        </p:nvSpPr>
        <p:spPr>
          <a:xfrm>
            <a:off x="1477916" y="2204864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txBegin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477916" y="5301208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b="1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9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477916" y="5709059"/>
            <a:ext cx="1044000" cy="2762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800" b="1" dirty="0" err="1">
                <a:solidFill>
                  <a:schemeClr val="tx1"/>
                </a:solidFill>
                <a:cs typeface="Arial" pitchFamily="34" charset="0"/>
              </a:rPr>
              <a:t>txRollback</a:t>
            </a:r>
            <a:r>
              <a:rPr lang="en-US" altLang="ko-KR" sz="800" b="1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8202" y="1628800"/>
            <a:ext cx="1159817" cy="21145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dirty="0">
                <a:cs typeface="Arial" pitchFamily="34" charset="0"/>
              </a:rPr>
              <a:t>Batch Program</a:t>
            </a:r>
            <a:endParaRPr lang="ko-KR" altLang="en-US" sz="1000" b="1" dirty="0">
              <a:cs typeface="Arial" pitchFamily="34" charset="0"/>
            </a:endParaRPr>
          </a:p>
        </p:txBody>
      </p:sp>
      <p:cxnSp>
        <p:nvCxnSpPr>
          <p:cNvPr id="9" name="직선 화살표 연결선 8"/>
          <p:cNvCxnSpPr>
            <a:endCxn id="51" idx="0"/>
          </p:cNvCxnSpPr>
          <p:nvPr/>
        </p:nvCxnSpPr>
        <p:spPr>
          <a:xfrm flipH="1">
            <a:off x="1999916" y="2973338"/>
            <a:ext cx="753" cy="232787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/>
          <p:cNvSpPr/>
          <p:nvPr/>
        </p:nvSpPr>
        <p:spPr>
          <a:xfrm>
            <a:off x="1487403" y="2919390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dbSelect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487403" y="3371462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dbInsert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487403" y="3792307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dbUpdate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0" name="직선 화살표 연결선 59"/>
          <p:cNvCxnSpPr>
            <a:stCxn id="7" idx="3"/>
            <a:endCxn id="135" idx="2"/>
          </p:cNvCxnSpPr>
          <p:nvPr/>
        </p:nvCxnSpPr>
        <p:spPr>
          <a:xfrm>
            <a:off x="2512430" y="3051465"/>
            <a:ext cx="3718750" cy="342493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55" idx="3"/>
            <a:endCxn id="135" idx="2"/>
          </p:cNvCxnSpPr>
          <p:nvPr/>
        </p:nvCxnSpPr>
        <p:spPr>
          <a:xfrm flipV="1">
            <a:off x="2512430" y="3393958"/>
            <a:ext cx="3718750" cy="109579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56" idx="3"/>
            <a:endCxn id="135" idx="2"/>
          </p:cNvCxnSpPr>
          <p:nvPr/>
        </p:nvCxnSpPr>
        <p:spPr>
          <a:xfrm flipV="1">
            <a:off x="2512430" y="3393958"/>
            <a:ext cx="3718750" cy="530424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82" idx="3"/>
            <a:endCxn id="129" idx="2"/>
          </p:cNvCxnSpPr>
          <p:nvPr/>
        </p:nvCxnSpPr>
        <p:spPr>
          <a:xfrm flipV="1">
            <a:off x="2512430" y="4166994"/>
            <a:ext cx="3718749" cy="128518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/>
          <p:cNvSpPr/>
          <p:nvPr/>
        </p:nvSpPr>
        <p:spPr>
          <a:xfrm>
            <a:off x="1487403" y="4163437"/>
            <a:ext cx="1025027" cy="2641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dirty="0" err="1">
                <a:solidFill>
                  <a:schemeClr val="tx1"/>
                </a:solidFill>
                <a:cs typeface="Arial" pitchFamily="34" charset="0"/>
              </a:rPr>
              <a:t>dbSelect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()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3387233" y="1836447"/>
            <a:ext cx="3509824" cy="668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배치에서는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WAS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가 아니므로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XA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트랜잭션이 지원되지 않음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멀티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필요시 개별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처리해야함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534430" y="4631623"/>
            <a:ext cx="960722" cy="3815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dirty="0">
                <a:solidFill>
                  <a:schemeClr val="tx1"/>
                </a:solidFill>
                <a:cs typeface="Arial" pitchFamily="34" charset="0"/>
              </a:rPr>
              <a:t>공유 </a:t>
            </a:r>
            <a:r>
              <a:rPr lang="en-US" altLang="ko-KR" sz="900" dirty="0">
                <a:solidFill>
                  <a:schemeClr val="tx1"/>
                </a:solidFill>
                <a:cs typeface="Arial" pitchFamily="34" charset="0"/>
              </a:rPr>
              <a:t>FM/DM/DBIO</a:t>
            </a:r>
            <a:endParaRPr lang="ko-KR" altLang="en-US" sz="9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7" name="직선 화살표 연결선 96"/>
          <p:cNvCxnSpPr>
            <a:stCxn id="40" idx="3"/>
            <a:endCxn id="135" idx="2"/>
          </p:cNvCxnSpPr>
          <p:nvPr/>
        </p:nvCxnSpPr>
        <p:spPr>
          <a:xfrm flipV="1">
            <a:off x="2495152" y="3393958"/>
            <a:ext cx="3736028" cy="1428442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43852" y="2962789"/>
            <a:ext cx="1098293" cy="32219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>
                <a:cs typeface="Arial" pitchFamily="34" charset="0"/>
              </a:rPr>
              <a:t>기본 </a:t>
            </a:r>
            <a:r>
              <a:rPr lang="en-US" altLang="ko-KR" sz="900" dirty="0" err="1">
                <a:cs typeface="Arial" pitchFamily="34" charset="0"/>
              </a:rPr>
              <a:t>DataSource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929637" y="3895455"/>
            <a:ext cx="1098293" cy="3220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>
                <a:cs typeface="Arial" pitchFamily="34" charset="0"/>
              </a:rPr>
              <a:t>Optional</a:t>
            </a:r>
            <a:r>
              <a:rPr lang="ko-KR" altLang="en-US" sz="900" dirty="0">
                <a:cs typeface="Arial" pitchFamily="34" charset="0"/>
              </a:rPr>
              <a:t> </a:t>
            </a:r>
            <a:r>
              <a:rPr lang="en-US" altLang="ko-KR" sz="900" dirty="0" err="1">
                <a:cs typeface="Arial" pitchFamily="34" charset="0"/>
              </a:rPr>
              <a:t>DataSource</a:t>
            </a:r>
            <a:endParaRPr lang="ko-KR" altLang="en-US" sz="900" dirty="0">
              <a:cs typeface="Arial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266949" y="3933328"/>
            <a:ext cx="1777306" cy="34970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marL="85725" indent="-8572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cs typeface="Arial" pitchFamily="34" charset="0"/>
              </a:rPr>
              <a:t>배치 환경에서는 </a:t>
            </a:r>
            <a:r>
              <a:rPr lang="en-US" altLang="ko-KR" sz="1000" dirty="0" err="1">
                <a:cs typeface="Arial" pitchFamily="34" charset="0"/>
              </a:rPr>
              <a:t>DataSource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ko-KR" altLang="en-US" sz="1000" dirty="0">
                <a:cs typeface="Arial" pitchFamily="34" charset="0"/>
              </a:rPr>
              <a:t>설정을 </a:t>
            </a:r>
            <a:r>
              <a:rPr lang="en-US" altLang="ko-KR" sz="1000" dirty="0">
                <a:cs typeface="Arial" pitchFamily="34" charset="0"/>
              </a:rPr>
              <a:t>FW </a:t>
            </a:r>
            <a:r>
              <a:rPr lang="ko-KR" altLang="en-US" sz="1000" dirty="0" err="1">
                <a:cs typeface="Arial" pitchFamily="34" charset="0"/>
              </a:rPr>
              <a:t>설정파일로</a:t>
            </a:r>
            <a:r>
              <a:rPr lang="ko-KR" altLang="en-US" sz="1000" dirty="0">
                <a:cs typeface="Arial" pitchFamily="34" charset="0"/>
              </a:rPr>
              <a:t> 관리함</a:t>
            </a:r>
            <a:endParaRPr lang="en-US" altLang="ko-KR" sz="1000" dirty="0">
              <a:cs typeface="Arial" pitchFamily="34" charset="0"/>
            </a:endParaRPr>
          </a:p>
        </p:txBody>
      </p:sp>
      <p:sp>
        <p:nvSpPr>
          <p:cNvPr id="100" name="사각형 설명선 99"/>
          <p:cNvSpPr/>
          <p:nvPr/>
        </p:nvSpPr>
        <p:spPr>
          <a:xfrm>
            <a:off x="3458473" y="4492844"/>
            <a:ext cx="4049569" cy="917973"/>
          </a:xfrm>
          <a:prstGeom prst="wedgeRectCallout">
            <a:avLst>
              <a:gd name="adj1" fmla="val -53658"/>
              <a:gd name="adj2" fmla="val -37928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배치에서 온라인 공유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FM/DM/DBIO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실행 가능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FM/DM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에서 동일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로 처리되도록 매핑 설정</a:t>
            </a:r>
            <a:endParaRPr lang="en-US" altLang="ko-KR" sz="1000" dirty="0">
              <a:solidFill>
                <a:schemeClr val="tx1"/>
              </a:solidFill>
              <a:cs typeface="Arial" pitchFamily="34" charset="0"/>
            </a:endParaRPr>
          </a:p>
          <a:p>
            <a:pPr marL="85725" indent="-857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동일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DataSource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대상의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CUD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는 </a:t>
            </a:r>
            <a:r>
              <a:rPr lang="en-US" altLang="ko-KR" sz="1000" dirty="0" err="1">
                <a:solidFill>
                  <a:schemeClr val="tx1"/>
                </a:solidFill>
                <a:cs typeface="Arial" pitchFamily="34" charset="0"/>
              </a:rPr>
              <a:t>txCommit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() </a:t>
            </a:r>
            <a:r>
              <a:rPr lang="ko-KR" altLang="en-US" sz="1000" dirty="0" err="1">
                <a:solidFill>
                  <a:schemeClr val="tx1"/>
                </a:solidFill>
                <a:cs typeface="Arial" pitchFamily="34" charset="0"/>
              </a:rPr>
              <a:t>호출시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 배치와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공유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FM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내의 </a:t>
            </a: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CUD </a:t>
            </a:r>
            <a:r>
              <a:rPr lang="ko-KR" altLang="en-US" sz="1000" dirty="0">
                <a:solidFill>
                  <a:schemeClr val="tx1"/>
                </a:solidFill>
                <a:cs typeface="Arial" pitchFamily="34" charset="0"/>
              </a:rPr>
              <a:t>가 같은 트랜잭션으로 처리됨 </a:t>
            </a:r>
          </a:p>
        </p:txBody>
      </p:sp>
      <p:sp>
        <p:nvSpPr>
          <p:cNvPr id="31" name="자유형 30"/>
          <p:cNvSpPr/>
          <p:nvPr/>
        </p:nvSpPr>
        <p:spPr>
          <a:xfrm>
            <a:off x="2419487" y="2371725"/>
            <a:ext cx="676420" cy="3052290"/>
          </a:xfrm>
          <a:custGeom>
            <a:avLst/>
            <a:gdLst>
              <a:gd name="connsiteX0" fmla="*/ 47625 w 676420"/>
              <a:gd name="connsiteY0" fmla="*/ 0 h 2438400"/>
              <a:gd name="connsiteX1" fmla="*/ 676275 w 676420"/>
              <a:gd name="connsiteY1" fmla="*/ 1485900 h 2438400"/>
              <a:gd name="connsiteX2" fmla="*/ 0 w 676420"/>
              <a:gd name="connsiteY2" fmla="*/ 24384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420" h="2438400">
                <a:moveTo>
                  <a:pt x="47625" y="0"/>
                </a:moveTo>
                <a:cubicBezTo>
                  <a:pt x="365918" y="539750"/>
                  <a:pt x="684212" y="1079500"/>
                  <a:pt x="676275" y="1485900"/>
                </a:cubicBezTo>
                <a:cubicBezTo>
                  <a:pt x="668338" y="1892300"/>
                  <a:pt x="334169" y="2165350"/>
                  <a:pt x="0" y="2438400"/>
                </a:cubicBezTo>
              </a:path>
            </a:pathLst>
          </a:custGeom>
          <a:noFill/>
          <a:ln w="28575" cap="flat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lvl="0"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IV. </a:t>
            </a:r>
            <a:r>
              <a:rPr lang="ko-KR" altLang="en-US" sz="1200" b="1" dirty="0">
                <a:solidFill>
                  <a:prstClr val="black"/>
                </a:solidFill>
              </a:rPr>
              <a:t>어플리케이션 실행 환경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9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배치 실행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/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센터컷실행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552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847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83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0&quot;/&gt;&lt;/m_mruColor&gt;&lt;m_mapectfillschemeMRU&gt;&lt;key val=&quot;0&quot;/&gt;&lt;elem&gt;&lt;m_nPartnerID val=&quot;556&quot;/&gt;&lt;m_nIndex val=&quot;1&quot;/&gt;&lt;/elem&gt;&lt;key val=&quot;1&quot;/&gt;&lt;elem&gt;&lt;m_nPartnerID val=&quot;556&quot;/&gt;&lt;m_nIndex val=&quot;1&quot;/&gt;&lt;/elem&gt;&lt;key val=&quot;2&quot;/&gt;&lt;elem&gt;&lt;m_nPartnerID val=&quot;556&quot;/&gt;&lt;m_nIndex val=&quot;1&quot;/&gt;&lt;/elem&gt;&lt;key val=&quot;3&quot;/&gt;&lt;elem&gt;&lt;m_nPartnerID val=&quot;556&quot;/&gt;&lt;m_nIndex val=&quot;2&quot;/&gt;&lt;/elem&gt;&lt;key val=&quot;4&quot;/&gt;&lt;elem&gt;&lt;m_nPartnerID val=&quot;556&quot;/&gt;&lt;m_nIndex val=&quot;1&quot;/&gt;&lt;/elem&gt;&lt;/m_mapectfillschemeMRU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2147483647&quot;/&gt;&lt;m_chDecimalSymbol17909&gt;.&lt;/m_chDecimalSymbol17909&gt;&lt;m_nGroupingDigits17909 val=&quot;2147483647&quot;/&gt;&lt;/m_precDefault&gt;&lt;/CDefaultPrec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 K 프로젝트">
  <a:themeElements>
    <a:clrScheme name="The-K">
      <a:dk1>
        <a:srgbClr val="000000"/>
      </a:dk1>
      <a:lt1>
        <a:srgbClr val="FFFFFF"/>
      </a:lt1>
      <a:dk2>
        <a:srgbClr val="FFD200"/>
      </a:dk2>
      <a:lt2>
        <a:srgbClr val="FFE600"/>
      </a:lt2>
      <a:accent1>
        <a:srgbClr val="1F497D"/>
      </a:accent1>
      <a:accent2>
        <a:srgbClr val="C00000"/>
      </a:accent2>
      <a:accent3>
        <a:srgbClr val="9BBB59"/>
      </a:accent3>
      <a:accent4>
        <a:srgbClr val="858274"/>
      </a:accent4>
      <a:accent5>
        <a:srgbClr val="FFA600"/>
      </a:accent5>
      <a:accent6>
        <a:srgbClr val="62574A"/>
      </a:accent6>
      <a:hlink>
        <a:srgbClr val="364086"/>
      </a:hlink>
      <a:folHlink>
        <a:srgbClr val="A3AADA"/>
      </a:folHlink>
    </a:clrScheme>
    <a:fontScheme name="The K 공식글꼴 Medium-Light">
      <a:majorFont>
        <a:latin typeface="KB금융 제목체 Medium"/>
        <a:ea typeface="KB금융 제목체 Medium"/>
        <a:cs typeface=""/>
      </a:majorFont>
      <a:minorFont>
        <a:latin typeface="KB금융 본문체 Light"/>
        <a:ea typeface="KB금융 본문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 cap="flat">
          <a:solidFill>
            <a:schemeClr val="bg1">
              <a:lumMod val="50000"/>
            </a:schemeClr>
          </a:solidFill>
          <a:miter lim="800000"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defRPr sz="900" smtClean="0">
            <a:solidFill>
              <a:schemeClr val="tx1"/>
            </a:solidFill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arrow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  <a:txDef>
      <a:spPr>
        <a:noFill/>
        <a:ln w="6350" cap="flat">
          <a:noFill/>
          <a:miter lim="800000"/>
        </a:ln>
      </a:spPr>
      <a:bodyPr wrap="none" lIns="72000" tIns="36000" rIns="72000" bIns="36000" rtlCol="0" anchor="ctr" anchorCtr="0">
        <a:spAutoFit/>
      </a:bodyPr>
      <a:lstStyle>
        <a:defPPr>
          <a:lnSpc>
            <a:spcPct val="90000"/>
          </a:lnSpc>
          <a:defRPr sz="1000" dirty="0" smtClean="0">
            <a:cs typeface="Arial" pitchFamily="34" charset="0"/>
          </a:defRPr>
        </a:defPPr>
      </a:lstStyle>
    </a:txDef>
  </a:objectDefaults>
  <a:extraClrSchemeLst/>
  <a:custClrLst>
    <a:custClr name="Custom Color 1">
      <a:srgbClr val="9B1717"/>
    </a:custClr>
    <a:custClr name="Custom Color 2">
      <a:srgbClr val="DCDC00"/>
    </a:custClr>
    <a:custClr name="Custom Color 3">
      <a:srgbClr val="289055"/>
    </a:custClr>
  </a:custClrLst>
  <a:extLst>
    <a:ext uri="{05A4C25C-085E-4340-85A3-A5531E510DB2}">
      <thm15:themeFamily xmlns:thm15="http://schemas.microsoft.com/office/thememl/2012/main" name="Blank.potx" id="{640276DA-974F-4972-AC73-9FCF75EFFC11}" vid="{6D8D49E7-FB85-45D6-8CFF-1757C33FAB73}"/>
    </a:ext>
  </a:extLst>
</a:theme>
</file>

<file path=ppt/theme/theme2.xml><?xml version="1.0" encoding="utf-8"?>
<a:theme xmlns:a="http://schemas.openxmlformats.org/drawingml/2006/main" name="Office Theme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11656</Words>
  <Application>Microsoft Office PowerPoint</Application>
  <PresentationFormat>A4 용지(210x297mm)</PresentationFormat>
  <Paragraphs>2503</Paragraphs>
  <Slides>65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7" baseType="lpstr">
      <vt:lpstr>Arial Unicode MS</vt:lpstr>
      <vt:lpstr>D2Coding</vt:lpstr>
      <vt:lpstr>KB금융 본문체 Bold</vt:lpstr>
      <vt:lpstr>KB금융 본문체 Light</vt:lpstr>
      <vt:lpstr>KB금융 본문체 Medium</vt:lpstr>
      <vt:lpstr>KB금융 제목체 Bold</vt:lpstr>
      <vt:lpstr>KB금융 제목체 Medium</vt:lpstr>
      <vt:lpstr>맑은 고딕</vt:lpstr>
      <vt:lpstr>Arial</vt:lpstr>
      <vt:lpstr>Wingdings</vt:lpstr>
      <vt:lpstr>The K 프로젝트</vt:lpstr>
      <vt:lpstr>think-cell Slide</vt:lpstr>
      <vt:lpstr> 표준Java 프레임워크 (n-KESA) 교육</vt:lpstr>
      <vt:lpstr>PowerPoint 프레젠테이션</vt:lpstr>
      <vt:lpstr>전행 표준 프레임워크 개요</vt:lpstr>
      <vt:lpstr>프레임워크 구성도</vt:lpstr>
      <vt:lpstr>온라인 어플리케이션 구조 : 컴포넌트 아키텍처</vt:lpstr>
      <vt:lpstr>온라인 어플리케이션 구조 : 계층구조 </vt:lpstr>
      <vt:lpstr>온라인 어플리케이션 구조 : 계층구조 </vt:lpstr>
      <vt:lpstr>온라인 어플리케이션 구조 : 선후처리 필터</vt:lpstr>
      <vt:lpstr>온라인 어플리케이션 구조 : 선후처리 실행 흐름</vt:lpstr>
      <vt:lpstr>온라인 어플리케이션 구조 : DataSource 매핑</vt:lpstr>
      <vt:lpstr>온라인 어플리케이션 구조 : 데이터 처리 역할</vt:lpstr>
      <vt:lpstr>온라인 어플리케이션 구조 : 명명규칙</vt:lpstr>
      <vt:lpstr>온라인 어플리케이션 구조 : 메소드</vt:lpstr>
      <vt:lpstr>온라인 어플리케이션 구조 : DataSet</vt:lpstr>
      <vt:lpstr>온라인 어플리케이션 구조 : DataSet</vt:lpstr>
      <vt:lpstr>온라인 어플리케이션 구조 : CommonArea</vt:lpstr>
      <vt:lpstr>온라인 어플리케이션 구조 : 로깅 API</vt:lpstr>
      <vt:lpstr>온라인 어플리케이션 구조 : 호출 관계</vt:lpstr>
      <vt:lpstr>온라인 어플리케이션 구조 : 호출 관계</vt:lpstr>
      <vt:lpstr>온라인 어플리케이션 구조 : 호출 관계</vt:lpstr>
      <vt:lpstr>온라인 어플리케이션 구조 : 컴포넌트 호출관계</vt:lpstr>
      <vt:lpstr>온라인 어플리케이션 호출 : 동일 컴포넌트 내 호출</vt:lpstr>
      <vt:lpstr>온라인 어플리케이션 호출 : 동일 컴포넌트 내 호출</vt:lpstr>
      <vt:lpstr>온라인 어플리케이션 호출 : 타 컴포넌트 호출 (공유메소드)</vt:lpstr>
      <vt:lpstr>온라인 어플리케이션 호출 : 타 컴포넌트 호출 (연동거래)</vt:lpstr>
      <vt:lpstr>온라인 어플리케이션 호출 : 서로 다른 컴포넌트 간 호출 (연동거래)</vt:lpstr>
      <vt:lpstr>온라인 어플리케이션 호출 : 타 컴포넌트 호출 (연동거래_비동기Merge) </vt:lpstr>
      <vt:lpstr>온라인 어플리케이션 호출 : 타 컴포넌트 호출 (연동거래) </vt:lpstr>
      <vt:lpstr>온라인 어플리케이션 호출 : EAI 연계 (동기)</vt:lpstr>
      <vt:lpstr>온라인 어플리케이션 호출 : EAI 연계 (동기)</vt:lpstr>
      <vt:lpstr>온라인 어플리케이션 호출 : EAI 연계</vt:lpstr>
      <vt:lpstr>온라인 어플리케이션 호출 : EAI 연계</vt:lpstr>
      <vt:lpstr>온라인 어플리케이션 호출 : EAI 연계</vt:lpstr>
      <vt:lpstr>온라인 어플리케이션 호출 : EAI 연계 (비동기)</vt:lpstr>
      <vt:lpstr>온라인 어플리케이션 호출 : EAI 연계 (비동기)</vt:lpstr>
      <vt:lpstr>온라인 어플리케이션 호출 : EAI 연계 (비동기)</vt:lpstr>
      <vt:lpstr>거래 패턴 : 기본 패턴</vt:lpstr>
      <vt:lpstr>거래 패턴 : 연동거래</vt:lpstr>
      <vt:lpstr>거래 패턴 : 비동기 연동거래 ( Non-Transactional )</vt:lpstr>
      <vt:lpstr>거래 패턴 : 비동기 연동거래 ( Transactional )</vt:lpstr>
      <vt:lpstr>거래 패턴 : 동기거래 + 비동기 보상패턴</vt:lpstr>
      <vt:lpstr>거래 패턴 : 지연 비동기 연동거래 ( Timer )</vt:lpstr>
      <vt:lpstr>거래 패턴 : 중단 거래</vt:lpstr>
      <vt:lpstr>거래 패턴 : 페이징 거래</vt:lpstr>
      <vt:lpstr>거래 패턴 : 온디맨드 배치</vt:lpstr>
      <vt:lpstr>거래 패턴 : 인터페이스 거래 개요</vt:lpstr>
      <vt:lpstr>거래 패턴 : 통신방식 정의</vt:lpstr>
      <vt:lpstr>거래 패턴 : Outbound + Sync 패턴</vt:lpstr>
      <vt:lpstr>거래 패턴 : Outbound + Async + 무응답</vt:lpstr>
      <vt:lpstr>거래 패턴 : Outbound + Async + 응답 + Timeout</vt:lpstr>
      <vt:lpstr>거래 패턴 : Inbound + Sync 패턴</vt:lpstr>
      <vt:lpstr>거래 패턴 : 거래 복원</vt:lpstr>
      <vt:lpstr>거래 패턴 : 책임자 승인 거래 처리</vt:lpstr>
      <vt:lpstr>거래 패턴 : 취소 거래 처리 방안(1/2)</vt:lpstr>
      <vt:lpstr>거래 패턴 : 취소 거래 처리 방안(2/2)</vt:lpstr>
      <vt:lpstr>거래 패턴 : 대량 입력 처리</vt:lpstr>
      <vt:lpstr>거래 패턴 : 대량 출력 처리</vt:lpstr>
      <vt:lpstr>기타 : 예외처리</vt:lpstr>
      <vt:lpstr>기타 : 예외처리</vt:lpstr>
      <vt:lpstr>기타 : 데이터 암복호화</vt:lpstr>
      <vt:lpstr>기타 : PropertyUtils </vt:lpstr>
      <vt:lpstr>배치 프로그램 실행 구조</vt:lpstr>
      <vt:lpstr>배치 어플리케이션 구조</vt:lpstr>
      <vt:lpstr>배치 어플리케이션 트랜잭션 처리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2016-05-10T05:57:35Z</dcterms:created>
  <dcterms:modified xsi:type="dcterms:W3CDTF">2026-01-06T01:58:54Z</dcterms:modified>
  <cp:version>042016</cp:version>
</cp:coreProperties>
</file>